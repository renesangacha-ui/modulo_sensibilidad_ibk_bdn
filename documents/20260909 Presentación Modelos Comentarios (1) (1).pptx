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5"/>
  </p:notesMasterIdLst>
  <p:sldIdLst>
    <p:sldId id="256" r:id="rId2"/>
    <p:sldId id="2147483530" r:id="rId3"/>
    <p:sldId id="2147483588" r:id="rId4"/>
    <p:sldId id="2147483594" r:id="rId5"/>
    <p:sldId id="2147483531" r:id="rId6"/>
    <p:sldId id="289" r:id="rId7"/>
    <p:sldId id="2147483560" r:id="rId8"/>
    <p:sldId id="2147483595" r:id="rId9"/>
    <p:sldId id="2147483593" r:id="rId10"/>
    <p:sldId id="2147483570" r:id="rId11"/>
    <p:sldId id="2147483589" r:id="rId12"/>
    <p:sldId id="2147483572" r:id="rId13"/>
    <p:sldId id="2147483529" r:id="rId14"/>
    <p:sldId id="2147483537" r:id="rId15"/>
    <p:sldId id="2147483532" r:id="rId16"/>
    <p:sldId id="2147483543" r:id="rId17"/>
    <p:sldId id="257" r:id="rId18"/>
    <p:sldId id="2147483592" r:id="rId19"/>
    <p:sldId id="2147483538" r:id="rId20"/>
    <p:sldId id="2147483544" r:id="rId21"/>
    <p:sldId id="2147483539" r:id="rId22"/>
    <p:sldId id="2147483507" r:id="rId23"/>
    <p:sldId id="2147483561" r:id="rId24"/>
    <p:sldId id="2147483562" r:id="rId25"/>
    <p:sldId id="2147483564" r:id="rId26"/>
    <p:sldId id="2147483508" r:id="rId27"/>
    <p:sldId id="2147483565" r:id="rId28"/>
    <p:sldId id="2147483566" r:id="rId29"/>
    <p:sldId id="2147483546" r:id="rId30"/>
    <p:sldId id="2147483535" r:id="rId31"/>
    <p:sldId id="2147483536" r:id="rId32"/>
    <p:sldId id="2147483549" r:id="rId33"/>
    <p:sldId id="2147483555" r:id="rId34"/>
    <p:sldId id="2147483545" r:id="rId35"/>
    <p:sldId id="2147483580" r:id="rId36"/>
    <p:sldId id="2147483541" r:id="rId37"/>
    <p:sldId id="2147483573" r:id="rId38"/>
    <p:sldId id="2147483542" r:id="rId39"/>
    <p:sldId id="2147483587" r:id="rId40"/>
    <p:sldId id="2147483585" r:id="rId41"/>
    <p:sldId id="2147483574" r:id="rId42"/>
    <p:sldId id="2147483547" r:id="rId43"/>
    <p:sldId id="2147483548" r:id="rId44"/>
    <p:sldId id="2147483575" r:id="rId45"/>
    <p:sldId id="2147483584" r:id="rId46"/>
    <p:sldId id="2147483590" r:id="rId47"/>
    <p:sldId id="2147483577" r:id="rId48"/>
    <p:sldId id="2147483581" r:id="rId49"/>
    <p:sldId id="2147483582" r:id="rId50"/>
    <p:sldId id="2147483583" r:id="rId51"/>
    <p:sldId id="2147483559" r:id="rId52"/>
    <p:sldId id="2147483576" r:id="rId53"/>
    <p:sldId id="2147483552" r:id="rId54"/>
  </p:sldIdLst>
  <p:sldSz cx="16256000" cy="9144000"/>
  <p:notesSz cx="6858000" cy="9144000"/>
  <p:embeddedFontLst>
    <p:embeddedFont>
      <p:font typeface="Cambria Math" panose="02040503050406030204" pitchFamily="18" charset="0"/>
      <p:regular r:id="rId56"/>
    </p:embeddedFont>
    <p:embeddedFont>
      <p:font typeface="Open Sans" panose="020B0606030504020204" pitchFamily="34" charset="0"/>
      <p:regular r:id="rId57"/>
      <p:bold r:id="rId58"/>
      <p:italic r:id="rId59"/>
      <p:boldItalic r:id="rId60"/>
    </p:embeddedFont>
    <p:embeddedFont>
      <p:font typeface="Poppins" panose="00000500000000000000" pitchFamily="2"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30">
          <p15:clr>
            <a:srgbClr val="747775"/>
          </p15:clr>
        </p15:guide>
        <p15:guide id="2" pos="952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gHAyrtLFYomcXXXPdi5ccpAmyT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07B"/>
    <a:srgbClr val="FDFEFE"/>
    <a:srgbClr val="009999"/>
    <a:srgbClr val="435A6E"/>
    <a:srgbClr val="C87A0B"/>
    <a:srgbClr val="006C80"/>
    <a:srgbClr val="FFFFFF"/>
    <a:srgbClr val="13807B"/>
    <a:srgbClr val="000000"/>
    <a:srgbClr val="3C9B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A3E5EF-668A-4603-B908-8788FAE28988}" v="2" dt="2026-10-08T17:36:35.695"/>
  </p1510:revLst>
</p1510:revInfo>
</file>

<file path=ppt/tableStyles.xml><?xml version="1.0" encoding="utf-8"?>
<a:tblStyleLst xmlns:a="http://schemas.openxmlformats.org/drawingml/2006/main" def="{43BDED8E-0CC5-4BF8-A1FA-350A02C8C1A5}">
  <a:tblStyle styleId="{43BDED8E-0CC5-4BF8-A1FA-350A02C8C1A5}"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3">
              <a:alpha val="20000"/>
            </a:schemeClr>
          </a:solidFill>
        </a:fill>
      </a:tcStyle>
    </a:band1H>
    <a:band2H>
      <a:tcTxStyle b="off" i="off"/>
      <a:tcStyle>
        <a:tcBdr/>
      </a:tcStyle>
    </a:band2H>
    <a:band1V>
      <a:tcTxStyle b="off" i="off"/>
      <a:tcStyle>
        <a:tcBdr/>
        <a:fill>
          <a:solidFill>
            <a:schemeClr val="accent3">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chemeClr val="accent3"/>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chemeClr val="accent3"/>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A0C1EB43-F3F4-4F80-82EB-1D49707A8E3E}" styleName="Table_1">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b="off" i="off"/>
      <a:tcStyle>
        <a:tcBdr/>
        <a:fill>
          <a:solidFill>
            <a:srgbClr val="E6E6E6"/>
          </a:solidFill>
        </a:fill>
      </a:tcStyle>
    </a:band1H>
    <a:band2H>
      <a:tcTxStyle b="off" i="off"/>
      <a:tcStyle>
        <a:tcBdr/>
      </a:tcStyle>
    </a:band2H>
    <a:band1V>
      <a:tcTxStyle b="off" i="off"/>
      <a:tcStyle>
        <a:tcBdr/>
        <a:fill>
          <a:solidFill>
            <a:srgbClr val="E6E6E6"/>
          </a:solidFill>
        </a:fill>
      </a:tcStyle>
    </a:band1V>
    <a:band2V>
      <a:tcTxStyle b="off" i="off"/>
      <a:tcStyle>
        <a:tcBdr/>
      </a:tcStyle>
    </a:band2V>
    <a:lastCol>
      <a:tcTxStyle b="on" i="off">
        <a:font>
          <a:latin typeface="Arial"/>
          <a:ea typeface="Arial"/>
          <a:cs typeface="Arial"/>
        </a:font>
        <a:schemeClr val="lt1"/>
      </a:tcTxStyle>
      <a:tcStyle>
        <a:tcBdr/>
        <a:fill>
          <a:solidFill>
            <a:schemeClr val="accent4"/>
          </a:solidFill>
        </a:fill>
      </a:tcStyle>
    </a:lastCol>
    <a:firstCol>
      <a:tcTxStyle b="on" i="off">
        <a:font>
          <a:latin typeface="Arial"/>
          <a:ea typeface="Arial"/>
          <a:cs typeface="Arial"/>
        </a:font>
        <a:schemeClr val="lt1"/>
      </a:tcTxStyle>
      <a:tcStyle>
        <a:tcBdr/>
        <a:fill>
          <a:solidFill>
            <a:schemeClr val="accent4"/>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Arial"/>
          <a:ea typeface="Arial"/>
          <a:cs typeface="Arial"/>
        </a:font>
        <a:schemeClr val="dk1"/>
      </a:tcTxStyle>
      <a:tcStyle>
        <a:tcBdr/>
      </a:tcStyle>
    </a:seCell>
    <a:swCell>
      <a:tcTxStyle b="on" i="off">
        <a:font>
          <a:latin typeface="Arial"/>
          <a:ea typeface="Arial"/>
          <a:cs typeface="Arial"/>
        </a:font>
        <a:schemeClr val="dk1"/>
      </a:tcTxStyle>
      <a:tcStyle>
        <a:tcBdr/>
      </a:tcStyle>
    </a:swCell>
    <a:firstRow>
      <a:tcTxStyle b="on" i="off">
        <a:font>
          <a:latin typeface="Arial"/>
          <a:ea typeface="Arial"/>
          <a:cs typeface="Arial"/>
        </a:font>
        <a:schemeClr val="lt1"/>
      </a:tcTxStyle>
      <a:tcStyle>
        <a:tcBdr>
          <a:bottom>
            <a:ln w="25400" cap="flat" cmpd="sng">
              <a:solidFill>
                <a:schemeClr val="dk1"/>
              </a:solidFill>
              <a:prstDash val="solid"/>
              <a:round/>
              <a:headEnd type="none" w="sm" len="sm"/>
              <a:tailEnd type="none" w="sm" len="sm"/>
            </a:ln>
          </a:bottom>
        </a:tcBdr>
        <a:fill>
          <a:solidFill>
            <a:schemeClr val="accent4"/>
          </a:solidFill>
        </a:fill>
      </a:tcStyle>
    </a:firstRow>
    <a:neCell>
      <a:tcTxStyle b="off" i="off"/>
      <a:tcStyle>
        <a:tcBdr/>
      </a:tcStyle>
    </a:neCell>
    <a:nwCell>
      <a:tcTxStyle b="off" i="off"/>
      <a:tcStyle>
        <a:tcBdr/>
      </a:tcStyle>
    </a:nwCell>
  </a:tblStyle>
  <a:tblStyle styleId="{6B53406A-BCDC-4A29-A589-BA0A7E99275B}"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1812E1D-9908-4431-8D9D-87FC1594B08F}" styleName="Table_3">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92"/>
    <p:restoredTop sz="94715"/>
  </p:normalViewPr>
  <p:slideViewPr>
    <p:cSldViewPr snapToGrid="0">
      <p:cViewPr varScale="1">
        <p:scale>
          <a:sx n="68" d="100"/>
          <a:sy n="68" d="100"/>
        </p:scale>
        <p:origin x="619" y="38"/>
      </p:cViewPr>
      <p:guideLst>
        <p:guide orient="horz" pos="930"/>
        <p:guide pos="95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8.fntdata"/><Relationship Id="rId84"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87"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font" Target="fonts/font6.fntdata"/><Relationship Id="rId82" Type="http://customschemas.google.com/relationships/presentationmetadata" Target="meta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e Sangacha" userId="a4e5b6bb3df78a73" providerId="LiveId" clId="{9F2BEB09-8DC3-4CD1-B6B3-2ADC2BF56918}"/>
    <pc:docChg chg="undo custSel modSld">
      <pc:chgData name="Rene Sangacha" userId="a4e5b6bb3df78a73" providerId="LiveId" clId="{9F2BEB09-8DC3-4CD1-B6B3-2ADC2BF56918}" dt="2026-10-08T21:13:05.853" v="4" actId="20577"/>
      <pc:docMkLst>
        <pc:docMk/>
      </pc:docMkLst>
      <pc:sldChg chg="modSp mod">
        <pc:chgData name="Rene Sangacha" userId="a4e5b6bb3df78a73" providerId="LiveId" clId="{9F2BEB09-8DC3-4CD1-B6B3-2ADC2BF56918}" dt="2026-10-08T21:13:05.853" v="4" actId="20577"/>
        <pc:sldMkLst>
          <pc:docMk/>
          <pc:sldMk cId="884501300" sldId="2147483536"/>
        </pc:sldMkLst>
        <pc:spChg chg="mod">
          <ac:chgData name="Rene Sangacha" userId="a4e5b6bb3df78a73" providerId="LiveId" clId="{9F2BEB09-8DC3-4CD1-B6B3-2ADC2BF56918}" dt="2026-10-08T21:13:05.853" v="4" actId="20577"/>
          <ac:spMkLst>
            <pc:docMk/>
            <pc:sldMk cId="884501300" sldId="2147483536"/>
            <ac:spMk id="30" creationId="{147784E1-037E-3C62-CF93-6C67DD8B4CD8}"/>
          </ac:spMkLst>
        </pc:spChg>
      </pc:sldChg>
      <pc:sldChg chg="modSp mod">
        <pc:chgData name="Rene Sangacha" userId="a4e5b6bb3df78a73" providerId="LiveId" clId="{9F2BEB09-8DC3-4CD1-B6B3-2ADC2BF56918}" dt="2026-10-08T19:13:29.219" v="3" actId="1076"/>
        <pc:sldMkLst>
          <pc:docMk/>
          <pc:sldMk cId="3920932028" sldId="2147483548"/>
        </pc:sldMkLst>
        <pc:spChg chg="mod">
          <ac:chgData name="Rene Sangacha" userId="a4e5b6bb3df78a73" providerId="LiveId" clId="{9F2BEB09-8DC3-4CD1-B6B3-2ADC2BF56918}" dt="2026-10-08T19:13:29.219" v="3" actId="1076"/>
          <ac:spMkLst>
            <pc:docMk/>
            <pc:sldMk cId="3920932028" sldId="2147483548"/>
            <ac:spMk id="4" creationId="{B48D1AB5-6151-344B-F816-2E2BBFE80E21}"/>
          </ac:spMkLst>
        </pc:spChg>
        <pc:spChg chg="mod">
          <ac:chgData name="Rene Sangacha" userId="a4e5b6bb3df78a73" providerId="LiveId" clId="{9F2BEB09-8DC3-4CD1-B6B3-2ADC2BF56918}" dt="2026-10-08T17:40:19.514" v="2" actId="1076"/>
          <ac:spMkLst>
            <pc:docMk/>
            <pc:sldMk cId="3920932028" sldId="2147483548"/>
            <ac:spMk id="5" creationId="{232A07E0-EE01-7582-D7B4-52165B96BD16}"/>
          </ac:spMkLst>
        </pc:spChg>
        <pc:spChg chg="mod">
          <ac:chgData name="Rene Sangacha" userId="a4e5b6bb3df78a73" providerId="LiveId" clId="{9F2BEB09-8DC3-4CD1-B6B3-2ADC2BF56918}" dt="2026-10-08T17:36:33.698" v="0" actId="20578"/>
          <ac:spMkLst>
            <pc:docMk/>
            <pc:sldMk cId="3920932028" sldId="2147483548"/>
            <ac:spMk id="209" creationId="{C521973E-6394-702D-F57F-1551266E6D10}"/>
          </ac:spMkLst>
        </pc:sp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000" b="1" i="0" u="none" strike="noStrike">
                <a:solidFill>
                  <a:srgbClr val="2E9E9E"/>
                </a:solidFill>
                <a:latin typeface="Arial"/>
              </a:defRPr>
            </a:pPr>
            <a:r>
              <a:rPr lang="es-ES_tradnl" sz="1000" b="1" i="0" u="none" strike="noStrike" dirty="0">
                <a:solidFill>
                  <a:srgbClr val="2E9E9E"/>
                </a:solidFill>
                <a:latin typeface="Arial"/>
              </a:rPr>
              <a:t>Probabilidad acumulada de default a cada horizonte</a:t>
            </a:r>
          </a:p>
        </c:rich>
      </c:tx>
      <c:overlay val="0"/>
    </c:title>
    <c:autoTitleDeleted val="0"/>
    <c:plotArea>
      <c:layout/>
      <c:lineChart>
        <c:grouping val="standard"/>
        <c:varyColors val="0"/>
        <c:ser>
          <c:idx val="0"/>
          <c:order val="0"/>
          <c:tx>
            <c:strRef>
              <c:f>Sheet1!$B$1</c:f>
              <c:strCache>
                <c:ptCount val="1"/>
                <c:pt idx="0">
                  <c:v>PD acumulada</c:v>
                </c:pt>
              </c:strCache>
            </c:strRef>
          </c:tx>
          <c:spPr>
            <a:ln w="31750" cap="flat">
              <a:solidFill>
                <a:srgbClr val="2E9E9E"/>
              </a:solidFill>
              <a:prstDash val="solid"/>
              <a:round/>
            </a:ln>
            <a:effectLst/>
          </c:spPr>
          <c:marker>
            <c:symbol val="circle"/>
            <c:size val="6"/>
            <c:spPr>
              <a:solidFill>
                <a:srgbClr val="2E9E9E"/>
              </a:solidFill>
              <a:ln w="9525" cap="flat">
                <a:solidFill>
                  <a:srgbClr val="2E9E9E"/>
                </a:solidFill>
                <a:prstDash val="solid"/>
                <a:round/>
              </a:ln>
              <a:effectLst/>
            </c:spPr>
          </c:marker>
          <c:cat>
            <c:strRef>
              <c:f>Sheet1!$A$2:$A$11</c:f>
              <c:strCache>
                <c:ptCount val="10"/>
                <c:pt idx="0">
                  <c:v>3m</c:v>
                </c:pt>
                <c:pt idx="1">
                  <c:v>4m</c:v>
                </c:pt>
                <c:pt idx="2">
                  <c:v>5m</c:v>
                </c:pt>
                <c:pt idx="3">
                  <c:v>6m</c:v>
                </c:pt>
                <c:pt idx="4">
                  <c:v>7m</c:v>
                </c:pt>
                <c:pt idx="5">
                  <c:v>8m</c:v>
                </c:pt>
                <c:pt idx="6">
                  <c:v>9m</c:v>
                </c:pt>
                <c:pt idx="7">
                  <c:v>10m</c:v>
                </c:pt>
                <c:pt idx="8">
                  <c:v>11m</c:v>
                </c:pt>
                <c:pt idx="9">
                  <c:v>12m</c:v>
                </c:pt>
              </c:strCache>
            </c:strRef>
          </c:cat>
          <c:val>
            <c:numRef>
              <c:f>Sheet1!$B$2:$B$11</c:f>
              <c:numCache>
                <c:formatCode>General</c:formatCode>
                <c:ptCount val="10"/>
                <c:pt idx="0">
                  <c:v>18</c:v>
                </c:pt>
                <c:pt idx="1">
                  <c:v>30</c:v>
                </c:pt>
                <c:pt idx="2">
                  <c:v>40</c:v>
                </c:pt>
                <c:pt idx="3">
                  <c:v>48</c:v>
                </c:pt>
                <c:pt idx="4">
                  <c:v>58</c:v>
                </c:pt>
                <c:pt idx="5">
                  <c:v>65</c:v>
                </c:pt>
                <c:pt idx="6">
                  <c:v>72</c:v>
                </c:pt>
                <c:pt idx="7">
                  <c:v>80</c:v>
                </c:pt>
                <c:pt idx="8">
                  <c:v>88</c:v>
                </c:pt>
                <c:pt idx="9">
                  <c:v>100</c:v>
                </c:pt>
              </c:numCache>
            </c:numRef>
          </c:val>
          <c:smooth val="0"/>
          <c:extLst>
            <c:ext xmlns:c16="http://schemas.microsoft.com/office/drawing/2014/chart" uri="{C3380CC4-5D6E-409C-BE32-E72D297353CC}">
              <c16:uniqueId val="{00000000-F05D-AE45-83F3-05A54462A34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850" b="0" i="0" u="none" strike="noStrike">
                    <a:solidFill>
                      <a:srgbClr val="5B6B7A"/>
                    </a:solidFill>
                    <a:latin typeface="Arial"/>
                  </a:defRPr>
                </a:pPr>
                <a:r>
                  <a:rPr lang="es-ES_tradnl" sz="850" b="0" i="0" u="none" strike="noStrike" dirty="0">
                    <a:solidFill>
                      <a:srgbClr val="5B6B7A"/>
                    </a:solidFill>
                    <a:latin typeface="Arial"/>
                  </a:rPr>
                  <a:t>HORIZONTE (MESES)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B6B7A"/>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3E8ED"/>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B6B7A"/>
                </a:solidFill>
                <a:latin typeface="Arial"/>
              </a:defRPr>
            </a:pPr>
            <a:endParaRPr lang="en-US"/>
          </a:p>
        </c:txPr>
        <c:crossAx val="2094734554"/>
        <c:crosses val="autoZero"/>
        <c:crossBetween val="between"/>
        <c:majorUnit val="50"/>
      </c:valAx>
      <c:spPr>
        <a:noFill/>
        <a:ln>
          <a:noFill/>
        </a:ln>
        <a:effectLst/>
      </c:spPr>
    </c:plotArea>
    <c:plotVisOnly val="1"/>
    <c:dispBlanksAs val="span"/>
    <c:showDLblsOverMax val="1"/>
  </c:chart>
  <c:spPr>
    <a:noFill/>
    <a:ln>
      <a:noFill/>
    </a:ln>
    <a:effectLst/>
  </c:sp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 name="Google Shape;4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0583-7D5F-C8B4-DC9C-CCA42C0E8B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B0C571-5015-C191-3927-482103F9862F}"/>
              </a:ext>
            </a:extLst>
          </p:cNvPr>
          <p:cNvSpPr>
            <a:spLocks noGrp="1" noRot="1" noChangeAspect="1"/>
          </p:cNvSpPr>
          <p:nvPr>
            <p:ph type="sldImg"/>
          </p:nvPr>
        </p:nvSpPr>
        <p:spPr/>
        <p:txBody>
          <a:bodyPr/>
          <a:lstStyle/>
          <a:p>
            <a:endParaRPr lang="en-EC"/>
          </a:p>
        </p:txBody>
      </p:sp>
      <p:sp>
        <p:nvSpPr>
          <p:cNvPr id="3" name="Marcador de notas 2">
            <a:extLst>
              <a:ext uri="{FF2B5EF4-FFF2-40B4-BE49-F238E27FC236}">
                <a16:creationId xmlns:a16="http://schemas.microsoft.com/office/drawing/2014/main" id="{939E2CDD-F08E-6268-0503-C8FB09DDE041}"/>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s-419">
                <a:solidFill>
                  <a:srgbClr val="000000"/>
                </a:solidFill>
                <a:latin typeface="Poppins" panose="00000500000000000000" pitchFamily="2" charset="0"/>
                <a:ea typeface="Geometria" panose="020B0503020204020204" pitchFamily="34" charset="0"/>
                <a:cs typeface="Poppins" panose="00000500000000000000" pitchFamily="2" charset="0"/>
              </a:rPr>
              <a:t>Detallar los buenos resultados de fin ventas y garantizados, detallar que pagare presenta una mayor participación pero con productos de origen de menor tasa</a:t>
            </a:r>
          </a:p>
        </p:txBody>
      </p:sp>
      <p:sp>
        <p:nvSpPr>
          <p:cNvPr id="4" name="Marcador de número de diapositiva 3">
            <a:extLst>
              <a:ext uri="{FF2B5EF4-FFF2-40B4-BE49-F238E27FC236}">
                <a16:creationId xmlns:a16="http://schemas.microsoft.com/office/drawing/2014/main" id="{086BB778-F212-639E-ACD4-40DF85EC87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0585E6-4A39-4D2D-8CBC-F876ACA5D7AF}"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2294697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81C90-309D-0148-1F9C-89655BEA5B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5B95AB-CC1D-9F01-6E7E-E9781602FBF0}"/>
              </a:ext>
            </a:extLst>
          </p:cNvPr>
          <p:cNvSpPr>
            <a:spLocks noGrp="1" noRot="1" noChangeAspect="1"/>
          </p:cNvSpPr>
          <p:nvPr>
            <p:ph type="sldImg"/>
          </p:nvPr>
        </p:nvSpPr>
        <p:spPr/>
        <p:txBody>
          <a:bodyPr/>
          <a:lstStyle/>
          <a:p>
            <a:endParaRPr lang="en-EC"/>
          </a:p>
        </p:txBody>
      </p:sp>
      <p:sp>
        <p:nvSpPr>
          <p:cNvPr id="3" name="Marcador de notas 2">
            <a:extLst>
              <a:ext uri="{FF2B5EF4-FFF2-40B4-BE49-F238E27FC236}">
                <a16:creationId xmlns:a16="http://schemas.microsoft.com/office/drawing/2014/main" id="{31FF46B2-77B0-6C6D-AD76-F274E28F22FC}"/>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s-419" dirty="0">
                <a:solidFill>
                  <a:srgbClr val="000000"/>
                </a:solidFill>
                <a:latin typeface="Poppins" panose="00000500000000000000" pitchFamily="2" charset="0"/>
                <a:ea typeface="Geometria" panose="020B0503020204020204" pitchFamily="34" charset="0"/>
                <a:cs typeface="Poppins" panose="00000500000000000000" pitchFamily="2" charset="0"/>
              </a:rPr>
              <a:t>Detallar los buenos resultados de fin ventas y garantizados, detallar que pagare presenta una mayor participación pero con productos de origen de menor tasa</a:t>
            </a:r>
          </a:p>
        </p:txBody>
      </p:sp>
      <p:sp>
        <p:nvSpPr>
          <p:cNvPr id="4" name="Marcador de número de diapositiva 3">
            <a:extLst>
              <a:ext uri="{FF2B5EF4-FFF2-40B4-BE49-F238E27FC236}">
                <a16:creationId xmlns:a16="http://schemas.microsoft.com/office/drawing/2014/main" id="{964B5E34-5856-39FE-1E7B-64A06B8ABE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0585E6-4A39-4D2D-8CBC-F876ACA5D7AF}"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4098507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B572F-10B9-711F-5BB9-BDA477D784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94369F4-0F1E-2F28-690B-D9DAD10149AC}"/>
              </a:ext>
            </a:extLst>
          </p:cNvPr>
          <p:cNvSpPr>
            <a:spLocks noGrp="1" noRot="1" noChangeAspect="1"/>
          </p:cNvSpPr>
          <p:nvPr>
            <p:ph type="sldImg"/>
          </p:nvPr>
        </p:nvSpPr>
        <p:spPr/>
        <p:txBody>
          <a:bodyPr/>
          <a:lstStyle/>
          <a:p>
            <a:endParaRPr lang="en-EC"/>
          </a:p>
        </p:txBody>
      </p:sp>
      <p:sp>
        <p:nvSpPr>
          <p:cNvPr id="3" name="Marcador de notas 2">
            <a:extLst>
              <a:ext uri="{FF2B5EF4-FFF2-40B4-BE49-F238E27FC236}">
                <a16:creationId xmlns:a16="http://schemas.microsoft.com/office/drawing/2014/main" id="{60B262F0-746C-2860-C4A8-D92F6AEFEFED}"/>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s-419" dirty="0">
                <a:solidFill>
                  <a:srgbClr val="000000"/>
                </a:solidFill>
                <a:latin typeface="Poppins" panose="00000500000000000000" pitchFamily="2" charset="0"/>
                <a:ea typeface="Geometria" panose="020B0503020204020204" pitchFamily="34" charset="0"/>
                <a:cs typeface="Poppins" panose="00000500000000000000" pitchFamily="2" charset="0"/>
              </a:rPr>
              <a:t>Detallar los buenos resultados de fin ventas y garantizados, detallar que pagare presenta una mayor participación pero con productos de origen de menor tasa</a:t>
            </a:r>
          </a:p>
        </p:txBody>
      </p:sp>
      <p:sp>
        <p:nvSpPr>
          <p:cNvPr id="4" name="Marcador de número de diapositiva 3">
            <a:extLst>
              <a:ext uri="{FF2B5EF4-FFF2-40B4-BE49-F238E27FC236}">
                <a16:creationId xmlns:a16="http://schemas.microsoft.com/office/drawing/2014/main" id="{C253E08D-F650-6290-20E9-46E68C9296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0585E6-4A39-4D2D-8CBC-F876ACA5D7AF}"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1351462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EC"/>
          </a:p>
        </p:txBody>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F5EECD-A859-1C44-8B94-E8C90DE554AB}" type="slidenum">
              <a:rPr kumimoji="0" lang="es-ES_trad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_trad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6891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8FE8F856-0A80-7A2A-1DBB-B6D82D474436}"/>
            </a:ext>
          </a:extLst>
        </p:cNvPr>
        <p:cNvGrpSpPr/>
        <p:nvPr/>
      </p:nvGrpSpPr>
      <p:grpSpPr>
        <a:xfrm>
          <a:off x="0" y="0"/>
          <a:ext cx="0" cy="0"/>
          <a:chOff x="0" y="0"/>
          <a:chExt cx="0" cy="0"/>
        </a:xfrm>
      </p:grpSpPr>
      <p:sp>
        <p:nvSpPr>
          <p:cNvPr id="59" name="Google Shape;59;g39760de4851_1_55:notes">
            <a:extLst>
              <a:ext uri="{FF2B5EF4-FFF2-40B4-BE49-F238E27FC236}">
                <a16:creationId xmlns:a16="http://schemas.microsoft.com/office/drawing/2014/main" id="{F5B06E81-CF6F-C407-1025-72A22A9456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 name="Google Shape;60;g39760de4851_1_55:notes">
            <a:extLst>
              <a:ext uri="{FF2B5EF4-FFF2-40B4-BE49-F238E27FC236}">
                <a16:creationId xmlns:a16="http://schemas.microsoft.com/office/drawing/2014/main" id="{4C1FFB53-AC29-F79C-525C-C9B203FCA7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7540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339A-7BE5-8BFC-0281-427643652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061DF-9ECE-C6BA-C765-EE2FEE3FF4B3}"/>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58F9BF7D-F2C4-D236-0B8D-8B589EAA4132}"/>
              </a:ext>
            </a:extLst>
          </p:cNvPr>
          <p:cNvSpPr>
            <a:spLocks noGrp="1"/>
          </p:cNvSpPr>
          <p:nvPr>
            <p:ph type="body" idx="1"/>
          </p:nvPr>
        </p:nvSpPr>
        <p:spPr/>
        <p:txBody>
          <a:bodyPr/>
          <a:lstStyle/>
          <a:p>
            <a:endParaRPr lang="es-ES_tradnl" dirty="0"/>
          </a:p>
        </p:txBody>
      </p:sp>
      <p:sp>
        <p:nvSpPr>
          <p:cNvPr id="4" name="Slide Number Placeholder 3">
            <a:extLst>
              <a:ext uri="{FF2B5EF4-FFF2-40B4-BE49-F238E27FC236}">
                <a16:creationId xmlns:a16="http://schemas.microsoft.com/office/drawing/2014/main" id="{055BFD62-CBD1-020D-598C-D736091C86F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F5EECD-A859-1C44-8B94-E8C90DE554AB}" type="slidenum">
              <a:rPr kumimoji="0" lang="es-ES_trad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ES_trad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9025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10 inputs del programa visión 360°. Riesgos tiene 4 modelos, Data Science 5 y BN·Pricing 1. Siete modelos se monitorean trimestralmente y dos semestralmente. Rentabilidad Cliente 360 queda por definir porque depende del cierre de los nueve anteriores.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9D441-3533-6089-F703-4F75E4730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85530C-A795-BA4E-7461-CFC7905BC213}"/>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C62F2344-8D63-B5EB-A01A-57CA598D2FBD}"/>
              </a:ext>
            </a:extLst>
          </p:cNvPr>
          <p:cNvSpPr>
            <a:spLocks noGrp="1"/>
          </p:cNvSpPr>
          <p:nvPr>
            <p:ph type="body" idx="1"/>
          </p:nvPr>
        </p:nvSpPr>
        <p:spPr/>
        <p:txBody>
          <a:bodyPr/>
          <a:lstStyle/>
          <a:p>
            <a:endParaRPr lang="es-ES_tradnl" dirty="0"/>
          </a:p>
        </p:txBody>
      </p:sp>
      <p:sp>
        <p:nvSpPr>
          <p:cNvPr id="4" name="Slide Number Placeholder 3">
            <a:extLst>
              <a:ext uri="{FF2B5EF4-FFF2-40B4-BE49-F238E27FC236}">
                <a16:creationId xmlns:a16="http://schemas.microsoft.com/office/drawing/2014/main" id="{C2F1FCAE-E2E1-F97D-570E-6AF787506E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F5EECD-A859-1C44-8B94-E8C90DE554AB}" type="slidenum">
              <a:rPr kumimoji="0" lang="es-ES_trad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ES_trad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786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F0360-9F5B-26B7-411A-B40A204F24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C28098-F5B9-9641-75E2-36301BAEBA16}"/>
              </a:ext>
            </a:extLst>
          </p:cNvPr>
          <p:cNvSpPr>
            <a:spLocks noGrp="1" noRot="1" noChangeAspect="1"/>
          </p:cNvSpPr>
          <p:nvPr>
            <p:ph type="sldImg"/>
          </p:nvPr>
        </p:nvSpPr>
        <p:spPr/>
        <p:txBody>
          <a:bodyPr/>
          <a:lstStyle/>
          <a:p>
            <a:endParaRPr lang="en-EC"/>
          </a:p>
        </p:txBody>
      </p:sp>
      <p:sp>
        <p:nvSpPr>
          <p:cNvPr id="3" name="Marcador de notas 2">
            <a:extLst>
              <a:ext uri="{FF2B5EF4-FFF2-40B4-BE49-F238E27FC236}">
                <a16:creationId xmlns:a16="http://schemas.microsoft.com/office/drawing/2014/main" id="{62DDB341-48CC-039A-7577-8192CB6A3015}"/>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s-419" dirty="0">
                <a:solidFill>
                  <a:srgbClr val="000000"/>
                </a:solidFill>
                <a:latin typeface="Poppins" panose="00000500000000000000" pitchFamily="2" charset="0"/>
                <a:ea typeface="Geometria" panose="020B0503020204020204" pitchFamily="34" charset="0"/>
                <a:cs typeface="Poppins" panose="00000500000000000000" pitchFamily="2" charset="0"/>
              </a:rPr>
              <a:t>Detallar los buenos resultados de fin ventas y garantizados, detallar que pagare presenta una mayor participación pero con productos de origen de menor tasa</a:t>
            </a:r>
          </a:p>
        </p:txBody>
      </p:sp>
      <p:sp>
        <p:nvSpPr>
          <p:cNvPr id="4" name="Marcador de número de diapositiva 3">
            <a:extLst>
              <a:ext uri="{FF2B5EF4-FFF2-40B4-BE49-F238E27FC236}">
                <a16:creationId xmlns:a16="http://schemas.microsoft.com/office/drawing/2014/main" id="{FBDA4A35-DD9D-BC19-3BDE-1583A76443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0585E6-4A39-4D2D-8CBC-F876ACA5D7AF}"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898176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5635F-6C47-7750-F69E-550D1A3C6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39AED-305D-0E11-A0A1-A76AE2E4CBBF}"/>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9F932810-3C73-F3C2-81B1-3DF29AC60940}"/>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BF9B1433-51C5-2A96-0A4F-BA6A35533B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F5EECD-A859-1C44-8B94-E8C90DE554AB}" type="slidenum">
              <a:rPr kumimoji="0" lang="es-ES_trad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ES_trad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82913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D80A7F6-1FE2-B8C4-A5ED-551134FD2BCF}"/>
            </a:ext>
          </a:extLst>
        </p:cNvPr>
        <p:cNvGrpSpPr/>
        <p:nvPr/>
      </p:nvGrpSpPr>
      <p:grpSpPr>
        <a:xfrm>
          <a:off x="0" y="0"/>
          <a:ext cx="0" cy="0"/>
          <a:chOff x="0" y="0"/>
          <a:chExt cx="0" cy="0"/>
        </a:xfrm>
      </p:grpSpPr>
      <p:sp>
        <p:nvSpPr>
          <p:cNvPr id="298" name="Google Shape;298;g39760de4851_1_291:notes">
            <a:extLst>
              <a:ext uri="{FF2B5EF4-FFF2-40B4-BE49-F238E27FC236}">
                <a16:creationId xmlns:a16="http://schemas.microsoft.com/office/drawing/2014/main" id="{5C5AF173-2697-B4FE-40AE-64DF9C68177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9760de4851_1_291:notes">
            <a:extLst>
              <a:ext uri="{FF2B5EF4-FFF2-40B4-BE49-F238E27FC236}">
                <a16:creationId xmlns:a16="http://schemas.microsoft.com/office/drawing/2014/main" id="{9810D1AB-72DE-5534-B7AF-5B6C5CEB55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Tree>
    <p:extLst>
      <p:ext uri="{BB962C8B-B14F-4D97-AF65-F5344CB8AC3E}">
        <p14:creationId xmlns:p14="http://schemas.microsoft.com/office/powerpoint/2010/main" val="1153962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2A1726A-8242-2F88-7864-7A0BF8FA0CB8}"/>
            </a:ext>
          </a:extLst>
        </p:cNvPr>
        <p:cNvGrpSpPr/>
        <p:nvPr/>
      </p:nvGrpSpPr>
      <p:grpSpPr>
        <a:xfrm>
          <a:off x="0" y="0"/>
          <a:ext cx="0" cy="0"/>
          <a:chOff x="0" y="0"/>
          <a:chExt cx="0" cy="0"/>
        </a:xfrm>
      </p:grpSpPr>
      <p:sp>
        <p:nvSpPr>
          <p:cNvPr id="298" name="Google Shape;298;g39760de4851_1_291:notes">
            <a:extLst>
              <a:ext uri="{FF2B5EF4-FFF2-40B4-BE49-F238E27FC236}">
                <a16:creationId xmlns:a16="http://schemas.microsoft.com/office/drawing/2014/main" id="{D88BA7D8-5FBB-610C-62E0-BE850FD112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9760de4851_1_291:notes">
            <a:extLst>
              <a:ext uri="{FF2B5EF4-FFF2-40B4-BE49-F238E27FC236}">
                <a16:creationId xmlns:a16="http://schemas.microsoft.com/office/drawing/2014/main" id="{49558C4E-432E-5A96-0625-0DE4E9FB02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Tree>
    <p:extLst>
      <p:ext uri="{BB962C8B-B14F-4D97-AF65-F5344CB8AC3E}">
        <p14:creationId xmlns:p14="http://schemas.microsoft.com/office/powerpoint/2010/main" val="2889344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1474BEA8-1EA7-66FD-BA71-E22E146B1640}"/>
            </a:ext>
          </a:extLst>
        </p:cNvPr>
        <p:cNvGrpSpPr/>
        <p:nvPr/>
      </p:nvGrpSpPr>
      <p:grpSpPr>
        <a:xfrm>
          <a:off x="0" y="0"/>
          <a:ext cx="0" cy="0"/>
          <a:chOff x="0" y="0"/>
          <a:chExt cx="0" cy="0"/>
        </a:xfrm>
      </p:grpSpPr>
      <p:sp>
        <p:nvSpPr>
          <p:cNvPr id="49" name="Google Shape;49;g3d1edd8623c_1_0:notes">
            <a:extLst>
              <a:ext uri="{FF2B5EF4-FFF2-40B4-BE49-F238E27FC236}">
                <a16:creationId xmlns:a16="http://schemas.microsoft.com/office/drawing/2014/main" id="{E4D0660C-E60F-B77B-DAE5-78ED65E1E0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50" name="Google Shape;50;g3d1edd8623c_1_0:notes">
            <a:extLst>
              <a:ext uri="{FF2B5EF4-FFF2-40B4-BE49-F238E27FC236}">
                <a16:creationId xmlns:a16="http://schemas.microsoft.com/office/drawing/2014/main" id="{2A4CF817-70E3-3DE1-CCCD-5F51B8D01A6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d1edd8623c_1_0:notes">
            <a:extLst>
              <a:ext uri="{FF2B5EF4-FFF2-40B4-BE49-F238E27FC236}">
                <a16:creationId xmlns:a16="http://schemas.microsoft.com/office/drawing/2014/main" id="{FF44691E-4954-9B7B-A6F8-D5ACEA27B61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extLst>
      <p:ext uri="{BB962C8B-B14F-4D97-AF65-F5344CB8AC3E}">
        <p14:creationId xmlns:p14="http://schemas.microsoft.com/office/powerpoint/2010/main" val="379363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125E-E66B-B1C9-F50B-FF0DA0602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62732-19AF-220E-5DEA-8DEC55CE7B26}"/>
              </a:ext>
            </a:extLst>
          </p:cNvPr>
          <p:cNvSpPr>
            <a:spLocks noGrp="1" noRot="1" noChangeAspect="1"/>
          </p:cNvSpPr>
          <p:nvPr>
            <p:ph type="sldImg"/>
          </p:nvPr>
        </p:nvSpPr>
        <p:spPr/>
        <p:txBody>
          <a:bodyPr/>
          <a:lstStyle/>
          <a:p>
            <a:endParaRPr lang="es-ES_tradnl"/>
          </a:p>
        </p:txBody>
      </p:sp>
      <p:sp>
        <p:nvSpPr>
          <p:cNvPr id="3" name="Notes Placeholder 2">
            <a:extLst>
              <a:ext uri="{FF2B5EF4-FFF2-40B4-BE49-F238E27FC236}">
                <a16:creationId xmlns:a16="http://schemas.microsoft.com/office/drawing/2014/main" id="{722D4936-EE36-583E-F420-D97753A7F4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B2AD99-CB75-2B4D-141C-EDA2E411353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238485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811C6E89-7222-F1E7-10CF-F98BB5D2DD1D}"/>
            </a:ext>
          </a:extLst>
        </p:cNvPr>
        <p:cNvGrpSpPr/>
        <p:nvPr/>
      </p:nvGrpSpPr>
      <p:grpSpPr>
        <a:xfrm>
          <a:off x="0" y="0"/>
          <a:ext cx="0" cy="0"/>
          <a:chOff x="0" y="0"/>
          <a:chExt cx="0" cy="0"/>
        </a:xfrm>
      </p:grpSpPr>
      <p:sp>
        <p:nvSpPr>
          <p:cNvPr id="49" name="Google Shape;49;g3d1edd8623c_1_0:notes">
            <a:extLst>
              <a:ext uri="{FF2B5EF4-FFF2-40B4-BE49-F238E27FC236}">
                <a16:creationId xmlns:a16="http://schemas.microsoft.com/office/drawing/2014/main" id="{8D19B780-7DCC-0D06-9502-E6D5C438BD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50" name="Google Shape;50;g3d1edd8623c_1_0:notes">
            <a:extLst>
              <a:ext uri="{FF2B5EF4-FFF2-40B4-BE49-F238E27FC236}">
                <a16:creationId xmlns:a16="http://schemas.microsoft.com/office/drawing/2014/main" id="{CB1AB236-6C87-910B-66BC-F7A873800DD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d1edd8623c_1_0:notes">
            <a:extLst>
              <a:ext uri="{FF2B5EF4-FFF2-40B4-BE49-F238E27FC236}">
                <a16:creationId xmlns:a16="http://schemas.microsoft.com/office/drawing/2014/main" id="{5D51E7EC-0D09-4B93-38BE-265663C4854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extLst>
      <p:ext uri="{BB962C8B-B14F-4D97-AF65-F5344CB8AC3E}">
        <p14:creationId xmlns:p14="http://schemas.microsoft.com/office/powerpoint/2010/main" val="6317908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5D76B05B-C361-3873-483D-350A87EDF941}"/>
            </a:ext>
          </a:extLst>
        </p:cNvPr>
        <p:cNvGrpSpPr/>
        <p:nvPr/>
      </p:nvGrpSpPr>
      <p:grpSpPr>
        <a:xfrm>
          <a:off x="0" y="0"/>
          <a:ext cx="0" cy="0"/>
          <a:chOff x="0" y="0"/>
          <a:chExt cx="0" cy="0"/>
        </a:xfrm>
      </p:grpSpPr>
      <p:sp>
        <p:nvSpPr>
          <p:cNvPr id="49" name="Google Shape;49;g3d1edd8623c_1_0:notes">
            <a:extLst>
              <a:ext uri="{FF2B5EF4-FFF2-40B4-BE49-F238E27FC236}">
                <a16:creationId xmlns:a16="http://schemas.microsoft.com/office/drawing/2014/main" id="{2FB5A6AD-8B63-0527-2484-A81BB70DC0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50" name="Google Shape;50;g3d1edd8623c_1_0:notes">
            <a:extLst>
              <a:ext uri="{FF2B5EF4-FFF2-40B4-BE49-F238E27FC236}">
                <a16:creationId xmlns:a16="http://schemas.microsoft.com/office/drawing/2014/main" id="{D9E6B493-FC57-81CB-18F2-04050FB5DFE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d1edd8623c_1_0:notes">
            <a:extLst>
              <a:ext uri="{FF2B5EF4-FFF2-40B4-BE49-F238E27FC236}">
                <a16:creationId xmlns:a16="http://schemas.microsoft.com/office/drawing/2014/main" id="{A97E4050-F2F0-0487-02DE-68407895795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extLst>
      <p:ext uri="{BB962C8B-B14F-4D97-AF65-F5344CB8AC3E}">
        <p14:creationId xmlns:p14="http://schemas.microsoft.com/office/powerpoint/2010/main" val="27912371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EC"/>
          </a:p>
        </p:txBody>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34460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81B28-25C5-CC70-72D1-CABE8B8DA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234E0-B5D4-A417-772D-81B53DC97791}"/>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FF592A5F-35D5-2EB7-BB54-4EF664208E5B}"/>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6DDCBD72-A3D8-183D-AB2C-DA382F32999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60479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0FCCA-0F13-0F94-875F-A4F6BCBD5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2FDA9-5613-0575-D53A-E01961FF786D}"/>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B8C5D67D-7EAF-1EEE-220F-4CD53B44EF55}"/>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B55B12E3-D21B-B817-8F71-EDC849A92F2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1375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8189E309-5972-3A23-080A-E46C2867FA1B}"/>
            </a:ext>
          </a:extLst>
        </p:cNvPr>
        <p:cNvGrpSpPr/>
        <p:nvPr/>
      </p:nvGrpSpPr>
      <p:grpSpPr>
        <a:xfrm>
          <a:off x="0" y="0"/>
          <a:ext cx="0" cy="0"/>
          <a:chOff x="0" y="0"/>
          <a:chExt cx="0" cy="0"/>
        </a:xfrm>
      </p:grpSpPr>
      <p:sp>
        <p:nvSpPr>
          <p:cNvPr id="49" name="Google Shape;49;g3d1edd8623c_1_0:notes">
            <a:extLst>
              <a:ext uri="{FF2B5EF4-FFF2-40B4-BE49-F238E27FC236}">
                <a16:creationId xmlns:a16="http://schemas.microsoft.com/office/drawing/2014/main" id="{D8FB5A20-50BC-EA32-B83D-80EB13C272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50" name="Google Shape;50;g3d1edd8623c_1_0:notes">
            <a:extLst>
              <a:ext uri="{FF2B5EF4-FFF2-40B4-BE49-F238E27FC236}">
                <a16:creationId xmlns:a16="http://schemas.microsoft.com/office/drawing/2014/main" id="{81F0AD38-7B13-71AB-93E9-D5129BBA8AB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d1edd8623c_1_0:notes">
            <a:extLst>
              <a:ext uri="{FF2B5EF4-FFF2-40B4-BE49-F238E27FC236}">
                <a16:creationId xmlns:a16="http://schemas.microsoft.com/office/drawing/2014/main" id="{B93A5B66-A4CA-0B12-F6FB-EBB64929F2C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extLst>
      <p:ext uri="{BB962C8B-B14F-4D97-AF65-F5344CB8AC3E}">
        <p14:creationId xmlns:p14="http://schemas.microsoft.com/office/powerpoint/2010/main" val="770094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55FD3-47BB-6F1C-4820-A64DB368CC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ACEE2-E41B-07D0-C655-F55D72F8A2F7}"/>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E07A1A68-C622-5A5C-6784-39CDDE658F6E}"/>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6B76216F-3CFF-AD34-5665-3BD36D2FC21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7896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04228-1AD0-5F71-C741-CD63D4C30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BF0F8-E445-DACE-BBA2-256F3F57B173}"/>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1E7550E1-EA16-7745-2104-E7A4C27A6798}"/>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3969EC1A-6159-5AB8-CAED-745C68162C6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380726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8ECA8781-4145-9D1E-85B2-33AAF50D162C}"/>
            </a:ext>
          </a:extLst>
        </p:cNvPr>
        <p:cNvGrpSpPr/>
        <p:nvPr/>
      </p:nvGrpSpPr>
      <p:grpSpPr>
        <a:xfrm>
          <a:off x="0" y="0"/>
          <a:ext cx="0" cy="0"/>
          <a:chOff x="0" y="0"/>
          <a:chExt cx="0" cy="0"/>
        </a:xfrm>
      </p:grpSpPr>
      <p:sp>
        <p:nvSpPr>
          <p:cNvPr id="49" name="Google Shape;49;g3d1edd8623c_1_0:notes">
            <a:extLst>
              <a:ext uri="{FF2B5EF4-FFF2-40B4-BE49-F238E27FC236}">
                <a16:creationId xmlns:a16="http://schemas.microsoft.com/office/drawing/2014/main" id="{95000A0B-E759-5086-AFD4-6EDB68AFF5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50" name="Google Shape;50;g3d1edd8623c_1_0:notes">
            <a:extLst>
              <a:ext uri="{FF2B5EF4-FFF2-40B4-BE49-F238E27FC236}">
                <a16:creationId xmlns:a16="http://schemas.microsoft.com/office/drawing/2014/main" id="{79F7F57B-13F9-140D-F548-4B1DAC6A149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d1edd8623c_1_0:notes">
            <a:extLst>
              <a:ext uri="{FF2B5EF4-FFF2-40B4-BE49-F238E27FC236}">
                <a16:creationId xmlns:a16="http://schemas.microsoft.com/office/drawing/2014/main" id="{F9F64D93-454D-5F31-20E6-4F211F9A928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29</a:t>
            </a:fld>
            <a:endParaRPr/>
          </a:p>
        </p:txBody>
      </p:sp>
    </p:spTree>
    <p:extLst>
      <p:ext uri="{BB962C8B-B14F-4D97-AF65-F5344CB8AC3E}">
        <p14:creationId xmlns:p14="http://schemas.microsoft.com/office/powerpoint/2010/main" val="162261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4E9AD972-D416-9D6B-7C06-D861762BB0AF}"/>
            </a:ext>
          </a:extLst>
        </p:cNvPr>
        <p:cNvGrpSpPr/>
        <p:nvPr/>
      </p:nvGrpSpPr>
      <p:grpSpPr>
        <a:xfrm>
          <a:off x="0" y="0"/>
          <a:ext cx="0" cy="0"/>
          <a:chOff x="0" y="0"/>
          <a:chExt cx="0" cy="0"/>
        </a:xfrm>
      </p:grpSpPr>
      <p:sp>
        <p:nvSpPr>
          <p:cNvPr id="49" name="Google Shape;49;g3d1edd8623c_1_0:notes">
            <a:extLst>
              <a:ext uri="{FF2B5EF4-FFF2-40B4-BE49-F238E27FC236}">
                <a16:creationId xmlns:a16="http://schemas.microsoft.com/office/drawing/2014/main" id="{6B653188-CA91-3EBF-390E-9C0EAFFE5B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50" name="Google Shape;50;g3d1edd8623c_1_0:notes">
            <a:extLst>
              <a:ext uri="{FF2B5EF4-FFF2-40B4-BE49-F238E27FC236}">
                <a16:creationId xmlns:a16="http://schemas.microsoft.com/office/drawing/2014/main" id="{7DC487C0-8409-0F38-9045-1A3201E378B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d1edd8623c_1_0:notes">
            <a:extLst>
              <a:ext uri="{FF2B5EF4-FFF2-40B4-BE49-F238E27FC236}">
                <a16:creationId xmlns:a16="http://schemas.microsoft.com/office/drawing/2014/main" id="{60EEE3B6-A981-1F97-888F-3A33B4D7336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32</a:t>
            </a:fld>
            <a:endParaRPr/>
          </a:p>
        </p:txBody>
      </p:sp>
    </p:spTree>
    <p:extLst>
      <p:ext uri="{BB962C8B-B14F-4D97-AF65-F5344CB8AC3E}">
        <p14:creationId xmlns:p14="http://schemas.microsoft.com/office/powerpoint/2010/main" val="3009920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A7734AD9-5335-78B2-AC0A-39E7ED99195D}"/>
            </a:ext>
          </a:extLst>
        </p:cNvPr>
        <p:cNvGrpSpPr/>
        <p:nvPr/>
      </p:nvGrpSpPr>
      <p:grpSpPr>
        <a:xfrm>
          <a:off x="0" y="0"/>
          <a:ext cx="0" cy="0"/>
          <a:chOff x="0" y="0"/>
          <a:chExt cx="0" cy="0"/>
        </a:xfrm>
      </p:grpSpPr>
      <p:sp>
        <p:nvSpPr>
          <p:cNvPr id="49" name="Google Shape;49;g3d1edd8623c_1_0:notes">
            <a:extLst>
              <a:ext uri="{FF2B5EF4-FFF2-40B4-BE49-F238E27FC236}">
                <a16:creationId xmlns:a16="http://schemas.microsoft.com/office/drawing/2014/main" id="{ECCD4353-F87C-ABC8-7620-88A460B511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50" name="Google Shape;50;g3d1edd8623c_1_0:notes">
            <a:extLst>
              <a:ext uri="{FF2B5EF4-FFF2-40B4-BE49-F238E27FC236}">
                <a16:creationId xmlns:a16="http://schemas.microsoft.com/office/drawing/2014/main" id="{65D60CC6-D599-5C35-56B3-B7D8810416F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d1edd8623c_1_0:notes">
            <a:extLst>
              <a:ext uri="{FF2B5EF4-FFF2-40B4-BE49-F238E27FC236}">
                <a16:creationId xmlns:a16="http://schemas.microsoft.com/office/drawing/2014/main" id="{BF83D8C4-D2D1-8918-37AE-63EDC9D5C23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34</a:t>
            </a:fld>
            <a:endParaRPr/>
          </a:p>
        </p:txBody>
      </p:sp>
    </p:spTree>
    <p:extLst>
      <p:ext uri="{BB962C8B-B14F-4D97-AF65-F5344CB8AC3E}">
        <p14:creationId xmlns:p14="http://schemas.microsoft.com/office/powerpoint/2010/main" val="19047997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6B750-8757-2903-4F51-BCD38317B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0C04E-8997-15E6-8770-B193C2D75CFA}"/>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72291CAD-A206-D574-2AA1-1CC4C7E92BD0}"/>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58974D37-2ACF-66BE-1F90-AC9CECD297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F5EECD-A859-1C44-8B94-E8C90DE554AB}" type="slidenum">
              <a:rPr kumimoji="0" lang="es-ES_trad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s-ES_trad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019699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11BE6-4D57-E889-1606-499CB38FF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1B07F-9D73-64B8-D342-9C94FAF665FA}"/>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D477D884-EC0A-7681-39D1-7493F570CCDA}"/>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F4A3D10A-3964-C79B-2AD5-92BA899BFDB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F5EECD-A859-1C44-8B94-E8C90DE554AB}" type="slidenum">
              <a:rPr kumimoji="0" lang="es-ES_trad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s-ES_trad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92809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A3879-3BF8-C383-743D-3C6BFD71C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73970-5C4D-1D1F-0335-64589336E9FA}"/>
              </a:ext>
            </a:extLst>
          </p:cNvPr>
          <p:cNvSpPr>
            <a:spLocks noGrp="1" noRot="1" noChangeAspect="1"/>
          </p:cNvSpPr>
          <p:nvPr>
            <p:ph type="sldImg"/>
          </p:nvPr>
        </p:nvSpPr>
        <p:spPr/>
        <p:txBody>
          <a:bodyPr/>
          <a:lstStyle/>
          <a:p>
            <a:endParaRPr lang="en-EC"/>
          </a:p>
        </p:txBody>
      </p:sp>
      <p:sp>
        <p:nvSpPr>
          <p:cNvPr id="3" name="Notes Placeholder 2">
            <a:extLst>
              <a:ext uri="{FF2B5EF4-FFF2-40B4-BE49-F238E27FC236}">
                <a16:creationId xmlns:a16="http://schemas.microsoft.com/office/drawing/2014/main" id="{5CB280DF-E085-2384-F2BB-00E63118EC5F}"/>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4C81A4AE-6F68-4F1E-E2CD-FB14B2CC4E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F5EECD-A859-1C44-8B94-E8C90DE554AB}" type="slidenum">
              <a:rPr kumimoji="0" lang="es-ES_trad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s-ES_trad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435213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359309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C830C-88D6-F570-60F1-A1FE25A52B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7C674D-3558-7A4E-FDF0-03E7E5556289}"/>
              </a:ext>
            </a:extLst>
          </p:cNvPr>
          <p:cNvSpPr>
            <a:spLocks noGrp="1" noRot="1" noChangeAspect="1"/>
          </p:cNvSpPr>
          <p:nvPr>
            <p:ph type="sldImg"/>
          </p:nvPr>
        </p:nvSpPr>
        <p:spPr/>
        <p:txBody>
          <a:bodyPr/>
          <a:lstStyle/>
          <a:p>
            <a:endParaRPr lang="en-EC"/>
          </a:p>
        </p:txBody>
      </p:sp>
      <p:sp>
        <p:nvSpPr>
          <p:cNvPr id="3" name="Marcador de notas 2">
            <a:extLst>
              <a:ext uri="{FF2B5EF4-FFF2-40B4-BE49-F238E27FC236}">
                <a16:creationId xmlns:a16="http://schemas.microsoft.com/office/drawing/2014/main" id="{B5FB6389-0D8B-DF89-5148-5EA8F9459BAC}"/>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s-419" dirty="0">
                <a:solidFill>
                  <a:srgbClr val="000000"/>
                </a:solidFill>
                <a:latin typeface="Poppins" panose="00000500000000000000" pitchFamily="2" charset="0"/>
                <a:ea typeface="Geometria" panose="020B0503020204020204" pitchFamily="34" charset="0"/>
                <a:cs typeface="Poppins" panose="00000500000000000000" pitchFamily="2" charset="0"/>
              </a:rPr>
              <a:t>Detallar los buenos resultados de fin ventas y garantizados, detallar que pagare presenta una mayor participación pero con productos de origen de menor tasa</a:t>
            </a:r>
          </a:p>
        </p:txBody>
      </p:sp>
      <p:sp>
        <p:nvSpPr>
          <p:cNvPr id="4" name="Marcador de número de diapositiva 3">
            <a:extLst>
              <a:ext uri="{FF2B5EF4-FFF2-40B4-BE49-F238E27FC236}">
                <a16:creationId xmlns:a16="http://schemas.microsoft.com/office/drawing/2014/main" id="{B9A0AD2B-9027-2330-9EAC-D5C3C1F17A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0585E6-4A39-4D2D-8CBC-F876ACA5D7AF}"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19478557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a:extLst>
            <a:ext uri="{FF2B5EF4-FFF2-40B4-BE49-F238E27FC236}">
              <a16:creationId xmlns:a16="http://schemas.microsoft.com/office/drawing/2014/main" id="{158A4116-1C78-400F-FEFE-A76E1C30DE5A}"/>
            </a:ext>
          </a:extLst>
        </p:cNvPr>
        <p:cNvGrpSpPr/>
        <p:nvPr/>
      </p:nvGrpSpPr>
      <p:grpSpPr>
        <a:xfrm>
          <a:off x="0" y="0"/>
          <a:ext cx="0" cy="0"/>
          <a:chOff x="0" y="0"/>
          <a:chExt cx="0" cy="0"/>
        </a:xfrm>
      </p:grpSpPr>
      <p:sp>
        <p:nvSpPr>
          <p:cNvPr id="49" name="Google Shape;49;g3d1edd8623c_1_0:notes">
            <a:extLst>
              <a:ext uri="{FF2B5EF4-FFF2-40B4-BE49-F238E27FC236}">
                <a16:creationId xmlns:a16="http://schemas.microsoft.com/office/drawing/2014/main" id="{6AB40A8D-99EC-74B8-87C9-309F8F7A9F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
        <p:nvSpPr>
          <p:cNvPr id="50" name="Google Shape;50;g3d1edd8623c_1_0:notes">
            <a:extLst>
              <a:ext uri="{FF2B5EF4-FFF2-40B4-BE49-F238E27FC236}">
                <a16:creationId xmlns:a16="http://schemas.microsoft.com/office/drawing/2014/main" id="{9AA42FA7-3D0F-6198-3AE6-634D7937299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 name="Google Shape;51;g3d1edd8623c_1_0:notes">
            <a:extLst>
              <a:ext uri="{FF2B5EF4-FFF2-40B4-BE49-F238E27FC236}">
                <a16:creationId xmlns:a16="http://schemas.microsoft.com/office/drawing/2014/main" id="{1CEDFE2B-7F91-7693-F78F-4E4109C3A2C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47</a:t>
            </a:fld>
            <a:endParaRPr/>
          </a:p>
        </p:txBody>
      </p:sp>
    </p:spTree>
    <p:extLst>
      <p:ext uri="{BB962C8B-B14F-4D97-AF65-F5344CB8AC3E}">
        <p14:creationId xmlns:p14="http://schemas.microsoft.com/office/powerpoint/2010/main" val="18984918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AB5E6-D550-2A1A-95AC-A283235A54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013170-45B9-63A2-AD95-11DA6DD9BF08}"/>
              </a:ext>
            </a:extLst>
          </p:cNvPr>
          <p:cNvSpPr>
            <a:spLocks noGrp="1" noRot="1" noChangeAspect="1"/>
          </p:cNvSpPr>
          <p:nvPr>
            <p:ph type="sldImg"/>
          </p:nvPr>
        </p:nvSpPr>
        <p:spPr/>
        <p:txBody>
          <a:bodyPr/>
          <a:lstStyle/>
          <a:p>
            <a:endParaRPr lang="en-EC"/>
          </a:p>
        </p:txBody>
      </p:sp>
      <p:sp>
        <p:nvSpPr>
          <p:cNvPr id="3" name="Marcador de notas 2">
            <a:extLst>
              <a:ext uri="{FF2B5EF4-FFF2-40B4-BE49-F238E27FC236}">
                <a16:creationId xmlns:a16="http://schemas.microsoft.com/office/drawing/2014/main" id="{27FE8284-FCFF-A3BF-990A-AF15D6DE57C3}"/>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s-419" dirty="0">
                <a:solidFill>
                  <a:srgbClr val="000000"/>
                </a:solidFill>
                <a:latin typeface="Poppins" panose="00000500000000000000" pitchFamily="2" charset="0"/>
                <a:ea typeface="Geometria" panose="020B0503020204020204" pitchFamily="34" charset="0"/>
                <a:cs typeface="Poppins" panose="00000500000000000000" pitchFamily="2" charset="0"/>
              </a:rPr>
              <a:t>Detallar los buenos resultados de fin ventas y garantizados, detallar que pagare presenta una mayor participación pero con productos de origen de menor tasa</a:t>
            </a:r>
          </a:p>
        </p:txBody>
      </p:sp>
      <p:sp>
        <p:nvSpPr>
          <p:cNvPr id="4" name="Marcador de número de diapositiva 3">
            <a:extLst>
              <a:ext uri="{FF2B5EF4-FFF2-40B4-BE49-F238E27FC236}">
                <a16:creationId xmlns:a16="http://schemas.microsoft.com/office/drawing/2014/main" id="{9E9CD59B-7F30-D7AE-29C2-5F1EE06A99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0585E6-4A39-4D2D-8CBC-F876ACA5D7AF}"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6540437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104FE-D0AD-5EC1-E69C-BF2285C931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F637D9-DFE9-D139-F8D4-738CDAEC4A5B}"/>
              </a:ext>
            </a:extLst>
          </p:cNvPr>
          <p:cNvSpPr>
            <a:spLocks noGrp="1" noRot="1" noChangeAspect="1"/>
          </p:cNvSpPr>
          <p:nvPr>
            <p:ph type="sldImg"/>
          </p:nvPr>
        </p:nvSpPr>
        <p:spPr/>
        <p:txBody>
          <a:bodyPr/>
          <a:lstStyle/>
          <a:p>
            <a:endParaRPr lang="en-EC"/>
          </a:p>
        </p:txBody>
      </p:sp>
      <p:sp>
        <p:nvSpPr>
          <p:cNvPr id="3" name="Marcador de notas 2">
            <a:extLst>
              <a:ext uri="{FF2B5EF4-FFF2-40B4-BE49-F238E27FC236}">
                <a16:creationId xmlns:a16="http://schemas.microsoft.com/office/drawing/2014/main" id="{6864435F-4F60-2D7A-3DC0-94F9BD08A1CD}"/>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s-419" dirty="0">
                <a:solidFill>
                  <a:srgbClr val="000000"/>
                </a:solidFill>
                <a:latin typeface="Poppins" panose="00000500000000000000" pitchFamily="2" charset="0"/>
                <a:ea typeface="Geometria" panose="020B0503020204020204" pitchFamily="34" charset="0"/>
                <a:cs typeface="Poppins" panose="00000500000000000000" pitchFamily="2" charset="0"/>
              </a:rPr>
              <a:t>Detallar los buenos resultados de fin ventas y garantizados, detallar que pagare presenta una mayor participación pero con productos de origen de menor tasa</a:t>
            </a:r>
          </a:p>
        </p:txBody>
      </p:sp>
      <p:sp>
        <p:nvSpPr>
          <p:cNvPr id="4" name="Marcador de número de diapositiva 3">
            <a:extLst>
              <a:ext uri="{FF2B5EF4-FFF2-40B4-BE49-F238E27FC236}">
                <a16:creationId xmlns:a16="http://schemas.microsoft.com/office/drawing/2014/main" id="{FEB6E025-FB68-2011-53BC-4D87F1DB38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0585E6-4A39-4D2D-8CBC-F876ACA5D7AF}" type="slidenum">
              <a:rPr kumimoji="0" lang="es-PE"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s-PE"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10204026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a:extLst>
            <a:ext uri="{FF2B5EF4-FFF2-40B4-BE49-F238E27FC236}">
              <a16:creationId xmlns:a16="http://schemas.microsoft.com/office/drawing/2014/main" id="{F869B99C-AEC9-3F21-636B-FEA92900DCF7}"/>
            </a:ext>
          </a:extLst>
        </p:cNvPr>
        <p:cNvGrpSpPr/>
        <p:nvPr/>
      </p:nvGrpSpPr>
      <p:grpSpPr>
        <a:xfrm>
          <a:off x="0" y="0"/>
          <a:ext cx="0" cy="0"/>
          <a:chOff x="0" y="0"/>
          <a:chExt cx="0" cy="0"/>
        </a:xfrm>
      </p:grpSpPr>
      <p:sp>
        <p:nvSpPr>
          <p:cNvPr id="45" name="Google Shape;45;p1:notes">
            <a:extLst>
              <a:ext uri="{FF2B5EF4-FFF2-40B4-BE49-F238E27FC236}">
                <a16:creationId xmlns:a16="http://schemas.microsoft.com/office/drawing/2014/main" id="{36C2F2CC-40E6-83CD-0FDF-D74BCBDCB63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 name="Google Shape;46;p1:notes">
            <a:extLst>
              <a:ext uri="{FF2B5EF4-FFF2-40B4-BE49-F238E27FC236}">
                <a16:creationId xmlns:a16="http://schemas.microsoft.com/office/drawing/2014/main" id="{40B29006-E77E-E254-BAF5-1ED45F5E07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EC"/>
          </a:p>
        </p:txBody>
      </p:sp>
    </p:spTree>
    <p:extLst>
      <p:ext uri="{BB962C8B-B14F-4D97-AF65-F5344CB8AC3E}">
        <p14:creationId xmlns:p14="http://schemas.microsoft.com/office/powerpoint/2010/main" val="3976253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seño personalizado">
  <p:cSld name="Diseño personalizado">
    <p:bg>
      <p:bgPr>
        <a:solidFill>
          <a:schemeClr val="dk1"/>
        </a:solidFill>
        <a:effectLst/>
      </p:bgPr>
    </p:bg>
    <p:spTree>
      <p:nvGrpSpPr>
        <p:cNvPr id="1" name="Shape 14"/>
        <p:cNvGrpSpPr/>
        <p:nvPr/>
      </p:nvGrpSpPr>
      <p:grpSpPr>
        <a:xfrm>
          <a:off x="0" y="0"/>
          <a:ext cx="0" cy="0"/>
          <a:chOff x="0" y="0"/>
          <a:chExt cx="0" cy="0"/>
        </a:xfrm>
      </p:grpSpPr>
      <p:pic>
        <p:nvPicPr>
          <p:cNvPr id="15" name="Google Shape;15;p13"/>
          <p:cNvPicPr preferRelativeResize="0"/>
          <p:nvPr/>
        </p:nvPicPr>
        <p:blipFill rotWithShape="1">
          <a:blip r:embed="rId2">
            <a:alphaModFix/>
          </a:blip>
          <a:srcRect/>
          <a:stretch/>
        </p:blipFill>
        <p:spPr>
          <a:xfrm>
            <a:off x="1866876" y="3472511"/>
            <a:ext cx="4826049" cy="228869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6"/>
        <p:cNvGrpSpPr/>
        <p:nvPr/>
      </p:nvGrpSpPr>
      <p:grpSpPr>
        <a:xfrm>
          <a:off x="0" y="0"/>
          <a:ext cx="0" cy="0"/>
          <a:chOff x="0" y="0"/>
          <a:chExt cx="0" cy="0"/>
        </a:xfrm>
      </p:grpSpPr>
      <p:sp>
        <p:nvSpPr>
          <p:cNvPr id="17" name="Google Shape;17;g3d11f1f7e5e_1_35"/>
          <p:cNvSpPr txBox="1">
            <a:spLocks noGrp="1"/>
          </p:cNvSpPr>
          <p:nvPr>
            <p:ph type="dt" idx="10"/>
          </p:nvPr>
        </p:nvSpPr>
        <p:spPr>
          <a:xfrm>
            <a:off x="1117600" y="8475133"/>
            <a:ext cx="3657600" cy="486833"/>
          </a:xfrm>
          <a:prstGeom prst="rect">
            <a:avLst/>
          </a:prstGeom>
          <a:noFill/>
          <a:ln>
            <a:noFill/>
          </a:ln>
        </p:spPr>
        <p:txBody>
          <a:bodyPr spcFirstLastPara="1" wrap="square" lIns="121900" tIns="60925" rIns="121900" bIns="60925" anchor="t" anchorCtr="0">
            <a:noAutofit/>
          </a:bodyPr>
          <a:lstStyle>
            <a:lvl1pPr marR="0" lvl="0"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18" name="Google Shape;18;g3d11f1f7e5e_1_35"/>
          <p:cNvSpPr txBox="1">
            <a:spLocks noGrp="1"/>
          </p:cNvSpPr>
          <p:nvPr>
            <p:ph type="ftr" idx="11"/>
          </p:nvPr>
        </p:nvSpPr>
        <p:spPr>
          <a:xfrm>
            <a:off x="5384800" y="8475133"/>
            <a:ext cx="5486400" cy="486833"/>
          </a:xfrm>
          <a:prstGeom prst="rect">
            <a:avLst/>
          </a:prstGeom>
          <a:noFill/>
          <a:ln>
            <a:noFill/>
          </a:ln>
        </p:spPr>
        <p:txBody>
          <a:bodyPr spcFirstLastPara="1" wrap="square" lIns="121900" tIns="60925" rIns="121900" bIns="60925" anchor="t" anchorCtr="0">
            <a:noAutofit/>
          </a:bodyPr>
          <a:lstStyle>
            <a:lvl1pPr marR="0" lvl="0"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19" name="Google Shape;19;g3d11f1f7e5e_1_35"/>
          <p:cNvSpPr txBox="1">
            <a:spLocks noGrp="1"/>
          </p:cNvSpPr>
          <p:nvPr>
            <p:ph type="sldNum" idx="12"/>
          </p:nvPr>
        </p:nvSpPr>
        <p:spPr>
          <a:xfrm>
            <a:off x="11480800" y="8475133"/>
            <a:ext cx="3657600" cy="486833"/>
          </a:xfrm>
          <a:prstGeom prst="rect">
            <a:avLst/>
          </a:prstGeom>
          <a:noFill/>
          <a:ln>
            <a:noFill/>
          </a:ln>
        </p:spPr>
        <p:txBody>
          <a:bodyPr spcFirstLastPara="1" wrap="square" lIns="121900" tIns="60925" rIns="121900" bIns="60925" anchor="t" anchorCtr="0">
            <a:noAutofit/>
          </a:bodyPr>
          <a:lstStyle>
            <a:lvl1pPr marL="0" marR="0" lvl="0"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2400"/>
              <a:buFont typeface="Arial"/>
              <a:buNone/>
              <a:defRPr sz="24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0"/>
        <p:cNvGrpSpPr/>
        <p:nvPr/>
      </p:nvGrpSpPr>
      <p:grpSpPr>
        <a:xfrm>
          <a:off x="0" y="0"/>
          <a:ext cx="0" cy="0"/>
          <a:chOff x="0" y="0"/>
          <a:chExt cx="0" cy="0"/>
        </a:xfrm>
      </p:grpSpPr>
      <p:sp>
        <p:nvSpPr>
          <p:cNvPr id="21" name="Google Shape;21;g3d2af3c2b62_1_101"/>
          <p:cNvSpPr txBox="1">
            <a:spLocks noGrp="1"/>
          </p:cNvSpPr>
          <p:nvPr>
            <p:ph type="title"/>
          </p:nvPr>
        </p:nvSpPr>
        <p:spPr>
          <a:xfrm>
            <a:off x="1092886" y="326192"/>
            <a:ext cx="14020800" cy="831604"/>
          </a:xfrm>
          <a:prstGeom prst="rect">
            <a:avLst/>
          </a:prstGeom>
          <a:noFill/>
          <a:ln>
            <a:noFill/>
          </a:ln>
        </p:spPr>
        <p:txBody>
          <a:bodyPr spcFirstLastPara="1" wrap="square" lIns="121900" tIns="60925" rIns="121900" bIns="60925" anchor="ctr" anchorCtr="0">
            <a:normAutofit/>
          </a:bodyPr>
          <a:lstStyle>
            <a:lvl1pPr lvl="0" algn="l">
              <a:lnSpc>
                <a:spcPct val="90000"/>
              </a:lnSpc>
              <a:spcBef>
                <a:spcPts val="0"/>
              </a:spcBef>
              <a:spcAft>
                <a:spcPts val="0"/>
              </a:spcAft>
              <a:buClr>
                <a:srgbClr val="298485"/>
              </a:buClr>
              <a:buSzPts val="4300"/>
              <a:buFont typeface="Calibri"/>
              <a:buNone/>
              <a:defRPr sz="4300"/>
            </a:lvl1pPr>
            <a:lvl2pPr lvl="1" algn="l">
              <a:lnSpc>
                <a:spcPct val="100000"/>
              </a:lnSpc>
              <a:spcBef>
                <a:spcPts val="0"/>
              </a:spcBef>
              <a:spcAft>
                <a:spcPts val="0"/>
              </a:spcAft>
              <a:buSzPts val="1900"/>
              <a:buNone/>
              <a:defRPr sz="1900"/>
            </a:lvl2pPr>
            <a:lvl3pPr lvl="2" algn="l">
              <a:lnSpc>
                <a:spcPct val="100000"/>
              </a:lnSpc>
              <a:spcBef>
                <a:spcPts val="0"/>
              </a:spcBef>
              <a:spcAft>
                <a:spcPts val="0"/>
              </a:spcAft>
              <a:buSzPts val="1900"/>
              <a:buNone/>
              <a:defRPr sz="1900"/>
            </a:lvl3pPr>
            <a:lvl4pPr lvl="3" algn="l">
              <a:lnSpc>
                <a:spcPct val="100000"/>
              </a:lnSpc>
              <a:spcBef>
                <a:spcPts val="0"/>
              </a:spcBef>
              <a:spcAft>
                <a:spcPts val="0"/>
              </a:spcAft>
              <a:buSzPts val="1900"/>
              <a:buNone/>
              <a:defRPr sz="1900"/>
            </a:lvl4pPr>
            <a:lvl5pPr lvl="4" algn="l">
              <a:lnSpc>
                <a:spcPct val="100000"/>
              </a:lnSpc>
              <a:spcBef>
                <a:spcPts val="0"/>
              </a:spcBef>
              <a:spcAft>
                <a:spcPts val="0"/>
              </a:spcAft>
              <a:buSzPts val="1900"/>
              <a:buNone/>
              <a:defRPr sz="1900"/>
            </a:lvl5pPr>
            <a:lvl6pPr lvl="5" algn="l">
              <a:lnSpc>
                <a:spcPct val="100000"/>
              </a:lnSpc>
              <a:spcBef>
                <a:spcPts val="0"/>
              </a:spcBef>
              <a:spcAft>
                <a:spcPts val="0"/>
              </a:spcAft>
              <a:buSzPts val="1900"/>
              <a:buNone/>
              <a:defRPr sz="1900"/>
            </a:lvl6pPr>
            <a:lvl7pPr lvl="6" algn="l">
              <a:lnSpc>
                <a:spcPct val="100000"/>
              </a:lnSpc>
              <a:spcBef>
                <a:spcPts val="0"/>
              </a:spcBef>
              <a:spcAft>
                <a:spcPts val="0"/>
              </a:spcAft>
              <a:buSzPts val="1900"/>
              <a:buNone/>
              <a:defRPr sz="1900"/>
            </a:lvl7pPr>
            <a:lvl8pPr lvl="7" algn="l">
              <a:lnSpc>
                <a:spcPct val="100000"/>
              </a:lnSpc>
              <a:spcBef>
                <a:spcPts val="0"/>
              </a:spcBef>
              <a:spcAft>
                <a:spcPts val="0"/>
              </a:spcAft>
              <a:buSzPts val="1900"/>
              <a:buNone/>
              <a:defRPr sz="1900"/>
            </a:lvl8pPr>
            <a:lvl9pPr lvl="8" algn="l">
              <a:lnSpc>
                <a:spcPct val="100000"/>
              </a:lnSpc>
              <a:spcBef>
                <a:spcPts val="0"/>
              </a:spcBef>
              <a:spcAft>
                <a:spcPts val="0"/>
              </a:spcAft>
              <a:buSzPts val="1900"/>
              <a:buNone/>
              <a:defRPr sz="1900"/>
            </a:lvl9pPr>
          </a:lstStyle>
          <a:p>
            <a:endParaRPr/>
          </a:p>
        </p:txBody>
      </p:sp>
      <p:sp>
        <p:nvSpPr>
          <p:cNvPr id="22" name="Google Shape;22;g3d2af3c2b62_1_101"/>
          <p:cNvSpPr txBox="1">
            <a:spLocks noGrp="1"/>
          </p:cNvSpPr>
          <p:nvPr>
            <p:ph type="body" idx="1"/>
          </p:nvPr>
        </p:nvSpPr>
        <p:spPr>
          <a:xfrm>
            <a:off x="1092886" y="2273526"/>
            <a:ext cx="14020800" cy="5801784"/>
          </a:xfrm>
          <a:prstGeom prst="rect">
            <a:avLst/>
          </a:prstGeom>
          <a:noFill/>
          <a:ln>
            <a:noFill/>
          </a:ln>
        </p:spPr>
        <p:txBody>
          <a:bodyPr spcFirstLastPara="1" wrap="square" lIns="121900" tIns="60925" rIns="121900" bIns="60925" anchor="t" anchorCtr="0">
            <a:normAutofit/>
          </a:bodyPr>
          <a:lstStyle>
            <a:lvl1pPr marL="457200" lvl="0" indent="-381000" algn="l">
              <a:lnSpc>
                <a:spcPct val="90000"/>
              </a:lnSpc>
              <a:spcBef>
                <a:spcPts val="1300"/>
              </a:spcBef>
              <a:spcAft>
                <a:spcPts val="0"/>
              </a:spcAft>
              <a:buClr>
                <a:schemeClr val="dk1"/>
              </a:buClr>
              <a:buSzPts val="2400"/>
              <a:buChar char="•"/>
              <a:defRPr sz="1900"/>
            </a:lvl1pPr>
            <a:lvl2pPr marL="914400" lvl="1" indent="-381000" algn="l">
              <a:lnSpc>
                <a:spcPct val="90000"/>
              </a:lnSpc>
              <a:spcBef>
                <a:spcPts val="700"/>
              </a:spcBef>
              <a:spcAft>
                <a:spcPts val="0"/>
              </a:spcAft>
              <a:buClr>
                <a:schemeClr val="dk1"/>
              </a:buClr>
              <a:buSzPts val="2400"/>
              <a:buChar char="•"/>
              <a:defRPr sz="1900"/>
            </a:lvl2pPr>
            <a:lvl3pPr marL="1371600" lvl="2" indent="-381000" algn="l">
              <a:lnSpc>
                <a:spcPct val="90000"/>
              </a:lnSpc>
              <a:spcBef>
                <a:spcPts val="700"/>
              </a:spcBef>
              <a:spcAft>
                <a:spcPts val="0"/>
              </a:spcAft>
              <a:buClr>
                <a:schemeClr val="dk1"/>
              </a:buClr>
              <a:buSzPts val="2400"/>
              <a:buChar char="•"/>
              <a:defRPr sz="1900"/>
            </a:lvl3pPr>
            <a:lvl4pPr marL="1828800" lvl="3" indent="-381000" algn="l">
              <a:lnSpc>
                <a:spcPct val="90000"/>
              </a:lnSpc>
              <a:spcBef>
                <a:spcPts val="700"/>
              </a:spcBef>
              <a:spcAft>
                <a:spcPts val="0"/>
              </a:spcAft>
              <a:buClr>
                <a:schemeClr val="dk1"/>
              </a:buClr>
              <a:buSzPts val="2400"/>
              <a:buChar char="•"/>
              <a:defRPr sz="1900"/>
            </a:lvl4pPr>
            <a:lvl5pPr marL="2286000" lvl="4" indent="-381000" algn="l">
              <a:lnSpc>
                <a:spcPct val="90000"/>
              </a:lnSpc>
              <a:spcBef>
                <a:spcPts val="700"/>
              </a:spcBef>
              <a:spcAft>
                <a:spcPts val="0"/>
              </a:spcAft>
              <a:buClr>
                <a:schemeClr val="dk1"/>
              </a:buClr>
              <a:buSzPts val="2400"/>
              <a:buChar char="•"/>
              <a:defRPr sz="1900"/>
            </a:lvl5pPr>
            <a:lvl6pPr marL="2743200" lvl="5" indent="-381000" algn="l">
              <a:lnSpc>
                <a:spcPct val="90000"/>
              </a:lnSpc>
              <a:spcBef>
                <a:spcPts val="700"/>
              </a:spcBef>
              <a:spcAft>
                <a:spcPts val="0"/>
              </a:spcAft>
              <a:buClr>
                <a:schemeClr val="dk1"/>
              </a:buClr>
              <a:buSzPts val="2400"/>
              <a:buChar char="•"/>
              <a:defRPr sz="1900"/>
            </a:lvl6pPr>
            <a:lvl7pPr marL="3200400" lvl="6" indent="-381000" algn="l">
              <a:lnSpc>
                <a:spcPct val="90000"/>
              </a:lnSpc>
              <a:spcBef>
                <a:spcPts val="700"/>
              </a:spcBef>
              <a:spcAft>
                <a:spcPts val="0"/>
              </a:spcAft>
              <a:buClr>
                <a:schemeClr val="dk1"/>
              </a:buClr>
              <a:buSzPts val="2400"/>
              <a:buChar char="•"/>
              <a:defRPr sz="1900"/>
            </a:lvl7pPr>
            <a:lvl8pPr marL="3657600" lvl="7" indent="-381000" algn="l">
              <a:lnSpc>
                <a:spcPct val="90000"/>
              </a:lnSpc>
              <a:spcBef>
                <a:spcPts val="700"/>
              </a:spcBef>
              <a:spcAft>
                <a:spcPts val="0"/>
              </a:spcAft>
              <a:buClr>
                <a:schemeClr val="dk1"/>
              </a:buClr>
              <a:buSzPts val="2400"/>
              <a:buChar char="•"/>
              <a:defRPr sz="1900"/>
            </a:lvl8pPr>
            <a:lvl9pPr marL="4114800" lvl="8" indent="-381000" algn="l">
              <a:lnSpc>
                <a:spcPct val="90000"/>
              </a:lnSpc>
              <a:spcBef>
                <a:spcPts val="700"/>
              </a:spcBef>
              <a:spcAft>
                <a:spcPts val="0"/>
              </a:spcAft>
              <a:buClr>
                <a:schemeClr val="dk1"/>
              </a:buClr>
              <a:buSzPts val="2400"/>
              <a:buChar char="•"/>
              <a:defRPr sz="19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g3a8a166b9a7_3_10"/>
          <p:cNvSpPr txBox="1">
            <a:spLocks noGrp="1"/>
          </p:cNvSpPr>
          <p:nvPr>
            <p:ph type="title"/>
          </p:nvPr>
        </p:nvSpPr>
        <p:spPr>
          <a:xfrm>
            <a:off x="457200" y="304800"/>
            <a:ext cx="873760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13807B"/>
              </a:buClr>
              <a:buSzPts val="4400"/>
              <a:buFont typeface="Poppins"/>
              <a:buNone/>
              <a:defRPr>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672">
          <p15:clr>
            <a:srgbClr val="FBAE40"/>
          </p15:clr>
        </p15:guide>
        <p15:guide id="2" orient="horz" pos="9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seño personalizado 1">
  <p:cSld name="CUSTOM">
    <p:spTree>
      <p:nvGrpSpPr>
        <p:cNvPr id="1" name="Shape 25"/>
        <p:cNvGrpSpPr/>
        <p:nvPr/>
      </p:nvGrpSpPr>
      <p:grpSpPr>
        <a:xfrm>
          <a:off x="0" y="0"/>
          <a:ext cx="0" cy="0"/>
          <a:chOff x="0" y="0"/>
          <a:chExt cx="0" cy="0"/>
        </a:xfrm>
      </p:grpSpPr>
      <p:sp>
        <p:nvSpPr>
          <p:cNvPr id="26" name="Google Shape;26;g3a8a166b9a7_3_15"/>
          <p:cNvSpPr txBox="1">
            <a:spLocks noGrp="1"/>
          </p:cNvSpPr>
          <p:nvPr>
            <p:ph type="title"/>
          </p:nvPr>
        </p:nvSpPr>
        <p:spPr>
          <a:xfrm>
            <a:off x="600975" y="4000488"/>
            <a:ext cx="8229600" cy="11430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g3a8a166b9a7_3_15"/>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Arial"/>
              <a:ea typeface="Arial"/>
              <a:cs typeface="Arial"/>
              <a:sym typeface="Arial"/>
            </a:endParaRPr>
          </a:p>
        </p:txBody>
      </p:sp>
      <p:cxnSp>
        <p:nvCxnSpPr>
          <p:cNvPr id="28" name="Google Shape;28;g3a8a166b9a7_3_15"/>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29" name="Google Shape;29;g3a8a166b9a7_3_15"/>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Arial"/>
              <a:ea typeface="Arial"/>
              <a:cs typeface="Arial"/>
              <a:sym typeface="Arial"/>
            </a:endParaRPr>
          </a:p>
        </p:txBody>
      </p:sp>
      <p:pic>
        <p:nvPicPr>
          <p:cNvPr id="30" name="Google Shape;30;g3a8a166b9a7_3_15"/>
          <p:cNvPicPr preferRelativeResize="0"/>
          <p:nvPr/>
        </p:nvPicPr>
        <p:blipFill rotWithShape="1">
          <a:blip r:embed="rId2">
            <a:alphaModFix/>
          </a:blip>
          <a:srcRect/>
          <a:stretch/>
        </p:blipFill>
        <p:spPr>
          <a:xfrm>
            <a:off x="15168189" y="223789"/>
            <a:ext cx="792749" cy="3759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127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alpha val="0"/>
          </a:schemeClr>
        </a:solidFill>
        <a:effectLst/>
      </p:bgPr>
    </p:bg>
    <p:spTree>
      <p:nvGrpSpPr>
        <p:cNvPr id="1" name="Shape 9"/>
        <p:cNvGrpSpPr/>
        <p:nvPr/>
      </p:nvGrpSpPr>
      <p:grpSpPr>
        <a:xfrm>
          <a:off x="0" y="0"/>
          <a:ext cx="0" cy="0"/>
          <a:chOff x="0" y="0"/>
          <a:chExt cx="0" cy="0"/>
        </a:xfrm>
      </p:grpSpPr>
      <p:pic>
        <p:nvPicPr>
          <p:cNvPr id="10" name="Google Shape;10;p11"/>
          <p:cNvPicPr preferRelativeResize="0"/>
          <p:nvPr/>
        </p:nvPicPr>
        <p:blipFill rotWithShape="1">
          <a:blip r:embed="rId8">
            <a:alphaModFix/>
          </a:blip>
          <a:srcRect l="44" r="44"/>
          <a:stretch/>
        </p:blipFill>
        <p:spPr>
          <a:xfrm>
            <a:off x="2223" y="15142"/>
            <a:ext cx="16256000" cy="9144000"/>
          </a:xfrm>
          <a:prstGeom prst="rect">
            <a:avLst/>
          </a:prstGeom>
          <a:noFill/>
          <a:ln>
            <a:noFill/>
          </a:ln>
        </p:spPr>
      </p:pic>
      <p:pic>
        <p:nvPicPr>
          <p:cNvPr id="11" name="Google Shape;11;p11"/>
          <p:cNvPicPr preferRelativeResize="0"/>
          <p:nvPr/>
        </p:nvPicPr>
        <p:blipFill rotWithShape="1">
          <a:blip r:embed="rId9">
            <a:alphaModFix/>
          </a:blip>
          <a:srcRect b="5385"/>
          <a:stretch/>
        </p:blipFill>
        <p:spPr>
          <a:xfrm>
            <a:off x="15151100" y="152400"/>
            <a:ext cx="889000" cy="444500"/>
          </a:xfrm>
          <a:prstGeom prst="rect">
            <a:avLst/>
          </a:prstGeom>
          <a:noFill/>
          <a:ln>
            <a:noFill/>
          </a:ln>
        </p:spPr>
      </p:pic>
      <p:sp>
        <p:nvSpPr>
          <p:cNvPr id="12" name="Google Shape;1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rgbClr val="13807B"/>
              </a:buClr>
              <a:buSzPts val="4400"/>
              <a:buFont typeface="Calibri"/>
              <a:buNone/>
              <a:defRPr sz="4400" b="1" i="0" u="none" strike="noStrike" cap="none">
                <a:solidFill>
                  <a:srgbClr val="13807B"/>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rgbClr val="13807B"/>
              </a:buClr>
              <a:buSzPts val="3200"/>
              <a:buFont typeface="Arial"/>
              <a:buChar char="•"/>
              <a:defRPr sz="3200" b="0" i="0" u="none" strike="noStrike" cap="none">
                <a:solidFill>
                  <a:srgbClr val="13807B"/>
                </a:solidFill>
                <a:latin typeface="Calibri"/>
                <a:ea typeface="Calibri"/>
                <a:cs typeface="Calibri"/>
                <a:sym typeface="Calibri"/>
              </a:defRPr>
            </a:lvl1pPr>
            <a:lvl2pPr marL="914400" marR="0" lvl="1" indent="-406400" algn="l" rtl="0">
              <a:lnSpc>
                <a:spcPct val="100000"/>
              </a:lnSpc>
              <a:spcBef>
                <a:spcPts val="560"/>
              </a:spcBef>
              <a:spcAft>
                <a:spcPts val="0"/>
              </a:spcAft>
              <a:buClr>
                <a:srgbClr val="13807B"/>
              </a:buClr>
              <a:buSzPts val="2800"/>
              <a:buFont typeface="Arial"/>
              <a:buChar char="–"/>
              <a:defRPr sz="2800" b="0" i="0" u="none" strike="noStrike" cap="none">
                <a:solidFill>
                  <a:srgbClr val="13807B"/>
                </a:solidFill>
                <a:latin typeface="Calibri"/>
                <a:ea typeface="Calibri"/>
                <a:cs typeface="Calibri"/>
                <a:sym typeface="Calibri"/>
              </a:defRPr>
            </a:lvl2pPr>
            <a:lvl3pPr marL="1371600" marR="0" lvl="2" indent="-381000" algn="l" rtl="0">
              <a:lnSpc>
                <a:spcPct val="100000"/>
              </a:lnSpc>
              <a:spcBef>
                <a:spcPts val="480"/>
              </a:spcBef>
              <a:spcAft>
                <a:spcPts val="0"/>
              </a:spcAft>
              <a:buClr>
                <a:srgbClr val="13807B"/>
              </a:buClr>
              <a:buSzPts val="2400"/>
              <a:buFont typeface="Arial"/>
              <a:buChar char="•"/>
              <a:defRPr sz="2400" b="0" i="0" u="none" strike="noStrike" cap="none">
                <a:solidFill>
                  <a:srgbClr val="13807B"/>
                </a:solidFill>
                <a:latin typeface="Calibri"/>
                <a:ea typeface="Calibri"/>
                <a:cs typeface="Calibri"/>
                <a:sym typeface="Calibri"/>
              </a:defRPr>
            </a:lvl3pPr>
            <a:lvl4pPr marL="1828800" marR="0" lvl="3" indent="-355600" algn="l" rtl="0">
              <a:lnSpc>
                <a:spcPct val="100000"/>
              </a:lnSpc>
              <a:spcBef>
                <a:spcPts val="400"/>
              </a:spcBef>
              <a:spcAft>
                <a:spcPts val="0"/>
              </a:spcAft>
              <a:buClr>
                <a:srgbClr val="13807B"/>
              </a:buClr>
              <a:buSzPts val="2000"/>
              <a:buFont typeface="Arial"/>
              <a:buChar char="–"/>
              <a:defRPr sz="2000" b="0" i="0" u="none" strike="noStrike" cap="none">
                <a:solidFill>
                  <a:srgbClr val="13807B"/>
                </a:solidFill>
                <a:latin typeface="Calibri"/>
                <a:ea typeface="Calibri"/>
                <a:cs typeface="Calibri"/>
                <a:sym typeface="Calibri"/>
              </a:defRPr>
            </a:lvl4pPr>
            <a:lvl5pPr marL="2286000" marR="0" lvl="4" indent="-355600" algn="l" rtl="0">
              <a:lnSpc>
                <a:spcPct val="100000"/>
              </a:lnSpc>
              <a:spcBef>
                <a:spcPts val="400"/>
              </a:spcBef>
              <a:spcAft>
                <a:spcPts val="0"/>
              </a:spcAft>
              <a:buClr>
                <a:srgbClr val="13807B"/>
              </a:buClr>
              <a:buSzPts val="2000"/>
              <a:buFont typeface="Arial"/>
              <a:buChar char="»"/>
              <a:defRPr sz="2000" b="0" i="0" u="none" strike="noStrike" cap="none">
                <a:solidFill>
                  <a:srgbClr val="13807B"/>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120">
          <p15:clr>
            <a:srgbClr val="F26B43"/>
          </p15:clr>
        </p15:guide>
        <p15:guide id="2" orient="horz" pos="2880">
          <p15:clr>
            <a:srgbClr val="F26B43"/>
          </p15:clr>
        </p15:guide>
        <p15:guide id="3" pos="272">
          <p15:clr>
            <a:srgbClr val="F26B43"/>
          </p15:clr>
        </p15:guide>
        <p15:guide id="4" pos="99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slide" Target="slide3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1.gif"/></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microsoft.com/office/2007/relationships/hdphoto" Target="../media/hdphoto2.wdp"/><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microsoft.com/office/2007/relationships/hdphoto" Target="../media/hdphoto1.wdp"/><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1.gif"/></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5.png"/><Relationship Id="rId21" Type="http://schemas.openxmlformats.org/officeDocument/2006/relationships/slide" Target="slide21.xml"/><Relationship Id="rId7" Type="http://schemas.openxmlformats.org/officeDocument/2006/relationships/image" Target="../media/image19.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12.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slide" Target="slide19.xml"/><Relationship Id="rId5" Type="http://schemas.openxmlformats.org/officeDocument/2006/relationships/image" Target="../media/image17.png"/><Relationship Id="rId15" Type="http://schemas.openxmlformats.org/officeDocument/2006/relationships/image" Target="../media/image24.png"/><Relationship Id="rId23" Type="http://schemas.openxmlformats.org/officeDocument/2006/relationships/image" Target="../media/image31.png"/><Relationship Id="rId10" Type="http://schemas.openxmlformats.org/officeDocument/2006/relationships/slide" Target="slide29.xml"/><Relationship Id="rId19" Type="http://schemas.openxmlformats.org/officeDocument/2006/relationships/image" Target="../media/image28.png"/><Relationship Id="rId4" Type="http://schemas.openxmlformats.org/officeDocument/2006/relationships/image" Target="../media/image16.png"/><Relationship Id="rId9" Type="http://schemas.openxmlformats.org/officeDocument/2006/relationships/slide" Target="slide16.xml"/><Relationship Id="rId14" Type="http://schemas.openxmlformats.org/officeDocument/2006/relationships/image" Target="../media/image23.png"/><Relationship Id="rId22"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8.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chart" Target="../charts/chart1.xml"/><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43.png"/><Relationship Id="rId5" Type="http://schemas.openxmlformats.org/officeDocument/2006/relationships/image" Target="../media/image33.png"/><Relationship Id="rId10" Type="http://schemas.openxmlformats.org/officeDocument/2006/relationships/image" Target="../media/image42.png"/><Relationship Id="rId4" Type="http://schemas.openxmlformats.org/officeDocument/2006/relationships/image" Target="../media/image32.png"/><Relationship Id="rId9"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1.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1.gif"/></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56.png"/><Relationship Id="rId1" Type="http://schemas.openxmlformats.org/officeDocument/2006/relationships/slideLayout" Target="../slideLayouts/slideLayout3.xml"/><Relationship Id="rId5" Type="http://schemas.openxmlformats.org/officeDocument/2006/relationships/image" Target="../media/image410.png"/><Relationship Id="rId4" Type="http://schemas.openxmlformats.org/officeDocument/2006/relationships/image" Target="../media/image400.png"/></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1.gi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slide" Target="slide34.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
          <p:cNvSpPr txBox="1"/>
          <p:nvPr/>
        </p:nvSpPr>
        <p:spPr>
          <a:xfrm>
            <a:off x="7819723" y="3801600"/>
            <a:ext cx="7674277" cy="15408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4800"/>
              <a:buFont typeface="Arial"/>
              <a:buNone/>
            </a:pPr>
            <a:r>
              <a:rPr lang="es-ES_tradnl" sz="4800" b="1" i="0" u="none" strike="noStrike" cap="none" noProof="0" dirty="0">
                <a:solidFill>
                  <a:schemeClr val="lt1"/>
                </a:solidFill>
                <a:latin typeface="Poppins"/>
                <a:ea typeface="Poppins"/>
                <a:cs typeface="Poppins"/>
                <a:sym typeface="Poppins"/>
              </a:rPr>
              <a:t>Proyecto IBK </a:t>
            </a:r>
            <a:r>
              <a:rPr lang="es-ES_tradnl" sz="4800" b="1" i="0" u="none" strike="noStrike" cap="none" noProof="0" dirty="0" err="1">
                <a:solidFill>
                  <a:schemeClr val="lt1"/>
                </a:solidFill>
                <a:latin typeface="Poppins"/>
                <a:ea typeface="Poppins"/>
                <a:cs typeface="Poppins"/>
                <a:sym typeface="Poppins"/>
              </a:rPr>
              <a:t>BdN</a:t>
            </a:r>
            <a:endParaRPr lang="es-ES_tradnl" sz="4800" b="1" i="0" u="none" strike="noStrike" cap="none" noProof="0" dirty="0">
              <a:solidFill>
                <a:schemeClr val="lt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4200"/>
              <a:buFont typeface="Arial"/>
              <a:buNone/>
            </a:pPr>
            <a:r>
              <a:rPr lang="es-ES_tradnl" sz="4200" b="1" noProof="0" dirty="0" err="1">
                <a:solidFill>
                  <a:schemeClr val="lt1"/>
                </a:solidFill>
                <a:latin typeface="Poppins"/>
                <a:ea typeface="Poppins"/>
                <a:cs typeface="Poppins"/>
                <a:sym typeface="Poppins"/>
              </a:rPr>
              <a:t>Checkpoint</a:t>
            </a:r>
            <a:r>
              <a:rPr lang="es-ES_tradnl" sz="4200" b="1" noProof="0" dirty="0">
                <a:solidFill>
                  <a:schemeClr val="lt1"/>
                </a:solidFill>
                <a:latin typeface="Poppins"/>
                <a:ea typeface="Poppins"/>
                <a:cs typeface="Poppins"/>
                <a:sym typeface="Poppins"/>
              </a:rPr>
              <a:t> Modelos Pricing</a:t>
            </a:r>
            <a:endParaRPr lang="es-ES_tradnl" sz="4800" b="1" i="0" u="none" strike="noStrike" cap="none" noProof="0" dirty="0">
              <a:solidFill>
                <a:schemeClr val="lt1"/>
              </a:solidFill>
              <a:latin typeface="Poppins"/>
              <a:ea typeface="Poppins"/>
              <a:cs typeface="Poppins"/>
              <a:sym typeface="Poppins"/>
            </a:endParaRPr>
          </a:p>
        </p:txBody>
      </p:sp>
      <p:sp>
        <p:nvSpPr>
          <p:cNvPr id="49" name="Google Shape;49;p1"/>
          <p:cNvSpPr/>
          <p:nvPr/>
        </p:nvSpPr>
        <p:spPr>
          <a:xfrm>
            <a:off x="0" y="0"/>
            <a:ext cx="101600" cy="9144000"/>
          </a:xfrm>
          <a:prstGeom prst="rect">
            <a:avLst/>
          </a:prstGeom>
          <a:solidFill>
            <a:srgbClr val="C6E9E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lang="es-ES_tradnl" sz="1400" b="0" i="0" u="none" strike="noStrike" cap="none" noProof="0" dirty="0">
              <a:solidFill>
                <a:srgbClr val="000000"/>
              </a:solidFill>
              <a:latin typeface="Arial"/>
              <a:ea typeface="Arial"/>
              <a:cs typeface="Arial"/>
              <a:sym typeface="Arial"/>
            </a:endParaRPr>
          </a:p>
        </p:txBody>
      </p:sp>
      <p:sp>
        <p:nvSpPr>
          <p:cNvPr id="50" name="Google Shape;50;p1"/>
          <p:cNvSpPr/>
          <p:nvPr/>
        </p:nvSpPr>
        <p:spPr>
          <a:xfrm>
            <a:off x="11684000" y="508000"/>
            <a:ext cx="3810000" cy="381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es-ES_tradnl" sz="1000" b="0" i="0" u="none" strike="noStrike" cap="none" noProof="0" dirty="0">
                <a:solidFill>
                  <a:srgbClr val="C6E9E7"/>
                </a:solidFill>
                <a:latin typeface="Poppins"/>
                <a:ea typeface="Poppins"/>
                <a:cs typeface="Poppins"/>
                <a:sym typeface="Poppins"/>
              </a:rPr>
              <a:t>CONFIDENCIAL</a:t>
            </a:r>
            <a:endParaRPr lang="es-ES_tradnl" sz="1400" b="0" i="0" u="none" strike="noStrike" cap="none" noProof="0" dirty="0">
              <a:solidFill>
                <a:srgbClr val="000000"/>
              </a:solidFill>
              <a:latin typeface="Arial"/>
              <a:ea typeface="Arial"/>
              <a:cs typeface="Arial"/>
              <a:sym typeface="Arial"/>
            </a:endParaRPr>
          </a:p>
        </p:txBody>
      </p:sp>
      <p:sp>
        <p:nvSpPr>
          <p:cNvPr id="51" name="Google Shape;51;p1"/>
          <p:cNvSpPr/>
          <p:nvPr/>
        </p:nvSpPr>
        <p:spPr>
          <a:xfrm>
            <a:off x="1270000" y="8382000"/>
            <a:ext cx="762000" cy="50800"/>
          </a:xfrm>
          <a:prstGeom prst="rect">
            <a:avLst/>
          </a:prstGeom>
          <a:solidFill>
            <a:srgbClr val="C6E9E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lang="es-ES_tradnl" sz="1400" b="0" i="0" u="none" strike="noStrike" cap="none" noProof="0"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74AF2-CE4A-90E8-5963-8CCD6E85306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C0A3943-FFDE-D2A3-A03E-8B500A4E203D}"/>
              </a:ext>
            </a:extLst>
          </p:cNvPr>
          <p:cNvSpPr/>
          <p:nvPr/>
        </p:nvSpPr>
        <p:spPr>
          <a:xfrm>
            <a:off x="0" y="1143000"/>
            <a:ext cx="16256000" cy="84043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48" name="Google Shape;167;g3ed063acbfe_1_0">
            <a:extLst>
              <a:ext uri="{FF2B5EF4-FFF2-40B4-BE49-F238E27FC236}">
                <a16:creationId xmlns:a16="http://schemas.microsoft.com/office/drawing/2014/main" id="{B04EA954-6671-3AE2-8967-7CEACB4C8A15}"/>
              </a:ext>
            </a:extLst>
          </p:cNvPr>
          <p:cNvSpPr txBox="1"/>
          <p:nvPr/>
        </p:nvSpPr>
        <p:spPr>
          <a:xfrm>
            <a:off x="298027" y="376124"/>
            <a:ext cx="13824856"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Agenda</a:t>
            </a:r>
          </a:p>
        </p:txBody>
      </p:sp>
      <p:sp>
        <p:nvSpPr>
          <p:cNvPr id="49" name="Rectangle 48">
            <a:extLst>
              <a:ext uri="{FF2B5EF4-FFF2-40B4-BE49-F238E27FC236}">
                <a16:creationId xmlns:a16="http://schemas.microsoft.com/office/drawing/2014/main" id="{AD1146BE-AF22-EE4E-30AA-E306A2D4517B}"/>
              </a:ext>
            </a:extLst>
          </p:cNvPr>
          <p:cNvSpPr/>
          <p:nvPr/>
        </p:nvSpPr>
        <p:spPr>
          <a:xfrm>
            <a:off x="298027" y="1519125"/>
            <a:ext cx="13453832" cy="7069063"/>
          </a:xfrm>
          <a:prstGeom prst="rect">
            <a:avLst/>
          </a:prstGeom>
          <a:solidFill>
            <a:srgbClr val="FFFFFF">
              <a:alpha val="61569"/>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pic>
        <p:nvPicPr>
          <p:cNvPr id="27" name="Google Shape;79;p16" descr="preencoded.png">
            <a:extLst>
              <a:ext uri="{FF2B5EF4-FFF2-40B4-BE49-F238E27FC236}">
                <a16:creationId xmlns:a16="http://schemas.microsoft.com/office/drawing/2014/main" id="{16BA0E0B-C4FF-D720-2655-AC75129898A7}"/>
              </a:ext>
            </a:extLst>
          </p:cNvPr>
          <p:cNvPicPr preferRelativeResize="0"/>
          <p:nvPr/>
        </p:nvPicPr>
        <p:blipFill rotWithShape="1">
          <a:blip r:embed="rId3">
            <a:alphaModFix/>
          </a:blip>
          <a:srcRect t="21005"/>
          <a:stretch/>
        </p:blipFill>
        <p:spPr>
          <a:xfrm>
            <a:off x="157280" y="592487"/>
            <a:ext cx="5464231" cy="6474596"/>
          </a:xfrm>
          <a:prstGeom prst="rect">
            <a:avLst/>
          </a:prstGeom>
          <a:noFill/>
          <a:ln>
            <a:noFill/>
          </a:ln>
        </p:spPr>
      </p:pic>
      <p:sp>
        <p:nvSpPr>
          <p:cNvPr id="29" name="Google Shape;80;p16">
            <a:extLst>
              <a:ext uri="{FF2B5EF4-FFF2-40B4-BE49-F238E27FC236}">
                <a16:creationId xmlns:a16="http://schemas.microsoft.com/office/drawing/2014/main" id="{BB57B175-01AB-3D6A-12C9-86E61890F37A}"/>
              </a:ext>
            </a:extLst>
          </p:cNvPr>
          <p:cNvSpPr/>
          <p:nvPr/>
        </p:nvSpPr>
        <p:spPr>
          <a:xfrm>
            <a:off x="1268135" y="5488046"/>
            <a:ext cx="5717867" cy="3074133"/>
          </a:xfrm>
          <a:prstGeom prst="rect">
            <a:avLst/>
          </a:prstGeom>
          <a:solidFill>
            <a:srgbClr val="006666"/>
          </a:solidFill>
          <a:ln>
            <a:noFill/>
          </a:ln>
        </p:spPr>
        <p:txBody>
          <a:bodyPr spcFirstLastPara="1" wrap="square" lIns="101600" tIns="50800" rIns="101600" bIns="50800" anchor="ctr" anchorCtr="0">
            <a:noAutofit/>
          </a:bodyPr>
          <a:lstStyle/>
          <a:p>
            <a:pPr algn="ctr">
              <a:buClr>
                <a:schemeClr val="lt1"/>
              </a:buClr>
              <a:buSzPts val="1200"/>
            </a:pPr>
            <a:endParaRPr sz="1956">
              <a:solidFill>
                <a:schemeClr val="dk1"/>
              </a:solidFill>
              <a:latin typeface="Calibri"/>
              <a:ea typeface="Calibri"/>
              <a:cs typeface="Calibri"/>
              <a:sym typeface="Calibri"/>
            </a:endParaRPr>
          </a:p>
        </p:txBody>
      </p:sp>
      <p:sp>
        <p:nvSpPr>
          <p:cNvPr id="30" name="Google Shape;81;p16">
            <a:extLst>
              <a:ext uri="{FF2B5EF4-FFF2-40B4-BE49-F238E27FC236}">
                <a16:creationId xmlns:a16="http://schemas.microsoft.com/office/drawing/2014/main" id="{AA48AADB-BEFA-50A8-4909-3917CFAB16EF}"/>
              </a:ext>
            </a:extLst>
          </p:cNvPr>
          <p:cNvSpPr txBox="1"/>
          <p:nvPr/>
        </p:nvSpPr>
        <p:spPr>
          <a:xfrm>
            <a:off x="1763954" y="6275266"/>
            <a:ext cx="4447467" cy="1499733"/>
          </a:xfrm>
          <a:prstGeom prst="rect">
            <a:avLst/>
          </a:prstGeom>
          <a:noFill/>
          <a:ln>
            <a:noFill/>
          </a:ln>
        </p:spPr>
        <p:txBody>
          <a:bodyPr spcFirstLastPara="1" wrap="square" lIns="0" tIns="0" rIns="0" bIns="0" anchor="t" anchorCtr="0">
            <a:noAutofit/>
          </a:bodyPr>
          <a:lstStyle/>
          <a:p>
            <a:r>
              <a:rPr lang="es-419" sz="4622" b="1">
                <a:solidFill>
                  <a:schemeClr val="lt1"/>
                </a:solidFill>
                <a:latin typeface="Poppins"/>
                <a:ea typeface="Poppins"/>
                <a:cs typeface="Poppins"/>
                <a:sym typeface="Poppins"/>
              </a:rPr>
              <a:t>Agenda</a:t>
            </a:r>
            <a:endParaRPr sz="4622" b="1">
              <a:solidFill>
                <a:schemeClr val="lt1"/>
              </a:solidFill>
              <a:latin typeface="Poppins"/>
              <a:ea typeface="Poppins"/>
              <a:cs typeface="Poppins"/>
              <a:sym typeface="Poppins"/>
            </a:endParaRPr>
          </a:p>
          <a:p>
            <a:endParaRPr sz="4267">
              <a:solidFill>
                <a:schemeClr val="lt1"/>
              </a:solidFill>
              <a:latin typeface="Poppins"/>
              <a:ea typeface="Poppins"/>
              <a:cs typeface="Poppins"/>
              <a:sym typeface="Poppins"/>
            </a:endParaRPr>
          </a:p>
        </p:txBody>
      </p:sp>
      <p:sp>
        <p:nvSpPr>
          <p:cNvPr id="31" name="Google Shape;75;p2">
            <a:extLst>
              <a:ext uri="{FF2B5EF4-FFF2-40B4-BE49-F238E27FC236}">
                <a16:creationId xmlns:a16="http://schemas.microsoft.com/office/drawing/2014/main" id="{A5DAE9D1-9548-480F-EE88-465FE7C2CA3E}"/>
              </a:ext>
            </a:extLst>
          </p:cNvPr>
          <p:cNvSpPr txBox="1"/>
          <p:nvPr/>
        </p:nvSpPr>
        <p:spPr>
          <a:xfrm>
            <a:off x="7298784" y="4181451"/>
            <a:ext cx="8394169"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ea typeface="Poppins"/>
                <a:cs typeface="Poppins"/>
                <a:sym typeface="Poppins"/>
              </a:rPr>
              <a:t>Entregables</a:t>
            </a:r>
            <a:r>
              <a:rPr lang="en-US" sz="2489" dirty="0">
                <a:solidFill>
                  <a:srgbClr val="353840"/>
                </a:solidFill>
                <a:latin typeface="Poppins"/>
                <a:ea typeface="Poppins"/>
                <a:cs typeface="Poppins"/>
                <a:sym typeface="Poppins"/>
              </a:rPr>
              <a:t> &amp; </a:t>
            </a:r>
            <a:r>
              <a:rPr lang="en-US" sz="2489" dirty="0" err="1">
                <a:solidFill>
                  <a:srgbClr val="353840"/>
                </a:solidFill>
                <a:latin typeface="Poppins"/>
                <a:ea typeface="Poppins"/>
                <a:cs typeface="Poppins"/>
                <a:sym typeface="Poppins"/>
              </a:rPr>
              <a:t>transferencia</a:t>
            </a:r>
            <a:r>
              <a:rPr lang="en-US" sz="2489" dirty="0">
                <a:solidFill>
                  <a:srgbClr val="353840"/>
                </a:solidFill>
                <a:latin typeface="Poppins"/>
                <a:ea typeface="Poppins"/>
                <a:cs typeface="Poppins"/>
                <a:sym typeface="Poppins"/>
              </a:rPr>
              <a:t> del </a:t>
            </a:r>
            <a:r>
              <a:rPr lang="en-US" sz="2489" dirty="0" err="1">
                <a:solidFill>
                  <a:srgbClr val="353840"/>
                </a:solidFill>
                <a:latin typeface="Poppins"/>
                <a:ea typeface="Poppins"/>
                <a:cs typeface="Poppins"/>
                <a:sym typeface="Poppins"/>
              </a:rPr>
              <a:t>conocimiento</a:t>
            </a:r>
            <a:endParaRPr sz="2489" dirty="0"/>
          </a:p>
        </p:txBody>
      </p:sp>
      <p:sp>
        <p:nvSpPr>
          <p:cNvPr id="32" name="Google Shape;76;p2">
            <a:extLst>
              <a:ext uri="{FF2B5EF4-FFF2-40B4-BE49-F238E27FC236}">
                <a16:creationId xmlns:a16="http://schemas.microsoft.com/office/drawing/2014/main" id="{497271D1-26E3-88C2-2488-2D884219B399}"/>
              </a:ext>
            </a:extLst>
          </p:cNvPr>
          <p:cNvSpPr/>
          <p:nvPr/>
        </p:nvSpPr>
        <p:spPr>
          <a:xfrm>
            <a:off x="6211907" y="2639994"/>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2</a:t>
            </a:r>
            <a:endParaRPr sz="2489" dirty="0"/>
          </a:p>
        </p:txBody>
      </p:sp>
      <p:sp>
        <p:nvSpPr>
          <p:cNvPr id="33" name="Google Shape;77;p2">
            <a:extLst>
              <a:ext uri="{FF2B5EF4-FFF2-40B4-BE49-F238E27FC236}">
                <a16:creationId xmlns:a16="http://schemas.microsoft.com/office/drawing/2014/main" id="{5B650D06-A4AB-D892-FF0E-113938658DF3}"/>
              </a:ext>
            </a:extLst>
          </p:cNvPr>
          <p:cNvSpPr txBox="1"/>
          <p:nvPr/>
        </p:nvSpPr>
        <p:spPr>
          <a:xfrm>
            <a:off x="7298784" y="2552867"/>
            <a:ext cx="770010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cs typeface="Poppins"/>
                <a:sym typeface="Poppins"/>
              </a:rPr>
              <a:t>Revisión</a:t>
            </a:r>
            <a:r>
              <a:rPr lang="en-US" sz="2489" dirty="0">
                <a:solidFill>
                  <a:srgbClr val="353840"/>
                </a:solidFill>
                <a:latin typeface="Poppins"/>
                <a:cs typeface="Poppins"/>
                <a:sym typeface="Poppins"/>
              </a:rPr>
              <a:t> status modelos </a:t>
            </a:r>
            <a:r>
              <a:rPr lang="en-US" sz="2489" dirty="0" err="1">
                <a:solidFill>
                  <a:srgbClr val="353840"/>
                </a:solidFill>
                <a:latin typeface="Poppins"/>
                <a:cs typeface="Poppins"/>
                <a:sym typeface="Poppins"/>
              </a:rPr>
              <a:t>analíticos</a:t>
            </a:r>
            <a:endParaRPr sz="2489" dirty="0"/>
          </a:p>
        </p:txBody>
      </p:sp>
      <p:sp>
        <p:nvSpPr>
          <p:cNvPr id="34" name="Google Shape;78;p2">
            <a:extLst>
              <a:ext uri="{FF2B5EF4-FFF2-40B4-BE49-F238E27FC236}">
                <a16:creationId xmlns:a16="http://schemas.microsoft.com/office/drawing/2014/main" id="{3373DE1D-6A05-037D-A4E5-6FAD281669A4}"/>
              </a:ext>
            </a:extLst>
          </p:cNvPr>
          <p:cNvSpPr/>
          <p:nvPr/>
        </p:nvSpPr>
        <p:spPr>
          <a:xfrm>
            <a:off x="6211907" y="4304558"/>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4</a:t>
            </a:r>
            <a:endParaRPr sz="2489" dirty="0"/>
          </a:p>
        </p:txBody>
      </p:sp>
      <p:sp>
        <p:nvSpPr>
          <p:cNvPr id="37" name="Google Shape;76;p2">
            <a:extLst>
              <a:ext uri="{FF2B5EF4-FFF2-40B4-BE49-F238E27FC236}">
                <a16:creationId xmlns:a16="http://schemas.microsoft.com/office/drawing/2014/main" id="{D569FD96-F2EC-EE5B-67B6-D8A6AA25070B}"/>
              </a:ext>
            </a:extLst>
          </p:cNvPr>
          <p:cNvSpPr/>
          <p:nvPr/>
        </p:nvSpPr>
        <p:spPr>
          <a:xfrm>
            <a:off x="6213452" y="1777188"/>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1</a:t>
            </a:r>
            <a:endParaRPr sz="2489" dirty="0"/>
          </a:p>
        </p:txBody>
      </p:sp>
      <p:sp>
        <p:nvSpPr>
          <p:cNvPr id="38" name="Google Shape;77;p2">
            <a:extLst>
              <a:ext uri="{FF2B5EF4-FFF2-40B4-BE49-F238E27FC236}">
                <a16:creationId xmlns:a16="http://schemas.microsoft.com/office/drawing/2014/main" id="{93A4BB41-B8A2-2AD3-A4BA-9A65646A8B7A}"/>
              </a:ext>
            </a:extLst>
          </p:cNvPr>
          <p:cNvSpPr txBox="1"/>
          <p:nvPr/>
        </p:nvSpPr>
        <p:spPr>
          <a:xfrm>
            <a:off x="7300329" y="1690061"/>
            <a:ext cx="881529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a:solidFill>
                  <a:srgbClr val="353840"/>
                </a:solidFill>
                <a:latin typeface="Poppins"/>
                <a:cs typeface="Poppins"/>
                <a:sym typeface="Poppins"/>
              </a:rPr>
              <a:t>Overview del Proyecto Smart Pricing 360</a:t>
            </a:r>
            <a:endParaRPr sz="2489" dirty="0"/>
          </a:p>
        </p:txBody>
      </p:sp>
      <p:sp>
        <p:nvSpPr>
          <p:cNvPr id="40" name="Google Shape;76;p2">
            <a:extLst>
              <a:ext uri="{FF2B5EF4-FFF2-40B4-BE49-F238E27FC236}">
                <a16:creationId xmlns:a16="http://schemas.microsoft.com/office/drawing/2014/main" id="{9F536BD6-9F9E-7E03-F32C-58400CF75B94}"/>
              </a:ext>
            </a:extLst>
          </p:cNvPr>
          <p:cNvSpPr/>
          <p:nvPr/>
        </p:nvSpPr>
        <p:spPr>
          <a:xfrm>
            <a:off x="6211907" y="3471646"/>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3</a:t>
            </a:r>
            <a:endParaRPr sz="2489" dirty="0"/>
          </a:p>
        </p:txBody>
      </p:sp>
      <p:sp>
        <p:nvSpPr>
          <p:cNvPr id="41" name="Google Shape;77;p2">
            <a:extLst>
              <a:ext uri="{FF2B5EF4-FFF2-40B4-BE49-F238E27FC236}">
                <a16:creationId xmlns:a16="http://schemas.microsoft.com/office/drawing/2014/main" id="{377627D0-A5D6-A055-4288-5F698EF687AF}"/>
              </a:ext>
            </a:extLst>
          </p:cNvPr>
          <p:cNvSpPr txBox="1"/>
          <p:nvPr/>
        </p:nvSpPr>
        <p:spPr>
          <a:xfrm>
            <a:off x="7298784" y="3384519"/>
            <a:ext cx="770010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cs typeface="Poppins"/>
                <a:sym typeface="Poppins"/>
              </a:rPr>
              <a:t>Revisión</a:t>
            </a:r>
            <a:r>
              <a:rPr lang="en-US" sz="2489" dirty="0">
                <a:solidFill>
                  <a:srgbClr val="353840"/>
                </a:solidFill>
                <a:latin typeface="Poppins"/>
                <a:cs typeface="Poppins"/>
                <a:sym typeface="Poppins"/>
              </a:rPr>
              <a:t> </a:t>
            </a:r>
            <a:r>
              <a:rPr lang="en-US" sz="2489" dirty="0" err="1">
                <a:solidFill>
                  <a:srgbClr val="353840"/>
                </a:solidFill>
                <a:latin typeface="Poppins"/>
                <a:cs typeface="Poppins"/>
                <a:sym typeface="Poppins"/>
              </a:rPr>
              <a:t>detalle</a:t>
            </a:r>
            <a:r>
              <a:rPr lang="en-US" sz="2489" dirty="0">
                <a:solidFill>
                  <a:srgbClr val="353840"/>
                </a:solidFill>
                <a:latin typeface="Poppins"/>
                <a:cs typeface="Poppins"/>
                <a:sym typeface="Poppins"/>
              </a:rPr>
              <a:t> modelos y curvas </a:t>
            </a:r>
            <a:r>
              <a:rPr lang="en-US" sz="2489" dirty="0" err="1">
                <a:solidFill>
                  <a:srgbClr val="353840"/>
                </a:solidFill>
                <a:latin typeface="Poppins"/>
                <a:cs typeface="Poppins"/>
                <a:sym typeface="Poppins"/>
              </a:rPr>
              <a:t>analíticas</a:t>
            </a:r>
            <a:endParaRPr sz="2489" dirty="0"/>
          </a:p>
        </p:txBody>
      </p:sp>
    </p:spTree>
    <p:extLst>
      <p:ext uri="{BB962C8B-B14F-4D97-AF65-F5344CB8AC3E}">
        <p14:creationId xmlns:p14="http://schemas.microsoft.com/office/powerpoint/2010/main" val="3036570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1B1C1-59E5-B870-32C9-319534399E6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EBC85E0-FBA6-472A-60A4-F4D0432D4F6F}"/>
              </a:ext>
            </a:extLst>
          </p:cNvPr>
          <p:cNvSpPr/>
          <p:nvPr/>
        </p:nvSpPr>
        <p:spPr>
          <a:xfrm>
            <a:off x="0" y="1143000"/>
            <a:ext cx="16256000" cy="84043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7" name="Google Shape;305;p43">
            <a:extLst>
              <a:ext uri="{FF2B5EF4-FFF2-40B4-BE49-F238E27FC236}">
                <a16:creationId xmlns:a16="http://schemas.microsoft.com/office/drawing/2014/main" id="{6590356B-9DA2-1822-4AC6-2518D7FFBA5C}"/>
              </a:ext>
            </a:extLst>
          </p:cNvPr>
          <p:cNvSpPr/>
          <p:nvPr/>
        </p:nvSpPr>
        <p:spPr>
          <a:xfrm>
            <a:off x="4563728" y="5772986"/>
            <a:ext cx="8628389" cy="2516409"/>
          </a:xfrm>
          <a:custGeom>
            <a:avLst/>
            <a:gdLst/>
            <a:ahLst/>
            <a:cxnLst/>
            <a:rect l="l" t="t" r="r" b="b"/>
            <a:pathLst>
              <a:path w="1828800" h="457200" extrusionOk="0">
                <a:moveTo>
                  <a:pt x="0" y="0"/>
                </a:moveTo>
                <a:lnTo>
                  <a:pt x="1828800" y="0"/>
                </a:lnTo>
                <a:lnTo>
                  <a:pt x="1684668" y="452277"/>
                </a:lnTo>
                <a:lnTo>
                  <a:pt x="0" y="457200"/>
                </a:lnTo>
                <a:lnTo>
                  <a:pt x="0" y="0"/>
                </a:lnTo>
                <a:close/>
              </a:path>
            </a:pathLst>
          </a:custGeom>
          <a:solidFill>
            <a:srgbClr val="E0ECF7"/>
          </a:solidFill>
          <a:ln w="1905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defTabSz="1219215">
              <a:buClrTx/>
              <a:buSzPts val="1800"/>
              <a:defRPr/>
            </a:pPr>
            <a:endParaRPr lang="es-ES_tradnl" sz="2400" noProof="0" dirty="0">
              <a:latin typeface="Calibri"/>
              <a:ea typeface="Calibri"/>
              <a:cs typeface="Calibri"/>
              <a:sym typeface="Calibri"/>
            </a:endParaRPr>
          </a:p>
        </p:txBody>
      </p:sp>
      <p:sp>
        <p:nvSpPr>
          <p:cNvPr id="13" name="Google Shape;313;p43">
            <a:extLst>
              <a:ext uri="{FF2B5EF4-FFF2-40B4-BE49-F238E27FC236}">
                <a16:creationId xmlns:a16="http://schemas.microsoft.com/office/drawing/2014/main" id="{70B28877-E907-50AF-C5A5-0978E9284A05}"/>
              </a:ext>
            </a:extLst>
          </p:cNvPr>
          <p:cNvSpPr/>
          <p:nvPr/>
        </p:nvSpPr>
        <p:spPr>
          <a:xfrm>
            <a:off x="5123449" y="6502336"/>
            <a:ext cx="2712087" cy="7620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Comités y lineamiento de excepciones</a:t>
            </a:r>
            <a:endParaRPr lang="es-ES_tradnl" sz="1956" noProof="0" dirty="0"/>
          </a:p>
        </p:txBody>
      </p:sp>
      <p:sp>
        <p:nvSpPr>
          <p:cNvPr id="14" name="Google Shape;314;p43">
            <a:extLst>
              <a:ext uri="{FF2B5EF4-FFF2-40B4-BE49-F238E27FC236}">
                <a16:creationId xmlns:a16="http://schemas.microsoft.com/office/drawing/2014/main" id="{29317E53-BDB0-2FB7-42F7-B9C55A83A3D4}"/>
              </a:ext>
            </a:extLst>
          </p:cNvPr>
          <p:cNvSpPr/>
          <p:nvPr/>
        </p:nvSpPr>
        <p:spPr>
          <a:xfrm>
            <a:off x="8703239" y="6400002"/>
            <a:ext cx="2912400" cy="7620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Mock de Monitoreo tasas y rentabilidad</a:t>
            </a:r>
            <a:endParaRPr lang="es-ES_tradnl" sz="1956" noProof="0" dirty="0"/>
          </a:p>
        </p:txBody>
      </p:sp>
      <p:sp>
        <p:nvSpPr>
          <p:cNvPr id="15" name="Google Shape;315;p43">
            <a:extLst>
              <a:ext uri="{FF2B5EF4-FFF2-40B4-BE49-F238E27FC236}">
                <a16:creationId xmlns:a16="http://schemas.microsoft.com/office/drawing/2014/main" id="{DCF90C49-C720-3B70-BE74-F05B0FF5394F}"/>
              </a:ext>
            </a:extLst>
          </p:cNvPr>
          <p:cNvSpPr/>
          <p:nvPr/>
        </p:nvSpPr>
        <p:spPr>
          <a:xfrm>
            <a:off x="8703239" y="7024501"/>
            <a:ext cx="3648468" cy="437200"/>
          </a:xfrm>
          <a:prstGeom prst="roundRect">
            <a:avLst>
              <a:gd name="adj" fmla="val 16667"/>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cs typeface="Poppins"/>
                <a:sym typeface="Poppins"/>
              </a:rPr>
              <a:t>Estructura de </a:t>
            </a:r>
            <a:r>
              <a:rPr lang="es-ES_tradnl" sz="1778" noProof="0" dirty="0" err="1">
                <a:latin typeface="Poppins"/>
                <a:cs typeface="Poppins"/>
                <a:sym typeface="Poppins"/>
              </a:rPr>
              <a:t>KPIs</a:t>
            </a:r>
            <a:r>
              <a:rPr lang="es-ES_tradnl" sz="1778" noProof="0" dirty="0">
                <a:latin typeface="Poppins"/>
                <a:cs typeface="Poppins"/>
                <a:sym typeface="Poppins"/>
              </a:rPr>
              <a:t> y métricas</a:t>
            </a:r>
            <a:endParaRPr lang="es-ES_tradnl" sz="1956" noProof="0" dirty="0"/>
          </a:p>
        </p:txBody>
      </p:sp>
      <p:sp>
        <p:nvSpPr>
          <p:cNvPr id="21" name="Google Shape;312;p43">
            <a:extLst>
              <a:ext uri="{FF2B5EF4-FFF2-40B4-BE49-F238E27FC236}">
                <a16:creationId xmlns:a16="http://schemas.microsoft.com/office/drawing/2014/main" id="{10B24520-3CCD-A5BD-44B6-E484B2CF194C}"/>
              </a:ext>
            </a:extLst>
          </p:cNvPr>
          <p:cNvSpPr/>
          <p:nvPr/>
        </p:nvSpPr>
        <p:spPr>
          <a:xfrm>
            <a:off x="5116227" y="6000800"/>
            <a:ext cx="7318338" cy="437200"/>
          </a:xfrm>
          <a:prstGeom prst="roundRect">
            <a:avLst>
              <a:gd name="adj" fmla="val 16667"/>
            </a:avLst>
          </a:prstGeom>
          <a:noFill/>
          <a:ln>
            <a:noFill/>
          </a:ln>
        </p:spPr>
        <p:txBody>
          <a:bodyPr spcFirstLastPara="1" wrap="square" lIns="60933" tIns="36567" rIns="60933" bIns="36567" anchor="t" anchorCtr="0">
            <a:noAutofit/>
          </a:bodyPr>
          <a:lstStyle/>
          <a:p>
            <a:pPr defTabSz="1219215"/>
            <a:r>
              <a:rPr lang="es-ES_tradnl" sz="1867" b="1" noProof="0" dirty="0">
                <a:latin typeface="Poppins"/>
                <a:ea typeface="Poppins"/>
                <a:cs typeface="Poppins"/>
                <a:sym typeface="Poppins"/>
              </a:rPr>
              <a:t>3  ·  GOBIERNO Y MONITOREO</a:t>
            </a:r>
            <a:endParaRPr lang="es-ES_tradnl" sz="1867" noProof="0" dirty="0"/>
          </a:p>
        </p:txBody>
      </p:sp>
      <p:cxnSp>
        <p:nvCxnSpPr>
          <p:cNvPr id="23" name="Google Shape;323;p43">
            <a:extLst>
              <a:ext uri="{FF2B5EF4-FFF2-40B4-BE49-F238E27FC236}">
                <a16:creationId xmlns:a16="http://schemas.microsoft.com/office/drawing/2014/main" id="{498BF5C5-CF29-22A2-6C04-0514CF701389}"/>
              </a:ext>
            </a:extLst>
          </p:cNvPr>
          <p:cNvCxnSpPr>
            <a:cxnSpLocks/>
          </p:cNvCxnSpPr>
          <p:nvPr/>
        </p:nvCxnSpPr>
        <p:spPr>
          <a:xfrm>
            <a:off x="8438786" y="6584293"/>
            <a:ext cx="0" cy="1163625"/>
          </a:xfrm>
          <a:prstGeom prst="straightConnector1">
            <a:avLst/>
          </a:prstGeom>
          <a:noFill/>
          <a:ln w="9525" cap="flat" cmpd="sng">
            <a:solidFill>
              <a:schemeClr val="tx1"/>
            </a:solidFill>
            <a:prstDash val="dash"/>
            <a:round/>
            <a:headEnd type="none" w="sm" len="sm"/>
            <a:tailEnd type="none" w="sm" len="sm"/>
          </a:ln>
        </p:spPr>
      </p:cxnSp>
      <p:pic>
        <p:nvPicPr>
          <p:cNvPr id="39" name="Imagen 30" descr="tablero ">
            <a:extLst>
              <a:ext uri="{FF2B5EF4-FFF2-40B4-BE49-F238E27FC236}">
                <a16:creationId xmlns:a16="http://schemas.microsoft.com/office/drawing/2014/main" id="{12E81043-A30F-CEF8-3610-946BA4DD29E8}"/>
              </a:ext>
            </a:extLst>
          </p:cNvPr>
          <p:cNvPicPr>
            <a:picLocks noChangeAspect="1"/>
          </p:cNvPicPr>
          <p:nvPr/>
        </p:nvPicPr>
        <p:blipFill>
          <a:blip r:embed="rId3"/>
          <a:stretch>
            <a:fillRect/>
          </a:stretch>
        </p:blipFill>
        <p:spPr>
          <a:xfrm>
            <a:off x="4699643" y="6064262"/>
            <a:ext cx="407271" cy="407271"/>
          </a:xfrm>
          <a:prstGeom prst="rect">
            <a:avLst/>
          </a:prstGeom>
        </p:spPr>
      </p:pic>
      <p:sp>
        <p:nvSpPr>
          <p:cNvPr id="43" name="Google Shape;317;p43">
            <a:extLst>
              <a:ext uri="{FF2B5EF4-FFF2-40B4-BE49-F238E27FC236}">
                <a16:creationId xmlns:a16="http://schemas.microsoft.com/office/drawing/2014/main" id="{A3B221DE-F7A6-C1FA-3063-7D162AFBE960}"/>
              </a:ext>
            </a:extLst>
          </p:cNvPr>
          <p:cNvSpPr/>
          <p:nvPr/>
        </p:nvSpPr>
        <p:spPr>
          <a:xfrm>
            <a:off x="4603115" y="7816780"/>
            <a:ext cx="8006418" cy="437200"/>
          </a:xfrm>
          <a:custGeom>
            <a:avLst/>
            <a:gdLst/>
            <a:ahLst/>
            <a:cxnLst/>
            <a:rect l="l" t="t" r="r" b="b"/>
            <a:pathLst>
              <a:path w="8377941" h="536061" extrusionOk="0">
                <a:moveTo>
                  <a:pt x="0" y="0"/>
                </a:moveTo>
                <a:lnTo>
                  <a:pt x="8377941" y="0"/>
                </a:lnTo>
                <a:lnTo>
                  <a:pt x="8286501" y="536061"/>
                </a:lnTo>
                <a:lnTo>
                  <a:pt x="0" y="528441"/>
                </a:lnTo>
                <a:lnTo>
                  <a:pt x="0" y="0"/>
                </a:lnTo>
                <a:close/>
              </a:path>
            </a:pathLst>
          </a:custGeom>
          <a:solidFill>
            <a:srgbClr val="F2F2F2"/>
          </a:solidFill>
          <a:ln w="19050" cap="flat" cmpd="sng">
            <a:solidFill>
              <a:schemeClr val="bg1"/>
            </a:solidFill>
            <a:prstDash val="solid"/>
            <a:round/>
            <a:headEnd type="none" w="sm" len="sm"/>
            <a:tailEnd type="none" w="sm" len="sm"/>
          </a:ln>
        </p:spPr>
        <p:txBody>
          <a:bodyPr spcFirstLastPara="1" wrap="square" lIns="0" tIns="0" rIns="0" bIns="29234" anchor="t" anchorCtr="0">
            <a:noAutofit/>
          </a:bodyPr>
          <a:lstStyle/>
          <a:p>
            <a:pPr defTabSz="1219215">
              <a:buSzPts val="1920"/>
            </a:pPr>
            <a:endParaRPr lang="es-ES_tradnl" sz="2560" b="1" noProof="0" dirty="0">
              <a:latin typeface="Calibri"/>
              <a:ea typeface="Calibri"/>
              <a:cs typeface="Calibri"/>
              <a:sym typeface="Calibri"/>
            </a:endParaRPr>
          </a:p>
        </p:txBody>
      </p:sp>
      <p:sp>
        <p:nvSpPr>
          <p:cNvPr id="44" name="Google Shape;544;p12">
            <a:extLst>
              <a:ext uri="{FF2B5EF4-FFF2-40B4-BE49-F238E27FC236}">
                <a16:creationId xmlns:a16="http://schemas.microsoft.com/office/drawing/2014/main" id="{6604F9EE-8F11-B7A6-2495-29E3BD7139F0}"/>
              </a:ext>
            </a:extLst>
          </p:cNvPr>
          <p:cNvSpPr/>
          <p:nvPr/>
        </p:nvSpPr>
        <p:spPr>
          <a:xfrm>
            <a:off x="4603115" y="7778532"/>
            <a:ext cx="7910226" cy="407271"/>
          </a:xfrm>
          <a:prstGeom prst="roundRect">
            <a:avLst>
              <a:gd name="adj" fmla="val 16667"/>
            </a:avLst>
          </a:prstGeom>
          <a:solidFill>
            <a:srgbClr val="F2F2F2"/>
          </a:solidFill>
          <a:ln w="12700" cap="flat" cmpd="sng">
            <a:noFill/>
            <a:prstDash val="solid"/>
            <a:miter lim="80"/>
            <a:headEnd type="none" w="sm" len="sm"/>
            <a:tailEnd type="none" w="sm" len="sm"/>
          </a:ln>
        </p:spPr>
        <p:txBody>
          <a:bodyPr spcFirstLastPara="1" wrap="square" lIns="121900" tIns="60933" rIns="121900" bIns="60933" anchor="ctr" anchorCtr="0">
            <a:noAutofit/>
          </a:bodyPr>
          <a:lstStyle/>
          <a:p>
            <a:pPr algn="ctr" defTabSz="1219215">
              <a:buClr>
                <a:srgbClr val="005F1E"/>
              </a:buClr>
              <a:buSzPts val="1000"/>
            </a:pPr>
            <a:r>
              <a:rPr lang="es-ES_tradnl" sz="1333" noProof="0" dirty="0">
                <a:latin typeface="Poppins"/>
                <a:ea typeface="Poppins"/>
                <a:cs typeface="Poppins"/>
                <a:sym typeface="Poppins"/>
              </a:rPr>
              <a:t>Data </a:t>
            </a:r>
            <a:r>
              <a:rPr lang="es-ES_tradnl" sz="1333" noProof="0" dirty="0" err="1">
                <a:latin typeface="Poppins"/>
                <a:ea typeface="Poppins"/>
                <a:cs typeface="Poppins"/>
                <a:sym typeface="Poppins"/>
              </a:rPr>
              <a:t>product</a:t>
            </a:r>
            <a:r>
              <a:rPr lang="es-ES_tradnl" sz="1333" noProof="0" dirty="0">
                <a:latin typeface="Poppins"/>
                <a:ea typeface="Poppins"/>
                <a:cs typeface="Poppins"/>
                <a:sym typeface="Poppins"/>
              </a:rPr>
              <a:t> de pricing</a:t>
            </a:r>
            <a:endParaRPr lang="es-ES_tradnl" sz="1867" noProof="0" dirty="0"/>
          </a:p>
        </p:txBody>
      </p:sp>
      <p:sp>
        <p:nvSpPr>
          <p:cNvPr id="48" name="Google Shape;167;g3ed063acbfe_1_0">
            <a:extLst>
              <a:ext uri="{FF2B5EF4-FFF2-40B4-BE49-F238E27FC236}">
                <a16:creationId xmlns:a16="http://schemas.microsoft.com/office/drawing/2014/main" id="{98E773CC-18D8-645B-F957-EAC755207314}"/>
              </a:ext>
            </a:extLst>
          </p:cNvPr>
          <p:cNvSpPr txBox="1"/>
          <p:nvPr/>
        </p:nvSpPr>
        <p:spPr>
          <a:xfrm>
            <a:off x="298027" y="376124"/>
            <a:ext cx="13824856"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Ecosistema de pricing, visión cliente 360°, para la gestión del precio </a:t>
            </a:r>
          </a:p>
        </p:txBody>
      </p:sp>
      <p:sp>
        <p:nvSpPr>
          <p:cNvPr id="50" name="Google Shape;306;p43">
            <a:extLst>
              <a:ext uri="{FF2B5EF4-FFF2-40B4-BE49-F238E27FC236}">
                <a16:creationId xmlns:a16="http://schemas.microsoft.com/office/drawing/2014/main" id="{14732A2A-BAC4-B4CC-6349-77DB647EB00E}"/>
              </a:ext>
            </a:extLst>
          </p:cNvPr>
          <p:cNvSpPr/>
          <p:nvPr/>
        </p:nvSpPr>
        <p:spPr>
          <a:xfrm rot="10800000" flipH="1">
            <a:off x="4563728" y="2473116"/>
            <a:ext cx="8628389" cy="3261621"/>
          </a:xfrm>
          <a:custGeom>
            <a:avLst/>
            <a:gdLst/>
            <a:ahLst/>
            <a:cxnLst/>
            <a:rect l="l" t="t" r="r" b="b"/>
            <a:pathLst>
              <a:path w="1828800" h="457200" extrusionOk="0">
                <a:moveTo>
                  <a:pt x="0" y="0"/>
                </a:moveTo>
                <a:lnTo>
                  <a:pt x="1828800" y="0"/>
                </a:lnTo>
                <a:lnTo>
                  <a:pt x="1684668" y="452277"/>
                </a:lnTo>
                <a:lnTo>
                  <a:pt x="0" y="457200"/>
                </a:lnTo>
                <a:lnTo>
                  <a:pt x="0" y="0"/>
                </a:lnTo>
                <a:close/>
              </a:path>
            </a:pathLst>
          </a:custGeom>
          <a:solidFill>
            <a:schemeClr val="accent2"/>
          </a:solidFill>
          <a:ln w="1905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defTabSz="1219215">
              <a:buClrTx/>
              <a:buSzPts val="1800"/>
              <a:defRPr/>
            </a:pPr>
            <a:endParaRPr lang="es-ES_tradnl" sz="2400" noProof="0" dirty="0">
              <a:latin typeface="Calibri"/>
              <a:ea typeface="Calibri"/>
              <a:cs typeface="Calibri"/>
              <a:sym typeface="Calibri"/>
            </a:endParaRPr>
          </a:p>
        </p:txBody>
      </p:sp>
      <p:sp>
        <p:nvSpPr>
          <p:cNvPr id="51" name="Google Shape;307;p43">
            <a:extLst>
              <a:ext uri="{FF2B5EF4-FFF2-40B4-BE49-F238E27FC236}">
                <a16:creationId xmlns:a16="http://schemas.microsoft.com/office/drawing/2014/main" id="{E08F1C82-0376-E11A-BE91-E8CDD556E381}"/>
              </a:ext>
            </a:extLst>
          </p:cNvPr>
          <p:cNvSpPr/>
          <p:nvPr/>
        </p:nvSpPr>
        <p:spPr>
          <a:xfrm>
            <a:off x="5116227" y="2597557"/>
            <a:ext cx="6784400" cy="538800"/>
          </a:xfrm>
          <a:prstGeom prst="roundRect">
            <a:avLst>
              <a:gd name="adj" fmla="val 16667"/>
            </a:avLst>
          </a:prstGeom>
          <a:noFill/>
          <a:ln>
            <a:noFill/>
          </a:ln>
        </p:spPr>
        <p:txBody>
          <a:bodyPr spcFirstLastPara="1" wrap="square" lIns="60933" tIns="36567" rIns="60933" bIns="36567" anchor="ctr" anchorCtr="0">
            <a:noAutofit/>
          </a:bodyPr>
          <a:lstStyle/>
          <a:p>
            <a:pPr defTabSz="1219215">
              <a:buClrTx/>
              <a:defRPr/>
            </a:pPr>
            <a:r>
              <a:rPr lang="es-ES_tradnl" sz="1867" b="1" noProof="0" dirty="0">
                <a:latin typeface="Poppins"/>
                <a:ea typeface="Poppins"/>
                <a:cs typeface="Poppins"/>
                <a:sym typeface="Poppins"/>
              </a:rPr>
              <a:t>2  ·  RECOMENDACIÓN Y REALIZACIÓN DE PRECIOS</a:t>
            </a:r>
            <a:endParaRPr lang="es-ES_tradnl" sz="1867" noProof="0" dirty="0"/>
          </a:p>
        </p:txBody>
      </p:sp>
      <p:sp>
        <p:nvSpPr>
          <p:cNvPr id="52" name="Google Shape;310;p43">
            <a:extLst>
              <a:ext uri="{FF2B5EF4-FFF2-40B4-BE49-F238E27FC236}">
                <a16:creationId xmlns:a16="http://schemas.microsoft.com/office/drawing/2014/main" id="{22E9F93F-0FD0-B5B9-3222-0D757117B356}"/>
              </a:ext>
            </a:extLst>
          </p:cNvPr>
          <p:cNvSpPr/>
          <p:nvPr/>
        </p:nvSpPr>
        <p:spPr>
          <a:xfrm>
            <a:off x="5235540" y="3154565"/>
            <a:ext cx="4176000" cy="4892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Recomendación de precios</a:t>
            </a:r>
            <a:endParaRPr lang="es-ES_tradnl" sz="1778" noProof="0" dirty="0"/>
          </a:p>
        </p:txBody>
      </p:sp>
      <p:sp>
        <p:nvSpPr>
          <p:cNvPr id="55" name="Google Shape;311;p43">
            <a:extLst>
              <a:ext uri="{FF2B5EF4-FFF2-40B4-BE49-F238E27FC236}">
                <a16:creationId xmlns:a16="http://schemas.microsoft.com/office/drawing/2014/main" id="{A36EB6DC-26DC-AAA9-4D3D-4644B62A26D5}"/>
              </a:ext>
            </a:extLst>
          </p:cNvPr>
          <p:cNvSpPr/>
          <p:nvPr/>
        </p:nvSpPr>
        <p:spPr>
          <a:xfrm>
            <a:off x="10382901" y="3260798"/>
            <a:ext cx="2284638" cy="4892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Realización de precios</a:t>
            </a:r>
            <a:endParaRPr lang="es-ES_tradnl" sz="1778" noProof="0" dirty="0"/>
          </a:p>
        </p:txBody>
      </p:sp>
      <p:cxnSp>
        <p:nvCxnSpPr>
          <p:cNvPr id="57" name="Google Shape;323;p43">
            <a:extLst>
              <a:ext uri="{FF2B5EF4-FFF2-40B4-BE49-F238E27FC236}">
                <a16:creationId xmlns:a16="http://schemas.microsoft.com/office/drawing/2014/main" id="{DD0BB6D6-6C94-5018-9ACF-3D8A1DEDA027}"/>
              </a:ext>
            </a:extLst>
          </p:cNvPr>
          <p:cNvCxnSpPr>
            <a:cxnSpLocks/>
          </p:cNvCxnSpPr>
          <p:nvPr/>
        </p:nvCxnSpPr>
        <p:spPr>
          <a:xfrm>
            <a:off x="9718009" y="3215723"/>
            <a:ext cx="0" cy="2211262"/>
          </a:xfrm>
          <a:prstGeom prst="straightConnector1">
            <a:avLst/>
          </a:prstGeom>
          <a:noFill/>
          <a:ln w="9525" cap="flat" cmpd="sng">
            <a:solidFill>
              <a:schemeClr val="tx1"/>
            </a:solidFill>
            <a:prstDash val="dash"/>
            <a:round/>
            <a:headEnd type="none" w="sm" len="sm"/>
            <a:tailEnd type="none" w="sm" len="sm"/>
          </a:ln>
        </p:spPr>
      </p:cxnSp>
      <p:sp>
        <p:nvSpPr>
          <p:cNvPr id="58" name="Google Shape;329;p43">
            <a:extLst>
              <a:ext uri="{FF2B5EF4-FFF2-40B4-BE49-F238E27FC236}">
                <a16:creationId xmlns:a16="http://schemas.microsoft.com/office/drawing/2014/main" id="{EA9B862C-FBAD-29F4-287F-DABE470CE6DF}"/>
              </a:ext>
            </a:extLst>
          </p:cNvPr>
          <p:cNvSpPr/>
          <p:nvPr/>
        </p:nvSpPr>
        <p:spPr>
          <a:xfrm>
            <a:off x="4361937" y="4156347"/>
            <a:ext cx="2632220" cy="1440343"/>
          </a:xfrm>
          <a:prstGeom prst="roundRect">
            <a:avLst>
              <a:gd name="adj" fmla="val 16667"/>
            </a:avLst>
          </a:prstGeom>
          <a:noFill/>
          <a:ln>
            <a:noFill/>
          </a:ln>
        </p:spPr>
        <p:txBody>
          <a:bodyPr spcFirstLastPara="1" wrap="square" lIns="121900" tIns="60933" rIns="121900" bIns="60933" anchor="ctr" anchorCtr="0">
            <a:noAutofit/>
          </a:bodyPr>
          <a:lstStyle/>
          <a:p>
            <a:pPr marL="609608" indent="-389472" defTabSz="1219215">
              <a:buClr>
                <a:schemeClr val="tx1"/>
              </a:buClr>
              <a:buSzPts val="1000"/>
              <a:buFont typeface="Poppins"/>
              <a:buChar char="●"/>
            </a:pPr>
            <a:r>
              <a:rPr lang="es-ES_tradnl" sz="1333" noProof="0" dirty="0">
                <a:latin typeface="Poppins"/>
                <a:ea typeface="Poppins"/>
                <a:cs typeface="Poppins"/>
                <a:sym typeface="Poppins"/>
              </a:rPr>
              <a:t>Herramienta CLV 0.5 y 1.0 </a:t>
            </a:r>
            <a:r>
              <a:rPr lang="es-ES_tradnl" sz="1067" noProof="0" dirty="0">
                <a:latin typeface="Poppins"/>
                <a:ea typeface="Poppins"/>
                <a:cs typeface="Poppins"/>
                <a:sym typeface="Poppins"/>
              </a:rPr>
              <a:t>(curvas </a:t>
            </a:r>
            <a:r>
              <a:rPr lang="es-ES_tradnl" sz="1067" noProof="0" dirty="0" err="1">
                <a:latin typeface="Poppins"/>
                <a:ea typeface="Poppins"/>
                <a:cs typeface="Poppins"/>
                <a:sym typeface="Poppins"/>
              </a:rPr>
              <a:t>lifetime</a:t>
            </a:r>
            <a:r>
              <a:rPr lang="es-ES_tradnl" sz="1067" noProof="0" dirty="0">
                <a:latin typeface="Poppins"/>
                <a:ea typeface="Poppins"/>
                <a:cs typeface="Poppins"/>
                <a:sym typeface="Poppins"/>
              </a:rPr>
              <a:t> de prepagos, cancelaciones, LGD, PD &amp; componente de capital)</a:t>
            </a:r>
          </a:p>
        </p:txBody>
      </p:sp>
      <p:sp>
        <p:nvSpPr>
          <p:cNvPr id="60" name="Google Shape;330;p43">
            <a:extLst>
              <a:ext uri="{FF2B5EF4-FFF2-40B4-BE49-F238E27FC236}">
                <a16:creationId xmlns:a16="http://schemas.microsoft.com/office/drawing/2014/main" id="{C81636CC-213E-2543-5B16-2C491D03953C}"/>
              </a:ext>
            </a:extLst>
          </p:cNvPr>
          <p:cNvSpPr/>
          <p:nvPr/>
        </p:nvSpPr>
        <p:spPr>
          <a:xfrm>
            <a:off x="9563210" y="4138138"/>
            <a:ext cx="2871362" cy="1422800"/>
          </a:xfrm>
          <a:prstGeom prst="roundRect">
            <a:avLst>
              <a:gd name="adj" fmla="val 16667"/>
            </a:avLst>
          </a:prstGeom>
          <a:noFill/>
          <a:ln>
            <a:noFill/>
          </a:ln>
        </p:spPr>
        <p:txBody>
          <a:bodyPr spcFirstLastPara="1" wrap="square" lIns="121900" tIns="60933" rIns="121900" bIns="60933" anchor="t" anchorCtr="0">
            <a:noAutofit/>
          </a:bodyPr>
          <a:lstStyle/>
          <a:p>
            <a:pPr marL="609608" lvl="1" indent="-389472" defTabSz="1219215">
              <a:buClr>
                <a:schemeClr val="tx1"/>
              </a:buClr>
              <a:buSzPts val="1000"/>
              <a:buFont typeface="Poppins"/>
              <a:buChar char="●"/>
            </a:pPr>
            <a:r>
              <a:rPr lang="es-ES_tradnl" sz="1333" noProof="0" dirty="0">
                <a:latin typeface="Poppins"/>
                <a:ea typeface="Poppins"/>
                <a:cs typeface="Poppins"/>
                <a:sym typeface="Poppins"/>
              </a:rPr>
              <a:t>Gestión de excepciones (workshops e iniciativas tácticas)</a:t>
            </a:r>
          </a:p>
        </p:txBody>
      </p:sp>
      <p:sp>
        <p:nvSpPr>
          <p:cNvPr id="61" name="Rounded Rectangle 60">
            <a:extLst>
              <a:ext uri="{FF2B5EF4-FFF2-40B4-BE49-F238E27FC236}">
                <a16:creationId xmlns:a16="http://schemas.microsoft.com/office/drawing/2014/main" id="{8C1D9069-F5B6-2473-9316-F9D27D97A05E}"/>
              </a:ext>
            </a:extLst>
          </p:cNvPr>
          <p:cNvSpPr/>
          <p:nvPr/>
        </p:nvSpPr>
        <p:spPr>
          <a:xfrm>
            <a:off x="4646555" y="3810465"/>
            <a:ext cx="2225829" cy="217465"/>
          </a:xfrm>
          <a:prstGeom prst="roundRect">
            <a:avLst>
              <a:gd name="adj" fmla="val 11012"/>
            </a:avLst>
          </a:prstGeom>
          <a:solidFill>
            <a:srgbClr val="06B050"/>
          </a:solidFill>
          <a:ln w="25400" cap="flat" cmpd="sng" algn="ctr">
            <a:noFill/>
            <a:prstDash val="solid"/>
          </a:ln>
          <a:effectLst/>
        </p:spPr>
        <p:txBody>
          <a:bodyPr rtlCol="0" anchor="ctr"/>
          <a:lstStyle/>
          <a:p>
            <a:pPr algn="ctr" defTabSz="1219215">
              <a:buClrTx/>
              <a:defRPr/>
            </a:pPr>
            <a:r>
              <a:rPr lang="es-ES_tradnl" sz="1244" noProof="0" dirty="0" err="1">
                <a:solidFill>
                  <a:schemeClr val="bg1"/>
                </a:solidFill>
                <a:ea typeface="+mn-ea"/>
                <a:cs typeface="+mn-cs"/>
              </a:rPr>
              <a:t>Profitability</a:t>
            </a:r>
            <a:r>
              <a:rPr lang="es-ES_tradnl" sz="1244" noProof="0" dirty="0">
                <a:solidFill>
                  <a:schemeClr val="bg1"/>
                </a:solidFill>
                <a:ea typeface="+mn-ea"/>
                <a:cs typeface="+mn-cs"/>
              </a:rPr>
              <a:t> Based Pricing</a:t>
            </a:r>
          </a:p>
        </p:txBody>
      </p:sp>
      <p:sp>
        <p:nvSpPr>
          <p:cNvPr id="64" name="Google Shape;329;p43">
            <a:extLst>
              <a:ext uri="{FF2B5EF4-FFF2-40B4-BE49-F238E27FC236}">
                <a16:creationId xmlns:a16="http://schemas.microsoft.com/office/drawing/2014/main" id="{2FEC80A6-FA33-CDFF-3DF8-A3AB1D55AEE7}"/>
              </a:ext>
            </a:extLst>
          </p:cNvPr>
          <p:cNvSpPr/>
          <p:nvPr/>
        </p:nvSpPr>
        <p:spPr>
          <a:xfrm>
            <a:off x="6586596" y="4156346"/>
            <a:ext cx="3296615" cy="1158983"/>
          </a:xfrm>
          <a:prstGeom prst="roundRect">
            <a:avLst>
              <a:gd name="adj" fmla="val 16667"/>
            </a:avLst>
          </a:prstGeom>
          <a:noFill/>
          <a:ln>
            <a:noFill/>
          </a:ln>
        </p:spPr>
        <p:txBody>
          <a:bodyPr spcFirstLastPara="1" wrap="square" lIns="121900" tIns="60933" rIns="121900" bIns="60933" anchor="t" anchorCtr="0">
            <a:noAutofit/>
          </a:bodyPr>
          <a:lstStyle/>
          <a:p>
            <a:pPr marL="609608" indent="-389472" defTabSz="1219215">
              <a:buClr>
                <a:schemeClr val="tx1"/>
              </a:buClr>
              <a:buSzPts val="1000"/>
              <a:buFont typeface="Poppins"/>
              <a:buChar char="●"/>
            </a:pPr>
            <a:r>
              <a:rPr lang="es-ES_tradnl" sz="1333" noProof="0" dirty="0" err="1">
                <a:latin typeface="Poppins"/>
                <a:ea typeface="Poppins"/>
                <a:cs typeface="Poppins"/>
                <a:sym typeface="Poppins"/>
              </a:rPr>
              <a:t>Clusterización</a:t>
            </a:r>
            <a:r>
              <a:rPr lang="es-ES_tradnl" sz="1333" noProof="0" dirty="0">
                <a:latin typeface="Poppins"/>
                <a:ea typeface="Poppins"/>
                <a:cs typeface="Poppins"/>
                <a:sym typeface="Poppins"/>
              </a:rPr>
              <a:t> data-</a:t>
            </a:r>
            <a:r>
              <a:rPr lang="es-ES_tradnl" sz="1333" noProof="0" dirty="0" err="1">
                <a:latin typeface="Poppins"/>
                <a:ea typeface="Poppins"/>
                <a:cs typeface="Poppins"/>
                <a:sym typeface="Poppins"/>
              </a:rPr>
              <a:t>driven</a:t>
            </a:r>
            <a:endParaRPr lang="es-ES_tradnl" sz="1333" noProof="0" dirty="0">
              <a:latin typeface="Poppins"/>
              <a:ea typeface="Poppins"/>
              <a:cs typeface="Poppins"/>
              <a:sym typeface="Poppins"/>
            </a:endParaRP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Módulo de tasa de la competencia</a:t>
            </a: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Sensibilidad al precio</a:t>
            </a: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MFA del cliente</a:t>
            </a:r>
          </a:p>
        </p:txBody>
      </p:sp>
      <p:sp>
        <p:nvSpPr>
          <p:cNvPr id="65" name="Rounded Rectangle 64">
            <a:extLst>
              <a:ext uri="{FF2B5EF4-FFF2-40B4-BE49-F238E27FC236}">
                <a16:creationId xmlns:a16="http://schemas.microsoft.com/office/drawing/2014/main" id="{80B421E1-612F-B9D1-539C-14B174950934}"/>
              </a:ext>
            </a:extLst>
          </p:cNvPr>
          <p:cNvSpPr/>
          <p:nvPr/>
        </p:nvSpPr>
        <p:spPr>
          <a:xfrm>
            <a:off x="6924523" y="3810465"/>
            <a:ext cx="2632220" cy="217465"/>
          </a:xfrm>
          <a:prstGeom prst="roundRect">
            <a:avLst>
              <a:gd name="adj" fmla="val 11012"/>
            </a:avLst>
          </a:prstGeom>
          <a:solidFill>
            <a:srgbClr val="06B050"/>
          </a:solidFill>
          <a:ln w="25400" cap="flat" cmpd="sng" algn="ctr">
            <a:noFill/>
            <a:prstDash val="solid"/>
          </a:ln>
          <a:effectLst/>
        </p:spPr>
        <p:txBody>
          <a:bodyPr rtlCol="0" anchor="ctr"/>
          <a:lstStyle/>
          <a:p>
            <a:pPr algn="ctr" defTabSz="1219215">
              <a:buClrTx/>
              <a:defRPr/>
            </a:pPr>
            <a:r>
              <a:rPr lang="es-ES_tradnl" sz="1244" noProof="0" dirty="0">
                <a:solidFill>
                  <a:schemeClr val="bg1"/>
                </a:solidFill>
                <a:ea typeface="+mn-ea"/>
                <a:cs typeface="+mn-cs"/>
              </a:rPr>
              <a:t>Módulo comercial</a:t>
            </a:r>
          </a:p>
        </p:txBody>
      </p:sp>
      <p:sp>
        <p:nvSpPr>
          <p:cNvPr id="66" name="Google Shape;317;p43">
            <a:extLst>
              <a:ext uri="{FF2B5EF4-FFF2-40B4-BE49-F238E27FC236}">
                <a16:creationId xmlns:a16="http://schemas.microsoft.com/office/drawing/2014/main" id="{E2D10AB9-4470-7C9E-F1C6-E07A37A6533F}"/>
              </a:ext>
            </a:extLst>
          </p:cNvPr>
          <p:cNvSpPr/>
          <p:nvPr/>
        </p:nvSpPr>
        <p:spPr>
          <a:xfrm flipV="1">
            <a:off x="4563729" y="1870188"/>
            <a:ext cx="7870837" cy="548028"/>
          </a:xfrm>
          <a:custGeom>
            <a:avLst/>
            <a:gdLst/>
            <a:ahLst/>
            <a:cxnLst/>
            <a:rect l="l" t="t" r="r" b="b"/>
            <a:pathLst>
              <a:path w="8377941" h="536061" extrusionOk="0">
                <a:moveTo>
                  <a:pt x="0" y="0"/>
                </a:moveTo>
                <a:lnTo>
                  <a:pt x="8377941" y="0"/>
                </a:lnTo>
                <a:lnTo>
                  <a:pt x="8286501" y="536061"/>
                </a:lnTo>
                <a:lnTo>
                  <a:pt x="0" y="528441"/>
                </a:lnTo>
                <a:lnTo>
                  <a:pt x="0" y="0"/>
                </a:lnTo>
                <a:close/>
              </a:path>
            </a:pathLst>
          </a:custGeom>
          <a:solidFill>
            <a:srgbClr val="3C9B96"/>
          </a:solidFill>
          <a:ln w="19050" cap="flat" cmpd="sng">
            <a:solidFill>
              <a:srgbClr val="06B050"/>
            </a:solidFill>
            <a:prstDash val="solid"/>
            <a:round/>
            <a:headEnd type="none" w="sm" len="sm"/>
            <a:tailEnd type="none" w="sm" len="sm"/>
          </a:ln>
        </p:spPr>
        <p:txBody>
          <a:bodyPr spcFirstLastPara="1" wrap="square" lIns="0" tIns="0" rIns="0" bIns="29234" anchor="t" anchorCtr="0">
            <a:noAutofit/>
          </a:bodyPr>
          <a:lstStyle/>
          <a:p>
            <a:pPr defTabSz="1219215">
              <a:buSzPts val="1920"/>
            </a:pPr>
            <a:endParaRPr lang="es-ES_tradnl" sz="2560" b="1" noProof="0" dirty="0">
              <a:solidFill>
                <a:srgbClr val="FFC000"/>
              </a:solidFill>
              <a:latin typeface="Calibri"/>
              <a:ea typeface="Calibri"/>
              <a:cs typeface="Calibri"/>
              <a:sym typeface="Calibri"/>
            </a:endParaRPr>
          </a:p>
        </p:txBody>
      </p:sp>
      <p:sp>
        <p:nvSpPr>
          <p:cNvPr id="67" name="Rounded Rectangle 66">
            <a:extLst>
              <a:ext uri="{FF2B5EF4-FFF2-40B4-BE49-F238E27FC236}">
                <a16:creationId xmlns:a16="http://schemas.microsoft.com/office/drawing/2014/main" id="{53ECE605-2D97-91D1-9BB0-F6A4CC994BF5}"/>
              </a:ext>
            </a:extLst>
          </p:cNvPr>
          <p:cNvSpPr/>
          <p:nvPr/>
        </p:nvSpPr>
        <p:spPr>
          <a:xfrm>
            <a:off x="5871015" y="2037613"/>
            <a:ext cx="4415557" cy="268896"/>
          </a:xfrm>
          <a:prstGeom prst="roundRect">
            <a:avLst>
              <a:gd name="adj" fmla="val 11012"/>
            </a:avLst>
          </a:prstGeom>
          <a:solidFill>
            <a:srgbClr val="3C9B96"/>
          </a:solidFill>
          <a:ln w="25400" cap="flat" cmpd="sng" algn="ctr">
            <a:noFill/>
            <a:prstDash val="solid"/>
          </a:ln>
          <a:effectLst/>
        </p:spPr>
        <p:txBody>
          <a:bodyPr lIns="162560" tIns="81280" rIns="162560" bIns="81280" rtlCol="0" anchor="ctr"/>
          <a:lstStyle/>
          <a:p>
            <a:pPr algn="ctr" defTabSz="1219215">
              <a:buClrTx/>
              <a:defRPr/>
            </a:pPr>
            <a:r>
              <a:rPr lang="es-ES_tradnl" sz="1867" b="1" noProof="0" dirty="0">
                <a:solidFill>
                  <a:srgbClr val="FFFFFF"/>
                </a:solidFill>
                <a:ea typeface="+mn-ea"/>
                <a:cs typeface="+mn-cs"/>
              </a:rPr>
              <a:t>Herramienta </a:t>
            </a:r>
            <a:r>
              <a:rPr lang="es-ES_tradnl" sz="1867" b="1" noProof="0" dirty="0" err="1">
                <a:solidFill>
                  <a:srgbClr val="FFFFFF"/>
                </a:solidFill>
                <a:ea typeface="+mn-ea"/>
                <a:cs typeface="+mn-cs"/>
              </a:rPr>
              <a:t>PricingSmart</a:t>
            </a:r>
            <a:r>
              <a:rPr lang="es-ES_tradnl" sz="1867" b="1" noProof="0" dirty="0">
                <a:solidFill>
                  <a:srgbClr val="FFFFFF"/>
                </a:solidFill>
                <a:ea typeface="+mn-ea"/>
                <a:cs typeface="+mn-cs"/>
              </a:rPr>
              <a:t> 360 Light</a:t>
            </a:r>
          </a:p>
        </p:txBody>
      </p:sp>
      <p:pic>
        <p:nvPicPr>
          <p:cNvPr id="68" name="Imagen 28" descr="mejor precio ">
            <a:extLst>
              <a:ext uri="{FF2B5EF4-FFF2-40B4-BE49-F238E27FC236}">
                <a16:creationId xmlns:a16="http://schemas.microsoft.com/office/drawing/2014/main" id="{654988B6-AE1D-EA57-D237-41B5B546F698}"/>
              </a:ext>
            </a:extLst>
          </p:cNvPr>
          <p:cNvPicPr>
            <a:picLocks noChangeAspect="1"/>
          </p:cNvPicPr>
          <p:nvPr/>
        </p:nvPicPr>
        <p:blipFill>
          <a:blip r:embed="rId4"/>
          <a:stretch>
            <a:fillRect/>
          </a:stretch>
        </p:blipFill>
        <p:spPr>
          <a:xfrm>
            <a:off x="4664729" y="3223337"/>
            <a:ext cx="416012" cy="416012"/>
          </a:xfrm>
          <a:prstGeom prst="rect">
            <a:avLst/>
          </a:prstGeom>
        </p:spPr>
      </p:pic>
      <p:pic>
        <p:nvPicPr>
          <p:cNvPr id="70" name="Imagen 29" descr="cumplimiento del proyecto ">
            <a:extLst>
              <a:ext uri="{FF2B5EF4-FFF2-40B4-BE49-F238E27FC236}">
                <a16:creationId xmlns:a16="http://schemas.microsoft.com/office/drawing/2014/main" id="{FA265DFF-F30F-8010-C1CB-279247481B7A}"/>
              </a:ext>
            </a:extLst>
          </p:cNvPr>
          <p:cNvPicPr>
            <a:picLocks noChangeAspect="1"/>
          </p:cNvPicPr>
          <p:nvPr/>
        </p:nvPicPr>
        <p:blipFill>
          <a:blip r:embed="rId5"/>
          <a:stretch>
            <a:fillRect/>
          </a:stretch>
        </p:blipFill>
        <p:spPr>
          <a:xfrm>
            <a:off x="9872812" y="3281370"/>
            <a:ext cx="430356" cy="430356"/>
          </a:xfrm>
          <a:prstGeom prst="rect">
            <a:avLst/>
          </a:prstGeom>
        </p:spPr>
      </p:pic>
      <p:pic>
        <p:nvPicPr>
          <p:cNvPr id="72" name="Imagen 29" descr="cumplimiento del proyecto ">
            <a:extLst>
              <a:ext uri="{FF2B5EF4-FFF2-40B4-BE49-F238E27FC236}">
                <a16:creationId xmlns:a16="http://schemas.microsoft.com/office/drawing/2014/main" id="{70F025B0-B1F8-6FC3-E323-C7AE37ADC88F}"/>
              </a:ext>
            </a:extLst>
          </p:cNvPr>
          <p:cNvPicPr>
            <a:picLocks noChangeAspect="1"/>
          </p:cNvPicPr>
          <p:nvPr/>
        </p:nvPicPr>
        <p:blipFill>
          <a:blip r:embed="rId5"/>
          <a:stretch>
            <a:fillRect/>
          </a:stretch>
        </p:blipFill>
        <p:spPr>
          <a:xfrm>
            <a:off x="4904368" y="2752514"/>
            <a:ext cx="202546" cy="202546"/>
          </a:xfrm>
          <a:prstGeom prst="rect">
            <a:avLst/>
          </a:prstGeom>
        </p:spPr>
      </p:pic>
      <p:sp>
        <p:nvSpPr>
          <p:cNvPr id="76" name="Google Shape;316;p43">
            <a:extLst>
              <a:ext uri="{FF2B5EF4-FFF2-40B4-BE49-F238E27FC236}">
                <a16:creationId xmlns:a16="http://schemas.microsoft.com/office/drawing/2014/main" id="{792BE1BC-93BB-46AE-D9C0-50259C5D4E6F}"/>
              </a:ext>
            </a:extLst>
          </p:cNvPr>
          <p:cNvSpPr/>
          <p:nvPr/>
        </p:nvSpPr>
        <p:spPr>
          <a:xfrm>
            <a:off x="12894516" y="4728116"/>
            <a:ext cx="2201333" cy="406400"/>
          </a:xfrm>
          <a:prstGeom prst="rect">
            <a:avLst/>
          </a:prstGeom>
          <a:noFill/>
          <a:ln>
            <a:noFill/>
          </a:ln>
        </p:spPr>
        <p:txBody>
          <a:bodyPr spcFirstLastPara="1" wrap="square" lIns="60933" tIns="36567" rIns="60933" bIns="36567" anchor="t" anchorCtr="0">
            <a:noAutofit/>
          </a:bodyPr>
          <a:lstStyle/>
          <a:p>
            <a:pPr algn="ctr" defTabSz="1219215"/>
            <a:r>
              <a:rPr lang="es-ES_tradnl" sz="2400" b="1" noProof="0" dirty="0">
                <a:solidFill>
                  <a:schemeClr val="tx1"/>
                </a:solidFill>
                <a:latin typeface="Poppins"/>
                <a:ea typeface="Poppins"/>
                <a:cs typeface="Poppins"/>
                <a:sym typeface="Poppins"/>
              </a:rPr>
              <a:t>VALOR</a:t>
            </a:r>
            <a:endParaRPr lang="es-ES_tradnl" sz="1867" noProof="0" dirty="0">
              <a:solidFill>
                <a:schemeClr val="tx1"/>
              </a:solidFill>
            </a:endParaRPr>
          </a:p>
        </p:txBody>
      </p:sp>
      <p:pic>
        <p:nvPicPr>
          <p:cNvPr id="77" name="Picture 76">
            <a:extLst>
              <a:ext uri="{FF2B5EF4-FFF2-40B4-BE49-F238E27FC236}">
                <a16:creationId xmlns:a16="http://schemas.microsoft.com/office/drawing/2014/main" id="{AF35EA91-B3F7-E3CD-99BF-03FA5F4FB4C4}"/>
              </a:ext>
            </a:extLst>
          </p:cNvPr>
          <p:cNvPicPr>
            <a:picLocks noChangeAspect="1"/>
          </p:cNvPicPr>
          <p:nvPr/>
        </p:nvPicPr>
        <p:blipFill>
          <a:blip r:embed="rId6">
            <a:clrChange>
              <a:clrFrom>
                <a:srgbClr val="F7F7F7"/>
              </a:clrFrom>
              <a:clrTo>
                <a:srgbClr val="F7F7F7">
                  <a:alpha val="0"/>
                </a:srgbClr>
              </a:clrTo>
            </a:clrChange>
          </a:blip>
          <a:stretch>
            <a:fillRect/>
          </a:stretch>
        </p:blipFill>
        <p:spPr>
          <a:xfrm>
            <a:off x="13424397" y="5147411"/>
            <a:ext cx="1125998" cy="1057186"/>
          </a:xfrm>
          <a:prstGeom prst="rect">
            <a:avLst/>
          </a:prstGeom>
        </p:spPr>
      </p:pic>
      <p:sp>
        <p:nvSpPr>
          <p:cNvPr id="2" name="Google Shape;309;p43">
            <a:extLst>
              <a:ext uri="{FF2B5EF4-FFF2-40B4-BE49-F238E27FC236}">
                <a16:creationId xmlns:a16="http://schemas.microsoft.com/office/drawing/2014/main" id="{4BB8843D-C8BC-A742-5476-71427B0C45C2}"/>
              </a:ext>
            </a:extLst>
          </p:cNvPr>
          <p:cNvSpPr/>
          <p:nvPr/>
        </p:nvSpPr>
        <p:spPr>
          <a:xfrm>
            <a:off x="1854393" y="1870188"/>
            <a:ext cx="2629600" cy="6419202"/>
          </a:xfrm>
          <a:prstGeom prst="rect">
            <a:avLst/>
          </a:prstGeom>
          <a:solidFill>
            <a:schemeClr val="bg1">
              <a:lumMod val="50000"/>
            </a:schemeClr>
          </a:solidFill>
          <a:ln>
            <a:noFill/>
          </a:ln>
        </p:spPr>
        <p:txBody>
          <a:bodyPr spcFirstLastPara="1" wrap="square" lIns="60933" tIns="36567" rIns="60933" bIns="36567" anchor="t" anchorCtr="0">
            <a:noAutofit/>
          </a:bodyPr>
          <a:lstStyle/>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r>
              <a:rPr lang="es-ES_tradnl" sz="1867" b="1" noProof="0" dirty="0">
                <a:solidFill>
                  <a:srgbClr val="FFFFFF"/>
                </a:solidFill>
                <a:latin typeface="Poppins"/>
                <a:ea typeface="Poppins"/>
                <a:cs typeface="Poppins"/>
                <a:sym typeface="Poppins"/>
              </a:rPr>
              <a:t>1  ·  ESTRATEGIA DE PRICING</a:t>
            </a:r>
            <a:endParaRPr lang="es-ES_tradnl" sz="1867" noProof="0" dirty="0">
              <a:solidFill>
                <a:sysClr val="windowText" lastClr="000000"/>
              </a:solidFill>
            </a:endParaRPr>
          </a:p>
          <a:p>
            <a:pPr defTabSz="1219215">
              <a:buClrTx/>
              <a:defRPr/>
            </a:pPr>
            <a:r>
              <a:rPr lang="es-ES_tradnl" sz="800" noProof="0" dirty="0">
                <a:solidFill>
                  <a:srgbClr val="FFFFFF"/>
                </a:solidFill>
                <a:latin typeface="Poppins"/>
                <a:ea typeface="Poppins"/>
                <a:cs typeface="Poppins"/>
                <a:sym typeface="Poppins"/>
              </a:rPr>
              <a:t> </a:t>
            </a:r>
            <a:endParaRPr lang="es-ES_tradnl" sz="1867" noProof="0" dirty="0">
              <a:solidFill>
                <a:sysClr val="windowText" lastClr="000000"/>
              </a:solidFill>
            </a:endParaRPr>
          </a:p>
          <a:p>
            <a:pPr defTabSz="1219215">
              <a:buClrTx/>
              <a:defRPr/>
            </a:pPr>
            <a:endParaRPr lang="es-ES_tradnl" sz="1733" noProof="0" dirty="0">
              <a:solidFill>
                <a:srgbClr val="FFFFFF"/>
              </a:solidFill>
              <a:latin typeface="Poppins"/>
              <a:ea typeface="Poppins"/>
              <a:cs typeface="Poppins"/>
              <a:sym typeface="Poppins"/>
            </a:endParaRPr>
          </a:p>
          <a:p>
            <a:pPr defTabSz="1219215">
              <a:buClrTx/>
              <a:defRPr/>
            </a:pPr>
            <a:endParaRPr lang="es-ES_tradnl" sz="1733" noProof="0" dirty="0">
              <a:solidFill>
                <a:srgbClr val="FFFFFF"/>
              </a:solidFill>
              <a:latin typeface="Poppins"/>
              <a:ea typeface="Poppins"/>
              <a:cs typeface="Poppins"/>
              <a:sym typeface="Poppins"/>
            </a:endParaRPr>
          </a:p>
          <a:p>
            <a:pPr algn="ctr" defTabSz="1219215">
              <a:buClrTx/>
              <a:defRPr/>
            </a:pPr>
            <a:r>
              <a:rPr lang="es-ES_tradnl" sz="1733" noProof="0" dirty="0">
                <a:solidFill>
                  <a:srgbClr val="FFFFFF"/>
                </a:solidFill>
                <a:latin typeface="Poppins"/>
                <a:ea typeface="Poppins"/>
                <a:cs typeface="Poppins"/>
                <a:sym typeface="Poppins"/>
              </a:rPr>
              <a:t>Apetito de rentabilidad</a:t>
            </a:r>
          </a:p>
          <a:p>
            <a:pPr algn="ctr" defTabSz="1219215">
              <a:buClrTx/>
              <a:defRPr/>
            </a:pPr>
            <a:r>
              <a:rPr lang="es-ES_tradnl" sz="1733" noProof="0" dirty="0">
                <a:solidFill>
                  <a:srgbClr val="FFFFFF"/>
                </a:solidFill>
                <a:latin typeface="Poppins"/>
                <a:ea typeface="Poppins"/>
                <a:cs typeface="Poppins"/>
                <a:sym typeface="Poppins"/>
              </a:rPr>
              <a:t>RAROC Objetivo</a:t>
            </a:r>
          </a:p>
          <a:p>
            <a:pPr algn="ctr" defTabSz="1219215">
              <a:buClrTx/>
              <a:defRPr/>
            </a:pPr>
            <a:endParaRPr lang="es-ES_tradnl" sz="1733" noProof="0" dirty="0">
              <a:solidFill>
                <a:srgbClr val="FFFFFF"/>
              </a:solidFill>
              <a:latin typeface="Poppins"/>
              <a:ea typeface="Poppins"/>
              <a:cs typeface="Poppins"/>
              <a:sym typeface="Poppins"/>
            </a:endParaRPr>
          </a:p>
          <a:p>
            <a:pPr algn="ctr" defTabSz="1219215">
              <a:buClrTx/>
              <a:defRPr/>
            </a:pPr>
            <a:r>
              <a:rPr lang="es-ES_tradnl" sz="1733" noProof="0" dirty="0">
                <a:solidFill>
                  <a:srgbClr val="FFFFFF"/>
                </a:solidFill>
                <a:latin typeface="Poppins"/>
                <a:ea typeface="Poppins"/>
                <a:cs typeface="Poppins"/>
                <a:sym typeface="Poppins"/>
              </a:rPr>
              <a:t> Estrategia </a:t>
            </a:r>
          </a:p>
          <a:p>
            <a:pPr algn="ctr" defTabSz="1219215">
              <a:buClrTx/>
              <a:defRPr/>
            </a:pPr>
            <a:r>
              <a:rPr lang="es-ES_tradnl" sz="1733" noProof="0" dirty="0">
                <a:solidFill>
                  <a:srgbClr val="FFFFFF"/>
                </a:solidFill>
                <a:latin typeface="Poppins"/>
                <a:ea typeface="Poppins"/>
                <a:cs typeface="Poppins"/>
                <a:sym typeface="Poppins"/>
              </a:rPr>
              <a:t>Cliente 360</a:t>
            </a:r>
            <a:endParaRPr lang="es-ES_tradnl" sz="1867" noProof="0" dirty="0">
              <a:solidFill>
                <a:sysClr val="windowText" lastClr="000000"/>
              </a:solidFill>
            </a:endParaRPr>
          </a:p>
        </p:txBody>
      </p:sp>
      <p:pic>
        <p:nvPicPr>
          <p:cNvPr id="3" name="Imagen 27" descr="estrategia ">
            <a:extLst>
              <a:ext uri="{FF2B5EF4-FFF2-40B4-BE49-F238E27FC236}">
                <a16:creationId xmlns:a16="http://schemas.microsoft.com/office/drawing/2014/main" id="{282161C3-30A0-97EA-63C2-8FCF039C84AE}"/>
              </a:ext>
            </a:extLst>
          </p:cNvPr>
          <p:cNvPicPr>
            <a:picLocks noChangeAspect="1"/>
          </p:cNvPicPr>
          <p:nvPr/>
        </p:nvPicPr>
        <p:blipFill>
          <a:blip r:embed="rId7">
            <a:biLevel thresh="25000"/>
          </a:blip>
          <a:stretch>
            <a:fillRect/>
          </a:stretch>
        </p:blipFill>
        <p:spPr>
          <a:xfrm>
            <a:off x="2776797" y="3021762"/>
            <a:ext cx="728235" cy="728235"/>
          </a:xfrm>
          <a:prstGeom prst="rect">
            <a:avLst/>
          </a:prstGeom>
        </p:spPr>
      </p:pic>
      <p:pic>
        <p:nvPicPr>
          <p:cNvPr id="4" name="Imagen 28" descr="mejor precio ">
            <a:extLst>
              <a:ext uri="{FF2B5EF4-FFF2-40B4-BE49-F238E27FC236}">
                <a16:creationId xmlns:a16="http://schemas.microsoft.com/office/drawing/2014/main" id="{966DA876-068F-E241-5244-1524DA7934E0}"/>
              </a:ext>
            </a:extLst>
          </p:cNvPr>
          <p:cNvPicPr>
            <a:picLocks noChangeAspect="1"/>
          </p:cNvPicPr>
          <p:nvPr/>
        </p:nvPicPr>
        <p:blipFill>
          <a:blip r:embed="rId4"/>
          <a:stretch>
            <a:fillRect/>
          </a:stretch>
        </p:blipFill>
        <p:spPr>
          <a:xfrm>
            <a:off x="4661057" y="2759265"/>
            <a:ext cx="195796" cy="195796"/>
          </a:xfrm>
          <a:prstGeom prst="rect">
            <a:avLst/>
          </a:prstGeom>
        </p:spPr>
      </p:pic>
    </p:spTree>
    <p:extLst>
      <p:ext uri="{BB962C8B-B14F-4D97-AF65-F5344CB8AC3E}">
        <p14:creationId xmlns:p14="http://schemas.microsoft.com/office/powerpoint/2010/main" val="72904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749BA-25FC-0687-40F5-FED878D6288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4586DBF-D200-C19C-6092-DD07B9960BDD}"/>
              </a:ext>
            </a:extLst>
          </p:cNvPr>
          <p:cNvSpPr/>
          <p:nvPr/>
        </p:nvSpPr>
        <p:spPr>
          <a:xfrm>
            <a:off x="0" y="1143000"/>
            <a:ext cx="16256000" cy="84043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7" name="Google Shape;305;p43">
            <a:extLst>
              <a:ext uri="{FF2B5EF4-FFF2-40B4-BE49-F238E27FC236}">
                <a16:creationId xmlns:a16="http://schemas.microsoft.com/office/drawing/2014/main" id="{8D0D0862-2383-15F4-A088-925F374E6BDB}"/>
              </a:ext>
            </a:extLst>
          </p:cNvPr>
          <p:cNvSpPr/>
          <p:nvPr/>
        </p:nvSpPr>
        <p:spPr>
          <a:xfrm>
            <a:off x="4563728" y="5772986"/>
            <a:ext cx="8628389" cy="2516409"/>
          </a:xfrm>
          <a:custGeom>
            <a:avLst/>
            <a:gdLst/>
            <a:ahLst/>
            <a:cxnLst/>
            <a:rect l="l" t="t" r="r" b="b"/>
            <a:pathLst>
              <a:path w="1828800" h="457200" extrusionOk="0">
                <a:moveTo>
                  <a:pt x="0" y="0"/>
                </a:moveTo>
                <a:lnTo>
                  <a:pt x="1828800" y="0"/>
                </a:lnTo>
                <a:lnTo>
                  <a:pt x="1684668" y="452277"/>
                </a:lnTo>
                <a:lnTo>
                  <a:pt x="0" y="457200"/>
                </a:lnTo>
                <a:lnTo>
                  <a:pt x="0" y="0"/>
                </a:lnTo>
                <a:close/>
              </a:path>
            </a:pathLst>
          </a:custGeom>
          <a:solidFill>
            <a:srgbClr val="E0ECF7"/>
          </a:solidFill>
          <a:ln w="1905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defTabSz="1219215">
              <a:buClrTx/>
              <a:buSzPts val="1800"/>
              <a:defRPr/>
            </a:pPr>
            <a:endParaRPr lang="es-ES_tradnl" sz="2400" noProof="0" dirty="0">
              <a:latin typeface="Calibri"/>
              <a:ea typeface="Calibri"/>
              <a:cs typeface="Calibri"/>
              <a:sym typeface="Calibri"/>
            </a:endParaRPr>
          </a:p>
        </p:txBody>
      </p:sp>
      <p:sp>
        <p:nvSpPr>
          <p:cNvPr id="13" name="Google Shape;313;p43">
            <a:extLst>
              <a:ext uri="{FF2B5EF4-FFF2-40B4-BE49-F238E27FC236}">
                <a16:creationId xmlns:a16="http://schemas.microsoft.com/office/drawing/2014/main" id="{92222CC8-8D82-4F7E-6552-7C83211D3CA3}"/>
              </a:ext>
            </a:extLst>
          </p:cNvPr>
          <p:cNvSpPr/>
          <p:nvPr/>
        </p:nvSpPr>
        <p:spPr>
          <a:xfrm>
            <a:off x="5123449" y="6502336"/>
            <a:ext cx="2712087" cy="7620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Comités y lineamiento de excepciones</a:t>
            </a:r>
            <a:endParaRPr lang="es-ES_tradnl" sz="1956" noProof="0" dirty="0"/>
          </a:p>
        </p:txBody>
      </p:sp>
      <p:sp>
        <p:nvSpPr>
          <p:cNvPr id="14" name="Google Shape;314;p43">
            <a:extLst>
              <a:ext uri="{FF2B5EF4-FFF2-40B4-BE49-F238E27FC236}">
                <a16:creationId xmlns:a16="http://schemas.microsoft.com/office/drawing/2014/main" id="{2DFFD929-0CED-EC65-5154-A64B03A8A0A0}"/>
              </a:ext>
            </a:extLst>
          </p:cNvPr>
          <p:cNvSpPr/>
          <p:nvPr/>
        </p:nvSpPr>
        <p:spPr>
          <a:xfrm>
            <a:off x="8703239" y="6400002"/>
            <a:ext cx="2912400" cy="7620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Mock de Monitoreo tasas y rentabilidad</a:t>
            </a:r>
            <a:endParaRPr lang="es-ES_tradnl" sz="1956" noProof="0" dirty="0"/>
          </a:p>
        </p:txBody>
      </p:sp>
      <p:sp>
        <p:nvSpPr>
          <p:cNvPr id="15" name="Google Shape;315;p43">
            <a:extLst>
              <a:ext uri="{FF2B5EF4-FFF2-40B4-BE49-F238E27FC236}">
                <a16:creationId xmlns:a16="http://schemas.microsoft.com/office/drawing/2014/main" id="{E4230234-4DAC-678C-ACB2-C5BE07D25F1E}"/>
              </a:ext>
            </a:extLst>
          </p:cNvPr>
          <p:cNvSpPr/>
          <p:nvPr/>
        </p:nvSpPr>
        <p:spPr>
          <a:xfrm>
            <a:off x="8703239" y="7024501"/>
            <a:ext cx="3648468" cy="437200"/>
          </a:xfrm>
          <a:prstGeom prst="roundRect">
            <a:avLst>
              <a:gd name="adj" fmla="val 16667"/>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cs typeface="Poppins"/>
                <a:sym typeface="Poppins"/>
              </a:rPr>
              <a:t>Estructura de </a:t>
            </a:r>
            <a:r>
              <a:rPr lang="es-ES_tradnl" sz="1778" noProof="0" dirty="0" err="1">
                <a:latin typeface="Poppins"/>
                <a:cs typeface="Poppins"/>
                <a:sym typeface="Poppins"/>
              </a:rPr>
              <a:t>KPIs</a:t>
            </a:r>
            <a:r>
              <a:rPr lang="es-ES_tradnl" sz="1778" noProof="0" dirty="0">
                <a:latin typeface="Poppins"/>
                <a:cs typeface="Poppins"/>
                <a:sym typeface="Poppins"/>
              </a:rPr>
              <a:t> y métricas</a:t>
            </a:r>
            <a:endParaRPr lang="es-ES_tradnl" sz="1956" noProof="0" dirty="0"/>
          </a:p>
        </p:txBody>
      </p:sp>
      <p:sp>
        <p:nvSpPr>
          <p:cNvPr id="21" name="Google Shape;312;p43">
            <a:extLst>
              <a:ext uri="{FF2B5EF4-FFF2-40B4-BE49-F238E27FC236}">
                <a16:creationId xmlns:a16="http://schemas.microsoft.com/office/drawing/2014/main" id="{205878CF-85C4-495D-6E03-8FCD7B1EE619}"/>
              </a:ext>
            </a:extLst>
          </p:cNvPr>
          <p:cNvSpPr/>
          <p:nvPr/>
        </p:nvSpPr>
        <p:spPr>
          <a:xfrm>
            <a:off x="5116227" y="6000800"/>
            <a:ext cx="7318338" cy="437200"/>
          </a:xfrm>
          <a:prstGeom prst="roundRect">
            <a:avLst>
              <a:gd name="adj" fmla="val 16667"/>
            </a:avLst>
          </a:prstGeom>
          <a:noFill/>
          <a:ln>
            <a:noFill/>
          </a:ln>
        </p:spPr>
        <p:txBody>
          <a:bodyPr spcFirstLastPara="1" wrap="square" lIns="60933" tIns="36567" rIns="60933" bIns="36567" anchor="t" anchorCtr="0">
            <a:noAutofit/>
          </a:bodyPr>
          <a:lstStyle/>
          <a:p>
            <a:pPr defTabSz="1219215"/>
            <a:r>
              <a:rPr lang="es-ES_tradnl" sz="1867" b="1" noProof="0" dirty="0">
                <a:latin typeface="Poppins"/>
                <a:ea typeface="Poppins"/>
                <a:cs typeface="Poppins"/>
                <a:sym typeface="Poppins"/>
              </a:rPr>
              <a:t>3  ·  GOBIERNO Y MONITOREO</a:t>
            </a:r>
            <a:endParaRPr lang="es-ES_tradnl" sz="1867" noProof="0" dirty="0"/>
          </a:p>
        </p:txBody>
      </p:sp>
      <p:cxnSp>
        <p:nvCxnSpPr>
          <p:cNvPr id="23" name="Google Shape;323;p43">
            <a:extLst>
              <a:ext uri="{FF2B5EF4-FFF2-40B4-BE49-F238E27FC236}">
                <a16:creationId xmlns:a16="http://schemas.microsoft.com/office/drawing/2014/main" id="{94BF81B5-AD93-6575-8651-63F3C7D467C9}"/>
              </a:ext>
            </a:extLst>
          </p:cNvPr>
          <p:cNvCxnSpPr>
            <a:cxnSpLocks/>
          </p:cNvCxnSpPr>
          <p:nvPr/>
        </p:nvCxnSpPr>
        <p:spPr>
          <a:xfrm>
            <a:off x="8438786" y="6584293"/>
            <a:ext cx="0" cy="1163625"/>
          </a:xfrm>
          <a:prstGeom prst="straightConnector1">
            <a:avLst/>
          </a:prstGeom>
          <a:noFill/>
          <a:ln w="9525" cap="flat" cmpd="sng">
            <a:solidFill>
              <a:schemeClr val="tx1"/>
            </a:solidFill>
            <a:prstDash val="dash"/>
            <a:round/>
            <a:headEnd type="none" w="sm" len="sm"/>
            <a:tailEnd type="none" w="sm" len="sm"/>
          </a:ln>
        </p:spPr>
      </p:cxnSp>
      <p:pic>
        <p:nvPicPr>
          <p:cNvPr id="39" name="Imagen 30" descr="tablero ">
            <a:extLst>
              <a:ext uri="{FF2B5EF4-FFF2-40B4-BE49-F238E27FC236}">
                <a16:creationId xmlns:a16="http://schemas.microsoft.com/office/drawing/2014/main" id="{B21796F6-BEE9-CFB3-9276-F66E54E2FE1A}"/>
              </a:ext>
            </a:extLst>
          </p:cNvPr>
          <p:cNvPicPr>
            <a:picLocks noChangeAspect="1"/>
          </p:cNvPicPr>
          <p:nvPr/>
        </p:nvPicPr>
        <p:blipFill>
          <a:blip r:embed="rId3"/>
          <a:stretch>
            <a:fillRect/>
          </a:stretch>
        </p:blipFill>
        <p:spPr>
          <a:xfrm>
            <a:off x="4699643" y="6064262"/>
            <a:ext cx="407271" cy="407271"/>
          </a:xfrm>
          <a:prstGeom prst="rect">
            <a:avLst/>
          </a:prstGeom>
        </p:spPr>
      </p:pic>
      <p:sp>
        <p:nvSpPr>
          <p:cNvPr id="43" name="Google Shape;317;p43">
            <a:extLst>
              <a:ext uri="{FF2B5EF4-FFF2-40B4-BE49-F238E27FC236}">
                <a16:creationId xmlns:a16="http://schemas.microsoft.com/office/drawing/2014/main" id="{BA5C5D34-8183-97D9-D5A4-786B142AE553}"/>
              </a:ext>
            </a:extLst>
          </p:cNvPr>
          <p:cNvSpPr/>
          <p:nvPr/>
        </p:nvSpPr>
        <p:spPr>
          <a:xfrm>
            <a:off x="4603115" y="7816780"/>
            <a:ext cx="8006418" cy="437200"/>
          </a:xfrm>
          <a:custGeom>
            <a:avLst/>
            <a:gdLst/>
            <a:ahLst/>
            <a:cxnLst/>
            <a:rect l="l" t="t" r="r" b="b"/>
            <a:pathLst>
              <a:path w="8377941" h="536061" extrusionOk="0">
                <a:moveTo>
                  <a:pt x="0" y="0"/>
                </a:moveTo>
                <a:lnTo>
                  <a:pt x="8377941" y="0"/>
                </a:lnTo>
                <a:lnTo>
                  <a:pt x="8286501" y="536061"/>
                </a:lnTo>
                <a:lnTo>
                  <a:pt x="0" y="528441"/>
                </a:lnTo>
                <a:lnTo>
                  <a:pt x="0" y="0"/>
                </a:lnTo>
                <a:close/>
              </a:path>
            </a:pathLst>
          </a:custGeom>
          <a:solidFill>
            <a:srgbClr val="F2F2F2"/>
          </a:solidFill>
          <a:ln w="19050" cap="flat" cmpd="sng">
            <a:solidFill>
              <a:schemeClr val="bg1"/>
            </a:solidFill>
            <a:prstDash val="solid"/>
            <a:round/>
            <a:headEnd type="none" w="sm" len="sm"/>
            <a:tailEnd type="none" w="sm" len="sm"/>
          </a:ln>
        </p:spPr>
        <p:txBody>
          <a:bodyPr spcFirstLastPara="1" wrap="square" lIns="0" tIns="0" rIns="0" bIns="29234" anchor="t" anchorCtr="0">
            <a:noAutofit/>
          </a:bodyPr>
          <a:lstStyle/>
          <a:p>
            <a:pPr defTabSz="1219215">
              <a:buSzPts val="1920"/>
            </a:pPr>
            <a:endParaRPr lang="es-ES_tradnl" sz="2560" b="1" noProof="0" dirty="0">
              <a:latin typeface="Calibri"/>
              <a:ea typeface="Calibri"/>
              <a:cs typeface="Calibri"/>
              <a:sym typeface="Calibri"/>
            </a:endParaRPr>
          </a:p>
        </p:txBody>
      </p:sp>
      <p:sp>
        <p:nvSpPr>
          <p:cNvPr id="44" name="Google Shape;544;p12">
            <a:extLst>
              <a:ext uri="{FF2B5EF4-FFF2-40B4-BE49-F238E27FC236}">
                <a16:creationId xmlns:a16="http://schemas.microsoft.com/office/drawing/2014/main" id="{E9A693CA-8447-5A4D-5A29-33C86F1E2081}"/>
              </a:ext>
            </a:extLst>
          </p:cNvPr>
          <p:cNvSpPr/>
          <p:nvPr/>
        </p:nvSpPr>
        <p:spPr>
          <a:xfrm>
            <a:off x="4603115" y="7778532"/>
            <a:ext cx="7910226" cy="407271"/>
          </a:xfrm>
          <a:prstGeom prst="roundRect">
            <a:avLst>
              <a:gd name="adj" fmla="val 16667"/>
            </a:avLst>
          </a:prstGeom>
          <a:solidFill>
            <a:srgbClr val="F2F2F2"/>
          </a:solidFill>
          <a:ln w="12700" cap="flat" cmpd="sng">
            <a:noFill/>
            <a:prstDash val="solid"/>
            <a:miter lim="80"/>
            <a:headEnd type="none" w="sm" len="sm"/>
            <a:tailEnd type="none" w="sm" len="sm"/>
          </a:ln>
        </p:spPr>
        <p:txBody>
          <a:bodyPr spcFirstLastPara="1" wrap="square" lIns="121900" tIns="60933" rIns="121900" bIns="60933" anchor="ctr" anchorCtr="0">
            <a:noAutofit/>
          </a:bodyPr>
          <a:lstStyle/>
          <a:p>
            <a:pPr algn="ctr" defTabSz="1219215">
              <a:buClr>
                <a:srgbClr val="005F1E"/>
              </a:buClr>
              <a:buSzPts val="1000"/>
            </a:pPr>
            <a:r>
              <a:rPr lang="es-ES_tradnl" sz="1333" noProof="0" dirty="0">
                <a:latin typeface="Poppins"/>
                <a:ea typeface="Poppins"/>
                <a:cs typeface="Poppins"/>
                <a:sym typeface="Poppins"/>
              </a:rPr>
              <a:t>Data </a:t>
            </a:r>
            <a:r>
              <a:rPr lang="es-ES_tradnl" sz="1333" noProof="0" dirty="0" err="1">
                <a:latin typeface="Poppins"/>
                <a:ea typeface="Poppins"/>
                <a:cs typeface="Poppins"/>
                <a:sym typeface="Poppins"/>
              </a:rPr>
              <a:t>product</a:t>
            </a:r>
            <a:r>
              <a:rPr lang="es-ES_tradnl" sz="1333" noProof="0" dirty="0">
                <a:latin typeface="Poppins"/>
                <a:ea typeface="Poppins"/>
                <a:cs typeface="Poppins"/>
                <a:sym typeface="Poppins"/>
              </a:rPr>
              <a:t> de pricing</a:t>
            </a:r>
            <a:endParaRPr lang="es-ES_tradnl" sz="1867" noProof="0" dirty="0"/>
          </a:p>
        </p:txBody>
      </p:sp>
      <p:sp>
        <p:nvSpPr>
          <p:cNvPr id="46" name="Action Button: Forward or Next 121">
            <a:hlinkClick r:id="rId4" action="ppaction://hlinksldjump" highlightClick="1"/>
            <a:extLst>
              <a:ext uri="{FF2B5EF4-FFF2-40B4-BE49-F238E27FC236}">
                <a16:creationId xmlns:a16="http://schemas.microsoft.com/office/drawing/2014/main" id="{FE2BD402-C7A1-66A2-177B-1CF05AFBDF54}"/>
              </a:ext>
            </a:extLst>
          </p:cNvPr>
          <p:cNvSpPr/>
          <p:nvPr/>
        </p:nvSpPr>
        <p:spPr>
          <a:xfrm>
            <a:off x="8561068" y="6062176"/>
            <a:ext cx="230249" cy="206772"/>
          </a:xfrm>
          <a:prstGeom prst="actionButtonForwardNex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2489" noProof="0" dirty="0">
              <a:solidFill>
                <a:srgbClr val="000000"/>
              </a:solidFill>
            </a:endParaRPr>
          </a:p>
        </p:txBody>
      </p:sp>
      <p:sp>
        <p:nvSpPr>
          <p:cNvPr id="48" name="Google Shape;167;g3ed063acbfe_1_0">
            <a:extLst>
              <a:ext uri="{FF2B5EF4-FFF2-40B4-BE49-F238E27FC236}">
                <a16:creationId xmlns:a16="http://schemas.microsoft.com/office/drawing/2014/main" id="{4227B23D-F7CD-4D9D-DEB2-2209BE444E7B}"/>
              </a:ext>
            </a:extLst>
          </p:cNvPr>
          <p:cNvSpPr txBox="1"/>
          <p:nvPr/>
        </p:nvSpPr>
        <p:spPr>
          <a:xfrm>
            <a:off x="298027" y="376124"/>
            <a:ext cx="13824856"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Ecosistema de pricing, visión cliente 360°, para la gestión del precio </a:t>
            </a:r>
          </a:p>
        </p:txBody>
      </p:sp>
      <p:sp>
        <p:nvSpPr>
          <p:cNvPr id="49" name="Rectangle 48">
            <a:extLst>
              <a:ext uri="{FF2B5EF4-FFF2-40B4-BE49-F238E27FC236}">
                <a16:creationId xmlns:a16="http://schemas.microsoft.com/office/drawing/2014/main" id="{70403962-DA82-C031-D341-06A1884749BA}"/>
              </a:ext>
            </a:extLst>
          </p:cNvPr>
          <p:cNvSpPr/>
          <p:nvPr/>
        </p:nvSpPr>
        <p:spPr>
          <a:xfrm>
            <a:off x="298027" y="1519125"/>
            <a:ext cx="13453832" cy="7069063"/>
          </a:xfrm>
          <a:prstGeom prst="rect">
            <a:avLst/>
          </a:prstGeom>
          <a:solidFill>
            <a:srgbClr val="FFFFFF">
              <a:alpha val="61569"/>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0" name="Google Shape;306;p43">
            <a:extLst>
              <a:ext uri="{FF2B5EF4-FFF2-40B4-BE49-F238E27FC236}">
                <a16:creationId xmlns:a16="http://schemas.microsoft.com/office/drawing/2014/main" id="{762D741C-011B-A18D-7D5A-75F6B535A5AF}"/>
              </a:ext>
            </a:extLst>
          </p:cNvPr>
          <p:cNvSpPr/>
          <p:nvPr/>
        </p:nvSpPr>
        <p:spPr>
          <a:xfrm rot="10800000" flipH="1">
            <a:off x="4563728" y="2473116"/>
            <a:ext cx="8628389" cy="3261621"/>
          </a:xfrm>
          <a:custGeom>
            <a:avLst/>
            <a:gdLst/>
            <a:ahLst/>
            <a:cxnLst/>
            <a:rect l="l" t="t" r="r" b="b"/>
            <a:pathLst>
              <a:path w="1828800" h="457200" extrusionOk="0">
                <a:moveTo>
                  <a:pt x="0" y="0"/>
                </a:moveTo>
                <a:lnTo>
                  <a:pt x="1828800" y="0"/>
                </a:lnTo>
                <a:lnTo>
                  <a:pt x="1684668" y="452277"/>
                </a:lnTo>
                <a:lnTo>
                  <a:pt x="0" y="457200"/>
                </a:lnTo>
                <a:lnTo>
                  <a:pt x="0" y="0"/>
                </a:lnTo>
                <a:close/>
              </a:path>
            </a:pathLst>
          </a:custGeom>
          <a:solidFill>
            <a:schemeClr val="accent2"/>
          </a:solidFill>
          <a:ln w="1905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defTabSz="1219215">
              <a:buClrTx/>
              <a:buSzPts val="1800"/>
              <a:defRPr/>
            </a:pPr>
            <a:endParaRPr lang="es-ES_tradnl" sz="2400" noProof="0" dirty="0">
              <a:latin typeface="Calibri"/>
              <a:ea typeface="Calibri"/>
              <a:cs typeface="Calibri"/>
              <a:sym typeface="Calibri"/>
            </a:endParaRPr>
          </a:p>
        </p:txBody>
      </p:sp>
      <p:sp>
        <p:nvSpPr>
          <p:cNvPr id="51" name="Google Shape;307;p43">
            <a:extLst>
              <a:ext uri="{FF2B5EF4-FFF2-40B4-BE49-F238E27FC236}">
                <a16:creationId xmlns:a16="http://schemas.microsoft.com/office/drawing/2014/main" id="{8EBAFE7C-D64A-B694-D5C8-E184D5857F9B}"/>
              </a:ext>
            </a:extLst>
          </p:cNvPr>
          <p:cNvSpPr/>
          <p:nvPr/>
        </p:nvSpPr>
        <p:spPr>
          <a:xfrm>
            <a:off x="5116227" y="2597557"/>
            <a:ext cx="6784400" cy="538800"/>
          </a:xfrm>
          <a:prstGeom prst="roundRect">
            <a:avLst>
              <a:gd name="adj" fmla="val 16667"/>
            </a:avLst>
          </a:prstGeom>
          <a:noFill/>
          <a:ln>
            <a:noFill/>
          </a:ln>
        </p:spPr>
        <p:txBody>
          <a:bodyPr spcFirstLastPara="1" wrap="square" lIns="60933" tIns="36567" rIns="60933" bIns="36567" anchor="ctr" anchorCtr="0">
            <a:noAutofit/>
          </a:bodyPr>
          <a:lstStyle/>
          <a:p>
            <a:pPr defTabSz="1219215">
              <a:buClrTx/>
              <a:defRPr/>
            </a:pPr>
            <a:r>
              <a:rPr lang="es-ES_tradnl" sz="1867" b="1" noProof="0" dirty="0">
                <a:latin typeface="Poppins"/>
                <a:ea typeface="Poppins"/>
                <a:cs typeface="Poppins"/>
                <a:sym typeface="Poppins"/>
              </a:rPr>
              <a:t>2  ·  RECOMENDACIÓN Y REALIZACIÓN DE PRECIOS</a:t>
            </a:r>
            <a:endParaRPr lang="es-ES_tradnl" sz="1867" noProof="0" dirty="0"/>
          </a:p>
        </p:txBody>
      </p:sp>
      <p:sp>
        <p:nvSpPr>
          <p:cNvPr id="52" name="Google Shape;310;p43">
            <a:extLst>
              <a:ext uri="{FF2B5EF4-FFF2-40B4-BE49-F238E27FC236}">
                <a16:creationId xmlns:a16="http://schemas.microsoft.com/office/drawing/2014/main" id="{43D2B57C-EFC8-F7C9-A139-529D4A98FAE3}"/>
              </a:ext>
            </a:extLst>
          </p:cNvPr>
          <p:cNvSpPr/>
          <p:nvPr/>
        </p:nvSpPr>
        <p:spPr>
          <a:xfrm>
            <a:off x="5235540" y="3154565"/>
            <a:ext cx="4176000" cy="4892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Recomendación de precios</a:t>
            </a:r>
            <a:endParaRPr lang="es-ES_tradnl" sz="1778" noProof="0" dirty="0"/>
          </a:p>
        </p:txBody>
      </p:sp>
      <p:sp>
        <p:nvSpPr>
          <p:cNvPr id="55" name="Google Shape;311;p43">
            <a:extLst>
              <a:ext uri="{FF2B5EF4-FFF2-40B4-BE49-F238E27FC236}">
                <a16:creationId xmlns:a16="http://schemas.microsoft.com/office/drawing/2014/main" id="{45A65808-4D6A-28D6-D133-6705EE739BC6}"/>
              </a:ext>
            </a:extLst>
          </p:cNvPr>
          <p:cNvSpPr/>
          <p:nvPr/>
        </p:nvSpPr>
        <p:spPr>
          <a:xfrm>
            <a:off x="10382901" y="3260798"/>
            <a:ext cx="2284638" cy="4892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Realización de precios</a:t>
            </a:r>
            <a:endParaRPr lang="es-ES_tradnl" sz="1778" noProof="0" dirty="0"/>
          </a:p>
        </p:txBody>
      </p:sp>
      <p:cxnSp>
        <p:nvCxnSpPr>
          <p:cNvPr id="57" name="Google Shape;323;p43">
            <a:extLst>
              <a:ext uri="{FF2B5EF4-FFF2-40B4-BE49-F238E27FC236}">
                <a16:creationId xmlns:a16="http://schemas.microsoft.com/office/drawing/2014/main" id="{FC354C98-A81C-A000-0F85-1C0F8BC57AFE}"/>
              </a:ext>
            </a:extLst>
          </p:cNvPr>
          <p:cNvCxnSpPr>
            <a:cxnSpLocks/>
          </p:cNvCxnSpPr>
          <p:nvPr/>
        </p:nvCxnSpPr>
        <p:spPr>
          <a:xfrm>
            <a:off x="9718009" y="3215723"/>
            <a:ext cx="0" cy="2211262"/>
          </a:xfrm>
          <a:prstGeom prst="straightConnector1">
            <a:avLst/>
          </a:prstGeom>
          <a:noFill/>
          <a:ln w="9525" cap="flat" cmpd="sng">
            <a:solidFill>
              <a:schemeClr val="tx1"/>
            </a:solidFill>
            <a:prstDash val="dash"/>
            <a:round/>
            <a:headEnd type="none" w="sm" len="sm"/>
            <a:tailEnd type="none" w="sm" len="sm"/>
          </a:ln>
        </p:spPr>
      </p:cxnSp>
      <p:sp>
        <p:nvSpPr>
          <p:cNvPr id="58" name="Google Shape;329;p43">
            <a:extLst>
              <a:ext uri="{FF2B5EF4-FFF2-40B4-BE49-F238E27FC236}">
                <a16:creationId xmlns:a16="http://schemas.microsoft.com/office/drawing/2014/main" id="{E8DD6809-CD99-D027-2215-C4E8B9A01974}"/>
              </a:ext>
            </a:extLst>
          </p:cNvPr>
          <p:cNvSpPr/>
          <p:nvPr/>
        </p:nvSpPr>
        <p:spPr>
          <a:xfrm>
            <a:off x="4361937" y="4156347"/>
            <a:ext cx="2632220" cy="1440343"/>
          </a:xfrm>
          <a:prstGeom prst="roundRect">
            <a:avLst>
              <a:gd name="adj" fmla="val 16667"/>
            </a:avLst>
          </a:prstGeom>
          <a:noFill/>
          <a:ln>
            <a:noFill/>
          </a:ln>
        </p:spPr>
        <p:txBody>
          <a:bodyPr spcFirstLastPara="1" wrap="square" lIns="121900" tIns="60933" rIns="121900" bIns="60933" anchor="ctr" anchorCtr="0">
            <a:noAutofit/>
          </a:bodyPr>
          <a:lstStyle/>
          <a:p>
            <a:pPr marL="609608" indent="-389472" defTabSz="1219215">
              <a:buClr>
                <a:schemeClr val="tx1"/>
              </a:buClr>
              <a:buSzPts val="1000"/>
              <a:buFont typeface="Poppins"/>
              <a:buChar char="●"/>
            </a:pPr>
            <a:r>
              <a:rPr lang="es-ES_tradnl" sz="1333" noProof="0" dirty="0">
                <a:latin typeface="Poppins"/>
                <a:ea typeface="Poppins"/>
                <a:cs typeface="Poppins"/>
                <a:sym typeface="Poppins"/>
              </a:rPr>
              <a:t>Herramienta CLV 0.5 y 1.0 </a:t>
            </a:r>
            <a:r>
              <a:rPr lang="es-ES_tradnl" sz="1067" noProof="0" dirty="0">
                <a:latin typeface="Poppins"/>
                <a:ea typeface="Poppins"/>
                <a:cs typeface="Poppins"/>
                <a:sym typeface="Poppins"/>
              </a:rPr>
              <a:t>(curvas </a:t>
            </a:r>
            <a:r>
              <a:rPr lang="es-ES_tradnl" sz="1067" noProof="0" dirty="0" err="1">
                <a:latin typeface="Poppins"/>
                <a:ea typeface="Poppins"/>
                <a:cs typeface="Poppins"/>
                <a:sym typeface="Poppins"/>
              </a:rPr>
              <a:t>lifetime</a:t>
            </a:r>
            <a:r>
              <a:rPr lang="es-ES_tradnl" sz="1067" noProof="0" dirty="0">
                <a:latin typeface="Poppins"/>
                <a:ea typeface="Poppins"/>
                <a:cs typeface="Poppins"/>
                <a:sym typeface="Poppins"/>
              </a:rPr>
              <a:t> de prepagos, cancelaciones, LGD, PD &amp; componente de capital)</a:t>
            </a:r>
          </a:p>
        </p:txBody>
      </p:sp>
      <p:sp>
        <p:nvSpPr>
          <p:cNvPr id="60" name="Google Shape;330;p43">
            <a:extLst>
              <a:ext uri="{FF2B5EF4-FFF2-40B4-BE49-F238E27FC236}">
                <a16:creationId xmlns:a16="http://schemas.microsoft.com/office/drawing/2014/main" id="{3A91CD1C-C300-1406-2216-BDD73DE8E52D}"/>
              </a:ext>
            </a:extLst>
          </p:cNvPr>
          <p:cNvSpPr/>
          <p:nvPr/>
        </p:nvSpPr>
        <p:spPr>
          <a:xfrm>
            <a:off x="9563210" y="4138138"/>
            <a:ext cx="2871362" cy="1422800"/>
          </a:xfrm>
          <a:prstGeom prst="roundRect">
            <a:avLst>
              <a:gd name="adj" fmla="val 16667"/>
            </a:avLst>
          </a:prstGeom>
          <a:noFill/>
          <a:ln>
            <a:noFill/>
          </a:ln>
        </p:spPr>
        <p:txBody>
          <a:bodyPr spcFirstLastPara="1" wrap="square" lIns="121900" tIns="60933" rIns="121900" bIns="60933" anchor="t" anchorCtr="0">
            <a:noAutofit/>
          </a:bodyPr>
          <a:lstStyle/>
          <a:p>
            <a:pPr marL="609608" lvl="1" indent="-389472" defTabSz="1219215">
              <a:buClr>
                <a:schemeClr val="tx1"/>
              </a:buClr>
              <a:buSzPts val="1000"/>
              <a:buFont typeface="Poppins"/>
              <a:buChar char="●"/>
            </a:pPr>
            <a:r>
              <a:rPr lang="es-ES_tradnl" sz="1333" noProof="0" dirty="0">
                <a:latin typeface="Poppins"/>
                <a:ea typeface="Poppins"/>
                <a:cs typeface="Poppins"/>
                <a:sym typeface="Poppins"/>
              </a:rPr>
              <a:t>Gestión de excepciones (workshops e iniciativas tácticas)</a:t>
            </a:r>
          </a:p>
        </p:txBody>
      </p:sp>
      <p:sp>
        <p:nvSpPr>
          <p:cNvPr id="61" name="Rounded Rectangle 60">
            <a:extLst>
              <a:ext uri="{FF2B5EF4-FFF2-40B4-BE49-F238E27FC236}">
                <a16:creationId xmlns:a16="http://schemas.microsoft.com/office/drawing/2014/main" id="{18FA7E71-EF30-41B4-B36C-3F71C8ACB4E5}"/>
              </a:ext>
            </a:extLst>
          </p:cNvPr>
          <p:cNvSpPr/>
          <p:nvPr/>
        </p:nvSpPr>
        <p:spPr>
          <a:xfrm>
            <a:off x="4646555" y="3810465"/>
            <a:ext cx="2225829" cy="217465"/>
          </a:xfrm>
          <a:prstGeom prst="roundRect">
            <a:avLst>
              <a:gd name="adj" fmla="val 11012"/>
            </a:avLst>
          </a:prstGeom>
          <a:solidFill>
            <a:srgbClr val="06B050"/>
          </a:solidFill>
          <a:ln w="25400" cap="flat" cmpd="sng" algn="ctr">
            <a:noFill/>
            <a:prstDash val="solid"/>
          </a:ln>
          <a:effectLst/>
        </p:spPr>
        <p:txBody>
          <a:bodyPr rtlCol="0" anchor="ctr"/>
          <a:lstStyle/>
          <a:p>
            <a:pPr algn="ctr" defTabSz="1219215">
              <a:buClrTx/>
              <a:defRPr/>
            </a:pPr>
            <a:r>
              <a:rPr lang="es-ES_tradnl" sz="1244" noProof="0" dirty="0" err="1">
                <a:solidFill>
                  <a:schemeClr val="bg1"/>
                </a:solidFill>
                <a:ea typeface="+mn-ea"/>
                <a:cs typeface="+mn-cs"/>
              </a:rPr>
              <a:t>Profitability</a:t>
            </a:r>
            <a:r>
              <a:rPr lang="es-ES_tradnl" sz="1244" noProof="0" dirty="0">
                <a:solidFill>
                  <a:schemeClr val="bg1"/>
                </a:solidFill>
                <a:ea typeface="+mn-ea"/>
                <a:cs typeface="+mn-cs"/>
              </a:rPr>
              <a:t> Based Pricing</a:t>
            </a:r>
          </a:p>
        </p:txBody>
      </p:sp>
      <p:sp>
        <p:nvSpPr>
          <p:cNvPr id="64" name="Google Shape;329;p43">
            <a:extLst>
              <a:ext uri="{FF2B5EF4-FFF2-40B4-BE49-F238E27FC236}">
                <a16:creationId xmlns:a16="http://schemas.microsoft.com/office/drawing/2014/main" id="{C9E43A02-0133-C824-E06F-52475E7835BF}"/>
              </a:ext>
            </a:extLst>
          </p:cNvPr>
          <p:cNvSpPr/>
          <p:nvPr/>
        </p:nvSpPr>
        <p:spPr>
          <a:xfrm>
            <a:off x="6586596" y="4156346"/>
            <a:ext cx="3296615" cy="1158983"/>
          </a:xfrm>
          <a:prstGeom prst="roundRect">
            <a:avLst>
              <a:gd name="adj" fmla="val 16667"/>
            </a:avLst>
          </a:prstGeom>
          <a:noFill/>
          <a:ln>
            <a:noFill/>
          </a:ln>
        </p:spPr>
        <p:txBody>
          <a:bodyPr spcFirstLastPara="1" wrap="square" lIns="121900" tIns="60933" rIns="121900" bIns="60933" anchor="t" anchorCtr="0">
            <a:noAutofit/>
          </a:bodyPr>
          <a:lstStyle/>
          <a:p>
            <a:pPr marL="609608" indent="-389472" defTabSz="1219215">
              <a:buClr>
                <a:schemeClr val="tx1"/>
              </a:buClr>
              <a:buSzPts val="1000"/>
              <a:buFont typeface="Poppins"/>
              <a:buChar char="●"/>
            </a:pPr>
            <a:r>
              <a:rPr lang="es-ES_tradnl" sz="1333" noProof="0" dirty="0" err="1">
                <a:latin typeface="Poppins"/>
                <a:ea typeface="Poppins"/>
                <a:cs typeface="Poppins"/>
                <a:sym typeface="Poppins"/>
              </a:rPr>
              <a:t>Clusterización</a:t>
            </a:r>
            <a:r>
              <a:rPr lang="es-ES_tradnl" sz="1333" noProof="0" dirty="0">
                <a:latin typeface="Poppins"/>
                <a:ea typeface="Poppins"/>
                <a:cs typeface="Poppins"/>
                <a:sym typeface="Poppins"/>
              </a:rPr>
              <a:t> data-</a:t>
            </a:r>
            <a:r>
              <a:rPr lang="es-ES_tradnl" sz="1333" noProof="0" dirty="0" err="1">
                <a:latin typeface="Poppins"/>
                <a:ea typeface="Poppins"/>
                <a:cs typeface="Poppins"/>
                <a:sym typeface="Poppins"/>
              </a:rPr>
              <a:t>driven</a:t>
            </a:r>
            <a:endParaRPr lang="es-ES_tradnl" sz="1333" noProof="0" dirty="0">
              <a:latin typeface="Poppins"/>
              <a:ea typeface="Poppins"/>
              <a:cs typeface="Poppins"/>
              <a:sym typeface="Poppins"/>
            </a:endParaRP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Módulo de tasa de la competencia</a:t>
            </a: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Sensibilidad al precio</a:t>
            </a: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MFA del cliente</a:t>
            </a:r>
          </a:p>
        </p:txBody>
      </p:sp>
      <p:sp>
        <p:nvSpPr>
          <p:cNvPr id="65" name="Rounded Rectangle 64">
            <a:extLst>
              <a:ext uri="{FF2B5EF4-FFF2-40B4-BE49-F238E27FC236}">
                <a16:creationId xmlns:a16="http://schemas.microsoft.com/office/drawing/2014/main" id="{DABD1E76-83F6-AB19-420A-8ACCA46E4CD7}"/>
              </a:ext>
            </a:extLst>
          </p:cNvPr>
          <p:cNvSpPr/>
          <p:nvPr/>
        </p:nvSpPr>
        <p:spPr>
          <a:xfrm>
            <a:off x="6924523" y="3810465"/>
            <a:ext cx="2632220" cy="217465"/>
          </a:xfrm>
          <a:prstGeom prst="roundRect">
            <a:avLst>
              <a:gd name="adj" fmla="val 11012"/>
            </a:avLst>
          </a:prstGeom>
          <a:solidFill>
            <a:srgbClr val="06B050"/>
          </a:solidFill>
          <a:ln w="25400" cap="flat" cmpd="sng" algn="ctr">
            <a:noFill/>
            <a:prstDash val="solid"/>
          </a:ln>
          <a:effectLst/>
        </p:spPr>
        <p:txBody>
          <a:bodyPr rtlCol="0" anchor="ctr"/>
          <a:lstStyle/>
          <a:p>
            <a:pPr algn="ctr" defTabSz="1219215">
              <a:buClrTx/>
              <a:defRPr/>
            </a:pPr>
            <a:r>
              <a:rPr lang="es-ES_tradnl" sz="1244" noProof="0" dirty="0">
                <a:solidFill>
                  <a:schemeClr val="bg1"/>
                </a:solidFill>
                <a:ea typeface="+mn-ea"/>
                <a:cs typeface="+mn-cs"/>
              </a:rPr>
              <a:t>Módulo comercial</a:t>
            </a:r>
          </a:p>
        </p:txBody>
      </p:sp>
      <p:sp>
        <p:nvSpPr>
          <p:cNvPr id="66" name="Google Shape;317;p43">
            <a:extLst>
              <a:ext uri="{FF2B5EF4-FFF2-40B4-BE49-F238E27FC236}">
                <a16:creationId xmlns:a16="http://schemas.microsoft.com/office/drawing/2014/main" id="{1F97C2BE-9030-B569-9EFA-2E79D4289605}"/>
              </a:ext>
            </a:extLst>
          </p:cNvPr>
          <p:cNvSpPr/>
          <p:nvPr/>
        </p:nvSpPr>
        <p:spPr>
          <a:xfrm flipV="1">
            <a:off x="4563729" y="1870188"/>
            <a:ext cx="7870837" cy="548028"/>
          </a:xfrm>
          <a:custGeom>
            <a:avLst/>
            <a:gdLst/>
            <a:ahLst/>
            <a:cxnLst/>
            <a:rect l="l" t="t" r="r" b="b"/>
            <a:pathLst>
              <a:path w="8377941" h="536061" extrusionOk="0">
                <a:moveTo>
                  <a:pt x="0" y="0"/>
                </a:moveTo>
                <a:lnTo>
                  <a:pt x="8377941" y="0"/>
                </a:lnTo>
                <a:lnTo>
                  <a:pt x="8286501" y="536061"/>
                </a:lnTo>
                <a:lnTo>
                  <a:pt x="0" y="528441"/>
                </a:lnTo>
                <a:lnTo>
                  <a:pt x="0" y="0"/>
                </a:lnTo>
                <a:close/>
              </a:path>
            </a:pathLst>
          </a:custGeom>
          <a:solidFill>
            <a:srgbClr val="3C9B96"/>
          </a:solidFill>
          <a:ln w="19050" cap="flat" cmpd="sng">
            <a:solidFill>
              <a:srgbClr val="06B050"/>
            </a:solidFill>
            <a:prstDash val="solid"/>
            <a:round/>
            <a:headEnd type="none" w="sm" len="sm"/>
            <a:tailEnd type="none" w="sm" len="sm"/>
          </a:ln>
        </p:spPr>
        <p:txBody>
          <a:bodyPr spcFirstLastPara="1" wrap="square" lIns="0" tIns="0" rIns="0" bIns="29234" anchor="t" anchorCtr="0">
            <a:noAutofit/>
          </a:bodyPr>
          <a:lstStyle/>
          <a:p>
            <a:pPr defTabSz="1219215">
              <a:buSzPts val="1920"/>
            </a:pPr>
            <a:endParaRPr lang="es-ES_tradnl" sz="2560" b="1" noProof="0" dirty="0">
              <a:solidFill>
                <a:srgbClr val="FFC000"/>
              </a:solidFill>
              <a:latin typeface="Calibri"/>
              <a:ea typeface="Calibri"/>
              <a:cs typeface="Calibri"/>
              <a:sym typeface="Calibri"/>
            </a:endParaRPr>
          </a:p>
        </p:txBody>
      </p:sp>
      <p:sp>
        <p:nvSpPr>
          <p:cNvPr id="67" name="Rounded Rectangle 66">
            <a:extLst>
              <a:ext uri="{FF2B5EF4-FFF2-40B4-BE49-F238E27FC236}">
                <a16:creationId xmlns:a16="http://schemas.microsoft.com/office/drawing/2014/main" id="{24F6C82B-C2F0-489C-5C99-A7569D7B82A2}"/>
              </a:ext>
            </a:extLst>
          </p:cNvPr>
          <p:cNvSpPr/>
          <p:nvPr/>
        </p:nvSpPr>
        <p:spPr>
          <a:xfrm>
            <a:off x="5871015" y="2037613"/>
            <a:ext cx="4415557" cy="268896"/>
          </a:xfrm>
          <a:prstGeom prst="roundRect">
            <a:avLst>
              <a:gd name="adj" fmla="val 11012"/>
            </a:avLst>
          </a:prstGeom>
          <a:solidFill>
            <a:srgbClr val="3C9B96"/>
          </a:solidFill>
          <a:ln w="25400" cap="flat" cmpd="sng" algn="ctr">
            <a:noFill/>
            <a:prstDash val="solid"/>
          </a:ln>
          <a:effectLst/>
        </p:spPr>
        <p:txBody>
          <a:bodyPr lIns="162560" tIns="81280" rIns="162560" bIns="81280" rtlCol="0" anchor="ctr"/>
          <a:lstStyle/>
          <a:p>
            <a:pPr algn="ctr" defTabSz="1219215">
              <a:buClrTx/>
              <a:defRPr/>
            </a:pPr>
            <a:r>
              <a:rPr lang="es-ES_tradnl" sz="1867" b="1" noProof="0" dirty="0">
                <a:solidFill>
                  <a:srgbClr val="FFFFFF"/>
                </a:solidFill>
                <a:ea typeface="+mn-ea"/>
                <a:cs typeface="+mn-cs"/>
              </a:rPr>
              <a:t>Herramienta </a:t>
            </a:r>
            <a:r>
              <a:rPr lang="es-ES_tradnl" sz="1867" b="1" noProof="0" dirty="0" err="1">
                <a:solidFill>
                  <a:srgbClr val="FFFFFF"/>
                </a:solidFill>
                <a:ea typeface="+mn-ea"/>
                <a:cs typeface="+mn-cs"/>
              </a:rPr>
              <a:t>PricingSmart</a:t>
            </a:r>
            <a:r>
              <a:rPr lang="es-ES_tradnl" sz="1867" b="1" noProof="0" dirty="0">
                <a:solidFill>
                  <a:srgbClr val="FFFFFF"/>
                </a:solidFill>
                <a:ea typeface="+mn-ea"/>
                <a:cs typeface="+mn-cs"/>
              </a:rPr>
              <a:t> 360 Light</a:t>
            </a:r>
          </a:p>
        </p:txBody>
      </p:sp>
      <p:pic>
        <p:nvPicPr>
          <p:cNvPr id="68" name="Imagen 28" descr="mejor precio ">
            <a:extLst>
              <a:ext uri="{FF2B5EF4-FFF2-40B4-BE49-F238E27FC236}">
                <a16:creationId xmlns:a16="http://schemas.microsoft.com/office/drawing/2014/main" id="{913387F7-BEAE-6204-0EB7-53B36ADF2DB6}"/>
              </a:ext>
            </a:extLst>
          </p:cNvPr>
          <p:cNvPicPr>
            <a:picLocks noChangeAspect="1"/>
          </p:cNvPicPr>
          <p:nvPr/>
        </p:nvPicPr>
        <p:blipFill>
          <a:blip r:embed="rId5"/>
          <a:stretch>
            <a:fillRect/>
          </a:stretch>
        </p:blipFill>
        <p:spPr>
          <a:xfrm>
            <a:off x="4664729" y="3223337"/>
            <a:ext cx="416012" cy="416012"/>
          </a:xfrm>
          <a:prstGeom prst="rect">
            <a:avLst/>
          </a:prstGeom>
        </p:spPr>
      </p:pic>
      <p:pic>
        <p:nvPicPr>
          <p:cNvPr id="70" name="Imagen 29" descr="cumplimiento del proyecto ">
            <a:extLst>
              <a:ext uri="{FF2B5EF4-FFF2-40B4-BE49-F238E27FC236}">
                <a16:creationId xmlns:a16="http://schemas.microsoft.com/office/drawing/2014/main" id="{D270D086-104D-F4F5-E3A8-AE1513D15092}"/>
              </a:ext>
            </a:extLst>
          </p:cNvPr>
          <p:cNvPicPr>
            <a:picLocks noChangeAspect="1"/>
          </p:cNvPicPr>
          <p:nvPr/>
        </p:nvPicPr>
        <p:blipFill>
          <a:blip r:embed="rId6"/>
          <a:stretch>
            <a:fillRect/>
          </a:stretch>
        </p:blipFill>
        <p:spPr>
          <a:xfrm>
            <a:off x="9872812" y="3281370"/>
            <a:ext cx="430356" cy="430356"/>
          </a:xfrm>
          <a:prstGeom prst="rect">
            <a:avLst/>
          </a:prstGeom>
        </p:spPr>
      </p:pic>
      <p:pic>
        <p:nvPicPr>
          <p:cNvPr id="72" name="Imagen 29" descr="cumplimiento del proyecto ">
            <a:extLst>
              <a:ext uri="{FF2B5EF4-FFF2-40B4-BE49-F238E27FC236}">
                <a16:creationId xmlns:a16="http://schemas.microsoft.com/office/drawing/2014/main" id="{CFDC8DFD-057B-C8A6-0EA9-2F7B1CA2240F}"/>
              </a:ext>
            </a:extLst>
          </p:cNvPr>
          <p:cNvPicPr>
            <a:picLocks noChangeAspect="1"/>
          </p:cNvPicPr>
          <p:nvPr/>
        </p:nvPicPr>
        <p:blipFill>
          <a:blip r:embed="rId6"/>
          <a:stretch>
            <a:fillRect/>
          </a:stretch>
        </p:blipFill>
        <p:spPr>
          <a:xfrm>
            <a:off x="4904368" y="2752514"/>
            <a:ext cx="202546" cy="202546"/>
          </a:xfrm>
          <a:prstGeom prst="rect">
            <a:avLst/>
          </a:prstGeom>
        </p:spPr>
      </p:pic>
      <p:sp>
        <p:nvSpPr>
          <p:cNvPr id="76" name="Google Shape;316;p43">
            <a:extLst>
              <a:ext uri="{FF2B5EF4-FFF2-40B4-BE49-F238E27FC236}">
                <a16:creationId xmlns:a16="http://schemas.microsoft.com/office/drawing/2014/main" id="{FED9B4CD-C580-2384-957F-3E51B4665006}"/>
              </a:ext>
            </a:extLst>
          </p:cNvPr>
          <p:cNvSpPr/>
          <p:nvPr/>
        </p:nvSpPr>
        <p:spPr>
          <a:xfrm>
            <a:off x="12894516" y="4728116"/>
            <a:ext cx="2201333" cy="406400"/>
          </a:xfrm>
          <a:prstGeom prst="rect">
            <a:avLst/>
          </a:prstGeom>
          <a:noFill/>
          <a:ln>
            <a:noFill/>
          </a:ln>
        </p:spPr>
        <p:txBody>
          <a:bodyPr spcFirstLastPara="1" wrap="square" lIns="60933" tIns="36567" rIns="60933" bIns="36567" anchor="t" anchorCtr="0">
            <a:noAutofit/>
          </a:bodyPr>
          <a:lstStyle/>
          <a:p>
            <a:pPr algn="ctr" defTabSz="1219215"/>
            <a:r>
              <a:rPr lang="es-ES_tradnl" sz="2400" b="1" noProof="0" dirty="0">
                <a:solidFill>
                  <a:schemeClr val="tx1"/>
                </a:solidFill>
                <a:latin typeface="Poppins"/>
                <a:ea typeface="Poppins"/>
                <a:cs typeface="Poppins"/>
                <a:sym typeface="Poppins"/>
              </a:rPr>
              <a:t>VALOR</a:t>
            </a:r>
            <a:endParaRPr lang="es-ES_tradnl" sz="1867" noProof="0" dirty="0">
              <a:solidFill>
                <a:schemeClr val="tx1"/>
              </a:solidFill>
            </a:endParaRPr>
          </a:p>
        </p:txBody>
      </p:sp>
      <p:pic>
        <p:nvPicPr>
          <p:cNvPr id="77" name="Picture 76">
            <a:extLst>
              <a:ext uri="{FF2B5EF4-FFF2-40B4-BE49-F238E27FC236}">
                <a16:creationId xmlns:a16="http://schemas.microsoft.com/office/drawing/2014/main" id="{6EAA291E-129A-9017-40DC-8E99B730E20B}"/>
              </a:ext>
            </a:extLst>
          </p:cNvPr>
          <p:cNvPicPr>
            <a:picLocks noChangeAspect="1"/>
          </p:cNvPicPr>
          <p:nvPr/>
        </p:nvPicPr>
        <p:blipFill>
          <a:blip r:embed="rId7">
            <a:clrChange>
              <a:clrFrom>
                <a:srgbClr val="F7F7F7"/>
              </a:clrFrom>
              <a:clrTo>
                <a:srgbClr val="F7F7F7">
                  <a:alpha val="0"/>
                </a:srgbClr>
              </a:clrTo>
            </a:clrChange>
          </a:blip>
          <a:stretch>
            <a:fillRect/>
          </a:stretch>
        </p:blipFill>
        <p:spPr>
          <a:xfrm>
            <a:off x="13424397" y="5147411"/>
            <a:ext cx="1125998" cy="1057186"/>
          </a:xfrm>
          <a:prstGeom prst="rect">
            <a:avLst/>
          </a:prstGeom>
        </p:spPr>
      </p:pic>
      <p:sp>
        <p:nvSpPr>
          <p:cNvPr id="2" name="Google Shape;309;p43">
            <a:extLst>
              <a:ext uri="{FF2B5EF4-FFF2-40B4-BE49-F238E27FC236}">
                <a16:creationId xmlns:a16="http://schemas.microsoft.com/office/drawing/2014/main" id="{B8DF9306-ADDB-3569-94F9-C24C26CA766E}"/>
              </a:ext>
            </a:extLst>
          </p:cNvPr>
          <p:cNvSpPr/>
          <p:nvPr/>
        </p:nvSpPr>
        <p:spPr>
          <a:xfrm>
            <a:off x="1854393" y="1870188"/>
            <a:ext cx="2629600" cy="6419202"/>
          </a:xfrm>
          <a:prstGeom prst="rect">
            <a:avLst/>
          </a:prstGeom>
          <a:solidFill>
            <a:schemeClr val="bg1">
              <a:lumMod val="50000"/>
            </a:schemeClr>
          </a:solidFill>
          <a:ln>
            <a:noFill/>
          </a:ln>
        </p:spPr>
        <p:txBody>
          <a:bodyPr spcFirstLastPara="1" wrap="square" lIns="60933" tIns="36567" rIns="60933" bIns="36567" anchor="t" anchorCtr="0">
            <a:noAutofit/>
          </a:bodyPr>
          <a:lstStyle/>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r>
              <a:rPr lang="es-ES_tradnl" sz="1867" b="1" noProof="0" dirty="0">
                <a:solidFill>
                  <a:srgbClr val="FFFFFF"/>
                </a:solidFill>
                <a:latin typeface="Poppins"/>
                <a:ea typeface="Poppins"/>
                <a:cs typeface="Poppins"/>
                <a:sym typeface="Poppins"/>
              </a:rPr>
              <a:t>1  ·  ESTRATEGIA DE PRICING</a:t>
            </a:r>
            <a:endParaRPr lang="es-ES_tradnl" sz="1867" noProof="0" dirty="0">
              <a:solidFill>
                <a:sysClr val="windowText" lastClr="000000"/>
              </a:solidFill>
            </a:endParaRPr>
          </a:p>
          <a:p>
            <a:pPr defTabSz="1219215">
              <a:buClrTx/>
              <a:defRPr/>
            </a:pPr>
            <a:r>
              <a:rPr lang="es-ES_tradnl" sz="800" noProof="0" dirty="0">
                <a:solidFill>
                  <a:srgbClr val="FFFFFF"/>
                </a:solidFill>
                <a:latin typeface="Poppins"/>
                <a:ea typeface="Poppins"/>
                <a:cs typeface="Poppins"/>
                <a:sym typeface="Poppins"/>
              </a:rPr>
              <a:t> </a:t>
            </a:r>
            <a:endParaRPr lang="es-ES_tradnl" sz="1867" noProof="0" dirty="0">
              <a:solidFill>
                <a:sysClr val="windowText" lastClr="000000"/>
              </a:solidFill>
            </a:endParaRPr>
          </a:p>
          <a:p>
            <a:pPr defTabSz="1219215">
              <a:buClrTx/>
              <a:defRPr/>
            </a:pPr>
            <a:endParaRPr lang="es-ES_tradnl" sz="1733" noProof="0" dirty="0">
              <a:solidFill>
                <a:srgbClr val="FFFFFF"/>
              </a:solidFill>
              <a:latin typeface="Poppins"/>
              <a:ea typeface="Poppins"/>
              <a:cs typeface="Poppins"/>
              <a:sym typeface="Poppins"/>
            </a:endParaRPr>
          </a:p>
          <a:p>
            <a:pPr defTabSz="1219215">
              <a:buClrTx/>
              <a:defRPr/>
            </a:pPr>
            <a:endParaRPr lang="es-ES_tradnl" sz="1733" noProof="0" dirty="0">
              <a:solidFill>
                <a:srgbClr val="FFFFFF"/>
              </a:solidFill>
              <a:latin typeface="Poppins"/>
              <a:ea typeface="Poppins"/>
              <a:cs typeface="Poppins"/>
              <a:sym typeface="Poppins"/>
            </a:endParaRPr>
          </a:p>
          <a:p>
            <a:pPr algn="ctr" defTabSz="1219215">
              <a:buClrTx/>
              <a:defRPr/>
            </a:pPr>
            <a:r>
              <a:rPr lang="es-ES_tradnl" sz="1733" noProof="0" dirty="0">
                <a:solidFill>
                  <a:srgbClr val="FFFFFF"/>
                </a:solidFill>
                <a:latin typeface="Poppins"/>
                <a:ea typeface="Poppins"/>
                <a:cs typeface="Poppins"/>
                <a:sym typeface="Poppins"/>
              </a:rPr>
              <a:t>Apetito de rentabilidad</a:t>
            </a:r>
          </a:p>
          <a:p>
            <a:pPr algn="ctr" defTabSz="1219215">
              <a:buClrTx/>
              <a:defRPr/>
            </a:pPr>
            <a:r>
              <a:rPr lang="es-ES_tradnl" sz="1733" noProof="0" dirty="0">
                <a:solidFill>
                  <a:srgbClr val="FFFFFF"/>
                </a:solidFill>
                <a:latin typeface="Poppins"/>
                <a:ea typeface="Poppins"/>
                <a:cs typeface="Poppins"/>
                <a:sym typeface="Poppins"/>
              </a:rPr>
              <a:t>RAROC Objetivo</a:t>
            </a:r>
          </a:p>
          <a:p>
            <a:pPr algn="ctr" defTabSz="1219215">
              <a:buClrTx/>
              <a:defRPr/>
            </a:pPr>
            <a:endParaRPr lang="es-ES_tradnl" sz="1733" noProof="0" dirty="0">
              <a:solidFill>
                <a:srgbClr val="FFFFFF"/>
              </a:solidFill>
              <a:latin typeface="Poppins"/>
              <a:ea typeface="Poppins"/>
              <a:cs typeface="Poppins"/>
              <a:sym typeface="Poppins"/>
            </a:endParaRPr>
          </a:p>
          <a:p>
            <a:pPr algn="ctr" defTabSz="1219215">
              <a:buClrTx/>
              <a:defRPr/>
            </a:pPr>
            <a:r>
              <a:rPr lang="es-ES_tradnl" sz="1733" noProof="0" dirty="0">
                <a:solidFill>
                  <a:srgbClr val="FFFFFF"/>
                </a:solidFill>
                <a:latin typeface="Poppins"/>
                <a:ea typeface="Poppins"/>
                <a:cs typeface="Poppins"/>
                <a:sym typeface="Poppins"/>
              </a:rPr>
              <a:t> Estrategia </a:t>
            </a:r>
          </a:p>
          <a:p>
            <a:pPr algn="ctr" defTabSz="1219215">
              <a:buClrTx/>
              <a:defRPr/>
            </a:pPr>
            <a:r>
              <a:rPr lang="es-ES_tradnl" sz="1733" noProof="0" dirty="0">
                <a:solidFill>
                  <a:srgbClr val="FFFFFF"/>
                </a:solidFill>
                <a:latin typeface="Poppins"/>
                <a:ea typeface="Poppins"/>
                <a:cs typeface="Poppins"/>
                <a:sym typeface="Poppins"/>
              </a:rPr>
              <a:t>Cliente 360</a:t>
            </a:r>
            <a:endParaRPr lang="es-ES_tradnl" sz="1867" noProof="0" dirty="0">
              <a:solidFill>
                <a:sysClr val="windowText" lastClr="000000"/>
              </a:solidFill>
            </a:endParaRPr>
          </a:p>
        </p:txBody>
      </p:sp>
      <p:pic>
        <p:nvPicPr>
          <p:cNvPr id="3" name="Imagen 27" descr="estrategia ">
            <a:extLst>
              <a:ext uri="{FF2B5EF4-FFF2-40B4-BE49-F238E27FC236}">
                <a16:creationId xmlns:a16="http://schemas.microsoft.com/office/drawing/2014/main" id="{2472870C-9143-35F8-881D-CF527BC2C072}"/>
              </a:ext>
            </a:extLst>
          </p:cNvPr>
          <p:cNvPicPr>
            <a:picLocks noChangeAspect="1"/>
          </p:cNvPicPr>
          <p:nvPr/>
        </p:nvPicPr>
        <p:blipFill>
          <a:blip r:embed="rId8">
            <a:biLevel thresh="25000"/>
          </a:blip>
          <a:stretch>
            <a:fillRect/>
          </a:stretch>
        </p:blipFill>
        <p:spPr>
          <a:xfrm>
            <a:off x="2776797" y="3021762"/>
            <a:ext cx="728235" cy="728235"/>
          </a:xfrm>
          <a:prstGeom prst="rect">
            <a:avLst/>
          </a:prstGeom>
        </p:spPr>
      </p:pic>
      <p:pic>
        <p:nvPicPr>
          <p:cNvPr id="4" name="Imagen 28" descr="mejor precio ">
            <a:extLst>
              <a:ext uri="{FF2B5EF4-FFF2-40B4-BE49-F238E27FC236}">
                <a16:creationId xmlns:a16="http://schemas.microsoft.com/office/drawing/2014/main" id="{4F4F3A91-1CF0-A056-333F-76372C10AFB9}"/>
              </a:ext>
            </a:extLst>
          </p:cNvPr>
          <p:cNvPicPr>
            <a:picLocks noChangeAspect="1"/>
          </p:cNvPicPr>
          <p:nvPr/>
        </p:nvPicPr>
        <p:blipFill>
          <a:blip r:embed="rId5"/>
          <a:stretch>
            <a:fillRect/>
          </a:stretch>
        </p:blipFill>
        <p:spPr>
          <a:xfrm>
            <a:off x="4661057" y="2759265"/>
            <a:ext cx="195796" cy="195796"/>
          </a:xfrm>
          <a:prstGeom prst="rect">
            <a:avLst/>
          </a:prstGeom>
        </p:spPr>
      </p:pic>
    </p:spTree>
    <p:extLst>
      <p:ext uri="{BB962C8B-B14F-4D97-AF65-F5344CB8AC3E}">
        <p14:creationId xmlns:p14="http://schemas.microsoft.com/office/powerpoint/2010/main" val="3313259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Google Shape;167;g3ed063acbfe_1_0">
            <a:extLst>
              <a:ext uri="{FF2B5EF4-FFF2-40B4-BE49-F238E27FC236}">
                <a16:creationId xmlns:a16="http://schemas.microsoft.com/office/drawing/2014/main" id="{5F100E98-4B50-1F2D-19DF-6639A4608527}"/>
              </a:ext>
            </a:extLst>
          </p:cNvPr>
          <p:cNvSpPr txBox="1"/>
          <p:nvPr/>
        </p:nvSpPr>
        <p:spPr>
          <a:xfrm>
            <a:off x="184661" y="98822"/>
            <a:ext cx="14787179"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Ecosistema de pricing, visión cliente 360°, para la gestión del precio </a:t>
            </a:r>
          </a:p>
        </p:txBody>
      </p:sp>
      <p:sp>
        <p:nvSpPr>
          <p:cNvPr id="2" name="Rectangle 1">
            <a:extLst>
              <a:ext uri="{FF2B5EF4-FFF2-40B4-BE49-F238E27FC236}">
                <a16:creationId xmlns:a16="http://schemas.microsoft.com/office/drawing/2014/main" id="{095D9596-CF8D-1CC5-91E4-EB27FD7979D2}"/>
              </a:ext>
            </a:extLst>
          </p:cNvPr>
          <p:cNvSpPr/>
          <p:nvPr/>
        </p:nvSpPr>
        <p:spPr>
          <a:xfrm>
            <a:off x="0" y="1241823"/>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37" name="Google Shape;401;g3a8a166b9a7_8_346">
            <a:extLst>
              <a:ext uri="{FF2B5EF4-FFF2-40B4-BE49-F238E27FC236}">
                <a16:creationId xmlns:a16="http://schemas.microsoft.com/office/drawing/2014/main" id="{6109AD68-422C-A517-7A08-913DD70AA0B4}"/>
              </a:ext>
            </a:extLst>
          </p:cNvPr>
          <p:cNvSpPr/>
          <p:nvPr/>
        </p:nvSpPr>
        <p:spPr>
          <a:xfrm>
            <a:off x="12367268" y="2990064"/>
            <a:ext cx="3589859" cy="532260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09" name="Google Shape;402;g3a8a166b9a7_8_346">
            <a:extLst>
              <a:ext uri="{FF2B5EF4-FFF2-40B4-BE49-F238E27FC236}">
                <a16:creationId xmlns:a16="http://schemas.microsoft.com/office/drawing/2014/main" id="{92C1B7B6-F801-98D0-A2E6-7BD03A7A01C7}"/>
              </a:ext>
            </a:extLst>
          </p:cNvPr>
          <p:cNvSpPr/>
          <p:nvPr/>
        </p:nvSpPr>
        <p:spPr>
          <a:xfrm>
            <a:off x="12367268" y="3007819"/>
            <a:ext cx="3589859" cy="666056"/>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0" name="Google Shape;403;g3a8a166b9a7_8_346">
            <a:extLst>
              <a:ext uri="{FF2B5EF4-FFF2-40B4-BE49-F238E27FC236}">
                <a16:creationId xmlns:a16="http://schemas.microsoft.com/office/drawing/2014/main" id="{E15E7087-CCF5-6F56-5FF6-55DE48238C26}"/>
              </a:ext>
            </a:extLst>
          </p:cNvPr>
          <p:cNvSpPr/>
          <p:nvPr/>
        </p:nvSpPr>
        <p:spPr>
          <a:xfrm>
            <a:off x="4340814" y="2990065"/>
            <a:ext cx="3902175"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1" name="Google Shape;404;g3a8a166b9a7_8_346">
            <a:extLst>
              <a:ext uri="{FF2B5EF4-FFF2-40B4-BE49-F238E27FC236}">
                <a16:creationId xmlns:a16="http://schemas.microsoft.com/office/drawing/2014/main" id="{8D3576A9-AE75-F05B-7952-D9C5A2CC1119}"/>
              </a:ext>
            </a:extLst>
          </p:cNvPr>
          <p:cNvSpPr/>
          <p:nvPr/>
        </p:nvSpPr>
        <p:spPr>
          <a:xfrm>
            <a:off x="4360081" y="3006979"/>
            <a:ext cx="3889928" cy="710995"/>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2" name="Google Shape;405;g3a8a166b9a7_8_346">
            <a:extLst>
              <a:ext uri="{FF2B5EF4-FFF2-40B4-BE49-F238E27FC236}">
                <a16:creationId xmlns:a16="http://schemas.microsoft.com/office/drawing/2014/main" id="{280DA009-B247-8631-906C-520261CA5B78}"/>
              </a:ext>
            </a:extLst>
          </p:cNvPr>
          <p:cNvSpPr/>
          <p:nvPr/>
        </p:nvSpPr>
        <p:spPr>
          <a:xfrm>
            <a:off x="8407686" y="2980435"/>
            <a:ext cx="3770487"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9" name="Google Shape;406;g3a8a166b9a7_8_346">
            <a:extLst>
              <a:ext uri="{FF2B5EF4-FFF2-40B4-BE49-F238E27FC236}">
                <a16:creationId xmlns:a16="http://schemas.microsoft.com/office/drawing/2014/main" id="{C4CF7D5E-FCB0-BC1F-27B8-A6922978B148}"/>
              </a:ext>
            </a:extLst>
          </p:cNvPr>
          <p:cNvSpPr/>
          <p:nvPr/>
        </p:nvSpPr>
        <p:spPr>
          <a:xfrm>
            <a:off x="8398088" y="3012625"/>
            <a:ext cx="3770485"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20" name="Google Shape;407;g3a8a166b9a7_8_346">
            <a:extLst>
              <a:ext uri="{FF2B5EF4-FFF2-40B4-BE49-F238E27FC236}">
                <a16:creationId xmlns:a16="http://schemas.microsoft.com/office/drawing/2014/main" id="{22EAB678-BA86-6257-5A91-6F20E9BB430E}"/>
              </a:ext>
            </a:extLst>
          </p:cNvPr>
          <p:cNvSpPr/>
          <p:nvPr/>
        </p:nvSpPr>
        <p:spPr>
          <a:xfrm>
            <a:off x="416026" y="2980435"/>
            <a:ext cx="3770487" cy="533516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21" name="Google Shape;408;g3a8a166b9a7_8_346">
            <a:extLst>
              <a:ext uri="{FF2B5EF4-FFF2-40B4-BE49-F238E27FC236}">
                <a16:creationId xmlns:a16="http://schemas.microsoft.com/office/drawing/2014/main" id="{115718EB-2B2B-9C3C-9BD2-B1C2B082587D}"/>
              </a:ext>
            </a:extLst>
          </p:cNvPr>
          <p:cNvSpPr/>
          <p:nvPr/>
        </p:nvSpPr>
        <p:spPr>
          <a:xfrm>
            <a:off x="409280" y="2991960"/>
            <a:ext cx="3783457"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nvGrpSpPr>
          <p:cNvPr id="122" name="Google Shape;410;g3a8a166b9a7_8_346">
            <a:extLst>
              <a:ext uri="{FF2B5EF4-FFF2-40B4-BE49-F238E27FC236}">
                <a16:creationId xmlns:a16="http://schemas.microsoft.com/office/drawing/2014/main" id="{0DE7268D-2B1B-913A-F444-67007D0F1306}"/>
              </a:ext>
            </a:extLst>
          </p:cNvPr>
          <p:cNvGrpSpPr/>
          <p:nvPr/>
        </p:nvGrpSpPr>
        <p:grpSpPr>
          <a:xfrm>
            <a:off x="7261859" y="974183"/>
            <a:ext cx="1935480" cy="1882989"/>
            <a:chOff x="3638550" y="1249678"/>
            <a:chExt cx="1842770" cy="1747522"/>
          </a:xfrm>
        </p:grpSpPr>
        <p:sp>
          <p:nvSpPr>
            <p:cNvPr id="123" name="Google Shape;411;g3a8a166b9a7_8_346">
              <a:extLst>
                <a:ext uri="{FF2B5EF4-FFF2-40B4-BE49-F238E27FC236}">
                  <a16:creationId xmlns:a16="http://schemas.microsoft.com/office/drawing/2014/main" id="{852FB839-18EC-D62F-FA91-EBFA55A16080}"/>
                </a:ext>
              </a:extLst>
            </p:cNvPr>
            <p:cNvSpPr/>
            <p:nvPr/>
          </p:nvSpPr>
          <p:spPr>
            <a:xfrm>
              <a:off x="3638550" y="1249678"/>
              <a:ext cx="1842770" cy="1747522"/>
            </a:xfrm>
            <a:prstGeom prst="flowChartConnector">
              <a:avLst/>
            </a:prstGeom>
            <a:solidFill>
              <a:srgbClr val="DBDBDB"/>
            </a:solidFill>
            <a:ln w="9525" cap="flat" cmpd="sng">
              <a:solidFill>
                <a:srgbClr val="D8D8D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sp>
          <p:nvSpPr>
            <p:cNvPr id="124" name="Google Shape;412;g3a8a166b9a7_8_346">
              <a:extLst>
                <a:ext uri="{FF2B5EF4-FFF2-40B4-BE49-F238E27FC236}">
                  <a16:creationId xmlns:a16="http://schemas.microsoft.com/office/drawing/2014/main" id="{2A17A3DC-9663-89AD-1FD3-023375E58004}"/>
                </a:ext>
              </a:extLst>
            </p:cNvPr>
            <p:cNvSpPr/>
            <p:nvPr/>
          </p:nvSpPr>
          <p:spPr>
            <a:xfrm>
              <a:off x="3887470" y="1508758"/>
              <a:ext cx="1344930" cy="1229361"/>
            </a:xfrm>
            <a:prstGeom prst="flowChartConnector">
              <a:avLst/>
            </a:prstGeom>
            <a:solidFill>
              <a:srgbClr val="F2F2F2"/>
            </a:solidFill>
            <a:ln w="5715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grpSp>
      <p:sp>
        <p:nvSpPr>
          <p:cNvPr id="125" name="Google Shape;413;g3a8a166b9a7_8_346">
            <a:extLst>
              <a:ext uri="{FF2B5EF4-FFF2-40B4-BE49-F238E27FC236}">
                <a16:creationId xmlns:a16="http://schemas.microsoft.com/office/drawing/2014/main" id="{311CB618-8B08-CBFB-F57A-FCA0B20B7A0E}"/>
              </a:ext>
            </a:extLst>
          </p:cNvPr>
          <p:cNvSpPr txBox="1"/>
          <p:nvPr/>
        </p:nvSpPr>
        <p:spPr>
          <a:xfrm>
            <a:off x="446847" y="5610447"/>
            <a:ext cx="3640331"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Rentabilidad diferenciada por segmento</a:t>
            </a:r>
          </a:p>
        </p:txBody>
      </p:sp>
      <p:sp>
        <p:nvSpPr>
          <p:cNvPr id="126" name="Google Shape;434;g3a8a166b9a7_8_346">
            <a:extLst>
              <a:ext uri="{FF2B5EF4-FFF2-40B4-BE49-F238E27FC236}">
                <a16:creationId xmlns:a16="http://schemas.microsoft.com/office/drawing/2014/main" id="{A4D42090-86CF-5F39-DAD1-2CBC47B682F8}"/>
              </a:ext>
            </a:extLst>
          </p:cNvPr>
          <p:cNvSpPr txBox="1"/>
          <p:nvPr/>
        </p:nvSpPr>
        <p:spPr>
          <a:xfrm>
            <a:off x="469905" y="3846893"/>
            <a:ext cx="2638352"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latin typeface="Poppins" panose="00000500000000000000" pitchFamily="2" charset="0"/>
                <a:ea typeface="Calibri"/>
                <a:cs typeface="Poppins" panose="00000500000000000000" pitchFamily="2" charset="0"/>
                <a:sym typeface="Calibri"/>
              </a:rPr>
              <a:t>Matriz de RAROC objetivo</a:t>
            </a:r>
            <a:endParaRPr lang="es-ES_tradnl" sz="1333" kern="1200" noProof="0" dirty="0">
              <a:latin typeface="Poppins" panose="00000500000000000000" pitchFamily="2" charset="0"/>
              <a:ea typeface="Calibri"/>
              <a:cs typeface="Poppins" panose="00000500000000000000" pitchFamily="2" charset="0"/>
              <a:sym typeface="Calibri"/>
            </a:endParaRPr>
          </a:p>
        </p:txBody>
      </p:sp>
      <p:grpSp>
        <p:nvGrpSpPr>
          <p:cNvPr id="127" name="Google Shape;436;g3a8a166b9a7_8_346">
            <a:extLst>
              <a:ext uri="{FF2B5EF4-FFF2-40B4-BE49-F238E27FC236}">
                <a16:creationId xmlns:a16="http://schemas.microsoft.com/office/drawing/2014/main" id="{894F6366-C9E0-F30A-AED5-3875D47CF7C1}"/>
              </a:ext>
            </a:extLst>
          </p:cNvPr>
          <p:cNvGrpSpPr/>
          <p:nvPr/>
        </p:nvGrpSpPr>
        <p:grpSpPr>
          <a:xfrm>
            <a:off x="9056426" y="4347409"/>
            <a:ext cx="2788447" cy="882460"/>
            <a:chOff x="3501127" y="4905040"/>
            <a:chExt cx="3415840" cy="1048361"/>
          </a:xfrm>
        </p:grpSpPr>
        <p:sp>
          <p:nvSpPr>
            <p:cNvPr id="128" name="Google Shape;437;g3a8a166b9a7_8_346">
              <a:extLst>
                <a:ext uri="{FF2B5EF4-FFF2-40B4-BE49-F238E27FC236}">
                  <a16:creationId xmlns:a16="http://schemas.microsoft.com/office/drawing/2014/main" id="{0A16F832-DD0C-7A45-0F4E-707DB6770DA2}"/>
                </a:ext>
              </a:extLst>
            </p:cNvPr>
            <p:cNvSpPr txBox="1"/>
            <p:nvPr/>
          </p:nvSpPr>
          <p:spPr>
            <a:xfrm>
              <a:off x="3501127" y="4905040"/>
              <a:ext cx="1682574" cy="498874"/>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 o</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29" name="Google Shape;438;g3a8a166b9a7_8_346">
              <a:extLst>
                <a:ext uri="{FF2B5EF4-FFF2-40B4-BE49-F238E27FC236}">
                  <a16:creationId xmlns:a16="http://schemas.microsoft.com/office/drawing/2014/main" id="{BE9315AE-2438-A91C-AA9F-E87E76563812}"/>
                </a:ext>
              </a:extLst>
            </p:cNvPr>
            <p:cNvSpPr txBox="1"/>
            <p:nvPr/>
          </p:nvSpPr>
          <p:spPr>
            <a:xfrm>
              <a:off x="3511286" y="5444368"/>
              <a:ext cx="1682574" cy="498873"/>
            </a:xfrm>
            <a:prstGeom prst="rect">
              <a:avLst/>
            </a:prstGeom>
            <a:solidFill>
              <a:srgbClr val="D5DBE5"/>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Bajar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0" name="Google Shape;439;g3a8a166b9a7_8_346">
              <a:extLst>
                <a:ext uri="{FF2B5EF4-FFF2-40B4-BE49-F238E27FC236}">
                  <a16:creationId xmlns:a16="http://schemas.microsoft.com/office/drawing/2014/main" id="{4FBBA376-34C9-63B4-E242-7A5106B735C6}"/>
                </a:ext>
              </a:extLst>
            </p:cNvPr>
            <p:cNvSpPr txBox="1"/>
            <p:nvPr/>
          </p:nvSpPr>
          <p:spPr>
            <a:xfrm>
              <a:off x="5224234" y="4915198"/>
              <a:ext cx="1682574" cy="498874"/>
            </a:xfrm>
            <a:prstGeom prst="rect">
              <a:avLst/>
            </a:prstGeom>
            <a:solidFill>
              <a:srgbClr val="ACB8CA">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1" name="Google Shape;440;g3a8a166b9a7_8_346">
              <a:extLst>
                <a:ext uri="{FF2B5EF4-FFF2-40B4-BE49-F238E27FC236}">
                  <a16:creationId xmlns:a16="http://schemas.microsoft.com/office/drawing/2014/main" id="{02CF0955-EC91-F71A-5A71-336611A02746}"/>
                </a:ext>
              </a:extLst>
            </p:cNvPr>
            <p:cNvSpPr txBox="1"/>
            <p:nvPr/>
          </p:nvSpPr>
          <p:spPr>
            <a:xfrm>
              <a:off x="5234393" y="5454524"/>
              <a:ext cx="1682574" cy="498877"/>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cxnSp>
        <p:nvCxnSpPr>
          <p:cNvPr id="132" name="Google Shape;441;g3a8a166b9a7_8_346">
            <a:extLst>
              <a:ext uri="{FF2B5EF4-FFF2-40B4-BE49-F238E27FC236}">
                <a16:creationId xmlns:a16="http://schemas.microsoft.com/office/drawing/2014/main" id="{7A2F659E-F802-C55F-85B6-D179FB4BB226}"/>
              </a:ext>
            </a:extLst>
          </p:cNvPr>
          <p:cNvCxnSpPr/>
          <p:nvPr/>
        </p:nvCxnSpPr>
        <p:spPr>
          <a:xfrm>
            <a:off x="8958199" y="4270488"/>
            <a:ext cx="0" cy="1025769"/>
          </a:xfrm>
          <a:prstGeom prst="straightConnector1">
            <a:avLst/>
          </a:prstGeom>
          <a:noFill/>
          <a:ln w="9525" cap="flat" cmpd="sng">
            <a:solidFill>
              <a:srgbClr val="354A49"/>
            </a:solidFill>
            <a:prstDash val="solid"/>
            <a:round/>
            <a:headEnd type="none" w="sm" len="sm"/>
            <a:tailEnd type="triangle" w="med" len="med"/>
          </a:ln>
        </p:spPr>
      </p:cxnSp>
      <p:sp>
        <p:nvSpPr>
          <p:cNvPr id="133" name="Google Shape;442;g3a8a166b9a7_8_346">
            <a:extLst>
              <a:ext uri="{FF2B5EF4-FFF2-40B4-BE49-F238E27FC236}">
                <a16:creationId xmlns:a16="http://schemas.microsoft.com/office/drawing/2014/main" id="{478F8A2E-0F32-F217-BC6F-565AD4357355}"/>
              </a:ext>
            </a:extLst>
          </p:cNvPr>
          <p:cNvSpPr txBox="1"/>
          <p:nvPr/>
        </p:nvSpPr>
        <p:spPr>
          <a:xfrm>
            <a:off x="8358042" y="5353094"/>
            <a:ext cx="1166732" cy="266605"/>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Elasticidad</a:t>
            </a:r>
            <a:endParaRPr lang="es-ES_tradnl" sz="1600" kern="1200" noProof="0" dirty="0">
              <a:latin typeface="Poppins" panose="00000500000000000000" pitchFamily="2" charset="0"/>
              <a:ea typeface="Calibri"/>
              <a:cs typeface="Poppins" panose="00000500000000000000" pitchFamily="2" charset="0"/>
              <a:sym typeface="Calibri"/>
            </a:endParaRPr>
          </a:p>
        </p:txBody>
      </p:sp>
      <p:cxnSp>
        <p:nvCxnSpPr>
          <p:cNvPr id="134" name="Google Shape;443;g3a8a166b9a7_8_346">
            <a:extLst>
              <a:ext uri="{FF2B5EF4-FFF2-40B4-BE49-F238E27FC236}">
                <a16:creationId xmlns:a16="http://schemas.microsoft.com/office/drawing/2014/main" id="{0E12CFF2-0D3A-0228-5672-79DA39DA4623}"/>
              </a:ext>
            </a:extLst>
          </p:cNvPr>
          <p:cNvCxnSpPr/>
          <p:nvPr/>
        </p:nvCxnSpPr>
        <p:spPr>
          <a:xfrm>
            <a:off x="9021512" y="4274477"/>
            <a:ext cx="3022777" cy="12209"/>
          </a:xfrm>
          <a:prstGeom prst="straightConnector1">
            <a:avLst/>
          </a:prstGeom>
          <a:noFill/>
          <a:ln w="9525" cap="flat" cmpd="sng">
            <a:solidFill>
              <a:srgbClr val="354A49"/>
            </a:solidFill>
            <a:prstDash val="solid"/>
            <a:round/>
            <a:headEnd type="none" w="sm" len="sm"/>
            <a:tailEnd type="triangle" w="med" len="med"/>
          </a:ln>
        </p:spPr>
      </p:cxnSp>
      <p:sp>
        <p:nvSpPr>
          <p:cNvPr id="135" name="Google Shape;444;g3a8a166b9a7_8_346">
            <a:extLst>
              <a:ext uri="{FF2B5EF4-FFF2-40B4-BE49-F238E27FC236}">
                <a16:creationId xmlns:a16="http://schemas.microsoft.com/office/drawing/2014/main" id="{6F689921-9C50-DBB4-5049-3539BD70DF28}"/>
              </a:ext>
            </a:extLst>
          </p:cNvPr>
          <p:cNvSpPr txBox="1"/>
          <p:nvPr/>
        </p:nvSpPr>
        <p:spPr>
          <a:xfrm>
            <a:off x="11299678" y="3885515"/>
            <a:ext cx="1166732" cy="41017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err="1">
                <a:latin typeface="Poppins" panose="00000500000000000000" pitchFamily="2" charset="0"/>
                <a:ea typeface="Calibri"/>
                <a:cs typeface="Poppins" panose="00000500000000000000" pitchFamily="2" charset="0"/>
                <a:sym typeface="Calibri"/>
              </a:rPr>
              <a:t>Info</a:t>
            </a:r>
            <a:r>
              <a:rPr lang="es-ES_tradnl" sz="933" b="1" kern="1200" noProof="0" dirty="0">
                <a:latin typeface="Poppins" panose="00000500000000000000" pitchFamily="2" charset="0"/>
                <a:ea typeface="Calibri"/>
                <a:cs typeface="Poppins" panose="00000500000000000000" pitchFamily="2" charset="0"/>
                <a:sym typeface="Calibri"/>
              </a:rPr>
              <a:t>. </a:t>
            </a:r>
            <a:endParaRPr lang="es-ES_tradnl" sz="1600" kern="1200" noProof="0" dirty="0">
              <a:latin typeface="Poppins" panose="00000500000000000000" pitchFamily="2" charset="0"/>
              <a:ea typeface="Calibri"/>
              <a:cs typeface="Poppins" panose="00000500000000000000" pitchFamily="2" charset="0"/>
              <a:sym typeface="Calibri"/>
            </a:endParaRPr>
          </a:p>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mercado</a:t>
            </a:r>
            <a:endParaRPr lang="es-ES_tradnl" sz="1600" kern="1200" noProof="0" dirty="0">
              <a:latin typeface="Poppins" panose="00000500000000000000" pitchFamily="2" charset="0"/>
              <a:ea typeface="Calibri"/>
              <a:cs typeface="Poppins" panose="00000500000000000000" pitchFamily="2" charset="0"/>
              <a:sym typeface="Calibri"/>
            </a:endParaRPr>
          </a:p>
        </p:txBody>
      </p:sp>
      <p:sp>
        <p:nvSpPr>
          <p:cNvPr id="136" name="Google Shape;445;g3a8a166b9a7_8_346">
            <a:extLst>
              <a:ext uri="{FF2B5EF4-FFF2-40B4-BE49-F238E27FC236}">
                <a16:creationId xmlns:a16="http://schemas.microsoft.com/office/drawing/2014/main" id="{48F46D51-B14F-3D63-86B3-0215CF4661D8}"/>
              </a:ext>
            </a:extLst>
          </p:cNvPr>
          <p:cNvSpPr txBox="1"/>
          <p:nvPr/>
        </p:nvSpPr>
        <p:spPr>
          <a:xfrm>
            <a:off x="9202040" y="3946832"/>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7" name="Google Shape;446;g3a8a166b9a7_8_346">
            <a:extLst>
              <a:ext uri="{FF2B5EF4-FFF2-40B4-BE49-F238E27FC236}">
                <a16:creationId xmlns:a16="http://schemas.microsoft.com/office/drawing/2014/main" id="{FFF4423B-AAA1-66C1-5DB0-AF8EB3532687}"/>
              </a:ext>
            </a:extLst>
          </p:cNvPr>
          <p:cNvSpPr txBox="1"/>
          <p:nvPr/>
        </p:nvSpPr>
        <p:spPr>
          <a:xfrm>
            <a:off x="10567486" y="3946832"/>
            <a:ext cx="109489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8" name="Google Shape;447;g3a8a166b9a7_8_346">
            <a:extLst>
              <a:ext uri="{FF2B5EF4-FFF2-40B4-BE49-F238E27FC236}">
                <a16:creationId xmlns:a16="http://schemas.microsoft.com/office/drawing/2014/main" id="{8376724E-9781-2021-B977-CB33A3CDD16E}"/>
              </a:ext>
            </a:extLst>
          </p:cNvPr>
          <p:cNvSpPr txBox="1"/>
          <p:nvPr/>
        </p:nvSpPr>
        <p:spPr>
          <a:xfrm>
            <a:off x="8104760" y="426457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9" name="Google Shape;448;g3a8a166b9a7_8_346">
            <a:extLst>
              <a:ext uri="{FF2B5EF4-FFF2-40B4-BE49-F238E27FC236}">
                <a16:creationId xmlns:a16="http://schemas.microsoft.com/office/drawing/2014/main" id="{F6F8A536-281C-B090-DB98-3FCB0A4A2A9A}"/>
              </a:ext>
            </a:extLst>
          </p:cNvPr>
          <p:cNvSpPr txBox="1"/>
          <p:nvPr/>
        </p:nvSpPr>
        <p:spPr>
          <a:xfrm>
            <a:off x="8077666" y="484228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40" name="Google Shape;449;g3a8a166b9a7_8_346">
            <a:extLst>
              <a:ext uri="{FF2B5EF4-FFF2-40B4-BE49-F238E27FC236}">
                <a16:creationId xmlns:a16="http://schemas.microsoft.com/office/drawing/2014/main" id="{74F50EDB-8345-E621-95D1-4E951718DE44}"/>
              </a:ext>
            </a:extLst>
          </p:cNvPr>
          <p:cNvSpPr txBox="1"/>
          <p:nvPr/>
        </p:nvSpPr>
        <p:spPr>
          <a:xfrm>
            <a:off x="8699188" y="3839253"/>
            <a:ext cx="2823499"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solidFill>
                  <a:srgbClr val="217378"/>
                </a:solidFill>
                <a:latin typeface="Poppins" panose="00000500000000000000" pitchFamily="2" charset="0"/>
                <a:ea typeface="Calibri"/>
                <a:cs typeface="Poppins" panose="00000500000000000000" pitchFamily="2" charset="0"/>
                <a:sym typeface="Calibri"/>
              </a:rPr>
              <a:t>Tabla de decisión</a:t>
            </a:r>
            <a:endParaRPr lang="es-ES_tradnl" sz="1333" kern="1200" noProof="0" dirty="0">
              <a:latin typeface="Poppins" panose="00000500000000000000" pitchFamily="2" charset="0"/>
              <a:ea typeface="Calibri"/>
              <a:cs typeface="Poppins" panose="00000500000000000000" pitchFamily="2" charset="0"/>
              <a:sym typeface="Calibri"/>
            </a:endParaRPr>
          </a:p>
        </p:txBody>
      </p:sp>
      <p:sp>
        <p:nvSpPr>
          <p:cNvPr id="141" name="Google Shape;450;g3a8a166b9a7_8_346">
            <a:extLst>
              <a:ext uri="{FF2B5EF4-FFF2-40B4-BE49-F238E27FC236}">
                <a16:creationId xmlns:a16="http://schemas.microsoft.com/office/drawing/2014/main" id="{FA8E2A24-F5D9-4C33-15E6-291460392BEE}"/>
              </a:ext>
            </a:extLst>
          </p:cNvPr>
          <p:cNvSpPr txBox="1"/>
          <p:nvPr/>
        </p:nvSpPr>
        <p:spPr>
          <a:xfrm>
            <a:off x="8624285" y="5610447"/>
            <a:ext cx="3427713"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Ajustes por sensibilidad al precio y mercado</a:t>
            </a:r>
          </a:p>
        </p:txBody>
      </p:sp>
      <p:sp>
        <p:nvSpPr>
          <p:cNvPr id="142" name="Google Shape;451;g3a8a166b9a7_8_346">
            <a:extLst>
              <a:ext uri="{FF2B5EF4-FFF2-40B4-BE49-F238E27FC236}">
                <a16:creationId xmlns:a16="http://schemas.microsoft.com/office/drawing/2014/main" id="{5D11E7CA-F808-664D-CA1B-6ED0B6471EC1}"/>
              </a:ext>
            </a:extLst>
          </p:cNvPr>
          <p:cNvSpPr txBox="1"/>
          <p:nvPr/>
        </p:nvSpPr>
        <p:spPr>
          <a:xfrm>
            <a:off x="12356471" y="6511523"/>
            <a:ext cx="3644792"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RPr lang="es-PE"/>
            </a:defPPr>
            <a:lvl1pPr marL="171450" marR="0" lvl="0" indent="-171450">
              <a:lnSpc>
                <a:spcPct val="100000"/>
              </a:lnSpc>
              <a:spcBef>
                <a:spcPts val="0"/>
              </a:spcBef>
              <a:spcAft>
                <a:spcPts val="0"/>
              </a:spcAft>
              <a:buClr>
                <a:srgbClr val="000000"/>
              </a:buClr>
              <a:buSzPts val="1500"/>
              <a:buFont typeface="Arial"/>
              <a:buChar char="•"/>
              <a:defRPr sz="1000" b="0" i="0" u="none" strike="noStrike" cap="none">
                <a:solidFill>
                  <a:srgbClr val="000000"/>
                </a:solidFill>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marL="228594" indent="-228594" defTabSz="1219170">
              <a:defRPr/>
            </a:pPr>
            <a:r>
              <a:rPr lang="es-ES_tradnl" sz="1467" kern="1200" noProof="0" dirty="0">
                <a:sym typeface="Calibri"/>
              </a:rPr>
              <a:t>Definir rangos de negociación</a:t>
            </a:r>
          </a:p>
          <a:p>
            <a:pPr marL="228594" indent="-228594" defTabSz="1219170">
              <a:defRPr/>
            </a:pPr>
            <a:r>
              <a:rPr lang="es-ES_tradnl" sz="1467" kern="1200" noProof="0" dirty="0">
                <a:sym typeface="Calibri"/>
              </a:rPr>
              <a:t>Lineamientos de excepciones , gestión d promesas y/o re pricing</a:t>
            </a:r>
          </a:p>
          <a:p>
            <a:pPr marL="0" indent="0" defTabSz="1219170">
              <a:buNone/>
              <a:defRPr/>
            </a:pPr>
            <a:endParaRPr lang="es-ES_tradnl" sz="1467" kern="1200" noProof="0" dirty="0">
              <a:sym typeface="Calibri"/>
            </a:endParaRPr>
          </a:p>
          <a:p>
            <a:pPr marL="0" indent="0" defTabSz="1219170">
              <a:buNone/>
              <a:defRPr/>
            </a:pPr>
            <a:r>
              <a:rPr lang="es-ES_tradnl" sz="1467" kern="1200" noProof="0" dirty="0">
                <a:sym typeface="Calibri"/>
              </a:rPr>
              <a:t>CLV para monitoreo de rentabilidad de cosechas y </a:t>
            </a:r>
            <a:r>
              <a:rPr lang="es-ES_tradnl" sz="1467" kern="1200" noProof="0" dirty="0" err="1">
                <a:sym typeface="Calibri"/>
              </a:rPr>
              <a:t>dash</a:t>
            </a:r>
            <a:r>
              <a:rPr lang="es-ES_tradnl" sz="1467" kern="1200" noProof="0" dirty="0">
                <a:sym typeface="Calibri"/>
              </a:rPr>
              <a:t> excepciones</a:t>
            </a:r>
          </a:p>
        </p:txBody>
      </p:sp>
      <p:sp>
        <p:nvSpPr>
          <p:cNvPr id="143" name="Google Shape;452;g3a8a166b9a7_8_346">
            <a:extLst>
              <a:ext uri="{FF2B5EF4-FFF2-40B4-BE49-F238E27FC236}">
                <a16:creationId xmlns:a16="http://schemas.microsoft.com/office/drawing/2014/main" id="{0313ABC5-1CF9-C1F4-3320-3D093F0DFF22}"/>
              </a:ext>
            </a:extLst>
          </p:cNvPr>
          <p:cNvSpPr txBox="1"/>
          <p:nvPr/>
        </p:nvSpPr>
        <p:spPr>
          <a:xfrm>
            <a:off x="8591735" y="3138105"/>
            <a:ext cx="3333215"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03 Ajuste por sensibilidad</a:t>
            </a:r>
          </a:p>
        </p:txBody>
      </p:sp>
      <p:sp>
        <p:nvSpPr>
          <p:cNvPr id="144" name="Google Shape;453;g3a8a166b9a7_8_346">
            <a:extLst>
              <a:ext uri="{FF2B5EF4-FFF2-40B4-BE49-F238E27FC236}">
                <a16:creationId xmlns:a16="http://schemas.microsoft.com/office/drawing/2014/main" id="{992ADB53-998E-BB1B-5254-C913F0D4EF3C}"/>
              </a:ext>
            </a:extLst>
          </p:cNvPr>
          <p:cNvSpPr txBox="1"/>
          <p:nvPr/>
        </p:nvSpPr>
        <p:spPr>
          <a:xfrm>
            <a:off x="12593285" y="2987519"/>
            <a:ext cx="3138559" cy="6975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olidFill>
                  <a:srgbClr val="FFFFFF"/>
                </a:solidFill>
                <a:sym typeface="Calibri"/>
              </a:rPr>
              <a:t>04 Monitoreo y gestión de excepciones</a:t>
            </a:r>
          </a:p>
        </p:txBody>
      </p:sp>
      <p:cxnSp>
        <p:nvCxnSpPr>
          <p:cNvPr id="145" name="Google Shape;454;g3a8a166b9a7_8_346">
            <a:extLst>
              <a:ext uri="{FF2B5EF4-FFF2-40B4-BE49-F238E27FC236}">
                <a16:creationId xmlns:a16="http://schemas.microsoft.com/office/drawing/2014/main" id="{7313A387-38D0-23C8-10EC-C720699A1F1E}"/>
              </a:ext>
            </a:extLst>
          </p:cNvPr>
          <p:cNvCxnSpPr>
            <a:cxnSpLocks/>
            <a:stCxn id="123" idx="2"/>
            <a:endCxn id="120" idx="0"/>
          </p:cNvCxnSpPr>
          <p:nvPr/>
        </p:nvCxnSpPr>
        <p:spPr>
          <a:xfrm rot="10800000" flipV="1">
            <a:off x="2301270" y="1915678"/>
            <a:ext cx="4960589" cy="1064757"/>
          </a:xfrm>
          <a:prstGeom prst="bentConnector2">
            <a:avLst/>
          </a:prstGeom>
          <a:noFill/>
          <a:ln w="9525" cap="flat" cmpd="sng">
            <a:solidFill>
              <a:schemeClr val="tx1"/>
            </a:solidFill>
            <a:prstDash val="solid"/>
            <a:round/>
            <a:headEnd type="none" w="sm" len="sm"/>
            <a:tailEnd type="triangle" w="med" len="med"/>
          </a:ln>
        </p:spPr>
      </p:cxnSp>
      <p:cxnSp>
        <p:nvCxnSpPr>
          <p:cNvPr id="146" name="Google Shape;455;g3a8a166b9a7_8_346">
            <a:extLst>
              <a:ext uri="{FF2B5EF4-FFF2-40B4-BE49-F238E27FC236}">
                <a16:creationId xmlns:a16="http://schemas.microsoft.com/office/drawing/2014/main" id="{F727C629-858D-8628-4083-35CB5B5CC08A}"/>
              </a:ext>
            </a:extLst>
          </p:cNvPr>
          <p:cNvCxnSpPr>
            <a:cxnSpLocks/>
            <a:stCxn id="123" idx="6"/>
            <a:endCxn id="109" idx="0"/>
          </p:cNvCxnSpPr>
          <p:nvPr/>
        </p:nvCxnSpPr>
        <p:spPr>
          <a:xfrm>
            <a:off x="9197339" y="1915678"/>
            <a:ext cx="4964859" cy="1092141"/>
          </a:xfrm>
          <a:prstGeom prst="bentConnector2">
            <a:avLst/>
          </a:prstGeom>
          <a:noFill/>
          <a:ln w="9525" cap="flat" cmpd="sng">
            <a:solidFill>
              <a:schemeClr val="tx1"/>
            </a:solidFill>
            <a:prstDash val="solid"/>
            <a:round/>
            <a:headEnd type="none" w="sm" len="sm"/>
            <a:tailEnd type="triangle" w="med" len="med"/>
          </a:ln>
        </p:spPr>
      </p:cxnSp>
      <p:cxnSp>
        <p:nvCxnSpPr>
          <p:cNvPr id="147" name="Google Shape;456;g3a8a166b9a7_8_346">
            <a:extLst>
              <a:ext uri="{FF2B5EF4-FFF2-40B4-BE49-F238E27FC236}">
                <a16:creationId xmlns:a16="http://schemas.microsoft.com/office/drawing/2014/main" id="{C5AD163D-A157-5182-2323-8AF8DBDC3B7E}"/>
              </a:ext>
            </a:extLst>
          </p:cNvPr>
          <p:cNvCxnSpPr>
            <a:stCxn id="123" idx="5"/>
            <a:endCxn id="143" idx="0"/>
          </p:cNvCxnSpPr>
          <p:nvPr/>
        </p:nvCxnSpPr>
        <p:spPr>
          <a:xfrm rot="16200000" flipH="1">
            <a:off x="9307773" y="2187536"/>
            <a:ext cx="556691" cy="1344448"/>
          </a:xfrm>
          <a:prstGeom prst="bentConnector3">
            <a:avLst>
              <a:gd name="adj1" fmla="val 38097"/>
            </a:avLst>
          </a:prstGeom>
          <a:noFill/>
          <a:ln w="9525" cap="flat" cmpd="sng">
            <a:solidFill>
              <a:schemeClr val="tx1"/>
            </a:solidFill>
            <a:prstDash val="solid"/>
            <a:round/>
            <a:headEnd type="none" w="sm" len="sm"/>
            <a:tailEnd type="triangle" w="med" len="med"/>
          </a:ln>
        </p:spPr>
      </p:cxnSp>
      <p:sp>
        <p:nvSpPr>
          <p:cNvPr id="148" name="Google Shape;465;g3a8a166b9a7_8_346">
            <a:extLst>
              <a:ext uri="{FF2B5EF4-FFF2-40B4-BE49-F238E27FC236}">
                <a16:creationId xmlns:a16="http://schemas.microsoft.com/office/drawing/2014/main" id="{B182333F-F22D-36FB-D833-346047826239}"/>
              </a:ext>
            </a:extLst>
          </p:cNvPr>
          <p:cNvSpPr txBox="1"/>
          <p:nvPr/>
        </p:nvSpPr>
        <p:spPr>
          <a:xfrm>
            <a:off x="512076" y="3138105"/>
            <a:ext cx="3600000" cy="432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2700"/>
              <a:defRPr/>
            </a:pPr>
            <a:r>
              <a:rPr lang="es-ES_tradnl" sz="1600" b="1" kern="1200" noProof="0" dirty="0">
                <a:solidFill>
                  <a:prstClr val="white"/>
                </a:solidFill>
                <a:latin typeface="Poppins" panose="00000500000000000000" pitchFamily="2" charset="0"/>
                <a:ea typeface="Calibri"/>
                <a:cs typeface="Poppins" panose="00000500000000000000" pitchFamily="2" charset="0"/>
                <a:sym typeface="Calibri"/>
              </a:rPr>
              <a:t>01 Segmentación inteligente</a:t>
            </a:r>
          </a:p>
        </p:txBody>
      </p:sp>
      <p:sp>
        <p:nvSpPr>
          <p:cNvPr id="149" name="Google Shape;466;g3a8a166b9a7_8_346">
            <a:extLst>
              <a:ext uri="{FF2B5EF4-FFF2-40B4-BE49-F238E27FC236}">
                <a16:creationId xmlns:a16="http://schemas.microsoft.com/office/drawing/2014/main" id="{3C1FFA15-F007-78CF-3F87-162F2E738358}"/>
              </a:ext>
            </a:extLst>
          </p:cNvPr>
          <p:cNvSpPr txBox="1"/>
          <p:nvPr/>
        </p:nvSpPr>
        <p:spPr>
          <a:xfrm>
            <a:off x="4347194" y="5610447"/>
            <a:ext cx="3885407" cy="861704"/>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600" b="1" kern="1200" noProof="0" dirty="0">
                <a:latin typeface="Poppins" panose="00000500000000000000" pitchFamily="2" charset="0"/>
                <a:ea typeface="Calibri"/>
                <a:cs typeface="Poppins" panose="00000500000000000000" pitchFamily="2" charset="0"/>
                <a:sym typeface="Calibri"/>
              </a:rPr>
              <a:t>Tasa alineada a rentabilidad objetivo y componentes dinámicos de riesgo</a:t>
            </a:r>
          </a:p>
        </p:txBody>
      </p:sp>
      <p:sp>
        <p:nvSpPr>
          <p:cNvPr id="150" name="Google Shape;467;g3a8a166b9a7_8_346">
            <a:extLst>
              <a:ext uri="{FF2B5EF4-FFF2-40B4-BE49-F238E27FC236}">
                <a16:creationId xmlns:a16="http://schemas.microsoft.com/office/drawing/2014/main" id="{990D182E-F05A-E72B-7FBC-8E209823C522}"/>
              </a:ext>
            </a:extLst>
          </p:cNvPr>
          <p:cNvSpPr txBox="1"/>
          <p:nvPr/>
        </p:nvSpPr>
        <p:spPr>
          <a:xfrm>
            <a:off x="4581633" y="3138105"/>
            <a:ext cx="3421279"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02 Motor de Rentabilidad</a:t>
            </a:r>
          </a:p>
        </p:txBody>
      </p:sp>
      <p:cxnSp>
        <p:nvCxnSpPr>
          <p:cNvPr id="151" name="Google Shape;468;g3a8a166b9a7_8_346">
            <a:extLst>
              <a:ext uri="{FF2B5EF4-FFF2-40B4-BE49-F238E27FC236}">
                <a16:creationId xmlns:a16="http://schemas.microsoft.com/office/drawing/2014/main" id="{F6D2FA04-3479-799B-DE83-9B11E8920E2B}"/>
              </a:ext>
            </a:extLst>
          </p:cNvPr>
          <p:cNvCxnSpPr>
            <a:cxnSpLocks/>
            <a:stCxn id="123" idx="3"/>
            <a:endCxn id="110" idx="0"/>
          </p:cNvCxnSpPr>
          <p:nvPr/>
        </p:nvCxnSpPr>
        <p:spPr>
          <a:xfrm rot="5400000">
            <a:off x="6714277" y="2159041"/>
            <a:ext cx="408651" cy="1253401"/>
          </a:xfrm>
          <a:prstGeom prst="bentConnector3">
            <a:avLst>
              <a:gd name="adj1" fmla="val 50000"/>
            </a:avLst>
          </a:prstGeom>
          <a:noFill/>
          <a:ln w="9525" cap="flat" cmpd="sng">
            <a:solidFill>
              <a:schemeClr val="tx1"/>
            </a:solidFill>
            <a:prstDash val="solid"/>
            <a:round/>
            <a:headEnd type="none" w="sm" len="sm"/>
            <a:tailEnd type="triangle" w="med" len="med"/>
          </a:ln>
        </p:spPr>
      </p:cxnSp>
      <p:grpSp>
        <p:nvGrpSpPr>
          <p:cNvPr id="152" name="Google Shape;470;g3a8a166b9a7_8_346">
            <a:extLst>
              <a:ext uri="{FF2B5EF4-FFF2-40B4-BE49-F238E27FC236}">
                <a16:creationId xmlns:a16="http://schemas.microsoft.com/office/drawing/2014/main" id="{7670E830-C117-3AEC-7BD9-F68807730391}"/>
              </a:ext>
            </a:extLst>
          </p:cNvPr>
          <p:cNvGrpSpPr/>
          <p:nvPr/>
        </p:nvGrpSpPr>
        <p:grpSpPr>
          <a:xfrm>
            <a:off x="4645762" y="3739576"/>
            <a:ext cx="3357500" cy="1937920"/>
            <a:chOff x="4947976" y="3643837"/>
            <a:chExt cx="3357499" cy="1937920"/>
          </a:xfrm>
        </p:grpSpPr>
        <p:grpSp>
          <p:nvGrpSpPr>
            <p:cNvPr id="153" name="Google Shape;471;g3a8a166b9a7_8_346">
              <a:extLst>
                <a:ext uri="{FF2B5EF4-FFF2-40B4-BE49-F238E27FC236}">
                  <a16:creationId xmlns:a16="http://schemas.microsoft.com/office/drawing/2014/main" id="{825EBA03-F223-7AFF-E344-CFB52CA1B9BE}"/>
                </a:ext>
              </a:extLst>
            </p:cNvPr>
            <p:cNvGrpSpPr/>
            <p:nvPr/>
          </p:nvGrpSpPr>
          <p:grpSpPr>
            <a:xfrm>
              <a:off x="4947976" y="3643837"/>
              <a:ext cx="3357499" cy="1937920"/>
              <a:chOff x="4620745" y="3880801"/>
              <a:chExt cx="3357499" cy="1937920"/>
            </a:xfrm>
          </p:grpSpPr>
          <p:grpSp>
            <p:nvGrpSpPr>
              <p:cNvPr id="155" name="Google Shape;472;g3a8a166b9a7_8_346">
                <a:extLst>
                  <a:ext uri="{FF2B5EF4-FFF2-40B4-BE49-F238E27FC236}">
                    <a16:creationId xmlns:a16="http://schemas.microsoft.com/office/drawing/2014/main" id="{E2A1E782-883C-9B9D-9FA8-82D5C37B01A7}"/>
                  </a:ext>
                </a:extLst>
              </p:cNvPr>
              <p:cNvGrpSpPr/>
              <p:nvPr/>
            </p:nvGrpSpPr>
            <p:grpSpPr>
              <a:xfrm>
                <a:off x="5041054" y="3920310"/>
                <a:ext cx="2668940" cy="1381764"/>
                <a:chOff x="247455" y="816623"/>
                <a:chExt cx="8571119" cy="4759668"/>
              </a:xfrm>
            </p:grpSpPr>
            <p:sp>
              <p:nvSpPr>
                <p:cNvPr id="160" name="Google Shape;473;g3a8a166b9a7_8_346">
                  <a:extLst>
                    <a:ext uri="{FF2B5EF4-FFF2-40B4-BE49-F238E27FC236}">
                      <a16:creationId xmlns:a16="http://schemas.microsoft.com/office/drawing/2014/main" id="{5A8194EE-F9A6-D3C5-2CBF-2661AAF1F5FA}"/>
                    </a:ext>
                  </a:extLst>
                </p:cNvPr>
                <p:cNvSpPr/>
                <p:nvPr/>
              </p:nvSpPr>
              <p:spPr>
                <a:xfrm>
                  <a:off x="5173277" y="816623"/>
                  <a:ext cx="470995" cy="417238"/>
                </a:xfrm>
                <a:prstGeom prst="flowChartConnector">
                  <a:avLst/>
                </a:prstGeom>
                <a:solidFill>
                  <a:srgbClr val="BFBFBF"/>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1" name="Google Shape;474;g3a8a166b9a7_8_346">
                  <a:extLst>
                    <a:ext uri="{FF2B5EF4-FFF2-40B4-BE49-F238E27FC236}">
                      <a16:creationId xmlns:a16="http://schemas.microsoft.com/office/drawing/2014/main" id="{BF799836-C612-0F29-B162-68067828A87F}"/>
                    </a:ext>
                  </a:extLst>
                </p:cNvPr>
                <p:cNvSpPr/>
                <p:nvPr/>
              </p:nvSpPr>
              <p:spPr>
                <a:xfrm>
                  <a:off x="6846027" y="2207321"/>
                  <a:ext cx="1056576" cy="1322550"/>
                </a:xfrm>
                <a:prstGeom prst="flowChartAlternateProcess">
                  <a:avLst/>
                </a:prstGeom>
                <a:solidFill>
                  <a:srgbClr val="7B7B7B"/>
                </a:solidFill>
                <a:ln>
                  <a:noFill/>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2" name="Google Shape;475;g3a8a166b9a7_8_346">
                  <a:extLst>
                    <a:ext uri="{FF2B5EF4-FFF2-40B4-BE49-F238E27FC236}">
                      <a16:creationId xmlns:a16="http://schemas.microsoft.com/office/drawing/2014/main" id="{0DEB62B5-4B1C-4E03-3D73-F07212BAF619}"/>
                    </a:ext>
                  </a:extLst>
                </p:cNvPr>
                <p:cNvSpPr/>
                <p:nvPr/>
              </p:nvSpPr>
              <p:spPr>
                <a:xfrm>
                  <a:off x="6444483" y="3753100"/>
                  <a:ext cx="1468755" cy="536288"/>
                </a:xfrm>
                <a:prstGeom prst="roundRect">
                  <a:avLst>
                    <a:gd name="adj" fmla="val 16667"/>
                  </a:avLst>
                </a:prstGeom>
                <a:solidFill>
                  <a:srgbClr val="217378">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3" name="Google Shape;476;g3a8a166b9a7_8_346">
                  <a:extLst>
                    <a:ext uri="{FF2B5EF4-FFF2-40B4-BE49-F238E27FC236}">
                      <a16:creationId xmlns:a16="http://schemas.microsoft.com/office/drawing/2014/main" id="{338F2021-757A-F5F7-4840-E6AA8BB9271B}"/>
                    </a:ext>
                  </a:extLst>
                </p:cNvPr>
                <p:cNvSpPr/>
                <p:nvPr/>
              </p:nvSpPr>
              <p:spPr>
                <a:xfrm>
                  <a:off x="500733" y="4986740"/>
                  <a:ext cx="1603400" cy="568050"/>
                </a:xfrm>
                <a:prstGeom prst="rect">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4" name="Google Shape;477;g3a8a166b9a7_8_346">
                  <a:extLst>
                    <a:ext uri="{FF2B5EF4-FFF2-40B4-BE49-F238E27FC236}">
                      <a16:creationId xmlns:a16="http://schemas.microsoft.com/office/drawing/2014/main" id="{14613E79-6C67-E397-6EF0-0ABCB6049479}"/>
                    </a:ext>
                  </a:extLst>
                </p:cNvPr>
                <p:cNvSpPr/>
                <p:nvPr/>
              </p:nvSpPr>
              <p:spPr>
                <a:xfrm>
                  <a:off x="1564684" y="1865567"/>
                  <a:ext cx="4777332" cy="3710724"/>
                </a:xfrm>
                <a:prstGeom prst="flowChartAlternateProcess">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5" name="Google Shape;478;g3a8a166b9a7_8_346">
                  <a:extLst>
                    <a:ext uri="{FF2B5EF4-FFF2-40B4-BE49-F238E27FC236}">
                      <a16:creationId xmlns:a16="http://schemas.microsoft.com/office/drawing/2014/main" id="{767BE4CB-3495-5E6A-BC36-26F79D6EFAEE}"/>
                    </a:ext>
                  </a:extLst>
                </p:cNvPr>
                <p:cNvSpPr/>
                <p:nvPr/>
              </p:nvSpPr>
              <p:spPr>
                <a:xfrm rot="-9043956">
                  <a:off x="247455" y="3453645"/>
                  <a:ext cx="1000092" cy="572202"/>
                </a:xfrm>
                <a:prstGeom prst="diagStripe">
                  <a:avLst>
                    <a:gd name="adj" fmla="val 5000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66" name="Google Shape;479;g3a8a166b9a7_8_346">
                  <a:extLst>
                    <a:ext uri="{FF2B5EF4-FFF2-40B4-BE49-F238E27FC236}">
                      <a16:creationId xmlns:a16="http://schemas.microsoft.com/office/drawing/2014/main" id="{672C6058-D4DA-31C8-7612-5786D0AD01AB}"/>
                    </a:ext>
                  </a:extLst>
                </p:cNvPr>
                <p:cNvSpPr/>
                <p:nvPr/>
              </p:nvSpPr>
              <p:spPr>
                <a:xfrm>
                  <a:off x="497840" y="3992818"/>
                  <a:ext cx="760065" cy="988092"/>
                </a:xfrm>
                <a:prstGeom prst="snip2SameRect">
                  <a:avLst>
                    <a:gd name="adj1" fmla="val 16667"/>
                    <a:gd name="adj2" fmla="val 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7" name="Google Shape;480;g3a8a166b9a7_8_346">
                  <a:extLst>
                    <a:ext uri="{FF2B5EF4-FFF2-40B4-BE49-F238E27FC236}">
                      <a16:creationId xmlns:a16="http://schemas.microsoft.com/office/drawing/2014/main" id="{1F57235C-8036-EE33-B5C0-DB2281CE50D5}"/>
                    </a:ext>
                  </a:extLst>
                </p:cNvPr>
                <p:cNvSpPr/>
                <p:nvPr/>
              </p:nvSpPr>
              <p:spPr>
                <a:xfrm>
                  <a:off x="6096001" y="3619447"/>
                  <a:ext cx="328590" cy="774450"/>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8" name="Google Shape;481;g3a8a166b9a7_8_346">
                  <a:extLst>
                    <a:ext uri="{FF2B5EF4-FFF2-40B4-BE49-F238E27FC236}">
                      <a16:creationId xmlns:a16="http://schemas.microsoft.com/office/drawing/2014/main" id="{7D600EBA-C34B-975D-6366-001EA4AC91D0}"/>
                    </a:ext>
                  </a:extLst>
                </p:cNvPr>
                <p:cNvSpPr/>
                <p:nvPr/>
              </p:nvSpPr>
              <p:spPr>
                <a:xfrm>
                  <a:off x="1971040" y="1057362"/>
                  <a:ext cx="3487910" cy="816900"/>
                </a:xfrm>
                <a:prstGeom prst="flowChartTerminator">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9" name="Google Shape;482;g3a8a166b9a7_8_346">
                  <a:extLst>
                    <a:ext uri="{FF2B5EF4-FFF2-40B4-BE49-F238E27FC236}">
                      <a16:creationId xmlns:a16="http://schemas.microsoft.com/office/drawing/2014/main" id="{9E588B0A-6954-DC55-3BF8-12E83F49AA02}"/>
                    </a:ext>
                  </a:extLst>
                </p:cNvPr>
                <p:cNvSpPr/>
                <p:nvPr/>
              </p:nvSpPr>
              <p:spPr>
                <a:xfrm>
                  <a:off x="6425043" y="3832091"/>
                  <a:ext cx="1607485" cy="536288"/>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0" name="Google Shape;483;g3a8a166b9a7_8_346">
                  <a:extLst>
                    <a:ext uri="{FF2B5EF4-FFF2-40B4-BE49-F238E27FC236}">
                      <a16:creationId xmlns:a16="http://schemas.microsoft.com/office/drawing/2014/main" id="{0FDAEC7E-764F-7416-4B58-D9435ECD3DD3}"/>
                    </a:ext>
                  </a:extLst>
                </p:cNvPr>
                <p:cNvSpPr/>
                <p:nvPr/>
              </p:nvSpPr>
              <p:spPr>
                <a:xfrm>
                  <a:off x="6424590" y="3842251"/>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1" name="Google Shape;484;g3a8a166b9a7_8_346">
                  <a:extLst>
                    <a:ext uri="{FF2B5EF4-FFF2-40B4-BE49-F238E27FC236}">
                      <a16:creationId xmlns:a16="http://schemas.microsoft.com/office/drawing/2014/main" id="{8B602566-3E9A-C76C-5F23-5F8E580E4562}"/>
                    </a:ext>
                  </a:extLst>
                </p:cNvPr>
                <p:cNvSpPr/>
                <p:nvPr/>
              </p:nvSpPr>
              <p:spPr>
                <a:xfrm>
                  <a:off x="7521856" y="3823916"/>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2" name="Google Shape;485;g3a8a166b9a7_8_346">
                  <a:extLst>
                    <a:ext uri="{FF2B5EF4-FFF2-40B4-BE49-F238E27FC236}">
                      <a16:creationId xmlns:a16="http://schemas.microsoft.com/office/drawing/2014/main" id="{D92993B9-0FAB-FB3C-B4EB-B714F7EE2551}"/>
                    </a:ext>
                  </a:extLst>
                </p:cNvPr>
                <p:cNvSpPr/>
                <p:nvPr/>
              </p:nvSpPr>
              <p:spPr>
                <a:xfrm>
                  <a:off x="6928441" y="3937656"/>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3" name="Google Shape;486;g3a8a166b9a7_8_346">
                  <a:extLst>
                    <a:ext uri="{FF2B5EF4-FFF2-40B4-BE49-F238E27FC236}">
                      <a16:creationId xmlns:a16="http://schemas.microsoft.com/office/drawing/2014/main" id="{73CA3F94-64A6-E3DC-6373-36F281E9A6FD}"/>
                    </a:ext>
                  </a:extLst>
                </p:cNvPr>
                <p:cNvSpPr/>
                <p:nvPr/>
              </p:nvSpPr>
              <p:spPr>
                <a:xfrm>
                  <a:off x="7219069" y="3951827"/>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cxnSp>
              <p:nvCxnSpPr>
                <p:cNvPr id="174" name="Google Shape;487;g3a8a166b9a7_8_346">
                  <a:extLst>
                    <a:ext uri="{FF2B5EF4-FFF2-40B4-BE49-F238E27FC236}">
                      <a16:creationId xmlns:a16="http://schemas.microsoft.com/office/drawing/2014/main" id="{8B4F636B-67B0-BA5B-703D-96505FB27EDF}"/>
                    </a:ext>
                  </a:extLst>
                </p:cNvPr>
                <p:cNvCxnSpPr/>
                <p:nvPr/>
              </p:nvCxnSpPr>
              <p:spPr>
                <a:xfrm>
                  <a:off x="2234261" y="3314997"/>
                  <a:ext cx="3249826" cy="25410"/>
                </a:xfrm>
                <a:prstGeom prst="straightConnector1">
                  <a:avLst/>
                </a:prstGeom>
                <a:noFill/>
                <a:ln w="9525" cap="flat" cmpd="sng">
                  <a:solidFill>
                    <a:srgbClr val="217378"/>
                  </a:solidFill>
                  <a:prstDash val="solid"/>
                  <a:round/>
                  <a:headEnd type="none" w="sm" len="sm"/>
                  <a:tailEnd type="triangle" w="med" len="med"/>
                </a:ln>
              </p:spPr>
            </p:cxnSp>
            <p:cxnSp>
              <p:nvCxnSpPr>
                <p:cNvPr id="175" name="Google Shape;488;g3a8a166b9a7_8_346">
                  <a:extLst>
                    <a:ext uri="{FF2B5EF4-FFF2-40B4-BE49-F238E27FC236}">
                      <a16:creationId xmlns:a16="http://schemas.microsoft.com/office/drawing/2014/main" id="{37FF36A7-6D7C-8A71-D2ED-25DA69E7F16E}"/>
                    </a:ext>
                  </a:extLst>
                </p:cNvPr>
                <p:cNvCxnSpPr/>
                <p:nvPr/>
              </p:nvCxnSpPr>
              <p:spPr>
                <a:xfrm>
                  <a:off x="2255368" y="3725054"/>
                  <a:ext cx="2876550" cy="0"/>
                </a:xfrm>
                <a:prstGeom prst="straightConnector1">
                  <a:avLst/>
                </a:prstGeom>
                <a:noFill/>
                <a:ln w="9525" cap="flat" cmpd="sng">
                  <a:solidFill>
                    <a:srgbClr val="217378"/>
                  </a:solidFill>
                  <a:prstDash val="solid"/>
                  <a:round/>
                  <a:headEnd type="none" w="sm" len="sm"/>
                  <a:tailEnd type="none" w="sm" len="sm"/>
                </a:ln>
              </p:spPr>
            </p:cxnSp>
            <p:sp>
              <p:nvSpPr>
                <p:cNvPr id="176" name="Google Shape;489;g3a8a166b9a7_8_346">
                  <a:extLst>
                    <a:ext uri="{FF2B5EF4-FFF2-40B4-BE49-F238E27FC236}">
                      <a16:creationId xmlns:a16="http://schemas.microsoft.com/office/drawing/2014/main" id="{71176E98-C1A6-96AC-62F1-173DEAE056F4}"/>
                    </a:ext>
                  </a:extLst>
                </p:cNvPr>
                <p:cNvSpPr/>
                <p:nvPr/>
              </p:nvSpPr>
              <p:spPr>
                <a:xfrm>
                  <a:off x="2286000" y="2186764"/>
                  <a:ext cx="223796" cy="111608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7" name="Google Shape;490;g3a8a166b9a7_8_346">
                  <a:extLst>
                    <a:ext uri="{FF2B5EF4-FFF2-40B4-BE49-F238E27FC236}">
                      <a16:creationId xmlns:a16="http://schemas.microsoft.com/office/drawing/2014/main" id="{5BF60190-4DDF-E0F6-89E7-F2B9ECE0857E}"/>
                    </a:ext>
                  </a:extLst>
                </p:cNvPr>
                <p:cNvSpPr/>
                <p:nvPr/>
              </p:nvSpPr>
              <p:spPr>
                <a:xfrm>
                  <a:off x="2581275" y="2321724"/>
                  <a:ext cx="195221" cy="98112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8" name="Google Shape;491;g3a8a166b9a7_8_346">
                  <a:extLst>
                    <a:ext uri="{FF2B5EF4-FFF2-40B4-BE49-F238E27FC236}">
                      <a16:creationId xmlns:a16="http://schemas.microsoft.com/office/drawing/2014/main" id="{64036925-FF9C-F3D4-0AC0-08850D48DFD5}"/>
                    </a:ext>
                  </a:extLst>
                </p:cNvPr>
                <p:cNvSpPr/>
                <p:nvPr/>
              </p:nvSpPr>
              <p:spPr>
                <a:xfrm>
                  <a:off x="2886075" y="2439418"/>
                  <a:ext cx="195221" cy="86343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9" name="Google Shape;492;g3a8a166b9a7_8_346">
                  <a:extLst>
                    <a:ext uri="{FF2B5EF4-FFF2-40B4-BE49-F238E27FC236}">
                      <a16:creationId xmlns:a16="http://schemas.microsoft.com/office/drawing/2014/main" id="{B033FBC2-ACE8-939D-611A-FF3971E37DDA}"/>
                    </a:ext>
                  </a:extLst>
                </p:cNvPr>
                <p:cNvSpPr/>
                <p:nvPr/>
              </p:nvSpPr>
              <p:spPr>
                <a:xfrm>
                  <a:off x="3190875" y="2588426"/>
                  <a:ext cx="195221" cy="714423"/>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0" name="Google Shape;493;g3a8a166b9a7_8_346">
                  <a:extLst>
                    <a:ext uri="{FF2B5EF4-FFF2-40B4-BE49-F238E27FC236}">
                      <a16:creationId xmlns:a16="http://schemas.microsoft.com/office/drawing/2014/main" id="{41322139-60E3-4CE3-0618-7C7FB5BD9C65}"/>
                    </a:ext>
                  </a:extLst>
                </p:cNvPr>
                <p:cNvSpPr/>
                <p:nvPr/>
              </p:nvSpPr>
              <p:spPr>
                <a:xfrm>
                  <a:off x="3486150" y="2730083"/>
                  <a:ext cx="195221" cy="58229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1" name="Google Shape;494;g3a8a166b9a7_8_346">
                  <a:extLst>
                    <a:ext uri="{FF2B5EF4-FFF2-40B4-BE49-F238E27FC236}">
                      <a16:creationId xmlns:a16="http://schemas.microsoft.com/office/drawing/2014/main" id="{7380AA96-3D8C-68DD-077B-F33FD1C06B7F}"/>
                    </a:ext>
                  </a:extLst>
                </p:cNvPr>
                <p:cNvSpPr/>
                <p:nvPr/>
              </p:nvSpPr>
              <p:spPr>
                <a:xfrm>
                  <a:off x="3790950" y="2868597"/>
                  <a:ext cx="161597" cy="443777"/>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2" name="Google Shape;495;g3a8a166b9a7_8_346">
                  <a:extLst>
                    <a:ext uri="{FF2B5EF4-FFF2-40B4-BE49-F238E27FC236}">
                      <a16:creationId xmlns:a16="http://schemas.microsoft.com/office/drawing/2014/main" id="{E3AB200D-CD01-A77A-764F-89CECFD599D4}"/>
                    </a:ext>
                  </a:extLst>
                </p:cNvPr>
                <p:cNvSpPr/>
                <p:nvPr/>
              </p:nvSpPr>
              <p:spPr>
                <a:xfrm>
                  <a:off x="4124325" y="2988865"/>
                  <a:ext cx="159839" cy="323510"/>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3" name="Google Shape;496;g3a8a166b9a7_8_346">
                  <a:extLst>
                    <a:ext uri="{FF2B5EF4-FFF2-40B4-BE49-F238E27FC236}">
                      <a16:creationId xmlns:a16="http://schemas.microsoft.com/office/drawing/2014/main" id="{768E2881-433E-F631-4F2C-984B521A9EE0}"/>
                    </a:ext>
                  </a:extLst>
                </p:cNvPr>
                <p:cNvSpPr/>
                <p:nvPr/>
              </p:nvSpPr>
              <p:spPr>
                <a:xfrm>
                  <a:off x="2295525" y="3729814"/>
                  <a:ext cx="223796" cy="111608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4" name="Google Shape;497;g3a8a166b9a7_8_346">
                  <a:extLst>
                    <a:ext uri="{FF2B5EF4-FFF2-40B4-BE49-F238E27FC236}">
                      <a16:creationId xmlns:a16="http://schemas.microsoft.com/office/drawing/2014/main" id="{942A7CC8-B667-1F0A-3FC0-3AB4B24ECCB9}"/>
                    </a:ext>
                  </a:extLst>
                </p:cNvPr>
                <p:cNvSpPr/>
                <p:nvPr/>
              </p:nvSpPr>
              <p:spPr>
                <a:xfrm>
                  <a:off x="2590800" y="3731424"/>
                  <a:ext cx="195221" cy="98112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5" name="Google Shape;498;g3a8a166b9a7_8_346">
                  <a:extLst>
                    <a:ext uri="{FF2B5EF4-FFF2-40B4-BE49-F238E27FC236}">
                      <a16:creationId xmlns:a16="http://schemas.microsoft.com/office/drawing/2014/main" id="{69486052-0CEE-E95B-FA3D-C7BCD5911777}"/>
                    </a:ext>
                  </a:extLst>
                </p:cNvPr>
                <p:cNvSpPr/>
                <p:nvPr/>
              </p:nvSpPr>
              <p:spPr>
                <a:xfrm>
                  <a:off x="2895600" y="3734818"/>
                  <a:ext cx="195221" cy="86343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6" name="Google Shape;499;g3a8a166b9a7_8_346">
                  <a:extLst>
                    <a:ext uri="{FF2B5EF4-FFF2-40B4-BE49-F238E27FC236}">
                      <a16:creationId xmlns:a16="http://schemas.microsoft.com/office/drawing/2014/main" id="{4DFF9EC4-4D48-634B-7B94-ABB775E03603}"/>
                    </a:ext>
                  </a:extLst>
                </p:cNvPr>
                <p:cNvSpPr/>
                <p:nvPr/>
              </p:nvSpPr>
              <p:spPr>
                <a:xfrm>
                  <a:off x="3200400" y="3731426"/>
                  <a:ext cx="195221" cy="714423"/>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7" name="Google Shape;500;g3a8a166b9a7_8_346">
                  <a:extLst>
                    <a:ext uri="{FF2B5EF4-FFF2-40B4-BE49-F238E27FC236}">
                      <a16:creationId xmlns:a16="http://schemas.microsoft.com/office/drawing/2014/main" id="{FFE61DFE-9FE3-928F-A916-D9AFE2319037}"/>
                    </a:ext>
                  </a:extLst>
                </p:cNvPr>
                <p:cNvSpPr/>
                <p:nvPr/>
              </p:nvSpPr>
              <p:spPr>
                <a:xfrm>
                  <a:off x="3495675" y="3730208"/>
                  <a:ext cx="195221" cy="58229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8" name="Google Shape;501;g3a8a166b9a7_8_346">
                  <a:extLst>
                    <a:ext uri="{FF2B5EF4-FFF2-40B4-BE49-F238E27FC236}">
                      <a16:creationId xmlns:a16="http://schemas.microsoft.com/office/drawing/2014/main" id="{F6979EDF-1B3E-89AB-34B9-21D008225889}"/>
                    </a:ext>
                  </a:extLst>
                </p:cNvPr>
                <p:cNvSpPr/>
                <p:nvPr/>
              </p:nvSpPr>
              <p:spPr>
                <a:xfrm>
                  <a:off x="3800475" y="3735372"/>
                  <a:ext cx="161597" cy="443777"/>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9" name="Google Shape;502;g3a8a166b9a7_8_346">
                  <a:extLst>
                    <a:ext uri="{FF2B5EF4-FFF2-40B4-BE49-F238E27FC236}">
                      <a16:creationId xmlns:a16="http://schemas.microsoft.com/office/drawing/2014/main" id="{D12A4B43-8449-C5C9-09C0-265D67E0F868}"/>
                    </a:ext>
                  </a:extLst>
                </p:cNvPr>
                <p:cNvSpPr/>
                <p:nvPr/>
              </p:nvSpPr>
              <p:spPr>
                <a:xfrm>
                  <a:off x="4133850" y="3731815"/>
                  <a:ext cx="159839" cy="323510"/>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0" name="Google Shape;503;g3a8a166b9a7_8_346">
                  <a:extLst>
                    <a:ext uri="{FF2B5EF4-FFF2-40B4-BE49-F238E27FC236}">
                      <a16:creationId xmlns:a16="http://schemas.microsoft.com/office/drawing/2014/main" id="{AEC87B82-BDF7-EBB5-7DB4-5BEFF9147B48}"/>
                    </a:ext>
                  </a:extLst>
                </p:cNvPr>
                <p:cNvSpPr/>
                <p:nvPr/>
              </p:nvSpPr>
              <p:spPr>
                <a:xfrm>
                  <a:off x="5076408" y="1169053"/>
                  <a:ext cx="690149" cy="700096"/>
                </a:xfrm>
                <a:prstGeom prst="snip2SameRect">
                  <a:avLst>
                    <a:gd name="adj1" fmla="val 16667"/>
                    <a:gd name="adj2" fmla="val 0"/>
                  </a:avLst>
                </a:prstGeom>
                <a:solidFill>
                  <a:srgbClr val="005C2A"/>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1" name="Google Shape;504;g3a8a166b9a7_8_346">
                  <a:extLst>
                    <a:ext uri="{FF2B5EF4-FFF2-40B4-BE49-F238E27FC236}">
                      <a16:creationId xmlns:a16="http://schemas.microsoft.com/office/drawing/2014/main" id="{BC00D542-3C57-6D3D-0FB3-6D28763D673F}"/>
                    </a:ext>
                  </a:extLst>
                </p:cNvPr>
                <p:cNvPicPr preferRelativeResize="0"/>
                <p:nvPr/>
              </p:nvPicPr>
              <p:blipFill rotWithShape="1">
                <a:blip r:embed="rId3">
                  <a:alphaModFix/>
                </a:blip>
                <a:srcRect/>
                <a:stretch/>
              </p:blipFill>
              <p:spPr>
                <a:xfrm>
                  <a:off x="5539080" y="2010359"/>
                  <a:ext cx="660717" cy="660718"/>
                </a:xfrm>
                <a:prstGeom prst="rect">
                  <a:avLst/>
                </a:prstGeom>
                <a:noFill/>
                <a:ln>
                  <a:noFill/>
                </a:ln>
              </p:spPr>
            </p:pic>
            <p:sp>
              <p:nvSpPr>
                <p:cNvPr id="192" name="Google Shape;505;g3a8a166b9a7_8_346">
                  <a:extLst>
                    <a:ext uri="{FF2B5EF4-FFF2-40B4-BE49-F238E27FC236}">
                      <a16:creationId xmlns:a16="http://schemas.microsoft.com/office/drawing/2014/main" id="{00408AC4-18C6-BE87-97CD-FAA192023FE0}"/>
                    </a:ext>
                  </a:extLst>
                </p:cNvPr>
                <p:cNvSpPr/>
                <p:nvPr/>
              </p:nvSpPr>
              <p:spPr>
                <a:xfrm>
                  <a:off x="5074890" y="2603392"/>
                  <a:ext cx="1254882" cy="637095"/>
                </a:xfrm>
                <a:prstGeom prst="flowChartAlternateProcess">
                  <a:avLst/>
                </a:prstGeom>
                <a:solidFill>
                  <a:srgbClr val="85AEAD"/>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3" name="Google Shape;506;g3a8a166b9a7_8_346">
                  <a:extLst>
                    <a:ext uri="{FF2B5EF4-FFF2-40B4-BE49-F238E27FC236}">
                      <a16:creationId xmlns:a16="http://schemas.microsoft.com/office/drawing/2014/main" id="{3994BD1D-4594-0C0E-CD12-ADD425F746CD}"/>
                    </a:ext>
                  </a:extLst>
                </p:cNvPr>
                <p:cNvSpPr/>
                <p:nvPr/>
              </p:nvSpPr>
              <p:spPr>
                <a:xfrm rot="-1573174">
                  <a:off x="4722195" y="3724733"/>
                  <a:ext cx="1145800" cy="417133"/>
                </a:xfrm>
                <a:prstGeom prst="curvedUpArrow">
                  <a:avLst>
                    <a:gd name="adj1" fmla="val 25000"/>
                    <a:gd name="adj2" fmla="val 50000"/>
                    <a:gd name="adj3" fmla="val 25000"/>
                  </a:avLst>
                </a:prstGeom>
                <a:solidFill>
                  <a:srgbClr val="85AEAD"/>
                </a:solidFill>
                <a:ln w="9525" cap="flat" cmpd="sng">
                  <a:solidFill>
                    <a:srgbClr val="17201F"/>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4" name="Google Shape;507;g3a8a166b9a7_8_346">
                  <a:extLst>
                    <a:ext uri="{FF2B5EF4-FFF2-40B4-BE49-F238E27FC236}">
                      <a16:creationId xmlns:a16="http://schemas.microsoft.com/office/drawing/2014/main" id="{7393E558-53F0-527D-BD2F-A591EE405A1E}"/>
                    </a:ext>
                  </a:extLst>
                </p:cNvPr>
                <p:cNvSpPr/>
                <p:nvPr/>
              </p:nvSpPr>
              <p:spPr>
                <a:xfrm rot="5400000">
                  <a:off x="5403442" y="1608910"/>
                  <a:ext cx="64592" cy="680614"/>
                </a:xfrm>
                <a:prstGeom prst="rightBrace">
                  <a:avLst>
                    <a:gd name="adj1" fmla="val 8333"/>
                    <a:gd name="adj2" fmla="val 50000"/>
                  </a:avLst>
                </a:prstGeom>
                <a:no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5" name="Google Shape;508;g3a8a166b9a7_8_346">
                  <a:extLst>
                    <a:ext uri="{FF2B5EF4-FFF2-40B4-BE49-F238E27FC236}">
                      <a16:creationId xmlns:a16="http://schemas.microsoft.com/office/drawing/2014/main" id="{2F8CA74C-B4AC-CB2A-A42E-24ACBE7044D7}"/>
                    </a:ext>
                  </a:extLst>
                </p:cNvPr>
                <p:cNvSpPr txBox="1"/>
                <p:nvPr/>
              </p:nvSpPr>
              <p:spPr>
                <a:xfrm>
                  <a:off x="6628006" y="2542332"/>
                  <a:ext cx="2190568" cy="84790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solidFill>
                        <a:prstClr val="white"/>
                      </a:solidFill>
                      <a:latin typeface="Poppins" panose="00000500000000000000" pitchFamily="2" charset="0"/>
                      <a:ea typeface="Calibri"/>
                      <a:cs typeface="Poppins" panose="00000500000000000000" pitchFamily="2" charset="0"/>
                      <a:sym typeface="Calibri"/>
                    </a:rPr>
                    <a:t>TEA</a:t>
                  </a:r>
                  <a:endParaRPr lang="es-ES_tradnl" sz="1900" kern="1200" noProof="0" dirty="0">
                    <a:latin typeface="Poppins" panose="00000500000000000000" pitchFamily="2" charset="0"/>
                    <a:ea typeface="Calibri"/>
                    <a:cs typeface="Poppins" panose="00000500000000000000" pitchFamily="2" charset="0"/>
                    <a:sym typeface="Calibri"/>
                  </a:endParaRPr>
                </a:p>
              </p:txBody>
            </p:sp>
          </p:grpSp>
          <p:sp>
            <p:nvSpPr>
              <p:cNvPr id="156" name="Google Shape;509;g3a8a166b9a7_8_346">
                <a:extLst>
                  <a:ext uri="{FF2B5EF4-FFF2-40B4-BE49-F238E27FC236}">
                    <a16:creationId xmlns:a16="http://schemas.microsoft.com/office/drawing/2014/main" id="{19C32FD1-A0DE-5B51-F5F2-F83201396FB3}"/>
                  </a:ext>
                </a:extLst>
              </p:cNvPr>
              <p:cNvSpPr/>
              <p:nvPr/>
            </p:nvSpPr>
            <p:spPr>
              <a:xfrm>
                <a:off x="4620745" y="4258483"/>
                <a:ext cx="745072" cy="378796"/>
              </a:xfrm>
              <a:prstGeom prst="rect">
                <a:avLst/>
              </a:prstGeom>
              <a:solidFill>
                <a:srgbClr val="E9F8F3">
                  <a:alpha val="50196"/>
                </a:srgbClr>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200"/>
                  <a:defRPr/>
                </a:pPr>
                <a:r>
                  <a:rPr lang="es-ES_tradnl" sz="1200" kern="1200" noProof="0" dirty="0">
                    <a:solidFill>
                      <a:prstClr val="black"/>
                    </a:solidFill>
                    <a:latin typeface="Poppins" panose="00000500000000000000" pitchFamily="2" charset="0"/>
                    <a:ea typeface="Calibri"/>
                    <a:cs typeface="Poppins" panose="00000500000000000000" pitchFamily="2" charset="0"/>
                    <a:sym typeface="Calibri"/>
                  </a:rPr>
                  <a:t>INPUT</a:t>
                </a:r>
                <a:endParaRPr lang="es-ES_tradnl" sz="1900" kern="1200" noProof="0" dirty="0">
                  <a:latin typeface="Poppins" panose="00000500000000000000" pitchFamily="2" charset="0"/>
                  <a:ea typeface="Calibri"/>
                  <a:cs typeface="Poppins" panose="00000500000000000000" pitchFamily="2" charset="0"/>
                  <a:sym typeface="Calibri"/>
                </a:endParaRPr>
              </a:p>
            </p:txBody>
          </p:sp>
          <p:cxnSp>
            <p:nvCxnSpPr>
              <p:cNvPr id="157" name="Google Shape;510;g3a8a166b9a7_8_346">
                <a:extLst>
                  <a:ext uri="{FF2B5EF4-FFF2-40B4-BE49-F238E27FC236}">
                    <a16:creationId xmlns:a16="http://schemas.microsoft.com/office/drawing/2014/main" id="{274E8029-11A2-78AC-C92B-B7834C2C5C43}"/>
                  </a:ext>
                </a:extLst>
              </p:cNvPr>
              <p:cNvCxnSpPr>
                <a:stCxn id="190" idx="0"/>
              </p:cNvCxnSpPr>
              <p:nvPr/>
            </p:nvCxnSpPr>
            <p:spPr>
              <a:xfrm rot="10800000" flipH="1">
                <a:off x="6759636" y="4008743"/>
                <a:ext cx="329100" cy="115500"/>
              </a:xfrm>
              <a:prstGeom prst="bentConnector3">
                <a:avLst>
                  <a:gd name="adj1" fmla="val -49402"/>
                </a:avLst>
              </a:prstGeom>
              <a:noFill/>
              <a:ln w="9525" cap="flat" cmpd="sng">
                <a:solidFill>
                  <a:srgbClr val="354A49"/>
                </a:solidFill>
                <a:prstDash val="solid"/>
                <a:round/>
                <a:headEnd type="none" w="sm" len="sm"/>
                <a:tailEnd type="triangle" w="med" len="med"/>
              </a:ln>
            </p:spPr>
          </p:cxnSp>
          <p:sp>
            <p:nvSpPr>
              <p:cNvPr id="158" name="Google Shape;511;g3a8a166b9a7_8_346">
                <a:extLst>
                  <a:ext uri="{FF2B5EF4-FFF2-40B4-BE49-F238E27FC236}">
                    <a16:creationId xmlns:a16="http://schemas.microsoft.com/office/drawing/2014/main" id="{55B08F9F-1986-00CC-A26F-5187136464A9}"/>
                  </a:ext>
                </a:extLst>
              </p:cNvPr>
              <p:cNvSpPr txBox="1"/>
              <p:nvPr/>
            </p:nvSpPr>
            <p:spPr>
              <a:xfrm>
                <a:off x="7027882" y="3880801"/>
                <a:ext cx="950362" cy="3692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RAROC</a:t>
                </a:r>
                <a:endParaRPr lang="es-ES_tradnl" sz="1900" kern="1200" noProof="0" dirty="0">
                  <a:latin typeface="Poppins" panose="00000500000000000000" pitchFamily="2" charset="0"/>
                  <a:ea typeface="Calibri"/>
                  <a:cs typeface="Poppins" panose="00000500000000000000" pitchFamily="2" charset="0"/>
                  <a:sym typeface="Calibri"/>
                </a:endParaRPr>
              </a:p>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Objetivo</a:t>
                </a:r>
                <a:endParaRPr lang="es-ES_tradnl" sz="1900" kern="1200" noProof="0" dirty="0">
                  <a:latin typeface="Poppins" panose="00000500000000000000" pitchFamily="2" charset="0"/>
                  <a:ea typeface="Calibri"/>
                  <a:cs typeface="Poppins" panose="00000500000000000000" pitchFamily="2" charset="0"/>
                  <a:sym typeface="Calibri"/>
                </a:endParaRPr>
              </a:p>
            </p:txBody>
          </p:sp>
          <p:sp>
            <p:nvSpPr>
              <p:cNvPr id="159" name="Google Shape;512;g3a8a166b9a7_8_346">
                <a:extLst>
                  <a:ext uri="{FF2B5EF4-FFF2-40B4-BE49-F238E27FC236}">
                    <a16:creationId xmlns:a16="http://schemas.microsoft.com/office/drawing/2014/main" id="{9A7CBC28-1706-263A-6700-2E28B9014A64}"/>
                  </a:ext>
                </a:extLst>
              </p:cNvPr>
              <p:cNvSpPr txBox="1"/>
              <p:nvPr/>
            </p:nvSpPr>
            <p:spPr>
              <a:xfrm>
                <a:off x="5776217" y="5403293"/>
                <a:ext cx="836053" cy="415428"/>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900" kern="1200" noProof="0" dirty="0">
                    <a:latin typeface="Poppins" panose="00000500000000000000" pitchFamily="2" charset="0"/>
                    <a:ea typeface="Calibri"/>
                    <a:cs typeface="Poppins" panose="00000500000000000000" pitchFamily="2" charset="0"/>
                    <a:sym typeface="Calibri"/>
                  </a:rPr>
                  <a:t>CLV</a:t>
                </a:r>
              </a:p>
            </p:txBody>
          </p:sp>
        </p:grpSp>
        <p:sp>
          <p:nvSpPr>
            <p:cNvPr id="154" name="Google Shape;513;g3a8a166b9a7_8_346">
              <a:extLst>
                <a:ext uri="{FF2B5EF4-FFF2-40B4-BE49-F238E27FC236}">
                  <a16:creationId xmlns:a16="http://schemas.microsoft.com/office/drawing/2014/main" id="{50BA34D7-B925-FE90-354B-DFFBC410D5F9}"/>
                </a:ext>
              </a:extLst>
            </p:cNvPr>
            <p:cNvSpPr/>
            <p:nvPr/>
          </p:nvSpPr>
          <p:spPr>
            <a:xfrm>
              <a:off x="5481891" y="4644295"/>
              <a:ext cx="185441" cy="232859"/>
            </a:xfrm>
            <a:prstGeom prst="downArrow">
              <a:avLst>
                <a:gd name="adj1" fmla="val 50000"/>
                <a:gd name="adj2" fmla="val 50000"/>
              </a:avLst>
            </a:prstGeom>
            <a:solidFill>
              <a:srgbClr val="7B7B7B"/>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sp>
        <p:nvSpPr>
          <p:cNvPr id="196" name="Google Shape;514;g3a8a166b9a7_8_346">
            <a:extLst>
              <a:ext uri="{FF2B5EF4-FFF2-40B4-BE49-F238E27FC236}">
                <a16:creationId xmlns:a16="http://schemas.microsoft.com/office/drawing/2014/main" id="{692D4DCE-89A0-D6B8-C778-4061C7664C8D}"/>
              </a:ext>
            </a:extLst>
          </p:cNvPr>
          <p:cNvSpPr/>
          <p:nvPr/>
        </p:nvSpPr>
        <p:spPr>
          <a:xfrm>
            <a:off x="297179" y="2918579"/>
            <a:ext cx="3916640" cy="5564556"/>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7" name="Google Shape;515;g3a8a166b9a7_8_346">
            <a:extLst>
              <a:ext uri="{FF2B5EF4-FFF2-40B4-BE49-F238E27FC236}">
                <a16:creationId xmlns:a16="http://schemas.microsoft.com/office/drawing/2014/main" id="{13DA45DA-B186-0C3E-80C0-A5944195689C}"/>
              </a:ext>
            </a:extLst>
          </p:cNvPr>
          <p:cNvSpPr/>
          <p:nvPr/>
        </p:nvSpPr>
        <p:spPr>
          <a:xfrm>
            <a:off x="8348211" y="2921220"/>
            <a:ext cx="3904371" cy="5560693"/>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8" name="Google Shape;530;g3a8a166b9a7_8_346" descr="acoso">
            <a:extLst>
              <a:ext uri="{FF2B5EF4-FFF2-40B4-BE49-F238E27FC236}">
                <a16:creationId xmlns:a16="http://schemas.microsoft.com/office/drawing/2014/main" id="{05FA6837-F1F6-0EC1-561E-25267CA4C559}"/>
              </a:ext>
            </a:extLst>
          </p:cNvPr>
          <p:cNvPicPr preferRelativeResize="0"/>
          <p:nvPr/>
        </p:nvPicPr>
        <p:blipFill rotWithShape="1">
          <a:blip r:embed="rId4">
            <a:clrChange>
              <a:clrFrom>
                <a:srgbClr val="FEFEFE"/>
              </a:clrFrom>
              <a:clrTo>
                <a:srgbClr val="FEFEFE">
                  <a:alpha val="0"/>
                </a:srgbClr>
              </a:clrTo>
            </a:clrChange>
            <a:alphaModFix/>
          </a:blip>
          <a:srcRect/>
          <a:stretch/>
        </p:blipFill>
        <p:spPr>
          <a:xfrm>
            <a:off x="7807014" y="1445973"/>
            <a:ext cx="871948" cy="871948"/>
          </a:xfrm>
          <a:prstGeom prst="rect">
            <a:avLst/>
          </a:prstGeom>
          <a:noFill/>
          <a:ln>
            <a:noFill/>
          </a:ln>
        </p:spPr>
      </p:pic>
      <p:grpSp>
        <p:nvGrpSpPr>
          <p:cNvPr id="199" name="Grupo 14">
            <a:extLst>
              <a:ext uri="{FF2B5EF4-FFF2-40B4-BE49-F238E27FC236}">
                <a16:creationId xmlns:a16="http://schemas.microsoft.com/office/drawing/2014/main" id="{CB16FAE1-A107-D8AF-7BC4-F0F5381AEE17}"/>
              </a:ext>
            </a:extLst>
          </p:cNvPr>
          <p:cNvGrpSpPr/>
          <p:nvPr/>
        </p:nvGrpSpPr>
        <p:grpSpPr>
          <a:xfrm>
            <a:off x="184662" y="4167833"/>
            <a:ext cx="3899441" cy="1316072"/>
            <a:chOff x="116087" y="3490074"/>
            <a:chExt cx="2924581" cy="987054"/>
          </a:xfrm>
        </p:grpSpPr>
        <p:grpSp>
          <p:nvGrpSpPr>
            <p:cNvPr id="200" name="Google Shape;415;g3a8a166b9a7_8_346">
              <a:extLst>
                <a:ext uri="{FF2B5EF4-FFF2-40B4-BE49-F238E27FC236}">
                  <a16:creationId xmlns:a16="http://schemas.microsoft.com/office/drawing/2014/main" id="{676EE17F-BDCB-0FD5-A154-02736AC14C24}"/>
                </a:ext>
              </a:extLst>
            </p:cNvPr>
            <p:cNvGrpSpPr/>
            <p:nvPr/>
          </p:nvGrpSpPr>
          <p:grpSpPr>
            <a:xfrm>
              <a:off x="766578" y="3692782"/>
              <a:ext cx="2105631" cy="679081"/>
              <a:chOff x="3518200" y="4306705"/>
              <a:chExt cx="5130680" cy="1597696"/>
            </a:xfrm>
          </p:grpSpPr>
          <p:sp>
            <p:nvSpPr>
              <p:cNvPr id="209" name="Google Shape;416;g3a8a166b9a7_8_346">
                <a:extLst>
                  <a:ext uri="{FF2B5EF4-FFF2-40B4-BE49-F238E27FC236}">
                    <a16:creationId xmlns:a16="http://schemas.microsoft.com/office/drawing/2014/main" id="{D30AA0ED-E53A-FBC5-41DE-691BBC9F94D7}"/>
                  </a:ext>
                </a:extLst>
              </p:cNvPr>
              <p:cNvSpPr txBox="1"/>
              <p:nvPr/>
            </p:nvSpPr>
            <p:spPr>
              <a:xfrm>
                <a:off x="6976693" y="4329616"/>
                <a:ext cx="1657566" cy="498876"/>
              </a:xfrm>
              <a:prstGeom prst="rect">
                <a:avLst/>
              </a:prstGeom>
              <a:solidFill>
                <a:srgbClr val="548135">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p>
            </p:txBody>
          </p:sp>
          <p:grpSp>
            <p:nvGrpSpPr>
              <p:cNvPr id="210" name="Google Shape;417;g3a8a166b9a7_8_346">
                <a:extLst>
                  <a:ext uri="{FF2B5EF4-FFF2-40B4-BE49-F238E27FC236}">
                    <a16:creationId xmlns:a16="http://schemas.microsoft.com/office/drawing/2014/main" id="{C62F70E6-8943-6543-B821-C8A1FFFF545E}"/>
                  </a:ext>
                </a:extLst>
              </p:cNvPr>
              <p:cNvGrpSpPr/>
              <p:nvPr/>
            </p:nvGrpSpPr>
            <p:grpSpPr>
              <a:xfrm>
                <a:off x="3518200" y="4306705"/>
                <a:ext cx="5130680" cy="1597696"/>
                <a:chOff x="3501127" y="4310221"/>
                <a:chExt cx="5130680" cy="1597696"/>
              </a:xfrm>
            </p:grpSpPr>
            <p:sp>
              <p:nvSpPr>
                <p:cNvPr id="211" name="Google Shape;418;g3a8a166b9a7_8_346">
                  <a:extLst>
                    <a:ext uri="{FF2B5EF4-FFF2-40B4-BE49-F238E27FC236}">
                      <a16:creationId xmlns:a16="http://schemas.microsoft.com/office/drawing/2014/main" id="{6871A9BC-5985-7F92-4256-A6532450BBA9}"/>
                    </a:ext>
                  </a:extLst>
                </p:cNvPr>
                <p:cNvSpPr txBox="1"/>
                <p:nvPr/>
              </p:nvSpPr>
              <p:spPr>
                <a:xfrm>
                  <a:off x="3501127" y="4310221"/>
                  <a:ext cx="1682574" cy="498876"/>
                </a:xfrm>
                <a:prstGeom prst="rect">
                  <a:avLst/>
                </a:prstGeom>
                <a:solidFill>
                  <a:srgbClr val="FF9A0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2" name="Google Shape;419;g3a8a166b9a7_8_346">
                  <a:extLst>
                    <a:ext uri="{FF2B5EF4-FFF2-40B4-BE49-F238E27FC236}">
                      <a16:creationId xmlns:a16="http://schemas.microsoft.com/office/drawing/2014/main" id="{BA9F5E61-B231-6EB4-2BB6-2B94B7C64579}"/>
                    </a:ext>
                  </a:extLst>
                </p:cNvPr>
                <p:cNvSpPr txBox="1"/>
                <p:nvPr/>
              </p:nvSpPr>
              <p:spPr>
                <a:xfrm>
                  <a:off x="3511288" y="4849604"/>
                  <a:ext cx="1674738" cy="498876"/>
                </a:xfrm>
                <a:prstGeom prst="rect">
                  <a:avLst/>
                </a:prstGeom>
                <a:solidFill>
                  <a:srgbClr val="FFF3E1"/>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3" name="Google Shape;420;g3a8a166b9a7_8_346">
                  <a:extLst>
                    <a:ext uri="{FF2B5EF4-FFF2-40B4-BE49-F238E27FC236}">
                      <a16:creationId xmlns:a16="http://schemas.microsoft.com/office/drawing/2014/main" id="{03191DD5-185F-7ED4-A06F-00FC0E2075EB}"/>
                    </a:ext>
                  </a:extLst>
                </p:cNvPr>
                <p:cNvSpPr txBox="1"/>
                <p:nvPr/>
              </p:nvSpPr>
              <p:spPr>
                <a:xfrm>
                  <a:off x="3518201" y="5385549"/>
                  <a:ext cx="1682574" cy="498876"/>
                </a:xfrm>
                <a:prstGeom prst="rect">
                  <a:avLst/>
                </a:prstGeom>
                <a:solidFill>
                  <a:srgbClr val="E5F1D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4" name="Google Shape;421;g3a8a166b9a7_8_346">
                  <a:extLst>
                    <a:ext uri="{FF2B5EF4-FFF2-40B4-BE49-F238E27FC236}">
                      <a16:creationId xmlns:a16="http://schemas.microsoft.com/office/drawing/2014/main" id="{E29F2058-1DEB-AF1F-FF34-D517AD491E10}"/>
                    </a:ext>
                  </a:extLst>
                </p:cNvPr>
                <p:cNvSpPr txBox="1"/>
                <p:nvPr/>
              </p:nvSpPr>
              <p:spPr>
                <a:xfrm>
                  <a:off x="5232054" y="4320380"/>
                  <a:ext cx="1674752" cy="498876"/>
                </a:xfrm>
                <a:prstGeom prst="rect">
                  <a:avLst/>
                </a:prstGeom>
                <a:solidFill>
                  <a:srgbClr val="FFD79B">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5" name="Google Shape;422;g3a8a166b9a7_8_346">
                  <a:extLst>
                    <a:ext uri="{FF2B5EF4-FFF2-40B4-BE49-F238E27FC236}">
                      <a16:creationId xmlns:a16="http://schemas.microsoft.com/office/drawing/2014/main" id="{D5B97AC2-D372-3418-070F-6AC72369BA8C}"/>
                    </a:ext>
                  </a:extLst>
                </p:cNvPr>
                <p:cNvSpPr txBox="1"/>
                <p:nvPr/>
              </p:nvSpPr>
              <p:spPr>
                <a:xfrm>
                  <a:off x="5234393" y="4859764"/>
                  <a:ext cx="1682574" cy="498876"/>
                </a:xfrm>
                <a:prstGeom prst="rect">
                  <a:avLst/>
                </a:prstGeom>
                <a:solidFill>
                  <a:srgbClr val="A8D08C">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6" name="Google Shape;423;g3a8a166b9a7_8_346">
                  <a:extLst>
                    <a:ext uri="{FF2B5EF4-FFF2-40B4-BE49-F238E27FC236}">
                      <a16:creationId xmlns:a16="http://schemas.microsoft.com/office/drawing/2014/main" id="{9BACCDEC-9ACD-E388-D84B-7288FEA77252}"/>
                    </a:ext>
                  </a:extLst>
                </p:cNvPr>
                <p:cNvSpPr txBox="1"/>
                <p:nvPr/>
              </p:nvSpPr>
              <p:spPr>
                <a:xfrm>
                  <a:off x="5242329" y="5409041"/>
                  <a:ext cx="168257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7" name="Google Shape;424;g3a8a166b9a7_8_346">
                  <a:extLst>
                    <a:ext uri="{FF2B5EF4-FFF2-40B4-BE49-F238E27FC236}">
                      <a16:creationId xmlns:a16="http://schemas.microsoft.com/office/drawing/2014/main" id="{F1E9B26B-61DE-A6C6-0F39-2238E1659317}"/>
                    </a:ext>
                  </a:extLst>
                </p:cNvPr>
                <p:cNvSpPr txBox="1"/>
                <p:nvPr/>
              </p:nvSpPr>
              <p:spPr>
                <a:xfrm>
                  <a:off x="6963911" y="4881787"/>
                  <a:ext cx="1653273" cy="498876"/>
                </a:xfrm>
                <a:prstGeom prst="rect">
                  <a:avLst/>
                </a:prstGeom>
                <a:solidFill>
                  <a:srgbClr val="38562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8" name="Google Shape;425;g3a8a166b9a7_8_346">
                  <a:extLst>
                    <a:ext uri="{FF2B5EF4-FFF2-40B4-BE49-F238E27FC236}">
                      <a16:creationId xmlns:a16="http://schemas.microsoft.com/office/drawing/2014/main" id="{5C512A84-0420-F0F6-8C2C-6B2544EB988A}"/>
                    </a:ext>
                  </a:extLst>
                </p:cNvPr>
                <p:cNvSpPr txBox="1"/>
                <p:nvPr/>
              </p:nvSpPr>
              <p:spPr>
                <a:xfrm>
                  <a:off x="6971143" y="5407191"/>
                  <a:ext cx="166066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grpSp>
        <p:sp>
          <p:nvSpPr>
            <p:cNvPr id="201" name="Google Shape;426;g3a8a166b9a7_8_346">
              <a:extLst>
                <a:ext uri="{FF2B5EF4-FFF2-40B4-BE49-F238E27FC236}">
                  <a16:creationId xmlns:a16="http://schemas.microsoft.com/office/drawing/2014/main" id="{BEC9FEE8-05DD-64F0-725A-346D3901B316}"/>
                </a:ext>
              </a:extLst>
            </p:cNvPr>
            <p:cNvSpPr txBox="1"/>
            <p:nvPr/>
          </p:nvSpPr>
          <p:spPr>
            <a:xfrm>
              <a:off x="770767" y="3509978"/>
              <a:ext cx="696197" cy="150240"/>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Bajo </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2" name="Google Shape;427;g3a8a166b9a7_8_346">
              <a:extLst>
                <a:ext uri="{FF2B5EF4-FFF2-40B4-BE49-F238E27FC236}">
                  <a16:creationId xmlns:a16="http://schemas.microsoft.com/office/drawing/2014/main" id="{683E88F6-B444-499F-81F0-F90C37240170}"/>
                </a:ext>
              </a:extLst>
            </p:cNvPr>
            <p:cNvSpPr txBox="1"/>
            <p:nvPr/>
          </p:nvSpPr>
          <p:spPr>
            <a:xfrm>
              <a:off x="1472474" y="3490074"/>
              <a:ext cx="687317"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Medio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3" name="Google Shape;428;g3a8a166b9a7_8_346">
              <a:extLst>
                <a:ext uri="{FF2B5EF4-FFF2-40B4-BE49-F238E27FC236}">
                  <a16:creationId xmlns:a16="http://schemas.microsoft.com/office/drawing/2014/main" id="{68651B41-33AC-6500-91F0-9545FC88C5C6}"/>
                </a:ext>
              </a:extLst>
            </p:cNvPr>
            <p:cNvSpPr txBox="1"/>
            <p:nvPr/>
          </p:nvSpPr>
          <p:spPr>
            <a:xfrm>
              <a:off x="2195549" y="3490074"/>
              <a:ext cx="670658"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Alto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cxnSp>
          <p:nvCxnSpPr>
            <p:cNvPr id="204" name="Google Shape;429;g3a8a166b9a7_8_346">
              <a:extLst>
                <a:ext uri="{FF2B5EF4-FFF2-40B4-BE49-F238E27FC236}">
                  <a16:creationId xmlns:a16="http://schemas.microsoft.com/office/drawing/2014/main" id="{18B6602F-C539-858A-06B2-CC9FBF7012F3}"/>
                </a:ext>
              </a:extLst>
            </p:cNvPr>
            <p:cNvCxnSpPr/>
            <p:nvPr/>
          </p:nvCxnSpPr>
          <p:spPr>
            <a:xfrm>
              <a:off x="773585" y="3653023"/>
              <a:ext cx="2267083" cy="9158"/>
            </a:xfrm>
            <a:prstGeom prst="straightConnector1">
              <a:avLst/>
            </a:prstGeom>
            <a:noFill/>
            <a:ln w="9525" cap="flat" cmpd="sng">
              <a:solidFill>
                <a:srgbClr val="354A49"/>
              </a:solidFill>
              <a:prstDash val="solid"/>
              <a:round/>
              <a:headEnd type="none" w="sm" len="sm"/>
              <a:tailEnd type="triangle" w="med" len="med"/>
            </a:ln>
          </p:spPr>
        </p:cxnSp>
        <p:cxnSp>
          <p:nvCxnSpPr>
            <p:cNvPr id="205" name="Google Shape;430;g3a8a166b9a7_8_346">
              <a:extLst>
                <a:ext uri="{FF2B5EF4-FFF2-40B4-BE49-F238E27FC236}">
                  <a16:creationId xmlns:a16="http://schemas.microsoft.com/office/drawing/2014/main" id="{6959A1DB-BC6D-C30F-293C-9C52362EA033}"/>
                </a:ext>
              </a:extLst>
            </p:cNvPr>
            <p:cNvCxnSpPr/>
            <p:nvPr/>
          </p:nvCxnSpPr>
          <p:spPr>
            <a:xfrm>
              <a:off x="726101" y="3707802"/>
              <a:ext cx="0" cy="769326"/>
            </a:xfrm>
            <a:prstGeom prst="straightConnector1">
              <a:avLst/>
            </a:prstGeom>
            <a:noFill/>
            <a:ln w="9525" cap="flat" cmpd="sng">
              <a:solidFill>
                <a:srgbClr val="354A49"/>
              </a:solidFill>
              <a:prstDash val="solid"/>
              <a:round/>
              <a:headEnd type="none" w="sm" len="sm"/>
              <a:tailEnd type="triangle" w="med" len="med"/>
            </a:ln>
          </p:spPr>
        </p:cxnSp>
        <p:sp>
          <p:nvSpPr>
            <p:cNvPr id="206" name="Google Shape;432;g3a8a166b9a7_8_346">
              <a:extLst>
                <a:ext uri="{FF2B5EF4-FFF2-40B4-BE49-F238E27FC236}">
                  <a16:creationId xmlns:a16="http://schemas.microsoft.com/office/drawing/2014/main" id="{BC3FDE95-1033-DD70-7A50-A0CA12E402C4}"/>
                </a:ext>
              </a:extLst>
            </p:cNvPr>
            <p:cNvSpPr txBox="1"/>
            <p:nvPr/>
          </p:nvSpPr>
          <p:spPr>
            <a:xfrm>
              <a:off x="116087" y="3927296"/>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B</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7" name="Google Shape;432;g3a8a166b9a7_8_346">
              <a:extLst>
                <a:ext uri="{FF2B5EF4-FFF2-40B4-BE49-F238E27FC236}">
                  <a16:creationId xmlns:a16="http://schemas.microsoft.com/office/drawing/2014/main" id="{3763D57D-8725-8D6F-F674-0E2044BBFE27}"/>
                </a:ext>
              </a:extLst>
            </p:cNvPr>
            <p:cNvSpPr txBox="1"/>
            <p:nvPr/>
          </p:nvSpPr>
          <p:spPr>
            <a:xfrm>
              <a:off x="122408" y="3693398"/>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A</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8" name="Google Shape;432;g3a8a166b9a7_8_346">
              <a:extLst>
                <a:ext uri="{FF2B5EF4-FFF2-40B4-BE49-F238E27FC236}">
                  <a16:creationId xmlns:a16="http://schemas.microsoft.com/office/drawing/2014/main" id="{8ED940BD-31D8-0468-48D2-F703E40107F2}"/>
                </a:ext>
              </a:extLst>
            </p:cNvPr>
            <p:cNvSpPr txBox="1"/>
            <p:nvPr/>
          </p:nvSpPr>
          <p:spPr>
            <a:xfrm>
              <a:off x="117621" y="4155780"/>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N</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grpSp>
      <p:sp>
        <p:nvSpPr>
          <p:cNvPr id="219" name="Google Shape;451;g3a8a166b9a7_8_346">
            <a:extLst>
              <a:ext uri="{FF2B5EF4-FFF2-40B4-BE49-F238E27FC236}">
                <a16:creationId xmlns:a16="http://schemas.microsoft.com/office/drawing/2014/main" id="{D5A35A78-B935-91FE-DE13-202C7B3371F3}"/>
              </a:ext>
            </a:extLst>
          </p:cNvPr>
          <p:cNvSpPr txBox="1"/>
          <p:nvPr/>
        </p:nvSpPr>
        <p:spPr>
          <a:xfrm>
            <a:off x="469906" y="6511523"/>
            <a:ext cx="3545753"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Construcción de segmentación</a:t>
            </a: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Ajuste con data real (en curso)</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a:t>
            </a:r>
            <a:r>
              <a:rPr lang="es-ES_tradnl" sz="1467" b="1" kern="1200" noProof="0" dirty="0">
                <a:latin typeface="Poppins" panose="00000500000000000000" pitchFamily="2" charset="0"/>
                <a:ea typeface="Calibri"/>
                <a:cs typeface="Poppins" panose="00000500000000000000" pitchFamily="2" charset="0"/>
                <a:sym typeface="Calibri"/>
              </a:rPr>
              <a:t>Definición del RAROC Objetivo y mínimo </a:t>
            </a:r>
            <a:r>
              <a:rPr lang="es-ES_tradnl" sz="1467" kern="1200" noProof="0" dirty="0">
                <a:latin typeface="Poppins" panose="00000500000000000000" pitchFamily="2" charset="0"/>
                <a:ea typeface="Calibri"/>
                <a:cs typeface="Poppins" panose="00000500000000000000" pitchFamily="2" charset="0"/>
                <a:sym typeface="Calibri"/>
              </a:rPr>
              <a:t>por segmento</a:t>
            </a:r>
          </a:p>
        </p:txBody>
      </p:sp>
      <p:sp>
        <p:nvSpPr>
          <p:cNvPr id="220" name="Google Shape;451;g3a8a166b9a7_8_346">
            <a:extLst>
              <a:ext uri="{FF2B5EF4-FFF2-40B4-BE49-F238E27FC236}">
                <a16:creationId xmlns:a16="http://schemas.microsoft.com/office/drawing/2014/main" id="{7DD8AA39-56A8-8820-F93E-4AD66E266041}"/>
              </a:ext>
            </a:extLst>
          </p:cNvPr>
          <p:cNvSpPr txBox="1"/>
          <p:nvPr/>
        </p:nvSpPr>
        <p:spPr>
          <a:xfrm>
            <a:off x="4400880" y="6511523"/>
            <a:ext cx="3782457"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Herramientas: </a:t>
            </a:r>
            <a:r>
              <a:rPr lang="es-ES_tradnl" sz="1467" b="1" kern="1200" noProof="0" dirty="0">
                <a:latin typeface="Poppins" panose="00000500000000000000" pitchFamily="2" charset="0"/>
                <a:ea typeface="Calibri"/>
                <a:cs typeface="Poppins" panose="00000500000000000000" pitchFamily="2" charset="0"/>
                <a:sym typeface="Calibri"/>
              </a:rPr>
              <a:t>curvas </a:t>
            </a:r>
            <a:r>
              <a:rPr lang="es-ES_tradnl" sz="1467" b="1" kern="1200" noProof="0" dirty="0" err="1">
                <a:latin typeface="Poppins" panose="00000500000000000000" pitchFamily="2" charset="0"/>
                <a:ea typeface="Calibri"/>
                <a:cs typeface="Poppins" panose="00000500000000000000" pitchFamily="2" charset="0"/>
                <a:sym typeface="Calibri"/>
              </a:rPr>
              <a:t>lifetime</a:t>
            </a:r>
            <a:r>
              <a:rPr lang="es-ES_tradnl" sz="1467" b="1" kern="1200" noProof="0" dirty="0">
                <a:latin typeface="Poppins" panose="00000500000000000000" pitchFamily="2" charset="0"/>
                <a:ea typeface="Calibri"/>
                <a:cs typeface="Poppins" panose="00000500000000000000" pitchFamily="2" charset="0"/>
                <a:sym typeface="Calibri"/>
              </a:rPr>
              <a:t> de prepagos, cancelaciones, LGD, PD &amp; componente de capital</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Cálculo de </a:t>
            </a:r>
            <a:r>
              <a:rPr lang="es-ES_tradnl" sz="1467" b="1" kern="1200" noProof="0" dirty="0">
                <a:latin typeface="Poppins" panose="00000500000000000000" pitchFamily="2" charset="0"/>
                <a:ea typeface="Calibri"/>
                <a:cs typeface="Poppins" panose="00000500000000000000" pitchFamily="2" charset="0"/>
                <a:sym typeface="Calibri"/>
              </a:rPr>
              <a:t>tasa alineada al RAROC </a:t>
            </a:r>
            <a:r>
              <a:rPr lang="es-ES_tradnl" sz="1467" kern="1200" noProof="0" dirty="0">
                <a:latin typeface="Poppins" panose="00000500000000000000" pitchFamily="2" charset="0"/>
                <a:ea typeface="Calibri"/>
                <a:cs typeface="Poppins" panose="00000500000000000000" pitchFamily="2" charset="0"/>
                <a:sym typeface="Calibri"/>
              </a:rPr>
              <a:t>objetivo</a:t>
            </a:r>
          </a:p>
        </p:txBody>
      </p:sp>
      <p:sp>
        <p:nvSpPr>
          <p:cNvPr id="221" name="Google Shape;451;g3a8a166b9a7_8_346">
            <a:extLst>
              <a:ext uri="{FF2B5EF4-FFF2-40B4-BE49-F238E27FC236}">
                <a16:creationId xmlns:a16="http://schemas.microsoft.com/office/drawing/2014/main" id="{19987660-FEE3-6D6D-E830-2F35954E71DA}"/>
              </a:ext>
            </a:extLst>
          </p:cNvPr>
          <p:cNvSpPr txBox="1"/>
          <p:nvPr/>
        </p:nvSpPr>
        <p:spPr>
          <a:xfrm>
            <a:off x="8349421" y="6511523"/>
            <a:ext cx="4067684"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a:ea typeface="Calibri"/>
                <a:cs typeface="Poppins"/>
                <a:sym typeface="Calibri"/>
              </a:rPr>
              <a:t>Modelo econométrico de elasticidad por </a:t>
            </a:r>
            <a:r>
              <a:rPr lang="es-ES_tradnl" sz="1467" kern="1200" noProof="0" dirty="0" err="1">
                <a:latin typeface="Poppins"/>
                <a:ea typeface="Calibri"/>
                <a:cs typeface="Poppins"/>
                <a:sym typeface="Calibri"/>
              </a:rPr>
              <a:t>cluster</a:t>
            </a:r>
            <a:endParaRPr lang="es-ES_tradnl" sz="1467" kern="1200" noProof="0" dirty="0">
              <a:latin typeface="Poppins"/>
              <a:ea typeface="Calibri"/>
              <a:cs typeface="Poppins"/>
              <a:sym typeface="Calibri"/>
            </a:endParaRP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Análisis táctico de competencia</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a:ea typeface="Calibri"/>
                <a:cs typeface="Poppins"/>
                <a:sym typeface="Calibri"/>
              </a:rPr>
              <a:t>Oportunidad: Validar </a:t>
            </a:r>
            <a:r>
              <a:rPr lang="es-ES_tradnl" sz="1467" b="1" kern="1200" noProof="0" dirty="0">
                <a:latin typeface="Poppins"/>
                <a:ea typeface="Calibri"/>
                <a:cs typeface="Poppins"/>
                <a:sym typeface="Calibri"/>
              </a:rPr>
              <a:t>sinergia</a:t>
            </a:r>
            <a:r>
              <a:rPr lang="es-ES_tradnl" sz="1467" kern="1200" noProof="0" dirty="0">
                <a:latin typeface="Poppins"/>
                <a:ea typeface="Calibri"/>
                <a:cs typeface="Poppins"/>
                <a:sym typeface="Calibri"/>
              </a:rPr>
              <a:t> con modelos de </a:t>
            </a:r>
            <a:r>
              <a:rPr lang="es-ES_tradnl" sz="1467" b="1" kern="1200" noProof="0" dirty="0" err="1">
                <a:latin typeface="Poppins"/>
                <a:ea typeface="Calibri"/>
                <a:cs typeface="Poppins"/>
                <a:sym typeface="Calibri"/>
              </a:rPr>
              <a:t>retail</a:t>
            </a:r>
            <a:r>
              <a:rPr lang="es-ES_tradnl" sz="1467" kern="1200" noProof="0" dirty="0">
                <a:latin typeface="Poppins"/>
                <a:ea typeface="Calibri"/>
                <a:cs typeface="Poppins"/>
                <a:sym typeface="Calibri"/>
              </a:rPr>
              <a:t> para BN</a:t>
            </a:r>
            <a:endParaRPr lang="es-ES_tradnl" sz="1400" kern="1200" noProof="0" dirty="0"/>
          </a:p>
        </p:txBody>
      </p:sp>
      <p:sp>
        <p:nvSpPr>
          <p:cNvPr id="222" name="Google Shape;450;g3a8a166b9a7_8_346">
            <a:extLst>
              <a:ext uri="{FF2B5EF4-FFF2-40B4-BE49-F238E27FC236}">
                <a16:creationId xmlns:a16="http://schemas.microsoft.com/office/drawing/2014/main" id="{F37FE5C1-7AD5-4664-4B91-3F3D0C91F38A}"/>
              </a:ext>
            </a:extLst>
          </p:cNvPr>
          <p:cNvSpPr txBox="1"/>
          <p:nvPr/>
        </p:nvSpPr>
        <p:spPr>
          <a:xfrm>
            <a:off x="12464230" y="5610447"/>
            <a:ext cx="3282809"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Gestión de excepciones (vista cliente + rentabilidad)</a:t>
            </a:r>
          </a:p>
        </p:txBody>
      </p:sp>
      <p:pic>
        <p:nvPicPr>
          <p:cNvPr id="223" name="Imagen 29" descr="cumplimiento del proyecto ">
            <a:extLst>
              <a:ext uri="{FF2B5EF4-FFF2-40B4-BE49-F238E27FC236}">
                <a16:creationId xmlns:a16="http://schemas.microsoft.com/office/drawing/2014/main" id="{D04898D4-D237-3DAE-B7C8-99AFFBF28BE2}"/>
              </a:ext>
            </a:extLst>
          </p:cNvPr>
          <p:cNvPicPr>
            <a:picLocks noChangeAspect="1"/>
          </p:cNvPicPr>
          <p:nvPr/>
        </p:nvPicPr>
        <p:blipFill>
          <a:blip r:embed="rId5"/>
          <a:stretch>
            <a:fillRect/>
          </a:stretch>
        </p:blipFill>
        <p:spPr>
          <a:xfrm>
            <a:off x="13531210" y="3964524"/>
            <a:ext cx="1290601" cy="1290601"/>
          </a:xfrm>
          <a:prstGeom prst="rect">
            <a:avLst/>
          </a:prstGeom>
        </p:spPr>
      </p:pic>
    </p:spTree>
    <p:extLst>
      <p:ext uri="{BB962C8B-B14F-4D97-AF65-F5344CB8AC3E}">
        <p14:creationId xmlns:p14="http://schemas.microsoft.com/office/powerpoint/2010/main" val="1067137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63C29937-6C32-EC47-F078-E76AA6CBCD7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A77C2C9-DA7E-4A20-0DA8-23E21108BF05}"/>
              </a:ext>
            </a:extLst>
          </p:cNvPr>
          <p:cNvSpPr/>
          <p:nvPr/>
        </p:nvSpPr>
        <p:spPr>
          <a:xfrm>
            <a:off x="0" y="1143000"/>
            <a:ext cx="16256000" cy="84043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62" name="Google Shape;62;g39760de4851_1_55">
            <a:extLst>
              <a:ext uri="{FF2B5EF4-FFF2-40B4-BE49-F238E27FC236}">
                <a16:creationId xmlns:a16="http://schemas.microsoft.com/office/drawing/2014/main" id="{3F0E0D83-F9FB-D9AF-203E-5D29D242AEA0}"/>
              </a:ext>
            </a:extLst>
          </p:cNvPr>
          <p:cNvSpPr txBox="1">
            <a:spLocks noGrp="1"/>
          </p:cNvSpPr>
          <p:nvPr>
            <p:ph type="title"/>
          </p:nvPr>
        </p:nvSpPr>
        <p:spPr>
          <a:xfrm>
            <a:off x="616373" y="487692"/>
            <a:ext cx="14020800" cy="831604"/>
          </a:xfrm>
          <a:prstGeom prst="rect">
            <a:avLst/>
          </a:prstGeom>
          <a:noFill/>
          <a:ln>
            <a:noFill/>
          </a:ln>
        </p:spPr>
        <p:txBody>
          <a:bodyPr spcFirstLastPara="1" wrap="square" lIns="121900" tIns="60925" rIns="121900" bIns="60925" anchor="ctr" anchorCtr="0">
            <a:normAutofit/>
          </a:bodyPr>
          <a:lstStyle/>
          <a:p>
            <a:pPr marL="0" lvl="0" indent="0" algn="l" rtl="0">
              <a:lnSpc>
                <a:spcPct val="90000"/>
              </a:lnSpc>
              <a:spcBef>
                <a:spcPts val="0"/>
              </a:spcBef>
              <a:spcAft>
                <a:spcPts val="0"/>
              </a:spcAft>
              <a:buClr>
                <a:srgbClr val="298485"/>
              </a:buClr>
              <a:buSzPts val="4300"/>
              <a:buFont typeface="Calibri"/>
              <a:buNone/>
            </a:pPr>
            <a:r>
              <a:rPr lang="en-US" sz="3300" dirty="0" err="1">
                <a:latin typeface="Calibri" panose="020F0502020204030204" pitchFamily="34" charset="0"/>
                <a:ea typeface="Calibri" panose="020F0502020204030204" pitchFamily="34" charset="0"/>
                <a:cs typeface="Calibri" panose="020F0502020204030204" pitchFamily="34" charset="0"/>
              </a:rPr>
              <a:t>Anatomía</a:t>
            </a:r>
            <a:r>
              <a:rPr lang="en-US" sz="3300" dirty="0">
                <a:latin typeface="Calibri" panose="020F0502020204030204" pitchFamily="34" charset="0"/>
                <a:ea typeface="Calibri" panose="020F0502020204030204" pitchFamily="34" charset="0"/>
                <a:cs typeface="Calibri" panose="020F0502020204030204" pitchFamily="34" charset="0"/>
              </a:rPr>
              <a:t> de la Tasa</a:t>
            </a:r>
            <a:endParaRPr dirty="0">
              <a:latin typeface="Calibri" panose="020F0502020204030204" pitchFamily="34" charset="0"/>
              <a:ea typeface="Calibri" panose="020F0502020204030204" pitchFamily="34" charset="0"/>
              <a:cs typeface="Calibri" panose="020F0502020204030204" pitchFamily="34" charset="0"/>
            </a:endParaRPr>
          </a:p>
        </p:txBody>
      </p:sp>
      <p:cxnSp>
        <p:nvCxnSpPr>
          <p:cNvPr id="63" name="Google Shape;63;g39760de4851_1_55">
            <a:extLst>
              <a:ext uri="{FF2B5EF4-FFF2-40B4-BE49-F238E27FC236}">
                <a16:creationId xmlns:a16="http://schemas.microsoft.com/office/drawing/2014/main" id="{C902DB6C-E79F-0996-4513-2B11B2B4F274}"/>
              </a:ext>
            </a:extLst>
          </p:cNvPr>
          <p:cNvCxnSpPr/>
          <p:nvPr/>
        </p:nvCxnSpPr>
        <p:spPr>
          <a:xfrm>
            <a:off x="616373" y="1415106"/>
            <a:ext cx="15477067" cy="0"/>
          </a:xfrm>
          <a:prstGeom prst="straightConnector1">
            <a:avLst/>
          </a:prstGeom>
          <a:noFill/>
          <a:ln w="9525" cap="flat" cmpd="sng">
            <a:solidFill>
              <a:srgbClr val="A1A1A1"/>
            </a:solidFill>
            <a:prstDash val="solid"/>
            <a:round/>
            <a:headEnd type="none" w="sm" len="sm"/>
            <a:tailEnd type="none" w="sm" len="sm"/>
          </a:ln>
        </p:spPr>
      </p:cxnSp>
      <p:sp>
        <p:nvSpPr>
          <p:cNvPr id="135" name="Rounded Rectangle 134">
            <a:extLst>
              <a:ext uri="{FF2B5EF4-FFF2-40B4-BE49-F238E27FC236}">
                <a16:creationId xmlns:a16="http://schemas.microsoft.com/office/drawing/2014/main" id="{C4B34457-0D9E-D140-89CA-D95D3C894975}"/>
              </a:ext>
            </a:extLst>
          </p:cNvPr>
          <p:cNvSpPr/>
          <p:nvPr/>
        </p:nvSpPr>
        <p:spPr>
          <a:xfrm>
            <a:off x="4039241" y="3837868"/>
            <a:ext cx="2082523" cy="28496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C"/>
          </a:p>
        </p:txBody>
      </p:sp>
      <p:sp>
        <p:nvSpPr>
          <p:cNvPr id="136" name="Right Brace 135">
            <a:extLst>
              <a:ext uri="{FF2B5EF4-FFF2-40B4-BE49-F238E27FC236}">
                <a16:creationId xmlns:a16="http://schemas.microsoft.com/office/drawing/2014/main" id="{C7D2F4A2-CCD3-6D80-7F14-4C4823F30F54}"/>
              </a:ext>
            </a:extLst>
          </p:cNvPr>
          <p:cNvSpPr/>
          <p:nvPr/>
        </p:nvSpPr>
        <p:spPr>
          <a:xfrm rot="5400000">
            <a:off x="2569416" y="5896721"/>
            <a:ext cx="239152" cy="2082523"/>
          </a:xfrm>
          <a:prstGeom prst="rightBrace">
            <a:avLst/>
          </a:prstGeom>
          <a:ln w="12700">
            <a:solidFill>
              <a:srgbClr val="1F7176"/>
            </a:solidFill>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en-EC"/>
          </a:p>
        </p:txBody>
      </p:sp>
      <p:sp>
        <p:nvSpPr>
          <p:cNvPr id="137" name="TextBox 136">
            <a:extLst>
              <a:ext uri="{FF2B5EF4-FFF2-40B4-BE49-F238E27FC236}">
                <a16:creationId xmlns:a16="http://schemas.microsoft.com/office/drawing/2014/main" id="{57134BBB-664A-AABE-CFE9-A88380539585}"/>
              </a:ext>
            </a:extLst>
          </p:cNvPr>
          <p:cNvSpPr txBox="1"/>
          <p:nvPr/>
        </p:nvSpPr>
        <p:spPr>
          <a:xfrm>
            <a:off x="2454116" y="7084736"/>
            <a:ext cx="569387" cy="646331"/>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Piso</a:t>
            </a:r>
          </a:p>
          <a:p>
            <a:pPr algn="ctr"/>
            <a:r>
              <a:rPr lang="en-EC" sz="1200" dirty="0">
                <a:latin typeface="Calibri" panose="020F0502020204030204" pitchFamily="34" charset="0"/>
                <a:cs typeface="Calibri" panose="020F0502020204030204" pitchFamily="34" charset="0"/>
              </a:rPr>
              <a:t>15.0%</a:t>
            </a:r>
          </a:p>
        </p:txBody>
      </p:sp>
      <p:grpSp>
        <p:nvGrpSpPr>
          <p:cNvPr id="138" name="Group 137">
            <a:extLst>
              <a:ext uri="{FF2B5EF4-FFF2-40B4-BE49-F238E27FC236}">
                <a16:creationId xmlns:a16="http://schemas.microsoft.com/office/drawing/2014/main" id="{70EB1521-4ACA-4F56-71FE-B2D9334A54F2}"/>
              </a:ext>
            </a:extLst>
          </p:cNvPr>
          <p:cNvGrpSpPr/>
          <p:nvPr/>
        </p:nvGrpSpPr>
        <p:grpSpPr>
          <a:xfrm>
            <a:off x="4039241" y="3116396"/>
            <a:ext cx="2182157" cy="665630"/>
            <a:chOff x="1462536" y="4509206"/>
            <a:chExt cx="2182157" cy="665630"/>
          </a:xfrm>
        </p:grpSpPr>
        <p:grpSp>
          <p:nvGrpSpPr>
            <p:cNvPr id="139" name="Group 26">
              <a:extLst>
                <a:ext uri="{FF2B5EF4-FFF2-40B4-BE49-F238E27FC236}">
                  <a16:creationId xmlns:a16="http://schemas.microsoft.com/office/drawing/2014/main" id="{00E502A6-7319-F15A-A3D4-5CC75EAF9215}"/>
                </a:ext>
              </a:extLst>
            </p:cNvPr>
            <p:cNvGrpSpPr/>
            <p:nvPr/>
          </p:nvGrpSpPr>
          <p:grpSpPr>
            <a:xfrm>
              <a:off x="1462536" y="4509206"/>
              <a:ext cx="2182157" cy="665630"/>
              <a:chOff x="0" y="0"/>
              <a:chExt cx="4224397" cy="2608424"/>
            </a:xfrm>
          </p:grpSpPr>
          <p:grpSp>
            <p:nvGrpSpPr>
              <p:cNvPr id="142" name="Group 27">
                <a:extLst>
                  <a:ext uri="{FF2B5EF4-FFF2-40B4-BE49-F238E27FC236}">
                    <a16:creationId xmlns:a16="http://schemas.microsoft.com/office/drawing/2014/main" id="{4C47A0B1-BE19-89A6-27C8-4CC79CB1538E}"/>
                  </a:ext>
                </a:extLst>
              </p:cNvPr>
              <p:cNvGrpSpPr/>
              <p:nvPr/>
            </p:nvGrpSpPr>
            <p:grpSpPr>
              <a:xfrm rot="5400000">
                <a:off x="807987" y="-807987"/>
                <a:ext cx="2608424" cy="4224397"/>
                <a:chOff x="0" y="-38100"/>
                <a:chExt cx="515244" cy="834449"/>
              </a:xfrm>
            </p:grpSpPr>
            <p:sp>
              <p:nvSpPr>
                <p:cNvPr id="166" name="Freeform 28">
                  <a:extLst>
                    <a:ext uri="{FF2B5EF4-FFF2-40B4-BE49-F238E27FC236}">
                      <a16:creationId xmlns:a16="http://schemas.microsoft.com/office/drawing/2014/main" id="{70353ECC-C000-B3B2-63D8-545824B320A2}"/>
                    </a:ext>
                  </a:extLst>
                </p:cNvPr>
                <p:cNvSpPr/>
                <p:nvPr/>
              </p:nvSpPr>
              <p:spPr>
                <a:xfrm>
                  <a:off x="113074" y="0"/>
                  <a:ext cx="402169" cy="796349"/>
                </a:xfrm>
                <a:custGeom>
                  <a:avLst/>
                  <a:gdLst/>
                  <a:ahLst/>
                  <a:cxnLst/>
                  <a:rect l="l" t="t" r="r" b="b"/>
                  <a:pathLst>
                    <a:path w="515244" h="796349">
                      <a:moveTo>
                        <a:pt x="19787" y="0"/>
                      </a:moveTo>
                      <a:lnTo>
                        <a:pt x="495457" y="0"/>
                      </a:lnTo>
                      <a:cubicBezTo>
                        <a:pt x="500705" y="0"/>
                        <a:pt x="505738" y="2085"/>
                        <a:pt x="509449" y="5795"/>
                      </a:cubicBezTo>
                      <a:cubicBezTo>
                        <a:pt x="513160" y="9506"/>
                        <a:pt x="515244" y="14539"/>
                        <a:pt x="515244" y="19787"/>
                      </a:cubicBezTo>
                      <a:lnTo>
                        <a:pt x="515244" y="776562"/>
                      </a:lnTo>
                      <a:cubicBezTo>
                        <a:pt x="515244" y="787490"/>
                        <a:pt x="506385" y="796349"/>
                        <a:pt x="495457" y="796349"/>
                      </a:cubicBezTo>
                      <a:lnTo>
                        <a:pt x="19787" y="796349"/>
                      </a:lnTo>
                      <a:cubicBezTo>
                        <a:pt x="14539" y="796349"/>
                        <a:pt x="9506" y="794264"/>
                        <a:pt x="5795" y="790553"/>
                      </a:cubicBezTo>
                      <a:cubicBezTo>
                        <a:pt x="2085" y="786843"/>
                        <a:pt x="0" y="781810"/>
                        <a:pt x="0" y="776562"/>
                      </a:cubicBezTo>
                      <a:lnTo>
                        <a:pt x="0" y="19787"/>
                      </a:lnTo>
                      <a:cubicBezTo>
                        <a:pt x="0" y="14539"/>
                        <a:pt x="2085" y="9506"/>
                        <a:pt x="5795" y="5795"/>
                      </a:cubicBezTo>
                      <a:cubicBezTo>
                        <a:pt x="9506" y="2085"/>
                        <a:pt x="14539" y="0"/>
                        <a:pt x="19787" y="0"/>
                      </a:cubicBezTo>
                      <a:close/>
                    </a:path>
                  </a:pathLst>
                </a:custGeom>
                <a:solidFill>
                  <a:srgbClr val="F4F1F1"/>
                </a:solidFill>
              </p:spPr>
              <p:txBody>
                <a:bodyPr/>
                <a:lstStyle/>
                <a:p>
                  <a:endParaRPr lang="es-ES_tradnl" sz="1000">
                    <a:latin typeface="Calibri" panose="020F0502020204030204" pitchFamily="34" charset="0"/>
                    <a:cs typeface="Calibri" panose="020F0502020204030204" pitchFamily="34" charset="0"/>
                  </a:endParaRPr>
                </a:p>
              </p:txBody>
            </p:sp>
            <p:sp>
              <p:nvSpPr>
                <p:cNvPr id="170" name="TextBox 29">
                  <a:extLst>
                    <a:ext uri="{FF2B5EF4-FFF2-40B4-BE49-F238E27FC236}">
                      <a16:creationId xmlns:a16="http://schemas.microsoft.com/office/drawing/2014/main" id="{F7F8570C-F878-F4E8-E558-314214F5BBF8}"/>
                    </a:ext>
                  </a:extLst>
                </p:cNvPr>
                <p:cNvSpPr txBox="1"/>
                <p:nvPr/>
              </p:nvSpPr>
              <p:spPr>
                <a:xfrm>
                  <a:off x="0" y="-38100"/>
                  <a:ext cx="515244" cy="83444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nvGrpSpPr>
              <p:cNvPr id="143" name="Group 30">
                <a:extLst>
                  <a:ext uri="{FF2B5EF4-FFF2-40B4-BE49-F238E27FC236}">
                    <a16:creationId xmlns:a16="http://schemas.microsoft.com/office/drawing/2014/main" id="{EC7AB951-748D-F367-93A5-B824F9196D64}"/>
                  </a:ext>
                </a:extLst>
              </p:cNvPr>
              <p:cNvGrpSpPr/>
              <p:nvPr/>
            </p:nvGrpSpPr>
            <p:grpSpPr>
              <a:xfrm rot="5400000">
                <a:off x="-1121409" y="1121409"/>
                <a:ext cx="2608424" cy="365606"/>
                <a:chOff x="0" y="-38100"/>
                <a:chExt cx="515244" cy="72219"/>
              </a:xfrm>
            </p:grpSpPr>
            <p:sp>
              <p:nvSpPr>
                <p:cNvPr id="161" name="Freeform 31">
                  <a:extLst>
                    <a:ext uri="{FF2B5EF4-FFF2-40B4-BE49-F238E27FC236}">
                      <a16:creationId xmlns:a16="http://schemas.microsoft.com/office/drawing/2014/main" id="{DE1BDC7F-2996-004E-1BB4-2546FA001EC5}"/>
                    </a:ext>
                  </a:extLst>
                </p:cNvPr>
                <p:cNvSpPr/>
                <p:nvPr/>
              </p:nvSpPr>
              <p:spPr>
                <a:xfrm>
                  <a:off x="113076" y="0"/>
                  <a:ext cx="402168" cy="34119"/>
                </a:xfrm>
                <a:custGeom>
                  <a:avLst/>
                  <a:gdLst/>
                  <a:ahLst/>
                  <a:cxnLst/>
                  <a:rect l="l" t="t" r="r" b="b"/>
                  <a:pathLst>
                    <a:path w="515244" h="34119">
                      <a:moveTo>
                        <a:pt x="17059" y="0"/>
                      </a:moveTo>
                      <a:lnTo>
                        <a:pt x="498185" y="0"/>
                      </a:lnTo>
                      <a:cubicBezTo>
                        <a:pt x="502709" y="0"/>
                        <a:pt x="507048" y="1797"/>
                        <a:pt x="510248" y="4997"/>
                      </a:cubicBezTo>
                      <a:cubicBezTo>
                        <a:pt x="513447" y="8196"/>
                        <a:pt x="515244" y="12535"/>
                        <a:pt x="515244" y="17059"/>
                      </a:cubicBezTo>
                      <a:lnTo>
                        <a:pt x="515244" y="17059"/>
                      </a:lnTo>
                      <a:cubicBezTo>
                        <a:pt x="515244" y="21584"/>
                        <a:pt x="513447" y="25923"/>
                        <a:pt x="510248" y="29122"/>
                      </a:cubicBezTo>
                      <a:cubicBezTo>
                        <a:pt x="507048" y="32321"/>
                        <a:pt x="502709" y="34119"/>
                        <a:pt x="498185" y="34119"/>
                      </a:cubicBezTo>
                      <a:lnTo>
                        <a:pt x="17059" y="34119"/>
                      </a:lnTo>
                      <a:cubicBezTo>
                        <a:pt x="12535" y="34119"/>
                        <a:pt x="8196" y="32321"/>
                        <a:pt x="4997" y="29122"/>
                      </a:cubicBezTo>
                      <a:cubicBezTo>
                        <a:pt x="1797" y="25923"/>
                        <a:pt x="0" y="21584"/>
                        <a:pt x="0" y="17059"/>
                      </a:cubicBezTo>
                      <a:lnTo>
                        <a:pt x="0" y="17059"/>
                      </a:lnTo>
                      <a:cubicBezTo>
                        <a:pt x="0" y="12535"/>
                        <a:pt x="1797" y="8196"/>
                        <a:pt x="4997" y="4997"/>
                      </a:cubicBezTo>
                      <a:cubicBezTo>
                        <a:pt x="8196" y="1797"/>
                        <a:pt x="12535" y="0"/>
                        <a:pt x="17059" y="0"/>
                      </a:cubicBezTo>
                      <a:close/>
                    </a:path>
                  </a:pathLst>
                </a:custGeom>
                <a:solidFill>
                  <a:schemeClr val="accent2">
                    <a:lumMod val="75000"/>
                  </a:schemeClr>
                </a:solidFill>
              </p:spPr>
              <p:txBody>
                <a:bodyPr/>
                <a:lstStyle/>
                <a:p>
                  <a:endParaRPr lang="es-ES_tradnl" sz="1000">
                    <a:latin typeface="Calibri" panose="020F0502020204030204" pitchFamily="34" charset="0"/>
                    <a:cs typeface="Calibri" panose="020F0502020204030204" pitchFamily="34" charset="0"/>
                  </a:endParaRPr>
                </a:p>
              </p:txBody>
            </p:sp>
            <p:sp>
              <p:nvSpPr>
                <p:cNvPr id="163" name="TextBox 32">
                  <a:extLst>
                    <a:ext uri="{FF2B5EF4-FFF2-40B4-BE49-F238E27FC236}">
                      <a16:creationId xmlns:a16="http://schemas.microsoft.com/office/drawing/2014/main" id="{A08832CD-3880-2F8B-3F6B-C56E81BBCA24}"/>
                    </a:ext>
                  </a:extLst>
                </p:cNvPr>
                <p:cNvSpPr txBox="1"/>
                <p:nvPr/>
              </p:nvSpPr>
              <p:spPr>
                <a:xfrm>
                  <a:off x="0" y="-38100"/>
                  <a:ext cx="515244" cy="7221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sp>
          <p:nvSpPr>
            <p:cNvPr id="141" name="TextBox 78">
              <a:extLst>
                <a:ext uri="{FF2B5EF4-FFF2-40B4-BE49-F238E27FC236}">
                  <a16:creationId xmlns:a16="http://schemas.microsoft.com/office/drawing/2014/main" id="{4B35C810-2F3D-7B21-5EC6-71F0EE65922D}"/>
                </a:ext>
              </a:extLst>
            </p:cNvPr>
            <p:cNvSpPr txBox="1"/>
            <p:nvPr/>
          </p:nvSpPr>
          <p:spPr>
            <a:xfrm>
              <a:off x="1551761" y="4725621"/>
              <a:ext cx="1993297" cy="290721"/>
            </a:xfrm>
            <a:prstGeom prst="rect">
              <a:avLst/>
            </a:prstGeom>
          </p:spPr>
          <p:txBody>
            <a:bodyPr wrap="square" lIns="0" tIns="0" rIns="0" bIns="0" rtlCol="0" anchor="ctr">
              <a:spAutoFit/>
            </a:bodyPr>
            <a:lstStyle/>
            <a:p>
              <a:pPr algn="ctr">
                <a:lnSpc>
                  <a:spcPts val="2560"/>
                </a:lnSpc>
              </a:pPr>
              <a:r>
                <a:rPr lang="en-US" sz="1200" b="1" dirty="0">
                  <a:solidFill>
                    <a:srgbClr val="1F3347"/>
                  </a:solidFill>
                  <a:latin typeface="Calibri" panose="020F0502020204030204" pitchFamily="34" charset="0"/>
                  <a:ea typeface="Arial Bold"/>
                  <a:cs typeface="Calibri" panose="020F0502020204030204" pitchFamily="34" charset="0"/>
                  <a:sym typeface="Arial Bold"/>
                </a:rPr>
                <a:t>RAROC </a:t>
              </a:r>
              <a:r>
                <a:rPr lang="en-US" sz="1200" b="1" dirty="0" err="1">
                  <a:solidFill>
                    <a:srgbClr val="1F3347"/>
                  </a:solidFill>
                  <a:latin typeface="Calibri" panose="020F0502020204030204" pitchFamily="34" charset="0"/>
                  <a:ea typeface="Arial Bold"/>
                  <a:cs typeface="Calibri" panose="020F0502020204030204" pitchFamily="34" charset="0"/>
                  <a:sym typeface="Arial Bold"/>
                </a:rPr>
                <a:t>Mínima</a:t>
              </a:r>
              <a:r>
                <a:rPr lang="en-US" sz="1200" b="1" dirty="0">
                  <a:solidFill>
                    <a:srgbClr val="1F3347"/>
                  </a:solidFill>
                  <a:latin typeface="Calibri" panose="020F0502020204030204" pitchFamily="34" charset="0"/>
                  <a:ea typeface="Arial Bold"/>
                  <a:cs typeface="Calibri" panose="020F0502020204030204" pitchFamily="34" charset="0"/>
                  <a:sym typeface="Arial Bold"/>
                </a:rPr>
                <a:t>*: {0,+4%}</a:t>
              </a:r>
            </a:p>
          </p:txBody>
        </p:sp>
      </p:grpSp>
      <p:sp>
        <p:nvSpPr>
          <p:cNvPr id="171" name="TextBox 170">
            <a:extLst>
              <a:ext uri="{FF2B5EF4-FFF2-40B4-BE49-F238E27FC236}">
                <a16:creationId xmlns:a16="http://schemas.microsoft.com/office/drawing/2014/main" id="{910B535F-1646-3508-FEA2-F370F70A8BA1}"/>
              </a:ext>
            </a:extLst>
          </p:cNvPr>
          <p:cNvSpPr txBox="1"/>
          <p:nvPr/>
        </p:nvSpPr>
        <p:spPr>
          <a:xfrm>
            <a:off x="4031790" y="4851715"/>
            <a:ext cx="2082957" cy="646331"/>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Piso (Minina)</a:t>
            </a:r>
          </a:p>
          <a:p>
            <a:pPr algn="ctr"/>
            <a:r>
              <a:rPr lang="en-EC" sz="1200" dirty="0">
                <a:latin typeface="Calibri" panose="020F0502020204030204" pitchFamily="34" charset="0"/>
                <a:cs typeface="Calibri" panose="020F0502020204030204" pitchFamily="34" charset="0"/>
              </a:rPr>
              <a:t>15%</a:t>
            </a:r>
          </a:p>
        </p:txBody>
      </p:sp>
      <p:sp>
        <p:nvSpPr>
          <p:cNvPr id="172" name="Right Brace 171">
            <a:extLst>
              <a:ext uri="{FF2B5EF4-FFF2-40B4-BE49-F238E27FC236}">
                <a16:creationId xmlns:a16="http://schemas.microsoft.com/office/drawing/2014/main" id="{073FD3F3-5157-3D13-E5F4-C12CA4EDC53F}"/>
              </a:ext>
            </a:extLst>
          </p:cNvPr>
          <p:cNvSpPr/>
          <p:nvPr/>
        </p:nvSpPr>
        <p:spPr>
          <a:xfrm rot="5400000">
            <a:off x="4921007" y="5898647"/>
            <a:ext cx="239152" cy="2082523"/>
          </a:xfrm>
          <a:prstGeom prst="rightBrace">
            <a:avLst/>
          </a:prstGeom>
          <a:ln w="12700">
            <a:solidFill>
              <a:srgbClr val="1F7176"/>
            </a:solidFill>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en-EC"/>
          </a:p>
        </p:txBody>
      </p:sp>
      <p:sp>
        <p:nvSpPr>
          <p:cNvPr id="173" name="TextBox 172">
            <a:extLst>
              <a:ext uri="{FF2B5EF4-FFF2-40B4-BE49-F238E27FC236}">
                <a16:creationId xmlns:a16="http://schemas.microsoft.com/office/drawing/2014/main" id="{8E1E5456-8A6B-8322-DB04-56C9B32F6ADE}"/>
              </a:ext>
            </a:extLst>
          </p:cNvPr>
          <p:cNvSpPr txBox="1"/>
          <p:nvPr/>
        </p:nvSpPr>
        <p:spPr>
          <a:xfrm>
            <a:off x="4277586" y="7086662"/>
            <a:ext cx="1492717" cy="646331"/>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Rentabilidad Minimo</a:t>
            </a:r>
          </a:p>
          <a:p>
            <a:pPr algn="ctr"/>
            <a:r>
              <a:rPr lang="en-EC" sz="1200" dirty="0">
                <a:latin typeface="Calibri" panose="020F0502020204030204" pitchFamily="34" charset="0"/>
                <a:cs typeface="Calibri" panose="020F0502020204030204" pitchFamily="34" charset="0"/>
              </a:rPr>
              <a:t>19.0%</a:t>
            </a:r>
          </a:p>
        </p:txBody>
      </p:sp>
      <p:sp>
        <p:nvSpPr>
          <p:cNvPr id="174" name="Rounded Rectangle 173">
            <a:extLst>
              <a:ext uri="{FF2B5EF4-FFF2-40B4-BE49-F238E27FC236}">
                <a16:creationId xmlns:a16="http://schemas.microsoft.com/office/drawing/2014/main" id="{CFBB2E1A-740C-011E-73EF-2DE23E2B694A}"/>
              </a:ext>
            </a:extLst>
          </p:cNvPr>
          <p:cNvSpPr/>
          <p:nvPr/>
        </p:nvSpPr>
        <p:spPr>
          <a:xfrm>
            <a:off x="6376893" y="3262471"/>
            <a:ext cx="2082523" cy="34290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C"/>
          </a:p>
        </p:txBody>
      </p:sp>
      <p:sp>
        <p:nvSpPr>
          <p:cNvPr id="175" name="TextBox 174">
            <a:extLst>
              <a:ext uri="{FF2B5EF4-FFF2-40B4-BE49-F238E27FC236}">
                <a16:creationId xmlns:a16="http://schemas.microsoft.com/office/drawing/2014/main" id="{F3FC6116-982B-E58B-B4DD-40FD1775EC3B}"/>
              </a:ext>
            </a:extLst>
          </p:cNvPr>
          <p:cNvSpPr txBox="1"/>
          <p:nvPr/>
        </p:nvSpPr>
        <p:spPr>
          <a:xfrm>
            <a:off x="6367248" y="4851716"/>
            <a:ext cx="2082957" cy="646331"/>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Rentabilidad Objetivo</a:t>
            </a:r>
          </a:p>
          <a:p>
            <a:pPr algn="ctr"/>
            <a:r>
              <a:rPr lang="en-EC" sz="1200" dirty="0">
                <a:latin typeface="Calibri" panose="020F0502020204030204" pitchFamily="34" charset="0"/>
                <a:cs typeface="Calibri" panose="020F0502020204030204" pitchFamily="34" charset="0"/>
              </a:rPr>
              <a:t>19%</a:t>
            </a:r>
          </a:p>
        </p:txBody>
      </p:sp>
      <p:grpSp>
        <p:nvGrpSpPr>
          <p:cNvPr id="176" name="Group 175">
            <a:extLst>
              <a:ext uri="{FF2B5EF4-FFF2-40B4-BE49-F238E27FC236}">
                <a16:creationId xmlns:a16="http://schemas.microsoft.com/office/drawing/2014/main" id="{C8B808FB-A8DE-8F2E-7174-C7AB70F27A05}"/>
              </a:ext>
            </a:extLst>
          </p:cNvPr>
          <p:cNvGrpSpPr/>
          <p:nvPr/>
        </p:nvGrpSpPr>
        <p:grpSpPr>
          <a:xfrm>
            <a:off x="6379255" y="2539589"/>
            <a:ext cx="2182157" cy="665630"/>
            <a:chOff x="1462536" y="4509206"/>
            <a:chExt cx="2182157" cy="665630"/>
          </a:xfrm>
        </p:grpSpPr>
        <p:grpSp>
          <p:nvGrpSpPr>
            <p:cNvPr id="177" name="Group 26">
              <a:extLst>
                <a:ext uri="{FF2B5EF4-FFF2-40B4-BE49-F238E27FC236}">
                  <a16:creationId xmlns:a16="http://schemas.microsoft.com/office/drawing/2014/main" id="{A90ACFB8-9845-A6C7-A47E-1D7E1BBEEB61}"/>
                </a:ext>
              </a:extLst>
            </p:cNvPr>
            <p:cNvGrpSpPr/>
            <p:nvPr/>
          </p:nvGrpSpPr>
          <p:grpSpPr>
            <a:xfrm>
              <a:off x="1462536" y="4509206"/>
              <a:ext cx="2182157" cy="665630"/>
              <a:chOff x="0" y="0"/>
              <a:chExt cx="4224397" cy="2608424"/>
            </a:xfrm>
          </p:grpSpPr>
          <p:grpSp>
            <p:nvGrpSpPr>
              <p:cNvPr id="179" name="Group 27">
                <a:extLst>
                  <a:ext uri="{FF2B5EF4-FFF2-40B4-BE49-F238E27FC236}">
                    <a16:creationId xmlns:a16="http://schemas.microsoft.com/office/drawing/2014/main" id="{BD3034B5-7DC9-2C44-E939-22CDC193CF3A}"/>
                  </a:ext>
                </a:extLst>
              </p:cNvPr>
              <p:cNvGrpSpPr/>
              <p:nvPr/>
            </p:nvGrpSpPr>
            <p:grpSpPr>
              <a:xfrm rot="5400000">
                <a:off x="807987" y="-807987"/>
                <a:ext cx="2608424" cy="4224397"/>
                <a:chOff x="0" y="-38100"/>
                <a:chExt cx="515244" cy="834449"/>
              </a:xfrm>
            </p:grpSpPr>
            <p:sp>
              <p:nvSpPr>
                <p:cNvPr id="183" name="Freeform 28">
                  <a:extLst>
                    <a:ext uri="{FF2B5EF4-FFF2-40B4-BE49-F238E27FC236}">
                      <a16:creationId xmlns:a16="http://schemas.microsoft.com/office/drawing/2014/main" id="{B69C9770-E42E-A480-F4A9-AF686554F71B}"/>
                    </a:ext>
                  </a:extLst>
                </p:cNvPr>
                <p:cNvSpPr/>
                <p:nvPr/>
              </p:nvSpPr>
              <p:spPr>
                <a:xfrm>
                  <a:off x="113074" y="0"/>
                  <a:ext cx="402169" cy="796349"/>
                </a:xfrm>
                <a:custGeom>
                  <a:avLst/>
                  <a:gdLst/>
                  <a:ahLst/>
                  <a:cxnLst/>
                  <a:rect l="l" t="t" r="r" b="b"/>
                  <a:pathLst>
                    <a:path w="515244" h="796349">
                      <a:moveTo>
                        <a:pt x="19787" y="0"/>
                      </a:moveTo>
                      <a:lnTo>
                        <a:pt x="495457" y="0"/>
                      </a:lnTo>
                      <a:cubicBezTo>
                        <a:pt x="500705" y="0"/>
                        <a:pt x="505738" y="2085"/>
                        <a:pt x="509449" y="5795"/>
                      </a:cubicBezTo>
                      <a:cubicBezTo>
                        <a:pt x="513160" y="9506"/>
                        <a:pt x="515244" y="14539"/>
                        <a:pt x="515244" y="19787"/>
                      </a:cubicBezTo>
                      <a:lnTo>
                        <a:pt x="515244" y="776562"/>
                      </a:lnTo>
                      <a:cubicBezTo>
                        <a:pt x="515244" y="787490"/>
                        <a:pt x="506385" y="796349"/>
                        <a:pt x="495457" y="796349"/>
                      </a:cubicBezTo>
                      <a:lnTo>
                        <a:pt x="19787" y="796349"/>
                      </a:lnTo>
                      <a:cubicBezTo>
                        <a:pt x="14539" y="796349"/>
                        <a:pt x="9506" y="794264"/>
                        <a:pt x="5795" y="790553"/>
                      </a:cubicBezTo>
                      <a:cubicBezTo>
                        <a:pt x="2085" y="786843"/>
                        <a:pt x="0" y="781810"/>
                        <a:pt x="0" y="776562"/>
                      </a:cubicBezTo>
                      <a:lnTo>
                        <a:pt x="0" y="19787"/>
                      </a:lnTo>
                      <a:cubicBezTo>
                        <a:pt x="0" y="14539"/>
                        <a:pt x="2085" y="9506"/>
                        <a:pt x="5795" y="5795"/>
                      </a:cubicBezTo>
                      <a:cubicBezTo>
                        <a:pt x="9506" y="2085"/>
                        <a:pt x="14539" y="0"/>
                        <a:pt x="19787" y="0"/>
                      </a:cubicBezTo>
                      <a:close/>
                    </a:path>
                  </a:pathLst>
                </a:custGeom>
                <a:solidFill>
                  <a:srgbClr val="F4F1F1"/>
                </a:solidFill>
              </p:spPr>
              <p:txBody>
                <a:bodyPr/>
                <a:lstStyle/>
                <a:p>
                  <a:endParaRPr lang="es-ES_tradnl" sz="1000">
                    <a:latin typeface="Calibri" panose="020F0502020204030204" pitchFamily="34" charset="0"/>
                    <a:cs typeface="Calibri" panose="020F0502020204030204" pitchFamily="34" charset="0"/>
                  </a:endParaRPr>
                </a:p>
              </p:txBody>
            </p:sp>
            <p:sp>
              <p:nvSpPr>
                <p:cNvPr id="184" name="TextBox 29">
                  <a:extLst>
                    <a:ext uri="{FF2B5EF4-FFF2-40B4-BE49-F238E27FC236}">
                      <a16:creationId xmlns:a16="http://schemas.microsoft.com/office/drawing/2014/main" id="{E1996DCB-8DDC-C080-F070-D82EC61C5C77}"/>
                    </a:ext>
                  </a:extLst>
                </p:cNvPr>
                <p:cNvSpPr txBox="1"/>
                <p:nvPr/>
              </p:nvSpPr>
              <p:spPr>
                <a:xfrm>
                  <a:off x="0" y="-38100"/>
                  <a:ext cx="515244" cy="83444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nvGrpSpPr>
              <p:cNvPr id="180" name="Group 30">
                <a:extLst>
                  <a:ext uri="{FF2B5EF4-FFF2-40B4-BE49-F238E27FC236}">
                    <a16:creationId xmlns:a16="http://schemas.microsoft.com/office/drawing/2014/main" id="{9ADFE507-24C3-5B7C-24BD-52C62B198F69}"/>
                  </a:ext>
                </a:extLst>
              </p:cNvPr>
              <p:cNvGrpSpPr/>
              <p:nvPr/>
            </p:nvGrpSpPr>
            <p:grpSpPr>
              <a:xfrm rot="5400000">
                <a:off x="-1121409" y="1121409"/>
                <a:ext cx="2608424" cy="365606"/>
                <a:chOff x="0" y="-38100"/>
                <a:chExt cx="515244" cy="72219"/>
              </a:xfrm>
            </p:grpSpPr>
            <p:sp>
              <p:nvSpPr>
                <p:cNvPr id="181" name="Freeform 31">
                  <a:extLst>
                    <a:ext uri="{FF2B5EF4-FFF2-40B4-BE49-F238E27FC236}">
                      <a16:creationId xmlns:a16="http://schemas.microsoft.com/office/drawing/2014/main" id="{6F04D2F8-990C-A8B8-030B-2FC4736640EA}"/>
                    </a:ext>
                  </a:extLst>
                </p:cNvPr>
                <p:cNvSpPr/>
                <p:nvPr/>
              </p:nvSpPr>
              <p:spPr>
                <a:xfrm>
                  <a:off x="113076" y="0"/>
                  <a:ext cx="402168" cy="34119"/>
                </a:xfrm>
                <a:custGeom>
                  <a:avLst/>
                  <a:gdLst/>
                  <a:ahLst/>
                  <a:cxnLst/>
                  <a:rect l="l" t="t" r="r" b="b"/>
                  <a:pathLst>
                    <a:path w="515244" h="34119">
                      <a:moveTo>
                        <a:pt x="17059" y="0"/>
                      </a:moveTo>
                      <a:lnTo>
                        <a:pt x="498185" y="0"/>
                      </a:lnTo>
                      <a:cubicBezTo>
                        <a:pt x="502709" y="0"/>
                        <a:pt x="507048" y="1797"/>
                        <a:pt x="510248" y="4997"/>
                      </a:cubicBezTo>
                      <a:cubicBezTo>
                        <a:pt x="513447" y="8196"/>
                        <a:pt x="515244" y="12535"/>
                        <a:pt x="515244" y="17059"/>
                      </a:cubicBezTo>
                      <a:lnTo>
                        <a:pt x="515244" y="17059"/>
                      </a:lnTo>
                      <a:cubicBezTo>
                        <a:pt x="515244" y="21584"/>
                        <a:pt x="513447" y="25923"/>
                        <a:pt x="510248" y="29122"/>
                      </a:cubicBezTo>
                      <a:cubicBezTo>
                        <a:pt x="507048" y="32321"/>
                        <a:pt x="502709" y="34119"/>
                        <a:pt x="498185" y="34119"/>
                      </a:cubicBezTo>
                      <a:lnTo>
                        <a:pt x="17059" y="34119"/>
                      </a:lnTo>
                      <a:cubicBezTo>
                        <a:pt x="12535" y="34119"/>
                        <a:pt x="8196" y="32321"/>
                        <a:pt x="4997" y="29122"/>
                      </a:cubicBezTo>
                      <a:cubicBezTo>
                        <a:pt x="1797" y="25923"/>
                        <a:pt x="0" y="21584"/>
                        <a:pt x="0" y="17059"/>
                      </a:cubicBezTo>
                      <a:lnTo>
                        <a:pt x="0" y="17059"/>
                      </a:lnTo>
                      <a:cubicBezTo>
                        <a:pt x="0" y="12535"/>
                        <a:pt x="1797" y="8196"/>
                        <a:pt x="4997" y="4997"/>
                      </a:cubicBezTo>
                      <a:cubicBezTo>
                        <a:pt x="8196" y="1797"/>
                        <a:pt x="12535" y="0"/>
                        <a:pt x="17059" y="0"/>
                      </a:cubicBezTo>
                      <a:close/>
                    </a:path>
                  </a:pathLst>
                </a:custGeom>
                <a:solidFill>
                  <a:schemeClr val="accent2">
                    <a:lumMod val="75000"/>
                  </a:schemeClr>
                </a:solidFill>
              </p:spPr>
              <p:txBody>
                <a:bodyPr/>
                <a:lstStyle/>
                <a:p>
                  <a:endParaRPr lang="es-ES_tradnl" sz="1000">
                    <a:latin typeface="Calibri" panose="020F0502020204030204" pitchFamily="34" charset="0"/>
                    <a:cs typeface="Calibri" panose="020F0502020204030204" pitchFamily="34" charset="0"/>
                  </a:endParaRPr>
                </a:p>
              </p:txBody>
            </p:sp>
            <p:sp>
              <p:nvSpPr>
                <p:cNvPr id="182" name="TextBox 32">
                  <a:extLst>
                    <a:ext uri="{FF2B5EF4-FFF2-40B4-BE49-F238E27FC236}">
                      <a16:creationId xmlns:a16="http://schemas.microsoft.com/office/drawing/2014/main" id="{FC98BB21-726D-0E75-7372-0A4C352C7877}"/>
                    </a:ext>
                  </a:extLst>
                </p:cNvPr>
                <p:cNvSpPr txBox="1"/>
                <p:nvPr/>
              </p:nvSpPr>
              <p:spPr>
                <a:xfrm>
                  <a:off x="0" y="-38100"/>
                  <a:ext cx="515244" cy="7221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sp>
          <p:nvSpPr>
            <p:cNvPr id="178" name="TextBox 78">
              <a:extLst>
                <a:ext uri="{FF2B5EF4-FFF2-40B4-BE49-F238E27FC236}">
                  <a16:creationId xmlns:a16="http://schemas.microsoft.com/office/drawing/2014/main" id="{E52E05BB-F25E-9356-04B2-90D7C42831CC}"/>
                </a:ext>
              </a:extLst>
            </p:cNvPr>
            <p:cNvSpPr txBox="1"/>
            <p:nvPr/>
          </p:nvSpPr>
          <p:spPr>
            <a:xfrm>
              <a:off x="1551761" y="4725621"/>
              <a:ext cx="1993297" cy="290721"/>
            </a:xfrm>
            <a:prstGeom prst="rect">
              <a:avLst/>
            </a:prstGeom>
          </p:spPr>
          <p:txBody>
            <a:bodyPr wrap="square" lIns="0" tIns="0" rIns="0" bIns="0" rtlCol="0" anchor="ctr">
              <a:spAutoFit/>
            </a:bodyPr>
            <a:lstStyle/>
            <a:p>
              <a:pPr algn="ctr">
                <a:lnSpc>
                  <a:spcPts val="2560"/>
                </a:lnSpc>
              </a:pPr>
              <a:r>
                <a:rPr lang="en-US" sz="1200" b="1" dirty="0">
                  <a:solidFill>
                    <a:srgbClr val="1F3347"/>
                  </a:solidFill>
                  <a:latin typeface="Calibri" panose="020F0502020204030204" pitchFamily="34" charset="0"/>
                  <a:ea typeface="Arial Bold"/>
                  <a:cs typeface="Calibri" panose="020F0502020204030204" pitchFamily="34" charset="0"/>
                  <a:sym typeface="Arial Bold"/>
                </a:rPr>
                <a:t>RAROC </a:t>
              </a:r>
              <a:r>
                <a:rPr lang="en-US" sz="1200" b="1" dirty="0" err="1">
                  <a:solidFill>
                    <a:srgbClr val="1F3347"/>
                  </a:solidFill>
                  <a:latin typeface="Calibri" panose="020F0502020204030204" pitchFamily="34" charset="0"/>
                  <a:ea typeface="Arial Bold"/>
                  <a:cs typeface="Calibri" panose="020F0502020204030204" pitchFamily="34" charset="0"/>
                  <a:sym typeface="Arial Bold"/>
                </a:rPr>
                <a:t>Objetivo</a:t>
              </a:r>
              <a:r>
                <a:rPr lang="en-US" sz="1200" b="1" dirty="0">
                  <a:solidFill>
                    <a:srgbClr val="1F3347"/>
                  </a:solidFill>
                  <a:latin typeface="Calibri" panose="020F0502020204030204" pitchFamily="34" charset="0"/>
                  <a:ea typeface="Arial Bold"/>
                  <a:cs typeface="Calibri" panose="020F0502020204030204" pitchFamily="34" charset="0"/>
                  <a:sym typeface="Arial Bold"/>
                </a:rPr>
                <a:t>: +4%</a:t>
              </a:r>
            </a:p>
          </p:txBody>
        </p:sp>
      </p:grpSp>
      <p:sp>
        <p:nvSpPr>
          <p:cNvPr id="185" name="Right Brace 184">
            <a:extLst>
              <a:ext uri="{FF2B5EF4-FFF2-40B4-BE49-F238E27FC236}">
                <a16:creationId xmlns:a16="http://schemas.microsoft.com/office/drawing/2014/main" id="{838E8CAE-1BA5-16F9-1EE0-4DFBD6F4B200}"/>
              </a:ext>
            </a:extLst>
          </p:cNvPr>
          <p:cNvSpPr/>
          <p:nvPr/>
        </p:nvSpPr>
        <p:spPr>
          <a:xfrm rot="5400000">
            <a:off x="7295745" y="5900574"/>
            <a:ext cx="239152" cy="2082523"/>
          </a:xfrm>
          <a:prstGeom prst="rightBrace">
            <a:avLst/>
          </a:prstGeom>
          <a:ln w="12700">
            <a:solidFill>
              <a:srgbClr val="1F7176"/>
            </a:solidFill>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en-EC"/>
          </a:p>
        </p:txBody>
      </p:sp>
      <p:sp>
        <p:nvSpPr>
          <p:cNvPr id="186" name="TextBox 185">
            <a:extLst>
              <a:ext uri="{FF2B5EF4-FFF2-40B4-BE49-F238E27FC236}">
                <a16:creationId xmlns:a16="http://schemas.microsoft.com/office/drawing/2014/main" id="{6EE2B81B-A8A3-B91F-1D70-CF2DC826C701}"/>
              </a:ext>
            </a:extLst>
          </p:cNvPr>
          <p:cNvSpPr txBox="1"/>
          <p:nvPr/>
        </p:nvSpPr>
        <p:spPr>
          <a:xfrm>
            <a:off x="6643075" y="7088589"/>
            <a:ext cx="1539204" cy="646331"/>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Rentabilidad Objetivo</a:t>
            </a:r>
          </a:p>
          <a:p>
            <a:pPr algn="ctr"/>
            <a:r>
              <a:rPr lang="en-EC" sz="1200" dirty="0">
                <a:latin typeface="Calibri" panose="020F0502020204030204" pitchFamily="34" charset="0"/>
                <a:cs typeface="Calibri" panose="020F0502020204030204" pitchFamily="34" charset="0"/>
              </a:rPr>
              <a:t>23.0%</a:t>
            </a:r>
          </a:p>
        </p:txBody>
      </p:sp>
      <p:sp>
        <p:nvSpPr>
          <p:cNvPr id="187" name="Rounded Rectangle 186">
            <a:extLst>
              <a:ext uri="{FF2B5EF4-FFF2-40B4-BE49-F238E27FC236}">
                <a16:creationId xmlns:a16="http://schemas.microsoft.com/office/drawing/2014/main" id="{CECF9FAB-2BA2-31F3-DB9C-39A1287EDA8C}"/>
              </a:ext>
            </a:extLst>
          </p:cNvPr>
          <p:cNvSpPr/>
          <p:nvPr/>
        </p:nvSpPr>
        <p:spPr>
          <a:xfrm>
            <a:off x="8942197" y="2685665"/>
            <a:ext cx="2082523" cy="40077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C"/>
          </a:p>
        </p:txBody>
      </p:sp>
      <p:cxnSp>
        <p:nvCxnSpPr>
          <p:cNvPr id="189" name="Straight Arrow Connector 188">
            <a:extLst>
              <a:ext uri="{FF2B5EF4-FFF2-40B4-BE49-F238E27FC236}">
                <a16:creationId xmlns:a16="http://schemas.microsoft.com/office/drawing/2014/main" id="{5A8FED56-3729-4C25-031D-F2D24DB9A067}"/>
              </a:ext>
            </a:extLst>
          </p:cNvPr>
          <p:cNvCxnSpPr>
            <a:cxnSpLocks/>
            <a:endCxn id="190" idx="1"/>
          </p:cNvCxnSpPr>
          <p:nvPr/>
        </p:nvCxnSpPr>
        <p:spPr>
          <a:xfrm>
            <a:off x="7743762" y="2685665"/>
            <a:ext cx="792054" cy="2564"/>
          </a:xfrm>
          <a:prstGeom prst="straightConnector1">
            <a:avLst/>
          </a:prstGeom>
          <a:ln>
            <a:solidFill>
              <a:srgbClr val="1F7176"/>
            </a:solidFill>
            <a:tailEnd type="triangle"/>
          </a:ln>
        </p:spPr>
        <p:style>
          <a:lnRef idx="1">
            <a:schemeClr val="dk1"/>
          </a:lnRef>
          <a:fillRef idx="0">
            <a:schemeClr val="dk1"/>
          </a:fillRef>
          <a:effectRef idx="0">
            <a:schemeClr val="dk1"/>
          </a:effectRef>
          <a:fontRef idx="minor">
            <a:schemeClr val="tx1"/>
          </a:fontRef>
        </p:style>
      </p:cxnSp>
      <p:sp>
        <p:nvSpPr>
          <p:cNvPr id="190" name="Right Brace 189">
            <a:extLst>
              <a:ext uri="{FF2B5EF4-FFF2-40B4-BE49-F238E27FC236}">
                <a16:creationId xmlns:a16="http://schemas.microsoft.com/office/drawing/2014/main" id="{4E377136-6AC6-54DA-C281-0BBE826F8D61}"/>
              </a:ext>
            </a:extLst>
          </p:cNvPr>
          <p:cNvSpPr/>
          <p:nvPr/>
        </p:nvSpPr>
        <p:spPr>
          <a:xfrm rot="10800000">
            <a:off x="8535816" y="2113216"/>
            <a:ext cx="239152" cy="1144896"/>
          </a:xfrm>
          <a:prstGeom prst="rightBrace">
            <a:avLst>
              <a:gd name="adj1" fmla="val 8333"/>
              <a:gd name="adj2" fmla="val 49776"/>
            </a:avLst>
          </a:prstGeom>
          <a:ln w="9525">
            <a:solidFill>
              <a:srgbClr val="1F7176"/>
            </a:solidFill>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en-EC"/>
          </a:p>
        </p:txBody>
      </p:sp>
      <p:sp>
        <p:nvSpPr>
          <p:cNvPr id="195" name="TextBox 194">
            <a:extLst>
              <a:ext uri="{FF2B5EF4-FFF2-40B4-BE49-F238E27FC236}">
                <a16:creationId xmlns:a16="http://schemas.microsoft.com/office/drawing/2014/main" id="{6409CFE5-C1BE-76C8-5A3D-BA675CC83313}"/>
              </a:ext>
            </a:extLst>
          </p:cNvPr>
          <p:cNvSpPr txBox="1"/>
          <p:nvPr/>
        </p:nvSpPr>
        <p:spPr>
          <a:xfrm>
            <a:off x="8580627" y="2392004"/>
            <a:ext cx="307777" cy="594073"/>
          </a:xfrm>
          <a:prstGeom prst="rect">
            <a:avLst/>
          </a:prstGeom>
          <a:noFill/>
        </p:spPr>
        <p:txBody>
          <a:bodyPr vert="vert270" wrap="none" rtlCol="0">
            <a:spAutoFit/>
          </a:bodyPr>
          <a:lstStyle/>
          <a:p>
            <a:r>
              <a:rPr lang="en-EC" sz="800" dirty="0">
                <a:latin typeface="Calibri" panose="020F0502020204030204" pitchFamily="34" charset="0"/>
                <a:cs typeface="Calibri" panose="020F0502020204030204" pitchFamily="34" charset="0"/>
              </a:rPr>
              <a:t>Sensibilidad</a:t>
            </a:r>
          </a:p>
        </p:txBody>
      </p:sp>
      <p:sp>
        <p:nvSpPr>
          <p:cNvPr id="196" name="Right Brace 195">
            <a:extLst>
              <a:ext uri="{FF2B5EF4-FFF2-40B4-BE49-F238E27FC236}">
                <a16:creationId xmlns:a16="http://schemas.microsoft.com/office/drawing/2014/main" id="{DEA83FA0-C1D8-709B-C5DC-638F04B99085}"/>
              </a:ext>
            </a:extLst>
          </p:cNvPr>
          <p:cNvSpPr/>
          <p:nvPr/>
        </p:nvSpPr>
        <p:spPr>
          <a:xfrm rot="5400000">
            <a:off x="9846110" y="5903686"/>
            <a:ext cx="239152" cy="2082523"/>
          </a:xfrm>
          <a:prstGeom prst="rightBrace">
            <a:avLst/>
          </a:prstGeom>
          <a:ln w="12700">
            <a:solidFill>
              <a:srgbClr val="1F7176"/>
            </a:solidFill>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en-EC"/>
          </a:p>
        </p:txBody>
      </p:sp>
      <p:sp>
        <p:nvSpPr>
          <p:cNvPr id="197" name="TextBox 196">
            <a:extLst>
              <a:ext uri="{FF2B5EF4-FFF2-40B4-BE49-F238E27FC236}">
                <a16:creationId xmlns:a16="http://schemas.microsoft.com/office/drawing/2014/main" id="{7A855CC4-CB7F-A3D6-07A2-260A0E74C1AC}"/>
              </a:ext>
            </a:extLst>
          </p:cNvPr>
          <p:cNvSpPr txBox="1"/>
          <p:nvPr/>
        </p:nvSpPr>
        <p:spPr>
          <a:xfrm>
            <a:off x="8911826" y="7091701"/>
            <a:ext cx="2121094" cy="646331"/>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Rentabilidad Objetivo Ajustada</a:t>
            </a:r>
          </a:p>
          <a:p>
            <a:pPr algn="ctr"/>
            <a:r>
              <a:rPr lang="en-EC" sz="1200" dirty="0">
                <a:latin typeface="Calibri" panose="020F0502020204030204" pitchFamily="34" charset="0"/>
                <a:cs typeface="Calibri" panose="020F0502020204030204" pitchFamily="34" charset="0"/>
              </a:rPr>
              <a:t>21.5%</a:t>
            </a:r>
          </a:p>
        </p:txBody>
      </p:sp>
      <p:grpSp>
        <p:nvGrpSpPr>
          <p:cNvPr id="198" name="Group 197">
            <a:extLst>
              <a:ext uri="{FF2B5EF4-FFF2-40B4-BE49-F238E27FC236}">
                <a16:creationId xmlns:a16="http://schemas.microsoft.com/office/drawing/2014/main" id="{91F08B84-0BE7-A1EF-6294-53E62397801F}"/>
              </a:ext>
            </a:extLst>
          </p:cNvPr>
          <p:cNvGrpSpPr/>
          <p:nvPr/>
        </p:nvGrpSpPr>
        <p:grpSpPr>
          <a:xfrm>
            <a:off x="9199444" y="2573041"/>
            <a:ext cx="1571690" cy="665630"/>
            <a:chOff x="1462536" y="4509206"/>
            <a:chExt cx="2182157" cy="665630"/>
          </a:xfrm>
        </p:grpSpPr>
        <p:grpSp>
          <p:nvGrpSpPr>
            <p:cNvPr id="199" name="Group 26">
              <a:extLst>
                <a:ext uri="{FF2B5EF4-FFF2-40B4-BE49-F238E27FC236}">
                  <a16:creationId xmlns:a16="http://schemas.microsoft.com/office/drawing/2014/main" id="{31E8693A-0A6C-269B-11F9-C014070A1DAB}"/>
                </a:ext>
              </a:extLst>
            </p:cNvPr>
            <p:cNvGrpSpPr/>
            <p:nvPr/>
          </p:nvGrpSpPr>
          <p:grpSpPr>
            <a:xfrm>
              <a:off x="1462536" y="4509206"/>
              <a:ext cx="2182157" cy="665630"/>
              <a:chOff x="0" y="0"/>
              <a:chExt cx="4224397" cy="2608424"/>
            </a:xfrm>
          </p:grpSpPr>
          <p:grpSp>
            <p:nvGrpSpPr>
              <p:cNvPr id="201" name="Group 27">
                <a:extLst>
                  <a:ext uri="{FF2B5EF4-FFF2-40B4-BE49-F238E27FC236}">
                    <a16:creationId xmlns:a16="http://schemas.microsoft.com/office/drawing/2014/main" id="{09EDAA50-6948-9EEA-7D13-675EA94B64E8}"/>
                  </a:ext>
                </a:extLst>
              </p:cNvPr>
              <p:cNvGrpSpPr/>
              <p:nvPr/>
            </p:nvGrpSpPr>
            <p:grpSpPr>
              <a:xfrm rot="5400000">
                <a:off x="807987" y="-807987"/>
                <a:ext cx="2608424" cy="4224397"/>
                <a:chOff x="0" y="-38100"/>
                <a:chExt cx="515244" cy="834449"/>
              </a:xfrm>
            </p:grpSpPr>
            <p:sp>
              <p:nvSpPr>
                <p:cNvPr id="205" name="Freeform 28">
                  <a:extLst>
                    <a:ext uri="{FF2B5EF4-FFF2-40B4-BE49-F238E27FC236}">
                      <a16:creationId xmlns:a16="http://schemas.microsoft.com/office/drawing/2014/main" id="{2B37231E-55C0-57AA-EA4F-4D46DF74AF3E}"/>
                    </a:ext>
                  </a:extLst>
                </p:cNvPr>
                <p:cNvSpPr/>
                <p:nvPr/>
              </p:nvSpPr>
              <p:spPr>
                <a:xfrm>
                  <a:off x="104457" y="0"/>
                  <a:ext cx="140636" cy="796349"/>
                </a:xfrm>
                <a:custGeom>
                  <a:avLst/>
                  <a:gdLst/>
                  <a:ahLst/>
                  <a:cxnLst/>
                  <a:rect l="l" t="t" r="r" b="b"/>
                  <a:pathLst>
                    <a:path w="515244" h="796349">
                      <a:moveTo>
                        <a:pt x="19787" y="0"/>
                      </a:moveTo>
                      <a:lnTo>
                        <a:pt x="495457" y="0"/>
                      </a:lnTo>
                      <a:cubicBezTo>
                        <a:pt x="500705" y="0"/>
                        <a:pt x="505738" y="2085"/>
                        <a:pt x="509449" y="5795"/>
                      </a:cubicBezTo>
                      <a:cubicBezTo>
                        <a:pt x="513160" y="9506"/>
                        <a:pt x="515244" y="14539"/>
                        <a:pt x="515244" y="19787"/>
                      </a:cubicBezTo>
                      <a:lnTo>
                        <a:pt x="515244" y="776562"/>
                      </a:lnTo>
                      <a:cubicBezTo>
                        <a:pt x="515244" y="787490"/>
                        <a:pt x="506385" y="796349"/>
                        <a:pt x="495457" y="796349"/>
                      </a:cubicBezTo>
                      <a:lnTo>
                        <a:pt x="19787" y="796349"/>
                      </a:lnTo>
                      <a:cubicBezTo>
                        <a:pt x="14539" y="796349"/>
                        <a:pt x="9506" y="794264"/>
                        <a:pt x="5795" y="790553"/>
                      </a:cubicBezTo>
                      <a:cubicBezTo>
                        <a:pt x="2085" y="786843"/>
                        <a:pt x="0" y="781810"/>
                        <a:pt x="0" y="776562"/>
                      </a:cubicBezTo>
                      <a:lnTo>
                        <a:pt x="0" y="19787"/>
                      </a:lnTo>
                      <a:cubicBezTo>
                        <a:pt x="0" y="14539"/>
                        <a:pt x="2085" y="9506"/>
                        <a:pt x="5795" y="5795"/>
                      </a:cubicBezTo>
                      <a:cubicBezTo>
                        <a:pt x="9506" y="2085"/>
                        <a:pt x="14539" y="0"/>
                        <a:pt x="19787" y="0"/>
                      </a:cubicBezTo>
                      <a:close/>
                    </a:path>
                  </a:pathLst>
                </a:custGeom>
                <a:solidFill>
                  <a:srgbClr val="F4F1F1"/>
                </a:solidFill>
              </p:spPr>
              <p:txBody>
                <a:bodyPr/>
                <a:lstStyle/>
                <a:p>
                  <a:endParaRPr lang="es-ES_tradnl" sz="1000">
                    <a:latin typeface="Calibri" panose="020F0502020204030204" pitchFamily="34" charset="0"/>
                    <a:cs typeface="Calibri" panose="020F0502020204030204" pitchFamily="34" charset="0"/>
                  </a:endParaRPr>
                </a:p>
              </p:txBody>
            </p:sp>
            <p:sp>
              <p:nvSpPr>
                <p:cNvPr id="206" name="TextBox 29">
                  <a:extLst>
                    <a:ext uri="{FF2B5EF4-FFF2-40B4-BE49-F238E27FC236}">
                      <a16:creationId xmlns:a16="http://schemas.microsoft.com/office/drawing/2014/main" id="{ADB47090-BB68-6777-7094-9DEDC6F47CE9}"/>
                    </a:ext>
                  </a:extLst>
                </p:cNvPr>
                <p:cNvSpPr txBox="1"/>
                <p:nvPr/>
              </p:nvSpPr>
              <p:spPr>
                <a:xfrm>
                  <a:off x="0" y="-38100"/>
                  <a:ext cx="515244" cy="83444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nvGrpSpPr>
              <p:cNvPr id="202" name="Group 30">
                <a:extLst>
                  <a:ext uri="{FF2B5EF4-FFF2-40B4-BE49-F238E27FC236}">
                    <a16:creationId xmlns:a16="http://schemas.microsoft.com/office/drawing/2014/main" id="{AC3A8D0C-326D-A99E-EE1C-3AF0DB8CE322}"/>
                  </a:ext>
                </a:extLst>
              </p:cNvPr>
              <p:cNvGrpSpPr/>
              <p:nvPr/>
            </p:nvGrpSpPr>
            <p:grpSpPr>
              <a:xfrm rot="5400000">
                <a:off x="-1121409" y="1121409"/>
                <a:ext cx="2608424" cy="365606"/>
                <a:chOff x="0" y="-38100"/>
                <a:chExt cx="515244" cy="72219"/>
              </a:xfrm>
            </p:grpSpPr>
            <p:sp>
              <p:nvSpPr>
                <p:cNvPr id="203" name="Freeform 31">
                  <a:extLst>
                    <a:ext uri="{FF2B5EF4-FFF2-40B4-BE49-F238E27FC236}">
                      <a16:creationId xmlns:a16="http://schemas.microsoft.com/office/drawing/2014/main" id="{58271014-30B3-6EF8-875D-E69B551759D1}"/>
                    </a:ext>
                  </a:extLst>
                </p:cNvPr>
                <p:cNvSpPr/>
                <p:nvPr/>
              </p:nvSpPr>
              <p:spPr>
                <a:xfrm>
                  <a:off x="104458" y="0"/>
                  <a:ext cx="140635" cy="34119"/>
                </a:xfrm>
                <a:custGeom>
                  <a:avLst/>
                  <a:gdLst/>
                  <a:ahLst/>
                  <a:cxnLst/>
                  <a:rect l="l" t="t" r="r" b="b"/>
                  <a:pathLst>
                    <a:path w="515244" h="34119">
                      <a:moveTo>
                        <a:pt x="17059" y="0"/>
                      </a:moveTo>
                      <a:lnTo>
                        <a:pt x="498185" y="0"/>
                      </a:lnTo>
                      <a:cubicBezTo>
                        <a:pt x="502709" y="0"/>
                        <a:pt x="507048" y="1797"/>
                        <a:pt x="510248" y="4997"/>
                      </a:cubicBezTo>
                      <a:cubicBezTo>
                        <a:pt x="513447" y="8196"/>
                        <a:pt x="515244" y="12535"/>
                        <a:pt x="515244" y="17059"/>
                      </a:cubicBezTo>
                      <a:lnTo>
                        <a:pt x="515244" y="17059"/>
                      </a:lnTo>
                      <a:cubicBezTo>
                        <a:pt x="515244" y="21584"/>
                        <a:pt x="513447" y="25923"/>
                        <a:pt x="510248" y="29122"/>
                      </a:cubicBezTo>
                      <a:cubicBezTo>
                        <a:pt x="507048" y="32321"/>
                        <a:pt x="502709" y="34119"/>
                        <a:pt x="498185" y="34119"/>
                      </a:cubicBezTo>
                      <a:lnTo>
                        <a:pt x="17059" y="34119"/>
                      </a:lnTo>
                      <a:cubicBezTo>
                        <a:pt x="12535" y="34119"/>
                        <a:pt x="8196" y="32321"/>
                        <a:pt x="4997" y="29122"/>
                      </a:cubicBezTo>
                      <a:cubicBezTo>
                        <a:pt x="1797" y="25923"/>
                        <a:pt x="0" y="21584"/>
                        <a:pt x="0" y="17059"/>
                      </a:cubicBezTo>
                      <a:lnTo>
                        <a:pt x="0" y="17059"/>
                      </a:lnTo>
                      <a:cubicBezTo>
                        <a:pt x="0" y="12535"/>
                        <a:pt x="1797" y="8196"/>
                        <a:pt x="4997" y="4997"/>
                      </a:cubicBezTo>
                      <a:cubicBezTo>
                        <a:pt x="8196" y="1797"/>
                        <a:pt x="12535" y="0"/>
                        <a:pt x="17059" y="0"/>
                      </a:cubicBezTo>
                      <a:close/>
                    </a:path>
                  </a:pathLst>
                </a:custGeom>
                <a:solidFill>
                  <a:schemeClr val="accent5">
                    <a:lumMod val="40000"/>
                    <a:lumOff val="60000"/>
                  </a:schemeClr>
                </a:solidFill>
              </p:spPr>
              <p:txBody>
                <a:bodyPr/>
                <a:lstStyle/>
                <a:p>
                  <a:endParaRPr lang="es-ES_tradnl" sz="1000">
                    <a:latin typeface="Calibri" panose="020F0502020204030204" pitchFamily="34" charset="0"/>
                    <a:cs typeface="Calibri" panose="020F0502020204030204" pitchFamily="34" charset="0"/>
                  </a:endParaRPr>
                </a:p>
              </p:txBody>
            </p:sp>
            <p:sp>
              <p:nvSpPr>
                <p:cNvPr id="204" name="TextBox 32">
                  <a:extLst>
                    <a:ext uri="{FF2B5EF4-FFF2-40B4-BE49-F238E27FC236}">
                      <a16:creationId xmlns:a16="http://schemas.microsoft.com/office/drawing/2014/main" id="{C37C715D-45F8-F448-14AD-E0A9F2E11902}"/>
                    </a:ext>
                  </a:extLst>
                </p:cNvPr>
                <p:cNvSpPr txBox="1"/>
                <p:nvPr/>
              </p:nvSpPr>
              <p:spPr>
                <a:xfrm>
                  <a:off x="0" y="-38100"/>
                  <a:ext cx="515244" cy="7221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sp>
          <p:nvSpPr>
            <p:cNvPr id="200" name="TextBox 78">
              <a:extLst>
                <a:ext uri="{FF2B5EF4-FFF2-40B4-BE49-F238E27FC236}">
                  <a16:creationId xmlns:a16="http://schemas.microsoft.com/office/drawing/2014/main" id="{875708AC-DA22-6F14-6DEC-87A962715396}"/>
                </a:ext>
              </a:extLst>
            </p:cNvPr>
            <p:cNvSpPr txBox="1"/>
            <p:nvPr/>
          </p:nvSpPr>
          <p:spPr>
            <a:xfrm>
              <a:off x="1504937" y="4530938"/>
              <a:ext cx="1993297" cy="290721"/>
            </a:xfrm>
            <a:prstGeom prst="rect">
              <a:avLst/>
            </a:prstGeom>
          </p:spPr>
          <p:txBody>
            <a:bodyPr wrap="square" lIns="0" tIns="0" rIns="0" bIns="0" rtlCol="0" anchor="ctr">
              <a:spAutoFit/>
            </a:bodyPr>
            <a:lstStyle/>
            <a:p>
              <a:pPr algn="ctr">
                <a:lnSpc>
                  <a:spcPts val="2560"/>
                </a:lnSpc>
              </a:pPr>
              <a:r>
                <a:rPr lang="en-US" sz="1200" b="1" dirty="0" err="1">
                  <a:solidFill>
                    <a:srgbClr val="1F3347"/>
                  </a:solidFill>
                  <a:latin typeface="Calibri" panose="020F0502020204030204" pitchFamily="34" charset="0"/>
                  <a:ea typeface="Arial Bold"/>
                  <a:cs typeface="Calibri" panose="020F0502020204030204" pitchFamily="34" charset="0"/>
                  <a:sym typeface="Arial Bold"/>
                </a:rPr>
                <a:t>Sensibilidad</a:t>
              </a:r>
              <a:r>
                <a:rPr lang="en-US" sz="1200" b="1" dirty="0">
                  <a:solidFill>
                    <a:srgbClr val="1F3347"/>
                  </a:solidFill>
                  <a:latin typeface="Calibri" panose="020F0502020204030204" pitchFamily="34" charset="0"/>
                  <a:ea typeface="Arial Bold"/>
                  <a:cs typeface="Calibri" panose="020F0502020204030204" pitchFamily="34" charset="0"/>
                  <a:sym typeface="Arial Bold"/>
                </a:rPr>
                <a:t>: -1.5%</a:t>
              </a:r>
            </a:p>
          </p:txBody>
        </p:sp>
      </p:grpSp>
      <p:grpSp>
        <p:nvGrpSpPr>
          <p:cNvPr id="207" name="Group 206">
            <a:extLst>
              <a:ext uri="{FF2B5EF4-FFF2-40B4-BE49-F238E27FC236}">
                <a16:creationId xmlns:a16="http://schemas.microsoft.com/office/drawing/2014/main" id="{0E3585FD-B0BD-B794-15C5-6B9754C3E4E6}"/>
              </a:ext>
            </a:extLst>
          </p:cNvPr>
          <p:cNvGrpSpPr/>
          <p:nvPr/>
        </p:nvGrpSpPr>
        <p:grpSpPr>
          <a:xfrm>
            <a:off x="966946" y="1590840"/>
            <a:ext cx="3357499" cy="1676638"/>
            <a:chOff x="4947976" y="3643837"/>
            <a:chExt cx="3357499" cy="1676638"/>
          </a:xfrm>
        </p:grpSpPr>
        <p:grpSp>
          <p:nvGrpSpPr>
            <p:cNvPr id="208" name="Group 207">
              <a:extLst>
                <a:ext uri="{FF2B5EF4-FFF2-40B4-BE49-F238E27FC236}">
                  <a16:creationId xmlns:a16="http://schemas.microsoft.com/office/drawing/2014/main" id="{BB4F2E09-3C84-0B4B-2883-7ED3231A40BD}"/>
                </a:ext>
              </a:extLst>
            </p:cNvPr>
            <p:cNvGrpSpPr/>
            <p:nvPr/>
          </p:nvGrpSpPr>
          <p:grpSpPr>
            <a:xfrm>
              <a:off x="4947976" y="3643837"/>
              <a:ext cx="3357499" cy="1676638"/>
              <a:chOff x="4620745" y="3880801"/>
              <a:chExt cx="3357499" cy="1676638"/>
            </a:xfrm>
          </p:grpSpPr>
          <p:grpSp>
            <p:nvGrpSpPr>
              <p:cNvPr id="210" name="Google Shape;80;g39760de4851_1_55">
                <a:extLst>
                  <a:ext uri="{FF2B5EF4-FFF2-40B4-BE49-F238E27FC236}">
                    <a16:creationId xmlns:a16="http://schemas.microsoft.com/office/drawing/2014/main" id="{41E1AC72-2071-8B14-8F63-B1E56874986E}"/>
                  </a:ext>
                </a:extLst>
              </p:cNvPr>
              <p:cNvGrpSpPr/>
              <p:nvPr/>
            </p:nvGrpSpPr>
            <p:grpSpPr>
              <a:xfrm>
                <a:off x="5041052" y="3920309"/>
                <a:ext cx="2612067" cy="1381760"/>
                <a:chOff x="247455" y="816623"/>
                <a:chExt cx="8388454" cy="4759668"/>
              </a:xfrm>
            </p:grpSpPr>
            <p:sp>
              <p:nvSpPr>
                <p:cNvPr id="215" name="Google Shape;81;g39760de4851_1_55">
                  <a:extLst>
                    <a:ext uri="{FF2B5EF4-FFF2-40B4-BE49-F238E27FC236}">
                      <a16:creationId xmlns:a16="http://schemas.microsoft.com/office/drawing/2014/main" id="{96AA1517-15B5-0DE9-6C43-B2509FFD5F55}"/>
                    </a:ext>
                  </a:extLst>
                </p:cNvPr>
                <p:cNvSpPr/>
                <p:nvPr/>
              </p:nvSpPr>
              <p:spPr>
                <a:xfrm>
                  <a:off x="5173277" y="816623"/>
                  <a:ext cx="470995" cy="417238"/>
                </a:xfrm>
                <a:prstGeom prst="flowChartConnector">
                  <a:avLst/>
                </a:prstGeom>
                <a:solidFill>
                  <a:srgbClr val="BFBFBF"/>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16" name="Google Shape;82;g39760de4851_1_55">
                  <a:extLst>
                    <a:ext uri="{FF2B5EF4-FFF2-40B4-BE49-F238E27FC236}">
                      <a16:creationId xmlns:a16="http://schemas.microsoft.com/office/drawing/2014/main" id="{AFF5AFB0-1D24-A5B7-1D4A-F5B0940E047A}"/>
                    </a:ext>
                  </a:extLst>
                </p:cNvPr>
                <p:cNvSpPr/>
                <p:nvPr/>
              </p:nvSpPr>
              <p:spPr>
                <a:xfrm>
                  <a:off x="6487375" y="2207321"/>
                  <a:ext cx="1916691" cy="1322549"/>
                </a:xfrm>
                <a:prstGeom prst="flowChartAlternateProcess">
                  <a:avLst/>
                </a:prstGeom>
                <a:solidFill>
                  <a:srgbClr val="7B7B7B"/>
                </a:solidFill>
                <a:ln>
                  <a:noFill/>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17" name="Google Shape;83;g39760de4851_1_55">
                  <a:extLst>
                    <a:ext uri="{FF2B5EF4-FFF2-40B4-BE49-F238E27FC236}">
                      <a16:creationId xmlns:a16="http://schemas.microsoft.com/office/drawing/2014/main" id="{65D68EFD-2F0C-3052-7AFC-F976A7DCF4CA}"/>
                    </a:ext>
                  </a:extLst>
                </p:cNvPr>
                <p:cNvSpPr/>
                <p:nvPr/>
              </p:nvSpPr>
              <p:spPr>
                <a:xfrm>
                  <a:off x="6444483" y="3753100"/>
                  <a:ext cx="1468755" cy="536288"/>
                </a:xfrm>
                <a:prstGeom prst="roundRect">
                  <a:avLst>
                    <a:gd name="adj" fmla="val 16667"/>
                  </a:avLst>
                </a:prstGeom>
                <a:solidFill>
                  <a:srgbClr val="217378">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18" name="Google Shape;84;g39760de4851_1_55">
                  <a:extLst>
                    <a:ext uri="{FF2B5EF4-FFF2-40B4-BE49-F238E27FC236}">
                      <a16:creationId xmlns:a16="http://schemas.microsoft.com/office/drawing/2014/main" id="{3CDCF0FB-58A8-F5ED-456B-00663169A6B1}"/>
                    </a:ext>
                  </a:extLst>
                </p:cNvPr>
                <p:cNvSpPr/>
                <p:nvPr/>
              </p:nvSpPr>
              <p:spPr>
                <a:xfrm>
                  <a:off x="500733" y="4986740"/>
                  <a:ext cx="1603400" cy="568050"/>
                </a:xfrm>
                <a:prstGeom prst="rect">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19" name="Google Shape;85;g39760de4851_1_55">
                  <a:extLst>
                    <a:ext uri="{FF2B5EF4-FFF2-40B4-BE49-F238E27FC236}">
                      <a16:creationId xmlns:a16="http://schemas.microsoft.com/office/drawing/2014/main" id="{475210D3-E269-DBAD-75D9-33B1C6F90476}"/>
                    </a:ext>
                  </a:extLst>
                </p:cNvPr>
                <p:cNvSpPr/>
                <p:nvPr/>
              </p:nvSpPr>
              <p:spPr>
                <a:xfrm>
                  <a:off x="1564684" y="1865567"/>
                  <a:ext cx="4777332" cy="3710724"/>
                </a:xfrm>
                <a:prstGeom prst="flowChartAlternateProcess">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0" name="Google Shape;86;g39760de4851_1_55">
                  <a:extLst>
                    <a:ext uri="{FF2B5EF4-FFF2-40B4-BE49-F238E27FC236}">
                      <a16:creationId xmlns:a16="http://schemas.microsoft.com/office/drawing/2014/main" id="{F1DAACA7-0EA9-2853-6BFD-FCFAA3763A16}"/>
                    </a:ext>
                  </a:extLst>
                </p:cNvPr>
                <p:cNvSpPr/>
                <p:nvPr/>
              </p:nvSpPr>
              <p:spPr>
                <a:xfrm rot="-9043956">
                  <a:off x="247455" y="3453645"/>
                  <a:ext cx="1000092" cy="572202"/>
                </a:xfrm>
                <a:prstGeom prst="diagStripe">
                  <a:avLst>
                    <a:gd name="adj" fmla="val 5000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1" name="Google Shape;87;g39760de4851_1_55">
                  <a:extLst>
                    <a:ext uri="{FF2B5EF4-FFF2-40B4-BE49-F238E27FC236}">
                      <a16:creationId xmlns:a16="http://schemas.microsoft.com/office/drawing/2014/main" id="{88314100-F758-F878-80B9-463C6FB5EA42}"/>
                    </a:ext>
                  </a:extLst>
                </p:cNvPr>
                <p:cNvSpPr/>
                <p:nvPr/>
              </p:nvSpPr>
              <p:spPr>
                <a:xfrm>
                  <a:off x="497840" y="3992818"/>
                  <a:ext cx="760065" cy="988092"/>
                </a:xfrm>
                <a:prstGeom prst="snip2SameRect">
                  <a:avLst>
                    <a:gd name="adj1" fmla="val 16667"/>
                    <a:gd name="adj2" fmla="val 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2" name="Google Shape;88;g39760de4851_1_55">
                  <a:extLst>
                    <a:ext uri="{FF2B5EF4-FFF2-40B4-BE49-F238E27FC236}">
                      <a16:creationId xmlns:a16="http://schemas.microsoft.com/office/drawing/2014/main" id="{B25C5C5D-C456-8991-B4EE-87FF29D8854A}"/>
                    </a:ext>
                  </a:extLst>
                </p:cNvPr>
                <p:cNvSpPr/>
                <p:nvPr/>
              </p:nvSpPr>
              <p:spPr>
                <a:xfrm>
                  <a:off x="6096001" y="3619447"/>
                  <a:ext cx="328590" cy="774450"/>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3" name="Google Shape;89;g39760de4851_1_55">
                  <a:extLst>
                    <a:ext uri="{FF2B5EF4-FFF2-40B4-BE49-F238E27FC236}">
                      <a16:creationId xmlns:a16="http://schemas.microsoft.com/office/drawing/2014/main" id="{2802BD9C-74D9-D899-AB61-023842F90891}"/>
                    </a:ext>
                  </a:extLst>
                </p:cNvPr>
                <p:cNvSpPr/>
                <p:nvPr/>
              </p:nvSpPr>
              <p:spPr>
                <a:xfrm>
                  <a:off x="1971040" y="1057362"/>
                  <a:ext cx="3487910" cy="816900"/>
                </a:xfrm>
                <a:prstGeom prst="flowChartTerminator">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4" name="Google Shape;90;g39760de4851_1_55">
                  <a:extLst>
                    <a:ext uri="{FF2B5EF4-FFF2-40B4-BE49-F238E27FC236}">
                      <a16:creationId xmlns:a16="http://schemas.microsoft.com/office/drawing/2014/main" id="{11A939E8-EF0B-E442-D3A6-760CA311CD55}"/>
                    </a:ext>
                  </a:extLst>
                </p:cNvPr>
                <p:cNvSpPr/>
                <p:nvPr/>
              </p:nvSpPr>
              <p:spPr>
                <a:xfrm>
                  <a:off x="6425043" y="3832091"/>
                  <a:ext cx="1607485" cy="536288"/>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5" name="Google Shape;91;g39760de4851_1_55">
                  <a:extLst>
                    <a:ext uri="{FF2B5EF4-FFF2-40B4-BE49-F238E27FC236}">
                      <a16:creationId xmlns:a16="http://schemas.microsoft.com/office/drawing/2014/main" id="{FA3DDCBA-DD8B-B8AF-4BC0-37A4AE8A7CB3}"/>
                    </a:ext>
                  </a:extLst>
                </p:cNvPr>
                <p:cNvSpPr/>
                <p:nvPr/>
              </p:nvSpPr>
              <p:spPr>
                <a:xfrm>
                  <a:off x="6424590" y="3842251"/>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6" name="Google Shape;92;g39760de4851_1_55">
                  <a:extLst>
                    <a:ext uri="{FF2B5EF4-FFF2-40B4-BE49-F238E27FC236}">
                      <a16:creationId xmlns:a16="http://schemas.microsoft.com/office/drawing/2014/main" id="{28E808CF-4BA3-4290-A29A-F6E524576AC6}"/>
                    </a:ext>
                  </a:extLst>
                </p:cNvPr>
                <p:cNvSpPr/>
                <p:nvPr/>
              </p:nvSpPr>
              <p:spPr>
                <a:xfrm>
                  <a:off x="7521856" y="3823916"/>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7" name="Google Shape;93;g39760de4851_1_55">
                  <a:extLst>
                    <a:ext uri="{FF2B5EF4-FFF2-40B4-BE49-F238E27FC236}">
                      <a16:creationId xmlns:a16="http://schemas.microsoft.com/office/drawing/2014/main" id="{01785CE9-6953-38C4-9D3D-DF7C6ED328FA}"/>
                    </a:ext>
                  </a:extLst>
                </p:cNvPr>
                <p:cNvSpPr/>
                <p:nvPr/>
              </p:nvSpPr>
              <p:spPr>
                <a:xfrm>
                  <a:off x="6928441" y="3937656"/>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28" name="Google Shape;94;g39760de4851_1_55">
                  <a:extLst>
                    <a:ext uri="{FF2B5EF4-FFF2-40B4-BE49-F238E27FC236}">
                      <a16:creationId xmlns:a16="http://schemas.microsoft.com/office/drawing/2014/main" id="{8608A4C4-1D73-F34D-CB8A-90E77D547B86}"/>
                    </a:ext>
                  </a:extLst>
                </p:cNvPr>
                <p:cNvSpPr/>
                <p:nvPr/>
              </p:nvSpPr>
              <p:spPr>
                <a:xfrm>
                  <a:off x="7219069" y="3951827"/>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cxnSp>
              <p:nvCxnSpPr>
                <p:cNvPr id="229" name="Google Shape;95;g39760de4851_1_55">
                  <a:extLst>
                    <a:ext uri="{FF2B5EF4-FFF2-40B4-BE49-F238E27FC236}">
                      <a16:creationId xmlns:a16="http://schemas.microsoft.com/office/drawing/2014/main" id="{CB5490D3-4DDF-8CAE-CD33-91F267231F83}"/>
                    </a:ext>
                  </a:extLst>
                </p:cNvPr>
                <p:cNvCxnSpPr/>
                <p:nvPr/>
              </p:nvCxnSpPr>
              <p:spPr>
                <a:xfrm>
                  <a:off x="2234261" y="3314997"/>
                  <a:ext cx="3249826" cy="25410"/>
                </a:xfrm>
                <a:prstGeom prst="straightConnector1">
                  <a:avLst/>
                </a:prstGeom>
                <a:noFill/>
                <a:ln w="9525" cap="flat" cmpd="sng">
                  <a:solidFill>
                    <a:srgbClr val="217378"/>
                  </a:solidFill>
                  <a:prstDash val="solid"/>
                  <a:round/>
                  <a:headEnd type="none" w="sm" len="sm"/>
                  <a:tailEnd type="triangle" w="med" len="med"/>
                </a:ln>
              </p:spPr>
            </p:cxnSp>
            <p:cxnSp>
              <p:nvCxnSpPr>
                <p:cNvPr id="230" name="Google Shape;96;g39760de4851_1_55">
                  <a:extLst>
                    <a:ext uri="{FF2B5EF4-FFF2-40B4-BE49-F238E27FC236}">
                      <a16:creationId xmlns:a16="http://schemas.microsoft.com/office/drawing/2014/main" id="{66F82E1D-2D52-1388-1F7D-C8C0DF7AF4E8}"/>
                    </a:ext>
                  </a:extLst>
                </p:cNvPr>
                <p:cNvCxnSpPr/>
                <p:nvPr/>
              </p:nvCxnSpPr>
              <p:spPr>
                <a:xfrm>
                  <a:off x="2255368" y="3725054"/>
                  <a:ext cx="2876550" cy="0"/>
                </a:xfrm>
                <a:prstGeom prst="straightConnector1">
                  <a:avLst/>
                </a:prstGeom>
                <a:noFill/>
                <a:ln w="9525" cap="flat" cmpd="sng">
                  <a:solidFill>
                    <a:srgbClr val="217378"/>
                  </a:solidFill>
                  <a:prstDash val="solid"/>
                  <a:round/>
                  <a:headEnd type="none" w="sm" len="sm"/>
                  <a:tailEnd type="none" w="sm" len="sm"/>
                </a:ln>
              </p:spPr>
            </p:cxnSp>
            <p:sp>
              <p:nvSpPr>
                <p:cNvPr id="231" name="Google Shape;97;g39760de4851_1_55">
                  <a:extLst>
                    <a:ext uri="{FF2B5EF4-FFF2-40B4-BE49-F238E27FC236}">
                      <a16:creationId xmlns:a16="http://schemas.microsoft.com/office/drawing/2014/main" id="{DF196F96-8370-52EF-32E0-153C7DDFA862}"/>
                    </a:ext>
                  </a:extLst>
                </p:cNvPr>
                <p:cNvSpPr/>
                <p:nvPr/>
              </p:nvSpPr>
              <p:spPr>
                <a:xfrm>
                  <a:off x="2286000" y="2186764"/>
                  <a:ext cx="223796" cy="111608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2" name="Google Shape;98;g39760de4851_1_55">
                  <a:extLst>
                    <a:ext uri="{FF2B5EF4-FFF2-40B4-BE49-F238E27FC236}">
                      <a16:creationId xmlns:a16="http://schemas.microsoft.com/office/drawing/2014/main" id="{2704F658-07D1-022E-4DF0-4F916EE495E3}"/>
                    </a:ext>
                  </a:extLst>
                </p:cNvPr>
                <p:cNvSpPr/>
                <p:nvPr/>
              </p:nvSpPr>
              <p:spPr>
                <a:xfrm>
                  <a:off x="2581275" y="2321724"/>
                  <a:ext cx="195221" cy="98112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3" name="Google Shape;99;g39760de4851_1_55">
                  <a:extLst>
                    <a:ext uri="{FF2B5EF4-FFF2-40B4-BE49-F238E27FC236}">
                      <a16:creationId xmlns:a16="http://schemas.microsoft.com/office/drawing/2014/main" id="{903FCE89-6627-74EB-0ED9-F12071251130}"/>
                    </a:ext>
                  </a:extLst>
                </p:cNvPr>
                <p:cNvSpPr/>
                <p:nvPr/>
              </p:nvSpPr>
              <p:spPr>
                <a:xfrm>
                  <a:off x="2886075" y="2439418"/>
                  <a:ext cx="195221" cy="86343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4" name="Google Shape;100;g39760de4851_1_55">
                  <a:extLst>
                    <a:ext uri="{FF2B5EF4-FFF2-40B4-BE49-F238E27FC236}">
                      <a16:creationId xmlns:a16="http://schemas.microsoft.com/office/drawing/2014/main" id="{370F50B4-CA5F-705D-BD59-D6CCF4546967}"/>
                    </a:ext>
                  </a:extLst>
                </p:cNvPr>
                <p:cNvSpPr/>
                <p:nvPr/>
              </p:nvSpPr>
              <p:spPr>
                <a:xfrm>
                  <a:off x="3190875" y="2588426"/>
                  <a:ext cx="195221" cy="714423"/>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5" name="Google Shape;101;g39760de4851_1_55">
                  <a:extLst>
                    <a:ext uri="{FF2B5EF4-FFF2-40B4-BE49-F238E27FC236}">
                      <a16:creationId xmlns:a16="http://schemas.microsoft.com/office/drawing/2014/main" id="{57AC05B0-4C45-6A8D-8398-704439459EAC}"/>
                    </a:ext>
                  </a:extLst>
                </p:cNvPr>
                <p:cNvSpPr/>
                <p:nvPr/>
              </p:nvSpPr>
              <p:spPr>
                <a:xfrm>
                  <a:off x="3486150" y="2730083"/>
                  <a:ext cx="195221" cy="58229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6" name="Google Shape;102;g39760de4851_1_55">
                  <a:extLst>
                    <a:ext uri="{FF2B5EF4-FFF2-40B4-BE49-F238E27FC236}">
                      <a16:creationId xmlns:a16="http://schemas.microsoft.com/office/drawing/2014/main" id="{5ACD5930-BEA1-AAAC-7C0D-BEDD4357746A}"/>
                    </a:ext>
                  </a:extLst>
                </p:cNvPr>
                <p:cNvSpPr/>
                <p:nvPr/>
              </p:nvSpPr>
              <p:spPr>
                <a:xfrm>
                  <a:off x="3790950" y="2868597"/>
                  <a:ext cx="161597" cy="443777"/>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7" name="Google Shape;103;g39760de4851_1_55">
                  <a:extLst>
                    <a:ext uri="{FF2B5EF4-FFF2-40B4-BE49-F238E27FC236}">
                      <a16:creationId xmlns:a16="http://schemas.microsoft.com/office/drawing/2014/main" id="{93A730D9-3781-8716-F559-5CB36158CBD3}"/>
                    </a:ext>
                  </a:extLst>
                </p:cNvPr>
                <p:cNvSpPr/>
                <p:nvPr/>
              </p:nvSpPr>
              <p:spPr>
                <a:xfrm>
                  <a:off x="4124325" y="2988865"/>
                  <a:ext cx="159839" cy="323510"/>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8" name="Google Shape;104;g39760de4851_1_55">
                  <a:extLst>
                    <a:ext uri="{FF2B5EF4-FFF2-40B4-BE49-F238E27FC236}">
                      <a16:creationId xmlns:a16="http://schemas.microsoft.com/office/drawing/2014/main" id="{E75239E5-C9B1-27D3-85BA-B882DCDAA973}"/>
                    </a:ext>
                  </a:extLst>
                </p:cNvPr>
                <p:cNvSpPr/>
                <p:nvPr/>
              </p:nvSpPr>
              <p:spPr>
                <a:xfrm>
                  <a:off x="2295525" y="3729814"/>
                  <a:ext cx="223796" cy="111608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39" name="Google Shape;105;g39760de4851_1_55">
                  <a:extLst>
                    <a:ext uri="{FF2B5EF4-FFF2-40B4-BE49-F238E27FC236}">
                      <a16:creationId xmlns:a16="http://schemas.microsoft.com/office/drawing/2014/main" id="{DB1C2CB6-B6E7-1066-87EF-E394DD402543}"/>
                    </a:ext>
                  </a:extLst>
                </p:cNvPr>
                <p:cNvSpPr/>
                <p:nvPr/>
              </p:nvSpPr>
              <p:spPr>
                <a:xfrm>
                  <a:off x="2590800" y="3731424"/>
                  <a:ext cx="195221" cy="98112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0" name="Google Shape;106;g39760de4851_1_55">
                  <a:extLst>
                    <a:ext uri="{FF2B5EF4-FFF2-40B4-BE49-F238E27FC236}">
                      <a16:creationId xmlns:a16="http://schemas.microsoft.com/office/drawing/2014/main" id="{7727663F-61DE-4CA1-614D-EB5C08E1F213}"/>
                    </a:ext>
                  </a:extLst>
                </p:cNvPr>
                <p:cNvSpPr/>
                <p:nvPr/>
              </p:nvSpPr>
              <p:spPr>
                <a:xfrm>
                  <a:off x="2895600" y="3734818"/>
                  <a:ext cx="195221" cy="86343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1" name="Google Shape;107;g39760de4851_1_55">
                  <a:extLst>
                    <a:ext uri="{FF2B5EF4-FFF2-40B4-BE49-F238E27FC236}">
                      <a16:creationId xmlns:a16="http://schemas.microsoft.com/office/drawing/2014/main" id="{7A2E2DB2-C95E-B847-85F9-D44DF38588F5}"/>
                    </a:ext>
                  </a:extLst>
                </p:cNvPr>
                <p:cNvSpPr/>
                <p:nvPr/>
              </p:nvSpPr>
              <p:spPr>
                <a:xfrm>
                  <a:off x="3200400" y="3731426"/>
                  <a:ext cx="195221" cy="714423"/>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2" name="Google Shape;108;g39760de4851_1_55">
                  <a:extLst>
                    <a:ext uri="{FF2B5EF4-FFF2-40B4-BE49-F238E27FC236}">
                      <a16:creationId xmlns:a16="http://schemas.microsoft.com/office/drawing/2014/main" id="{AE38F3FC-5C6D-2823-8745-AEE6FB4CD331}"/>
                    </a:ext>
                  </a:extLst>
                </p:cNvPr>
                <p:cNvSpPr/>
                <p:nvPr/>
              </p:nvSpPr>
              <p:spPr>
                <a:xfrm>
                  <a:off x="3495675" y="3730208"/>
                  <a:ext cx="195221" cy="58229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3" name="Google Shape;109;g39760de4851_1_55">
                  <a:extLst>
                    <a:ext uri="{FF2B5EF4-FFF2-40B4-BE49-F238E27FC236}">
                      <a16:creationId xmlns:a16="http://schemas.microsoft.com/office/drawing/2014/main" id="{F89A201E-FB10-3F4A-B242-8C43067E5035}"/>
                    </a:ext>
                  </a:extLst>
                </p:cNvPr>
                <p:cNvSpPr/>
                <p:nvPr/>
              </p:nvSpPr>
              <p:spPr>
                <a:xfrm>
                  <a:off x="3800475" y="3735372"/>
                  <a:ext cx="161597" cy="443777"/>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4" name="Google Shape;110;g39760de4851_1_55">
                  <a:extLst>
                    <a:ext uri="{FF2B5EF4-FFF2-40B4-BE49-F238E27FC236}">
                      <a16:creationId xmlns:a16="http://schemas.microsoft.com/office/drawing/2014/main" id="{E26FDCF7-2891-FEA4-EBF9-2732F2477861}"/>
                    </a:ext>
                  </a:extLst>
                </p:cNvPr>
                <p:cNvSpPr/>
                <p:nvPr/>
              </p:nvSpPr>
              <p:spPr>
                <a:xfrm>
                  <a:off x="4133850" y="3731815"/>
                  <a:ext cx="159839" cy="323510"/>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5" name="Google Shape;111;g39760de4851_1_55">
                  <a:extLst>
                    <a:ext uri="{FF2B5EF4-FFF2-40B4-BE49-F238E27FC236}">
                      <a16:creationId xmlns:a16="http://schemas.microsoft.com/office/drawing/2014/main" id="{7FD0A4BF-0217-26D4-3D20-BDC768C4D2EA}"/>
                    </a:ext>
                  </a:extLst>
                </p:cNvPr>
                <p:cNvSpPr/>
                <p:nvPr/>
              </p:nvSpPr>
              <p:spPr>
                <a:xfrm>
                  <a:off x="5076408" y="1169053"/>
                  <a:ext cx="690149" cy="700096"/>
                </a:xfrm>
                <a:prstGeom prst="snip2SameRect">
                  <a:avLst>
                    <a:gd name="adj1" fmla="val 16667"/>
                    <a:gd name="adj2" fmla="val 0"/>
                  </a:avLst>
                </a:prstGeom>
                <a:solidFill>
                  <a:srgbClr val="005C2A"/>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pic>
              <p:nvPicPr>
                <p:cNvPr id="246" name="Google Shape;112;g39760de4851_1_55">
                  <a:extLst>
                    <a:ext uri="{FF2B5EF4-FFF2-40B4-BE49-F238E27FC236}">
                      <a16:creationId xmlns:a16="http://schemas.microsoft.com/office/drawing/2014/main" id="{2A0C9C48-59FE-5EEC-F1BA-9D30E231E614}"/>
                    </a:ext>
                  </a:extLst>
                </p:cNvPr>
                <p:cNvPicPr preferRelativeResize="0"/>
                <p:nvPr/>
              </p:nvPicPr>
              <p:blipFill rotWithShape="1">
                <a:blip r:embed="rId3">
                  <a:alphaModFix/>
                </a:blip>
                <a:srcRect/>
                <a:stretch/>
              </p:blipFill>
              <p:spPr>
                <a:xfrm>
                  <a:off x="5539080" y="2010359"/>
                  <a:ext cx="660717" cy="660718"/>
                </a:xfrm>
                <a:prstGeom prst="rect">
                  <a:avLst/>
                </a:prstGeom>
                <a:noFill/>
                <a:ln>
                  <a:noFill/>
                </a:ln>
              </p:spPr>
            </p:pic>
            <p:sp>
              <p:nvSpPr>
                <p:cNvPr id="247" name="Google Shape;113;g39760de4851_1_55">
                  <a:extLst>
                    <a:ext uri="{FF2B5EF4-FFF2-40B4-BE49-F238E27FC236}">
                      <a16:creationId xmlns:a16="http://schemas.microsoft.com/office/drawing/2014/main" id="{76C6C3F8-23BA-717D-6CE3-02F87BEEA72E}"/>
                    </a:ext>
                  </a:extLst>
                </p:cNvPr>
                <p:cNvSpPr/>
                <p:nvPr/>
              </p:nvSpPr>
              <p:spPr>
                <a:xfrm>
                  <a:off x="5074890" y="2603392"/>
                  <a:ext cx="1254882" cy="637095"/>
                </a:xfrm>
                <a:prstGeom prst="flowChartAlternateProcess">
                  <a:avLst/>
                </a:prstGeom>
                <a:solidFill>
                  <a:srgbClr val="85AEAD"/>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8" name="Google Shape;114;g39760de4851_1_55">
                  <a:extLst>
                    <a:ext uri="{FF2B5EF4-FFF2-40B4-BE49-F238E27FC236}">
                      <a16:creationId xmlns:a16="http://schemas.microsoft.com/office/drawing/2014/main" id="{BEC53C0C-0988-97A9-56F9-3B72644ED960}"/>
                    </a:ext>
                  </a:extLst>
                </p:cNvPr>
                <p:cNvSpPr/>
                <p:nvPr/>
              </p:nvSpPr>
              <p:spPr>
                <a:xfrm rot="-1573174">
                  <a:off x="4722195" y="3724733"/>
                  <a:ext cx="1145800" cy="417133"/>
                </a:xfrm>
                <a:prstGeom prst="curvedUpArrow">
                  <a:avLst>
                    <a:gd name="adj1" fmla="val 25000"/>
                    <a:gd name="adj2" fmla="val 50000"/>
                    <a:gd name="adj3" fmla="val 25000"/>
                  </a:avLst>
                </a:prstGeom>
                <a:solidFill>
                  <a:srgbClr val="85AEAD"/>
                </a:solidFill>
                <a:ln w="9525" cap="flat" cmpd="sng">
                  <a:solidFill>
                    <a:srgbClr val="17201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49" name="Google Shape;115;g39760de4851_1_55">
                  <a:extLst>
                    <a:ext uri="{FF2B5EF4-FFF2-40B4-BE49-F238E27FC236}">
                      <a16:creationId xmlns:a16="http://schemas.microsoft.com/office/drawing/2014/main" id="{D1D2FD8D-8F8C-2685-31D5-B7954E339812}"/>
                    </a:ext>
                  </a:extLst>
                </p:cNvPr>
                <p:cNvSpPr/>
                <p:nvPr/>
              </p:nvSpPr>
              <p:spPr>
                <a:xfrm rot="5400000">
                  <a:off x="5403442" y="1608910"/>
                  <a:ext cx="64592" cy="680614"/>
                </a:xfrm>
                <a:prstGeom prst="rightBrace">
                  <a:avLst>
                    <a:gd name="adj1" fmla="val 8333"/>
                    <a:gd name="adj2" fmla="val 50000"/>
                  </a:avLst>
                </a:prstGeom>
                <a:no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50" name="Google Shape;116;g39760de4851_1_55">
                  <a:extLst>
                    <a:ext uri="{FF2B5EF4-FFF2-40B4-BE49-F238E27FC236}">
                      <a16:creationId xmlns:a16="http://schemas.microsoft.com/office/drawing/2014/main" id="{A887BA93-E457-CDB6-57F5-8662E42D052F}"/>
                    </a:ext>
                  </a:extLst>
                </p:cNvPr>
                <p:cNvSpPr txBox="1"/>
                <p:nvPr/>
              </p:nvSpPr>
              <p:spPr>
                <a:xfrm>
                  <a:off x="6291769" y="2109545"/>
                  <a:ext cx="2344140" cy="1537016"/>
                </a:xfrm>
                <a:prstGeom prst="rect">
                  <a:avLst/>
                </a:prstGeom>
                <a:noFill/>
                <a:ln>
                  <a:noFill/>
                </a:ln>
              </p:spPr>
              <p:txBody>
                <a:bodyPr spcFirstLastPara="1" wrap="square" lIns="121900" tIns="60925" rIns="121900" bIns="609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700" b="1" dirty="0">
                      <a:solidFill>
                        <a:schemeClr val="lt1"/>
                      </a:solidFill>
                      <a:latin typeface="Calibri" panose="020F0502020204030204" pitchFamily="34" charset="0"/>
                      <a:ea typeface="Calibri" panose="020F0502020204030204" pitchFamily="34" charset="0"/>
                      <a:cs typeface="Calibri" panose="020F0502020204030204" pitchFamily="34" charset="0"/>
                    </a:rPr>
                    <a:t>Tasa </a:t>
                  </a:r>
                  <a:r>
                    <a:rPr lang="en-US" sz="700" b="1" dirty="0" err="1">
                      <a:solidFill>
                        <a:schemeClr val="lt1"/>
                      </a:solidFill>
                      <a:latin typeface="Calibri" panose="020F0502020204030204" pitchFamily="34" charset="0"/>
                      <a:ea typeface="Calibri" panose="020F0502020204030204" pitchFamily="34" charset="0"/>
                      <a:cs typeface="Calibri" panose="020F0502020204030204" pitchFamily="34" charset="0"/>
                    </a:rPr>
                    <a:t>Rentabilidad</a:t>
                  </a:r>
                  <a:r>
                    <a:rPr lang="en-US" sz="700" b="1" dirty="0">
                      <a:solidFill>
                        <a:schemeClr val="lt1"/>
                      </a:solidFill>
                      <a:latin typeface="Calibri" panose="020F0502020204030204" pitchFamily="34" charset="0"/>
                      <a:ea typeface="Calibri" panose="020F0502020204030204" pitchFamily="34" charset="0"/>
                      <a:cs typeface="Calibri" panose="020F0502020204030204" pitchFamily="34" charset="0"/>
                    </a:rPr>
                    <a:t> </a:t>
                  </a:r>
                  <a:r>
                    <a:rPr lang="en-US" sz="700" b="1" dirty="0" err="1">
                      <a:solidFill>
                        <a:schemeClr val="lt1"/>
                      </a:solidFill>
                      <a:latin typeface="Calibri" panose="020F0502020204030204" pitchFamily="34" charset="0"/>
                      <a:ea typeface="Calibri" panose="020F0502020204030204" pitchFamily="34" charset="0"/>
                      <a:cs typeface="Calibri" panose="020F0502020204030204" pitchFamily="34" charset="0"/>
                    </a:rPr>
                    <a:t>Objetivo</a:t>
                  </a:r>
                  <a:endParaRPr sz="18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211" name="Google Shape;117;g39760de4851_1_55">
                <a:extLst>
                  <a:ext uri="{FF2B5EF4-FFF2-40B4-BE49-F238E27FC236}">
                    <a16:creationId xmlns:a16="http://schemas.microsoft.com/office/drawing/2014/main" id="{83B8F124-904F-CC75-67FF-15943B68953A}"/>
                  </a:ext>
                </a:extLst>
              </p:cNvPr>
              <p:cNvSpPr/>
              <p:nvPr/>
            </p:nvSpPr>
            <p:spPr>
              <a:xfrm>
                <a:off x="4620745" y="4258483"/>
                <a:ext cx="745072" cy="378796"/>
              </a:xfrm>
              <a:prstGeom prst="rect">
                <a:avLst/>
              </a:prstGeom>
              <a:solidFill>
                <a:srgbClr val="E9F8F3">
                  <a:alpha val="50196"/>
                </a:srgbClr>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INPUT</a:t>
                </a:r>
                <a:endParaRPr sz="19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cxnSp>
            <p:nvCxnSpPr>
              <p:cNvPr id="212" name="Google Shape;119;g39760de4851_1_55">
                <a:extLst>
                  <a:ext uri="{FF2B5EF4-FFF2-40B4-BE49-F238E27FC236}">
                    <a16:creationId xmlns:a16="http://schemas.microsoft.com/office/drawing/2014/main" id="{AF6AB00F-F01F-8F4E-5910-D84F02E3A9BA}"/>
                  </a:ext>
                </a:extLst>
              </p:cNvPr>
              <p:cNvCxnSpPr>
                <a:stCxn id="245" idx="0"/>
              </p:cNvCxnSpPr>
              <p:nvPr/>
            </p:nvCxnSpPr>
            <p:spPr>
              <a:xfrm rot="10800000" flipH="1">
                <a:off x="6759635" y="4008642"/>
                <a:ext cx="329200" cy="115600"/>
              </a:xfrm>
              <a:prstGeom prst="bentConnector3">
                <a:avLst>
                  <a:gd name="adj1" fmla="val 50000"/>
                </a:avLst>
              </a:prstGeom>
              <a:noFill/>
              <a:ln w="9525" cap="flat" cmpd="sng">
                <a:solidFill>
                  <a:srgbClr val="354A49"/>
                </a:solidFill>
                <a:prstDash val="solid"/>
                <a:round/>
                <a:headEnd type="none" w="sm" len="sm"/>
                <a:tailEnd type="triangle" w="med" len="med"/>
              </a:ln>
            </p:spPr>
          </p:cxnSp>
          <p:sp>
            <p:nvSpPr>
              <p:cNvPr id="213" name="Google Shape;120;g39760de4851_1_55">
                <a:extLst>
                  <a:ext uri="{FF2B5EF4-FFF2-40B4-BE49-F238E27FC236}">
                    <a16:creationId xmlns:a16="http://schemas.microsoft.com/office/drawing/2014/main" id="{CF063E7C-4122-3D0E-8B75-CE8C443AEF3C}"/>
                  </a:ext>
                </a:extLst>
              </p:cNvPr>
              <p:cNvSpPr txBox="1"/>
              <p:nvPr/>
            </p:nvSpPr>
            <p:spPr>
              <a:xfrm>
                <a:off x="7027881" y="3880801"/>
                <a:ext cx="950363" cy="369332"/>
              </a:xfrm>
              <a:prstGeom prst="rect">
                <a:avLst/>
              </a:prstGeom>
              <a:noFill/>
              <a:ln>
                <a:noFill/>
              </a:ln>
            </p:spPr>
            <p:txBody>
              <a:bodyPr spcFirstLastPara="1" wrap="square" lIns="121900" tIns="60925" rIns="121900" bIns="609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RAROC</a:t>
                </a:r>
                <a:endParaRPr sz="19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800"/>
                  <a:buFont typeface="Arial"/>
                  <a:buNone/>
                </a:pPr>
                <a:r>
                  <a:rPr lang="en-US" sz="800" b="1" i="0"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Objetivo</a:t>
                </a:r>
                <a:endParaRPr sz="19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214" name="Google Shape;164;g39760de4851_1_55">
                <a:extLst>
                  <a:ext uri="{FF2B5EF4-FFF2-40B4-BE49-F238E27FC236}">
                    <a16:creationId xmlns:a16="http://schemas.microsoft.com/office/drawing/2014/main" id="{7120FB32-E1F4-699B-0194-A78698050D6A}"/>
                  </a:ext>
                </a:extLst>
              </p:cNvPr>
              <p:cNvSpPr txBox="1"/>
              <p:nvPr/>
            </p:nvSpPr>
            <p:spPr>
              <a:xfrm>
                <a:off x="5776215" y="5249733"/>
                <a:ext cx="1251665" cy="307706"/>
              </a:xfrm>
              <a:prstGeom prst="rect">
                <a:avLst/>
              </a:prstGeom>
              <a:noFill/>
              <a:ln>
                <a:noFill/>
              </a:ln>
            </p:spPr>
            <p:txBody>
              <a:bodyPr spcFirstLastPara="1" wrap="square" lIns="121900" tIns="60925" rIns="121900" bIns="609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PLV</a:t>
                </a:r>
                <a:endParaRPr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209" name="Google Shape;163;g39760de4851_1_55">
              <a:extLst>
                <a:ext uri="{FF2B5EF4-FFF2-40B4-BE49-F238E27FC236}">
                  <a16:creationId xmlns:a16="http://schemas.microsoft.com/office/drawing/2014/main" id="{DBD7AF94-BF95-F3E0-50DF-16A1C81817E0}"/>
                </a:ext>
              </a:extLst>
            </p:cNvPr>
            <p:cNvSpPr/>
            <p:nvPr/>
          </p:nvSpPr>
          <p:spPr>
            <a:xfrm>
              <a:off x="5481891" y="4644295"/>
              <a:ext cx="185441" cy="232859"/>
            </a:xfrm>
            <a:prstGeom prst="downArrow">
              <a:avLst>
                <a:gd name="adj1" fmla="val 50000"/>
                <a:gd name="adj2" fmla="val 50000"/>
              </a:avLst>
            </a:prstGeom>
            <a:solidFill>
              <a:srgbClr val="7B7B7B"/>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Calibri" panose="020F0502020204030204" pitchFamily="34" charset="0"/>
                <a:ea typeface="Calibri" panose="020F0502020204030204" pitchFamily="34" charset="0"/>
                <a:cs typeface="Calibri" panose="020F0502020204030204" pitchFamily="34" charset="0"/>
                <a:sym typeface="Arial"/>
              </a:endParaRPr>
            </a:p>
          </p:txBody>
        </p:sp>
      </p:grpSp>
      <p:cxnSp>
        <p:nvCxnSpPr>
          <p:cNvPr id="252" name="Elbow Connector 251">
            <a:extLst>
              <a:ext uri="{FF2B5EF4-FFF2-40B4-BE49-F238E27FC236}">
                <a16:creationId xmlns:a16="http://schemas.microsoft.com/office/drawing/2014/main" id="{A0DC0FCF-E079-0FE0-E897-0E35E509024A}"/>
              </a:ext>
            </a:extLst>
          </p:cNvPr>
          <p:cNvCxnSpPr>
            <a:cxnSpLocks/>
            <a:stCxn id="250" idx="3"/>
            <a:endCxn id="170" idx="1"/>
          </p:cNvCxnSpPr>
          <p:nvPr/>
        </p:nvCxnSpPr>
        <p:spPr>
          <a:xfrm>
            <a:off x="3999320" y="2228794"/>
            <a:ext cx="1131000" cy="887602"/>
          </a:xfrm>
          <a:prstGeom prst="bentConnector2">
            <a:avLst/>
          </a:prstGeom>
          <a:ln>
            <a:prstDash val="sysDash"/>
            <a:tailEnd type="triangle"/>
          </a:ln>
        </p:spPr>
        <p:style>
          <a:lnRef idx="1">
            <a:schemeClr val="dk1"/>
          </a:lnRef>
          <a:fillRef idx="0">
            <a:schemeClr val="dk1"/>
          </a:fillRef>
          <a:effectRef idx="0">
            <a:schemeClr val="dk1"/>
          </a:effectRef>
          <a:fontRef idx="minor">
            <a:schemeClr val="tx1"/>
          </a:fontRef>
        </p:style>
      </p:cxnSp>
      <p:sp>
        <p:nvSpPr>
          <p:cNvPr id="254" name="Rounded Rectangle 253">
            <a:extLst>
              <a:ext uri="{FF2B5EF4-FFF2-40B4-BE49-F238E27FC236}">
                <a16:creationId xmlns:a16="http://schemas.microsoft.com/office/drawing/2014/main" id="{0F20DD5E-5612-E497-490F-A989D70F176F}"/>
              </a:ext>
            </a:extLst>
          </p:cNvPr>
          <p:cNvSpPr/>
          <p:nvPr/>
        </p:nvSpPr>
        <p:spPr>
          <a:xfrm>
            <a:off x="11336705" y="2878479"/>
            <a:ext cx="2082523" cy="3814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C"/>
          </a:p>
        </p:txBody>
      </p:sp>
      <p:grpSp>
        <p:nvGrpSpPr>
          <p:cNvPr id="255" name="Group 254">
            <a:extLst>
              <a:ext uri="{FF2B5EF4-FFF2-40B4-BE49-F238E27FC236}">
                <a16:creationId xmlns:a16="http://schemas.microsoft.com/office/drawing/2014/main" id="{605400A8-CD2B-F93F-2FF3-3411BC717C3B}"/>
              </a:ext>
            </a:extLst>
          </p:cNvPr>
          <p:cNvGrpSpPr/>
          <p:nvPr/>
        </p:nvGrpSpPr>
        <p:grpSpPr>
          <a:xfrm>
            <a:off x="11596346" y="2767606"/>
            <a:ext cx="1604132" cy="665630"/>
            <a:chOff x="1462536" y="4509206"/>
            <a:chExt cx="2182157" cy="665630"/>
          </a:xfrm>
        </p:grpSpPr>
        <p:grpSp>
          <p:nvGrpSpPr>
            <p:cNvPr id="256" name="Group 26">
              <a:extLst>
                <a:ext uri="{FF2B5EF4-FFF2-40B4-BE49-F238E27FC236}">
                  <a16:creationId xmlns:a16="http://schemas.microsoft.com/office/drawing/2014/main" id="{91B26933-DE6B-D13E-1C5C-1F8668B2B2D8}"/>
                </a:ext>
              </a:extLst>
            </p:cNvPr>
            <p:cNvGrpSpPr/>
            <p:nvPr/>
          </p:nvGrpSpPr>
          <p:grpSpPr>
            <a:xfrm>
              <a:off x="1462536" y="4509206"/>
              <a:ext cx="2182157" cy="665630"/>
              <a:chOff x="0" y="0"/>
              <a:chExt cx="4224397" cy="2608424"/>
            </a:xfrm>
          </p:grpSpPr>
          <p:grpSp>
            <p:nvGrpSpPr>
              <p:cNvPr id="258" name="Group 27">
                <a:extLst>
                  <a:ext uri="{FF2B5EF4-FFF2-40B4-BE49-F238E27FC236}">
                    <a16:creationId xmlns:a16="http://schemas.microsoft.com/office/drawing/2014/main" id="{C9232D8D-E52D-C8FA-FD86-7D93E2ECE468}"/>
                  </a:ext>
                </a:extLst>
              </p:cNvPr>
              <p:cNvGrpSpPr/>
              <p:nvPr/>
            </p:nvGrpSpPr>
            <p:grpSpPr>
              <a:xfrm rot="5400000">
                <a:off x="807987" y="-807987"/>
                <a:ext cx="2608424" cy="4224397"/>
                <a:chOff x="0" y="-38100"/>
                <a:chExt cx="515244" cy="834449"/>
              </a:xfrm>
            </p:grpSpPr>
            <p:sp>
              <p:nvSpPr>
                <p:cNvPr id="262" name="Freeform 28">
                  <a:extLst>
                    <a:ext uri="{FF2B5EF4-FFF2-40B4-BE49-F238E27FC236}">
                      <a16:creationId xmlns:a16="http://schemas.microsoft.com/office/drawing/2014/main" id="{4DDCB2D4-88B3-4AB5-733C-532CFA203B91}"/>
                    </a:ext>
                  </a:extLst>
                </p:cNvPr>
                <p:cNvSpPr/>
                <p:nvPr/>
              </p:nvSpPr>
              <p:spPr>
                <a:xfrm>
                  <a:off x="104457" y="0"/>
                  <a:ext cx="140636" cy="796349"/>
                </a:xfrm>
                <a:custGeom>
                  <a:avLst/>
                  <a:gdLst/>
                  <a:ahLst/>
                  <a:cxnLst/>
                  <a:rect l="l" t="t" r="r" b="b"/>
                  <a:pathLst>
                    <a:path w="515244" h="796349">
                      <a:moveTo>
                        <a:pt x="19787" y="0"/>
                      </a:moveTo>
                      <a:lnTo>
                        <a:pt x="495457" y="0"/>
                      </a:lnTo>
                      <a:cubicBezTo>
                        <a:pt x="500705" y="0"/>
                        <a:pt x="505738" y="2085"/>
                        <a:pt x="509449" y="5795"/>
                      </a:cubicBezTo>
                      <a:cubicBezTo>
                        <a:pt x="513160" y="9506"/>
                        <a:pt x="515244" y="14539"/>
                        <a:pt x="515244" y="19787"/>
                      </a:cubicBezTo>
                      <a:lnTo>
                        <a:pt x="515244" y="776562"/>
                      </a:lnTo>
                      <a:cubicBezTo>
                        <a:pt x="515244" y="787490"/>
                        <a:pt x="506385" y="796349"/>
                        <a:pt x="495457" y="796349"/>
                      </a:cubicBezTo>
                      <a:lnTo>
                        <a:pt x="19787" y="796349"/>
                      </a:lnTo>
                      <a:cubicBezTo>
                        <a:pt x="14539" y="796349"/>
                        <a:pt x="9506" y="794264"/>
                        <a:pt x="5795" y="790553"/>
                      </a:cubicBezTo>
                      <a:cubicBezTo>
                        <a:pt x="2085" y="786843"/>
                        <a:pt x="0" y="781810"/>
                        <a:pt x="0" y="776562"/>
                      </a:cubicBezTo>
                      <a:lnTo>
                        <a:pt x="0" y="19787"/>
                      </a:lnTo>
                      <a:cubicBezTo>
                        <a:pt x="0" y="14539"/>
                        <a:pt x="2085" y="9506"/>
                        <a:pt x="5795" y="5795"/>
                      </a:cubicBezTo>
                      <a:cubicBezTo>
                        <a:pt x="9506" y="2085"/>
                        <a:pt x="14539" y="0"/>
                        <a:pt x="19787" y="0"/>
                      </a:cubicBezTo>
                      <a:close/>
                    </a:path>
                  </a:pathLst>
                </a:custGeom>
                <a:solidFill>
                  <a:srgbClr val="F4F1F1"/>
                </a:solidFill>
              </p:spPr>
              <p:txBody>
                <a:bodyPr/>
                <a:lstStyle/>
                <a:p>
                  <a:endParaRPr lang="es-ES_tradnl" sz="1000">
                    <a:latin typeface="Calibri" panose="020F0502020204030204" pitchFamily="34" charset="0"/>
                    <a:cs typeface="Calibri" panose="020F0502020204030204" pitchFamily="34" charset="0"/>
                  </a:endParaRPr>
                </a:p>
              </p:txBody>
            </p:sp>
            <p:sp>
              <p:nvSpPr>
                <p:cNvPr id="263" name="TextBox 29">
                  <a:extLst>
                    <a:ext uri="{FF2B5EF4-FFF2-40B4-BE49-F238E27FC236}">
                      <a16:creationId xmlns:a16="http://schemas.microsoft.com/office/drawing/2014/main" id="{3869BABF-D64B-B08D-FB4D-671C571EC95D}"/>
                    </a:ext>
                  </a:extLst>
                </p:cNvPr>
                <p:cNvSpPr txBox="1"/>
                <p:nvPr/>
              </p:nvSpPr>
              <p:spPr>
                <a:xfrm>
                  <a:off x="0" y="-38100"/>
                  <a:ext cx="515244" cy="83444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nvGrpSpPr>
              <p:cNvPr id="259" name="Group 30">
                <a:extLst>
                  <a:ext uri="{FF2B5EF4-FFF2-40B4-BE49-F238E27FC236}">
                    <a16:creationId xmlns:a16="http://schemas.microsoft.com/office/drawing/2014/main" id="{ADEA6835-4D28-BC1D-6773-F247501C36C3}"/>
                  </a:ext>
                </a:extLst>
              </p:cNvPr>
              <p:cNvGrpSpPr/>
              <p:nvPr/>
            </p:nvGrpSpPr>
            <p:grpSpPr>
              <a:xfrm rot="5400000">
                <a:off x="-1121409" y="1121409"/>
                <a:ext cx="2608424" cy="365606"/>
                <a:chOff x="0" y="-38100"/>
                <a:chExt cx="515244" cy="72219"/>
              </a:xfrm>
            </p:grpSpPr>
            <p:sp>
              <p:nvSpPr>
                <p:cNvPr id="260" name="Freeform 31">
                  <a:extLst>
                    <a:ext uri="{FF2B5EF4-FFF2-40B4-BE49-F238E27FC236}">
                      <a16:creationId xmlns:a16="http://schemas.microsoft.com/office/drawing/2014/main" id="{CB9993F9-6A86-4C8D-A5DF-DB786C1D6430}"/>
                    </a:ext>
                  </a:extLst>
                </p:cNvPr>
                <p:cNvSpPr/>
                <p:nvPr/>
              </p:nvSpPr>
              <p:spPr>
                <a:xfrm>
                  <a:off x="104458" y="0"/>
                  <a:ext cx="140635" cy="34119"/>
                </a:xfrm>
                <a:custGeom>
                  <a:avLst/>
                  <a:gdLst/>
                  <a:ahLst/>
                  <a:cxnLst/>
                  <a:rect l="l" t="t" r="r" b="b"/>
                  <a:pathLst>
                    <a:path w="515244" h="34119">
                      <a:moveTo>
                        <a:pt x="17059" y="0"/>
                      </a:moveTo>
                      <a:lnTo>
                        <a:pt x="498185" y="0"/>
                      </a:lnTo>
                      <a:cubicBezTo>
                        <a:pt x="502709" y="0"/>
                        <a:pt x="507048" y="1797"/>
                        <a:pt x="510248" y="4997"/>
                      </a:cubicBezTo>
                      <a:cubicBezTo>
                        <a:pt x="513447" y="8196"/>
                        <a:pt x="515244" y="12535"/>
                        <a:pt x="515244" y="17059"/>
                      </a:cubicBezTo>
                      <a:lnTo>
                        <a:pt x="515244" y="17059"/>
                      </a:lnTo>
                      <a:cubicBezTo>
                        <a:pt x="515244" y="21584"/>
                        <a:pt x="513447" y="25923"/>
                        <a:pt x="510248" y="29122"/>
                      </a:cubicBezTo>
                      <a:cubicBezTo>
                        <a:pt x="507048" y="32321"/>
                        <a:pt x="502709" y="34119"/>
                        <a:pt x="498185" y="34119"/>
                      </a:cubicBezTo>
                      <a:lnTo>
                        <a:pt x="17059" y="34119"/>
                      </a:lnTo>
                      <a:cubicBezTo>
                        <a:pt x="12535" y="34119"/>
                        <a:pt x="8196" y="32321"/>
                        <a:pt x="4997" y="29122"/>
                      </a:cubicBezTo>
                      <a:cubicBezTo>
                        <a:pt x="1797" y="25923"/>
                        <a:pt x="0" y="21584"/>
                        <a:pt x="0" y="17059"/>
                      </a:cubicBezTo>
                      <a:lnTo>
                        <a:pt x="0" y="17059"/>
                      </a:lnTo>
                      <a:cubicBezTo>
                        <a:pt x="0" y="12535"/>
                        <a:pt x="1797" y="8196"/>
                        <a:pt x="4997" y="4997"/>
                      </a:cubicBezTo>
                      <a:cubicBezTo>
                        <a:pt x="8196" y="1797"/>
                        <a:pt x="12535" y="0"/>
                        <a:pt x="17059" y="0"/>
                      </a:cubicBezTo>
                      <a:close/>
                    </a:path>
                  </a:pathLst>
                </a:custGeom>
                <a:solidFill>
                  <a:schemeClr val="accent5">
                    <a:lumMod val="40000"/>
                    <a:lumOff val="60000"/>
                  </a:schemeClr>
                </a:solidFill>
              </p:spPr>
              <p:txBody>
                <a:bodyPr/>
                <a:lstStyle/>
                <a:p>
                  <a:endParaRPr lang="es-ES_tradnl" sz="1000">
                    <a:latin typeface="Calibri" panose="020F0502020204030204" pitchFamily="34" charset="0"/>
                    <a:cs typeface="Calibri" panose="020F0502020204030204" pitchFamily="34" charset="0"/>
                  </a:endParaRPr>
                </a:p>
              </p:txBody>
            </p:sp>
            <p:sp>
              <p:nvSpPr>
                <p:cNvPr id="261" name="TextBox 32">
                  <a:extLst>
                    <a:ext uri="{FF2B5EF4-FFF2-40B4-BE49-F238E27FC236}">
                      <a16:creationId xmlns:a16="http://schemas.microsoft.com/office/drawing/2014/main" id="{2478C63A-0CA6-4CE7-023D-085B54D50192}"/>
                    </a:ext>
                  </a:extLst>
                </p:cNvPr>
                <p:cNvSpPr txBox="1"/>
                <p:nvPr/>
              </p:nvSpPr>
              <p:spPr>
                <a:xfrm>
                  <a:off x="0" y="-38100"/>
                  <a:ext cx="515244" cy="7221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sp>
          <p:nvSpPr>
            <p:cNvPr id="257" name="TextBox 78">
              <a:extLst>
                <a:ext uri="{FF2B5EF4-FFF2-40B4-BE49-F238E27FC236}">
                  <a16:creationId xmlns:a16="http://schemas.microsoft.com/office/drawing/2014/main" id="{9D6B6FBC-1DCB-9C37-6B11-9352254E4221}"/>
                </a:ext>
              </a:extLst>
            </p:cNvPr>
            <p:cNvSpPr txBox="1"/>
            <p:nvPr/>
          </p:nvSpPr>
          <p:spPr>
            <a:xfrm>
              <a:off x="1504937" y="4530938"/>
              <a:ext cx="1993297" cy="290721"/>
            </a:xfrm>
            <a:prstGeom prst="rect">
              <a:avLst/>
            </a:prstGeom>
          </p:spPr>
          <p:txBody>
            <a:bodyPr wrap="square" lIns="0" tIns="0" rIns="0" bIns="0" rtlCol="0" anchor="ctr">
              <a:spAutoFit/>
            </a:bodyPr>
            <a:lstStyle/>
            <a:p>
              <a:pPr algn="ctr">
                <a:lnSpc>
                  <a:spcPts val="2560"/>
                </a:lnSpc>
              </a:pPr>
              <a:r>
                <a:rPr lang="en-US" sz="1200" b="1" dirty="0" err="1">
                  <a:solidFill>
                    <a:srgbClr val="1F3347"/>
                  </a:solidFill>
                  <a:latin typeface="Calibri" panose="020F0502020204030204" pitchFamily="34" charset="0"/>
                  <a:ea typeface="Arial Bold"/>
                  <a:cs typeface="Calibri" panose="020F0502020204030204" pitchFamily="34" charset="0"/>
                  <a:sym typeface="Arial Bold"/>
                </a:rPr>
                <a:t>Excepción</a:t>
              </a:r>
              <a:r>
                <a:rPr lang="en-US" sz="1200" b="1" dirty="0">
                  <a:solidFill>
                    <a:srgbClr val="1F3347"/>
                  </a:solidFill>
                  <a:latin typeface="Calibri" panose="020F0502020204030204" pitchFamily="34" charset="0"/>
                  <a:ea typeface="Arial Bold"/>
                  <a:cs typeface="Calibri" panose="020F0502020204030204" pitchFamily="34" charset="0"/>
                  <a:sym typeface="Arial Bold"/>
                </a:rPr>
                <a:t>: -0.5%</a:t>
              </a:r>
            </a:p>
          </p:txBody>
        </p:sp>
      </p:grpSp>
      <p:cxnSp>
        <p:nvCxnSpPr>
          <p:cNvPr id="264" name="Straight Arrow Connector 263">
            <a:extLst>
              <a:ext uri="{FF2B5EF4-FFF2-40B4-BE49-F238E27FC236}">
                <a16:creationId xmlns:a16="http://schemas.microsoft.com/office/drawing/2014/main" id="{FFC4866F-5E72-5950-E970-64492B763B14}"/>
              </a:ext>
            </a:extLst>
          </p:cNvPr>
          <p:cNvCxnSpPr>
            <a:cxnSpLocks/>
          </p:cNvCxnSpPr>
          <p:nvPr/>
        </p:nvCxnSpPr>
        <p:spPr>
          <a:xfrm>
            <a:off x="6082574" y="3242459"/>
            <a:ext cx="7725280" cy="0"/>
          </a:xfrm>
          <a:prstGeom prst="straightConnector1">
            <a:avLst/>
          </a:prstGeom>
          <a:ln>
            <a:solidFill>
              <a:schemeClr val="accent3">
                <a:lumMod val="60000"/>
                <a:lumOff val="40000"/>
              </a:schemeClr>
            </a:solidFill>
            <a:prstDash val="sysDash"/>
            <a:tailEnd type="triangle"/>
          </a:ln>
        </p:spPr>
        <p:style>
          <a:lnRef idx="1">
            <a:schemeClr val="accent3"/>
          </a:lnRef>
          <a:fillRef idx="0">
            <a:schemeClr val="accent3"/>
          </a:fillRef>
          <a:effectRef idx="0">
            <a:schemeClr val="accent3"/>
          </a:effectRef>
          <a:fontRef idx="minor">
            <a:schemeClr val="tx1"/>
          </a:fontRef>
        </p:style>
      </p:cxnSp>
      <p:sp>
        <p:nvSpPr>
          <p:cNvPr id="270" name="Right Brace 269">
            <a:extLst>
              <a:ext uri="{FF2B5EF4-FFF2-40B4-BE49-F238E27FC236}">
                <a16:creationId xmlns:a16="http://schemas.microsoft.com/office/drawing/2014/main" id="{CA6081CE-9B64-941B-AF02-E4B109BB3926}"/>
              </a:ext>
            </a:extLst>
          </p:cNvPr>
          <p:cNvSpPr/>
          <p:nvPr/>
        </p:nvSpPr>
        <p:spPr>
          <a:xfrm rot="5400000">
            <a:off x="12246410" y="5903686"/>
            <a:ext cx="239152" cy="2082523"/>
          </a:xfrm>
          <a:prstGeom prst="rightBrace">
            <a:avLst/>
          </a:prstGeom>
          <a:ln w="12700">
            <a:solidFill>
              <a:srgbClr val="1F7176"/>
            </a:solidFill>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en-EC"/>
          </a:p>
        </p:txBody>
      </p:sp>
      <p:sp>
        <p:nvSpPr>
          <p:cNvPr id="271" name="TextBox 270">
            <a:extLst>
              <a:ext uri="{FF2B5EF4-FFF2-40B4-BE49-F238E27FC236}">
                <a16:creationId xmlns:a16="http://schemas.microsoft.com/office/drawing/2014/main" id="{63045E94-A040-3CC7-0849-D90FF84839AA}"/>
              </a:ext>
            </a:extLst>
          </p:cNvPr>
          <p:cNvSpPr txBox="1"/>
          <p:nvPr/>
        </p:nvSpPr>
        <p:spPr>
          <a:xfrm>
            <a:off x="11682419" y="7091701"/>
            <a:ext cx="1380507" cy="646331"/>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Desembolso (Final)</a:t>
            </a:r>
          </a:p>
          <a:p>
            <a:pPr algn="ctr"/>
            <a:r>
              <a:rPr lang="en-EC" sz="1200" dirty="0">
                <a:latin typeface="Calibri" panose="020F0502020204030204" pitchFamily="34" charset="0"/>
                <a:cs typeface="Calibri" panose="020F0502020204030204" pitchFamily="34" charset="0"/>
              </a:rPr>
              <a:t>21.0%</a:t>
            </a:r>
          </a:p>
        </p:txBody>
      </p:sp>
      <p:sp>
        <p:nvSpPr>
          <p:cNvPr id="275" name="TextBox 274">
            <a:extLst>
              <a:ext uri="{FF2B5EF4-FFF2-40B4-BE49-F238E27FC236}">
                <a16:creationId xmlns:a16="http://schemas.microsoft.com/office/drawing/2014/main" id="{657BA4F5-0EC9-69CC-01FE-9A2E3A968B81}"/>
              </a:ext>
            </a:extLst>
          </p:cNvPr>
          <p:cNvSpPr txBox="1"/>
          <p:nvPr/>
        </p:nvSpPr>
        <p:spPr>
          <a:xfrm>
            <a:off x="8941252" y="4851716"/>
            <a:ext cx="2084413" cy="646331"/>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Oferta</a:t>
            </a:r>
          </a:p>
          <a:p>
            <a:pPr algn="ctr"/>
            <a:r>
              <a:rPr lang="en-EC" sz="1200" dirty="0">
                <a:latin typeface="Calibri" panose="020F0502020204030204" pitchFamily="34" charset="0"/>
                <a:cs typeface="Calibri" panose="020F0502020204030204" pitchFamily="34" charset="0"/>
              </a:rPr>
              <a:t>23.0%</a:t>
            </a:r>
          </a:p>
        </p:txBody>
      </p:sp>
      <p:sp>
        <p:nvSpPr>
          <p:cNvPr id="276" name="TextBox 275">
            <a:extLst>
              <a:ext uri="{FF2B5EF4-FFF2-40B4-BE49-F238E27FC236}">
                <a16:creationId xmlns:a16="http://schemas.microsoft.com/office/drawing/2014/main" id="{DCE5EE29-8D4F-E72F-1AD2-0A798B4D3479}"/>
              </a:ext>
            </a:extLst>
          </p:cNvPr>
          <p:cNvSpPr txBox="1"/>
          <p:nvPr/>
        </p:nvSpPr>
        <p:spPr>
          <a:xfrm>
            <a:off x="11342694" y="4851716"/>
            <a:ext cx="2070544" cy="646331"/>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Tasa </a:t>
            </a:r>
          </a:p>
          <a:p>
            <a:pPr algn="ctr"/>
            <a:r>
              <a:rPr lang="en-EC" sz="1200" dirty="0">
                <a:latin typeface="Calibri" panose="020F0502020204030204" pitchFamily="34" charset="0"/>
                <a:cs typeface="Calibri" panose="020F0502020204030204" pitchFamily="34" charset="0"/>
              </a:rPr>
              <a:t>Oferta Ajustada</a:t>
            </a:r>
          </a:p>
          <a:p>
            <a:pPr algn="ctr"/>
            <a:r>
              <a:rPr lang="en-EC" sz="1200" dirty="0">
                <a:latin typeface="Calibri" panose="020F0502020204030204" pitchFamily="34" charset="0"/>
                <a:cs typeface="Calibri" panose="020F0502020204030204" pitchFamily="34" charset="0"/>
              </a:rPr>
              <a:t>21.5%</a:t>
            </a:r>
          </a:p>
        </p:txBody>
      </p:sp>
      <p:sp>
        <p:nvSpPr>
          <p:cNvPr id="277" name="TextBox 276">
            <a:extLst>
              <a:ext uri="{FF2B5EF4-FFF2-40B4-BE49-F238E27FC236}">
                <a16:creationId xmlns:a16="http://schemas.microsoft.com/office/drawing/2014/main" id="{EF48E171-13E7-7052-BDA9-370B2DFC1DD1}"/>
              </a:ext>
            </a:extLst>
          </p:cNvPr>
          <p:cNvSpPr txBox="1"/>
          <p:nvPr/>
        </p:nvSpPr>
        <p:spPr>
          <a:xfrm>
            <a:off x="1647729" y="7840078"/>
            <a:ext cx="2082525" cy="830997"/>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Cubre el costo de fondeo, gastos operativos, pérdida esperada y tiene en cuenta el beneficio de capital</a:t>
            </a:r>
          </a:p>
        </p:txBody>
      </p:sp>
      <p:sp>
        <p:nvSpPr>
          <p:cNvPr id="278" name="TextBox 277">
            <a:extLst>
              <a:ext uri="{FF2B5EF4-FFF2-40B4-BE49-F238E27FC236}">
                <a16:creationId xmlns:a16="http://schemas.microsoft.com/office/drawing/2014/main" id="{B461BCB5-459A-0CCB-E6A2-123A5CF10EBB}"/>
              </a:ext>
            </a:extLst>
          </p:cNvPr>
          <p:cNvSpPr txBox="1"/>
          <p:nvPr/>
        </p:nvSpPr>
        <p:spPr>
          <a:xfrm>
            <a:off x="3754764" y="7840078"/>
            <a:ext cx="2367928" cy="461665"/>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Cubre la Tasa Piso y el RAROC Mínima (customisable: define IBK)</a:t>
            </a:r>
          </a:p>
        </p:txBody>
      </p:sp>
      <p:sp>
        <p:nvSpPr>
          <p:cNvPr id="279" name="TextBox 278">
            <a:extLst>
              <a:ext uri="{FF2B5EF4-FFF2-40B4-BE49-F238E27FC236}">
                <a16:creationId xmlns:a16="http://schemas.microsoft.com/office/drawing/2014/main" id="{373E84A6-63C1-4409-BE24-347B41D8BB2F}"/>
              </a:ext>
            </a:extLst>
          </p:cNvPr>
          <p:cNvSpPr txBox="1"/>
          <p:nvPr/>
        </p:nvSpPr>
        <p:spPr>
          <a:xfrm>
            <a:off x="6376891" y="7840078"/>
            <a:ext cx="2082525" cy="461665"/>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Cubre la Tasa Rentabilidad Objetivo</a:t>
            </a:r>
          </a:p>
        </p:txBody>
      </p:sp>
      <p:sp>
        <p:nvSpPr>
          <p:cNvPr id="280" name="TextBox 279">
            <a:extLst>
              <a:ext uri="{FF2B5EF4-FFF2-40B4-BE49-F238E27FC236}">
                <a16:creationId xmlns:a16="http://schemas.microsoft.com/office/drawing/2014/main" id="{45DA4465-08C7-EE32-3197-B6EF242EA789}"/>
              </a:ext>
            </a:extLst>
          </p:cNvPr>
          <p:cNvSpPr txBox="1"/>
          <p:nvPr/>
        </p:nvSpPr>
        <p:spPr>
          <a:xfrm>
            <a:off x="8942195" y="7840078"/>
            <a:ext cx="2082525" cy="830997"/>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Hace un ajuste (hacia arriba o abajo) a la rentabilidad comercial según la sensibilidad</a:t>
            </a:r>
          </a:p>
        </p:txBody>
      </p:sp>
      <p:sp>
        <p:nvSpPr>
          <p:cNvPr id="281" name="TextBox 280">
            <a:extLst>
              <a:ext uri="{FF2B5EF4-FFF2-40B4-BE49-F238E27FC236}">
                <a16:creationId xmlns:a16="http://schemas.microsoft.com/office/drawing/2014/main" id="{5E622F99-4061-5B9C-1F5F-374058CD0C4F}"/>
              </a:ext>
            </a:extLst>
          </p:cNvPr>
          <p:cNvSpPr txBox="1"/>
          <p:nvPr/>
        </p:nvSpPr>
        <p:spPr>
          <a:xfrm>
            <a:off x="11336703" y="7840078"/>
            <a:ext cx="2082525" cy="461665"/>
          </a:xfrm>
          <a:prstGeom prst="rect">
            <a:avLst/>
          </a:prstGeom>
          <a:noFill/>
        </p:spPr>
        <p:txBody>
          <a:bodyPr wrap="square" rtlCol="0">
            <a:spAutoFit/>
          </a:bodyPr>
          <a:lstStyle/>
          <a:p>
            <a:pPr algn="ctr"/>
            <a:r>
              <a:rPr lang="en-EC" sz="1200" dirty="0">
                <a:latin typeface="Calibri" panose="020F0502020204030204" pitchFamily="34" charset="0"/>
                <a:cs typeface="Calibri" panose="020F0502020204030204" pitchFamily="34" charset="0"/>
              </a:rPr>
              <a:t>Aplica la excepción de ser el caso</a:t>
            </a:r>
          </a:p>
        </p:txBody>
      </p:sp>
      <p:pic>
        <p:nvPicPr>
          <p:cNvPr id="2" name="Picture 6" descr="sensibilidad cultural ">
            <a:extLst>
              <a:ext uri="{FF2B5EF4-FFF2-40B4-BE49-F238E27FC236}">
                <a16:creationId xmlns:a16="http://schemas.microsoft.com/office/drawing/2014/main" id="{C9176F1F-F72B-34C0-5825-68FDEE7BF114}"/>
              </a:ext>
            </a:extLst>
          </p:cNvPr>
          <p:cNvPicPr>
            <a:picLocks noChangeAspect="1" noChangeArrowheads="1"/>
          </p:cNvPicPr>
          <p:nvPr/>
        </p:nvPicPr>
        <p:blipFill>
          <a:blip r:embed="rId4">
            <a:duotone>
              <a:prstClr val="black"/>
              <a:srgbClr val="F3EEE9">
                <a:tint val="45000"/>
                <a:satMod val="400000"/>
              </a:srgbClr>
            </a:duotone>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8431507" y="1431792"/>
            <a:ext cx="606016" cy="606016"/>
          </a:xfrm>
          <a:prstGeom prst="rect">
            <a:avLst/>
          </a:prstGeom>
          <a:noFill/>
          <a:extLst>
            <a:ext uri="{909E8E84-426E-40DD-AFC4-6F175D3DCCD1}">
              <a14:hiddenFill xmlns:a14="http://schemas.microsoft.com/office/drawing/2010/main">
                <a:solidFill>
                  <a:srgbClr val="FFFFFF"/>
                </a:solidFill>
              </a14:hiddenFill>
            </a:ext>
          </a:extLst>
        </p:spPr>
      </p:pic>
      <p:cxnSp>
        <p:nvCxnSpPr>
          <p:cNvPr id="4" name="Elbow Connector 3">
            <a:extLst>
              <a:ext uri="{FF2B5EF4-FFF2-40B4-BE49-F238E27FC236}">
                <a16:creationId xmlns:a16="http://schemas.microsoft.com/office/drawing/2014/main" id="{BB7A12C7-930C-06BF-AC80-46225CAFC32D}"/>
              </a:ext>
            </a:extLst>
          </p:cNvPr>
          <p:cNvCxnSpPr>
            <a:cxnSpLocks/>
            <a:stCxn id="2" idx="3"/>
            <a:endCxn id="200" idx="0"/>
          </p:cNvCxnSpPr>
          <p:nvPr/>
        </p:nvCxnSpPr>
        <p:spPr>
          <a:xfrm>
            <a:off x="9037523" y="1734800"/>
            <a:ext cx="910292" cy="859973"/>
          </a:xfrm>
          <a:prstGeom prst="bentConnector2">
            <a:avLst/>
          </a:prstGeom>
          <a:ln>
            <a:prstDash val="sysDash"/>
            <a:tailEnd type="triangle"/>
          </a:ln>
        </p:spPr>
        <p:style>
          <a:lnRef idx="1">
            <a:schemeClr val="dk1"/>
          </a:lnRef>
          <a:fillRef idx="0">
            <a:schemeClr val="dk1"/>
          </a:fillRef>
          <a:effectRef idx="0">
            <a:schemeClr val="dk1"/>
          </a:effectRef>
          <a:fontRef idx="minor">
            <a:schemeClr val="tx1"/>
          </a:fontRef>
        </p:style>
      </p:cxnSp>
      <p:pic>
        <p:nvPicPr>
          <p:cNvPr id="7" name="Picture 4" descr="excepción icon">
            <a:extLst>
              <a:ext uri="{FF2B5EF4-FFF2-40B4-BE49-F238E27FC236}">
                <a16:creationId xmlns:a16="http://schemas.microsoft.com/office/drawing/2014/main" id="{458BA4A5-31FE-35D5-18E7-3DA43C7BDD1F}"/>
              </a:ext>
            </a:extLst>
          </p:cNvPr>
          <p:cNvPicPr>
            <a:picLocks noChangeAspect="1" noChangeArrowheads="1"/>
          </p:cNvPicPr>
          <p:nvPr/>
        </p:nvPicPr>
        <p:blipFill>
          <a:blip r:embed="rId6">
            <a:duotone>
              <a:prstClr val="black"/>
              <a:schemeClr val="accent4">
                <a:lumMod val="20000"/>
                <a:lumOff val="80000"/>
                <a:tint val="45000"/>
                <a:satMod val="400000"/>
              </a:schemeClr>
            </a:duotone>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10973715" y="1469778"/>
            <a:ext cx="552909" cy="55290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Elbow Connector 7">
            <a:extLst>
              <a:ext uri="{FF2B5EF4-FFF2-40B4-BE49-F238E27FC236}">
                <a16:creationId xmlns:a16="http://schemas.microsoft.com/office/drawing/2014/main" id="{478930E0-49E9-0554-030F-B2D969C207DF}"/>
              </a:ext>
            </a:extLst>
          </p:cNvPr>
          <p:cNvCxnSpPr>
            <a:cxnSpLocks/>
            <a:stCxn id="7" idx="3"/>
            <a:endCxn id="257" idx="0"/>
          </p:cNvCxnSpPr>
          <p:nvPr/>
        </p:nvCxnSpPr>
        <p:spPr>
          <a:xfrm>
            <a:off x="11526624" y="1746233"/>
            <a:ext cx="833542" cy="1043105"/>
          </a:xfrm>
          <a:prstGeom prst="bentConnector2">
            <a:avLst/>
          </a:prstGeom>
          <a:ln>
            <a:solidFill>
              <a:srgbClr val="7030A0"/>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14" name="Elbow Connector 13">
            <a:extLst>
              <a:ext uri="{FF2B5EF4-FFF2-40B4-BE49-F238E27FC236}">
                <a16:creationId xmlns:a16="http://schemas.microsoft.com/office/drawing/2014/main" id="{E391CF73-8C77-97DA-D6F6-3D18367B1F4D}"/>
              </a:ext>
            </a:extLst>
          </p:cNvPr>
          <p:cNvCxnSpPr>
            <a:cxnSpLocks/>
            <a:endCxn id="178" idx="0"/>
          </p:cNvCxnSpPr>
          <p:nvPr/>
        </p:nvCxnSpPr>
        <p:spPr>
          <a:xfrm>
            <a:off x="4009820" y="1903441"/>
            <a:ext cx="3455309" cy="852563"/>
          </a:xfrm>
          <a:prstGeom prst="bentConnector2">
            <a:avLst/>
          </a:prstGeom>
          <a:ln>
            <a:prstDash val="sysDash"/>
            <a:tailEnd type="triangle"/>
          </a:ln>
        </p:spPr>
        <p:style>
          <a:lnRef idx="1">
            <a:schemeClr val="dk1"/>
          </a:lnRef>
          <a:fillRef idx="0">
            <a:schemeClr val="dk1"/>
          </a:fillRef>
          <a:effectRef idx="0">
            <a:schemeClr val="dk1"/>
          </a:effectRef>
          <a:fontRef idx="minor">
            <a:schemeClr val="tx1"/>
          </a:fontRef>
        </p:style>
      </p:cxnSp>
      <p:pic>
        <p:nvPicPr>
          <p:cNvPr id="2052" name="Picture 4" descr="estrategia ">
            <a:extLst>
              <a:ext uri="{FF2B5EF4-FFF2-40B4-BE49-F238E27FC236}">
                <a16:creationId xmlns:a16="http://schemas.microsoft.com/office/drawing/2014/main" id="{83FE6890-EED2-C69A-8D2C-47F9AC1D42BC}"/>
              </a:ext>
            </a:extLst>
          </p:cNvPr>
          <p:cNvPicPr>
            <a:picLocks noChangeAspect="1" noChangeArrowheads="1"/>
          </p:cNvPicPr>
          <p:nvPr/>
        </p:nvPicPr>
        <p:blipFill>
          <a:blip r:embed="rId8">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791964" y="1458537"/>
            <a:ext cx="417727" cy="4177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B258165-2006-C2CC-3E97-801052141D1B}"/>
              </a:ext>
            </a:extLst>
          </p:cNvPr>
          <p:cNvSpPr txBox="1"/>
          <p:nvPr/>
        </p:nvSpPr>
        <p:spPr>
          <a:xfrm>
            <a:off x="13807854" y="1430863"/>
            <a:ext cx="2082525" cy="338554"/>
          </a:xfrm>
          <a:prstGeom prst="rect">
            <a:avLst/>
          </a:prstGeom>
          <a:solidFill>
            <a:schemeClr val="accent5">
              <a:lumMod val="20000"/>
              <a:lumOff val="80000"/>
            </a:schemeClr>
          </a:solidFill>
        </p:spPr>
        <p:txBody>
          <a:bodyPr wrap="square" rtlCol="0">
            <a:spAutoFit/>
          </a:bodyPr>
          <a:lstStyle/>
          <a:p>
            <a:pPr algn="ctr"/>
            <a:r>
              <a:rPr lang="en-EC" sz="1600" b="1" dirty="0">
                <a:solidFill>
                  <a:srgbClr val="C00000"/>
                </a:solidFill>
                <a:latin typeface="Calibri" panose="020F0502020204030204" pitchFamily="34" charset="0"/>
                <a:cs typeface="Calibri" panose="020F0502020204030204" pitchFamily="34" charset="0"/>
              </a:rPr>
              <a:t>¡Números Ilustrativos!</a:t>
            </a:r>
          </a:p>
        </p:txBody>
      </p:sp>
      <p:sp>
        <p:nvSpPr>
          <p:cNvPr id="5" name="TextBox 4">
            <a:extLst>
              <a:ext uri="{FF2B5EF4-FFF2-40B4-BE49-F238E27FC236}">
                <a16:creationId xmlns:a16="http://schemas.microsoft.com/office/drawing/2014/main" id="{1FB5E59D-8E2C-ABEC-1688-D6862B2A4EE6}"/>
              </a:ext>
            </a:extLst>
          </p:cNvPr>
          <p:cNvSpPr txBox="1"/>
          <p:nvPr/>
        </p:nvSpPr>
        <p:spPr>
          <a:xfrm>
            <a:off x="7509336" y="2457718"/>
            <a:ext cx="569387" cy="276999"/>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23.0%</a:t>
            </a:r>
          </a:p>
        </p:txBody>
      </p:sp>
      <p:sp>
        <p:nvSpPr>
          <p:cNvPr id="6" name="TextBox 5">
            <a:extLst>
              <a:ext uri="{FF2B5EF4-FFF2-40B4-BE49-F238E27FC236}">
                <a16:creationId xmlns:a16="http://schemas.microsoft.com/office/drawing/2014/main" id="{FB4944F6-2B68-1576-19D9-EFCE1DABFBDE}"/>
              </a:ext>
            </a:extLst>
          </p:cNvPr>
          <p:cNvSpPr txBox="1"/>
          <p:nvPr/>
        </p:nvSpPr>
        <p:spPr>
          <a:xfrm>
            <a:off x="5125113" y="3000308"/>
            <a:ext cx="569388" cy="276999"/>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19.0%</a:t>
            </a:r>
          </a:p>
        </p:txBody>
      </p:sp>
      <p:sp>
        <p:nvSpPr>
          <p:cNvPr id="9" name="TextBox 8">
            <a:extLst>
              <a:ext uri="{FF2B5EF4-FFF2-40B4-BE49-F238E27FC236}">
                <a16:creationId xmlns:a16="http://schemas.microsoft.com/office/drawing/2014/main" id="{7310180E-EEB8-61E3-555B-7971A6C0BDB0}"/>
              </a:ext>
            </a:extLst>
          </p:cNvPr>
          <p:cNvSpPr txBox="1"/>
          <p:nvPr/>
        </p:nvSpPr>
        <p:spPr>
          <a:xfrm>
            <a:off x="2672925" y="3551491"/>
            <a:ext cx="569388" cy="276999"/>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15.0%</a:t>
            </a:r>
          </a:p>
        </p:txBody>
      </p:sp>
      <p:sp>
        <p:nvSpPr>
          <p:cNvPr id="10" name="TextBox 9">
            <a:extLst>
              <a:ext uri="{FF2B5EF4-FFF2-40B4-BE49-F238E27FC236}">
                <a16:creationId xmlns:a16="http://schemas.microsoft.com/office/drawing/2014/main" id="{EE6F475D-B4F6-A5CE-6238-B352E67625B5}"/>
              </a:ext>
            </a:extLst>
          </p:cNvPr>
          <p:cNvSpPr txBox="1"/>
          <p:nvPr/>
        </p:nvSpPr>
        <p:spPr>
          <a:xfrm>
            <a:off x="9983457" y="2365176"/>
            <a:ext cx="569388" cy="276999"/>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21.5%</a:t>
            </a:r>
          </a:p>
        </p:txBody>
      </p:sp>
      <p:sp>
        <p:nvSpPr>
          <p:cNvPr id="11" name="TextBox 10">
            <a:extLst>
              <a:ext uri="{FF2B5EF4-FFF2-40B4-BE49-F238E27FC236}">
                <a16:creationId xmlns:a16="http://schemas.microsoft.com/office/drawing/2014/main" id="{A268A8B4-5C9F-62AC-9D27-AC23A0900239}"/>
              </a:ext>
            </a:extLst>
          </p:cNvPr>
          <p:cNvSpPr txBox="1"/>
          <p:nvPr/>
        </p:nvSpPr>
        <p:spPr>
          <a:xfrm>
            <a:off x="12412134" y="2584710"/>
            <a:ext cx="569388" cy="276999"/>
          </a:xfrm>
          <a:prstGeom prst="rect">
            <a:avLst/>
          </a:prstGeom>
          <a:noFill/>
        </p:spPr>
        <p:txBody>
          <a:bodyPr wrap="none" rtlCol="0">
            <a:spAutoFit/>
          </a:bodyPr>
          <a:lstStyle/>
          <a:p>
            <a:pPr algn="ctr"/>
            <a:r>
              <a:rPr lang="en-EC" sz="1200" dirty="0">
                <a:latin typeface="Calibri" panose="020F0502020204030204" pitchFamily="34" charset="0"/>
                <a:cs typeface="Calibri" panose="020F0502020204030204" pitchFamily="34" charset="0"/>
              </a:rPr>
              <a:t>21.0%</a:t>
            </a:r>
          </a:p>
        </p:txBody>
      </p:sp>
      <p:grpSp>
        <p:nvGrpSpPr>
          <p:cNvPr id="20" name="Group 19">
            <a:extLst>
              <a:ext uri="{FF2B5EF4-FFF2-40B4-BE49-F238E27FC236}">
                <a16:creationId xmlns:a16="http://schemas.microsoft.com/office/drawing/2014/main" id="{DA253213-3FAE-DF2E-E65C-BB2CCD71EA59}"/>
              </a:ext>
            </a:extLst>
          </p:cNvPr>
          <p:cNvGrpSpPr/>
          <p:nvPr/>
        </p:nvGrpSpPr>
        <p:grpSpPr>
          <a:xfrm>
            <a:off x="1647732" y="3837869"/>
            <a:ext cx="2082522" cy="665630"/>
            <a:chOff x="1462536" y="4509206"/>
            <a:chExt cx="2082522" cy="665630"/>
          </a:xfrm>
        </p:grpSpPr>
        <p:grpSp>
          <p:nvGrpSpPr>
            <p:cNvPr id="21" name="Group 26">
              <a:extLst>
                <a:ext uri="{FF2B5EF4-FFF2-40B4-BE49-F238E27FC236}">
                  <a16:creationId xmlns:a16="http://schemas.microsoft.com/office/drawing/2014/main" id="{3A9CCE8C-9912-CF74-F953-F9660733B78D}"/>
                </a:ext>
              </a:extLst>
            </p:cNvPr>
            <p:cNvGrpSpPr/>
            <p:nvPr/>
          </p:nvGrpSpPr>
          <p:grpSpPr>
            <a:xfrm>
              <a:off x="1462536" y="4509206"/>
              <a:ext cx="2082522" cy="665630"/>
              <a:chOff x="0" y="0"/>
              <a:chExt cx="4031516" cy="2608424"/>
            </a:xfrm>
          </p:grpSpPr>
          <p:grpSp>
            <p:nvGrpSpPr>
              <p:cNvPr id="24" name="Group 27">
                <a:extLst>
                  <a:ext uri="{FF2B5EF4-FFF2-40B4-BE49-F238E27FC236}">
                    <a16:creationId xmlns:a16="http://schemas.microsoft.com/office/drawing/2014/main" id="{2B118AC7-4E86-2F6D-7475-559368D1A9EB}"/>
                  </a:ext>
                </a:extLst>
              </p:cNvPr>
              <p:cNvGrpSpPr/>
              <p:nvPr/>
            </p:nvGrpSpPr>
            <p:grpSpPr>
              <a:xfrm rot="5400000">
                <a:off x="711546" y="-711546"/>
                <a:ext cx="2608424" cy="4031516"/>
                <a:chOff x="0" y="0"/>
                <a:chExt cx="515244" cy="796349"/>
              </a:xfrm>
            </p:grpSpPr>
            <p:sp>
              <p:nvSpPr>
                <p:cNvPr id="28" name="Freeform 28">
                  <a:extLst>
                    <a:ext uri="{FF2B5EF4-FFF2-40B4-BE49-F238E27FC236}">
                      <a16:creationId xmlns:a16="http://schemas.microsoft.com/office/drawing/2014/main" id="{576B0414-65FB-78BE-55B1-4479AEF7285F}"/>
                    </a:ext>
                  </a:extLst>
                </p:cNvPr>
                <p:cNvSpPr/>
                <p:nvPr/>
              </p:nvSpPr>
              <p:spPr>
                <a:xfrm>
                  <a:off x="0" y="0"/>
                  <a:ext cx="515244" cy="796349"/>
                </a:xfrm>
                <a:custGeom>
                  <a:avLst/>
                  <a:gdLst/>
                  <a:ahLst/>
                  <a:cxnLst/>
                  <a:rect l="l" t="t" r="r" b="b"/>
                  <a:pathLst>
                    <a:path w="515244" h="796349">
                      <a:moveTo>
                        <a:pt x="19787" y="0"/>
                      </a:moveTo>
                      <a:lnTo>
                        <a:pt x="495457" y="0"/>
                      </a:lnTo>
                      <a:cubicBezTo>
                        <a:pt x="500705" y="0"/>
                        <a:pt x="505738" y="2085"/>
                        <a:pt x="509449" y="5795"/>
                      </a:cubicBezTo>
                      <a:cubicBezTo>
                        <a:pt x="513160" y="9506"/>
                        <a:pt x="515244" y="14539"/>
                        <a:pt x="515244" y="19787"/>
                      </a:cubicBezTo>
                      <a:lnTo>
                        <a:pt x="515244" y="776562"/>
                      </a:lnTo>
                      <a:cubicBezTo>
                        <a:pt x="515244" y="787490"/>
                        <a:pt x="506385" y="796349"/>
                        <a:pt x="495457" y="796349"/>
                      </a:cubicBezTo>
                      <a:lnTo>
                        <a:pt x="19787" y="796349"/>
                      </a:lnTo>
                      <a:cubicBezTo>
                        <a:pt x="14539" y="796349"/>
                        <a:pt x="9506" y="794264"/>
                        <a:pt x="5795" y="790553"/>
                      </a:cubicBezTo>
                      <a:cubicBezTo>
                        <a:pt x="2085" y="786843"/>
                        <a:pt x="0" y="781810"/>
                        <a:pt x="0" y="776562"/>
                      </a:cubicBezTo>
                      <a:lnTo>
                        <a:pt x="0" y="19787"/>
                      </a:lnTo>
                      <a:cubicBezTo>
                        <a:pt x="0" y="14539"/>
                        <a:pt x="2085" y="9506"/>
                        <a:pt x="5795" y="5795"/>
                      </a:cubicBezTo>
                      <a:cubicBezTo>
                        <a:pt x="9506" y="2085"/>
                        <a:pt x="14539" y="0"/>
                        <a:pt x="19787" y="0"/>
                      </a:cubicBezTo>
                      <a:close/>
                    </a:path>
                  </a:pathLst>
                </a:custGeom>
                <a:solidFill>
                  <a:srgbClr val="F4F1F1"/>
                </a:solidFill>
              </p:spPr>
              <p:txBody>
                <a:bodyPr/>
                <a:lstStyle/>
                <a:p>
                  <a:endParaRPr lang="es-ES_tradnl" sz="1000">
                    <a:latin typeface="Calibri" panose="020F0502020204030204" pitchFamily="34" charset="0"/>
                    <a:cs typeface="Calibri" panose="020F0502020204030204" pitchFamily="34" charset="0"/>
                  </a:endParaRPr>
                </a:p>
              </p:txBody>
            </p:sp>
            <p:sp>
              <p:nvSpPr>
                <p:cNvPr id="29" name="TextBox 29">
                  <a:extLst>
                    <a:ext uri="{FF2B5EF4-FFF2-40B4-BE49-F238E27FC236}">
                      <a16:creationId xmlns:a16="http://schemas.microsoft.com/office/drawing/2014/main" id="{CAB62BB6-8150-DA2B-3ABC-1820914DBD7D}"/>
                    </a:ext>
                  </a:extLst>
                </p:cNvPr>
                <p:cNvSpPr txBox="1"/>
                <p:nvPr/>
              </p:nvSpPr>
              <p:spPr>
                <a:xfrm>
                  <a:off x="0" y="-38100"/>
                  <a:ext cx="515244" cy="83444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nvGrpSpPr>
              <p:cNvPr id="25" name="Group 30">
                <a:extLst>
                  <a:ext uri="{FF2B5EF4-FFF2-40B4-BE49-F238E27FC236}">
                    <a16:creationId xmlns:a16="http://schemas.microsoft.com/office/drawing/2014/main" id="{C05A62F3-D597-1198-662A-6524C0BCB42C}"/>
                  </a:ext>
                </a:extLst>
              </p:cNvPr>
              <p:cNvGrpSpPr/>
              <p:nvPr/>
            </p:nvGrpSpPr>
            <p:grpSpPr>
              <a:xfrm rot="5400000">
                <a:off x="-1217849" y="1217849"/>
                <a:ext cx="2608424" cy="172726"/>
                <a:chOff x="0" y="0"/>
                <a:chExt cx="515244" cy="34119"/>
              </a:xfrm>
            </p:grpSpPr>
            <p:sp>
              <p:nvSpPr>
                <p:cNvPr id="26" name="Freeform 31">
                  <a:extLst>
                    <a:ext uri="{FF2B5EF4-FFF2-40B4-BE49-F238E27FC236}">
                      <a16:creationId xmlns:a16="http://schemas.microsoft.com/office/drawing/2014/main" id="{9A42F4B2-6157-0F55-29BD-B714BF496FFE}"/>
                    </a:ext>
                  </a:extLst>
                </p:cNvPr>
                <p:cNvSpPr/>
                <p:nvPr/>
              </p:nvSpPr>
              <p:spPr>
                <a:xfrm>
                  <a:off x="0" y="0"/>
                  <a:ext cx="515244" cy="34119"/>
                </a:xfrm>
                <a:custGeom>
                  <a:avLst/>
                  <a:gdLst/>
                  <a:ahLst/>
                  <a:cxnLst/>
                  <a:rect l="l" t="t" r="r" b="b"/>
                  <a:pathLst>
                    <a:path w="515244" h="34119">
                      <a:moveTo>
                        <a:pt x="17059" y="0"/>
                      </a:moveTo>
                      <a:lnTo>
                        <a:pt x="498185" y="0"/>
                      </a:lnTo>
                      <a:cubicBezTo>
                        <a:pt x="502709" y="0"/>
                        <a:pt x="507048" y="1797"/>
                        <a:pt x="510248" y="4997"/>
                      </a:cubicBezTo>
                      <a:cubicBezTo>
                        <a:pt x="513447" y="8196"/>
                        <a:pt x="515244" y="12535"/>
                        <a:pt x="515244" y="17059"/>
                      </a:cubicBezTo>
                      <a:lnTo>
                        <a:pt x="515244" y="17059"/>
                      </a:lnTo>
                      <a:cubicBezTo>
                        <a:pt x="515244" y="21584"/>
                        <a:pt x="513447" y="25923"/>
                        <a:pt x="510248" y="29122"/>
                      </a:cubicBezTo>
                      <a:cubicBezTo>
                        <a:pt x="507048" y="32321"/>
                        <a:pt x="502709" y="34119"/>
                        <a:pt x="498185" y="34119"/>
                      </a:cubicBezTo>
                      <a:lnTo>
                        <a:pt x="17059" y="34119"/>
                      </a:lnTo>
                      <a:cubicBezTo>
                        <a:pt x="12535" y="34119"/>
                        <a:pt x="8196" y="32321"/>
                        <a:pt x="4997" y="29122"/>
                      </a:cubicBezTo>
                      <a:cubicBezTo>
                        <a:pt x="1797" y="25923"/>
                        <a:pt x="0" y="21584"/>
                        <a:pt x="0" y="17059"/>
                      </a:cubicBezTo>
                      <a:lnTo>
                        <a:pt x="0" y="17059"/>
                      </a:lnTo>
                      <a:cubicBezTo>
                        <a:pt x="0" y="12535"/>
                        <a:pt x="1797" y="8196"/>
                        <a:pt x="4997" y="4997"/>
                      </a:cubicBezTo>
                      <a:cubicBezTo>
                        <a:pt x="8196" y="1797"/>
                        <a:pt x="12535" y="0"/>
                        <a:pt x="17059" y="0"/>
                      </a:cubicBezTo>
                      <a:close/>
                    </a:path>
                  </a:pathLst>
                </a:custGeom>
                <a:solidFill>
                  <a:srgbClr val="4DA29F"/>
                </a:solidFill>
              </p:spPr>
              <p:txBody>
                <a:bodyPr/>
                <a:lstStyle/>
                <a:p>
                  <a:endParaRPr lang="es-ES_tradnl" sz="1000">
                    <a:latin typeface="Calibri" panose="020F0502020204030204" pitchFamily="34" charset="0"/>
                    <a:cs typeface="Calibri" panose="020F0502020204030204" pitchFamily="34" charset="0"/>
                  </a:endParaRPr>
                </a:p>
              </p:txBody>
            </p:sp>
            <p:sp>
              <p:nvSpPr>
                <p:cNvPr id="27" name="TextBox 32">
                  <a:extLst>
                    <a:ext uri="{FF2B5EF4-FFF2-40B4-BE49-F238E27FC236}">
                      <a16:creationId xmlns:a16="http://schemas.microsoft.com/office/drawing/2014/main" id="{1FD77601-44D9-2239-01E1-AF00F00B2E87}"/>
                    </a:ext>
                  </a:extLst>
                </p:cNvPr>
                <p:cNvSpPr txBox="1"/>
                <p:nvPr/>
              </p:nvSpPr>
              <p:spPr>
                <a:xfrm>
                  <a:off x="0" y="-38100"/>
                  <a:ext cx="515244" cy="7221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sp>
          <p:nvSpPr>
            <p:cNvPr id="22" name="TextBox 57">
              <a:extLst>
                <a:ext uri="{FF2B5EF4-FFF2-40B4-BE49-F238E27FC236}">
                  <a16:creationId xmlns:a16="http://schemas.microsoft.com/office/drawing/2014/main" id="{9495DF31-DF60-99D4-D495-A7E1F007CE16}"/>
                </a:ext>
              </a:extLst>
            </p:cNvPr>
            <p:cNvSpPr txBox="1"/>
            <p:nvPr/>
          </p:nvSpPr>
          <p:spPr>
            <a:xfrm>
              <a:off x="1635388" y="4907033"/>
              <a:ext cx="1736820" cy="178126"/>
            </a:xfrm>
            <a:prstGeom prst="rect">
              <a:avLst/>
            </a:prstGeom>
          </p:spPr>
          <p:txBody>
            <a:bodyPr lIns="0" tIns="0" rIns="0" bIns="0" rtlCol="0" anchor="t">
              <a:spAutoFit/>
            </a:bodyPr>
            <a:lstStyle/>
            <a:p>
              <a:pPr>
                <a:lnSpc>
                  <a:spcPts val="1493"/>
                </a:lnSpc>
              </a:pPr>
              <a:r>
                <a:rPr lang="en-US" sz="1000" b="1" dirty="0">
                  <a:solidFill>
                    <a:srgbClr val="1F3347"/>
                  </a:solidFill>
                  <a:latin typeface="Calibri" panose="020F0502020204030204" pitchFamily="34" charset="0"/>
                  <a:ea typeface="Arial Bold"/>
                  <a:cs typeface="Calibri" panose="020F0502020204030204" pitchFamily="34" charset="0"/>
                  <a:sym typeface="Arial Bold"/>
                </a:rPr>
                <a:t>Costo de </a:t>
              </a:r>
              <a:r>
                <a:rPr lang="en-US" sz="1000" b="1" dirty="0" err="1">
                  <a:solidFill>
                    <a:srgbClr val="1F3347"/>
                  </a:solidFill>
                  <a:latin typeface="Calibri" panose="020F0502020204030204" pitchFamily="34" charset="0"/>
                  <a:ea typeface="Arial Bold"/>
                  <a:cs typeface="Calibri" panose="020F0502020204030204" pitchFamily="34" charset="0"/>
                  <a:sym typeface="Arial Bold"/>
                </a:rPr>
                <a:t>fondeo</a:t>
              </a:r>
              <a:r>
                <a:rPr lang="en-US" sz="1000" b="1" dirty="0">
                  <a:solidFill>
                    <a:srgbClr val="1F3347"/>
                  </a:solidFill>
                  <a:latin typeface="Calibri" panose="020F0502020204030204" pitchFamily="34" charset="0"/>
                  <a:ea typeface="Arial Bold"/>
                  <a:cs typeface="Calibri" panose="020F0502020204030204" pitchFamily="34" charset="0"/>
                  <a:sym typeface="Arial Bold"/>
                </a:rPr>
                <a:t> </a:t>
              </a:r>
              <a:r>
                <a:rPr lang="en-US" sz="1000" b="1" dirty="0" err="1">
                  <a:solidFill>
                    <a:srgbClr val="1F3347"/>
                  </a:solidFill>
                  <a:latin typeface="Calibri" panose="020F0502020204030204" pitchFamily="34" charset="0"/>
                  <a:ea typeface="Arial Bold"/>
                  <a:cs typeface="Calibri" panose="020F0502020204030204" pitchFamily="34" charset="0"/>
                  <a:sym typeface="Arial Bold"/>
                </a:rPr>
                <a:t>interno</a:t>
              </a:r>
              <a:endParaRPr lang="en-US" sz="1000" b="1" dirty="0">
                <a:solidFill>
                  <a:srgbClr val="1F3347"/>
                </a:solidFill>
                <a:latin typeface="Calibri" panose="020F0502020204030204" pitchFamily="34" charset="0"/>
                <a:ea typeface="Arial Bold"/>
                <a:cs typeface="Calibri" panose="020F0502020204030204" pitchFamily="34" charset="0"/>
                <a:sym typeface="Arial Bold"/>
              </a:endParaRPr>
            </a:p>
          </p:txBody>
        </p:sp>
        <p:sp>
          <p:nvSpPr>
            <p:cNvPr id="23" name="TextBox 78">
              <a:extLst>
                <a:ext uri="{FF2B5EF4-FFF2-40B4-BE49-F238E27FC236}">
                  <a16:creationId xmlns:a16="http://schemas.microsoft.com/office/drawing/2014/main" id="{0B507A24-E8B0-C8A3-ADE1-DB52CFB536E0}"/>
                </a:ext>
              </a:extLst>
            </p:cNvPr>
            <p:cNvSpPr txBox="1"/>
            <p:nvPr/>
          </p:nvSpPr>
          <p:spPr>
            <a:xfrm>
              <a:off x="1635388" y="4509206"/>
              <a:ext cx="1736820" cy="283924"/>
            </a:xfrm>
            <a:prstGeom prst="rect">
              <a:avLst/>
            </a:prstGeom>
          </p:spPr>
          <p:txBody>
            <a:bodyPr lIns="0" tIns="0" rIns="0" bIns="0" rtlCol="0" anchor="t">
              <a:spAutoFit/>
            </a:bodyPr>
            <a:lstStyle/>
            <a:p>
              <a:pPr>
                <a:lnSpc>
                  <a:spcPts val="2560"/>
                </a:lnSpc>
              </a:pPr>
              <a:r>
                <a:rPr lang="en-US" sz="1000" b="1" dirty="0">
                  <a:solidFill>
                    <a:srgbClr val="1F3347"/>
                  </a:solidFill>
                  <a:latin typeface="Calibri" panose="020F0502020204030204" pitchFamily="34" charset="0"/>
                  <a:ea typeface="Arial Bold"/>
                  <a:cs typeface="Calibri" panose="020F0502020204030204" pitchFamily="34" charset="0"/>
                  <a:sym typeface="Arial Bold"/>
                </a:rPr>
                <a:t>Tasa de </a:t>
              </a:r>
              <a:r>
                <a:rPr lang="en-US" sz="1000" b="1" dirty="0" err="1">
                  <a:solidFill>
                    <a:srgbClr val="1F3347"/>
                  </a:solidFill>
                  <a:latin typeface="Calibri" panose="020F0502020204030204" pitchFamily="34" charset="0"/>
                  <a:ea typeface="Arial Bold"/>
                  <a:cs typeface="Calibri" panose="020F0502020204030204" pitchFamily="34" charset="0"/>
                  <a:sym typeface="Arial Bold"/>
                </a:rPr>
                <a:t>Transferencia</a:t>
              </a:r>
              <a:r>
                <a:rPr lang="en-US" sz="1000" b="1" dirty="0">
                  <a:solidFill>
                    <a:srgbClr val="1F3347"/>
                  </a:solidFill>
                  <a:latin typeface="Calibri" panose="020F0502020204030204" pitchFamily="34" charset="0"/>
                  <a:ea typeface="Arial Bold"/>
                  <a:cs typeface="Calibri" panose="020F0502020204030204" pitchFamily="34" charset="0"/>
                  <a:sym typeface="Arial Bold"/>
                </a:rPr>
                <a:t> (TT): 4%</a:t>
              </a:r>
            </a:p>
          </p:txBody>
        </p:sp>
      </p:grpSp>
      <p:grpSp>
        <p:nvGrpSpPr>
          <p:cNvPr id="30" name="Group 29">
            <a:extLst>
              <a:ext uri="{FF2B5EF4-FFF2-40B4-BE49-F238E27FC236}">
                <a16:creationId xmlns:a16="http://schemas.microsoft.com/office/drawing/2014/main" id="{FE7846A8-9973-D9ED-1CB1-54E02F1FE238}"/>
              </a:ext>
            </a:extLst>
          </p:cNvPr>
          <p:cNvGrpSpPr/>
          <p:nvPr/>
        </p:nvGrpSpPr>
        <p:grpSpPr>
          <a:xfrm>
            <a:off x="1647732" y="5293861"/>
            <a:ext cx="2082522" cy="665630"/>
            <a:chOff x="1462536" y="5960452"/>
            <a:chExt cx="2082522" cy="665630"/>
          </a:xfrm>
        </p:grpSpPr>
        <p:grpSp>
          <p:nvGrpSpPr>
            <p:cNvPr id="31" name="Group 33">
              <a:extLst>
                <a:ext uri="{FF2B5EF4-FFF2-40B4-BE49-F238E27FC236}">
                  <a16:creationId xmlns:a16="http://schemas.microsoft.com/office/drawing/2014/main" id="{94C1B55C-61E0-FBFA-6A30-4AEEE91E334A}"/>
                </a:ext>
              </a:extLst>
            </p:cNvPr>
            <p:cNvGrpSpPr/>
            <p:nvPr/>
          </p:nvGrpSpPr>
          <p:grpSpPr>
            <a:xfrm>
              <a:off x="1462536" y="5960452"/>
              <a:ext cx="2082522" cy="665630"/>
              <a:chOff x="0" y="0"/>
              <a:chExt cx="4031516" cy="2608424"/>
            </a:xfrm>
          </p:grpSpPr>
          <p:grpSp>
            <p:nvGrpSpPr>
              <p:cNvPr id="34" name="Group 34">
                <a:extLst>
                  <a:ext uri="{FF2B5EF4-FFF2-40B4-BE49-F238E27FC236}">
                    <a16:creationId xmlns:a16="http://schemas.microsoft.com/office/drawing/2014/main" id="{F8AAD611-C6D7-B727-2EA0-B1E90CCDF52D}"/>
                  </a:ext>
                </a:extLst>
              </p:cNvPr>
              <p:cNvGrpSpPr/>
              <p:nvPr/>
            </p:nvGrpSpPr>
            <p:grpSpPr>
              <a:xfrm rot="5400000">
                <a:off x="711546" y="-711546"/>
                <a:ext cx="2608424" cy="4031516"/>
                <a:chOff x="0" y="0"/>
                <a:chExt cx="515244" cy="796349"/>
              </a:xfrm>
            </p:grpSpPr>
            <p:sp>
              <p:nvSpPr>
                <p:cNvPr id="38" name="Freeform 35">
                  <a:extLst>
                    <a:ext uri="{FF2B5EF4-FFF2-40B4-BE49-F238E27FC236}">
                      <a16:creationId xmlns:a16="http://schemas.microsoft.com/office/drawing/2014/main" id="{925C79F0-2A97-80EE-7577-5C8E6790A783}"/>
                    </a:ext>
                  </a:extLst>
                </p:cNvPr>
                <p:cNvSpPr/>
                <p:nvPr/>
              </p:nvSpPr>
              <p:spPr>
                <a:xfrm>
                  <a:off x="0" y="0"/>
                  <a:ext cx="515244" cy="796349"/>
                </a:xfrm>
                <a:custGeom>
                  <a:avLst/>
                  <a:gdLst/>
                  <a:ahLst/>
                  <a:cxnLst/>
                  <a:rect l="l" t="t" r="r" b="b"/>
                  <a:pathLst>
                    <a:path w="515244" h="796349">
                      <a:moveTo>
                        <a:pt x="19787" y="0"/>
                      </a:moveTo>
                      <a:lnTo>
                        <a:pt x="495457" y="0"/>
                      </a:lnTo>
                      <a:cubicBezTo>
                        <a:pt x="500705" y="0"/>
                        <a:pt x="505738" y="2085"/>
                        <a:pt x="509449" y="5795"/>
                      </a:cubicBezTo>
                      <a:cubicBezTo>
                        <a:pt x="513160" y="9506"/>
                        <a:pt x="515244" y="14539"/>
                        <a:pt x="515244" y="19787"/>
                      </a:cubicBezTo>
                      <a:lnTo>
                        <a:pt x="515244" y="776562"/>
                      </a:lnTo>
                      <a:cubicBezTo>
                        <a:pt x="515244" y="787490"/>
                        <a:pt x="506385" y="796349"/>
                        <a:pt x="495457" y="796349"/>
                      </a:cubicBezTo>
                      <a:lnTo>
                        <a:pt x="19787" y="796349"/>
                      </a:lnTo>
                      <a:cubicBezTo>
                        <a:pt x="14539" y="796349"/>
                        <a:pt x="9506" y="794264"/>
                        <a:pt x="5795" y="790553"/>
                      </a:cubicBezTo>
                      <a:cubicBezTo>
                        <a:pt x="2085" y="786843"/>
                        <a:pt x="0" y="781810"/>
                        <a:pt x="0" y="776562"/>
                      </a:cubicBezTo>
                      <a:lnTo>
                        <a:pt x="0" y="19787"/>
                      </a:lnTo>
                      <a:cubicBezTo>
                        <a:pt x="0" y="14539"/>
                        <a:pt x="2085" y="9506"/>
                        <a:pt x="5795" y="5795"/>
                      </a:cubicBezTo>
                      <a:cubicBezTo>
                        <a:pt x="9506" y="2085"/>
                        <a:pt x="14539" y="0"/>
                        <a:pt x="19787" y="0"/>
                      </a:cubicBezTo>
                      <a:close/>
                    </a:path>
                  </a:pathLst>
                </a:custGeom>
                <a:solidFill>
                  <a:srgbClr val="F4F1F1"/>
                </a:solidFill>
              </p:spPr>
              <p:txBody>
                <a:bodyPr/>
                <a:lstStyle/>
                <a:p>
                  <a:endParaRPr lang="es-ES_tradnl" sz="1000">
                    <a:latin typeface="Calibri" panose="020F0502020204030204" pitchFamily="34" charset="0"/>
                    <a:cs typeface="Calibri" panose="020F0502020204030204" pitchFamily="34" charset="0"/>
                  </a:endParaRPr>
                </a:p>
              </p:txBody>
            </p:sp>
            <p:sp>
              <p:nvSpPr>
                <p:cNvPr id="64" name="TextBox 36">
                  <a:extLst>
                    <a:ext uri="{FF2B5EF4-FFF2-40B4-BE49-F238E27FC236}">
                      <a16:creationId xmlns:a16="http://schemas.microsoft.com/office/drawing/2014/main" id="{46A3AC21-C8CC-7FAD-0C41-72348FA87183}"/>
                    </a:ext>
                  </a:extLst>
                </p:cNvPr>
                <p:cNvSpPr txBox="1"/>
                <p:nvPr/>
              </p:nvSpPr>
              <p:spPr>
                <a:xfrm>
                  <a:off x="0" y="-38100"/>
                  <a:ext cx="515244" cy="83444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nvGrpSpPr>
              <p:cNvPr id="35" name="Group 37">
                <a:extLst>
                  <a:ext uri="{FF2B5EF4-FFF2-40B4-BE49-F238E27FC236}">
                    <a16:creationId xmlns:a16="http://schemas.microsoft.com/office/drawing/2014/main" id="{E5DE7BC4-6011-01EE-5A9E-F52DA968A24D}"/>
                  </a:ext>
                </a:extLst>
              </p:cNvPr>
              <p:cNvGrpSpPr/>
              <p:nvPr/>
            </p:nvGrpSpPr>
            <p:grpSpPr>
              <a:xfrm rot="5400000">
                <a:off x="-1217849" y="1217849"/>
                <a:ext cx="2608424" cy="172726"/>
                <a:chOff x="0" y="0"/>
                <a:chExt cx="515244" cy="34119"/>
              </a:xfrm>
            </p:grpSpPr>
            <p:sp>
              <p:nvSpPr>
                <p:cNvPr id="36" name="Freeform 38">
                  <a:extLst>
                    <a:ext uri="{FF2B5EF4-FFF2-40B4-BE49-F238E27FC236}">
                      <a16:creationId xmlns:a16="http://schemas.microsoft.com/office/drawing/2014/main" id="{CDD89A2F-DE0B-AE90-DBB0-7A86605C45EB}"/>
                    </a:ext>
                  </a:extLst>
                </p:cNvPr>
                <p:cNvSpPr/>
                <p:nvPr/>
              </p:nvSpPr>
              <p:spPr>
                <a:xfrm>
                  <a:off x="0" y="0"/>
                  <a:ext cx="515244" cy="34119"/>
                </a:xfrm>
                <a:custGeom>
                  <a:avLst/>
                  <a:gdLst/>
                  <a:ahLst/>
                  <a:cxnLst/>
                  <a:rect l="l" t="t" r="r" b="b"/>
                  <a:pathLst>
                    <a:path w="515244" h="34119">
                      <a:moveTo>
                        <a:pt x="17059" y="0"/>
                      </a:moveTo>
                      <a:lnTo>
                        <a:pt x="498185" y="0"/>
                      </a:lnTo>
                      <a:cubicBezTo>
                        <a:pt x="502709" y="0"/>
                        <a:pt x="507048" y="1797"/>
                        <a:pt x="510248" y="4997"/>
                      </a:cubicBezTo>
                      <a:cubicBezTo>
                        <a:pt x="513447" y="8196"/>
                        <a:pt x="515244" y="12535"/>
                        <a:pt x="515244" y="17059"/>
                      </a:cubicBezTo>
                      <a:lnTo>
                        <a:pt x="515244" y="17059"/>
                      </a:lnTo>
                      <a:cubicBezTo>
                        <a:pt x="515244" y="21584"/>
                        <a:pt x="513447" y="25923"/>
                        <a:pt x="510248" y="29122"/>
                      </a:cubicBezTo>
                      <a:cubicBezTo>
                        <a:pt x="507048" y="32321"/>
                        <a:pt x="502709" y="34119"/>
                        <a:pt x="498185" y="34119"/>
                      </a:cubicBezTo>
                      <a:lnTo>
                        <a:pt x="17059" y="34119"/>
                      </a:lnTo>
                      <a:cubicBezTo>
                        <a:pt x="12535" y="34119"/>
                        <a:pt x="8196" y="32321"/>
                        <a:pt x="4997" y="29122"/>
                      </a:cubicBezTo>
                      <a:cubicBezTo>
                        <a:pt x="1797" y="25923"/>
                        <a:pt x="0" y="21584"/>
                        <a:pt x="0" y="17059"/>
                      </a:cubicBezTo>
                      <a:lnTo>
                        <a:pt x="0" y="17059"/>
                      </a:lnTo>
                      <a:cubicBezTo>
                        <a:pt x="0" y="12535"/>
                        <a:pt x="1797" y="8196"/>
                        <a:pt x="4997" y="4997"/>
                      </a:cubicBezTo>
                      <a:cubicBezTo>
                        <a:pt x="8196" y="1797"/>
                        <a:pt x="12535" y="0"/>
                        <a:pt x="17059" y="0"/>
                      </a:cubicBezTo>
                      <a:close/>
                    </a:path>
                  </a:pathLst>
                </a:custGeom>
                <a:solidFill>
                  <a:srgbClr val="4DA29F"/>
                </a:solidFill>
              </p:spPr>
              <p:txBody>
                <a:bodyPr/>
                <a:lstStyle/>
                <a:p>
                  <a:endParaRPr lang="es-ES_tradnl" sz="1000">
                    <a:latin typeface="Calibri" panose="020F0502020204030204" pitchFamily="34" charset="0"/>
                    <a:cs typeface="Calibri" panose="020F0502020204030204" pitchFamily="34" charset="0"/>
                  </a:endParaRPr>
                </a:p>
              </p:txBody>
            </p:sp>
            <p:sp>
              <p:nvSpPr>
                <p:cNvPr id="37" name="TextBox 39">
                  <a:extLst>
                    <a:ext uri="{FF2B5EF4-FFF2-40B4-BE49-F238E27FC236}">
                      <a16:creationId xmlns:a16="http://schemas.microsoft.com/office/drawing/2014/main" id="{317729F4-3802-C1A1-4D7D-47E0AE3CF1C5}"/>
                    </a:ext>
                  </a:extLst>
                </p:cNvPr>
                <p:cNvSpPr txBox="1"/>
                <p:nvPr/>
              </p:nvSpPr>
              <p:spPr>
                <a:xfrm>
                  <a:off x="0" y="-38100"/>
                  <a:ext cx="515244" cy="7221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sp>
          <p:nvSpPr>
            <p:cNvPr id="32" name="TextBox 79">
              <a:extLst>
                <a:ext uri="{FF2B5EF4-FFF2-40B4-BE49-F238E27FC236}">
                  <a16:creationId xmlns:a16="http://schemas.microsoft.com/office/drawing/2014/main" id="{7C75472E-C4CF-81A8-39E9-4405355D9153}"/>
                </a:ext>
              </a:extLst>
            </p:cNvPr>
            <p:cNvSpPr txBox="1"/>
            <p:nvPr/>
          </p:nvSpPr>
          <p:spPr>
            <a:xfrm>
              <a:off x="1705798" y="5960452"/>
              <a:ext cx="1736820" cy="283924"/>
            </a:xfrm>
            <a:prstGeom prst="rect">
              <a:avLst/>
            </a:prstGeom>
          </p:spPr>
          <p:txBody>
            <a:bodyPr lIns="0" tIns="0" rIns="0" bIns="0" rtlCol="0" anchor="t">
              <a:spAutoFit/>
            </a:bodyPr>
            <a:lstStyle/>
            <a:p>
              <a:pPr>
                <a:lnSpc>
                  <a:spcPts val="2560"/>
                </a:lnSpc>
              </a:pPr>
              <a:r>
                <a:rPr lang="en-US" sz="1000" b="1" dirty="0" err="1">
                  <a:solidFill>
                    <a:srgbClr val="1F3347"/>
                  </a:solidFill>
                  <a:latin typeface="Calibri" panose="020F0502020204030204" pitchFamily="34" charset="0"/>
                  <a:ea typeface="Arial Bold"/>
                  <a:cs typeface="Calibri" panose="020F0502020204030204" pitchFamily="34" charset="0"/>
                  <a:sym typeface="Arial Bold"/>
                </a:rPr>
                <a:t>Pérdida</a:t>
              </a:r>
              <a:r>
                <a:rPr lang="en-US" sz="1000" b="1" dirty="0">
                  <a:solidFill>
                    <a:srgbClr val="1F3347"/>
                  </a:solidFill>
                  <a:latin typeface="Calibri" panose="020F0502020204030204" pitchFamily="34" charset="0"/>
                  <a:ea typeface="Arial Bold"/>
                  <a:cs typeface="Calibri" panose="020F0502020204030204" pitchFamily="34" charset="0"/>
                  <a:sym typeface="Arial Bold"/>
                </a:rPr>
                <a:t> </a:t>
              </a:r>
              <a:r>
                <a:rPr lang="en-US" sz="1000" b="1" dirty="0" err="1">
                  <a:solidFill>
                    <a:srgbClr val="1F3347"/>
                  </a:solidFill>
                  <a:latin typeface="Calibri" panose="020F0502020204030204" pitchFamily="34" charset="0"/>
                  <a:ea typeface="Arial Bold"/>
                  <a:cs typeface="Calibri" panose="020F0502020204030204" pitchFamily="34" charset="0"/>
                  <a:sym typeface="Arial Bold"/>
                </a:rPr>
                <a:t>Esperada</a:t>
              </a:r>
              <a:r>
                <a:rPr lang="en-US" sz="1000" b="1" dirty="0">
                  <a:solidFill>
                    <a:srgbClr val="1F3347"/>
                  </a:solidFill>
                  <a:latin typeface="Calibri" panose="020F0502020204030204" pitchFamily="34" charset="0"/>
                  <a:ea typeface="Arial Bold"/>
                  <a:cs typeface="Calibri" panose="020F0502020204030204" pitchFamily="34" charset="0"/>
                  <a:sym typeface="Arial Bold"/>
                </a:rPr>
                <a:t> (PE): 5%</a:t>
              </a:r>
            </a:p>
          </p:txBody>
        </p:sp>
        <p:sp>
          <p:nvSpPr>
            <p:cNvPr id="33" name="TextBox 80">
              <a:extLst>
                <a:ext uri="{FF2B5EF4-FFF2-40B4-BE49-F238E27FC236}">
                  <a16:creationId xmlns:a16="http://schemas.microsoft.com/office/drawing/2014/main" id="{03A546C1-EE5B-3603-8F8F-72E57C0C4839}"/>
                </a:ext>
              </a:extLst>
            </p:cNvPr>
            <p:cNvSpPr txBox="1"/>
            <p:nvPr/>
          </p:nvSpPr>
          <p:spPr>
            <a:xfrm>
              <a:off x="1705798" y="6358279"/>
              <a:ext cx="1736820" cy="178126"/>
            </a:xfrm>
            <a:prstGeom prst="rect">
              <a:avLst/>
            </a:prstGeom>
          </p:spPr>
          <p:txBody>
            <a:bodyPr lIns="0" tIns="0" rIns="0" bIns="0" rtlCol="0" anchor="t">
              <a:spAutoFit/>
            </a:bodyPr>
            <a:lstStyle/>
            <a:p>
              <a:pPr>
                <a:lnSpc>
                  <a:spcPts val="1493"/>
                </a:lnSpc>
              </a:pPr>
              <a:r>
                <a:rPr lang="en-US" sz="1000" b="1">
                  <a:solidFill>
                    <a:srgbClr val="1F3347"/>
                  </a:solidFill>
                  <a:latin typeface="Calibri" panose="020F0502020204030204" pitchFamily="34" charset="0"/>
                  <a:ea typeface="Arial Bold"/>
                  <a:cs typeface="Calibri" panose="020F0502020204030204" pitchFamily="34" charset="0"/>
                  <a:sym typeface="Arial Bold"/>
                </a:rPr>
                <a:t>PD × LGD × EAD</a:t>
              </a:r>
            </a:p>
          </p:txBody>
        </p:sp>
      </p:grpSp>
      <p:grpSp>
        <p:nvGrpSpPr>
          <p:cNvPr id="70" name="Group 69">
            <a:extLst>
              <a:ext uri="{FF2B5EF4-FFF2-40B4-BE49-F238E27FC236}">
                <a16:creationId xmlns:a16="http://schemas.microsoft.com/office/drawing/2014/main" id="{E9076EFF-B1A2-DE27-0E28-6F6C7804EFD0}"/>
              </a:ext>
            </a:extLst>
          </p:cNvPr>
          <p:cNvGrpSpPr/>
          <p:nvPr/>
        </p:nvGrpSpPr>
        <p:grpSpPr>
          <a:xfrm>
            <a:off x="1647732" y="4565865"/>
            <a:ext cx="2082522" cy="665630"/>
            <a:chOff x="1462536" y="5241782"/>
            <a:chExt cx="2082522" cy="665630"/>
          </a:xfrm>
        </p:grpSpPr>
        <p:grpSp>
          <p:nvGrpSpPr>
            <p:cNvPr id="71" name="Group 40">
              <a:extLst>
                <a:ext uri="{FF2B5EF4-FFF2-40B4-BE49-F238E27FC236}">
                  <a16:creationId xmlns:a16="http://schemas.microsoft.com/office/drawing/2014/main" id="{558433BE-1C2F-430F-D538-1AB2637775C7}"/>
                </a:ext>
              </a:extLst>
            </p:cNvPr>
            <p:cNvGrpSpPr/>
            <p:nvPr/>
          </p:nvGrpSpPr>
          <p:grpSpPr>
            <a:xfrm>
              <a:off x="1462536" y="5241782"/>
              <a:ext cx="2082522" cy="665630"/>
              <a:chOff x="0" y="0"/>
              <a:chExt cx="4031516" cy="2608424"/>
            </a:xfrm>
          </p:grpSpPr>
          <p:grpSp>
            <p:nvGrpSpPr>
              <p:cNvPr id="77" name="Group 41">
                <a:extLst>
                  <a:ext uri="{FF2B5EF4-FFF2-40B4-BE49-F238E27FC236}">
                    <a16:creationId xmlns:a16="http://schemas.microsoft.com/office/drawing/2014/main" id="{3DEF3975-10AF-62EC-0C08-BDE561825FB9}"/>
                  </a:ext>
                </a:extLst>
              </p:cNvPr>
              <p:cNvGrpSpPr/>
              <p:nvPr/>
            </p:nvGrpSpPr>
            <p:grpSpPr>
              <a:xfrm rot="5400000">
                <a:off x="711546" y="-711546"/>
                <a:ext cx="2608424" cy="4031516"/>
                <a:chOff x="0" y="0"/>
                <a:chExt cx="515244" cy="796349"/>
              </a:xfrm>
            </p:grpSpPr>
            <p:sp>
              <p:nvSpPr>
                <p:cNvPr id="82" name="Freeform 42">
                  <a:extLst>
                    <a:ext uri="{FF2B5EF4-FFF2-40B4-BE49-F238E27FC236}">
                      <a16:creationId xmlns:a16="http://schemas.microsoft.com/office/drawing/2014/main" id="{6F9E39C4-BCE0-7643-3619-1FDF6176B0D0}"/>
                    </a:ext>
                  </a:extLst>
                </p:cNvPr>
                <p:cNvSpPr/>
                <p:nvPr/>
              </p:nvSpPr>
              <p:spPr>
                <a:xfrm>
                  <a:off x="0" y="0"/>
                  <a:ext cx="515244" cy="796349"/>
                </a:xfrm>
                <a:custGeom>
                  <a:avLst/>
                  <a:gdLst/>
                  <a:ahLst/>
                  <a:cxnLst/>
                  <a:rect l="l" t="t" r="r" b="b"/>
                  <a:pathLst>
                    <a:path w="515244" h="796349">
                      <a:moveTo>
                        <a:pt x="19787" y="0"/>
                      </a:moveTo>
                      <a:lnTo>
                        <a:pt x="495457" y="0"/>
                      </a:lnTo>
                      <a:cubicBezTo>
                        <a:pt x="500705" y="0"/>
                        <a:pt x="505738" y="2085"/>
                        <a:pt x="509449" y="5795"/>
                      </a:cubicBezTo>
                      <a:cubicBezTo>
                        <a:pt x="513160" y="9506"/>
                        <a:pt x="515244" y="14539"/>
                        <a:pt x="515244" y="19787"/>
                      </a:cubicBezTo>
                      <a:lnTo>
                        <a:pt x="515244" y="776562"/>
                      </a:lnTo>
                      <a:cubicBezTo>
                        <a:pt x="515244" y="787490"/>
                        <a:pt x="506385" y="796349"/>
                        <a:pt x="495457" y="796349"/>
                      </a:cubicBezTo>
                      <a:lnTo>
                        <a:pt x="19787" y="796349"/>
                      </a:lnTo>
                      <a:cubicBezTo>
                        <a:pt x="14539" y="796349"/>
                        <a:pt x="9506" y="794264"/>
                        <a:pt x="5795" y="790553"/>
                      </a:cubicBezTo>
                      <a:cubicBezTo>
                        <a:pt x="2085" y="786843"/>
                        <a:pt x="0" y="781810"/>
                        <a:pt x="0" y="776562"/>
                      </a:cubicBezTo>
                      <a:lnTo>
                        <a:pt x="0" y="19787"/>
                      </a:lnTo>
                      <a:cubicBezTo>
                        <a:pt x="0" y="14539"/>
                        <a:pt x="2085" y="9506"/>
                        <a:pt x="5795" y="5795"/>
                      </a:cubicBezTo>
                      <a:cubicBezTo>
                        <a:pt x="9506" y="2085"/>
                        <a:pt x="14539" y="0"/>
                        <a:pt x="19787" y="0"/>
                      </a:cubicBezTo>
                      <a:close/>
                    </a:path>
                  </a:pathLst>
                </a:custGeom>
                <a:solidFill>
                  <a:srgbClr val="F4F1F1"/>
                </a:solidFill>
              </p:spPr>
              <p:txBody>
                <a:bodyPr/>
                <a:lstStyle/>
                <a:p>
                  <a:endParaRPr lang="es-ES_tradnl" sz="1000">
                    <a:latin typeface="Calibri" panose="020F0502020204030204" pitchFamily="34" charset="0"/>
                    <a:cs typeface="Calibri" panose="020F0502020204030204" pitchFamily="34" charset="0"/>
                  </a:endParaRPr>
                </a:p>
              </p:txBody>
            </p:sp>
            <p:sp>
              <p:nvSpPr>
                <p:cNvPr id="83" name="TextBox 43">
                  <a:extLst>
                    <a:ext uri="{FF2B5EF4-FFF2-40B4-BE49-F238E27FC236}">
                      <a16:creationId xmlns:a16="http://schemas.microsoft.com/office/drawing/2014/main" id="{24C701BF-3375-7E66-3796-A57589A1E040}"/>
                    </a:ext>
                  </a:extLst>
                </p:cNvPr>
                <p:cNvSpPr txBox="1"/>
                <p:nvPr/>
              </p:nvSpPr>
              <p:spPr>
                <a:xfrm>
                  <a:off x="0" y="-38100"/>
                  <a:ext cx="515244" cy="83444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nvGrpSpPr>
              <p:cNvPr id="78" name="Group 44">
                <a:extLst>
                  <a:ext uri="{FF2B5EF4-FFF2-40B4-BE49-F238E27FC236}">
                    <a16:creationId xmlns:a16="http://schemas.microsoft.com/office/drawing/2014/main" id="{37C893D4-9C53-0F60-9A5E-43D48FDAEE43}"/>
                  </a:ext>
                </a:extLst>
              </p:cNvPr>
              <p:cNvGrpSpPr/>
              <p:nvPr/>
            </p:nvGrpSpPr>
            <p:grpSpPr>
              <a:xfrm rot="5400000">
                <a:off x="-1217849" y="1217849"/>
                <a:ext cx="2608424" cy="172726"/>
                <a:chOff x="0" y="0"/>
                <a:chExt cx="515244" cy="34119"/>
              </a:xfrm>
            </p:grpSpPr>
            <p:sp>
              <p:nvSpPr>
                <p:cNvPr id="80" name="Freeform 45">
                  <a:extLst>
                    <a:ext uri="{FF2B5EF4-FFF2-40B4-BE49-F238E27FC236}">
                      <a16:creationId xmlns:a16="http://schemas.microsoft.com/office/drawing/2014/main" id="{81831765-F3A8-E83D-688F-B68AA016BDDD}"/>
                    </a:ext>
                  </a:extLst>
                </p:cNvPr>
                <p:cNvSpPr/>
                <p:nvPr/>
              </p:nvSpPr>
              <p:spPr>
                <a:xfrm>
                  <a:off x="0" y="0"/>
                  <a:ext cx="515244" cy="34119"/>
                </a:xfrm>
                <a:custGeom>
                  <a:avLst/>
                  <a:gdLst/>
                  <a:ahLst/>
                  <a:cxnLst/>
                  <a:rect l="l" t="t" r="r" b="b"/>
                  <a:pathLst>
                    <a:path w="515244" h="34119">
                      <a:moveTo>
                        <a:pt x="17059" y="0"/>
                      </a:moveTo>
                      <a:lnTo>
                        <a:pt x="498185" y="0"/>
                      </a:lnTo>
                      <a:cubicBezTo>
                        <a:pt x="502709" y="0"/>
                        <a:pt x="507048" y="1797"/>
                        <a:pt x="510248" y="4997"/>
                      </a:cubicBezTo>
                      <a:cubicBezTo>
                        <a:pt x="513447" y="8196"/>
                        <a:pt x="515244" y="12535"/>
                        <a:pt x="515244" y="17059"/>
                      </a:cubicBezTo>
                      <a:lnTo>
                        <a:pt x="515244" y="17059"/>
                      </a:lnTo>
                      <a:cubicBezTo>
                        <a:pt x="515244" y="21584"/>
                        <a:pt x="513447" y="25923"/>
                        <a:pt x="510248" y="29122"/>
                      </a:cubicBezTo>
                      <a:cubicBezTo>
                        <a:pt x="507048" y="32321"/>
                        <a:pt x="502709" y="34119"/>
                        <a:pt x="498185" y="34119"/>
                      </a:cubicBezTo>
                      <a:lnTo>
                        <a:pt x="17059" y="34119"/>
                      </a:lnTo>
                      <a:cubicBezTo>
                        <a:pt x="12535" y="34119"/>
                        <a:pt x="8196" y="32321"/>
                        <a:pt x="4997" y="29122"/>
                      </a:cubicBezTo>
                      <a:cubicBezTo>
                        <a:pt x="1797" y="25923"/>
                        <a:pt x="0" y="21584"/>
                        <a:pt x="0" y="17059"/>
                      </a:cubicBezTo>
                      <a:lnTo>
                        <a:pt x="0" y="17059"/>
                      </a:lnTo>
                      <a:cubicBezTo>
                        <a:pt x="0" y="12535"/>
                        <a:pt x="1797" y="8196"/>
                        <a:pt x="4997" y="4997"/>
                      </a:cubicBezTo>
                      <a:cubicBezTo>
                        <a:pt x="8196" y="1797"/>
                        <a:pt x="12535" y="0"/>
                        <a:pt x="17059" y="0"/>
                      </a:cubicBezTo>
                      <a:close/>
                    </a:path>
                  </a:pathLst>
                </a:custGeom>
                <a:solidFill>
                  <a:srgbClr val="4DA29F"/>
                </a:solidFill>
              </p:spPr>
              <p:txBody>
                <a:bodyPr/>
                <a:lstStyle/>
                <a:p>
                  <a:endParaRPr lang="es-ES_tradnl" sz="1000">
                    <a:latin typeface="Calibri" panose="020F0502020204030204" pitchFamily="34" charset="0"/>
                    <a:cs typeface="Calibri" panose="020F0502020204030204" pitchFamily="34" charset="0"/>
                  </a:endParaRPr>
                </a:p>
              </p:txBody>
            </p:sp>
            <p:sp>
              <p:nvSpPr>
                <p:cNvPr id="81" name="TextBox 46">
                  <a:extLst>
                    <a:ext uri="{FF2B5EF4-FFF2-40B4-BE49-F238E27FC236}">
                      <a16:creationId xmlns:a16="http://schemas.microsoft.com/office/drawing/2014/main" id="{36198A04-7887-CC0D-8485-F514727782BE}"/>
                    </a:ext>
                  </a:extLst>
                </p:cNvPr>
                <p:cNvSpPr txBox="1"/>
                <p:nvPr/>
              </p:nvSpPr>
              <p:spPr>
                <a:xfrm>
                  <a:off x="0" y="-38100"/>
                  <a:ext cx="515244" cy="7221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sp>
          <p:nvSpPr>
            <p:cNvPr id="72" name="TextBox 58">
              <a:extLst>
                <a:ext uri="{FF2B5EF4-FFF2-40B4-BE49-F238E27FC236}">
                  <a16:creationId xmlns:a16="http://schemas.microsoft.com/office/drawing/2014/main" id="{9216BD63-973A-71D5-C6A1-C4EF7F6D082C}"/>
                </a:ext>
              </a:extLst>
            </p:cNvPr>
            <p:cNvSpPr txBox="1"/>
            <p:nvPr/>
          </p:nvSpPr>
          <p:spPr>
            <a:xfrm>
              <a:off x="1706233" y="5639609"/>
              <a:ext cx="1736820" cy="178126"/>
            </a:xfrm>
            <a:prstGeom prst="rect">
              <a:avLst/>
            </a:prstGeom>
          </p:spPr>
          <p:txBody>
            <a:bodyPr lIns="0" tIns="0" rIns="0" bIns="0" rtlCol="0" anchor="t">
              <a:spAutoFit/>
            </a:bodyPr>
            <a:lstStyle/>
            <a:p>
              <a:pPr>
                <a:lnSpc>
                  <a:spcPts val="1493"/>
                </a:lnSpc>
              </a:pPr>
              <a:r>
                <a:rPr lang="en-US" sz="1000" b="1" dirty="0">
                  <a:solidFill>
                    <a:srgbClr val="1F3347"/>
                  </a:solidFill>
                  <a:latin typeface="Calibri" panose="020F0502020204030204" pitchFamily="34" charset="0"/>
                  <a:ea typeface="Arial Bold"/>
                  <a:cs typeface="Calibri" panose="020F0502020204030204" pitchFamily="34" charset="0"/>
                  <a:sym typeface="Arial Bold"/>
                </a:rPr>
                <a:t>Costos </a:t>
              </a:r>
              <a:r>
                <a:rPr lang="en-US" sz="1000" b="1" dirty="0" err="1">
                  <a:solidFill>
                    <a:srgbClr val="1F3347"/>
                  </a:solidFill>
                  <a:latin typeface="Calibri" panose="020F0502020204030204" pitchFamily="34" charset="0"/>
                  <a:ea typeface="Arial Bold"/>
                  <a:cs typeface="Calibri" panose="020F0502020204030204" pitchFamily="34" charset="0"/>
                  <a:sym typeface="Arial Bold"/>
                </a:rPr>
                <a:t>directos</a:t>
              </a:r>
              <a:r>
                <a:rPr lang="en-US" sz="1000" b="1" dirty="0">
                  <a:solidFill>
                    <a:srgbClr val="1F3347"/>
                  </a:solidFill>
                  <a:latin typeface="Calibri" panose="020F0502020204030204" pitchFamily="34" charset="0"/>
                  <a:ea typeface="Arial Bold"/>
                  <a:cs typeface="Calibri" panose="020F0502020204030204" pitchFamily="34" charset="0"/>
                  <a:sym typeface="Arial Bold"/>
                </a:rPr>
                <a:t> e </a:t>
              </a:r>
              <a:r>
                <a:rPr lang="en-US" sz="1000" b="1" dirty="0" err="1">
                  <a:solidFill>
                    <a:srgbClr val="1F3347"/>
                  </a:solidFill>
                  <a:latin typeface="Calibri" panose="020F0502020204030204" pitchFamily="34" charset="0"/>
                  <a:ea typeface="Arial Bold"/>
                  <a:cs typeface="Calibri" panose="020F0502020204030204" pitchFamily="34" charset="0"/>
                  <a:sym typeface="Arial Bold"/>
                </a:rPr>
                <a:t>indirectos</a:t>
              </a:r>
              <a:endParaRPr lang="en-US" sz="1000" b="1" dirty="0">
                <a:solidFill>
                  <a:srgbClr val="1F3347"/>
                </a:solidFill>
                <a:latin typeface="Calibri" panose="020F0502020204030204" pitchFamily="34" charset="0"/>
                <a:ea typeface="Arial Bold"/>
                <a:cs typeface="Calibri" panose="020F0502020204030204" pitchFamily="34" charset="0"/>
                <a:sym typeface="Arial Bold"/>
              </a:endParaRPr>
            </a:p>
          </p:txBody>
        </p:sp>
        <p:sp>
          <p:nvSpPr>
            <p:cNvPr id="75" name="TextBox 81">
              <a:extLst>
                <a:ext uri="{FF2B5EF4-FFF2-40B4-BE49-F238E27FC236}">
                  <a16:creationId xmlns:a16="http://schemas.microsoft.com/office/drawing/2014/main" id="{E3D2EC6A-F2D3-DB88-FC29-4C496190CA26}"/>
                </a:ext>
              </a:extLst>
            </p:cNvPr>
            <p:cNvSpPr txBox="1"/>
            <p:nvPr/>
          </p:nvSpPr>
          <p:spPr>
            <a:xfrm>
              <a:off x="1706233" y="5241782"/>
              <a:ext cx="1736820" cy="283924"/>
            </a:xfrm>
            <a:prstGeom prst="rect">
              <a:avLst/>
            </a:prstGeom>
          </p:spPr>
          <p:txBody>
            <a:bodyPr lIns="0" tIns="0" rIns="0" bIns="0" rtlCol="0" anchor="t">
              <a:spAutoFit/>
            </a:bodyPr>
            <a:lstStyle/>
            <a:p>
              <a:pPr>
                <a:lnSpc>
                  <a:spcPts val="2560"/>
                </a:lnSpc>
              </a:pPr>
              <a:r>
                <a:rPr lang="en-US" sz="1000" b="1" dirty="0" err="1">
                  <a:solidFill>
                    <a:srgbClr val="1F3347"/>
                  </a:solidFill>
                  <a:latin typeface="Calibri" panose="020F0502020204030204" pitchFamily="34" charset="0"/>
                  <a:ea typeface="Arial Bold"/>
                  <a:cs typeface="Calibri" panose="020F0502020204030204" pitchFamily="34" charset="0"/>
                  <a:sym typeface="Arial Bold"/>
                </a:rPr>
                <a:t>Gastos</a:t>
              </a:r>
              <a:r>
                <a:rPr lang="en-US" sz="1000" b="1" dirty="0">
                  <a:solidFill>
                    <a:srgbClr val="1F3347"/>
                  </a:solidFill>
                  <a:latin typeface="Calibri" panose="020F0502020204030204" pitchFamily="34" charset="0"/>
                  <a:ea typeface="Arial Bold"/>
                  <a:cs typeface="Calibri" panose="020F0502020204030204" pitchFamily="34" charset="0"/>
                  <a:sym typeface="Arial Bold"/>
                </a:rPr>
                <a:t> </a:t>
              </a:r>
              <a:r>
                <a:rPr lang="en-US" sz="1000" b="1" dirty="0" err="1">
                  <a:solidFill>
                    <a:srgbClr val="1F3347"/>
                  </a:solidFill>
                  <a:latin typeface="Calibri" panose="020F0502020204030204" pitchFamily="34" charset="0"/>
                  <a:ea typeface="Arial Bold"/>
                  <a:cs typeface="Calibri" panose="020F0502020204030204" pitchFamily="34" charset="0"/>
                  <a:sym typeface="Arial Bold"/>
                </a:rPr>
                <a:t>Operativos</a:t>
              </a:r>
              <a:r>
                <a:rPr lang="en-US" sz="1000" b="1" dirty="0">
                  <a:solidFill>
                    <a:srgbClr val="1F3347"/>
                  </a:solidFill>
                  <a:latin typeface="Calibri" panose="020F0502020204030204" pitchFamily="34" charset="0"/>
                  <a:ea typeface="Arial Bold"/>
                  <a:cs typeface="Calibri" panose="020F0502020204030204" pitchFamily="34" charset="0"/>
                  <a:sym typeface="Arial Bold"/>
                </a:rPr>
                <a:t>: 5%</a:t>
              </a:r>
            </a:p>
          </p:txBody>
        </p:sp>
      </p:grpSp>
      <p:grpSp>
        <p:nvGrpSpPr>
          <p:cNvPr id="84" name="Group 83">
            <a:extLst>
              <a:ext uri="{FF2B5EF4-FFF2-40B4-BE49-F238E27FC236}">
                <a16:creationId xmlns:a16="http://schemas.microsoft.com/office/drawing/2014/main" id="{30A4DA83-33C1-4E20-4F7C-E8DEB38CA312}"/>
              </a:ext>
            </a:extLst>
          </p:cNvPr>
          <p:cNvGrpSpPr/>
          <p:nvPr/>
        </p:nvGrpSpPr>
        <p:grpSpPr>
          <a:xfrm>
            <a:off x="1647732" y="6021857"/>
            <a:ext cx="2082522" cy="665630"/>
            <a:chOff x="1462536" y="6693194"/>
            <a:chExt cx="2082522" cy="665630"/>
          </a:xfrm>
        </p:grpSpPr>
        <p:grpSp>
          <p:nvGrpSpPr>
            <p:cNvPr id="85" name="Group 47">
              <a:extLst>
                <a:ext uri="{FF2B5EF4-FFF2-40B4-BE49-F238E27FC236}">
                  <a16:creationId xmlns:a16="http://schemas.microsoft.com/office/drawing/2014/main" id="{7819CEC7-D5E7-2714-81BE-7A50799BF414}"/>
                </a:ext>
              </a:extLst>
            </p:cNvPr>
            <p:cNvGrpSpPr/>
            <p:nvPr/>
          </p:nvGrpSpPr>
          <p:grpSpPr>
            <a:xfrm>
              <a:off x="1462536" y="6693194"/>
              <a:ext cx="2082522" cy="665630"/>
              <a:chOff x="0" y="0"/>
              <a:chExt cx="4031516" cy="2608424"/>
            </a:xfrm>
          </p:grpSpPr>
          <p:grpSp>
            <p:nvGrpSpPr>
              <p:cNvPr id="88" name="Group 48">
                <a:extLst>
                  <a:ext uri="{FF2B5EF4-FFF2-40B4-BE49-F238E27FC236}">
                    <a16:creationId xmlns:a16="http://schemas.microsoft.com/office/drawing/2014/main" id="{58782537-6C73-AEB7-C4FD-196F419F2364}"/>
                  </a:ext>
                </a:extLst>
              </p:cNvPr>
              <p:cNvGrpSpPr/>
              <p:nvPr/>
            </p:nvGrpSpPr>
            <p:grpSpPr>
              <a:xfrm rot="5400000">
                <a:off x="711546" y="-711546"/>
                <a:ext cx="2608424" cy="4031516"/>
                <a:chOff x="0" y="0"/>
                <a:chExt cx="515244" cy="796349"/>
              </a:xfrm>
            </p:grpSpPr>
            <p:sp>
              <p:nvSpPr>
                <p:cNvPr id="92" name="Freeform 49">
                  <a:extLst>
                    <a:ext uri="{FF2B5EF4-FFF2-40B4-BE49-F238E27FC236}">
                      <a16:creationId xmlns:a16="http://schemas.microsoft.com/office/drawing/2014/main" id="{8899915A-B725-5E51-7354-D46EE4014CB7}"/>
                    </a:ext>
                  </a:extLst>
                </p:cNvPr>
                <p:cNvSpPr/>
                <p:nvPr/>
              </p:nvSpPr>
              <p:spPr>
                <a:xfrm>
                  <a:off x="0" y="0"/>
                  <a:ext cx="515244" cy="796349"/>
                </a:xfrm>
                <a:custGeom>
                  <a:avLst/>
                  <a:gdLst/>
                  <a:ahLst/>
                  <a:cxnLst/>
                  <a:rect l="l" t="t" r="r" b="b"/>
                  <a:pathLst>
                    <a:path w="515244" h="796349">
                      <a:moveTo>
                        <a:pt x="19787" y="0"/>
                      </a:moveTo>
                      <a:lnTo>
                        <a:pt x="495457" y="0"/>
                      </a:lnTo>
                      <a:cubicBezTo>
                        <a:pt x="500705" y="0"/>
                        <a:pt x="505738" y="2085"/>
                        <a:pt x="509449" y="5795"/>
                      </a:cubicBezTo>
                      <a:cubicBezTo>
                        <a:pt x="513160" y="9506"/>
                        <a:pt x="515244" y="14539"/>
                        <a:pt x="515244" y="19787"/>
                      </a:cubicBezTo>
                      <a:lnTo>
                        <a:pt x="515244" y="776562"/>
                      </a:lnTo>
                      <a:cubicBezTo>
                        <a:pt x="515244" y="787490"/>
                        <a:pt x="506385" y="796349"/>
                        <a:pt x="495457" y="796349"/>
                      </a:cubicBezTo>
                      <a:lnTo>
                        <a:pt x="19787" y="796349"/>
                      </a:lnTo>
                      <a:cubicBezTo>
                        <a:pt x="14539" y="796349"/>
                        <a:pt x="9506" y="794264"/>
                        <a:pt x="5795" y="790553"/>
                      </a:cubicBezTo>
                      <a:cubicBezTo>
                        <a:pt x="2085" y="786843"/>
                        <a:pt x="0" y="781810"/>
                        <a:pt x="0" y="776562"/>
                      </a:cubicBezTo>
                      <a:lnTo>
                        <a:pt x="0" y="19787"/>
                      </a:lnTo>
                      <a:cubicBezTo>
                        <a:pt x="0" y="14539"/>
                        <a:pt x="2085" y="9506"/>
                        <a:pt x="5795" y="5795"/>
                      </a:cubicBezTo>
                      <a:cubicBezTo>
                        <a:pt x="9506" y="2085"/>
                        <a:pt x="14539" y="0"/>
                        <a:pt x="19787" y="0"/>
                      </a:cubicBezTo>
                      <a:close/>
                    </a:path>
                  </a:pathLst>
                </a:custGeom>
                <a:solidFill>
                  <a:srgbClr val="F4F1F1"/>
                </a:solidFill>
              </p:spPr>
              <p:txBody>
                <a:bodyPr/>
                <a:lstStyle/>
                <a:p>
                  <a:endParaRPr lang="es-ES_tradnl" sz="1000" dirty="0">
                    <a:latin typeface="Calibri" panose="020F0502020204030204" pitchFamily="34" charset="0"/>
                    <a:cs typeface="Calibri" panose="020F0502020204030204" pitchFamily="34" charset="0"/>
                  </a:endParaRPr>
                </a:p>
              </p:txBody>
            </p:sp>
            <p:sp>
              <p:nvSpPr>
                <p:cNvPr id="93" name="TextBox 50">
                  <a:extLst>
                    <a:ext uri="{FF2B5EF4-FFF2-40B4-BE49-F238E27FC236}">
                      <a16:creationId xmlns:a16="http://schemas.microsoft.com/office/drawing/2014/main" id="{EA5C1B8B-1546-DBC9-70C1-312C1DF632DE}"/>
                    </a:ext>
                  </a:extLst>
                </p:cNvPr>
                <p:cNvSpPr txBox="1"/>
                <p:nvPr/>
              </p:nvSpPr>
              <p:spPr>
                <a:xfrm>
                  <a:off x="0" y="-38100"/>
                  <a:ext cx="515244" cy="83444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nvGrpSpPr>
              <p:cNvPr id="89" name="Group 51">
                <a:extLst>
                  <a:ext uri="{FF2B5EF4-FFF2-40B4-BE49-F238E27FC236}">
                    <a16:creationId xmlns:a16="http://schemas.microsoft.com/office/drawing/2014/main" id="{E6A1FCE3-B106-B699-DEED-C88644A21AD5}"/>
                  </a:ext>
                </a:extLst>
              </p:cNvPr>
              <p:cNvGrpSpPr/>
              <p:nvPr/>
            </p:nvGrpSpPr>
            <p:grpSpPr>
              <a:xfrm rot="5400000">
                <a:off x="-1217849" y="1217849"/>
                <a:ext cx="2608424" cy="172726"/>
                <a:chOff x="0" y="0"/>
                <a:chExt cx="515244" cy="34119"/>
              </a:xfrm>
            </p:grpSpPr>
            <p:sp>
              <p:nvSpPr>
                <p:cNvPr id="90" name="Freeform 52">
                  <a:extLst>
                    <a:ext uri="{FF2B5EF4-FFF2-40B4-BE49-F238E27FC236}">
                      <a16:creationId xmlns:a16="http://schemas.microsoft.com/office/drawing/2014/main" id="{9B17CBDC-E4AD-E4CF-3D74-BE6554882323}"/>
                    </a:ext>
                  </a:extLst>
                </p:cNvPr>
                <p:cNvSpPr/>
                <p:nvPr/>
              </p:nvSpPr>
              <p:spPr>
                <a:xfrm>
                  <a:off x="0" y="0"/>
                  <a:ext cx="515244" cy="34119"/>
                </a:xfrm>
                <a:custGeom>
                  <a:avLst/>
                  <a:gdLst/>
                  <a:ahLst/>
                  <a:cxnLst/>
                  <a:rect l="l" t="t" r="r" b="b"/>
                  <a:pathLst>
                    <a:path w="515244" h="34119">
                      <a:moveTo>
                        <a:pt x="17059" y="0"/>
                      </a:moveTo>
                      <a:lnTo>
                        <a:pt x="498185" y="0"/>
                      </a:lnTo>
                      <a:cubicBezTo>
                        <a:pt x="502709" y="0"/>
                        <a:pt x="507048" y="1797"/>
                        <a:pt x="510248" y="4997"/>
                      </a:cubicBezTo>
                      <a:cubicBezTo>
                        <a:pt x="513447" y="8196"/>
                        <a:pt x="515244" y="12535"/>
                        <a:pt x="515244" y="17059"/>
                      </a:cubicBezTo>
                      <a:lnTo>
                        <a:pt x="515244" y="17059"/>
                      </a:lnTo>
                      <a:cubicBezTo>
                        <a:pt x="515244" y="21584"/>
                        <a:pt x="513447" y="25923"/>
                        <a:pt x="510248" y="29122"/>
                      </a:cubicBezTo>
                      <a:cubicBezTo>
                        <a:pt x="507048" y="32321"/>
                        <a:pt x="502709" y="34119"/>
                        <a:pt x="498185" y="34119"/>
                      </a:cubicBezTo>
                      <a:lnTo>
                        <a:pt x="17059" y="34119"/>
                      </a:lnTo>
                      <a:cubicBezTo>
                        <a:pt x="12535" y="34119"/>
                        <a:pt x="8196" y="32321"/>
                        <a:pt x="4997" y="29122"/>
                      </a:cubicBezTo>
                      <a:cubicBezTo>
                        <a:pt x="1797" y="25923"/>
                        <a:pt x="0" y="21584"/>
                        <a:pt x="0" y="17059"/>
                      </a:cubicBezTo>
                      <a:lnTo>
                        <a:pt x="0" y="17059"/>
                      </a:lnTo>
                      <a:cubicBezTo>
                        <a:pt x="0" y="12535"/>
                        <a:pt x="1797" y="8196"/>
                        <a:pt x="4997" y="4997"/>
                      </a:cubicBezTo>
                      <a:cubicBezTo>
                        <a:pt x="8196" y="1797"/>
                        <a:pt x="12535" y="0"/>
                        <a:pt x="17059" y="0"/>
                      </a:cubicBezTo>
                      <a:close/>
                    </a:path>
                  </a:pathLst>
                </a:custGeom>
                <a:solidFill>
                  <a:srgbClr val="4DA29F"/>
                </a:solidFill>
              </p:spPr>
              <p:txBody>
                <a:bodyPr/>
                <a:lstStyle/>
                <a:p>
                  <a:endParaRPr lang="es-ES_tradnl" sz="1000">
                    <a:latin typeface="Calibri" panose="020F0502020204030204" pitchFamily="34" charset="0"/>
                    <a:cs typeface="Calibri" panose="020F0502020204030204" pitchFamily="34" charset="0"/>
                  </a:endParaRPr>
                </a:p>
              </p:txBody>
            </p:sp>
            <p:sp>
              <p:nvSpPr>
                <p:cNvPr id="91" name="TextBox 53">
                  <a:extLst>
                    <a:ext uri="{FF2B5EF4-FFF2-40B4-BE49-F238E27FC236}">
                      <a16:creationId xmlns:a16="http://schemas.microsoft.com/office/drawing/2014/main" id="{E4ACACD5-61FD-6E6E-1CAF-26F1B3A560F0}"/>
                    </a:ext>
                  </a:extLst>
                </p:cNvPr>
                <p:cNvSpPr txBox="1"/>
                <p:nvPr/>
              </p:nvSpPr>
              <p:spPr>
                <a:xfrm>
                  <a:off x="0" y="-38100"/>
                  <a:ext cx="515244" cy="72219"/>
                </a:xfrm>
                <a:prstGeom prst="rect">
                  <a:avLst/>
                </a:prstGeom>
              </p:spPr>
              <p:txBody>
                <a:bodyPr lIns="45156" tIns="45156" rIns="45156" bIns="45156" rtlCol="0" anchor="ctr"/>
                <a:lstStyle/>
                <a:p>
                  <a:pPr algn="ctr">
                    <a:lnSpc>
                      <a:spcPts val="2364"/>
                    </a:lnSpc>
                    <a:spcBef>
                      <a:spcPct val="0"/>
                    </a:spcBef>
                  </a:pPr>
                  <a:endParaRPr sz="1000">
                    <a:latin typeface="Calibri" panose="020F0502020204030204" pitchFamily="34" charset="0"/>
                    <a:cs typeface="Calibri" panose="020F0502020204030204" pitchFamily="34" charset="0"/>
                  </a:endParaRPr>
                </a:p>
              </p:txBody>
            </p:sp>
          </p:grpSp>
        </p:grpSp>
        <p:sp>
          <p:nvSpPr>
            <p:cNvPr id="86" name="TextBox 82">
              <a:extLst>
                <a:ext uri="{FF2B5EF4-FFF2-40B4-BE49-F238E27FC236}">
                  <a16:creationId xmlns:a16="http://schemas.microsoft.com/office/drawing/2014/main" id="{88874217-E997-5CCC-C514-2696F6F787C9}"/>
                </a:ext>
              </a:extLst>
            </p:cNvPr>
            <p:cNvSpPr txBox="1"/>
            <p:nvPr/>
          </p:nvSpPr>
          <p:spPr>
            <a:xfrm>
              <a:off x="1712793" y="6702117"/>
              <a:ext cx="1736820" cy="283924"/>
            </a:xfrm>
            <a:prstGeom prst="rect">
              <a:avLst/>
            </a:prstGeom>
          </p:spPr>
          <p:txBody>
            <a:bodyPr lIns="0" tIns="0" rIns="0" bIns="0" rtlCol="0" anchor="t">
              <a:spAutoFit/>
            </a:bodyPr>
            <a:lstStyle/>
            <a:p>
              <a:pPr>
                <a:lnSpc>
                  <a:spcPts val="2560"/>
                </a:lnSpc>
              </a:pPr>
              <a:r>
                <a:rPr lang="en-US" sz="1000" b="1" dirty="0" err="1">
                  <a:solidFill>
                    <a:srgbClr val="1F3347"/>
                  </a:solidFill>
                  <a:latin typeface="Calibri" panose="020F0502020204030204" pitchFamily="34" charset="0"/>
                  <a:ea typeface="Arial Bold"/>
                  <a:cs typeface="Calibri" panose="020F0502020204030204" pitchFamily="34" charset="0"/>
                  <a:sym typeface="Arial Bold"/>
                </a:rPr>
                <a:t>Retorno</a:t>
              </a:r>
              <a:r>
                <a:rPr lang="en-US" sz="1000" b="1" dirty="0">
                  <a:solidFill>
                    <a:srgbClr val="1F3347"/>
                  </a:solidFill>
                  <a:latin typeface="Calibri" panose="020F0502020204030204" pitchFamily="34" charset="0"/>
                  <a:ea typeface="Arial Bold"/>
                  <a:cs typeface="Calibri" panose="020F0502020204030204" pitchFamily="34" charset="0"/>
                  <a:sym typeface="Arial Bold"/>
                </a:rPr>
                <a:t> </a:t>
              </a:r>
              <a:r>
                <a:rPr lang="en-US" sz="1000" b="1" dirty="0" err="1">
                  <a:solidFill>
                    <a:srgbClr val="1F3347"/>
                  </a:solidFill>
                  <a:latin typeface="Calibri" panose="020F0502020204030204" pitchFamily="34" charset="0"/>
                  <a:ea typeface="Arial Bold"/>
                  <a:cs typeface="Calibri" panose="020F0502020204030204" pitchFamily="34" charset="0"/>
                  <a:sym typeface="Arial Bold"/>
                </a:rPr>
                <a:t>por</a:t>
              </a:r>
              <a:r>
                <a:rPr lang="en-US" sz="1000" b="1" dirty="0">
                  <a:solidFill>
                    <a:srgbClr val="1F3347"/>
                  </a:solidFill>
                  <a:latin typeface="Calibri" panose="020F0502020204030204" pitchFamily="34" charset="0"/>
                  <a:ea typeface="Arial Bold"/>
                  <a:cs typeface="Calibri" panose="020F0502020204030204" pitchFamily="34" charset="0"/>
                  <a:sym typeface="Arial Bold"/>
                </a:rPr>
                <a:t> Capital: 1%</a:t>
              </a:r>
            </a:p>
          </p:txBody>
        </p:sp>
        <p:sp>
          <p:nvSpPr>
            <p:cNvPr id="87" name="TextBox 83">
              <a:extLst>
                <a:ext uri="{FF2B5EF4-FFF2-40B4-BE49-F238E27FC236}">
                  <a16:creationId xmlns:a16="http://schemas.microsoft.com/office/drawing/2014/main" id="{A213D25E-0909-6D29-11A2-770E27B12C71}"/>
                </a:ext>
              </a:extLst>
            </p:cNvPr>
            <p:cNvSpPr txBox="1"/>
            <p:nvPr/>
          </p:nvSpPr>
          <p:spPr>
            <a:xfrm>
              <a:off x="1712793" y="7091021"/>
              <a:ext cx="1736820" cy="178126"/>
            </a:xfrm>
            <a:prstGeom prst="rect">
              <a:avLst/>
            </a:prstGeom>
          </p:spPr>
          <p:txBody>
            <a:bodyPr lIns="0" tIns="0" rIns="0" bIns="0" rtlCol="0" anchor="t">
              <a:spAutoFit/>
            </a:bodyPr>
            <a:lstStyle/>
            <a:p>
              <a:pPr>
                <a:lnSpc>
                  <a:spcPts val="1493"/>
                </a:lnSpc>
              </a:pPr>
              <a:r>
                <a:rPr lang="en-US" sz="1000" b="1">
                  <a:solidFill>
                    <a:srgbClr val="1F3347"/>
                  </a:solidFill>
                  <a:latin typeface="Calibri" panose="020F0502020204030204" pitchFamily="34" charset="0"/>
                  <a:ea typeface="Arial Bold"/>
                  <a:cs typeface="Calibri" panose="020F0502020204030204" pitchFamily="34" charset="0"/>
                  <a:sym typeface="Arial Bold"/>
                </a:rPr>
                <a:t>ROE × Capital /EAD</a:t>
              </a:r>
            </a:p>
          </p:txBody>
        </p:sp>
      </p:grpSp>
    </p:spTree>
    <p:extLst>
      <p:ext uri="{BB962C8B-B14F-4D97-AF65-F5344CB8AC3E}">
        <p14:creationId xmlns:p14="http://schemas.microsoft.com/office/powerpoint/2010/main" val="3983517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3AAA1-233A-309C-3E4B-71B36B00D89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7B2CC8-0DBC-E4F3-37D4-F75C40204153}"/>
              </a:ext>
            </a:extLst>
          </p:cNvPr>
          <p:cNvSpPr/>
          <p:nvPr/>
        </p:nvSpPr>
        <p:spPr>
          <a:xfrm>
            <a:off x="16555511" y="1569891"/>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id="{C6CCFF7B-97B3-73AF-16BD-8FFB0C165923}"/>
              </a:ext>
            </a:extLst>
          </p:cNvPr>
          <p:cNvSpPr/>
          <p:nvPr/>
        </p:nvSpPr>
        <p:spPr>
          <a:xfrm>
            <a:off x="16565499" y="1372879"/>
            <a:ext cx="2680208" cy="235931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ES_tradnl" sz="2000" noProof="0" dirty="0"/>
              <a:t>Agregar la frecuencia de monitoreo </a:t>
            </a:r>
          </a:p>
          <a:p>
            <a:pPr algn="ctr"/>
            <a:r>
              <a:rPr lang="es-ES_tradnl" sz="2000" noProof="0" dirty="0"/>
              <a:t>Alinear las Leyendas para que no sean del mismo color</a:t>
            </a:r>
          </a:p>
        </p:txBody>
      </p:sp>
      <p:sp>
        <p:nvSpPr>
          <p:cNvPr id="109" name="Rectangle 108">
            <a:extLst>
              <a:ext uri="{FF2B5EF4-FFF2-40B4-BE49-F238E27FC236}">
                <a16:creationId xmlns:a16="http://schemas.microsoft.com/office/drawing/2014/main" id="{D5E4EB67-AE5F-914C-5869-39470828B817}"/>
              </a:ext>
            </a:extLst>
          </p:cNvPr>
          <p:cNvSpPr/>
          <p:nvPr/>
        </p:nvSpPr>
        <p:spPr>
          <a:xfrm>
            <a:off x="16587624" y="4051053"/>
            <a:ext cx="5126481" cy="352305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ES_tradnl" sz="2000" noProof="0" dirty="0"/>
              <a:t>Acá mencionar que este es un avance con </a:t>
            </a:r>
            <a:r>
              <a:rPr lang="es-ES_tradnl" sz="2000" noProof="0" dirty="0" err="1"/>
              <a:t>respect</a:t>
            </a:r>
            <a:r>
              <a:rPr lang="es-ES_tradnl" sz="2000" noProof="0" dirty="0"/>
              <a:t> a la tropicalización por lo que no Cuadra con el 70% que ya ha visto Ian antes</a:t>
            </a:r>
          </a:p>
          <a:p>
            <a:pPr algn="ctr"/>
            <a:endParaRPr lang="es-ES_tradnl" sz="2000" noProof="0" dirty="0"/>
          </a:p>
          <a:p>
            <a:pPr algn="ctr"/>
            <a:r>
              <a:rPr lang="es-ES_tradnl" sz="2000" noProof="0" dirty="0"/>
              <a:t>Modelos (</a:t>
            </a:r>
            <a:r>
              <a:rPr lang="es-ES_tradnl" sz="2000" noProof="0" dirty="0" err="1"/>
              <a:t>codigos</a:t>
            </a:r>
            <a:r>
              <a:rPr lang="es-ES_tradnl" sz="2000" noProof="0" dirty="0"/>
              <a:t>)</a:t>
            </a:r>
          </a:p>
          <a:p>
            <a:pPr algn="ctr"/>
            <a:r>
              <a:rPr lang="es-ES_tradnl" sz="2000" noProof="0" dirty="0"/>
              <a:t>Manual </a:t>
            </a:r>
            <a:r>
              <a:rPr lang="es-ES_tradnl" sz="2000" noProof="0" dirty="0" err="1"/>
              <a:t>metodologico</a:t>
            </a:r>
            <a:r>
              <a:rPr lang="es-ES_tradnl" sz="2000" noProof="0" dirty="0"/>
              <a:t> </a:t>
            </a:r>
          </a:p>
          <a:p>
            <a:pPr algn="ctr"/>
            <a:r>
              <a:rPr lang="es-ES_tradnl" sz="2000" noProof="0" dirty="0"/>
              <a:t>Manual de </a:t>
            </a:r>
            <a:r>
              <a:rPr lang="es-ES_tradnl" sz="2000" noProof="0" dirty="0" err="1"/>
              <a:t>implementacion</a:t>
            </a:r>
            <a:r>
              <a:rPr lang="es-ES_tradnl" sz="2000" noProof="0" dirty="0"/>
              <a:t> </a:t>
            </a:r>
          </a:p>
          <a:p>
            <a:pPr algn="ctr"/>
            <a:r>
              <a:rPr lang="es-ES_tradnl" sz="2000" noProof="0" dirty="0"/>
              <a:t>Capacitaciones </a:t>
            </a:r>
            <a:r>
              <a:rPr lang="es-ES_tradnl" sz="2000" noProof="0" dirty="0" err="1"/>
              <a:t>Checkpoint</a:t>
            </a:r>
            <a:r>
              <a:rPr lang="es-ES_tradnl" sz="2000" noProof="0" dirty="0"/>
              <a:t> de modelos. </a:t>
            </a:r>
          </a:p>
        </p:txBody>
      </p:sp>
      <p:sp>
        <p:nvSpPr>
          <p:cNvPr id="8" name="Rectangle 7">
            <a:extLst>
              <a:ext uri="{FF2B5EF4-FFF2-40B4-BE49-F238E27FC236}">
                <a16:creationId xmlns:a16="http://schemas.microsoft.com/office/drawing/2014/main" id="{28840B44-5147-CD2F-DBF9-937611579129}"/>
              </a:ext>
            </a:extLst>
          </p:cNvPr>
          <p:cNvSpPr/>
          <p:nvPr/>
        </p:nvSpPr>
        <p:spPr>
          <a:xfrm>
            <a:off x="0" y="1241823"/>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600" noProof="0" dirty="0">
              <a:latin typeface="Calibri" panose="020F0502020204030204" pitchFamily="34" charset="0"/>
              <a:cs typeface="Calibri" panose="020F0502020204030204" pitchFamily="34" charset="0"/>
            </a:endParaRPr>
          </a:p>
        </p:txBody>
      </p:sp>
      <p:graphicFrame>
        <p:nvGraphicFramePr>
          <p:cNvPr id="3" name="Google Shape;875;p20">
            <a:extLst>
              <a:ext uri="{FF2B5EF4-FFF2-40B4-BE49-F238E27FC236}">
                <a16:creationId xmlns:a16="http://schemas.microsoft.com/office/drawing/2014/main" id="{8D4A01D2-1C86-AE2E-9457-56D4CADAB403}"/>
              </a:ext>
            </a:extLst>
          </p:cNvPr>
          <p:cNvGraphicFramePr/>
          <p:nvPr/>
        </p:nvGraphicFramePr>
        <p:xfrm>
          <a:off x="864423" y="532922"/>
          <a:ext cx="14959797" cy="8374299"/>
        </p:xfrm>
        <a:graphic>
          <a:graphicData uri="http://schemas.openxmlformats.org/drawingml/2006/table">
            <a:tbl>
              <a:tblPr>
                <a:noFill/>
              </a:tblPr>
              <a:tblGrid>
                <a:gridCol w="879988">
                  <a:extLst>
                    <a:ext uri="{9D8B030D-6E8A-4147-A177-3AD203B41FA5}">
                      <a16:colId xmlns:a16="http://schemas.microsoft.com/office/drawing/2014/main" val="20000"/>
                    </a:ext>
                  </a:extLst>
                </a:gridCol>
                <a:gridCol w="879988">
                  <a:extLst>
                    <a:ext uri="{9D8B030D-6E8A-4147-A177-3AD203B41FA5}">
                      <a16:colId xmlns:a16="http://schemas.microsoft.com/office/drawing/2014/main" val="20001"/>
                    </a:ext>
                  </a:extLst>
                </a:gridCol>
                <a:gridCol w="879988">
                  <a:extLst>
                    <a:ext uri="{9D8B030D-6E8A-4147-A177-3AD203B41FA5}">
                      <a16:colId xmlns:a16="http://schemas.microsoft.com/office/drawing/2014/main" val="20002"/>
                    </a:ext>
                  </a:extLst>
                </a:gridCol>
                <a:gridCol w="879988">
                  <a:extLst>
                    <a:ext uri="{9D8B030D-6E8A-4147-A177-3AD203B41FA5}">
                      <a16:colId xmlns:a16="http://schemas.microsoft.com/office/drawing/2014/main" val="20003"/>
                    </a:ext>
                  </a:extLst>
                </a:gridCol>
                <a:gridCol w="879988">
                  <a:extLst>
                    <a:ext uri="{9D8B030D-6E8A-4147-A177-3AD203B41FA5}">
                      <a16:colId xmlns:a16="http://schemas.microsoft.com/office/drawing/2014/main" val="20004"/>
                    </a:ext>
                  </a:extLst>
                </a:gridCol>
                <a:gridCol w="879988">
                  <a:extLst>
                    <a:ext uri="{9D8B030D-6E8A-4147-A177-3AD203B41FA5}">
                      <a16:colId xmlns:a16="http://schemas.microsoft.com/office/drawing/2014/main" val="20005"/>
                    </a:ext>
                  </a:extLst>
                </a:gridCol>
                <a:gridCol w="879988">
                  <a:extLst>
                    <a:ext uri="{9D8B030D-6E8A-4147-A177-3AD203B41FA5}">
                      <a16:colId xmlns:a16="http://schemas.microsoft.com/office/drawing/2014/main" val="20006"/>
                    </a:ext>
                  </a:extLst>
                </a:gridCol>
                <a:gridCol w="879988">
                  <a:extLst>
                    <a:ext uri="{9D8B030D-6E8A-4147-A177-3AD203B41FA5}">
                      <a16:colId xmlns:a16="http://schemas.microsoft.com/office/drawing/2014/main" val="20007"/>
                    </a:ext>
                  </a:extLst>
                </a:gridCol>
                <a:gridCol w="879988">
                  <a:extLst>
                    <a:ext uri="{9D8B030D-6E8A-4147-A177-3AD203B41FA5}">
                      <a16:colId xmlns:a16="http://schemas.microsoft.com/office/drawing/2014/main" val="20008"/>
                    </a:ext>
                  </a:extLst>
                </a:gridCol>
                <a:gridCol w="879988">
                  <a:extLst>
                    <a:ext uri="{9D8B030D-6E8A-4147-A177-3AD203B41FA5}">
                      <a16:colId xmlns:a16="http://schemas.microsoft.com/office/drawing/2014/main" val="20009"/>
                    </a:ext>
                  </a:extLst>
                </a:gridCol>
                <a:gridCol w="879988">
                  <a:extLst>
                    <a:ext uri="{9D8B030D-6E8A-4147-A177-3AD203B41FA5}">
                      <a16:colId xmlns:a16="http://schemas.microsoft.com/office/drawing/2014/main" val="20010"/>
                    </a:ext>
                  </a:extLst>
                </a:gridCol>
                <a:gridCol w="879988">
                  <a:extLst>
                    <a:ext uri="{9D8B030D-6E8A-4147-A177-3AD203B41FA5}">
                      <a16:colId xmlns:a16="http://schemas.microsoft.com/office/drawing/2014/main" val="20011"/>
                    </a:ext>
                  </a:extLst>
                </a:gridCol>
                <a:gridCol w="879988">
                  <a:extLst>
                    <a:ext uri="{9D8B030D-6E8A-4147-A177-3AD203B41FA5}">
                      <a16:colId xmlns:a16="http://schemas.microsoft.com/office/drawing/2014/main" val="20012"/>
                    </a:ext>
                  </a:extLst>
                </a:gridCol>
                <a:gridCol w="879988">
                  <a:extLst>
                    <a:ext uri="{9D8B030D-6E8A-4147-A177-3AD203B41FA5}">
                      <a16:colId xmlns:a16="http://schemas.microsoft.com/office/drawing/2014/main" val="20013"/>
                    </a:ext>
                  </a:extLst>
                </a:gridCol>
                <a:gridCol w="838420">
                  <a:extLst>
                    <a:ext uri="{9D8B030D-6E8A-4147-A177-3AD203B41FA5}">
                      <a16:colId xmlns:a16="http://schemas.microsoft.com/office/drawing/2014/main" val="20014"/>
                    </a:ext>
                  </a:extLst>
                </a:gridCol>
                <a:gridCol w="931204">
                  <a:extLst>
                    <a:ext uri="{9D8B030D-6E8A-4147-A177-3AD203B41FA5}">
                      <a16:colId xmlns:a16="http://schemas.microsoft.com/office/drawing/2014/main" val="20015"/>
                    </a:ext>
                  </a:extLst>
                </a:gridCol>
                <a:gridCol w="870341">
                  <a:extLst>
                    <a:ext uri="{9D8B030D-6E8A-4147-A177-3AD203B41FA5}">
                      <a16:colId xmlns:a16="http://schemas.microsoft.com/office/drawing/2014/main" val="20016"/>
                    </a:ext>
                  </a:extLst>
                </a:gridCol>
              </a:tblGrid>
              <a:tr h="32006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1-2</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3-4</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5-6</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7-8</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9-10</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11-12</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13-14</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rPr>
                        <a:t>15-16</a:t>
                      </a:r>
                      <a:endParaRPr sz="1400" u="none" strike="noStrike" cap="none" dirty="0"/>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rPr>
                        <a:t>17-18</a:t>
                      </a:r>
                      <a:endParaRPr sz="1400" u="none" strike="noStrike" cap="none" dirty="0"/>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rPr>
                        <a:t>19-20</a:t>
                      </a:r>
                      <a:endParaRPr sz="1400" u="none" strike="noStrike" cap="none" dirty="0"/>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chemeClr val="dk1"/>
                          </a:solidFill>
                        </a:rPr>
                        <a:t>21-22</a:t>
                      </a:r>
                      <a:endParaRPr sz="1400" u="none" strike="noStrike" cap="none" dirty="0"/>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rgbClr val="E1F3EE"/>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23-24</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25-26</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27-28</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29-30</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31-32</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33-34</a:t>
                      </a:r>
                      <a:endParaRPr sz="1400" u="none" strike="noStrike" cap="none"/>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8054233">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rgbClr val="E1F3EE"/>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solidFill>
                          <a:schemeClr val="dk1"/>
                        </a:solidFill>
                      </a:endParaRPr>
                    </a:p>
                  </a:txBody>
                  <a:tcPr marL="91467" marR="91467" marT="45733" marB="45733">
                    <a:lnL w="9525" cap="flat" cmpd="sng">
                      <a:solidFill>
                        <a:srgbClr val="C0E3DB"/>
                      </a:solidFill>
                      <a:prstDash val="solid"/>
                      <a:round/>
                      <a:headEnd type="none" w="sm" len="sm"/>
                      <a:tailEnd type="none" w="sm" len="sm"/>
                    </a:lnL>
                    <a:lnR w="9525" cap="flat" cmpd="sng">
                      <a:solidFill>
                        <a:srgbClr val="C0E3DB"/>
                      </a:solidFill>
                      <a:prstDash val="solid"/>
                      <a:round/>
                      <a:headEnd type="none" w="sm" len="sm"/>
                      <a:tailEnd type="none" w="sm" len="sm"/>
                    </a:lnR>
                    <a:lnT w="9525" cap="flat" cmpd="sng">
                      <a:solidFill>
                        <a:srgbClr val="C0E3DB"/>
                      </a:solidFill>
                      <a:prstDash val="solid"/>
                      <a:round/>
                      <a:headEnd type="none" w="sm" len="sm"/>
                      <a:tailEnd type="none" w="sm" len="sm"/>
                    </a:lnT>
                    <a:lnB w="9525" cap="flat" cmpd="sng">
                      <a:solidFill>
                        <a:srgbClr val="C0E3DB"/>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4" name="Google Shape;876;p20">
            <a:extLst>
              <a:ext uri="{FF2B5EF4-FFF2-40B4-BE49-F238E27FC236}">
                <a16:creationId xmlns:a16="http://schemas.microsoft.com/office/drawing/2014/main" id="{D2717F43-2200-3F50-AF79-6E7B71E206D2}"/>
              </a:ext>
            </a:extLst>
          </p:cNvPr>
          <p:cNvSpPr/>
          <p:nvPr/>
        </p:nvSpPr>
        <p:spPr>
          <a:xfrm>
            <a:off x="303088" y="847833"/>
            <a:ext cx="311125" cy="5170503"/>
          </a:xfrm>
          <a:custGeom>
            <a:avLst/>
            <a:gdLst/>
            <a:ahLst/>
            <a:cxnLst/>
            <a:rect l="l" t="t" r="r" b="b"/>
            <a:pathLst>
              <a:path w="753981" h="784939" extrusionOk="0">
                <a:moveTo>
                  <a:pt x="24339" y="0"/>
                </a:moveTo>
                <a:lnTo>
                  <a:pt x="729642" y="0"/>
                </a:lnTo>
                <a:cubicBezTo>
                  <a:pt x="736097" y="0"/>
                  <a:pt x="742288" y="2564"/>
                  <a:pt x="746852" y="7129"/>
                </a:cubicBezTo>
                <a:cubicBezTo>
                  <a:pt x="751417" y="11693"/>
                  <a:pt x="753981" y="17884"/>
                  <a:pt x="753981" y="24339"/>
                </a:cubicBezTo>
                <a:lnTo>
                  <a:pt x="753981" y="760600"/>
                </a:lnTo>
                <a:cubicBezTo>
                  <a:pt x="753981" y="767055"/>
                  <a:pt x="751417" y="773246"/>
                  <a:pt x="746852" y="777810"/>
                </a:cubicBezTo>
                <a:cubicBezTo>
                  <a:pt x="742288" y="782375"/>
                  <a:pt x="736097" y="784939"/>
                  <a:pt x="729642" y="784939"/>
                </a:cubicBezTo>
                <a:lnTo>
                  <a:pt x="24339" y="784939"/>
                </a:lnTo>
                <a:cubicBezTo>
                  <a:pt x="10897" y="784939"/>
                  <a:pt x="0" y="774042"/>
                  <a:pt x="0" y="760600"/>
                </a:cubicBezTo>
                <a:lnTo>
                  <a:pt x="0" y="24339"/>
                </a:lnTo>
                <a:cubicBezTo>
                  <a:pt x="0" y="10897"/>
                  <a:pt x="10897" y="0"/>
                  <a:pt x="24339" y="0"/>
                </a:cubicBezTo>
                <a:close/>
              </a:path>
            </a:pathLst>
          </a:custGeom>
          <a:solidFill>
            <a:srgbClr val="4DA29F"/>
          </a:solidFill>
          <a:ln>
            <a:noFill/>
          </a:ln>
        </p:spPr>
        <p:txBody>
          <a:bodyPr spcFirstLastPara="1" wrap="square" lIns="91401" tIns="91401" rIns="91401" bIns="91401" anchor="ctr" anchorCtr="0">
            <a:noAutofit/>
          </a:bodyPr>
          <a:lstStyle/>
          <a:p>
            <a:endParaRPr sz="1001"/>
          </a:p>
        </p:txBody>
      </p:sp>
      <p:sp>
        <p:nvSpPr>
          <p:cNvPr id="5" name="Google Shape;877;p20">
            <a:extLst>
              <a:ext uri="{FF2B5EF4-FFF2-40B4-BE49-F238E27FC236}">
                <a16:creationId xmlns:a16="http://schemas.microsoft.com/office/drawing/2014/main" id="{5BE9EF3F-7137-354F-55D8-FFB6E1D2D730}"/>
              </a:ext>
            </a:extLst>
          </p:cNvPr>
          <p:cNvSpPr txBox="1"/>
          <p:nvPr/>
        </p:nvSpPr>
        <p:spPr>
          <a:xfrm rot="-5400000">
            <a:off x="-1868640" y="3024271"/>
            <a:ext cx="4674300" cy="330839"/>
          </a:xfrm>
          <a:prstGeom prst="rect">
            <a:avLst/>
          </a:prstGeom>
          <a:noFill/>
          <a:ln>
            <a:noFill/>
          </a:ln>
        </p:spPr>
        <p:txBody>
          <a:bodyPr spcFirstLastPara="1" wrap="square" lIns="91401" tIns="45700" rIns="91401" bIns="45700" anchor="t" anchorCtr="0">
            <a:noAutofit/>
          </a:bodyPr>
          <a:lstStyle/>
          <a:p>
            <a:endParaRPr sz="1001"/>
          </a:p>
        </p:txBody>
      </p:sp>
      <p:sp>
        <p:nvSpPr>
          <p:cNvPr id="6" name="Google Shape;878;p20">
            <a:extLst>
              <a:ext uri="{FF2B5EF4-FFF2-40B4-BE49-F238E27FC236}">
                <a16:creationId xmlns:a16="http://schemas.microsoft.com/office/drawing/2014/main" id="{C21FCFA5-3851-6C60-BCE5-BD409FCEB1C4}"/>
              </a:ext>
            </a:extLst>
          </p:cNvPr>
          <p:cNvSpPr txBox="1"/>
          <p:nvPr/>
        </p:nvSpPr>
        <p:spPr>
          <a:xfrm rot="-5400000">
            <a:off x="-2078032" y="3086072"/>
            <a:ext cx="5073131" cy="224308"/>
          </a:xfrm>
          <a:prstGeom prst="rect">
            <a:avLst/>
          </a:prstGeom>
          <a:noFill/>
          <a:ln>
            <a:noFill/>
          </a:ln>
        </p:spPr>
        <p:txBody>
          <a:bodyPr spcFirstLastPara="1" wrap="square" lIns="45132" tIns="45132" rIns="45132" bIns="45132" anchor="ctr" anchorCtr="0">
            <a:noAutofit/>
          </a:bodyPr>
          <a:lstStyle/>
          <a:p>
            <a:pPr algn="ctr">
              <a:lnSpc>
                <a:spcPct val="140130"/>
              </a:lnSpc>
            </a:pPr>
            <a:r>
              <a:rPr lang="en-US" sz="1001" b="1">
                <a:solidFill>
                  <a:srgbClr val="FFFFFF"/>
                </a:solidFill>
                <a:latin typeface="Open Sans"/>
                <a:ea typeface="Open Sans"/>
                <a:cs typeface="Open Sans"/>
                <a:sym typeface="Open Sans"/>
              </a:rPr>
              <a:t>Smart Pricing </a:t>
            </a:r>
            <a:r>
              <a:rPr lang="en-US" sz="1001"/>
              <a:t> </a:t>
            </a:r>
            <a:r>
              <a:rPr lang="en-US" sz="1001" b="1">
                <a:solidFill>
                  <a:srgbClr val="FFFFFF"/>
                </a:solidFill>
                <a:latin typeface="Open Sans"/>
                <a:ea typeface="Open Sans"/>
                <a:cs typeface="Open Sans"/>
                <a:sym typeface="Open Sans"/>
              </a:rPr>
              <a:t>360 Light</a:t>
            </a:r>
            <a:endParaRPr sz="1001"/>
          </a:p>
        </p:txBody>
      </p:sp>
      <p:sp>
        <p:nvSpPr>
          <p:cNvPr id="7" name="Google Shape;879;p20">
            <a:extLst>
              <a:ext uri="{FF2B5EF4-FFF2-40B4-BE49-F238E27FC236}">
                <a16:creationId xmlns:a16="http://schemas.microsoft.com/office/drawing/2014/main" id="{978D3DA5-D1D0-ACF0-9799-E36AA7293A3E}"/>
              </a:ext>
            </a:extLst>
          </p:cNvPr>
          <p:cNvSpPr/>
          <p:nvPr/>
        </p:nvSpPr>
        <p:spPr>
          <a:xfrm>
            <a:off x="303895" y="6040329"/>
            <a:ext cx="566923" cy="1545145"/>
          </a:xfrm>
          <a:custGeom>
            <a:avLst/>
            <a:gdLst/>
            <a:ahLst/>
            <a:cxnLst/>
            <a:rect l="l" t="t" r="r" b="b"/>
            <a:pathLst>
              <a:path w="753981" h="330174" extrusionOk="0">
                <a:moveTo>
                  <a:pt x="24339" y="0"/>
                </a:moveTo>
                <a:lnTo>
                  <a:pt x="729642" y="0"/>
                </a:lnTo>
                <a:cubicBezTo>
                  <a:pt x="736097" y="0"/>
                  <a:pt x="742288" y="2564"/>
                  <a:pt x="746852" y="7129"/>
                </a:cubicBezTo>
                <a:cubicBezTo>
                  <a:pt x="751417" y="11693"/>
                  <a:pt x="753981" y="17884"/>
                  <a:pt x="753981" y="24339"/>
                </a:cubicBezTo>
                <a:lnTo>
                  <a:pt x="753981" y="305835"/>
                </a:lnTo>
                <a:cubicBezTo>
                  <a:pt x="753981" y="312290"/>
                  <a:pt x="751417" y="318481"/>
                  <a:pt x="746852" y="323045"/>
                </a:cubicBezTo>
                <a:cubicBezTo>
                  <a:pt x="742288" y="327610"/>
                  <a:pt x="736097" y="330174"/>
                  <a:pt x="729642" y="330174"/>
                </a:cubicBezTo>
                <a:lnTo>
                  <a:pt x="24339" y="330174"/>
                </a:lnTo>
                <a:cubicBezTo>
                  <a:pt x="10897" y="330174"/>
                  <a:pt x="0" y="319277"/>
                  <a:pt x="0" y="305835"/>
                </a:cubicBezTo>
                <a:lnTo>
                  <a:pt x="0" y="24339"/>
                </a:lnTo>
                <a:cubicBezTo>
                  <a:pt x="0" y="10897"/>
                  <a:pt x="10897" y="0"/>
                  <a:pt x="24339" y="0"/>
                </a:cubicBezTo>
                <a:close/>
              </a:path>
            </a:pathLst>
          </a:custGeom>
          <a:solidFill>
            <a:srgbClr val="1B49AD"/>
          </a:solidFill>
          <a:ln>
            <a:noFill/>
          </a:ln>
        </p:spPr>
        <p:txBody>
          <a:bodyPr spcFirstLastPara="1" wrap="square" lIns="91300" tIns="91300" rIns="91300" bIns="91300" anchor="ctr" anchorCtr="0">
            <a:noAutofit/>
          </a:bodyPr>
          <a:lstStyle/>
          <a:p>
            <a:endParaRPr sz="999"/>
          </a:p>
        </p:txBody>
      </p:sp>
      <p:sp>
        <p:nvSpPr>
          <p:cNvPr id="9" name="Google Shape;880;p20">
            <a:extLst>
              <a:ext uri="{FF2B5EF4-FFF2-40B4-BE49-F238E27FC236}">
                <a16:creationId xmlns:a16="http://schemas.microsoft.com/office/drawing/2014/main" id="{38121C97-A6B1-0660-E792-BC30A87FF8CA}"/>
              </a:ext>
            </a:extLst>
          </p:cNvPr>
          <p:cNvSpPr txBox="1"/>
          <p:nvPr/>
        </p:nvSpPr>
        <p:spPr>
          <a:xfrm rot="-5400000">
            <a:off x="-62164" y="6603086"/>
            <a:ext cx="1299049" cy="468114"/>
          </a:xfrm>
          <a:prstGeom prst="rect">
            <a:avLst/>
          </a:prstGeom>
          <a:noFill/>
          <a:ln>
            <a:noFill/>
          </a:ln>
        </p:spPr>
        <p:txBody>
          <a:bodyPr spcFirstLastPara="1" wrap="square" lIns="45067" tIns="45067" rIns="45067" bIns="45067" anchor="ctr" anchorCtr="0">
            <a:noAutofit/>
          </a:bodyPr>
          <a:lstStyle/>
          <a:p>
            <a:pPr algn="ctr">
              <a:lnSpc>
                <a:spcPct val="140130"/>
              </a:lnSpc>
            </a:pPr>
            <a:r>
              <a:rPr lang="en-US" sz="999" b="1">
                <a:solidFill>
                  <a:srgbClr val="FFFFFF"/>
                </a:solidFill>
                <a:latin typeface="Open Sans"/>
                <a:ea typeface="Open Sans"/>
                <a:cs typeface="Open Sans"/>
                <a:sym typeface="Open Sans"/>
              </a:rPr>
              <a:t>Excepciones</a:t>
            </a:r>
            <a:endParaRPr sz="999" b="1">
              <a:solidFill>
                <a:srgbClr val="FFFFFF"/>
              </a:solidFill>
              <a:latin typeface="Open Sans"/>
              <a:ea typeface="Open Sans"/>
              <a:cs typeface="Open Sans"/>
              <a:sym typeface="Open Sans"/>
            </a:endParaRPr>
          </a:p>
        </p:txBody>
      </p:sp>
      <p:sp>
        <p:nvSpPr>
          <p:cNvPr id="11" name="Google Shape;881;p20">
            <a:extLst>
              <a:ext uri="{FF2B5EF4-FFF2-40B4-BE49-F238E27FC236}">
                <a16:creationId xmlns:a16="http://schemas.microsoft.com/office/drawing/2014/main" id="{3EF1FF39-CD78-A7AD-578A-22815B145084}"/>
              </a:ext>
            </a:extLst>
          </p:cNvPr>
          <p:cNvSpPr/>
          <p:nvPr/>
        </p:nvSpPr>
        <p:spPr>
          <a:xfrm>
            <a:off x="303095" y="7662635"/>
            <a:ext cx="567371" cy="1263740"/>
          </a:xfrm>
          <a:custGeom>
            <a:avLst/>
            <a:gdLst/>
            <a:ahLst/>
            <a:cxnLst/>
            <a:rect l="l" t="t" r="r" b="b"/>
            <a:pathLst>
              <a:path w="753981" h="330174" extrusionOk="0">
                <a:moveTo>
                  <a:pt x="24339" y="0"/>
                </a:moveTo>
                <a:lnTo>
                  <a:pt x="729642" y="0"/>
                </a:lnTo>
                <a:cubicBezTo>
                  <a:pt x="736097" y="0"/>
                  <a:pt x="742288" y="2564"/>
                  <a:pt x="746852" y="7129"/>
                </a:cubicBezTo>
                <a:cubicBezTo>
                  <a:pt x="751417" y="11693"/>
                  <a:pt x="753981" y="17884"/>
                  <a:pt x="753981" y="24339"/>
                </a:cubicBezTo>
                <a:lnTo>
                  <a:pt x="753981" y="305835"/>
                </a:lnTo>
                <a:cubicBezTo>
                  <a:pt x="753981" y="312290"/>
                  <a:pt x="751417" y="318481"/>
                  <a:pt x="746852" y="323045"/>
                </a:cubicBezTo>
                <a:cubicBezTo>
                  <a:pt x="742288" y="327610"/>
                  <a:pt x="736097" y="330174"/>
                  <a:pt x="729642" y="330174"/>
                </a:cubicBezTo>
                <a:lnTo>
                  <a:pt x="24339" y="330174"/>
                </a:lnTo>
                <a:cubicBezTo>
                  <a:pt x="10897" y="330174"/>
                  <a:pt x="0" y="319277"/>
                  <a:pt x="0" y="305835"/>
                </a:cubicBezTo>
                <a:lnTo>
                  <a:pt x="0" y="24339"/>
                </a:lnTo>
                <a:cubicBezTo>
                  <a:pt x="0" y="10897"/>
                  <a:pt x="10897" y="0"/>
                  <a:pt x="24339" y="0"/>
                </a:cubicBezTo>
                <a:close/>
              </a:path>
            </a:pathLst>
          </a:custGeom>
          <a:solidFill>
            <a:srgbClr val="545454"/>
          </a:solidFill>
          <a:ln>
            <a:noFill/>
          </a:ln>
        </p:spPr>
        <p:txBody>
          <a:bodyPr spcFirstLastPara="1" wrap="square" lIns="91401" tIns="91401" rIns="91401" bIns="91401" anchor="ctr" anchorCtr="0">
            <a:noAutofit/>
          </a:bodyPr>
          <a:lstStyle/>
          <a:p>
            <a:endParaRPr sz="1001"/>
          </a:p>
        </p:txBody>
      </p:sp>
      <p:sp>
        <p:nvSpPr>
          <p:cNvPr id="13" name="Google Shape;882;p20">
            <a:extLst>
              <a:ext uri="{FF2B5EF4-FFF2-40B4-BE49-F238E27FC236}">
                <a16:creationId xmlns:a16="http://schemas.microsoft.com/office/drawing/2014/main" id="{AF0FC17A-6BF0-522C-B660-2F5ABDB7C404}"/>
              </a:ext>
            </a:extLst>
          </p:cNvPr>
          <p:cNvSpPr txBox="1"/>
          <p:nvPr/>
        </p:nvSpPr>
        <p:spPr>
          <a:xfrm rot="-5400000">
            <a:off x="-93157" y="7976484"/>
            <a:ext cx="1359900" cy="495900"/>
          </a:xfrm>
          <a:prstGeom prst="rect">
            <a:avLst/>
          </a:prstGeom>
          <a:noFill/>
          <a:ln>
            <a:noFill/>
          </a:ln>
        </p:spPr>
        <p:txBody>
          <a:bodyPr spcFirstLastPara="1" wrap="square" lIns="45132" tIns="45132" rIns="45132" bIns="45132" anchor="ctr" anchorCtr="0">
            <a:noAutofit/>
          </a:bodyPr>
          <a:lstStyle/>
          <a:p>
            <a:pPr algn="ctr">
              <a:lnSpc>
                <a:spcPct val="140130"/>
              </a:lnSpc>
            </a:pPr>
            <a:r>
              <a:rPr lang="en-US" sz="1001" b="1">
                <a:solidFill>
                  <a:srgbClr val="FFFFFF"/>
                </a:solidFill>
                <a:latin typeface="Open Sans"/>
                <a:ea typeface="Open Sans"/>
                <a:cs typeface="Open Sans"/>
                <a:sym typeface="Open Sans"/>
              </a:rPr>
              <a:t>Monitoreo</a:t>
            </a:r>
            <a:endParaRPr sz="1001" b="1">
              <a:solidFill>
                <a:srgbClr val="FFFFFF"/>
              </a:solidFill>
              <a:latin typeface="Open Sans"/>
              <a:ea typeface="Open Sans"/>
              <a:cs typeface="Open Sans"/>
              <a:sym typeface="Open Sans"/>
            </a:endParaRPr>
          </a:p>
        </p:txBody>
      </p:sp>
      <p:grpSp>
        <p:nvGrpSpPr>
          <p:cNvPr id="14" name="Google Shape;883;p20">
            <a:extLst>
              <a:ext uri="{FF2B5EF4-FFF2-40B4-BE49-F238E27FC236}">
                <a16:creationId xmlns:a16="http://schemas.microsoft.com/office/drawing/2014/main" id="{A3F0E64E-F9F9-0886-22F4-8CED741CCB7B}"/>
              </a:ext>
            </a:extLst>
          </p:cNvPr>
          <p:cNvGrpSpPr/>
          <p:nvPr/>
        </p:nvGrpSpPr>
        <p:grpSpPr>
          <a:xfrm>
            <a:off x="633320" y="856733"/>
            <a:ext cx="243945" cy="2256764"/>
            <a:chOff x="0" y="0"/>
            <a:chExt cx="556062" cy="1111269"/>
          </a:xfrm>
        </p:grpSpPr>
        <p:sp>
          <p:nvSpPr>
            <p:cNvPr id="15" name="Google Shape;884;p20">
              <a:extLst>
                <a:ext uri="{FF2B5EF4-FFF2-40B4-BE49-F238E27FC236}">
                  <a16:creationId xmlns:a16="http://schemas.microsoft.com/office/drawing/2014/main" id="{F3D31BF5-505A-A894-30DA-604999C13127}"/>
                </a:ext>
              </a:extLst>
            </p:cNvPr>
            <p:cNvSpPr/>
            <p:nvPr/>
          </p:nvSpPr>
          <p:spPr>
            <a:xfrm>
              <a:off x="0" y="0"/>
              <a:ext cx="556062" cy="1111269"/>
            </a:xfrm>
            <a:custGeom>
              <a:avLst/>
              <a:gdLst/>
              <a:ahLst/>
              <a:cxnLst/>
              <a:rect l="l" t="t" r="r" b="b"/>
              <a:pathLst>
                <a:path w="753981" h="784939" extrusionOk="0">
                  <a:moveTo>
                    <a:pt x="24339" y="0"/>
                  </a:moveTo>
                  <a:lnTo>
                    <a:pt x="729642" y="0"/>
                  </a:lnTo>
                  <a:cubicBezTo>
                    <a:pt x="736097" y="0"/>
                    <a:pt x="742288" y="2564"/>
                    <a:pt x="746852" y="7129"/>
                  </a:cubicBezTo>
                  <a:cubicBezTo>
                    <a:pt x="751417" y="11693"/>
                    <a:pt x="753981" y="17884"/>
                    <a:pt x="753981" y="24339"/>
                  </a:cubicBezTo>
                  <a:lnTo>
                    <a:pt x="753981" y="760600"/>
                  </a:lnTo>
                  <a:cubicBezTo>
                    <a:pt x="753981" y="767055"/>
                    <a:pt x="751417" y="773246"/>
                    <a:pt x="746852" y="777810"/>
                  </a:cubicBezTo>
                  <a:cubicBezTo>
                    <a:pt x="742288" y="782375"/>
                    <a:pt x="736097" y="784939"/>
                    <a:pt x="729642" y="784939"/>
                  </a:cubicBezTo>
                  <a:lnTo>
                    <a:pt x="24339" y="784939"/>
                  </a:lnTo>
                  <a:cubicBezTo>
                    <a:pt x="10897" y="784939"/>
                    <a:pt x="0" y="774042"/>
                    <a:pt x="0" y="760600"/>
                  </a:cubicBezTo>
                  <a:lnTo>
                    <a:pt x="0" y="24339"/>
                  </a:lnTo>
                  <a:cubicBezTo>
                    <a:pt x="0" y="10897"/>
                    <a:pt x="10897" y="0"/>
                    <a:pt x="24339" y="0"/>
                  </a:cubicBezTo>
                  <a:close/>
                </a:path>
              </a:pathLst>
            </a:custGeom>
            <a:solidFill>
              <a:srgbClr val="4DA29F"/>
            </a:solidFill>
            <a:ln>
              <a:noFill/>
            </a:ln>
          </p:spPr>
          <p:txBody>
            <a:bodyPr spcFirstLastPara="1" wrap="square" lIns="91401" tIns="91401" rIns="91401" bIns="91401" anchor="ctr" anchorCtr="0">
              <a:noAutofit/>
            </a:bodyPr>
            <a:lstStyle/>
            <a:p>
              <a:endParaRPr sz="1001"/>
            </a:p>
          </p:txBody>
        </p:sp>
        <p:sp>
          <p:nvSpPr>
            <p:cNvPr id="16" name="Google Shape;885;p20">
              <a:extLst>
                <a:ext uri="{FF2B5EF4-FFF2-40B4-BE49-F238E27FC236}">
                  <a16:creationId xmlns:a16="http://schemas.microsoft.com/office/drawing/2014/main" id="{789E7190-A328-7C4E-F426-8A66FEFEEDE7}"/>
                </a:ext>
              </a:extLst>
            </p:cNvPr>
            <p:cNvSpPr txBox="1"/>
            <p:nvPr/>
          </p:nvSpPr>
          <p:spPr>
            <a:xfrm rot="-5400000">
              <a:off x="-155849" y="156588"/>
              <a:ext cx="784200" cy="472500"/>
            </a:xfrm>
            <a:prstGeom prst="rect">
              <a:avLst/>
            </a:prstGeom>
            <a:noFill/>
            <a:ln>
              <a:noFill/>
            </a:ln>
          </p:spPr>
          <p:txBody>
            <a:bodyPr spcFirstLastPara="1" wrap="square" lIns="91401" tIns="45700" rIns="91401" bIns="45700" anchor="t" anchorCtr="0">
              <a:noAutofit/>
            </a:bodyPr>
            <a:lstStyle/>
            <a:p>
              <a:endParaRPr sz="1001"/>
            </a:p>
          </p:txBody>
        </p:sp>
        <p:sp>
          <p:nvSpPr>
            <p:cNvPr id="17" name="Google Shape;886;p20">
              <a:extLst>
                <a:ext uri="{FF2B5EF4-FFF2-40B4-BE49-F238E27FC236}">
                  <a16:creationId xmlns:a16="http://schemas.microsoft.com/office/drawing/2014/main" id="{B51E2896-B68F-1DDB-44C4-596B14C9A64B}"/>
                </a:ext>
              </a:extLst>
            </p:cNvPr>
            <p:cNvSpPr txBox="1"/>
            <p:nvPr/>
          </p:nvSpPr>
          <p:spPr>
            <a:xfrm rot="-5400000">
              <a:off x="-147150" y="352140"/>
              <a:ext cx="822900" cy="528600"/>
            </a:xfrm>
            <a:prstGeom prst="rect">
              <a:avLst/>
            </a:prstGeom>
            <a:noFill/>
            <a:ln>
              <a:noFill/>
            </a:ln>
          </p:spPr>
          <p:txBody>
            <a:bodyPr spcFirstLastPara="1" wrap="square" lIns="45132" tIns="45132" rIns="45132" bIns="45132" anchor="ctr" anchorCtr="0">
              <a:noAutofit/>
            </a:bodyPr>
            <a:lstStyle/>
            <a:p>
              <a:pPr algn="ctr">
                <a:lnSpc>
                  <a:spcPct val="140130"/>
                </a:lnSpc>
              </a:pPr>
              <a:r>
                <a:rPr lang="en-US" sz="1001" b="1">
                  <a:solidFill>
                    <a:srgbClr val="FFFFFF"/>
                  </a:solidFill>
                  <a:latin typeface="Open Sans"/>
                  <a:ea typeface="Open Sans"/>
                  <a:cs typeface="Open Sans"/>
                  <a:sym typeface="Open Sans"/>
                </a:rPr>
                <a:t>Herramienta</a:t>
              </a:r>
              <a:endParaRPr sz="1001"/>
            </a:p>
          </p:txBody>
        </p:sp>
      </p:grpSp>
      <p:sp>
        <p:nvSpPr>
          <p:cNvPr id="18" name="Google Shape;887;p20">
            <a:extLst>
              <a:ext uri="{FF2B5EF4-FFF2-40B4-BE49-F238E27FC236}">
                <a16:creationId xmlns:a16="http://schemas.microsoft.com/office/drawing/2014/main" id="{F35B34B6-01D7-27F8-9B35-062DCAE1A221}"/>
              </a:ext>
            </a:extLst>
          </p:cNvPr>
          <p:cNvSpPr/>
          <p:nvPr/>
        </p:nvSpPr>
        <p:spPr>
          <a:xfrm>
            <a:off x="627297" y="3151860"/>
            <a:ext cx="243945" cy="2860436"/>
          </a:xfrm>
          <a:custGeom>
            <a:avLst/>
            <a:gdLst/>
            <a:ahLst/>
            <a:cxnLst/>
            <a:rect l="l" t="t" r="r" b="b"/>
            <a:pathLst>
              <a:path w="753981" h="784939" extrusionOk="0">
                <a:moveTo>
                  <a:pt x="24339" y="0"/>
                </a:moveTo>
                <a:lnTo>
                  <a:pt x="729642" y="0"/>
                </a:lnTo>
                <a:cubicBezTo>
                  <a:pt x="736097" y="0"/>
                  <a:pt x="742288" y="2564"/>
                  <a:pt x="746852" y="7129"/>
                </a:cubicBezTo>
                <a:cubicBezTo>
                  <a:pt x="751417" y="11693"/>
                  <a:pt x="753981" y="17884"/>
                  <a:pt x="753981" y="24339"/>
                </a:cubicBezTo>
                <a:lnTo>
                  <a:pt x="753981" y="760600"/>
                </a:lnTo>
                <a:cubicBezTo>
                  <a:pt x="753981" y="767055"/>
                  <a:pt x="751417" y="773246"/>
                  <a:pt x="746852" y="777810"/>
                </a:cubicBezTo>
                <a:cubicBezTo>
                  <a:pt x="742288" y="782375"/>
                  <a:pt x="736097" y="784939"/>
                  <a:pt x="729642" y="784939"/>
                </a:cubicBezTo>
                <a:lnTo>
                  <a:pt x="24339" y="784939"/>
                </a:lnTo>
                <a:cubicBezTo>
                  <a:pt x="10897" y="784939"/>
                  <a:pt x="0" y="774042"/>
                  <a:pt x="0" y="760600"/>
                </a:cubicBezTo>
                <a:lnTo>
                  <a:pt x="0" y="24339"/>
                </a:lnTo>
                <a:cubicBezTo>
                  <a:pt x="0" y="10897"/>
                  <a:pt x="10897" y="0"/>
                  <a:pt x="24339" y="0"/>
                </a:cubicBezTo>
                <a:close/>
              </a:path>
            </a:pathLst>
          </a:custGeom>
          <a:solidFill>
            <a:srgbClr val="4DA29F"/>
          </a:solidFill>
          <a:ln>
            <a:noFill/>
          </a:ln>
        </p:spPr>
        <p:txBody>
          <a:bodyPr spcFirstLastPara="1" wrap="square" lIns="91401" tIns="91401" rIns="91401" bIns="91401" anchor="ctr" anchorCtr="0">
            <a:noAutofit/>
          </a:bodyPr>
          <a:lstStyle/>
          <a:p>
            <a:endParaRPr sz="1001"/>
          </a:p>
        </p:txBody>
      </p:sp>
      <p:sp>
        <p:nvSpPr>
          <p:cNvPr id="19" name="Google Shape;888;p20">
            <a:extLst>
              <a:ext uri="{FF2B5EF4-FFF2-40B4-BE49-F238E27FC236}">
                <a16:creationId xmlns:a16="http://schemas.microsoft.com/office/drawing/2014/main" id="{8E18A345-2B4D-1B1A-5E10-048450922302}"/>
              </a:ext>
            </a:extLst>
          </p:cNvPr>
          <p:cNvSpPr txBox="1"/>
          <p:nvPr/>
        </p:nvSpPr>
        <p:spPr>
          <a:xfrm rot="-5400000">
            <a:off x="-284927" y="4507269"/>
            <a:ext cx="2048528" cy="231897"/>
          </a:xfrm>
          <a:prstGeom prst="rect">
            <a:avLst/>
          </a:prstGeom>
          <a:noFill/>
          <a:ln>
            <a:noFill/>
          </a:ln>
        </p:spPr>
        <p:txBody>
          <a:bodyPr spcFirstLastPara="1" wrap="square" lIns="45132" tIns="45132" rIns="45132" bIns="45132" anchor="ctr" anchorCtr="0">
            <a:noAutofit/>
          </a:bodyPr>
          <a:lstStyle/>
          <a:p>
            <a:pPr algn="ctr">
              <a:lnSpc>
                <a:spcPct val="140130"/>
              </a:lnSpc>
            </a:pPr>
            <a:r>
              <a:rPr lang="en-US" sz="1001" b="1">
                <a:solidFill>
                  <a:srgbClr val="FFFFFF"/>
                </a:solidFill>
                <a:latin typeface="Open Sans"/>
                <a:ea typeface="Open Sans"/>
                <a:cs typeface="Open Sans"/>
                <a:sym typeface="Open Sans"/>
              </a:rPr>
              <a:t>Estrategia y despliegue</a:t>
            </a:r>
            <a:endParaRPr sz="1001"/>
          </a:p>
        </p:txBody>
      </p:sp>
      <p:sp>
        <p:nvSpPr>
          <p:cNvPr id="20" name="Google Shape;898;p20">
            <a:extLst>
              <a:ext uri="{FF2B5EF4-FFF2-40B4-BE49-F238E27FC236}">
                <a16:creationId xmlns:a16="http://schemas.microsoft.com/office/drawing/2014/main" id="{E68EA387-22C3-6265-BFDA-E96D7F2CE9CE}"/>
              </a:ext>
            </a:extLst>
          </p:cNvPr>
          <p:cNvSpPr/>
          <p:nvPr/>
        </p:nvSpPr>
        <p:spPr>
          <a:xfrm>
            <a:off x="894636" y="893796"/>
            <a:ext cx="1562700" cy="360000"/>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dirty="0">
                <a:solidFill>
                  <a:schemeClr val="lt1"/>
                </a:solidFill>
              </a:rPr>
              <a:t>Costo de </a:t>
            </a:r>
            <a:r>
              <a:rPr lang="en-US" sz="1001" b="1" dirty="0" err="1">
                <a:solidFill>
                  <a:schemeClr val="lt1"/>
                </a:solidFill>
              </a:rPr>
              <a:t>Fondeo</a:t>
            </a:r>
            <a:r>
              <a:rPr lang="en-US" sz="1001" b="1" dirty="0">
                <a:solidFill>
                  <a:schemeClr val="lt1"/>
                </a:solidFill>
              </a:rPr>
              <a:t> (TT)</a:t>
            </a:r>
            <a:endParaRPr sz="1001" b="1" dirty="0">
              <a:solidFill>
                <a:schemeClr val="lt1"/>
              </a:solidFill>
            </a:endParaRPr>
          </a:p>
        </p:txBody>
      </p:sp>
      <p:sp>
        <p:nvSpPr>
          <p:cNvPr id="21" name="Google Shape;899;p20">
            <a:extLst>
              <a:ext uri="{FF2B5EF4-FFF2-40B4-BE49-F238E27FC236}">
                <a16:creationId xmlns:a16="http://schemas.microsoft.com/office/drawing/2014/main" id="{F5A465CA-AB82-75B3-4B15-87FB359A7D85}"/>
              </a:ext>
            </a:extLst>
          </p:cNvPr>
          <p:cNvSpPr/>
          <p:nvPr/>
        </p:nvSpPr>
        <p:spPr>
          <a:xfrm>
            <a:off x="2283736" y="885781"/>
            <a:ext cx="7965495" cy="390144"/>
          </a:xfrm>
          <a:prstGeom prst="chevron">
            <a:avLst>
              <a:gd name="adj" fmla="val 50000"/>
            </a:avLst>
          </a:prstGeom>
          <a:solidFill>
            <a:srgbClr val="2D9293"/>
          </a:solidFill>
          <a:ln>
            <a:noFill/>
          </a:ln>
        </p:spPr>
        <p:txBody>
          <a:bodyPr spcFirstLastPara="1" wrap="square" lIns="19033" tIns="0" rIns="19033" bIns="0" anchor="ctr" anchorCtr="0">
            <a:noAutofit/>
          </a:bodyPr>
          <a:lstStyle/>
          <a:p>
            <a:r>
              <a:rPr lang="en-US" sz="1001" b="1" dirty="0">
                <a:solidFill>
                  <a:schemeClr val="lt1"/>
                </a:solidFill>
              </a:rPr>
              <a:t>Gasto </a:t>
            </a:r>
            <a:r>
              <a:rPr lang="en-US" sz="1001" b="1" dirty="0" err="1">
                <a:solidFill>
                  <a:schemeClr val="lt1"/>
                </a:solidFill>
              </a:rPr>
              <a:t>Operativo</a:t>
            </a:r>
            <a:endParaRPr sz="1001" dirty="0"/>
          </a:p>
        </p:txBody>
      </p:sp>
      <p:sp>
        <p:nvSpPr>
          <p:cNvPr id="22" name="Google Shape;900;p20">
            <a:extLst>
              <a:ext uri="{FF2B5EF4-FFF2-40B4-BE49-F238E27FC236}">
                <a16:creationId xmlns:a16="http://schemas.microsoft.com/office/drawing/2014/main" id="{8A7A0A79-7CE8-4171-7D63-EACEF1C8DF41}"/>
              </a:ext>
            </a:extLst>
          </p:cNvPr>
          <p:cNvSpPr/>
          <p:nvPr/>
        </p:nvSpPr>
        <p:spPr>
          <a:xfrm>
            <a:off x="9717830" y="1339456"/>
            <a:ext cx="1599170"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800" b="1" dirty="0" err="1">
                <a:solidFill>
                  <a:schemeClr val="lt1"/>
                </a:solidFill>
              </a:rPr>
              <a:t>Modelamiento</a:t>
            </a:r>
            <a:r>
              <a:rPr lang="en-US" sz="800" b="1" dirty="0">
                <a:solidFill>
                  <a:schemeClr val="lt1"/>
                </a:solidFill>
              </a:rPr>
              <a:t> </a:t>
            </a:r>
            <a:r>
              <a:rPr lang="en-US" sz="800" b="1" dirty="0" err="1">
                <a:solidFill>
                  <a:schemeClr val="lt1"/>
                </a:solidFill>
              </a:rPr>
              <a:t>Prepago</a:t>
            </a:r>
            <a:r>
              <a:rPr lang="en-US" sz="800" b="1" dirty="0">
                <a:solidFill>
                  <a:schemeClr val="lt1"/>
                </a:solidFill>
              </a:rPr>
              <a:t> y </a:t>
            </a:r>
            <a:r>
              <a:rPr lang="en-US" sz="800" b="1" dirty="0" err="1">
                <a:solidFill>
                  <a:schemeClr val="lt1"/>
                </a:solidFill>
              </a:rPr>
              <a:t>Cancelaciones</a:t>
            </a:r>
            <a:endParaRPr sz="800" b="1" dirty="0">
              <a:solidFill>
                <a:schemeClr val="lt1"/>
              </a:solidFill>
            </a:endParaRPr>
          </a:p>
        </p:txBody>
      </p:sp>
      <p:sp>
        <p:nvSpPr>
          <p:cNvPr id="23" name="Google Shape;901;p20">
            <a:extLst>
              <a:ext uri="{FF2B5EF4-FFF2-40B4-BE49-F238E27FC236}">
                <a16:creationId xmlns:a16="http://schemas.microsoft.com/office/drawing/2014/main" id="{545DC102-43A4-D82A-6CBC-64CD53153AB2}"/>
              </a:ext>
            </a:extLst>
          </p:cNvPr>
          <p:cNvSpPr/>
          <p:nvPr/>
        </p:nvSpPr>
        <p:spPr>
          <a:xfrm>
            <a:off x="2302143" y="1325356"/>
            <a:ext cx="3697964" cy="360000"/>
          </a:xfrm>
          <a:prstGeom prst="homePlate">
            <a:avLst>
              <a:gd name="adj" fmla="val 50000"/>
            </a:avLst>
          </a:prstGeom>
          <a:solidFill>
            <a:srgbClr val="10B981"/>
          </a:solidFill>
          <a:ln>
            <a:noFill/>
          </a:ln>
        </p:spPr>
        <p:txBody>
          <a:bodyPr spcFirstLastPara="1" wrap="square" lIns="19033" tIns="0" rIns="19033" bIns="0" anchor="ctr" anchorCtr="0">
            <a:noAutofit/>
          </a:bodyPr>
          <a:lstStyle/>
          <a:p>
            <a:r>
              <a:rPr lang="en-US" sz="1001" b="1">
                <a:solidFill>
                  <a:schemeClr val="lt1"/>
                </a:solidFill>
              </a:rPr>
              <a:t>Codificación Herramienta de riesgo</a:t>
            </a:r>
            <a:endParaRPr sz="1001"/>
          </a:p>
        </p:txBody>
      </p:sp>
      <p:sp>
        <p:nvSpPr>
          <p:cNvPr id="24" name="Google Shape;902;p20">
            <a:extLst>
              <a:ext uri="{FF2B5EF4-FFF2-40B4-BE49-F238E27FC236}">
                <a16:creationId xmlns:a16="http://schemas.microsoft.com/office/drawing/2014/main" id="{89B6D703-CF4E-207D-4C0A-F322C8292C37}"/>
              </a:ext>
            </a:extLst>
          </p:cNvPr>
          <p:cNvSpPr/>
          <p:nvPr/>
        </p:nvSpPr>
        <p:spPr>
          <a:xfrm>
            <a:off x="2283736" y="1733420"/>
            <a:ext cx="2880741" cy="1296601"/>
          </a:xfrm>
          <a:prstGeom prst="roundRect">
            <a:avLst>
              <a:gd name="adj" fmla="val 5782"/>
            </a:avLst>
          </a:prstGeom>
          <a:solidFill>
            <a:srgbClr val="10B981"/>
          </a:solidFill>
          <a:ln>
            <a:noFill/>
          </a:ln>
        </p:spPr>
        <p:txBody>
          <a:bodyPr spcFirstLastPara="1" wrap="square" lIns="91401" tIns="45700" rIns="91401" bIns="45700" anchor="ctr" anchorCtr="0">
            <a:noAutofit/>
          </a:bodyPr>
          <a:lstStyle/>
          <a:p>
            <a:pPr algn="ctr"/>
            <a:r>
              <a:rPr lang="en-US" sz="1200" b="1">
                <a:solidFill>
                  <a:schemeClr val="lt1"/>
                </a:solidFill>
              </a:rPr>
              <a:t>Requerimiento de Data</a:t>
            </a:r>
            <a:endParaRPr sz="1200">
              <a:solidFill>
                <a:schemeClr val="lt1"/>
              </a:solidFill>
            </a:endParaRPr>
          </a:p>
        </p:txBody>
      </p:sp>
      <p:sp>
        <p:nvSpPr>
          <p:cNvPr id="25" name="Google Shape;903;p20">
            <a:extLst>
              <a:ext uri="{FF2B5EF4-FFF2-40B4-BE49-F238E27FC236}">
                <a16:creationId xmlns:a16="http://schemas.microsoft.com/office/drawing/2014/main" id="{6A989812-76BD-33F5-EF2C-26D816D0E639}"/>
              </a:ext>
            </a:extLst>
          </p:cNvPr>
          <p:cNvSpPr/>
          <p:nvPr/>
        </p:nvSpPr>
        <p:spPr>
          <a:xfrm>
            <a:off x="5188294" y="1733420"/>
            <a:ext cx="4438039" cy="1296601"/>
          </a:xfrm>
          <a:prstGeom prst="roundRect">
            <a:avLst>
              <a:gd name="adj" fmla="val 5782"/>
            </a:avLst>
          </a:prstGeom>
          <a:solidFill>
            <a:schemeClr val="bg2"/>
          </a:solidFill>
          <a:ln>
            <a:noFill/>
          </a:ln>
        </p:spPr>
        <p:txBody>
          <a:bodyPr spcFirstLastPara="1" wrap="square" lIns="91401" tIns="45700" rIns="91401" bIns="45700" anchor="ctr" anchorCtr="0">
            <a:noAutofit/>
          </a:bodyPr>
          <a:lstStyle/>
          <a:p>
            <a:pPr algn="ctr"/>
            <a:endParaRPr lang="en-US" sz="1200" b="1" dirty="0">
              <a:solidFill>
                <a:schemeClr val="lt1"/>
              </a:solidFill>
            </a:endParaRPr>
          </a:p>
          <a:p>
            <a:pPr algn="ctr"/>
            <a:r>
              <a:rPr lang="en-US" sz="1200" b="1" dirty="0" err="1">
                <a:solidFill>
                  <a:schemeClr val="lt1"/>
                </a:solidFill>
              </a:rPr>
              <a:t>Validación</a:t>
            </a:r>
            <a:r>
              <a:rPr lang="en-US" sz="1200" b="1" dirty="0">
                <a:solidFill>
                  <a:schemeClr val="lt1"/>
                </a:solidFill>
              </a:rPr>
              <a:t> y </a:t>
            </a:r>
            <a:endParaRPr sz="1867" dirty="0"/>
          </a:p>
          <a:p>
            <a:pPr algn="ctr"/>
            <a:r>
              <a:rPr lang="en-US" sz="1200" b="1" dirty="0" err="1">
                <a:solidFill>
                  <a:schemeClr val="lt1"/>
                </a:solidFill>
              </a:rPr>
              <a:t>corrección</a:t>
            </a:r>
            <a:r>
              <a:rPr lang="en-US" sz="1200" b="1" dirty="0">
                <a:solidFill>
                  <a:schemeClr val="lt1"/>
                </a:solidFill>
              </a:rPr>
              <a:t> de data</a:t>
            </a:r>
          </a:p>
          <a:p>
            <a:pPr algn="ctr"/>
            <a:r>
              <a:rPr lang="en-US" sz="1467" b="1" dirty="0">
                <a:solidFill>
                  <a:schemeClr val="lt1"/>
                </a:solidFill>
              </a:rPr>
              <a:t>War Room</a:t>
            </a:r>
            <a:endParaRPr sz="1467" dirty="0">
              <a:solidFill>
                <a:schemeClr val="lt1"/>
              </a:solidFill>
            </a:endParaRPr>
          </a:p>
        </p:txBody>
      </p:sp>
      <p:sp>
        <p:nvSpPr>
          <p:cNvPr id="26" name="Google Shape;904;p20">
            <a:extLst>
              <a:ext uri="{FF2B5EF4-FFF2-40B4-BE49-F238E27FC236}">
                <a16:creationId xmlns:a16="http://schemas.microsoft.com/office/drawing/2014/main" id="{BCFF76DE-8FCE-AB00-18E8-A841EA30AF03}"/>
              </a:ext>
            </a:extLst>
          </p:cNvPr>
          <p:cNvSpPr/>
          <p:nvPr/>
        </p:nvSpPr>
        <p:spPr>
          <a:xfrm>
            <a:off x="9717832" y="1756884"/>
            <a:ext cx="2109708"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dirty="0" err="1">
                <a:solidFill>
                  <a:schemeClr val="lt1"/>
                </a:solidFill>
              </a:rPr>
              <a:t>Modelamiento</a:t>
            </a:r>
            <a:r>
              <a:rPr lang="en-US" sz="1001" b="1" dirty="0">
                <a:solidFill>
                  <a:schemeClr val="lt1"/>
                </a:solidFill>
              </a:rPr>
              <a:t> PD Lifetime</a:t>
            </a:r>
            <a:endParaRPr sz="1001" b="1" dirty="0">
              <a:solidFill>
                <a:schemeClr val="lt1"/>
              </a:solidFill>
            </a:endParaRPr>
          </a:p>
        </p:txBody>
      </p:sp>
      <p:sp>
        <p:nvSpPr>
          <p:cNvPr id="27" name="Google Shape;905;p20">
            <a:extLst>
              <a:ext uri="{FF2B5EF4-FFF2-40B4-BE49-F238E27FC236}">
                <a16:creationId xmlns:a16="http://schemas.microsoft.com/office/drawing/2014/main" id="{CED7686A-91E6-3A5F-7F04-39D95400EE0C}"/>
              </a:ext>
            </a:extLst>
          </p:cNvPr>
          <p:cNvSpPr/>
          <p:nvPr/>
        </p:nvSpPr>
        <p:spPr>
          <a:xfrm>
            <a:off x="9717829" y="2183831"/>
            <a:ext cx="2612471"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dirty="0" err="1">
                <a:solidFill>
                  <a:schemeClr val="lt1"/>
                </a:solidFill>
              </a:rPr>
              <a:t>Modelamiento</a:t>
            </a:r>
            <a:r>
              <a:rPr lang="en-US" sz="1001" b="1" dirty="0">
                <a:solidFill>
                  <a:schemeClr val="lt1"/>
                </a:solidFill>
              </a:rPr>
              <a:t> LGD (PIT/TTC)</a:t>
            </a:r>
            <a:endParaRPr sz="1001" b="1" dirty="0">
              <a:solidFill>
                <a:schemeClr val="lt1"/>
              </a:solidFill>
            </a:endParaRPr>
          </a:p>
        </p:txBody>
      </p:sp>
      <p:sp>
        <p:nvSpPr>
          <p:cNvPr id="28" name="Google Shape;906;p20">
            <a:extLst>
              <a:ext uri="{FF2B5EF4-FFF2-40B4-BE49-F238E27FC236}">
                <a16:creationId xmlns:a16="http://schemas.microsoft.com/office/drawing/2014/main" id="{860E5BEB-CC22-471D-E9A9-7244AF400143}"/>
              </a:ext>
            </a:extLst>
          </p:cNvPr>
          <p:cNvSpPr/>
          <p:nvPr/>
        </p:nvSpPr>
        <p:spPr>
          <a:xfrm>
            <a:off x="10091909" y="2597454"/>
            <a:ext cx="1735630"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PD TTC</a:t>
            </a:r>
            <a:endParaRPr sz="1001" b="1">
              <a:solidFill>
                <a:schemeClr val="lt1"/>
              </a:solidFill>
            </a:endParaRPr>
          </a:p>
        </p:txBody>
      </p:sp>
      <p:sp>
        <p:nvSpPr>
          <p:cNvPr id="29" name="Google Shape;907;p20">
            <a:extLst>
              <a:ext uri="{FF2B5EF4-FFF2-40B4-BE49-F238E27FC236}">
                <a16:creationId xmlns:a16="http://schemas.microsoft.com/office/drawing/2014/main" id="{6EE2A4D4-A4D2-FE5E-8B4B-249343CDE8C7}"/>
              </a:ext>
            </a:extLst>
          </p:cNvPr>
          <p:cNvSpPr/>
          <p:nvPr/>
        </p:nvSpPr>
        <p:spPr>
          <a:xfrm>
            <a:off x="12206349" y="2185913"/>
            <a:ext cx="1149628" cy="360000"/>
          </a:xfrm>
          <a:prstGeom prst="chevron">
            <a:avLst>
              <a:gd name="adj" fmla="val 50000"/>
            </a:avLst>
          </a:prstGeom>
          <a:solidFill>
            <a:srgbClr val="2D9293"/>
          </a:solidFill>
          <a:ln>
            <a:noFill/>
          </a:ln>
        </p:spPr>
        <p:txBody>
          <a:bodyPr spcFirstLastPara="1" wrap="square" lIns="19033" tIns="0" rIns="19033" bIns="0" anchor="ctr" anchorCtr="0">
            <a:noAutofit/>
          </a:bodyPr>
          <a:lstStyle/>
          <a:p>
            <a:r>
              <a:rPr lang="en-US" sz="1001" b="1" dirty="0">
                <a:solidFill>
                  <a:schemeClr val="lt1"/>
                </a:solidFill>
              </a:rPr>
              <a:t>Cross Sell MFA</a:t>
            </a:r>
            <a:endParaRPr sz="1001" dirty="0"/>
          </a:p>
        </p:txBody>
      </p:sp>
      <p:sp>
        <p:nvSpPr>
          <p:cNvPr id="30" name="Google Shape;908;p20">
            <a:extLst>
              <a:ext uri="{FF2B5EF4-FFF2-40B4-BE49-F238E27FC236}">
                <a16:creationId xmlns:a16="http://schemas.microsoft.com/office/drawing/2014/main" id="{CE019A14-6912-9A00-9ED3-7D79A6C57572}"/>
              </a:ext>
            </a:extLst>
          </p:cNvPr>
          <p:cNvSpPr/>
          <p:nvPr/>
        </p:nvSpPr>
        <p:spPr>
          <a:xfrm>
            <a:off x="9665171" y="1286789"/>
            <a:ext cx="4307095" cy="1759500"/>
          </a:xfrm>
          <a:prstGeom prst="roundRect">
            <a:avLst>
              <a:gd name="adj" fmla="val 675"/>
            </a:avLst>
          </a:prstGeom>
          <a:noFill/>
          <a:ln w="25400" cap="flat" cmpd="sng">
            <a:solidFill>
              <a:schemeClr val="dk1"/>
            </a:solidFill>
            <a:prstDash val="dash"/>
            <a:round/>
            <a:headEnd type="none" w="sm" len="sm"/>
            <a:tailEnd type="none" w="sm" len="sm"/>
          </a:ln>
        </p:spPr>
        <p:txBody>
          <a:bodyPr spcFirstLastPara="1" wrap="square" lIns="91401" tIns="45700" rIns="91401" bIns="45700" anchor="ctr" anchorCtr="0">
            <a:noAutofit/>
          </a:bodyPr>
          <a:lstStyle/>
          <a:p>
            <a:pPr algn="ctr"/>
            <a:endParaRPr sz="1001">
              <a:solidFill>
                <a:schemeClr val="lt1"/>
              </a:solidFill>
            </a:endParaRPr>
          </a:p>
        </p:txBody>
      </p:sp>
      <p:sp>
        <p:nvSpPr>
          <p:cNvPr id="31" name="Google Shape;909;p20">
            <a:extLst>
              <a:ext uri="{FF2B5EF4-FFF2-40B4-BE49-F238E27FC236}">
                <a16:creationId xmlns:a16="http://schemas.microsoft.com/office/drawing/2014/main" id="{D3986EC7-86AA-4543-A792-24EED0E37279}"/>
              </a:ext>
            </a:extLst>
          </p:cNvPr>
          <p:cNvSpPr/>
          <p:nvPr/>
        </p:nvSpPr>
        <p:spPr>
          <a:xfrm>
            <a:off x="13381542" y="1077626"/>
            <a:ext cx="1033801" cy="477300"/>
          </a:xfrm>
          <a:prstGeom prst="roundRect">
            <a:avLst>
              <a:gd name="adj" fmla="val 5782"/>
            </a:avLst>
          </a:prstGeom>
          <a:solidFill>
            <a:srgbClr val="2C9293"/>
          </a:solidFill>
          <a:ln>
            <a:noFill/>
          </a:ln>
        </p:spPr>
        <p:txBody>
          <a:bodyPr spcFirstLastPara="1" wrap="square" lIns="91401" tIns="45700" rIns="91401" bIns="45700" anchor="ctr" anchorCtr="0">
            <a:noAutofit/>
          </a:bodyPr>
          <a:lstStyle/>
          <a:p>
            <a:pPr algn="ctr"/>
            <a:r>
              <a:rPr lang="en-US" sz="1001" b="1">
                <a:solidFill>
                  <a:schemeClr val="bg1"/>
                </a:solidFill>
              </a:rPr>
              <a:t>Modelo de riesgos</a:t>
            </a:r>
            <a:endParaRPr sz="1001">
              <a:solidFill>
                <a:schemeClr val="bg1"/>
              </a:solidFill>
            </a:endParaRPr>
          </a:p>
        </p:txBody>
      </p:sp>
      <p:sp>
        <p:nvSpPr>
          <p:cNvPr id="32" name="Google Shape;910;p20">
            <a:extLst>
              <a:ext uri="{FF2B5EF4-FFF2-40B4-BE49-F238E27FC236}">
                <a16:creationId xmlns:a16="http://schemas.microsoft.com/office/drawing/2014/main" id="{2A91EB68-B2E9-677C-1DBB-2EF838AE9416}"/>
              </a:ext>
            </a:extLst>
          </p:cNvPr>
          <p:cNvSpPr/>
          <p:nvPr/>
        </p:nvSpPr>
        <p:spPr>
          <a:xfrm>
            <a:off x="2290372" y="3121392"/>
            <a:ext cx="3339868" cy="360000"/>
          </a:xfrm>
          <a:prstGeom prst="homePlate">
            <a:avLst>
              <a:gd name="adj" fmla="val 50000"/>
            </a:avLst>
          </a:prstGeom>
          <a:solidFill>
            <a:srgbClr val="10B981"/>
          </a:solidFill>
          <a:ln>
            <a:noFill/>
          </a:ln>
        </p:spPr>
        <p:txBody>
          <a:bodyPr spcFirstLastPara="1" wrap="square" lIns="19033" tIns="0" rIns="19033" bIns="0" anchor="ctr" anchorCtr="0">
            <a:noAutofit/>
          </a:bodyPr>
          <a:lstStyle/>
          <a:p>
            <a:r>
              <a:rPr lang="en-US" sz="1001" b="1">
                <a:solidFill>
                  <a:schemeClr val="lt1"/>
                </a:solidFill>
              </a:rPr>
              <a:t>Mock + codificación herramienta</a:t>
            </a:r>
            <a:endParaRPr sz="1001"/>
          </a:p>
        </p:txBody>
      </p:sp>
      <p:sp>
        <p:nvSpPr>
          <p:cNvPr id="33" name="Google Shape;911;p20">
            <a:extLst>
              <a:ext uri="{FF2B5EF4-FFF2-40B4-BE49-F238E27FC236}">
                <a16:creationId xmlns:a16="http://schemas.microsoft.com/office/drawing/2014/main" id="{C54D7CEC-4162-951E-1368-84A4D9BDA3BF}"/>
              </a:ext>
            </a:extLst>
          </p:cNvPr>
          <p:cNvSpPr/>
          <p:nvPr/>
        </p:nvSpPr>
        <p:spPr>
          <a:xfrm>
            <a:off x="5479551" y="3119792"/>
            <a:ext cx="10387660" cy="390144"/>
          </a:xfrm>
          <a:prstGeom prst="chevron">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Herramienta Estrategia de Precios Campañas + Flujo Regular</a:t>
            </a:r>
            <a:endParaRPr sz="1401"/>
          </a:p>
        </p:txBody>
      </p:sp>
      <p:sp>
        <p:nvSpPr>
          <p:cNvPr id="34" name="Google Shape;913;p20">
            <a:extLst>
              <a:ext uri="{FF2B5EF4-FFF2-40B4-BE49-F238E27FC236}">
                <a16:creationId xmlns:a16="http://schemas.microsoft.com/office/drawing/2014/main" id="{DC6403A8-E1CC-53F1-1A4C-9802E3F98D69}"/>
              </a:ext>
            </a:extLst>
          </p:cNvPr>
          <p:cNvSpPr/>
          <p:nvPr/>
        </p:nvSpPr>
        <p:spPr>
          <a:xfrm>
            <a:off x="11191391" y="3581732"/>
            <a:ext cx="1494779" cy="390144"/>
          </a:xfrm>
          <a:prstGeom prst="chevron">
            <a:avLst>
              <a:gd name="adj" fmla="val 50000"/>
            </a:avLst>
          </a:prstGeom>
          <a:solidFill>
            <a:srgbClr val="2D9293"/>
          </a:solidFill>
          <a:ln>
            <a:noFill/>
          </a:ln>
        </p:spPr>
        <p:txBody>
          <a:bodyPr spcFirstLastPara="1" wrap="square" lIns="19033" tIns="0" rIns="19033" bIns="0" anchor="ctr" anchorCtr="0">
            <a:noAutofit/>
          </a:bodyPr>
          <a:lstStyle/>
          <a:p>
            <a:r>
              <a:rPr lang="en-US" sz="1001" b="1" dirty="0" err="1">
                <a:solidFill>
                  <a:schemeClr val="lt1"/>
                </a:solidFill>
              </a:rPr>
              <a:t>Módulo</a:t>
            </a:r>
            <a:r>
              <a:rPr lang="en-US" sz="1001" b="1" dirty="0">
                <a:solidFill>
                  <a:schemeClr val="lt1"/>
                </a:solidFill>
              </a:rPr>
              <a:t> de </a:t>
            </a:r>
            <a:r>
              <a:rPr lang="en-US" sz="1001" b="1" dirty="0" err="1">
                <a:solidFill>
                  <a:schemeClr val="lt1"/>
                </a:solidFill>
              </a:rPr>
              <a:t>sensibilidad</a:t>
            </a:r>
            <a:endParaRPr sz="1001" dirty="0">
              <a:solidFill>
                <a:schemeClr val="lt1"/>
              </a:solidFill>
            </a:endParaRPr>
          </a:p>
        </p:txBody>
      </p:sp>
      <p:sp>
        <p:nvSpPr>
          <p:cNvPr id="35" name="Google Shape;915;p20">
            <a:extLst>
              <a:ext uri="{FF2B5EF4-FFF2-40B4-BE49-F238E27FC236}">
                <a16:creationId xmlns:a16="http://schemas.microsoft.com/office/drawing/2014/main" id="{0C0F1CC9-1CA3-6016-6B13-59F228202DCC}"/>
              </a:ext>
            </a:extLst>
          </p:cNvPr>
          <p:cNvSpPr/>
          <p:nvPr/>
        </p:nvSpPr>
        <p:spPr>
          <a:xfrm>
            <a:off x="9665172" y="3569525"/>
            <a:ext cx="1651829"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dirty="0" err="1">
                <a:solidFill>
                  <a:schemeClr val="lt1"/>
                </a:solidFill>
              </a:rPr>
              <a:t>Clusterización</a:t>
            </a:r>
            <a:r>
              <a:rPr lang="en-US" sz="1001" b="1" dirty="0">
                <a:solidFill>
                  <a:schemeClr val="lt1"/>
                </a:solidFill>
              </a:rPr>
              <a:t> data - driven</a:t>
            </a:r>
            <a:endParaRPr sz="1001" b="1" dirty="0">
              <a:solidFill>
                <a:schemeClr val="lt1"/>
              </a:solidFill>
            </a:endParaRPr>
          </a:p>
        </p:txBody>
      </p:sp>
      <p:sp>
        <p:nvSpPr>
          <p:cNvPr id="36" name="Google Shape;916;p20">
            <a:extLst>
              <a:ext uri="{FF2B5EF4-FFF2-40B4-BE49-F238E27FC236}">
                <a16:creationId xmlns:a16="http://schemas.microsoft.com/office/drawing/2014/main" id="{D2158466-F927-7565-A9A6-2723FB6CAF05}"/>
              </a:ext>
            </a:extLst>
          </p:cNvPr>
          <p:cNvSpPr/>
          <p:nvPr/>
        </p:nvSpPr>
        <p:spPr>
          <a:xfrm>
            <a:off x="8766156" y="3994660"/>
            <a:ext cx="1780747" cy="32918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dirty="0">
                <a:solidFill>
                  <a:schemeClr val="lt1"/>
                </a:solidFill>
              </a:rPr>
              <a:t>Tasa de la </a:t>
            </a:r>
            <a:r>
              <a:rPr lang="en-US" sz="1001" b="1" dirty="0" err="1">
                <a:solidFill>
                  <a:schemeClr val="lt1"/>
                </a:solidFill>
              </a:rPr>
              <a:t>Competencia</a:t>
            </a:r>
            <a:endParaRPr sz="1001" b="1" dirty="0">
              <a:solidFill>
                <a:schemeClr val="lt1"/>
              </a:solidFill>
            </a:endParaRPr>
          </a:p>
        </p:txBody>
      </p:sp>
      <p:sp>
        <p:nvSpPr>
          <p:cNvPr id="38" name="Google Shape;917;p20">
            <a:extLst>
              <a:ext uri="{FF2B5EF4-FFF2-40B4-BE49-F238E27FC236}">
                <a16:creationId xmlns:a16="http://schemas.microsoft.com/office/drawing/2014/main" id="{0207C138-4DA6-2040-B99A-1229A08B79D7}"/>
              </a:ext>
            </a:extLst>
          </p:cNvPr>
          <p:cNvSpPr/>
          <p:nvPr/>
        </p:nvSpPr>
        <p:spPr>
          <a:xfrm>
            <a:off x="12546602" y="3598953"/>
            <a:ext cx="1123216" cy="374194"/>
          </a:xfrm>
          <a:prstGeom prst="chevron">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Repricing en vivo</a:t>
            </a:r>
            <a:endParaRPr sz="1001"/>
          </a:p>
        </p:txBody>
      </p:sp>
      <p:sp>
        <p:nvSpPr>
          <p:cNvPr id="39" name="Google Shape;918;p20">
            <a:extLst>
              <a:ext uri="{FF2B5EF4-FFF2-40B4-BE49-F238E27FC236}">
                <a16:creationId xmlns:a16="http://schemas.microsoft.com/office/drawing/2014/main" id="{1C955B79-9349-7C0F-60CC-98F6D835AEEB}"/>
              </a:ext>
            </a:extLst>
          </p:cNvPr>
          <p:cNvSpPr/>
          <p:nvPr/>
        </p:nvSpPr>
        <p:spPr>
          <a:xfrm>
            <a:off x="13584608" y="3598954"/>
            <a:ext cx="1270201" cy="376638"/>
          </a:xfrm>
          <a:prstGeom prst="chevron">
            <a:avLst>
              <a:gd name="adj" fmla="val 33639"/>
            </a:avLst>
          </a:prstGeom>
          <a:solidFill>
            <a:srgbClr val="2D9293"/>
          </a:solidFill>
          <a:ln>
            <a:noFill/>
          </a:ln>
        </p:spPr>
        <p:txBody>
          <a:bodyPr spcFirstLastPara="1" wrap="square" lIns="19033" tIns="0" rIns="19033" bIns="0" anchor="ctr" anchorCtr="0">
            <a:noAutofit/>
          </a:bodyPr>
          <a:lstStyle/>
          <a:p>
            <a:r>
              <a:rPr lang="en-US" sz="800" b="1" dirty="0" err="1">
                <a:solidFill>
                  <a:schemeClr val="lt1"/>
                </a:solidFill>
              </a:rPr>
              <a:t>Estrategia</a:t>
            </a:r>
            <a:r>
              <a:rPr lang="en-US" sz="800" b="1" dirty="0">
                <a:solidFill>
                  <a:schemeClr val="lt1"/>
                </a:solidFill>
              </a:rPr>
              <a:t> de </a:t>
            </a:r>
            <a:r>
              <a:rPr lang="en-US" sz="800" b="1" dirty="0" err="1">
                <a:solidFill>
                  <a:schemeClr val="lt1"/>
                </a:solidFill>
              </a:rPr>
              <a:t>Precios</a:t>
            </a:r>
            <a:r>
              <a:rPr lang="en-US" sz="800" b="1" dirty="0">
                <a:solidFill>
                  <a:schemeClr val="lt1"/>
                </a:solidFill>
              </a:rPr>
              <a:t> </a:t>
            </a:r>
            <a:r>
              <a:rPr lang="en-US" sz="800" b="1" dirty="0" err="1">
                <a:solidFill>
                  <a:schemeClr val="lt1"/>
                </a:solidFill>
              </a:rPr>
              <a:t>Cliente</a:t>
            </a:r>
            <a:r>
              <a:rPr lang="en-US" sz="800" b="1" dirty="0">
                <a:solidFill>
                  <a:schemeClr val="lt1"/>
                </a:solidFill>
              </a:rPr>
              <a:t> 360</a:t>
            </a:r>
            <a:endParaRPr sz="800" dirty="0"/>
          </a:p>
        </p:txBody>
      </p:sp>
      <p:sp>
        <p:nvSpPr>
          <p:cNvPr id="40" name="Google Shape;919;p20">
            <a:extLst>
              <a:ext uri="{FF2B5EF4-FFF2-40B4-BE49-F238E27FC236}">
                <a16:creationId xmlns:a16="http://schemas.microsoft.com/office/drawing/2014/main" id="{C57E4F69-A707-DA92-5C05-EB470314303A}"/>
              </a:ext>
            </a:extLst>
          </p:cNvPr>
          <p:cNvSpPr/>
          <p:nvPr/>
        </p:nvSpPr>
        <p:spPr>
          <a:xfrm>
            <a:off x="6376712" y="4356918"/>
            <a:ext cx="3718967" cy="322338"/>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dirty="0">
                <a:solidFill>
                  <a:schemeClr val="lt1"/>
                </a:solidFill>
              </a:rPr>
              <a:t>Pass Through de TT​</a:t>
            </a:r>
            <a:endParaRPr sz="1001" b="1" dirty="0">
              <a:solidFill>
                <a:schemeClr val="lt1"/>
              </a:solidFill>
            </a:endParaRPr>
          </a:p>
        </p:txBody>
      </p:sp>
      <p:sp>
        <p:nvSpPr>
          <p:cNvPr id="41" name="Google Shape;921;p20">
            <a:extLst>
              <a:ext uri="{FF2B5EF4-FFF2-40B4-BE49-F238E27FC236}">
                <a16:creationId xmlns:a16="http://schemas.microsoft.com/office/drawing/2014/main" id="{E0AB0E17-CC7B-E1D4-5A11-6794C85C618C}"/>
              </a:ext>
            </a:extLst>
          </p:cNvPr>
          <p:cNvSpPr/>
          <p:nvPr/>
        </p:nvSpPr>
        <p:spPr>
          <a:xfrm>
            <a:off x="2980001" y="4759967"/>
            <a:ext cx="5584972" cy="32243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dirty="0" err="1">
                <a:solidFill>
                  <a:schemeClr val="lt1"/>
                </a:solidFill>
              </a:rPr>
              <a:t>Evaluación</a:t>
            </a:r>
            <a:r>
              <a:rPr lang="en-US" sz="1001" b="1" dirty="0">
                <a:solidFill>
                  <a:schemeClr val="lt1"/>
                </a:solidFill>
              </a:rPr>
              <a:t> de </a:t>
            </a:r>
            <a:r>
              <a:rPr lang="en-US" sz="1001" b="1" dirty="0" err="1">
                <a:solidFill>
                  <a:schemeClr val="lt1"/>
                </a:solidFill>
              </a:rPr>
              <a:t>opciones</a:t>
            </a:r>
            <a:r>
              <a:rPr lang="en-US" sz="1001" b="1" dirty="0">
                <a:solidFill>
                  <a:schemeClr val="lt1"/>
                </a:solidFill>
              </a:rPr>
              <a:t> de </a:t>
            </a:r>
            <a:r>
              <a:rPr lang="en-US" sz="1001" b="1" dirty="0" err="1">
                <a:solidFill>
                  <a:schemeClr val="lt1"/>
                </a:solidFill>
              </a:rPr>
              <a:t>despliegue</a:t>
            </a:r>
            <a:r>
              <a:rPr lang="en-US" sz="1001" b="1" dirty="0">
                <a:solidFill>
                  <a:schemeClr val="lt1"/>
                </a:solidFill>
              </a:rPr>
              <a:t> </a:t>
            </a:r>
            <a:r>
              <a:rPr lang="en-US" sz="1001" b="1" dirty="0" err="1">
                <a:solidFill>
                  <a:schemeClr val="lt1"/>
                </a:solidFill>
              </a:rPr>
              <a:t>todos</a:t>
            </a:r>
            <a:r>
              <a:rPr lang="en-US" sz="1001" b="1" dirty="0">
                <a:solidFill>
                  <a:schemeClr val="lt1"/>
                </a:solidFill>
              </a:rPr>
              <a:t> los </a:t>
            </a:r>
            <a:r>
              <a:rPr lang="en-US" sz="1001" b="1" dirty="0" err="1">
                <a:solidFill>
                  <a:schemeClr val="lt1"/>
                </a:solidFill>
              </a:rPr>
              <a:t>productos</a:t>
            </a:r>
            <a:r>
              <a:rPr lang="en-US" sz="1001" b="1" dirty="0">
                <a:solidFill>
                  <a:schemeClr val="lt1"/>
                </a:solidFill>
              </a:rPr>
              <a:t> </a:t>
            </a:r>
            <a:endParaRPr sz="1001" b="1" dirty="0">
              <a:solidFill>
                <a:schemeClr val="lt1"/>
              </a:solidFill>
            </a:endParaRPr>
          </a:p>
        </p:txBody>
      </p:sp>
      <p:sp>
        <p:nvSpPr>
          <p:cNvPr id="42" name="Google Shape;922;p20">
            <a:extLst>
              <a:ext uri="{FF2B5EF4-FFF2-40B4-BE49-F238E27FC236}">
                <a16:creationId xmlns:a16="http://schemas.microsoft.com/office/drawing/2014/main" id="{BE974E85-BF40-45C1-0ECF-E4CDE523CD56}"/>
              </a:ext>
            </a:extLst>
          </p:cNvPr>
          <p:cNvSpPr/>
          <p:nvPr/>
        </p:nvSpPr>
        <p:spPr>
          <a:xfrm>
            <a:off x="5594201" y="5142906"/>
            <a:ext cx="2970773" cy="32243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Diseño del datamart de Pricing</a:t>
            </a:r>
            <a:endParaRPr sz="1001" b="1">
              <a:solidFill>
                <a:schemeClr val="lt1"/>
              </a:solidFill>
            </a:endParaRPr>
          </a:p>
        </p:txBody>
      </p:sp>
      <p:sp>
        <p:nvSpPr>
          <p:cNvPr id="43" name="Google Shape;923;p20">
            <a:extLst>
              <a:ext uri="{FF2B5EF4-FFF2-40B4-BE49-F238E27FC236}">
                <a16:creationId xmlns:a16="http://schemas.microsoft.com/office/drawing/2014/main" id="{34525D33-3131-4076-152B-B836DCD6B028}"/>
              </a:ext>
            </a:extLst>
          </p:cNvPr>
          <p:cNvSpPr/>
          <p:nvPr/>
        </p:nvSpPr>
        <p:spPr>
          <a:xfrm>
            <a:off x="7323554" y="5513669"/>
            <a:ext cx="8723232" cy="370782"/>
          </a:xfrm>
          <a:prstGeom prst="homePlate">
            <a:avLst>
              <a:gd name="adj" fmla="val 50000"/>
            </a:avLst>
          </a:prstGeom>
          <a:solidFill>
            <a:srgbClr val="2C9293"/>
          </a:solidFill>
          <a:ln>
            <a:noFill/>
          </a:ln>
        </p:spPr>
        <p:txBody>
          <a:bodyPr spcFirstLastPara="1" wrap="square" lIns="19033" tIns="0" rIns="19033" bIns="0" anchor="ctr" anchorCtr="0">
            <a:noAutofit/>
          </a:bodyPr>
          <a:lstStyle/>
          <a:p>
            <a:r>
              <a:rPr lang="en-US" sz="1001" b="1">
                <a:solidFill>
                  <a:schemeClr val="lt1"/>
                </a:solidFill>
              </a:rPr>
              <a:t>Playbook (Manual) de Estrategia y Modelos </a:t>
            </a:r>
            <a:endParaRPr sz="1001" b="1">
              <a:solidFill>
                <a:schemeClr val="lt1"/>
              </a:solidFill>
            </a:endParaRPr>
          </a:p>
        </p:txBody>
      </p:sp>
      <p:sp>
        <p:nvSpPr>
          <p:cNvPr id="44" name="Google Shape;924;p20">
            <a:extLst>
              <a:ext uri="{FF2B5EF4-FFF2-40B4-BE49-F238E27FC236}">
                <a16:creationId xmlns:a16="http://schemas.microsoft.com/office/drawing/2014/main" id="{431ECA7D-AC1E-8275-7513-CBAB5DAED907}"/>
              </a:ext>
            </a:extLst>
          </p:cNvPr>
          <p:cNvSpPr/>
          <p:nvPr/>
        </p:nvSpPr>
        <p:spPr>
          <a:xfrm>
            <a:off x="3424718" y="6040329"/>
            <a:ext cx="1739758" cy="390144"/>
          </a:xfrm>
          <a:prstGeom prst="homePlate">
            <a:avLst>
              <a:gd name="adj" fmla="val 50000"/>
            </a:avLst>
          </a:prstGeom>
          <a:solidFill>
            <a:srgbClr val="10B981"/>
          </a:solidFill>
          <a:ln>
            <a:noFill/>
          </a:ln>
        </p:spPr>
        <p:txBody>
          <a:bodyPr spcFirstLastPara="1" wrap="square" lIns="19033" tIns="0" rIns="19033" bIns="0" anchor="ctr" anchorCtr="0">
            <a:noAutofit/>
          </a:bodyPr>
          <a:lstStyle/>
          <a:p>
            <a:pPr algn="ctr"/>
            <a:r>
              <a:rPr lang="en-US" sz="1001" b="1">
                <a:solidFill>
                  <a:schemeClr val="lt1"/>
                </a:solidFill>
              </a:rPr>
              <a:t>Journey AS-IS excepciones</a:t>
            </a:r>
            <a:endParaRPr sz="1001"/>
          </a:p>
        </p:txBody>
      </p:sp>
      <p:sp>
        <p:nvSpPr>
          <p:cNvPr id="45" name="Google Shape;925;p20">
            <a:extLst>
              <a:ext uri="{FF2B5EF4-FFF2-40B4-BE49-F238E27FC236}">
                <a16:creationId xmlns:a16="http://schemas.microsoft.com/office/drawing/2014/main" id="{D8CAF23F-AA20-3703-78F3-21EABA9433F0}"/>
              </a:ext>
            </a:extLst>
          </p:cNvPr>
          <p:cNvSpPr/>
          <p:nvPr/>
        </p:nvSpPr>
        <p:spPr>
          <a:xfrm>
            <a:off x="5073964" y="6045421"/>
            <a:ext cx="2659148" cy="390144"/>
          </a:xfrm>
          <a:prstGeom prst="chevron">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Modelo TO-BE excepciones</a:t>
            </a:r>
            <a:endParaRPr sz="1001"/>
          </a:p>
        </p:txBody>
      </p:sp>
      <p:sp>
        <p:nvSpPr>
          <p:cNvPr id="46" name="Google Shape;927;p20">
            <a:extLst>
              <a:ext uri="{FF2B5EF4-FFF2-40B4-BE49-F238E27FC236}">
                <a16:creationId xmlns:a16="http://schemas.microsoft.com/office/drawing/2014/main" id="{8ABB7E71-0FFE-E6AA-5069-FB7831F7FC5E}"/>
              </a:ext>
            </a:extLst>
          </p:cNvPr>
          <p:cNvSpPr/>
          <p:nvPr/>
        </p:nvSpPr>
        <p:spPr>
          <a:xfrm>
            <a:off x="6318378" y="6943772"/>
            <a:ext cx="1435188"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Propuesta táctica de excepcionea</a:t>
            </a:r>
            <a:endParaRPr sz="1001" b="1">
              <a:solidFill>
                <a:schemeClr val="lt1"/>
              </a:solidFill>
            </a:endParaRPr>
          </a:p>
        </p:txBody>
      </p:sp>
      <p:sp>
        <p:nvSpPr>
          <p:cNvPr id="47" name="Google Shape;929;p20">
            <a:extLst>
              <a:ext uri="{FF2B5EF4-FFF2-40B4-BE49-F238E27FC236}">
                <a16:creationId xmlns:a16="http://schemas.microsoft.com/office/drawing/2014/main" id="{9CCC98F3-8FE4-B9C0-0591-E6232F2D9674}"/>
              </a:ext>
            </a:extLst>
          </p:cNvPr>
          <p:cNvSpPr/>
          <p:nvPr/>
        </p:nvSpPr>
        <p:spPr>
          <a:xfrm>
            <a:off x="5483520" y="7602396"/>
            <a:ext cx="1840036"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Diagnóstico situación actual de monitoreo</a:t>
            </a:r>
            <a:endParaRPr sz="1001"/>
          </a:p>
        </p:txBody>
      </p:sp>
      <p:sp>
        <p:nvSpPr>
          <p:cNvPr id="48" name="Google Shape;930;p20">
            <a:extLst>
              <a:ext uri="{FF2B5EF4-FFF2-40B4-BE49-F238E27FC236}">
                <a16:creationId xmlns:a16="http://schemas.microsoft.com/office/drawing/2014/main" id="{AE0D80B6-7858-4D20-2C53-568A57BFA05E}"/>
              </a:ext>
            </a:extLst>
          </p:cNvPr>
          <p:cNvSpPr/>
          <p:nvPr/>
        </p:nvSpPr>
        <p:spPr>
          <a:xfrm>
            <a:off x="5493408" y="8029908"/>
            <a:ext cx="2614500"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Estructura KPIs y</a:t>
            </a:r>
            <a:br>
              <a:rPr lang="en-US" sz="1001" b="1">
                <a:solidFill>
                  <a:schemeClr val="lt1"/>
                </a:solidFill>
              </a:rPr>
            </a:br>
            <a:r>
              <a:rPr lang="en-US" sz="1001" b="1">
                <a:solidFill>
                  <a:schemeClr val="lt1"/>
                </a:solidFill>
              </a:rPr>
              <a:t>métricas de seguimiento</a:t>
            </a:r>
            <a:endParaRPr sz="1001"/>
          </a:p>
        </p:txBody>
      </p:sp>
      <p:sp>
        <p:nvSpPr>
          <p:cNvPr id="49" name="Google Shape;931;p20">
            <a:extLst>
              <a:ext uri="{FF2B5EF4-FFF2-40B4-BE49-F238E27FC236}">
                <a16:creationId xmlns:a16="http://schemas.microsoft.com/office/drawing/2014/main" id="{29832F24-2CC2-E066-2225-30A067C4EA3E}"/>
              </a:ext>
            </a:extLst>
          </p:cNvPr>
          <p:cNvSpPr/>
          <p:nvPr/>
        </p:nvSpPr>
        <p:spPr>
          <a:xfrm>
            <a:off x="6000109" y="8457829"/>
            <a:ext cx="3160162" cy="39014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a:solidFill>
                  <a:schemeClr val="lt1"/>
                </a:solidFill>
              </a:rPr>
              <a:t>Diseño de Mock-ups</a:t>
            </a:r>
            <a:endParaRPr sz="1001" b="1">
              <a:solidFill>
                <a:schemeClr val="lt1"/>
              </a:solidFill>
            </a:endParaRPr>
          </a:p>
        </p:txBody>
      </p:sp>
      <p:sp>
        <p:nvSpPr>
          <p:cNvPr id="50" name="Google Shape;933;p20">
            <a:extLst>
              <a:ext uri="{FF2B5EF4-FFF2-40B4-BE49-F238E27FC236}">
                <a16:creationId xmlns:a16="http://schemas.microsoft.com/office/drawing/2014/main" id="{DD46DBE7-78FA-FABB-32EA-FB62690C21C5}"/>
              </a:ext>
            </a:extLst>
          </p:cNvPr>
          <p:cNvSpPr txBox="1"/>
          <p:nvPr/>
        </p:nvSpPr>
        <p:spPr>
          <a:xfrm>
            <a:off x="7159608" y="1775395"/>
            <a:ext cx="424393" cy="569308"/>
          </a:xfrm>
          <a:prstGeom prst="rect">
            <a:avLst/>
          </a:prstGeom>
          <a:noFill/>
          <a:ln>
            <a:noFill/>
          </a:ln>
        </p:spPr>
        <p:txBody>
          <a:bodyPr spcFirstLastPara="1" wrap="square" lIns="91401" tIns="91401" rIns="91401" bIns="91401" anchor="t" anchorCtr="0">
            <a:spAutoFit/>
          </a:bodyPr>
          <a:lstStyle/>
          <a:p>
            <a:pPr algn="ctr"/>
            <a:r>
              <a:rPr lang="en-US" sz="2500" dirty="0">
                <a:latin typeface="Calibri"/>
                <a:ea typeface="Calibri"/>
                <a:cs typeface="Calibri"/>
                <a:sym typeface="Calibri"/>
              </a:rPr>
              <a:t>⚠️</a:t>
            </a:r>
            <a:endParaRPr sz="2500" dirty="0"/>
          </a:p>
        </p:txBody>
      </p:sp>
      <p:sp>
        <p:nvSpPr>
          <p:cNvPr id="51" name="Google Shape;916;p20">
            <a:extLst>
              <a:ext uri="{FF2B5EF4-FFF2-40B4-BE49-F238E27FC236}">
                <a16:creationId xmlns:a16="http://schemas.microsoft.com/office/drawing/2014/main" id="{A295F06A-A00C-A953-FE73-4D46914C3357}"/>
              </a:ext>
            </a:extLst>
          </p:cNvPr>
          <p:cNvSpPr/>
          <p:nvPr/>
        </p:nvSpPr>
        <p:spPr>
          <a:xfrm>
            <a:off x="10546906" y="4685017"/>
            <a:ext cx="1611600" cy="329184"/>
          </a:xfrm>
          <a:prstGeom prst="homePlate">
            <a:avLst>
              <a:gd name="adj" fmla="val 50000"/>
            </a:avLst>
          </a:prstGeom>
          <a:solidFill>
            <a:srgbClr val="2D9293"/>
          </a:solidFill>
          <a:ln>
            <a:noFill/>
          </a:ln>
        </p:spPr>
        <p:txBody>
          <a:bodyPr spcFirstLastPara="1" wrap="square" lIns="19033" tIns="0" rIns="19033" bIns="0" anchor="ctr" anchorCtr="0">
            <a:noAutofit/>
          </a:bodyPr>
          <a:lstStyle/>
          <a:p>
            <a:r>
              <a:rPr lang="en-US" sz="1001" b="1" dirty="0">
                <a:solidFill>
                  <a:schemeClr val="lt1"/>
                </a:solidFill>
              </a:rPr>
              <a:t>RAROC obj. (CLV 0.5)</a:t>
            </a:r>
            <a:endParaRPr lang="en-US" sz="1001" dirty="0"/>
          </a:p>
        </p:txBody>
      </p:sp>
      <p:sp>
        <p:nvSpPr>
          <p:cNvPr id="52" name="Google Shape;917;p20">
            <a:extLst>
              <a:ext uri="{FF2B5EF4-FFF2-40B4-BE49-F238E27FC236}">
                <a16:creationId xmlns:a16="http://schemas.microsoft.com/office/drawing/2014/main" id="{17A7A308-7F18-F501-12AC-F14B1990C0CA}"/>
              </a:ext>
            </a:extLst>
          </p:cNvPr>
          <p:cNvSpPr/>
          <p:nvPr/>
        </p:nvSpPr>
        <p:spPr>
          <a:xfrm>
            <a:off x="12410894" y="4679255"/>
            <a:ext cx="1258924" cy="342066"/>
          </a:xfrm>
          <a:prstGeom prst="chevron">
            <a:avLst>
              <a:gd name="adj" fmla="val 50000"/>
            </a:avLst>
          </a:prstGeom>
          <a:solidFill>
            <a:srgbClr val="2D9293"/>
          </a:solidFill>
          <a:ln>
            <a:noFill/>
          </a:ln>
        </p:spPr>
        <p:txBody>
          <a:bodyPr spcFirstLastPara="1" wrap="square" lIns="19033" tIns="0" rIns="19033" bIns="0" anchor="ctr" anchorCtr="0">
            <a:noAutofit/>
          </a:bodyPr>
          <a:lstStyle/>
          <a:p>
            <a:r>
              <a:rPr lang="en-US" sz="1001" b="1" dirty="0">
                <a:solidFill>
                  <a:schemeClr val="lt1"/>
                </a:solidFill>
              </a:rPr>
              <a:t>RAROC obj. (CLV 1.0)</a:t>
            </a:r>
            <a:endParaRPr lang="en-US" sz="1001" dirty="0"/>
          </a:p>
        </p:txBody>
      </p:sp>
      <p:sp>
        <p:nvSpPr>
          <p:cNvPr id="53" name="Google Shape;916;p20">
            <a:extLst>
              <a:ext uri="{FF2B5EF4-FFF2-40B4-BE49-F238E27FC236}">
                <a16:creationId xmlns:a16="http://schemas.microsoft.com/office/drawing/2014/main" id="{68CB58E3-14BE-1D03-C54F-C549279F00C2}"/>
              </a:ext>
            </a:extLst>
          </p:cNvPr>
          <p:cNvSpPr/>
          <p:nvPr/>
        </p:nvSpPr>
        <p:spPr>
          <a:xfrm>
            <a:off x="9836674" y="213048"/>
            <a:ext cx="518009" cy="224837"/>
          </a:xfrm>
          <a:prstGeom prst="homePlate">
            <a:avLst>
              <a:gd name="adj" fmla="val 0"/>
            </a:avLst>
          </a:prstGeom>
          <a:solidFill>
            <a:srgbClr val="2D9293"/>
          </a:solidFill>
          <a:ln>
            <a:noFill/>
          </a:ln>
        </p:spPr>
        <p:txBody>
          <a:bodyPr spcFirstLastPara="1" wrap="square" lIns="19033" tIns="0" rIns="19033" bIns="0" anchor="ctr" anchorCtr="0">
            <a:noAutofit/>
          </a:bodyPr>
          <a:lstStyle/>
          <a:p>
            <a:pPr algn="ctr"/>
            <a:r>
              <a:rPr lang="en-US" sz="1001" b="1" dirty="0">
                <a:solidFill>
                  <a:schemeClr val="lt1"/>
                </a:solidFill>
              </a:rPr>
              <a:t>10/08</a:t>
            </a:r>
            <a:endParaRPr sz="1001" b="1" dirty="0">
              <a:solidFill>
                <a:schemeClr val="lt1"/>
              </a:solidFill>
            </a:endParaRPr>
          </a:p>
        </p:txBody>
      </p:sp>
      <p:sp>
        <p:nvSpPr>
          <p:cNvPr id="54" name="Google Shape;916;p20">
            <a:extLst>
              <a:ext uri="{FF2B5EF4-FFF2-40B4-BE49-F238E27FC236}">
                <a16:creationId xmlns:a16="http://schemas.microsoft.com/office/drawing/2014/main" id="{0203C8F4-DBD8-E1F9-0F5A-1447EDF7580C}"/>
              </a:ext>
            </a:extLst>
          </p:cNvPr>
          <p:cNvSpPr/>
          <p:nvPr/>
        </p:nvSpPr>
        <p:spPr>
          <a:xfrm>
            <a:off x="10673381" y="213048"/>
            <a:ext cx="518009" cy="224837"/>
          </a:xfrm>
          <a:prstGeom prst="homePlate">
            <a:avLst>
              <a:gd name="adj" fmla="val 0"/>
            </a:avLst>
          </a:prstGeom>
          <a:solidFill>
            <a:srgbClr val="2D9293"/>
          </a:solidFill>
          <a:ln>
            <a:noFill/>
          </a:ln>
        </p:spPr>
        <p:txBody>
          <a:bodyPr spcFirstLastPara="1" wrap="square" lIns="19033" tIns="0" rIns="19033" bIns="0" anchor="ctr" anchorCtr="0">
            <a:noAutofit/>
          </a:bodyPr>
          <a:lstStyle/>
          <a:p>
            <a:pPr algn="ctr"/>
            <a:r>
              <a:rPr lang="en-US" sz="1001" b="1" dirty="0">
                <a:solidFill>
                  <a:schemeClr val="lt1"/>
                </a:solidFill>
              </a:rPr>
              <a:t>24/08</a:t>
            </a:r>
            <a:endParaRPr sz="1001" b="1" dirty="0">
              <a:solidFill>
                <a:schemeClr val="lt1"/>
              </a:solidFill>
            </a:endParaRPr>
          </a:p>
        </p:txBody>
      </p:sp>
      <p:sp>
        <p:nvSpPr>
          <p:cNvPr id="55" name="Google Shape;916;p20">
            <a:extLst>
              <a:ext uri="{FF2B5EF4-FFF2-40B4-BE49-F238E27FC236}">
                <a16:creationId xmlns:a16="http://schemas.microsoft.com/office/drawing/2014/main" id="{A5C3CCCC-C024-BEB2-87CE-D432E8F024CE}"/>
              </a:ext>
            </a:extLst>
          </p:cNvPr>
          <p:cNvSpPr/>
          <p:nvPr/>
        </p:nvSpPr>
        <p:spPr>
          <a:xfrm>
            <a:off x="11568535" y="213048"/>
            <a:ext cx="518009" cy="224837"/>
          </a:xfrm>
          <a:prstGeom prst="homePlate">
            <a:avLst>
              <a:gd name="adj" fmla="val 0"/>
            </a:avLst>
          </a:prstGeom>
          <a:solidFill>
            <a:srgbClr val="2D9293"/>
          </a:solidFill>
          <a:ln>
            <a:noFill/>
          </a:ln>
        </p:spPr>
        <p:txBody>
          <a:bodyPr spcFirstLastPara="1" wrap="square" lIns="19033" tIns="0" rIns="19033" bIns="0" anchor="ctr" anchorCtr="0">
            <a:noAutofit/>
          </a:bodyPr>
          <a:lstStyle/>
          <a:p>
            <a:pPr algn="ctr"/>
            <a:r>
              <a:rPr lang="en-US" sz="1001" b="1" dirty="0">
                <a:solidFill>
                  <a:schemeClr val="lt1"/>
                </a:solidFill>
              </a:rPr>
              <a:t>07/09</a:t>
            </a:r>
            <a:endParaRPr sz="1001" b="1" dirty="0">
              <a:solidFill>
                <a:schemeClr val="lt1"/>
              </a:solidFill>
            </a:endParaRPr>
          </a:p>
        </p:txBody>
      </p:sp>
      <p:sp>
        <p:nvSpPr>
          <p:cNvPr id="56" name="Google Shape;916;p20">
            <a:extLst>
              <a:ext uri="{FF2B5EF4-FFF2-40B4-BE49-F238E27FC236}">
                <a16:creationId xmlns:a16="http://schemas.microsoft.com/office/drawing/2014/main" id="{1253D672-2C0C-BF41-0BD4-6C5683BCA56C}"/>
              </a:ext>
            </a:extLst>
          </p:cNvPr>
          <p:cNvSpPr/>
          <p:nvPr/>
        </p:nvSpPr>
        <p:spPr>
          <a:xfrm>
            <a:off x="12455998" y="213048"/>
            <a:ext cx="518009" cy="224837"/>
          </a:xfrm>
          <a:prstGeom prst="homePlate">
            <a:avLst>
              <a:gd name="adj" fmla="val 0"/>
            </a:avLst>
          </a:prstGeom>
          <a:solidFill>
            <a:srgbClr val="2D9293"/>
          </a:solidFill>
          <a:ln>
            <a:noFill/>
          </a:ln>
        </p:spPr>
        <p:txBody>
          <a:bodyPr spcFirstLastPara="1" wrap="square" lIns="19033" tIns="0" rIns="19033" bIns="0" anchor="ctr" anchorCtr="0">
            <a:noAutofit/>
          </a:bodyPr>
          <a:lstStyle/>
          <a:p>
            <a:pPr algn="ctr"/>
            <a:r>
              <a:rPr lang="en-US" sz="1001" b="1" dirty="0">
                <a:solidFill>
                  <a:schemeClr val="lt1"/>
                </a:solidFill>
              </a:rPr>
              <a:t>21/09</a:t>
            </a:r>
            <a:endParaRPr sz="1001" b="1" dirty="0">
              <a:solidFill>
                <a:schemeClr val="lt1"/>
              </a:solidFill>
            </a:endParaRPr>
          </a:p>
        </p:txBody>
      </p:sp>
      <p:sp>
        <p:nvSpPr>
          <p:cNvPr id="57" name="Google Shape;916;p20">
            <a:extLst>
              <a:ext uri="{FF2B5EF4-FFF2-40B4-BE49-F238E27FC236}">
                <a16:creationId xmlns:a16="http://schemas.microsoft.com/office/drawing/2014/main" id="{DC97F117-3194-E17C-D76B-76A98FD6D1BE}"/>
              </a:ext>
            </a:extLst>
          </p:cNvPr>
          <p:cNvSpPr/>
          <p:nvPr/>
        </p:nvSpPr>
        <p:spPr>
          <a:xfrm>
            <a:off x="13355977" y="213048"/>
            <a:ext cx="518009" cy="224837"/>
          </a:xfrm>
          <a:prstGeom prst="homePlate">
            <a:avLst>
              <a:gd name="adj" fmla="val 0"/>
            </a:avLst>
          </a:prstGeom>
          <a:solidFill>
            <a:srgbClr val="2D9293"/>
          </a:solidFill>
          <a:ln>
            <a:noFill/>
          </a:ln>
        </p:spPr>
        <p:txBody>
          <a:bodyPr spcFirstLastPara="1" wrap="square" lIns="19033" tIns="0" rIns="19033" bIns="0" anchor="ctr" anchorCtr="0">
            <a:noAutofit/>
          </a:bodyPr>
          <a:lstStyle/>
          <a:p>
            <a:pPr algn="ctr"/>
            <a:r>
              <a:rPr lang="en-US" sz="1001" b="1">
                <a:solidFill>
                  <a:schemeClr val="lt1"/>
                </a:solidFill>
              </a:rPr>
              <a:t>05/10</a:t>
            </a:r>
            <a:endParaRPr sz="1001" b="1" dirty="0">
              <a:solidFill>
                <a:schemeClr val="lt1"/>
              </a:solidFill>
            </a:endParaRPr>
          </a:p>
        </p:txBody>
      </p:sp>
      <p:sp>
        <p:nvSpPr>
          <p:cNvPr id="58" name="Google Shape;916;p20">
            <a:extLst>
              <a:ext uri="{FF2B5EF4-FFF2-40B4-BE49-F238E27FC236}">
                <a16:creationId xmlns:a16="http://schemas.microsoft.com/office/drawing/2014/main" id="{E1C1F5E8-FD06-1DC2-5F65-F116F5F5AA66}"/>
              </a:ext>
            </a:extLst>
          </p:cNvPr>
          <p:cNvSpPr/>
          <p:nvPr/>
        </p:nvSpPr>
        <p:spPr>
          <a:xfrm>
            <a:off x="14195884" y="213048"/>
            <a:ext cx="518009" cy="224837"/>
          </a:xfrm>
          <a:prstGeom prst="homePlate">
            <a:avLst>
              <a:gd name="adj" fmla="val 0"/>
            </a:avLst>
          </a:prstGeom>
          <a:solidFill>
            <a:srgbClr val="2D9293"/>
          </a:solidFill>
          <a:ln>
            <a:noFill/>
          </a:ln>
        </p:spPr>
        <p:txBody>
          <a:bodyPr spcFirstLastPara="1" wrap="square" lIns="19033" tIns="0" rIns="19033" bIns="0" anchor="ctr" anchorCtr="0">
            <a:noAutofit/>
          </a:bodyPr>
          <a:lstStyle/>
          <a:p>
            <a:pPr algn="ctr"/>
            <a:r>
              <a:rPr lang="en-US" sz="1001" b="1" dirty="0">
                <a:solidFill>
                  <a:schemeClr val="lt1"/>
                </a:solidFill>
              </a:rPr>
              <a:t>19/10</a:t>
            </a:r>
            <a:endParaRPr sz="1001" b="1" dirty="0">
              <a:solidFill>
                <a:schemeClr val="lt1"/>
              </a:solidFill>
            </a:endParaRPr>
          </a:p>
        </p:txBody>
      </p:sp>
      <p:sp>
        <p:nvSpPr>
          <p:cNvPr id="59" name="Google Shape;916;p20">
            <a:extLst>
              <a:ext uri="{FF2B5EF4-FFF2-40B4-BE49-F238E27FC236}">
                <a16:creationId xmlns:a16="http://schemas.microsoft.com/office/drawing/2014/main" id="{1CB1315F-270E-5F66-ECC7-38697B3EF193}"/>
              </a:ext>
            </a:extLst>
          </p:cNvPr>
          <p:cNvSpPr/>
          <p:nvPr/>
        </p:nvSpPr>
        <p:spPr>
          <a:xfrm>
            <a:off x="15075321" y="213048"/>
            <a:ext cx="518009" cy="224837"/>
          </a:xfrm>
          <a:prstGeom prst="homePlate">
            <a:avLst>
              <a:gd name="adj" fmla="val 0"/>
            </a:avLst>
          </a:prstGeom>
          <a:solidFill>
            <a:srgbClr val="2D9293"/>
          </a:solidFill>
          <a:ln>
            <a:noFill/>
          </a:ln>
        </p:spPr>
        <p:txBody>
          <a:bodyPr spcFirstLastPara="1" wrap="square" lIns="19033" tIns="0" rIns="19033" bIns="0" anchor="ctr" anchorCtr="0">
            <a:noAutofit/>
          </a:bodyPr>
          <a:lstStyle/>
          <a:p>
            <a:pPr algn="ctr"/>
            <a:r>
              <a:rPr lang="en-US" sz="1001" b="1" dirty="0">
                <a:solidFill>
                  <a:schemeClr val="lt1"/>
                </a:solidFill>
              </a:rPr>
              <a:t>02/11</a:t>
            </a:r>
            <a:endParaRPr sz="1001" b="1" dirty="0">
              <a:solidFill>
                <a:schemeClr val="lt1"/>
              </a:solidFill>
            </a:endParaRPr>
          </a:p>
        </p:txBody>
      </p:sp>
      <p:sp>
        <p:nvSpPr>
          <p:cNvPr id="60" name="Google Shape;917;p20">
            <a:extLst>
              <a:ext uri="{FF2B5EF4-FFF2-40B4-BE49-F238E27FC236}">
                <a16:creationId xmlns:a16="http://schemas.microsoft.com/office/drawing/2014/main" id="{5A16818B-9205-4688-3AB6-BFD6D1841E89}"/>
              </a:ext>
            </a:extLst>
          </p:cNvPr>
          <p:cNvSpPr/>
          <p:nvPr/>
        </p:nvSpPr>
        <p:spPr>
          <a:xfrm>
            <a:off x="12546603" y="6096807"/>
            <a:ext cx="1334421" cy="374194"/>
          </a:xfrm>
          <a:prstGeom prst="chevron">
            <a:avLst>
              <a:gd name="adj" fmla="val 50000"/>
            </a:avLst>
          </a:prstGeom>
          <a:solidFill>
            <a:srgbClr val="2D9293"/>
          </a:solidFill>
          <a:ln>
            <a:noFill/>
          </a:ln>
        </p:spPr>
        <p:txBody>
          <a:bodyPr spcFirstLastPara="1" wrap="square" lIns="19033" tIns="0" rIns="19033" bIns="0" anchor="ctr" anchorCtr="0">
            <a:noAutofit/>
          </a:bodyPr>
          <a:lstStyle/>
          <a:p>
            <a:r>
              <a:rPr lang="en-US" sz="1001" b="1" dirty="0">
                <a:solidFill>
                  <a:schemeClr val="lt1"/>
                </a:solidFill>
              </a:rPr>
              <a:t>Workshops y </a:t>
            </a:r>
            <a:r>
              <a:rPr lang="en-US" sz="1001" b="1" dirty="0" err="1">
                <a:solidFill>
                  <a:schemeClr val="lt1"/>
                </a:solidFill>
              </a:rPr>
              <a:t>capacitaciones</a:t>
            </a:r>
            <a:endParaRPr sz="1001" dirty="0"/>
          </a:p>
        </p:txBody>
      </p:sp>
      <p:sp>
        <p:nvSpPr>
          <p:cNvPr id="61" name="Google Shape;889;p20">
            <a:extLst>
              <a:ext uri="{FF2B5EF4-FFF2-40B4-BE49-F238E27FC236}">
                <a16:creationId xmlns:a16="http://schemas.microsoft.com/office/drawing/2014/main" id="{F2211D62-3510-73AD-9546-55A9D3C51ACA}"/>
              </a:ext>
            </a:extLst>
          </p:cNvPr>
          <p:cNvSpPr txBox="1">
            <a:spLocks/>
          </p:cNvSpPr>
          <p:nvPr/>
        </p:nvSpPr>
        <p:spPr>
          <a:xfrm>
            <a:off x="431800" y="-216300"/>
            <a:ext cx="6539401" cy="895200"/>
          </a:xfrm>
          <a:prstGeom prst="rect">
            <a:avLst/>
          </a:prstGeom>
          <a:noFill/>
          <a:ln>
            <a:noFill/>
          </a:ln>
        </p:spPr>
        <p:txBody>
          <a:bodyPr spcFirstLastPara="1" wrap="square" lIns="91401" tIns="45700" rIns="91401"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3807B"/>
              </a:buClr>
              <a:buSzPts val="4400"/>
              <a:buFont typeface="Calibri"/>
              <a:buNone/>
              <a:defRPr sz="4400" b="1" i="0" u="none" strike="noStrike" cap="none">
                <a:solidFill>
                  <a:srgbClr val="13807B"/>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2400" dirty="0" err="1"/>
              <a:t>Cronograma</a:t>
            </a:r>
            <a:r>
              <a:rPr lang="en-US" sz="2400" dirty="0"/>
              <a:t> General del Proyecto Banca </a:t>
            </a:r>
            <a:r>
              <a:rPr lang="en-US" sz="2400" dirty="0" err="1"/>
              <a:t>Negocio</a:t>
            </a:r>
            <a:endParaRPr lang="en-US" sz="2400" dirty="0"/>
          </a:p>
        </p:txBody>
      </p:sp>
    </p:spTree>
    <p:extLst>
      <p:ext uri="{BB962C8B-B14F-4D97-AF65-F5344CB8AC3E}">
        <p14:creationId xmlns:p14="http://schemas.microsoft.com/office/powerpoint/2010/main" val="3722102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70560" y="463296"/>
            <a:ext cx="14935200" cy="670560"/>
          </a:xfrm>
          <a:prstGeom prst="rect">
            <a:avLst/>
          </a:prstGeom>
          <a:noFill/>
          <a:ln/>
        </p:spPr>
        <p:txBody>
          <a:bodyPr wrap="square" lIns="0" tIns="0" rIns="0" bIns="0" rtlCol="0" anchor="t"/>
          <a:lstStyle/>
          <a:p>
            <a:r>
              <a:rPr lang="en-US" sz="3333" b="1" dirty="0">
                <a:solidFill>
                  <a:srgbClr val="1E7B6C"/>
                </a:solidFill>
                <a:latin typeface="Arial" pitchFamily="34" charset="0"/>
                <a:ea typeface="Arial" pitchFamily="34" charset="-122"/>
                <a:cs typeface="Arial" pitchFamily="34" charset="-120"/>
              </a:rPr>
              <a:t>Modelos visión 360°: responsable y frecuencia de monitoreo</a:t>
            </a:r>
            <a:endParaRPr lang="en-US" sz="3333" dirty="0"/>
          </a:p>
        </p:txBody>
      </p:sp>
      <p:sp>
        <p:nvSpPr>
          <p:cNvPr id="106" name="Rectangle 105">
            <a:extLst>
              <a:ext uri="{FF2B5EF4-FFF2-40B4-BE49-F238E27FC236}">
                <a16:creationId xmlns:a16="http://schemas.microsoft.com/office/drawing/2014/main" id="{3D4BF551-2855-407B-B612-2C0A2F1EBA3E}"/>
              </a:ext>
            </a:extLst>
          </p:cNvPr>
          <p:cNvSpPr/>
          <p:nvPr/>
        </p:nvSpPr>
        <p:spPr>
          <a:xfrm>
            <a:off x="0" y="1133856"/>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600" noProof="0" dirty="0">
              <a:latin typeface="Calibri" panose="020F0502020204030204" pitchFamily="34" charset="0"/>
              <a:cs typeface="Calibri" panose="020F0502020204030204" pitchFamily="34" charset="0"/>
            </a:endParaRPr>
          </a:p>
        </p:txBody>
      </p:sp>
      <p:sp>
        <p:nvSpPr>
          <p:cNvPr id="107" name="Text 1">
            <a:extLst>
              <a:ext uri="{FF2B5EF4-FFF2-40B4-BE49-F238E27FC236}">
                <a16:creationId xmlns:a16="http://schemas.microsoft.com/office/drawing/2014/main" id="{5F6FB906-08E1-71D0-1465-11C076E59D41}"/>
              </a:ext>
            </a:extLst>
          </p:cNvPr>
          <p:cNvSpPr txBox="1"/>
          <p:nvPr/>
        </p:nvSpPr>
        <p:spPr>
          <a:xfrm>
            <a:off x="670560" y="1219200"/>
            <a:ext cx="13411200" cy="365760"/>
          </a:xfrm>
          <a:prstGeom prst="rect">
            <a:avLst/>
          </a:prstGeom>
          <a:noFill/>
          <a:ln/>
        </p:spPr>
        <p:txBody>
          <a:bodyPr wrap="square" lIns="0" tIns="0" rIns="0" bIns="0" rtlCol="0" anchor="ctr"/>
          <a:lstStyle/>
          <a:p>
            <a:r>
              <a:rPr lang="en-US" sz="1667" dirty="0">
                <a:solidFill>
                  <a:srgbClr val="6E767F"/>
                </a:solidFill>
                <a:latin typeface="Arial" pitchFamily="34" charset="0"/>
                <a:ea typeface="Arial" pitchFamily="34" charset="-122"/>
                <a:cs typeface="Arial" pitchFamily="34" charset="-120"/>
              </a:rPr>
              <a:t>Los 10 inputs del programa, con el área responsable y la frecuencia de monitoreo comprometida.</a:t>
            </a:r>
            <a:endParaRPr lang="en-US" sz="1667" dirty="0"/>
          </a:p>
        </p:txBody>
      </p:sp>
      <p:sp>
        <p:nvSpPr>
          <p:cNvPr id="108" name="Text 2">
            <a:extLst>
              <a:ext uri="{FF2B5EF4-FFF2-40B4-BE49-F238E27FC236}">
                <a16:creationId xmlns:a16="http://schemas.microsoft.com/office/drawing/2014/main" id="{6754916D-47C7-EE91-34B0-9FFA55D44FD1}"/>
              </a:ext>
            </a:extLst>
          </p:cNvPr>
          <p:cNvSpPr txBox="1"/>
          <p:nvPr/>
        </p:nvSpPr>
        <p:spPr>
          <a:xfrm>
            <a:off x="731520" y="1853184"/>
            <a:ext cx="487680" cy="316992"/>
          </a:xfrm>
          <a:prstGeom prst="rect">
            <a:avLst/>
          </a:prstGeom>
          <a:noFill/>
          <a:ln/>
        </p:spPr>
        <p:txBody>
          <a:bodyPr wrap="square" lIns="0" tIns="0" rIns="0" bIns="0" rtlCol="0" anchor="ctr"/>
          <a:lstStyle/>
          <a:p>
            <a:r>
              <a:rPr lang="en-US" sz="1333" b="1" spc="133" dirty="0">
                <a:solidFill>
                  <a:srgbClr val="6E767F"/>
                </a:solidFill>
                <a:latin typeface="Arial" pitchFamily="34" charset="0"/>
                <a:ea typeface="Arial" pitchFamily="34" charset="-122"/>
                <a:cs typeface="Arial" pitchFamily="34" charset="-120"/>
              </a:rPr>
              <a:t>N°</a:t>
            </a:r>
            <a:endParaRPr lang="en-US" sz="1333" dirty="0"/>
          </a:p>
        </p:txBody>
      </p:sp>
      <p:sp>
        <p:nvSpPr>
          <p:cNvPr id="109" name="Text 3">
            <a:extLst>
              <a:ext uri="{FF2B5EF4-FFF2-40B4-BE49-F238E27FC236}">
                <a16:creationId xmlns:a16="http://schemas.microsoft.com/office/drawing/2014/main" id="{8D89B2F4-0920-271E-892F-EF5AB3EF7E93}"/>
              </a:ext>
            </a:extLst>
          </p:cNvPr>
          <p:cNvSpPr txBox="1"/>
          <p:nvPr/>
        </p:nvSpPr>
        <p:spPr>
          <a:xfrm>
            <a:off x="1365504" y="1853184"/>
            <a:ext cx="3535680" cy="316992"/>
          </a:xfrm>
          <a:prstGeom prst="rect">
            <a:avLst/>
          </a:prstGeom>
          <a:noFill/>
          <a:ln/>
        </p:spPr>
        <p:txBody>
          <a:bodyPr wrap="square" lIns="0" tIns="0" rIns="0" bIns="0" rtlCol="0" anchor="ctr"/>
          <a:lstStyle/>
          <a:p>
            <a:r>
              <a:rPr lang="en-US" sz="1333" b="1" spc="133" dirty="0">
                <a:solidFill>
                  <a:srgbClr val="6E767F"/>
                </a:solidFill>
                <a:latin typeface="Arial" pitchFamily="34" charset="0"/>
                <a:ea typeface="Arial" pitchFamily="34" charset="-122"/>
                <a:cs typeface="Arial" pitchFamily="34" charset="-120"/>
              </a:rPr>
              <a:t>MODELO</a:t>
            </a:r>
            <a:endParaRPr lang="en-US" sz="1333" dirty="0"/>
          </a:p>
        </p:txBody>
      </p:sp>
      <p:sp>
        <p:nvSpPr>
          <p:cNvPr id="110" name="Text 4">
            <a:extLst>
              <a:ext uri="{FF2B5EF4-FFF2-40B4-BE49-F238E27FC236}">
                <a16:creationId xmlns:a16="http://schemas.microsoft.com/office/drawing/2014/main" id="{E70CCA81-46DF-534D-9A6B-2FA8A43340A4}"/>
              </a:ext>
            </a:extLst>
          </p:cNvPr>
          <p:cNvSpPr txBox="1"/>
          <p:nvPr/>
        </p:nvSpPr>
        <p:spPr>
          <a:xfrm>
            <a:off x="4616764" y="1853184"/>
            <a:ext cx="2804160" cy="316992"/>
          </a:xfrm>
          <a:prstGeom prst="rect">
            <a:avLst/>
          </a:prstGeom>
          <a:noFill/>
          <a:ln/>
        </p:spPr>
        <p:txBody>
          <a:bodyPr wrap="square" lIns="0" tIns="0" rIns="0" bIns="0" rtlCol="0" anchor="ctr"/>
          <a:lstStyle/>
          <a:p>
            <a:pPr algn="ctr"/>
            <a:r>
              <a:rPr lang="en-US" sz="1333" b="1" spc="133" dirty="0">
                <a:solidFill>
                  <a:srgbClr val="6E767F"/>
                </a:solidFill>
                <a:latin typeface="Arial" pitchFamily="34" charset="0"/>
                <a:cs typeface="Arial" pitchFamily="34" charset="-120"/>
              </a:rPr>
              <a:t>RESPONSABLE</a:t>
            </a:r>
            <a:endParaRPr lang="en-US" sz="1333" dirty="0"/>
          </a:p>
        </p:txBody>
      </p:sp>
      <p:sp>
        <p:nvSpPr>
          <p:cNvPr id="111" name="Text 5">
            <a:extLst>
              <a:ext uri="{FF2B5EF4-FFF2-40B4-BE49-F238E27FC236}">
                <a16:creationId xmlns:a16="http://schemas.microsoft.com/office/drawing/2014/main" id="{70200F46-1F4E-9819-4333-06C3D3346DC7}"/>
              </a:ext>
            </a:extLst>
          </p:cNvPr>
          <p:cNvSpPr txBox="1"/>
          <p:nvPr/>
        </p:nvSpPr>
        <p:spPr>
          <a:xfrm>
            <a:off x="7985760" y="1853184"/>
            <a:ext cx="2438400" cy="316992"/>
          </a:xfrm>
          <a:prstGeom prst="rect">
            <a:avLst/>
          </a:prstGeom>
          <a:noFill/>
          <a:ln/>
        </p:spPr>
        <p:txBody>
          <a:bodyPr wrap="square" lIns="0" tIns="0" rIns="0" bIns="0" rtlCol="0" anchor="ctr"/>
          <a:lstStyle/>
          <a:p>
            <a:r>
              <a:rPr lang="en-US" sz="1333" b="1" spc="133" dirty="0">
                <a:solidFill>
                  <a:srgbClr val="6E767F"/>
                </a:solidFill>
                <a:latin typeface="Arial" pitchFamily="34" charset="0"/>
                <a:ea typeface="Arial" pitchFamily="34" charset="-122"/>
                <a:cs typeface="Arial" pitchFamily="34" charset="-120"/>
              </a:rPr>
              <a:t>MONITOREO</a:t>
            </a:r>
            <a:endParaRPr lang="en-US" sz="1333" dirty="0"/>
          </a:p>
        </p:txBody>
      </p:sp>
      <p:sp>
        <p:nvSpPr>
          <p:cNvPr id="112" name="Shape 6">
            <a:extLst>
              <a:ext uri="{FF2B5EF4-FFF2-40B4-BE49-F238E27FC236}">
                <a16:creationId xmlns:a16="http://schemas.microsoft.com/office/drawing/2014/main" id="{1E757854-D0BA-0E9B-CAD9-E28765C8640B}"/>
              </a:ext>
            </a:extLst>
          </p:cNvPr>
          <p:cNvSpPr/>
          <p:nvPr/>
        </p:nvSpPr>
        <p:spPr>
          <a:xfrm>
            <a:off x="670560" y="2218944"/>
            <a:ext cx="9692640" cy="30480"/>
          </a:xfrm>
          <a:prstGeom prst="rect">
            <a:avLst/>
          </a:prstGeom>
          <a:solidFill>
            <a:srgbClr val="1E7B6C"/>
          </a:solidFill>
          <a:ln/>
        </p:spPr>
        <p:txBody>
          <a:bodyPr/>
          <a:lstStyle/>
          <a:p>
            <a:endParaRPr lang="es-ES_tradnl" sz="1867"/>
          </a:p>
        </p:txBody>
      </p:sp>
      <p:sp>
        <p:nvSpPr>
          <p:cNvPr id="113" name="Shape 7">
            <a:extLst>
              <a:ext uri="{FF2B5EF4-FFF2-40B4-BE49-F238E27FC236}">
                <a16:creationId xmlns:a16="http://schemas.microsoft.com/office/drawing/2014/main" id="{53F69537-2373-D720-9140-33F73F8E2089}"/>
              </a:ext>
            </a:extLst>
          </p:cNvPr>
          <p:cNvSpPr/>
          <p:nvPr/>
        </p:nvSpPr>
        <p:spPr>
          <a:xfrm>
            <a:off x="731520" y="2481072"/>
            <a:ext cx="329184" cy="329184"/>
          </a:xfrm>
          <a:prstGeom prst="ellipse">
            <a:avLst/>
          </a:prstGeom>
          <a:solidFill>
            <a:srgbClr val="2F3A6E"/>
          </a:solidFill>
          <a:ln/>
        </p:spPr>
        <p:txBody>
          <a:bodyPr/>
          <a:lstStyle/>
          <a:p>
            <a:endParaRPr lang="es-ES_tradnl" sz="1867"/>
          </a:p>
        </p:txBody>
      </p:sp>
      <p:sp>
        <p:nvSpPr>
          <p:cNvPr id="114" name="Text 8">
            <a:extLst>
              <a:ext uri="{FF2B5EF4-FFF2-40B4-BE49-F238E27FC236}">
                <a16:creationId xmlns:a16="http://schemas.microsoft.com/office/drawing/2014/main" id="{08F56A03-7E13-3DB7-B2E8-5ECBB6C3B651}"/>
              </a:ext>
            </a:extLst>
          </p:cNvPr>
          <p:cNvSpPr txBox="1"/>
          <p:nvPr/>
        </p:nvSpPr>
        <p:spPr>
          <a:xfrm>
            <a:off x="731520" y="2481072"/>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1</a:t>
            </a:r>
            <a:endParaRPr lang="en-US" dirty="0"/>
          </a:p>
        </p:txBody>
      </p:sp>
      <p:sp>
        <p:nvSpPr>
          <p:cNvPr id="115" name="Text 9">
            <a:extLst>
              <a:ext uri="{FF2B5EF4-FFF2-40B4-BE49-F238E27FC236}">
                <a16:creationId xmlns:a16="http://schemas.microsoft.com/office/drawing/2014/main" id="{A8FF66BB-61EE-FC8D-3A9B-C7EB8FB7F7E2}"/>
              </a:ext>
            </a:extLst>
          </p:cNvPr>
          <p:cNvSpPr txBox="1"/>
          <p:nvPr/>
        </p:nvSpPr>
        <p:spPr>
          <a:xfrm>
            <a:off x="1365504" y="2450592"/>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PD Lifetime</a:t>
            </a:r>
            <a:endParaRPr lang="en-US" sz="1800" dirty="0"/>
          </a:p>
        </p:txBody>
      </p:sp>
      <p:sp>
        <p:nvSpPr>
          <p:cNvPr id="116" name="Shape 10">
            <a:extLst>
              <a:ext uri="{FF2B5EF4-FFF2-40B4-BE49-F238E27FC236}">
                <a16:creationId xmlns:a16="http://schemas.microsoft.com/office/drawing/2014/main" id="{56587F7B-5DC8-66EE-4DEA-85F777D4D757}"/>
              </a:ext>
            </a:extLst>
          </p:cNvPr>
          <p:cNvSpPr/>
          <p:nvPr/>
        </p:nvSpPr>
        <p:spPr>
          <a:xfrm>
            <a:off x="5059680" y="2462784"/>
            <a:ext cx="1975104" cy="365760"/>
          </a:xfrm>
          <a:prstGeom prst="roundRect">
            <a:avLst>
              <a:gd name="adj" fmla="val 46667"/>
            </a:avLst>
          </a:prstGeom>
          <a:solidFill>
            <a:srgbClr val="E9EBF3"/>
          </a:solidFill>
          <a:ln/>
        </p:spPr>
        <p:txBody>
          <a:bodyPr/>
          <a:lstStyle/>
          <a:p>
            <a:endParaRPr lang="es-ES_tradnl" sz="1867"/>
          </a:p>
        </p:txBody>
      </p:sp>
      <p:sp>
        <p:nvSpPr>
          <p:cNvPr id="117" name="Text 11">
            <a:extLst>
              <a:ext uri="{FF2B5EF4-FFF2-40B4-BE49-F238E27FC236}">
                <a16:creationId xmlns:a16="http://schemas.microsoft.com/office/drawing/2014/main" id="{B5FD0BF8-4758-6368-CA15-D815B9AB0FCD}"/>
              </a:ext>
            </a:extLst>
          </p:cNvPr>
          <p:cNvSpPr txBox="1"/>
          <p:nvPr/>
        </p:nvSpPr>
        <p:spPr>
          <a:xfrm>
            <a:off x="5059680" y="2462784"/>
            <a:ext cx="1975104" cy="365760"/>
          </a:xfrm>
          <a:prstGeom prst="rect">
            <a:avLst/>
          </a:prstGeom>
          <a:noFill/>
          <a:ln/>
        </p:spPr>
        <p:txBody>
          <a:bodyPr wrap="square" lIns="0" tIns="0" rIns="0" bIns="0" rtlCol="0" anchor="ctr"/>
          <a:lstStyle/>
          <a:p>
            <a:pPr algn="ctr"/>
            <a:r>
              <a:rPr lang="en-US" sz="1467" b="1" dirty="0">
                <a:solidFill>
                  <a:srgbClr val="2F3A6E"/>
                </a:solidFill>
                <a:latin typeface="Arial" pitchFamily="34" charset="0"/>
                <a:ea typeface="Arial" pitchFamily="34" charset="-122"/>
                <a:cs typeface="Arial" pitchFamily="34" charset="-120"/>
              </a:rPr>
              <a:t>Riesgos</a:t>
            </a:r>
            <a:endParaRPr lang="en-US" sz="1467" dirty="0"/>
          </a:p>
        </p:txBody>
      </p:sp>
      <p:sp>
        <p:nvSpPr>
          <p:cNvPr id="118" name="Shape 12">
            <a:extLst>
              <a:ext uri="{FF2B5EF4-FFF2-40B4-BE49-F238E27FC236}">
                <a16:creationId xmlns:a16="http://schemas.microsoft.com/office/drawing/2014/main" id="{51DCF85A-91CA-12B7-C8DB-F5767BEDDDB3}"/>
              </a:ext>
            </a:extLst>
          </p:cNvPr>
          <p:cNvSpPr/>
          <p:nvPr/>
        </p:nvSpPr>
        <p:spPr>
          <a:xfrm>
            <a:off x="7985760" y="2462784"/>
            <a:ext cx="1828800" cy="365760"/>
          </a:xfrm>
          <a:prstGeom prst="roundRect">
            <a:avLst>
              <a:gd name="adj" fmla="val 46667"/>
            </a:avLst>
          </a:prstGeom>
          <a:solidFill>
            <a:srgbClr val="E4F0EE"/>
          </a:solidFill>
          <a:ln/>
        </p:spPr>
        <p:txBody>
          <a:bodyPr/>
          <a:lstStyle/>
          <a:p>
            <a:endParaRPr lang="es-ES_tradnl" sz="1867"/>
          </a:p>
        </p:txBody>
      </p:sp>
      <p:sp>
        <p:nvSpPr>
          <p:cNvPr id="119" name="Text 13">
            <a:extLst>
              <a:ext uri="{FF2B5EF4-FFF2-40B4-BE49-F238E27FC236}">
                <a16:creationId xmlns:a16="http://schemas.microsoft.com/office/drawing/2014/main" id="{4E053FAA-697A-A741-1FBB-A37538CD35DE}"/>
              </a:ext>
            </a:extLst>
          </p:cNvPr>
          <p:cNvSpPr txBox="1"/>
          <p:nvPr/>
        </p:nvSpPr>
        <p:spPr>
          <a:xfrm>
            <a:off x="7985760" y="2462784"/>
            <a:ext cx="1828800"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Trimestral</a:t>
            </a:r>
            <a:endParaRPr lang="en-US" sz="1467" dirty="0"/>
          </a:p>
        </p:txBody>
      </p:sp>
      <p:sp>
        <p:nvSpPr>
          <p:cNvPr id="120" name="Shape 14">
            <a:extLst>
              <a:ext uri="{FF2B5EF4-FFF2-40B4-BE49-F238E27FC236}">
                <a16:creationId xmlns:a16="http://schemas.microsoft.com/office/drawing/2014/main" id="{BD7E6E6A-73B5-3FBC-FF36-F237FD68FDC1}"/>
              </a:ext>
            </a:extLst>
          </p:cNvPr>
          <p:cNvSpPr/>
          <p:nvPr/>
        </p:nvSpPr>
        <p:spPr>
          <a:xfrm>
            <a:off x="670560" y="2907792"/>
            <a:ext cx="9692640" cy="12192"/>
          </a:xfrm>
          <a:prstGeom prst="rect">
            <a:avLst/>
          </a:prstGeom>
          <a:solidFill>
            <a:srgbClr val="DDE3E6"/>
          </a:solidFill>
          <a:ln/>
        </p:spPr>
        <p:txBody>
          <a:bodyPr/>
          <a:lstStyle/>
          <a:p>
            <a:endParaRPr lang="es-ES_tradnl" sz="1867"/>
          </a:p>
        </p:txBody>
      </p:sp>
      <p:sp>
        <p:nvSpPr>
          <p:cNvPr id="121" name="Shape 15">
            <a:extLst>
              <a:ext uri="{FF2B5EF4-FFF2-40B4-BE49-F238E27FC236}">
                <a16:creationId xmlns:a16="http://schemas.microsoft.com/office/drawing/2014/main" id="{CAD66ACB-F790-FF83-A948-B9B39678F06E}"/>
              </a:ext>
            </a:extLst>
          </p:cNvPr>
          <p:cNvSpPr/>
          <p:nvPr/>
        </p:nvSpPr>
        <p:spPr>
          <a:xfrm>
            <a:off x="731520" y="3017520"/>
            <a:ext cx="329184" cy="329184"/>
          </a:xfrm>
          <a:prstGeom prst="ellipse">
            <a:avLst/>
          </a:prstGeom>
          <a:solidFill>
            <a:srgbClr val="2F3A6E"/>
          </a:solidFill>
          <a:ln/>
        </p:spPr>
        <p:txBody>
          <a:bodyPr/>
          <a:lstStyle/>
          <a:p>
            <a:endParaRPr lang="es-ES_tradnl" sz="1867"/>
          </a:p>
        </p:txBody>
      </p:sp>
      <p:sp>
        <p:nvSpPr>
          <p:cNvPr id="122" name="Text 16">
            <a:extLst>
              <a:ext uri="{FF2B5EF4-FFF2-40B4-BE49-F238E27FC236}">
                <a16:creationId xmlns:a16="http://schemas.microsoft.com/office/drawing/2014/main" id="{18C02364-16F1-194B-E9B5-DB2D7943D61D}"/>
              </a:ext>
            </a:extLst>
          </p:cNvPr>
          <p:cNvSpPr txBox="1"/>
          <p:nvPr/>
        </p:nvSpPr>
        <p:spPr>
          <a:xfrm>
            <a:off x="731520" y="3017520"/>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2</a:t>
            </a:r>
            <a:endParaRPr lang="en-US" dirty="0"/>
          </a:p>
        </p:txBody>
      </p:sp>
      <p:sp>
        <p:nvSpPr>
          <p:cNvPr id="123" name="Text 17">
            <a:extLst>
              <a:ext uri="{FF2B5EF4-FFF2-40B4-BE49-F238E27FC236}">
                <a16:creationId xmlns:a16="http://schemas.microsoft.com/office/drawing/2014/main" id="{A009057E-A52A-4EC6-6C69-A7D2175D7F8E}"/>
              </a:ext>
            </a:extLst>
          </p:cNvPr>
          <p:cNvSpPr txBox="1"/>
          <p:nvPr/>
        </p:nvSpPr>
        <p:spPr>
          <a:xfrm>
            <a:off x="1365504" y="2987040"/>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LGD Lifetime</a:t>
            </a:r>
            <a:endParaRPr lang="en-US" sz="1800" dirty="0"/>
          </a:p>
        </p:txBody>
      </p:sp>
      <p:sp>
        <p:nvSpPr>
          <p:cNvPr id="124" name="Shape 18">
            <a:extLst>
              <a:ext uri="{FF2B5EF4-FFF2-40B4-BE49-F238E27FC236}">
                <a16:creationId xmlns:a16="http://schemas.microsoft.com/office/drawing/2014/main" id="{6478AFB2-07AA-D900-7F0A-398874DE875D}"/>
              </a:ext>
            </a:extLst>
          </p:cNvPr>
          <p:cNvSpPr/>
          <p:nvPr/>
        </p:nvSpPr>
        <p:spPr>
          <a:xfrm>
            <a:off x="5059680" y="2999232"/>
            <a:ext cx="1975104" cy="365760"/>
          </a:xfrm>
          <a:prstGeom prst="roundRect">
            <a:avLst>
              <a:gd name="adj" fmla="val 46667"/>
            </a:avLst>
          </a:prstGeom>
          <a:solidFill>
            <a:srgbClr val="E9EBF3"/>
          </a:solidFill>
          <a:ln/>
        </p:spPr>
        <p:txBody>
          <a:bodyPr/>
          <a:lstStyle/>
          <a:p>
            <a:endParaRPr lang="es-ES_tradnl" sz="1867"/>
          </a:p>
        </p:txBody>
      </p:sp>
      <p:sp>
        <p:nvSpPr>
          <p:cNvPr id="125" name="Text 19">
            <a:extLst>
              <a:ext uri="{FF2B5EF4-FFF2-40B4-BE49-F238E27FC236}">
                <a16:creationId xmlns:a16="http://schemas.microsoft.com/office/drawing/2014/main" id="{338586BD-4B77-9DDF-7454-34AF23DB545B}"/>
              </a:ext>
            </a:extLst>
          </p:cNvPr>
          <p:cNvSpPr txBox="1"/>
          <p:nvPr/>
        </p:nvSpPr>
        <p:spPr>
          <a:xfrm>
            <a:off x="5059680" y="2999232"/>
            <a:ext cx="1975104" cy="365760"/>
          </a:xfrm>
          <a:prstGeom prst="rect">
            <a:avLst/>
          </a:prstGeom>
          <a:noFill/>
          <a:ln/>
        </p:spPr>
        <p:txBody>
          <a:bodyPr wrap="square" lIns="0" tIns="0" rIns="0" bIns="0" rtlCol="0" anchor="ctr"/>
          <a:lstStyle/>
          <a:p>
            <a:pPr algn="ctr"/>
            <a:r>
              <a:rPr lang="en-US" sz="1467" b="1" dirty="0">
                <a:solidFill>
                  <a:srgbClr val="2F3A6E"/>
                </a:solidFill>
                <a:latin typeface="Arial" pitchFamily="34" charset="0"/>
                <a:ea typeface="Arial" pitchFamily="34" charset="-122"/>
                <a:cs typeface="Arial" pitchFamily="34" charset="-120"/>
              </a:rPr>
              <a:t>Riesgos</a:t>
            </a:r>
            <a:endParaRPr lang="en-US" sz="1467" dirty="0"/>
          </a:p>
        </p:txBody>
      </p:sp>
      <p:sp>
        <p:nvSpPr>
          <p:cNvPr id="126" name="Shape 20">
            <a:extLst>
              <a:ext uri="{FF2B5EF4-FFF2-40B4-BE49-F238E27FC236}">
                <a16:creationId xmlns:a16="http://schemas.microsoft.com/office/drawing/2014/main" id="{D8E45814-4A24-2D11-0F95-EDE95B0ADB4B}"/>
              </a:ext>
            </a:extLst>
          </p:cNvPr>
          <p:cNvSpPr/>
          <p:nvPr/>
        </p:nvSpPr>
        <p:spPr>
          <a:xfrm>
            <a:off x="7985760" y="2999232"/>
            <a:ext cx="1828800" cy="365760"/>
          </a:xfrm>
          <a:prstGeom prst="roundRect">
            <a:avLst>
              <a:gd name="adj" fmla="val 46667"/>
            </a:avLst>
          </a:prstGeom>
          <a:solidFill>
            <a:srgbClr val="E9EBF3"/>
          </a:solidFill>
          <a:ln/>
        </p:spPr>
        <p:txBody>
          <a:bodyPr/>
          <a:lstStyle/>
          <a:p>
            <a:endParaRPr lang="es-ES_tradnl" sz="1867"/>
          </a:p>
        </p:txBody>
      </p:sp>
      <p:sp>
        <p:nvSpPr>
          <p:cNvPr id="127" name="Text 21">
            <a:extLst>
              <a:ext uri="{FF2B5EF4-FFF2-40B4-BE49-F238E27FC236}">
                <a16:creationId xmlns:a16="http://schemas.microsoft.com/office/drawing/2014/main" id="{790E4227-DFF1-C2AE-3124-01E3950515DE}"/>
              </a:ext>
            </a:extLst>
          </p:cNvPr>
          <p:cNvSpPr txBox="1"/>
          <p:nvPr/>
        </p:nvSpPr>
        <p:spPr>
          <a:xfrm>
            <a:off x="7985760" y="2999232"/>
            <a:ext cx="1828800" cy="365760"/>
          </a:xfrm>
          <a:prstGeom prst="rect">
            <a:avLst/>
          </a:prstGeom>
          <a:noFill/>
          <a:ln/>
        </p:spPr>
        <p:txBody>
          <a:bodyPr wrap="square" lIns="0" tIns="0" rIns="0" bIns="0" rtlCol="0" anchor="ctr"/>
          <a:lstStyle/>
          <a:p>
            <a:pPr algn="ctr"/>
            <a:r>
              <a:rPr lang="en-US" sz="1467" b="1" dirty="0">
                <a:solidFill>
                  <a:srgbClr val="2F3A6E"/>
                </a:solidFill>
                <a:latin typeface="Arial" pitchFamily="34" charset="0"/>
                <a:ea typeface="Arial" pitchFamily="34" charset="-122"/>
                <a:cs typeface="Arial" pitchFamily="34" charset="-120"/>
              </a:rPr>
              <a:t>Semestral</a:t>
            </a:r>
            <a:endParaRPr lang="en-US" sz="1467" dirty="0"/>
          </a:p>
        </p:txBody>
      </p:sp>
      <p:sp>
        <p:nvSpPr>
          <p:cNvPr id="128" name="Shape 22">
            <a:extLst>
              <a:ext uri="{FF2B5EF4-FFF2-40B4-BE49-F238E27FC236}">
                <a16:creationId xmlns:a16="http://schemas.microsoft.com/office/drawing/2014/main" id="{1424E5CE-28EC-5BC4-2214-86991BB48B4A}"/>
              </a:ext>
            </a:extLst>
          </p:cNvPr>
          <p:cNvSpPr/>
          <p:nvPr/>
        </p:nvSpPr>
        <p:spPr>
          <a:xfrm>
            <a:off x="670560" y="3444240"/>
            <a:ext cx="9692640" cy="12192"/>
          </a:xfrm>
          <a:prstGeom prst="rect">
            <a:avLst/>
          </a:prstGeom>
          <a:solidFill>
            <a:srgbClr val="DDE3E6"/>
          </a:solidFill>
          <a:ln/>
        </p:spPr>
        <p:txBody>
          <a:bodyPr/>
          <a:lstStyle/>
          <a:p>
            <a:endParaRPr lang="es-ES_tradnl" sz="1867"/>
          </a:p>
        </p:txBody>
      </p:sp>
      <p:sp>
        <p:nvSpPr>
          <p:cNvPr id="129" name="Shape 23">
            <a:extLst>
              <a:ext uri="{FF2B5EF4-FFF2-40B4-BE49-F238E27FC236}">
                <a16:creationId xmlns:a16="http://schemas.microsoft.com/office/drawing/2014/main" id="{60342DDE-5622-FFD3-89D9-C00E216E2DEF}"/>
              </a:ext>
            </a:extLst>
          </p:cNvPr>
          <p:cNvSpPr/>
          <p:nvPr/>
        </p:nvSpPr>
        <p:spPr>
          <a:xfrm>
            <a:off x="731520" y="3553968"/>
            <a:ext cx="329184" cy="329184"/>
          </a:xfrm>
          <a:prstGeom prst="ellipse">
            <a:avLst/>
          </a:prstGeom>
          <a:solidFill>
            <a:srgbClr val="1E7B6C"/>
          </a:solidFill>
          <a:ln/>
        </p:spPr>
        <p:txBody>
          <a:bodyPr/>
          <a:lstStyle/>
          <a:p>
            <a:endParaRPr lang="es-ES_tradnl" sz="1867"/>
          </a:p>
        </p:txBody>
      </p:sp>
      <p:sp>
        <p:nvSpPr>
          <p:cNvPr id="130" name="Text 24">
            <a:extLst>
              <a:ext uri="{FF2B5EF4-FFF2-40B4-BE49-F238E27FC236}">
                <a16:creationId xmlns:a16="http://schemas.microsoft.com/office/drawing/2014/main" id="{45333699-B30A-C8BF-EFD9-CB1A27362F67}"/>
              </a:ext>
            </a:extLst>
          </p:cNvPr>
          <p:cNvSpPr txBox="1"/>
          <p:nvPr/>
        </p:nvSpPr>
        <p:spPr>
          <a:xfrm>
            <a:off x="731520" y="3553968"/>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3</a:t>
            </a:r>
            <a:endParaRPr lang="en-US" dirty="0"/>
          </a:p>
        </p:txBody>
      </p:sp>
      <p:sp>
        <p:nvSpPr>
          <p:cNvPr id="131" name="Text 25">
            <a:extLst>
              <a:ext uri="{FF2B5EF4-FFF2-40B4-BE49-F238E27FC236}">
                <a16:creationId xmlns:a16="http://schemas.microsoft.com/office/drawing/2014/main" id="{F2CADB6E-90CF-0350-F2CC-1F9102BE0801}"/>
              </a:ext>
            </a:extLst>
          </p:cNvPr>
          <p:cNvSpPr txBox="1"/>
          <p:nvPr/>
        </p:nvSpPr>
        <p:spPr>
          <a:xfrm>
            <a:off x="1365504" y="3523488"/>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Prepagos</a:t>
            </a:r>
            <a:endParaRPr lang="en-US" sz="1800" dirty="0"/>
          </a:p>
        </p:txBody>
      </p:sp>
      <p:sp>
        <p:nvSpPr>
          <p:cNvPr id="132" name="Shape 26">
            <a:extLst>
              <a:ext uri="{FF2B5EF4-FFF2-40B4-BE49-F238E27FC236}">
                <a16:creationId xmlns:a16="http://schemas.microsoft.com/office/drawing/2014/main" id="{94807D2A-55C4-B693-44CC-49D5825CC636}"/>
              </a:ext>
            </a:extLst>
          </p:cNvPr>
          <p:cNvSpPr/>
          <p:nvPr/>
        </p:nvSpPr>
        <p:spPr>
          <a:xfrm>
            <a:off x="5059680" y="3535680"/>
            <a:ext cx="1975104" cy="365760"/>
          </a:xfrm>
          <a:prstGeom prst="roundRect">
            <a:avLst>
              <a:gd name="adj" fmla="val 46667"/>
            </a:avLst>
          </a:prstGeom>
          <a:solidFill>
            <a:srgbClr val="E4F0EE"/>
          </a:solidFill>
          <a:ln/>
        </p:spPr>
        <p:txBody>
          <a:bodyPr/>
          <a:lstStyle/>
          <a:p>
            <a:endParaRPr lang="es-ES_tradnl" sz="1867"/>
          </a:p>
        </p:txBody>
      </p:sp>
      <p:sp>
        <p:nvSpPr>
          <p:cNvPr id="133" name="Text 27">
            <a:extLst>
              <a:ext uri="{FF2B5EF4-FFF2-40B4-BE49-F238E27FC236}">
                <a16:creationId xmlns:a16="http://schemas.microsoft.com/office/drawing/2014/main" id="{CCFAAD6D-BAAE-2CB7-B648-5574C5D02A5D}"/>
              </a:ext>
            </a:extLst>
          </p:cNvPr>
          <p:cNvSpPr txBox="1"/>
          <p:nvPr/>
        </p:nvSpPr>
        <p:spPr>
          <a:xfrm>
            <a:off x="5059680" y="3535680"/>
            <a:ext cx="1975104"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Data Science</a:t>
            </a:r>
            <a:endParaRPr lang="en-US" sz="1467" dirty="0"/>
          </a:p>
        </p:txBody>
      </p:sp>
      <p:sp>
        <p:nvSpPr>
          <p:cNvPr id="134" name="Shape 28">
            <a:extLst>
              <a:ext uri="{FF2B5EF4-FFF2-40B4-BE49-F238E27FC236}">
                <a16:creationId xmlns:a16="http://schemas.microsoft.com/office/drawing/2014/main" id="{835EDEE9-9A55-C1A1-9C6F-A767D61CA58E}"/>
              </a:ext>
            </a:extLst>
          </p:cNvPr>
          <p:cNvSpPr/>
          <p:nvPr/>
        </p:nvSpPr>
        <p:spPr>
          <a:xfrm>
            <a:off x="7985760" y="3535680"/>
            <a:ext cx="1828800" cy="365760"/>
          </a:xfrm>
          <a:prstGeom prst="roundRect">
            <a:avLst>
              <a:gd name="adj" fmla="val 46667"/>
            </a:avLst>
          </a:prstGeom>
          <a:solidFill>
            <a:srgbClr val="E4F0EE"/>
          </a:solidFill>
          <a:ln/>
        </p:spPr>
        <p:txBody>
          <a:bodyPr/>
          <a:lstStyle/>
          <a:p>
            <a:endParaRPr lang="es-ES_tradnl" sz="1867"/>
          </a:p>
        </p:txBody>
      </p:sp>
      <p:sp>
        <p:nvSpPr>
          <p:cNvPr id="135" name="Text 29">
            <a:extLst>
              <a:ext uri="{FF2B5EF4-FFF2-40B4-BE49-F238E27FC236}">
                <a16:creationId xmlns:a16="http://schemas.microsoft.com/office/drawing/2014/main" id="{913B007B-701A-889C-CB6B-AC34A36D5F3D}"/>
              </a:ext>
            </a:extLst>
          </p:cNvPr>
          <p:cNvSpPr txBox="1"/>
          <p:nvPr/>
        </p:nvSpPr>
        <p:spPr>
          <a:xfrm>
            <a:off x="7985760" y="3535680"/>
            <a:ext cx="1828800"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Trimestral</a:t>
            </a:r>
            <a:endParaRPr lang="en-US" sz="1467" dirty="0"/>
          </a:p>
        </p:txBody>
      </p:sp>
      <p:sp>
        <p:nvSpPr>
          <p:cNvPr id="136" name="Shape 30">
            <a:extLst>
              <a:ext uri="{FF2B5EF4-FFF2-40B4-BE49-F238E27FC236}">
                <a16:creationId xmlns:a16="http://schemas.microsoft.com/office/drawing/2014/main" id="{6CF3CCCA-A2AA-3F68-C78F-B2A5C6EC8774}"/>
              </a:ext>
            </a:extLst>
          </p:cNvPr>
          <p:cNvSpPr/>
          <p:nvPr/>
        </p:nvSpPr>
        <p:spPr>
          <a:xfrm>
            <a:off x="670560" y="3980688"/>
            <a:ext cx="9692640" cy="12192"/>
          </a:xfrm>
          <a:prstGeom prst="rect">
            <a:avLst/>
          </a:prstGeom>
          <a:solidFill>
            <a:srgbClr val="DDE3E6"/>
          </a:solidFill>
          <a:ln/>
        </p:spPr>
        <p:txBody>
          <a:bodyPr/>
          <a:lstStyle/>
          <a:p>
            <a:endParaRPr lang="es-ES_tradnl" sz="1867"/>
          </a:p>
        </p:txBody>
      </p:sp>
      <p:sp>
        <p:nvSpPr>
          <p:cNvPr id="137" name="Shape 31">
            <a:extLst>
              <a:ext uri="{FF2B5EF4-FFF2-40B4-BE49-F238E27FC236}">
                <a16:creationId xmlns:a16="http://schemas.microsoft.com/office/drawing/2014/main" id="{D0161A36-4408-9636-521A-E759F0C9DE5B}"/>
              </a:ext>
            </a:extLst>
          </p:cNvPr>
          <p:cNvSpPr/>
          <p:nvPr/>
        </p:nvSpPr>
        <p:spPr>
          <a:xfrm>
            <a:off x="731520" y="4090416"/>
            <a:ext cx="329184" cy="329184"/>
          </a:xfrm>
          <a:prstGeom prst="ellipse">
            <a:avLst/>
          </a:prstGeom>
          <a:solidFill>
            <a:srgbClr val="1E7B6C"/>
          </a:solidFill>
          <a:ln/>
        </p:spPr>
        <p:txBody>
          <a:bodyPr/>
          <a:lstStyle/>
          <a:p>
            <a:endParaRPr lang="es-ES_tradnl" sz="1867"/>
          </a:p>
        </p:txBody>
      </p:sp>
      <p:sp>
        <p:nvSpPr>
          <p:cNvPr id="138" name="Text 32">
            <a:extLst>
              <a:ext uri="{FF2B5EF4-FFF2-40B4-BE49-F238E27FC236}">
                <a16:creationId xmlns:a16="http://schemas.microsoft.com/office/drawing/2014/main" id="{A8DC955B-B807-C9F4-43AA-AD34ECE4F080}"/>
              </a:ext>
            </a:extLst>
          </p:cNvPr>
          <p:cNvSpPr txBox="1"/>
          <p:nvPr/>
        </p:nvSpPr>
        <p:spPr>
          <a:xfrm>
            <a:off x="731520" y="4090416"/>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4</a:t>
            </a:r>
            <a:endParaRPr lang="en-US" dirty="0"/>
          </a:p>
        </p:txBody>
      </p:sp>
      <p:sp>
        <p:nvSpPr>
          <p:cNvPr id="139" name="Text 33">
            <a:extLst>
              <a:ext uri="{FF2B5EF4-FFF2-40B4-BE49-F238E27FC236}">
                <a16:creationId xmlns:a16="http://schemas.microsoft.com/office/drawing/2014/main" id="{322B4D16-D7C4-98E9-B18C-CFE0C491C281}"/>
              </a:ext>
            </a:extLst>
          </p:cNvPr>
          <p:cNvSpPr txBox="1"/>
          <p:nvPr/>
        </p:nvSpPr>
        <p:spPr>
          <a:xfrm>
            <a:off x="1365504" y="4059936"/>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Precancelaciones</a:t>
            </a:r>
            <a:endParaRPr lang="en-US" sz="1800" dirty="0"/>
          </a:p>
        </p:txBody>
      </p:sp>
      <p:sp>
        <p:nvSpPr>
          <p:cNvPr id="140" name="Shape 34">
            <a:extLst>
              <a:ext uri="{FF2B5EF4-FFF2-40B4-BE49-F238E27FC236}">
                <a16:creationId xmlns:a16="http://schemas.microsoft.com/office/drawing/2014/main" id="{2DD4DB2E-FEC9-E643-E339-E59FC8071460}"/>
              </a:ext>
            </a:extLst>
          </p:cNvPr>
          <p:cNvSpPr/>
          <p:nvPr/>
        </p:nvSpPr>
        <p:spPr>
          <a:xfrm>
            <a:off x="5059680" y="4072128"/>
            <a:ext cx="1975104" cy="365760"/>
          </a:xfrm>
          <a:prstGeom prst="roundRect">
            <a:avLst>
              <a:gd name="adj" fmla="val 46667"/>
            </a:avLst>
          </a:prstGeom>
          <a:solidFill>
            <a:srgbClr val="E4F0EE"/>
          </a:solidFill>
          <a:ln/>
        </p:spPr>
        <p:txBody>
          <a:bodyPr/>
          <a:lstStyle/>
          <a:p>
            <a:endParaRPr lang="es-ES_tradnl" sz="1867"/>
          </a:p>
        </p:txBody>
      </p:sp>
      <p:sp>
        <p:nvSpPr>
          <p:cNvPr id="141" name="Text 35">
            <a:extLst>
              <a:ext uri="{FF2B5EF4-FFF2-40B4-BE49-F238E27FC236}">
                <a16:creationId xmlns:a16="http://schemas.microsoft.com/office/drawing/2014/main" id="{5F635030-016B-C25E-1DE6-F4973B338075}"/>
              </a:ext>
            </a:extLst>
          </p:cNvPr>
          <p:cNvSpPr txBox="1"/>
          <p:nvPr/>
        </p:nvSpPr>
        <p:spPr>
          <a:xfrm>
            <a:off x="5059680" y="4072128"/>
            <a:ext cx="1975104"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Data Science</a:t>
            </a:r>
            <a:endParaRPr lang="en-US" sz="1467" dirty="0"/>
          </a:p>
        </p:txBody>
      </p:sp>
      <p:sp>
        <p:nvSpPr>
          <p:cNvPr id="142" name="Shape 36">
            <a:extLst>
              <a:ext uri="{FF2B5EF4-FFF2-40B4-BE49-F238E27FC236}">
                <a16:creationId xmlns:a16="http://schemas.microsoft.com/office/drawing/2014/main" id="{EA6BC643-7932-F0A4-B38B-98345EEE34B9}"/>
              </a:ext>
            </a:extLst>
          </p:cNvPr>
          <p:cNvSpPr/>
          <p:nvPr/>
        </p:nvSpPr>
        <p:spPr>
          <a:xfrm>
            <a:off x="7985760" y="4072128"/>
            <a:ext cx="1828800" cy="365760"/>
          </a:xfrm>
          <a:prstGeom prst="roundRect">
            <a:avLst>
              <a:gd name="adj" fmla="val 46667"/>
            </a:avLst>
          </a:prstGeom>
          <a:solidFill>
            <a:srgbClr val="E4F0EE"/>
          </a:solidFill>
          <a:ln/>
        </p:spPr>
        <p:txBody>
          <a:bodyPr/>
          <a:lstStyle/>
          <a:p>
            <a:endParaRPr lang="es-ES_tradnl" sz="1867"/>
          </a:p>
        </p:txBody>
      </p:sp>
      <p:sp>
        <p:nvSpPr>
          <p:cNvPr id="143" name="Text 37">
            <a:extLst>
              <a:ext uri="{FF2B5EF4-FFF2-40B4-BE49-F238E27FC236}">
                <a16:creationId xmlns:a16="http://schemas.microsoft.com/office/drawing/2014/main" id="{41D68B7F-2379-1952-1379-DD3BB3188A71}"/>
              </a:ext>
            </a:extLst>
          </p:cNvPr>
          <p:cNvSpPr txBox="1"/>
          <p:nvPr/>
        </p:nvSpPr>
        <p:spPr>
          <a:xfrm>
            <a:off x="7985760" y="4072128"/>
            <a:ext cx="1828800"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Trimestral</a:t>
            </a:r>
            <a:endParaRPr lang="en-US" sz="1467" dirty="0"/>
          </a:p>
        </p:txBody>
      </p:sp>
      <p:sp>
        <p:nvSpPr>
          <p:cNvPr id="144" name="Shape 38">
            <a:extLst>
              <a:ext uri="{FF2B5EF4-FFF2-40B4-BE49-F238E27FC236}">
                <a16:creationId xmlns:a16="http://schemas.microsoft.com/office/drawing/2014/main" id="{963C0DAF-2AB1-7F86-9AC0-2F26C64E3753}"/>
              </a:ext>
            </a:extLst>
          </p:cNvPr>
          <p:cNvSpPr/>
          <p:nvPr/>
        </p:nvSpPr>
        <p:spPr>
          <a:xfrm>
            <a:off x="670560" y="4517136"/>
            <a:ext cx="9692640" cy="12192"/>
          </a:xfrm>
          <a:prstGeom prst="rect">
            <a:avLst/>
          </a:prstGeom>
          <a:solidFill>
            <a:srgbClr val="DDE3E6"/>
          </a:solidFill>
          <a:ln/>
        </p:spPr>
        <p:txBody>
          <a:bodyPr/>
          <a:lstStyle/>
          <a:p>
            <a:endParaRPr lang="es-ES_tradnl" sz="1867"/>
          </a:p>
        </p:txBody>
      </p:sp>
      <p:sp>
        <p:nvSpPr>
          <p:cNvPr id="145" name="Shape 39">
            <a:extLst>
              <a:ext uri="{FF2B5EF4-FFF2-40B4-BE49-F238E27FC236}">
                <a16:creationId xmlns:a16="http://schemas.microsoft.com/office/drawing/2014/main" id="{32CA50D9-02E5-6758-E234-DE0BA87C6CF0}"/>
              </a:ext>
            </a:extLst>
          </p:cNvPr>
          <p:cNvSpPr/>
          <p:nvPr/>
        </p:nvSpPr>
        <p:spPr>
          <a:xfrm>
            <a:off x="731520" y="4626864"/>
            <a:ext cx="329184" cy="329184"/>
          </a:xfrm>
          <a:prstGeom prst="ellipse">
            <a:avLst/>
          </a:prstGeom>
          <a:solidFill>
            <a:srgbClr val="2F3A6E"/>
          </a:solidFill>
          <a:ln/>
        </p:spPr>
        <p:txBody>
          <a:bodyPr/>
          <a:lstStyle/>
          <a:p>
            <a:endParaRPr lang="es-ES_tradnl" sz="1867"/>
          </a:p>
        </p:txBody>
      </p:sp>
      <p:sp>
        <p:nvSpPr>
          <p:cNvPr id="146" name="Text 40">
            <a:extLst>
              <a:ext uri="{FF2B5EF4-FFF2-40B4-BE49-F238E27FC236}">
                <a16:creationId xmlns:a16="http://schemas.microsoft.com/office/drawing/2014/main" id="{5F4A3E8E-DBCE-CB5A-96E5-5D324E119B9B}"/>
              </a:ext>
            </a:extLst>
          </p:cNvPr>
          <p:cNvSpPr txBox="1"/>
          <p:nvPr/>
        </p:nvSpPr>
        <p:spPr>
          <a:xfrm>
            <a:off x="731520" y="4626864"/>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5</a:t>
            </a:r>
            <a:endParaRPr lang="en-US" dirty="0"/>
          </a:p>
        </p:txBody>
      </p:sp>
      <p:sp>
        <p:nvSpPr>
          <p:cNvPr id="147" name="Text 41">
            <a:extLst>
              <a:ext uri="{FF2B5EF4-FFF2-40B4-BE49-F238E27FC236}">
                <a16:creationId xmlns:a16="http://schemas.microsoft.com/office/drawing/2014/main" id="{63FBDCAC-3142-F69C-2061-755BAAED907F}"/>
              </a:ext>
            </a:extLst>
          </p:cNvPr>
          <p:cNvSpPr txBox="1"/>
          <p:nvPr/>
        </p:nvSpPr>
        <p:spPr>
          <a:xfrm>
            <a:off x="1365504" y="4596384"/>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PD Repricing</a:t>
            </a:r>
            <a:endParaRPr lang="en-US" sz="1800" dirty="0"/>
          </a:p>
        </p:txBody>
      </p:sp>
      <p:sp>
        <p:nvSpPr>
          <p:cNvPr id="148" name="Shape 42">
            <a:extLst>
              <a:ext uri="{FF2B5EF4-FFF2-40B4-BE49-F238E27FC236}">
                <a16:creationId xmlns:a16="http://schemas.microsoft.com/office/drawing/2014/main" id="{F635453B-DEF7-434E-81CA-5216AC6AEEC5}"/>
              </a:ext>
            </a:extLst>
          </p:cNvPr>
          <p:cNvSpPr/>
          <p:nvPr/>
        </p:nvSpPr>
        <p:spPr>
          <a:xfrm>
            <a:off x="5059680" y="4608576"/>
            <a:ext cx="1975104" cy="365760"/>
          </a:xfrm>
          <a:prstGeom prst="roundRect">
            <a:avLst>
              <a:gd name="adj" fmla="val 46667"/>
            </a:avLst>
          </a:prstGeom>
          <a:solidFill>
            <a:srgbClr val="E9EBF3"/>
          </a:solidFill>
          <a:ln/>
        </p:spPr>
        <p:txBody>
          <a:bodyPr/>
          <a:lstStyle/>
          <a:p>
            <a:endParaRPr lang="es-ES_tradnl" sz="1867"/>
          </a:p>
        </p:txBody>
      </p:sp>
      <p:sp>
        <p:nvSpPr>
          <p:cNvPr id="149" name="Text 43">
            <a:extLst>
              <a:ext uri="{FF2B5EF4-FFF2-40B4-BE49-F238E27FC236}">
                <a16:creationId xmlns:a16="http://schemas.microsoft.com/office/drawing/2014/main" id="{78EAC457-04A7-4391-9DE0-F84EEC6878A7}"/>
              </a:ext>
            </a:extLst>
          </p:cNvPr>
          <p:cNvSpPr txBox="1"/>
          <p:nvPr/>
        </p:nvSpPr>
        <p:spPr>
          <a:xfrm>
            <a:off x="5059680" y="4608576"/>
            <a:ext cx="1975104" cy="365760"/>
          </a:xfrm>
          <a:prstGeom prst="rect">
            <a:avLst/>
          </a:prstGeom>
          <a:noFill/>
          <a:ln/>
        </p:spPr>
        <p:txBody>
          <a:bodyPr wrap="square" lIns="0" tIns="0" rIns="0" bIns="0" rtlCol="0" anchor="ctr"/>
          <a:lstStyle/>
          <a:p>
            <a:pPr algn="ctr"/>
            <a:r>
              <a:rPr lang="en-US" sz="1467" b="1" dirty="0">
                <a:solidFill>
                  <a:srgbClr val="2F3A6E"/>
                </a:solidFill>
                <a:latin typeface="Arial" pitchFamily="34" charset="0"/>
                <a:ea typeface="Arial" pitchFamily="34" charset="-122"/>
                <a:cs typeface="Arial" pitchFamily="34" charset="-120"/>
              </a:rPr>
              <a:t>Riesgos</a:t>
            </a:r>
            <a:endParaRPr lang="en-US" sz="1467" dirty="0"/>
          </a:p>
        </p:txBody>
      </p:sp>
      <p:sp>
        <p:nvSpPr>
          <p:cNvPr id="150" name="Shape 44">
            <a:extLst>
              <a:ext uri="{FF2B5EF4-FFF2-40B4-BE49-F238E27FC236}">
                <a16:creationId xmlns:a16="http://schemas.microsoft.com/office/drawing/2014/main" id="{0988770D-1808-D864-0F50-BC7428872BA3}"/>
              </a:ext>
            </a:extLst>
          </p:cNvPr>
          <p:cNvSpPr/>
          <p:nvPr/>
        </p:nvSpPr>
        <p:spPr>
          <a:xfrm>
            <a:off x="7985760" y="4608576"/>
            <a:ext cx="1828800" cy="365760"/>
          </a:xfrm>
          <a:prstGeom prst="roundRect">
            <a:avLst>
              <a:gd name="adj" fmla="val 46667"/>
            </a:avLst>
          </a:prstGeom>
          <a:solidFill>
            <a:srgbClr val="E4F0EE"/>
          </a:solidFill>
          <a:ln/>
        </p:spPr>
        <p:txBody>
          <a:bodyPr/>
          <a:lstStyle/>
          <a:p>
            <a:endParaRPr lang="es-ES_tradnl" sz="1867"/>
          </a:p>
        </p:txBody>
      </p:sp>
      <p:sp>
        <p:nvSpPr>
          <p:cNvPr id="151" name="Text 45">
            <a:extLst>
              <a:ext uri="{FF2B5EF4-FFF2-40B4-BE49-F238E27FC236}">
                <a16:creationId xmlns:a16="http://schemas.microsoft.com/office/drawing/2014/main" id="{EE13533B-5556-F2BA-1F45-904DCB828E09}"/>
              </a:ext>
            </a:extLst>
          </p:cNvPr>
          <p:cNvSpPr txBox="1"/>
          <p:nvPr/>
        </p:nvSpPr>
        <p:spPr>
          <a:xfrm>
            <a:off x="7985760" y="4608576"/>
            <a:ext cx="1828800"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Trimestral</a:t>
            </a:r>
            <a:endParaRPr lang="en-US" sz="1467" dirty="0"/>
          </a:p>
        </p:txBody>
      </p:sp>
      <p:sp>
        <p:nvSpPr>
          <p:cNvPr id="152" name="Shape 46">
            <a:extLst>
              <a:ext uri="{FF2B5EF4-FFF2-40B4-BE49-F238E27FC236}">
                <a16:creationId xmlns:a16="http://schemas.microsoft.com/office/drawing/2014/main" id="{3518831E-B12D-DB4B-C0CD-19D07205F722}"/>
              </a:ext>
            </a:extLst>
          </p:cNvPr>
          <p:cNvSpPr/>
          <p:nvPr/>
        </p:nvSpPr>
        <p:spPr>
          <a:xfrm>
            <a:off x="670560" y="5053584"/>
            <a:ext cx="9692640" cy="12192"/>
          </a:xfrm>
          <a:prstGeom prst="rect">
            <a:avLst/>
          </a:prstGeom>
          <a:solidFill>
            <a:srgbClr val="DDE3E6"/>
          </a:solidFill>
          <a:ln/>
        </p:spPr>
        <p:txBody>
          <a:bodyPr/>
          <a:lstStyle/>
          <a:p>
            <a:endParaRPr lang="es-ES_tradnl" sz="1867"/>
          </a:p>
        </p:txBody>
      </p:sp>
      <p:sp>
        <p:nvSpPr>
          <p:cNvPr id="153" name="Shape 47">
            <a:extLst>
              <a:ext uri="{FF2B5EF4-FFF2-40B4-BE49-F238E27FC236}">
                <a16:creationId xmlns:a16="http://schemas.microsoft.com/office/drawing/2014/main" id="{B4C5262B-1935-21D6-0795-DDC58A842B6F}"/>
              </a:ext>
            </a:extLst>
          </p:cNvPr>
          <p:cNvSpPr/>
          <p:nvPr/>
        </p:nvSpPr>
        <p:spPr>
          <a:xfrm>
            <a:off x="731520" y="5163312"/>
            <a:ext cx="329184" cy="329184"/>
          </a:xfrm>
          <a:prstGeom prst="ellipse">
            <a:avLst/>
          </a:prstGeom>
          <a:solidFill>
            <a:srgbClr val="2F3A6E"/>
          </a:solidFill>
          <a:ln/>
        </p:spPr>
        <p:txBody>
          <a:bodyPr/>
          <a:lstStyle/>
          <a:p>
            <a:endParaRPr lang="es-ES_tradnl" sz="1867"/>
          </a:p>
        </p:txBody>
      </p:sp>
      <p:sp>
        <p:nvSpPr>
          <p:cNvPr id="154" name="Text 48">
            <a:extLst>
              <a:ext uri="{FF2B5EF4-FFF2-40B4-BE49-F238E27FC236}">
                <a16:creationId xmlns:a16="http://schemas.microsoft.com/office/drawing/2014/main" id="{BA022671-7286-F5FD-7337-74940DB98C48}"/>
              </a:ext>
            </a:extLst>
          </p:cNvPr>
          <p:cNvSpPr txBox="1"/>
          <p:nvPr/>
        </p:nvSpPr>
        <p:spPr>
          <a:xfrm>
            <a:off x="731520" y="5163312"/>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6</a:t>
            </a:r>
            <a:endParaRPr lang="en-US" dirty="0"/>
          </a:p>
        </p:txBody>
      </p:sp>
      <p:sp>
        <p:nvSpPr>
          <p:cNvPr id="155" name="Text 49">
            <a:extLst>
              <a:ext uri="{FF2B5EF4-FFF2-40B4-BE49-F238E27FC236}">
                <a16:creationId xmlns:a16="http://schemas.microsoft.com/office/drawing/2014/main" id="{11A54B26-0AD7-E5A1-AD23-331B02EE4A39}"/>
              </a:ext>
            </a:extLst>
          </p:cNvPr>
          <p:cNvSpPr txBox="1"/>
          <p:nvPr/>
        </p:nvSpPr>
        <p:spPr>
          <a:xfrm>
            <a:off x="1365504" y="5132832"/>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PD TTC</a:t>
            </a:r>
            <a:endParaRPr lang="en-US" sz="1800" dirty="0"/>
          </a:p>
        </p:txBody>
      </p:sp>
      <p:sp>
        <p:nvSpPr>
          <p:cNvPr id="156" name="Shape 50">
            <a:extLst>
              <a:ext uri="{FF2B5EF4-FFF2-40B4-BE49-F238E27FC236}">
                <a16:creationId xmlns:a16="http://schemas.microsoft.com/office/drawing/2014/main" id="{5811C9DD-E25C-CDB7-77CC-60F4B5851089}"/>
              </a:ext>
            </a:extLst>
          </p:cNvPr>
          <p:cNvSpPr/>
          <p:nvPr/>
        </p:nvSpPr>
        <p:spPr>
          <a:xfrm>
            <a:off x="5059680" y="5145024"/>
            <a:ext cx="1975104" cy="365760"/>
          </a:xfrm>
          <a:prstGeom prst="roundRect">
            <a:avLst>
              <a:gd name="adj" fmla="val 46667"/>
            </a:avLst>
          </a:prstGeom>
          <a:solidFill>
            <a:srgbClr val="E9EBF3"/>
          </a:solidFill>
          <a:ln/>
        </p:spPr>
        <p:txBody>
          <a:bodyPr/>
          <a:lstStyle/>
          <a:p>
            <a:endParaRPr lang="es-ES_tradnl" sz="1867"/>
          </a:p>
        </p:txBody>
      </p:sp>
      <p:sp>
        <p:nvSpPr>
          <p:cNvPr id="157" name="Text 51">
            <a:extLst>
              <a:ext uri="{FF2B5EF4-FFF2-40B4-BE49-F238E27FC236}">
                <a16:creationId xmlns:a16="http://schemas.microsoft.com/office/drawing/2014/main" id="{E0A1B6BB-F8D9-24FC-C1F8-27288B327BE6}"/>
              </a:ext>
            </a:extLst>
          </p:cNvPr>
          <p:cNvSpPr txBox="1"/>
          <p:nvPr/>
        </p:nvSpPr>
        <p:spPr>
          <a:xfrm>
            <a:off x="5059680" y="5145024"/>
            <a:ext cx="1975104" cy="365760"/>
          </a:xfrm>
          <a:prstGeom prst="rect">
            <a:avLst/>
          </a:prstGeom>
          <a:noFill/>
          <a:ln/>
        </p:spPr>
        <p:txBody>
          <a:bodyPr wrap="square" lIns="0" tIns="0" rIns="0" bIns="0" rtlCol="0" anchor="ctr"/>
          <a:lstStyle/>
          <a:p>
            <a:pPr algn="ctr"/>
            <a:r>
              <a:rPr lang="en-US" sz="1467" b="1" dirty="0">
                <a:solidFill>
                  <a:srgbClr val="2F3A6E"/>
                </a:solidFill>
                <a:latin typeface="Arial" pitchFamily="34" charset="0"/>
                <a:ea typeface="Arial" pitchFamily="34" charset="-122"/>
                <a:cs typeface="Arial" pitchFamily="34" charset="-120"/>
              </a:rPr>
              <a:t>Riesgos</a:t>
            </a:r>
            <a:endParaRPr lang="en-US" sz="1467" dirty="0"/>
          </a:p>
        </p:txBody>
      </p:sp>
      <p:sp>
        <p:nvSpPr>
          <p:cNvPr id="158" name="Shape 52">
            <a:extLst>
              <a:ext uri="{FF2B5EF4-FFF2-40B4-BE49-F238E27FC236}">
                <a16:creationId xmlns:a16="http://schemas.microsoft.com/office/drawing/2014/main" id="{A404B307-1DA3-C75B-5333-0B1AB9ABD036}"/>
              </a:ext>
            </a:extLst>
          </p:cNvPr>
          <p:cNvSpPr/>
          <p:nvPr/>
        </p:nvSpPr>
        <p:spPr>
          <a:xfrm>
            <a:off x="7985760" y="5145024"/>
            <a:ext cx="1828800" cy="365760"/>
          </a:xfrm>
          <a:prstGeom prst="roundRect">
            <a:avLst>
              <a:gd name="adj" fmla="val 46667"/>
            </a:avLst>
          </a:prstGeom>
          <a:solidFill>
            <a:srgbClr val="E9EBF3"/>
          </a:solidFill>
          <a:ln/>
        </p:spPr>
        <p:txBody>
          <a:bodyPr/>
          <a:lstStyle/>
          <a:p>
            <a:endParaRPr lang="es-ES_tradnl" sz="1867"/>
          </a:p>
        </p:txBody>
      </p:sp>
      <p:sp>
        <p:nvSpPr>
          <p:cNvPr id="159" name="Text 53">
            <a:extLst>
              <a:ext uri="{FF2B5EF4-FFF2-40B4-BE49-F238E27FC236}">
                <a16:creationId xmlns:a16="http://schemas.microsoft.com/office/drawing/2014/main" id="{83890593-729E-774D-D2AE-6D853AD039A3}"/>
              </a:ext>
            </a:extLst>
          </p:cNvPr>
          <p:cNvSpPr txBox="1"/>
          <p:nvPr/>
        </p:nvSpPr>
        <p:spPr>
          <a:xfrm>
            <a:off x="7985760" y="5145024"/>
            <a:ext cx="1828800" cy="365760"/>
          </a:xfrm>
          <a:prstGeom prst="rect">
            <a:avLst/>
          </a:prstGeom>
          <a:noFill/>
          <a:ln/>
        </p:spPr>
        <p:txBody>
          <a:bodyPr wrap="square" lIns="0" tIns="0" rIns="0" bIns="0" rtlCol="0" anchor="ctr"/>
          <a:lstStyle/>
          <a:p>
            <a:pPr algn="ctr"/>
            <a:r>
              <a:rPr lang="en-US" sz="1467" b="1" dirty="0">
                <a:solidFill>
                  <a:srgbClr val="2F3A6E"/>
                </a:solidFill>
                <a:latin typeface="Arial" pitchFamily="34" charset="0"/>
                <a:ea typeface="Arial" pitchFamily="34" charset="-122"/>
                <a:cs typeface="Arial" pitchFamily="34" charset="-120"/>
              </a:rPr>
              <a:t>Semestral</a:t>
            </a:r>
            <a:endParaRPr lang="en-US" sz="1467" dirty="0"/>
          </a:p>
        </p:txBody>
      </p:sp>
      <p:sp>
        <p:nvSpPr>
          <p:cNvPr id="160" name="Shape 54">
            <a:extLst>
              <a:ext uri="{FF2B5EF4-FFF2-40B4-BE49-F238E27FC236}">
                <a16:creationId xmlns:a16="http://schemas.microsoft.com/office/drawing/2014/main" id="{CFA16B43-6314-9BD6-7CE1-49DCFC7C9668}"/>
              </a:ext>
            </a:extLst>
          </p:cNvPr>
          <p:cNvSpPr/>
          <p:nvPr/>
        </p:nvSpPr>
        <p:spPr>
          <a:xfrm>
            <a:off x="670560" y="5590032"/>
            <a:ext cx="9692640" cy="12192"/>
          </a:xfrm>
          <a:prstGeom prst="rect">
            <a:avLst/>
          </a:prstGeom>
          <a:solidFill>
            <a:srgbClr val="DDE3E6"/>
          </a:solidFill>
          <a:ln/>
        </p:spPr>
        <p:txBody>
          <a:bodyPr/>
          <a:lstStyle/>
          <a:p>
            <a:endParaRPr lang="es-ES_tradnl" sz="1867"/>
          </a:p>
        </p:txBody>
      </p:sp>
      <p:sp>
        <p:nvSpPr>
          <p:cNvPr id="161" name="Shape 55">
            <a:extLst>
              <a:ext uri="{FF2B5EF4-FFF2-40B4-BE49-F238E27FC236}">
                <a16:creationId xmlns:a16="http://schemas.microsoft.com/office/drawing/2014/main" id="{2DF4DAB5-68E8-B0D1-8791-8687C23483AD}"/>
              </a:ext>
            </a:extLst>
          </p:cNvPr>
          <p:cNvSpPr/>
          <p:nvPr/>
        </p:nvSpPr>
        <p:spPr>
          <a:xfrm>
            <a:off x="731520" y="5699760"/>
            <a:ext cx="329184" cy="329184"/>
          </a:xfrm>
          <a:prstGeom prst="ellipse">
            <a:avLst/>
          </a:prstGeom>
          <a:solidFill>
            <a:srgbClr val="1E7B6C"/>
          </a:solidFill>
          <a:ln/>
        </p:spPr>
        <p:txBody>
          <a:bodyPr/>
          <a:lstStyle/>
          <a:p>
            <a:endParaRPr lang="es-ES_tradnl" sz="1867"/>
          </a:p>
        </p:txBody>
      </p:sp>
      <p:sp>
        <p:nvSpPr>
          <p:cNvPr id="162" name="Text 56">
            <a:extLst>
              <a:ext uri="{FF2B5EF4-FFF2-40B4-BE49-F238E27FC236}">
                <a16:creationId xmlns:a16="http://schemas.microsoft.com/office/drawing/2014/main" id="{CA55EDE8-3860-01AB-C41F-BA2A1131AC52}"/>
              </a:ext>
            </a:extLst>
          </p:cNvPr>
          <p:cNvSpPr txBox="1"/>
          <p:nvPr/>
        </p:nvSpPr>
        <p:spPr>
          <a:xfrm>
            <a:off x="731520" y="5699760"/>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7</a:t>
            </a:r>
            <a:endParaRPr lang="en-US" dirty="0"/>
          </a:p>
        </p:txBody>
      </p:sp>
      <p:sp>
        <p:nvSpPr>
          <p:cNvPr id="163" name="Text 57">
            <a:extLst>
              <a:ext uri="{FF2B5EF4-FFF2-40B4-BE49-F238E27FC236}">
                <a16:creationId xmlns:a16="http://schemas.microsoft.com/office/drawing/2014/main" id="{5B5CBC46-9FA3-1451-0C86-DCA5E133D1E7}"/>
              </a:ext>
            </a:extLst>
          </p:cNvPr>
          <p:cNvSpPr txBox="1"/>
          <p:nvPr/>
        </p:nvSpPr>
        <p:spPr>
          <a:xfrm>
            <a:off x="1365504" y="5669280"/>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Segmentación</a:t>
            </a:r>
            <a:endParaRPr lang="en-US" sz="1800" dirty="0"/>
          </a:p>
        </p:txBody>
      </p:sp>
      <p:sp>
        <p:nvSpPr>
          <p:cNvPr id="164" name="Shape 58">
            <a:extLst>
              <a:ext uri="{FF2B5EF4-FFF2-40B4-BE49-F238E27FC236}">
                <a16:creationId xmlns:a16="http://schemas.microsoft.com/office/drawing/2014/main" id="{0F700096-52E2-9A71-EF39-BFCB213DC905}"/>
              </a:ext>
            </a:extLst>
          </p:cNvPr>
          <p:cNvSpPr/>
          <p:nvPr/>
        </p:nvSpPr>
        <p:spPr>
          <a:xfrm>
            <a:off x="5059680" y="5681472"/>
            <a:ext cx="1975104" cy="365760"/>
          </a:xfrm>
          <a:prstGeom prst="roundRect">
            <a:avLst>
              <a:gd name="adj" fmla="val 46667"/>
            </a:avLst>
          </a:prstGeom>
          <a:solidFill>
            <a:srgbClr val="E4F0EE"/>
          </a:solidFill>
          <a:ln/>
        </p:spPr>
        <p:txBody>
          <a:bodyPr/>
          <a:lstStyle/>
          <a:p>
            <a:endParaRPr lang="es-ES_tradnl" sz="1867"/>
          </a:p>
        </p:txBody>
      </p:sp>
      <p:sp>
        <p:nvSpPr>
          <p:cNvPr id="165" name="Text 59">
            <a:extLst>
              <a:ext uri="{FF2B5EF4-FFF2-40B4-BE49-F238E27FC236}">
                <a16:creationId xmlns:a16="http://schemas.microsoft.com/office/drawing/2014/main" id="{6C60E146-71F3-2383-6ACE-CF183DD6A22B}"/>
              </a:ext>
            </a:extLst>
          </p:cNvPr>
          <p:cNvSpPr txBox="1"/>
          <p:nvPr/>
        </p:nvSpPr>
        <p:spPr>
          <a:xfrm>
            <a:off x="5059680" y="5681472"/>
            <a:ext cx="1975104"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Data Science</a:t>
            </a:r>
            <a:endParaRPr lang="en-US" sz="1467" dirty="0"/>
          </a:p>
        </p:txBody>
      </p:sp>
      <p:sp>
        <p:nvSpPr>
          <p:cNvPr id="166" name="Shape 60">
            <a:extLst>
              <a:ext uri="{FF2B5EF4-FFF2-40B4-BE49-F238E27FC236}">
                <a16:creationId xmlns:a16="http://schemas.microsoft.com/office/drawing/2014/main" id="{48FD3F45-6F5F-295D-3D20-27A1E5D754F0}"/>
              </a:ext>
            </a:extLst>
          </p:cNvPr>
          <p:cNvSpPr/>
          <p:nvPr/>
        </p:nvSpPr>
        <p:spPr>
          <a:xfrm>
            <a:off x="7985760" y="5681472"/>
            <a:ext cx="1828800" cy="365760"/>
          </a:xfrm>
          <a:prstGeom prst="roundRect">
            <a:avLst>
              <a:gd name="adj" fmla="val 46667"/>
            </a:avLst>
          </a:prstGeom>
          <a:solidFill>
            <a:srgbClr val="E4F0EE"/>
          </a:solidFill>
          <a:ln/>
        </p:spPr>
        <p:txBody>
          <a:bodyPr/>
          <a:lstStyle/>
          <a:p>
            <a:endParaRPr lang="es-ES_tradnl" sz="1867"/>
          </a:p>
        </p:txBody>
      </p:sp>
      <p:sp>
        <p:nvSpPr>
          <p:cNvPr id="167" name="Text 61">
            <a:extLst>
              <a:ext uri="{FF2B5EF4-FFF2-40B4-BE49-F238E27FC236}">
                <a16:creationId xmlns:a16="http://schemas.microsoft.com/office/drawing/2014/main" id="{B09B499A-C96C-8272-0762-4B553D81E569}"/>
              </a:ext>
            </a:extLst>
          </p:cNvPr>
          <p:cNvSpPr txBox="1"/>
          <p:nvPr/>
        </p:nvSpPr>
        <p:spPr>
          <a:xfrm>
            <a:off x="7985760" y="5681472"/>
            <a:ext cx="1828800"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Trimestral</a:t>
            </a:r>
            <a:endParaRPr lang="en-US" sz="1467" dirty="0"/>
          </a:p>
        </p:txBody>
      </p:sp>
      <p:sp>
        <p:nvSpPr>
          <p:cNvPr id="168" name="Shape 62">
            <a:extLst>
              <a:ext uri="{FF2B5EF4-FFF2-40B4-BE49-F238E27FC236}">
                <a16:creationId xmlns:a16="http://schemas.microsoft.com/office/drawing/2014/main" id="{16B5AC19-C158-87AE-BC62-8EEA1D4E1375}"/>
              </a:ext>
            </a:extLst>
          </p:cNvPr>
          <p:cNvSpPr/>
          <p:nvPr/>
        </p:nvSpPr>
        <p:spPr>
          <a:xfrm>
            <a:off x="670560" y="6126480"/>
            <a:ext cx="9692640" cy="12192"/>
          </a:xfrm>
          <a:prstGeom prst="rect">
            <a:avLst/>
          </a:prstGeom>
          <a:solidFill>
            <a:srgbClr val="DDE3E6"/>
          </a:solidFill>
          <a:ln/>
        </p:spPr>
        <p:txBody>
          <a:bodyPr/>
          <a:lstStyle/>
          <a:p>
            <a:endParaRPr lang="es-ES_tradnl" sz="1867"/>
          </a:p>
        </p:txBody>
      </p:sp>
      <p:sp>
        <p:nvSpPr>
          <p:cNvPr id="169" name="Shape 63">
            <a:extLst>
              <a:ext uri="{FF2B5EF4-FFF2-40B4-BE49-F238E27FC236}">
                <a16:creationId xmlns:a16="http://schemas.microsoft.com/office/drawing/2014/main" id="{D05683EA-A0E3-1180-F977-1E924923CA7F}"/>
              </a:ext>
            </a:extLst>
          </p:cNvPr>
          <p:cNvSpPr/>
          <p:nvPr/>
        </p:nvSpPr>
        <p:spPr>
          <a:xfrm>
            <a:off x="731520" y="6236208"/>
            <a:ext cx="329184" cy="329184"/>
          </a:xfrm>
          <a:prstGeom prst="ellipse">
            <a:avLst/>
          </a:prstGeom>
          <a:solidFill>
            <a:srgbClr val="1E7B6C"/>
          </a:solidFill>
          <a:ln/>
        </p:spPr>
        <p:txBody>
          <a:bodyPr/>
          <a:lstStyle/>
          <a:p>
            <a:endParaRPr lang="es-ES_tradnl" sz="1867"/>
          </a:p>
        </p:txBody>
      </p:sp>
      <p:sp>
        <p:nvSpPr>
          <p:cNvPr id="170" name="Text 64">
            <a:extLst>
              <a:ext uri="{FF2B5EF4-FFF2-40B4-BE49-F238E27FC236}">
                <a16:creationId xmlns:a16="http://schemas.microsoft.com/office/drawing/2014/main" id="{9D233555-0D8A-383B-C0D9-9E545C1CF4C2}"/>
              </a:ext>
            </a:extLst>
          </p:cNvPr>
          <p:cNvSpPr txBox="1"/>
          <p:nvPr/>
        </p:nvSpPr>
        <p:spPr>
          <a:xfrm>
            <a:off x="731520" y="6236208"/>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8</a:t>
            </a:r>
            <a:endParaRPr lang="en-US" dirty="0"/>
          </a:p>
        </p:txBody>
      </p:sp>
      <p:sp>
        <p:nvSpPr>
          <p:cNvPr id="171" name="Text 65">
            <a:extLst>
              <a:ext uri="{FF2B5EF4-FFF2-40B4-BE49-F238E27FC236}">
                <a16:creationId xmlns:a16="http://schemas.microsoft.com/office/drawing/2014/main" id="{71683C5A-743B-998B-AF8C-AB67313CD152}"/>
              </a:ext>
            </a:extLst>
          </p:cNvPr>
          <p:cNvSpPr txBox="1"/>
          <p:nvPr/>
        </p:nvSpPr>
        <p:spPr>
          <a:xfrm>
            <a:off x="1365504" y="6205728"/>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Sensibilidad</a:t>
            </a:r>
            <a:endParaRPr lang="en-US" sz="1800" dirty="0"/>
          </a:p>
        </p:txBody>
      </p:sp>
      <p:sp>
        <p:nvSpPr>
          <p:cNvPr id="172" name="Shape 66">
            <a:extLst>
              <a:ext uri="{FF2B5EF4-FFF2-40B4-BE49-F238E27FC236}">
                <a16:creationId xmlns:a16="http://schemas.microsoft.com/office/drawing/2014/main" id="{E0D5D381-E27B-B8F3-774E-6AB636A77DF3}"/>
              </a:ext>
            </a:extLst>
          </p:cNvPr>
          <p:cNvSpPr/>
          <p:nvPr/>
        </p:nvSpPr>
        <p:spPr>
          <a:xfrm>
            <a:off x="5059680" y="6217920"/>
            <a:ext cx="1975104" cy="365760"/>
          </a:xfrm>
          <a:prstGeom prst="roundRect">
            <a:avLst>
              <a:gd name="adj" fmla="val 46667"/>
            </a:avLst>
          </a:prstGeom>
          <a:solidFill>
            <a:srgbClr val="E4F0EE"/>
          </a:solidFill>
          <a:ln/>
        </p:spPr>
        <p:txBody>
          <a:bodyPr/>
          <a:lstStyle/>
          <a:p>
            <a:endParaRPr lang="es-ES_tradnl" sz="1867"/>
          </a:p>
        </p:txBody>
      </p:sp>
      <p:sp>
        <p:nvSpPr>
          <p:cNvPr id="173" name="Text 67">
            <a:extLst>
              <a:ext uri="{FF2B5EF4-FFF2-40B4-BE49-F238E27FC236}">
                <a16:creationId xmlns:a16="http://schemas.microsoft.com/office/drawing/2014/main" id="{C15F69E3-0E7C-22FC-A08A-2E3754E9D17A}"/>
              </a:ext>
            </a:extLst>
          </p:cNvPr>
          <p:cNvSpPr txBox="1"/>
          <p:nvPr/>
        </p:nvSpPr>
        <p:spPr>
          <a:xfrm>
            <a:off x="5059680" y="6217920"/>
            <a:ext cx="1975104"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Data Science</a:t>
            </a:r>
            <a:endParaRPr lang="en-US" sz="1467" dirty="0"/>
          </a:p>
        </p:txBody>
      </p:sp>
      <p:sp>
        <p:nvSpPr>
          <p:cNvPr id="174" name="Shape 68">
            <a:extLst>
              <a:ext uri="{FF2B5EF4-FFF2-40B4-BE49-F238E27FC236}">
                <a16:creationId xmlns:a16="http://schemas.microsoft.com/office/drawing/2014/main" id="{37943768-43F6-3C04-630C-2CEB92DAEF80}"/>
              </a:ext>
            </a:extLst>
          </p:cNvPr>
          <p:cNvSpPr/>
          <p:nvPr/>
        </p:nvSpPr>
        <p:spPr>
          <a:xfrm>
            <a:off x="7985760" y="6217920"/>
            <a:ext cx="1828800" cy="365760"/>
          </a:xfrm>
          <a:prstGeom prst="roundRect">
            <a:avLst>
              <a:gd name="adj" fmla="val 46667"/>
            </a:avLst>
          </a:prstGeom>
          <a:solidFill>
            <a:srgbClr val="E4F0EE"/>
          </a:solidFill>
          <a:ln/>
        </p:spPr>
        <p:txBody>
          <a:bodyPr/>
          <a:lstStyle/>
          <a:p>
            <a:endParaRPr lang="es-ES_tradnl" sz="1867"/>
          </a:p>
        </p:txBody>
      </p:sp>
      <p:sp>
        <p:nvSpPr>
          <p:cNvPr id="175" name="Text 69">
            <a:extLst>
              <a:ext uri="{FF2B5EF4-FFF2-40B4-BE49-F238E27FC236}">
                <a16:creationId xmlns:a16="http://schemas.microsoft.com/office/drawing/2014/main" id="{761BDDF0-FBBA-3B5A-B0A3-2ADBE97B69AC}"/>
              </a:ext>
            </a:extLst>
          </p:cNvPr>
          <p:cNvSpPr txBox="1"/>
          <p:nvPr/>
        </p:nvSpPr>
        <p:spPr>
          <a:xfrm>
            <a:off x="7985760" y="6217920"/>
            <a:ext cx="1828800"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Trimestral</a:t>
            </a:r>
            <a:endParaRPr lang="en-US" sz="1467" dirty="0"/>
          </a:p>
        </p:txBody>
      </p:sp>
      <p:sp>
        <p:nvSpPr>
          <p:cNvPr id="176" name="Shape 70">
            <a:extLst>
              <a:ext uri="{FF2B5EF4-FFF2-40B4-BE49-F238E27FC236}">
                <a16:creationId xmlns:a16="http://schemas.microsoft.com/office/drawing/2014/main" id="{C4630E5B-0176-2C61-F916-9EA984708243}"/>
              </a:ext>
            </a:extLst>
          </p:cNvPr>
          <p:cNvSpPr/>
          <p:nvPr/>
        </p:nvSpPr>
        <p:spPr>
          <a:xfrm>
            <a:off x="670560" y="6662928"/>
            <a:ext cx="9692640" cy="12192"/>
          </a:xfrm>
          <a:prstGeom prst="rect">
            <a:avLst/>
          </a:prstGeom>
          <a:solidFill>
            <a:srgbClr val="DDE3E6"/>
          </a:solidFill>
          <a:ln/>
        </p:spPr>
        <p:txBody>
          <a:bodyPr/>
          <a:lstStyle/>
          <a:p>
            <a:endParaRPr lang="es-ES_tradnl" sz="1867"/>
          </a:p>
        </p:txBody>
      </p:sp>
      <p:sp>
        <p:nvSpPr>
          <p:cNvPr id="177" name="Shape 71">
            <a:extLst>
              <a:ext uri="{FF2B5EF4-FFF2-40B4-BE49-F238E27FC236}">
                <a16:creationId xmlns:a16="http://schemas.microsoft.com/office/drawing/2014/main" id="{D852AF09-A9B1-24BB-459D-AF69FFF012FA}"/>
              </a:ext>
            </a:extLst>
          </p:cNvPr>
          <p:cNvSpPr/>
          <p:nvPr/>
        </p:nvSpPr>
        <p:spPr>
          <a:xfrm>
            <a:off x="731520" y="6772656"/>
            <a:ext cx="329184" cy="329184"/>
          </a:xfrm>
          <a:prstGeom prst="ellipse">
            <a:avLst/>
          </a:prstGeom>
          <a:solidFill>
            <a:srgbClr val="1E7B6C"/>
          </a:solidFill>
          <a:ln/>
        </p:spPr>
        <p:txBody>
          <a:bodyPr/>
          <a:lstStyle/>
          <a:p>
            <a:endParaRPr lang="es-ES_tradnl" sz="1867"/>
          </a:p>
        </p:txBody>
      </p:sp>
      <p:sp>
        <p:nvSpPr>
          <p:cNvPr id="178" name="Text 72">
            <a:extLst>
              <a:ext uri="{FF2B5EF4-FFF2-40B4-BE49-F238E27FC236}">
                <a16:creationId xmlns:a16="http://schemas.microsoft.com/office/drawing/2014/main" id="{E6A65855-C74D-2E49-1B35-7CA7078AC33B}"/>
              </a:ext>
            </a:extLst>
          </p:cNvPr>
          <p:cNvSpPr txBox="1"/>
          <p:nvPr/>
        </p:nvSpPr>
        <p:spPr>
          <a:xfrm>
            <a:off x="731520" y="6772656"/>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9</a:t>
            </a:r>
            <a:endParaRPr lang="en-US" dirty="0"/>
          </a:p>
        </p:txBody>
      </p:sp>
      <p:sp>
        <p:nvSpPr>
          <p:cNvPr id="179" name="Text 73">
            <a:extLst>
              <a:ext uri="{FF2B5EF4-FFF2-40B4-BE49-F238E27FC236}">
                <a16:creationId xmlns:a16="http://schemas.microsoft.com/office/drawing/2014/main" id="{DDCA038B-79D3-0AEA-21A0-AAD2AF5C39A0}"/>
              </a:ext>
            </a:extLst>
          </p:cNvPr>
          <p:cNvSpPr txBox="1"/>
          <p:nvPr/>
        </p:nvSpPr>
        <p:spPr>
          <a:xfrm>
            <a:off x="1365504" y="6742176"/>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PLV</a:t>
            </a:r>
            <a:endParaRPr lang="en-US" sz="1800" dirty="0"/>
          </a:p>
        </p:txBody>
      </p:sp>
      <p:sp>
        <p:nvSpPr>
          <p:cNvPr id="180" name="Shape 74">
            <a:extLst>
              <a:ext uri="{FF2B5EF4-FFF2-40B4-BE49-F238E27FC236}">
                <a16:creationId xmlns:a16="http://schemas.microsoft.com/office/drawing/2014/main" id="{B21E9A06-287F-537E-83BC-1606193FB344}"/>
              </a:ext>
            </a:extLst>
          </p:cNvPr>
          <p:cNvSpPr/>
          <p:nvPr/>
        </p:nvSpPr>
        <p:spPr>
          <a:xfrm>
            <a:off x="5059680" y="6754368"/>
            <a:ext cx="1975104" cy="365760"/>
          </a:xfrm>
          <a:prstGeom prst="roundRect">
            <a:avLst>
              <a:gd name="adj" fmla="val 46667"/>
            </a:avLst>
          </a:prstGeom>
          <a:solidFill>
            <a:srgbClr val="E4F0EE"/>
          </a:solidFill>
          <a:ln/>
        </p:spPr>
        <p:txBody>
          <a:bodyPr/>
          <a:lstStyle/>
          <a:p>
            <a:endParaRPr lang="es-ES_tradnl" sz="1867"/>
          </a:p>
        </p:txBody>
      </p:sp>
      <p:sp>
        <p:nvSpPr>
          <p:cNvPr id="181" name="Text 75">
            <a:extLst>
              <a:ext uri="{FF2B5EF4-FFF2-40B4-BE49-F238E27FC236}">
                <a16:creationId xmlns:a16="http://schemas.microsoft.com/office/drawing/2014/main" id="{34CBCA97-01D7-7EFD-650B-8674C3151A36}"/>
              </a:ext>
            </a:extLst>
          </p:cNvPr>
          <p:cNvSpPr txBox="1"/>
          <p:nvPr/>
        </p:nvSpPr>
        <p:spPr>
          <a:xfrm>
            <a:off x="5059680" y="6754368"/>
            <a:ext cx="1975104"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Data Science</a:t>
            </a:r>
            <a:endParaRPr lang="en-US" sz="1467" dirty="0"/>
          </a:p>
        </p:txBody>
      </p:sp>
      <p:sp>
        <p:nvSpPr>
          <p:cNvPr id="182" name="Shape 76">
            <a:extLst>
              <a:ext uri="{FF2B5EF4-FFF2-40B4-BE49-F238E27FC236}">
                <a16:creationId xmlns:a16="http://schemas.microsoft.com/office/drawing/2014/main" id="{E243821F-0057-4FE8-847E-D8BD8F984310}"/>
              </a:ext>
            </a:extLst>
          </p:cNvPr>
          <p:cNvSpPr/>
          <p:nvPr/>
        </p:nvSpPr>
        <p:spPr>
          <a:xfrm>
            <a:off x="7985760" y="6754368"/>
            <a:ext cx="1828800" cy="365760"/>
          </a:xfrm>
          <a:prstGeom prst="roundRect">
            <a:avLst>
              <a:gd name="adj" fmla="val 46667"/>
            </a:avLst>
          </a:prstGeom>
          <a:solidFill>
            <a:srgbClr val="E4F0EE"/>
          </a:solidFill>
          <a:ln/>
        </p:spPr>
        <p:txBody>
          <a:bodyPr/>
          <a:lstStyle/>
          <a:p>
            <a:endParaRPr lang="es-ES_tradnl" sz="1867"/>
          </a:p>
        </p:txBody>
      </p:sp>
      <p:sp>
        <p:nvSpPr>
          <p:cNvPr id="183" name="Text 77">
            <a:extLst>
              <a:ext uri="{FF2B5EF4-FFF2-40B4-BE49-F238E27FC236}">
                <a16:creationId xmlns:a16="http://schemas.microsoft.com/office/drawing/2014/main" id="{E9AB4A51-5692-86B5-6780-493D483B85BE}"/>
              </a:ext>
            </a:extLst>
          </p:cNvPr>
          <p:cNvSpPr txBox="1"/>
          <p:nvPr/>
        </p:nvSpPr>
        <p:spPr>
          <a:xfrm>
            <a:off x="7985760" y="6754368"/>
            <a:ext cx="1828800" cy="365760"/>
          </a:xfrm>
          <a:prstGeom prst="rect">
            <a:avLst/>
          </a:prstGeom>
          <a:noFill/>
          <a:ln/>
        </p:spPr>
        <p:txBody>
          <a:bodyPr wrap="square" lIns="0" tIns="0" rIns="0" bIns="0" rtlCol="0" anchor="ctr"/>
          <a:lstStyle/>
          <a:p>
            <a:pPr algn="ctr"/>
            <a:r>
              <a:rPr lang="en-US" sz="1467" b="1" dirty="0">
                <a:solidFill>
                  <a:srgbClr val="1E7B6C"/>
                </a:solidFill>
                <a:latin typeface="Arial" pitchFamily="34" charset="0"/>
                <a:ea typeface="Arial" pitchFamily="34" charset="-122"/>
                <a:cs typeface="Arial" pitchFamily="34" charset="-120"/>
              </a:rPr>
              <a:t>Trimestral</a:t>
            </a:r>
            <a:endParaRPr lang="en-US" sz="1467" dirty="0"/>
          </a:p>
        </p:txBody>
      </p:sp>
      <p:sp>
        <p:nvSpPr>
          <p:cNvPr id="184" name="Shape 78">
            <a:extLst>
              <a:ext uri="{FF2B5EF4-FFF2-40B4-BE49-F238E27FC236}">
                <a16:creationId xmlns:a16="http://schemas.microsoft.com/office/drawing/2014/main" id="{9B25861F-DC25-6F06-F7BB-C89A2FC304C1}"/>
              </a:ext>
            </a:extLst>
          </p:cNvPr>
          <p:cNvSpPr/>
          <p:nvPr/>
        </p:nvSpPr>
        <p:spPr>
          <a:xfrm>
            <a:off x="670560" y="7199376"/>
            <a:ext cx="9692640" cy="12192"/>
          </a:xfrm>
          <a:prstGeom prst="rect">
            <a:avLst/>
          </a:prstGeom>
          <a:solidFill>
            <a:srgbClr val="DDE3E6"/>
          </a:solidFill>
          <a:ln/>
        </p:spPr>
        <p:txBody>
          <a:bodyPr/>
          <a:lstStyle/>
          <a:p>
            <a:endParaRPr lang="es-ES_tradnl" sz="1867"/>
          </a:p>
        </p:txBody>
      </p:sp>
      <p:sp>
        <p:nvSpPr>
          <p:cNvPr id="185" name="Shape 79">
            <a:extLst>
              <a:ext uri="{FF2B5EF4-FFF2-40B4-BE49-F238E27FC236}">
                <a16:creationId xmlns:a16="http://schemas.microsoft.com/office/drawing/2014/main" id="{2EFF2A24-FC78-5128-5725-C1323E1C9934}"/>
              </a:ext>
            </a:extLst>
          </p:cNvPr>
          <p:cNvSpPr/>
          <p:nvPr/>
        </p:nvSpPr>
        <p:spPr>
          <a:xfrm>
            <a:off x="731520" y="7309104"/>
            <a:ext cx="329184" cy="329184"/>
          </a:xfrm>
          <a:prstGeom prst="ellipse">
            <a:avLst/>
          </a:prstGeom>
          <a:solidFill>
            <a:srgbClr val="B5791C"/>
          </a:solidFill>
          <a:ln/>
        </p:spPr>
        <p:txBody>
          <a:bodyPr/>
          <a:lstStyle/>
          <a:p>
            <a:endParaRPr lang="es-ES_tradnl" sz="1867"/>
          </a:p>
        </p:txBody>
      </p:sp>
      <p:sp>
        <p:nvSpPr>
          <p:cNvPr id="186" name="Text 80">
            <a:extLst>
              <a:ext uri="{FF2B5EF4-FFF2-40B4-BE49-F238E27FC236}">
                <a16:creationId xmlns:a16="http://schemas.microsoft.com/office/drawing/2014/main" id="{622951D6-5880-39F5-9F39-AEF1EB2EB9F7}"/>
              </a:ext>
            </a:extLst>
          </p:cNvPr>
          <p:cNvSpPr txBox="1"/>
          <p:nvPr/>
        </p:nvSpPr>
        <p:spPr>
          <a:xfrm>
            <a:off x="731520" y="7309104"/>
            <a:ext cx="329184" cy="32918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10</a:t>
            </a:r>
            <a:endParaRPr lang="en-US" dirty="0"/>
          </a:p>
        </p:txBody>
      </p:sp>
      <p:sp>
        <p:nvSpPr>
          <p:cNvPr id="187" name="Text 81">
            <a:extLst>
              <a:ext uri="{FF2B5EF4-FFF2-40B4-BE49-F238E27FC236}">
                <a16:creationId xmlns:a16="http://schemas.microsoft.com/office/drawing/2014/main" id="{F1F36806-11E2-FEA5-FA22-EECDBC98036A}"/>
              </a:ext>
            </a:extLst>
          </p:cNvPr>
          <p:cNvSpPr txBox="1"/>
          <p:nvPr/>
        </p:nvSpPr>
        <p:spPr>
          <a:xfrm>
            <a:off x="1365504" y="7278624"/>
            <a:ext cx="3535680" cy="390144"/>
          </a:xfrm>
          <a:prstGeom prst="rect">
            <a:avLst/>
          </a:prstGeom>
          <a:noFill/>
          <a:ln/>
        </p:spPr>
        <p:txBody>
          <a:bodyPr wrap="square" lIns="0" tIns="0" rIns="0" bIns="0" rtlCol="0" anchor="ctr"/>
          <a:lstStyle/>
          <a:p>
            <a:r>
              <a:rPr lang="en-US" sz="1800" b="1" dirty="0">
                <a:solidFill>
                  <a:srgbClr val="1F2933"/>
                </a:solidFill>
                <a:latin typeface="Arial" pitchFamily="34" charset="0"/>
                <a:ea typeface="Arial" pitchFamily="34" charset="-122"/>
                <a:cs typeface="Arial" pitchFamily="34" charset="-120"/>
              </a:rPr>
              <a:t>Rentabilidad Cliente 360</a:t>
            </a:r>
            <a:endParaRPr lang="en-US" sz="1800" dirty="0"/>
          </a:p>
        </p:txBody>
      </p:sp>
      <p:sp>
        <p:nvSpPr>
          <p:cNvPr id="188" name="Shape 82">
            <a:extLst>
              <a:ext uri="{FF2B5EF4-FFF2-40B4-BE49-F238E27FC236}">
                <a16:creationId xmlns:a16="http://schemas.microsoft.com/office/drawing/2014/main" id="{FFE29968-1AE6-CE69-9A4F-8D0E1AA171F9}"/>
              </a:ext>
            </a:extLst>
          </p:cNvPr>
          <p:cNvSpPr/>
          <p:nvPr/>
        </p:nvSpPr>
        <p:spPr>
          <a:xfrm>
            <a:off x="5059680" y="7290816"/>
            <a:ext cx="1975104" cy="365760"/>
          </a:xfrm>
          <a:prstGeom prst="roundRect">
            <a:avLst>
              <a:gd name="adj" fmla="val 46667"/>
            </a:avLst>
          </a:prstGeom>
          <a:solidFill>
            <a:srgbClr val="FAF0DE"/>
          </a:solidFill>
          <a:ln/>
        </p:spPr>
        <p:txBody>
          <a:bodyPr/>
          <a:lstStyle/>
          <a:p>
            <a:endParaRPr lang="es-ES_tradnl" sz="1867"/>
          </a:p>
        </p:txBody>
      </p:sp>
      <p:sp>
        <p:nvSpPr>
          <p:cNvPr id="189" name="Text 83">
            <a:extLst>
              <a:ext uri="{FF2B5EF4-FFF2-40B4-BE49-F238E27FC236}">
                <a16:creationId xmlns:a16="http://schemas.microsoft.com/office/drawing/2014/main" id="{DCC45C21-30DD-59A1-FFBA-C3C89B726981}"/>
              </a:ext>
            </a:extLst>
          </p:cNvPr>
          <p:cNvSpPr txBox="1"/>
          <p:nvPr/>
        </p:nvSpPr>
        <p:spPr>
          <a:xfrm>
            <a:off x="5059680" y="7290816"/>
            <a:ext cx="1975104" cy="365760"/>
          </a:xfrm>
          <a:prstGeom prst="rect">
            <a:avLst/>
          </a:prstGeom>
          <a:noFill/>
          <a:ln/>
        </p:spPr>
        <p:txBody>
          <a:bodyPr wrap="square" lIns="0" tIns="0" rIns="0" bIns="0" rtlCol="0" anchor="ctr"/>
          <a:lstStyle/>
          <a:p>
            <a:pPr algn="ctr"/>
            <a:r>
              <a:rPr lang="en-US" sz="1467" b="1" dirty="0">
                <a:solidFill>
                  <a:srgbClr val="B5791C"/>
                </a:solidFill>
                <a:latin typeface="Arial" pitchFamily="34" charset="0"/>
                <a:ea typeface="Arial" pitchFamily="34" charset="-122"/>
                <a:cs typeface="Arial" pitchFamily="34" charset="-120"/>
              </a:rPr>
              <a:t>BN · Pricing</a:t>
            </a:r>
            <a:endParaRPr lang="en-US" sz="1467" dirty="0"/>
          </a:p>
        </p:txBody>
      </p:sp>
      <p:sp>
        <p:nvSpPr>
          <p:cNvPr id="190" name="Shape 84">
            <a:extLst>
              <a:ext uri="{FF2B5EF4-FFF2-40B4-BE49-F238E27FC236}">
                <a16:creationId xmlns:a16="http://schemas.microsoft.com/office/drawing/2014/main" id="{C050B007-F95D-B209-878E-F2E2E421A1F8}"/>
              </a:ext>
            </a:extLst>
          </p:cNvPr>
          <p:cNvSpPr/>
          <p:nvPr/>
        </p:nvSpPr>
        <p:spPr>
          <a:xfrm>
            <a:off x="7985760" y="7290816"/>
            <a:ext cx="1828800" cy="365760"/>
          </a:xfrm>
          <a:prstGeom prst="roundRect">
            <a:avLst>
              <a:gd name="adj" fmla="val 46667"/>
            </a:avLst>
          </a:prstGeom>
          <a:solidFill>
            <a:srgbClr val="F2F4F5"/>
          </a:solidFill>
          <a:ln/>
        </p:spPr>
        <p:txBody>
          <a:bodyPr/>
          <a:lstStyle/>
          <a:p>
            <a:endParaRPr lang="es-ES_tradnl" sz="1867"/>
          </a:p>
        </p:txBody>
      </p:sp>
      <p:sp>
        <p:nvSpPr>
          <p:cNvPr id="191" name="Text 85">
            <a:extLst>
              <a:ext uri="{FF2B5EF4-FFF2-40B4-BE49-F238E27FC236}">
                <a16:creationId xmlns:a16="http://schemas.microsoft.com/office/drawing/2014/main" id="{36D66ECD-578A-2634-E3B9-67C17693CD78}"/>
              </a:ext>
            </a:extLst>
          </p:cNvPr>
          <p:cNvSpPr txBox="1"/>
          <p:nvPr/>
        </p:nvSpPr>
        <p:spPr>
          <a:xfrm>
            <a:off x="7985760" y="7290816"/>
            <a:ext cx="1828800" cy="365760"/>
          </a:xfrm>
          <a:prstGeom prst="rect">
            <a:avLst/>
          </a:prstGeom>
          <a:noFill/>
          <a:ln/>
        </p:spPr>
        <p:txBody>
          <a:bodyPr wrap="square" lIns="0" tIns="0" rIns="0" bIns="0" rtlCol="0" anchor="ctr"/>
          <a:lstStyle/>
          <a:p>
            <a:pPr algn="ctr"/>
            <a:r>
              <a:rPr lang="en-US" sz="1467" b="1" dirty="0">
                <a:solidFill>
                  <a:srgbClr val="8A9199"/>
                </a:solidFill>
                <a:latin typeface="Arial" pitchFamily="34" charset="0"/>
                <a:ea typeface="Arial" pitchFamily="34" charset="-122"/>
                <a:cs typeface="Arial" pitchFamily="34" charset="-120"/>
              </a:rPr>
              <a:t>Por definir</a:t>
            </a:r>
            <a:endParaRPr lang="en-US" sz="1467" dirty="0"/>
          </a:p>
        </p:txBody>
      </p:sp>
      <p:sp>
        <p:nvSpPr>
          <p:cNvPr id="192" name="Shape 86">
            <a:extLst>
              <a:ext uri="{FF2B5EF4-FFF2-40B4-BE49-F238E27FC236}">
                <a16:creationId xmlns:a16="http://schemas.microsoft.com/office/drawing/2014/main" id="{FF6AC8AB-EFF4-A20B-4D43-246354B887C5}"/>
              </a:ext>
            </a:extLst>
          </p:cNvPr>
          <p:cNvSpPr/>
          <p:nvPr/>
        </p:nvSpPr>
        <p:spPr>
          <a:xfrm>
            <a:off x="10911840" y="1853184"/>
            <a:ext cx="4693920" cy="2462784"/>
          </a:xfrm>
          <a:prstGeom prst="roundRect">
            <a:avLst>
              <a:gd name="adj" fmla="val 2970"/>
            </a:avLst>
          </a:prstGeom>
          <a:solidFill>
            <a:srgbClr val="F6F9F8"/>
          </a:solidFill>
          <a:ln/>
        </p:spPr>
        <p:txBody>
          <a:bodyPr/>
          <a:lstStyle/>
          <a:p>
            <a:endParaRPr lang="es-ES_tradnl" sz="1867"/>
          </a:p>
        </p:txBody>
      </p:sp>
      <p:sp>
        <p:nvSpPr>
          <p:cNvPr id="193" name="Text 87">
            <a:extLst>
              <a:ext uri="{FF2B5EF4-FFF2-40B4-BE49-F238E27FC236}">
                <a16:creationId xmlns:a16="http://schemas.microsoft.com/office/drawing/2014/main" id="{9DC2775E-633E-DB3C-DD66-6DC076113C44}"/>
              </a:ext>
            </a:extLst>
          </p:cNvPr>
          <p:cNvSpPr txBox="1"/>
          <p:nvPr/>
        </p:nvSpPr>
        <p:spPr>
          <a:xfrm>
            <a:off x="11253216" y="2097024"/>
            <a:ext cx="4011168" cy="292608"/>
          </a:xfrm>
          <a:prstGeom prst="rect">
            <a:avLst/>
          </a:prstGeom>
          <a:noFill/>
          <a:ln/>
        </p:spPr>
        <p:txBody>
          <a:bodyPr wrap="square" lIns="0" tIns="0" rIns="0" bIns="0" rtlCol="0" anchor="ctr"/>
          <a:lstStyle/>
          <a:p>
            <a:r>
              <a:rPr lang="en-US" sz="1333" b="1" spc="133" dirty="0">
                <a:solidFill>
                  <a:srgbClr val="6E767F"/>
                </a:solidFill>
                <a:latin typeface="Arial" pitchFamily="34" charset="0"/>
                <a:ea typeface="Arial" pitchFamily="34" charset="-122"/>
                <a:cs typeface="Arial" pitchFamily="34" charset="-120"/>
              </a:rPr>
              <a:t>REPARTO POR ÁREA</a:t>
            </a:r>
            <a:endParaRPr lang="en-US" sz="1333" dirty="0"/>
          </a:p>
        </p:txBody>
      </p:sp>
      <p:sp>
        <p:nvSpPr>
          <p:cNvPr id="194" name="Text 88">
            <a:extLst>
              <a:ext uri="{FF2B5EF4-FFF2-40B4-BE49-F238E27FC236}">
                <a16:creationId xmlns:a16="http://schemas.microsoft.com/office/drawing/2014/main" id="{9D329FF8-4C01-03EB-FD75-B08D599D88F8}"/>
              </a:ext>
            </a:extLst>
          </p:cNvPr>
          <p:cNvSpPr txBox="1"/>
          <p:nvPr/>
        </p:nvSpPr>
        <p:spPr>
          <a:xfrm>
            <a:off x="11253216" y="2511552"/>
            <a:ext cx="609600" cy="438912"/>
          </a:xfrm>
          <a:prstGeom prst="rect">
            <a:avLst/>
          </a:prstGeom>
          <a:noFill/>
          <a:ln/>
        </p:spPr>
        <p:txBody>
          <a:bodyPr wrap="square" lIns="0" tIns="0" rIns="0" bIns="0" rtlCol="0" anchor="ctr"/>
          <a:lstStyle/>
          <a:p>
            <a:r>
              <a:rPr lang="en-US" sz="2933" b="1" dirty="0">
                <a:solidFill>
                  <a:srgbClr val="2F3A6E"/>
                </a:solidFill>
                <a:latin typeface="Arial" pitchFamily="34" charset="0"/>
                <a:ea typeface="Arial" pitchFamily="34" charset="-122"/>
                <a:cs typeface="Arial" pitchFamily="34" charset="-120"/>
              </a:rPr>
              <a:t>4</a:t>
            </a:r>
            <a:endParaRPr lang="en-US" sz="2933" dirty="0"/>
          </a:p>
        </p:txBody>
      </p:sp>
      <p:sp>
        <p:nvSpPr>
          <p:cNvPr id="195" name="Text 89">
            <a:extLst>
              <a:ext uri="{FF2B5EF4-FFF2-40B4-BE49-F238E27FC236}">
                <a16:creationId xmlns:a16="http://schemas.microsoft.com/office/drawing/2014/main" id="{F865B329-7FE4-5C90-764D-4638F22E8209}"/>
              </a:ext>
            </a:extLst>
          </p:cNvPr>
          <p:cNvSpPr txBox="1"/>
          <p:nvPr/>
        </p:nvSpPr>
        <p:spPr>
          <a:xfrm>
            <a:off x="11948160" y="2511552"/>
            <a:ext cx="3169920" cy="438912"/>
          </a:xfrm>
          <a:prstGeom prst="rect">
            <a:avLst/>
          </a:prstGeom>
          <a:noFill/>
          <a:ln/>
        </p:spPr>
        <p:txBody>
          <a:bodyPr wrap="square" lIns="0" tIns="0" rIns="0" bIns="0" rtlCol="0" anchor="ctr"/>
          <a:lstStyle/>
          <a:p>
            <a:r>
              <a:rPr lang="en-US" sz="1667" dirty="0">
                <a:solidFill>
                  <a:srgbClr val="1F2933"/>
                </a:solidFill>
                <a:latin typeface="Arial" pitchFamily="34" charset="0"/>
                <a:ea typeface="Arial" pitchFamily="34" charset="-122"/>
                <a:cs typeface="Arial" pitchFamily="34" charset="-120"/>
              </a:rPr>
              <a:t>Riesgos</a:t>
            </a:r>
            <a:endParaRPr lang="en-US" sz="1667" dirty="0"/>
          </a:p>
        </p:txBody>
      </p:sp>
      <p:sp>
        <p:nvSpPr>
          <p:cNvPr id="196" name="Text 90">
            <a:extLst>
              <a:ext uri="{FF2B5EF4-FFF2-40B4-BE49-F238E27FC236}">
                <a16:creationId xmlns:a16="http://schemas.microsoft.com/office/drawing/2014/main" id="{DAE3BD6E-B019-A3F7-2ECC-826E782DB303}"/>
              </a:ext>
            </a:extLst>
          </p:cNvPr>
          <p:cNvSpPr txBox="1"/>
          <p:nvPr/>
        </p:nvSpPr>
        <p:spPr>
          <a:xfrm>
            <a:off x="11253216" y="3048000"/>
            <a:ext cx="609600" cy="438912"/>
          </a:xfrm>
          <a:prstGeom prst="rect">
            <a:avLst/>
          </a:prstGeom>
          <a:noFill/>
          <a:ln/>
        </p:spPr>
        <p:txBody>
          <a:bodyPr wrap="square" lIns="0" tIns="0" rIns="0" bIns="0" rtlCol="0" anchor="ctr"/>
          <a:lstStyle/>
          <a:p>
            <a:r>
              <a:rPr lang="en-US" sz="2933" b="1" dirty="0">
                <a:solidFill>
                  <a:srgbClr val="1E7B6C"/>
                </a:solidFill>
                <a:latin typeface="Arial" pitchFamily="34" charset="0"/>
                <a:ea typeface="Arial" pitchFamily="34" charset="-122"/>
                <a:cs typeface="Arial" pitchFamily="34" charset="-120"/>
              </a:rPr>
              <a:t>5</a:t>
            </a:r>
            <a:endParaRPr lang="en-US" sz="2933" dirty="0"/>
          </a:p>
        </p:txBody>
      </p:sp>
      <p:sp>
        <p:nvSpPr>
          <p:cNvPr id="197" name="Text 91">
            <a:extLst>
              <a:ext uri="{FF2B5EF4-FFF2-40B4-BE49-F238E27FC236}">
                <a16:creationId xmlns:a16="http://schemas.microsoft.com/office/drawing/2014/main" id="{06666D3D-39FA-0F13-FE39-FA6593CC1761}"/>
              </a:ext>
            </a:extLst>
          </p:cNvPr>
          <p:cNvSpPr txBox="1"/>
          <p:nvPr/>
        </p:nvSpPr>
        <p:spPr>
          <a:xfrm>
            <a:off x="11948160" y="3048000"/>
            <a:ext cx="3169920" cy="438912"/>
          </a:xfrm>
          <a:prstGeom prst="rect">
            <a:avLst/>
          </a:prstGeom>
          <a:noFill/>
          <a:ln/>
        </p:spPr>
        <p:txBody>
          <a:bodyPr wrap="square" lIns="0" tIns="0" rIns="0" bIns="0" rtlCol="0" anchor="ctr"/>
          <a:lstStyle/>
          <a:p>
            <a:r>
              <a:rPr lang="en-US" sz="1667" dirty="0">
                <a:solidFill>
                  <a:srgbClr val="1F2933"/>
                </a:solidFill>
                <a:latin typeface="Arial" pitchFamily="34" charset="0"/>
                <a:ea typeface="Arial" pitchFamily="34" charset="-122"/>
                <a:cs typeface="Arial" pitchFamily="34" charset="-120"/>
              </a:rPr>
              <a:t>Data Science</a:t>
            </a:r>
            <a:endParaRPr lang="en-US" sz="1667" dirty="0"/>
          </a:p>
        </p:txBody>
      </p:sp>
      <p:sp>
        <p:nvSpPr>
          <p:cNvPr id="198" name="Text 92">
            <a:extLst>
              <a:ext uri="{FF2B5EF4-FFF2-40B4-BE49-F238E27FC236}">
                <a16:creationId xmlns:a16="http://schemas.microsoft.com/office/drawing/2014/main" id="{040C467C-15B4-EA63-8A28-60FB49971452}"/>
              </a:ext>
            </a:extLst>
          </p:cNvPr>
          <p:cNvSpPr txBox="1"/>
          <p:nvPr/>
        </p:nvSpPr>
        <p:spPr>
          <a:xfrm>
            <a:off x="11253216" y="3584448"/>
            <a:ext cx="609600" cy="438912"/>
          </a:xfrm>
          <a:prstGeom prst="rect">
            <a:avLst/>
          </a:prstGeom>
          <a:noFill/>
          <a:ln/>
        </p:spPr>
        <p:txBody>
          <a:bodyPr wrap="square" lIns="0" tIns="0" rIns="0" bIns="0" rtlCol="0" anchor="ctr"/>
          <a:lstStyle/>
          <a:p>
            <a:r>
              <a:rPr lang="en-US" sz="2933" b="1" dirty="0">
                <a:solidFill>
                  <a:srgbClr val="B5791C"/>
                </a:solidFill>
                <a:latin typeface="Arial" pitchFamily="34" charset="0"/>
                <a:ea typeface="Arial" pitchFamily="34" charset="-122"/>
                <a:cs typeface="Arial" pitchFamily="34" charset="-120"/>
              </a:rPr>
              <a:t>1</a:t>
            </a:r>
            <a:endParaRPr lang="en-US" sz="2933" dirty="0"/>
          </a:p>
        </p:txBody>
      </p:sp>
      <p:sp>
        <p:nvSpPr>
          <p:cNvPr id="199" name="Text 93">
            <a:extLst>
              <a:ext uri="{FF2B5EF4-FFF2-40B4-BE49-F238E27FC236}">
                <a16:creationId xmlns:a16="http://schemas.microsoft.com/office/drawing/2014/main" id="{A6904894-11E7-2518-4E91-D7DD0DD2A6A3}"/>
              </a:ext>
            </a:extLst>
          </p:cNvPr>
          <p:cNvSpPr txBox="1"/>
          <p:nvPr/>
        </p:nvSpPr>
        <p:spPr>
          <a:xfrm>
            <a:off x="11948160" y="3584448"/>
            <a:ext cx="3169920" cy="438912"/>
          </a:xfrm>
          <a:prstGeom prst="rect">
            <a:avLst/>
          </a:prstGeom>
          <a:noFill/>
          <a:ln/>
        </p:spPr>
        <p:txBody>
          <a:bodyPr wrap="square" lIns="0" tIns="0" rIns="0" bIns="0" rtlCol="0" anchor="ctr"/>
          <a:lstStyle/>
          <a:p>
            <a:r>
              <a:rPr lang="en-US" sz="1667" dirty="0">
                <a:solidFill>
                  <a:srgbClr val="1F2933"/>
                </a:solidFill>
                <a:latin typeface="Arial" pitchFamily="34" charset="0"/>
                <a:ea typeface="Arial" pitchFamily="34" charset="-122"/>
                <a:cs typeface="Arial" pitchFamily="34" charset="-120"/>
              </a:rPr>
              <a:t>BN · Pricing</a:t>
            </a:r>
            <a:endParaRPr lang="en-US" sz="1667" dirty="0"/>
          </a:p>
        </p:txBody>
      </p:sp>
      <p:sp>
        <p:nvSpPr>
          <p:cNvPr id="200" name="Shape 94">
            <a:extLst>
              <a:ext uri="{FF2B5EF4-FFF2-40B4-BE49-F238E27FC236}">
                <a16:creationId xmlns:a16="http://schemas.microsoft.com/office/drawing/2014/main" id="{F92325DB-A204-B319-AC54-F87FE4938028}"/>
              </a:ext>
            </a:extLst>
          </p:cNvPr>
          <p:cNvSpPr/>
          <p:nvPr/>
        </p:nvSpPr>
        <p:spPr>
          <a:xfrm>
            <a:off x="10911840" y="4535424"/>
            <a:ext cx="4693920" cy="2462784"/>
          </a:xfrm>
          <a:prstGeom prst="roundRect">
            <a:avLst>
              <a:gd name="adj" fmla="val 2970"/>
            </a:avLst>
          </a:prstGeom>
          <a:solidFill>
            <a:srgbClr val="F6F9F8"/>
          </a:solidFill>
          <a:ln/>
        </p:spPr>
        <p:txBody>
          <a:bodyPr/>
          <a:lstStyle/>
          <a:p>
            <a:endParaRPr lang="es-ES_tradnl" sz="1867"/>
          </a:p>
        </p:txBody>
      </p:sp>
      <p:sp>
        <p:nvSpPr>
          <p:cNvPr id="201" name="Text 95">
            <a:extLst>
              <a:ext uri="{FF2B5EF4-FFF2-40B4-BE49-F238E27FC236}">
                <a16:creationId xmlns:a16="http://schemas.microsoft.com/office/drawing/2014/main" id="{E34632EF-5640-34B5-7765-12BB76471F78}"/>
              </a:ext>
            </a:extLst>
          </p:cNvPr>
          <p:cNvSpPr txBox="1"/>
          <p:nvPr/>
        </p:nvSpPr>
        <p:spPr>
          <a:xfrm>
            <a:off x="11253216" y="4779264"/>
            <a:ext cx="4011168" cy="292608"/>
          </a:xfrm>
          <a:prstGeom prst="rect">
            <a:avLst/>
          </a:prstGeom>
          <a:noFill/>
          <a:ln/>
        </p:spPr>
        <p:txBody>
          <a:bodyPr wrap="square" lIns="0" tIns="0" rIns="0" bIns="0" rtlCol="0" anchor="ctr"/>
          <a:lstStyle/>
          <a:p>
            <a:r>
              <a:rPr lang="en-US" sz="1333" b="1" spc="133" dirty="0">
                <a:solidFill>
                  <a:srgbClr val="6E767F"/>
                </a:solidFill>
                <a:latin typeface="Arial" pitchFamily="34" charset="0"/>
                <a:ea typeface="Arial" pitchFamily="34" charset="-122"/>
                <a:cs typeface="Arial" pitchFamily="34" charset="-120"/>
              </a:rPr>
              <a:t>FRECUENCIA DE MONITOREO</a:t>
            </a:r>
            <a:endParaRPr lang="en-US" sz="1333" dirty="0"/>
          </a:p>
        </p:txBody>
      </p:sp>
      <p:sp>
        <p:nvSpPr>
          <p:cNvPr id="202" name="Text 96">
            <a:extLst>
              <a:ext uri="{FF2B5EF4-FFF2-40B4-BE49-F238E27FC236}">
                <a16:creationId xmlns:a16="http://schemas.microsoft.com/office/drawing/2014/main" id="{9A868B8D-65FA-F82B-8B41-C326B2934851}"/>
              </a:ext>
            </a:extLst>
          </p:cNvPr>
          <p:cNvSpPr txBox="1"/>
          <p:nvPr/>
        </p:nvSpPr>
        <p:spPr>
          <a:xfrm>
            <a:off x="11253216" y="5193792"/>
            <a:ext cx="609600" cy="438912"/>
          </a:xfrm>
          <a:prstGeom prst="rect">
            <a:avLst/>
          </a:prstGeom>
          <a:noFill/>
          <a:ln/>
        </p:spPr>
        <p:txBody>
          <a:bodyPr wrap="square" lIns="0" tIns="0" rIns="0" bIns="0" rtlCol="0" anchor="ctr"/>
          <a:lstStyle/>
          <a:p>
            <a:r>
              <a:rPr lang="en-US" sz="2933" b="1" dirty="0">
                <a:solidFill>
                  <a:srgbClr val="1E7B6C"/>
                </a:solidFill>
                <a:latin typeface="Arial" pitchFamily="34" charset="0"/>
                <a:ea typeface="Arial" pitchFamily="34" charset="-122"/>
                <a:cs typeface="Arial" pitchFamily="34" charset="-120"/>
              </a:rPr>
              <a:t>7</a:t>
            </a:r>
            <a:endParaRPr lang="en-US" sz="2933" dirty="0"/>
          </a:p>
        </p:txBody>
      </p:sp>
      <p:sp>
        <p:nvSpPr>
          <p:cNvPr id="203" name="Text 97">
            <a:extLst>
              <a:ext uri="{FF2B5EF4-FFF2-40B4-BE49-F238E27FC236}">
                <a16:creationId xmlns:a16="http://schemas.microsoft.com/office/drawing/2014/main" id="{011E8214-060A-3220-6753-C9F84B5E6C15}"/>
              </a:ext>
            </a:extLst>
          </p:cNvPr>
          <p:cNvSpPr txBox="1"/>
          <p:nvPr/>
        </p:nvSpPr>
        <p:spPr>
          <a:xfrm>
            <a:off x="11948160" y="5193792"/>
            <a:ext cx="3169920" cy="438912"/>
          </a:xfrm>
          <a:prstGeom prst="rect">
            <a:avLst/>
          </a:prstGeom>
          <a:noFill/>
          <a:ln/>
        </p:spPr>
        <p:txBody>
          <a:bodyPr wrap="square" lIns="0" tIns="0" rIns="0" bIns="0" rtlCol="0" anchor="ctr"/>
          <a:lstStyle/>
          <a:p>
            <a:r>
              <a:rPr lang="en-US" sz="1667" dirty="0">
                <a:solidFill>
                  <a:srgbClr val="1F2933"/>
                </a:solidFill>
                <a:latin typeface="Arial" pitchFamily="34" charset="0"/>
                <a:ea typeface="Arial" pitchFamily="34" charset="-122"/>
                <a:cs typeface="Arial" pitchFamily="34" charset="-120"/>
              </a:rPr>
              <a:t>Trimestral</a:t>
            </a:r>
            <a:endParaRPr lang="en-US" sz="1667" dirty="0"/>
          </a:p>
        </p:txBody>
      </p:sp>
      <p:sp>
        <p:nvSpPr>
          <p:cNvPr id="204" name="Text 98">
            <a:extLst>
              <a:ext uri="{FF2B5EF4-FFF2-40B4-BE49-F238E27FC236}">
                <a16:creationId xmlns:a16="http://schemas.microsoft.com/office/drawing/2014/main" id="{0D1C3E2F-0A14-46DA-1F73-46F0CBA71A8B}"/>
              </a:ext>
            </a:extLst>
          </p:cNvPr>
          <p:cNvSpPr txBox="1"/>
          <p:nvPr/>
        </p:nvSpPr>
        <p:spPr>
          <a:xfrm>
            <a:off x="11253216" y="5730240"/>
            <a:ext cx="609600" cy="438912"/>
          </a:xfrm>
          <a:prstGeom prst="rect">
            <a:avLst/>
          </a:prstGeom>
          <a:noFill/>
          <a:ln/>
        </p:spPr>
        <p:txBody>
          <a:bodyPr wrap="square" lIns="0" tIns="0" rIns="0" bIns="0" rtlCol="0" anchor="ctr"/>
          <a:lstStyle/>
          <a:p>
            <a:r>
              <a:rPr lang="en-US" sz="2933" b="1" dirty="0">
                <a:solidFill>
                  <a:srgbClr val="2F3A6E"/>
                </a:solidFill>
                <a:latin typeface="Arial" pitchFamily="34" charset="0"/>
                <a:ea typeface="Arial" pitchFamily="34" charset="-122"/>
                <a:cs typeface="Arial" pitchFamily="34" charset="-120"/>
              </a:rPr>
              <a:t>2</a:t>
            </a:r>
            <a:endParaRPr lang="en-US" sz="2933" dirty="0"/>
          </a:p>
        </p:txBody>
      </p:sp>
      <p:sp>
        <p:nvSpPr>
          <p:cNvPr id="205" name="Text 99">
            <a:extLst>
              <a:ext uri="{FF2B5EF4-FFF2-40B4-BE49-F238E27FC236}">
                <a16:creationId xmlns:a16="http://schemas.microsoft.com/office/drawing/2014/main" id="{23834B69-129C-D536-EF10-4D0867F9C0EC}"/>
              </a:ext>
            </a:extLst>
          </p:cNvPr>
          <p:cNvSpPr txBox="1"/>
          <p:nvPr/>
        </p:nvSpPr>
        <p:spPr>
          <a:xfrm>
            <a:off x="11948160" y="5730240"/>
            <a:ext cx="3169920" cy="438912"/>
          </a:xfrm>
          <a:prstGeom prst="rect">
            <a:avLst/>
          </a:prstGeom>
          <a:noFill/>
          <a:ln/>
        </p:spPr>
        <p:txBody>
          <a:bodyPr wrap="square" lIns="0" tIns="0" rIns="0" bIns="0" rtlCol="0" anchor="ctr"/>
          <a:lstStyle/>
          <a:p>
            <a:r>
              <a:rPr lang="en-US" sz="1667" dirty="0">
                <a:solidFill>
                  <a:srgbClr val="1F2933"/>
                </a:solidFill>
                <a:latin typeface="Arial" pitchFamily="34" charset="0"/>
                <a:ea typeface="Arial" pitchFamily="34" charset="-122"/>
                <a:cs typeface="Arial" pitchFamily="34" charset="-120"/>
              </a:rPr>
              <a:t>Semestral</a:t>
            </a:r>
            <a:endParaRPr lang="en-US" sz="1667" dirty="0"/>
          </a:p>
        </p:txBody>
      </p:sp>
      <p:sp>
        <p:nvSpPr>
          <p:cNvPr id="206" name="Text 100">
            <a:extLst>
              <a:ext uri="{FF2B5EF4-FFF2-40B4-BE49-F238E27FC236}">
                <a16:creationId xmlns:a16="http://schemas.microsoft.com/office/drawing/2014/main" id="{7906CE8C-5BF3-574F-F435-F9E6B3898A6C}"/>
              </a:ext>
            </a:extLst>
          </p:cNvPr>
          <p:cNvSpPr txBox="1"/>
          <p:nvPr/>
        </p:nvSpPr>
        <p:spPr>
          <a:xfrm>
            <a:off x="11253216" y="6266688"/>
            <a:ext cx="609600" cy="438912"/>
          </a:xfrm>
          <a:prstGeom prst="rect">
            <a:avLst/>
          </a:prstGeom>
          <a:noFill/>
          <a:ln/>
        </p:spPr>
        <p:txBody>
          <a:bodyPr wrap="square" lIns="0" tIns="0" rIns="0" bIns="0" rtlCol="0" anchor="ctr"/>
          <a:lstStyle/>
          <a:p>
            <a:r>
              <a:rPr lang="en-US" sz="2933" b="1" dirty="0">
                <a:solidFill>
                  <a:srgbClr val="8A9199"/>
                </a:solidFill>
                <a:latin typeface="Arial" pitchFamily="34" charset="0"/>
                <a:ea typeface="Arial" pitchFamily="34" charset="-122"/>
                <a:cs typeface="Arial" pitchFamily="34" charset="-120"/>
              </a:rPr>
              <a:t>1</a:t>
            </a:r>
            <a:endParaRPr lang="en-US" sz="2933" dirty="0"/>
          </a:p>
        </p:txBody>
      </p:sp>
      <p:sp>
        <p:nvSpPr>
          <p:cNvPr id="207" name="Text 101">
            <a:extLst>
              <a:ext uri="{FF2B5EF4-FFF2-40B4-BE49-F238E27FC236}">
                <a16:creationId xmlns:a16="http://schemas.microsoft.com/office/drawing/2014/main" id="{3E9DD79C-8714-ADAC-7954-D95A75C36F9D}"/>
              </a:ext>
            </a:extLst>
          </p:cNvPr>
          <p:cNvSpPr txBox="1"/>
          <p:nvPr/>
        </p:nvSpPr>
        <p:spPr>
          <a:xfrm>
            <a:off x="11948160" y="6266688"/>
            <a:ext cx="3169920" cy="438912"/>
          </a:xfrm>
          <a:prstGeom prst="rect">
            <a:avLst/>
          </a:prstGeom>
          <a:noFill/>
          <a:ln/>
        </p:spPr>
        <p:txBody>
          <a:bodyPr wrap="square" lIns="0" tIns="0" rIns="0" bIns="0" rtlCol="0" anchor="ctr"/>
          <a:lstStyle/>
          <a:p>
            <a:r>
              <a:rPr lang="en-US" sz="1667" dirty="0">
                <a:solidFill>
                  <a:srgbClr val="1F2933"/>
                </a:solidFill>
                <a:latin typeface="Arial" pitchFamily="34" charset="0"/>
                <a:ea typeface="Arial" pitchFamily="34" charset="-122"/>
                <a:cs typeface="Arial" pitchFamily="34" charset="-120"/>
              </a:rPr>
              <a:t>Por definir</a:t>
            </a:r>
            <a:endParaRPr lang="en-US" sz="1667" dirty="0"/>
          </a:p>
        </p:txBody>
      </p:sp>
      <p:sp>
        <p:nvSpPr>
          <p:cNvPr id="208" name="Shape 102">
            <a:extLst>
              <a:ext uri="{FF2B5EF4-FFF2-40B4-BE49-F238E27FC236}">
                <a16:creationId xmlns:a16="http://schemas.microsoft.com/office/drawing/2014/main" id="{D36A4817-8D5E-174D-F1C0-C179BDB65627}"/>
              </a:ext>
            </a:extLst>
          </p:cNvPr>
          <p:cNvSpPr/>
          <p:nvPr/>
        </p:nvSpPr>
        <p:spPr>
          <a:xfrm>
            <a:off x="670560" y="7985760"/>
            <a:ext cx="14935200" cy="670560"/>
          </a:xfrm>
          <a:prstGeom prst="roundRect">
            <a:avLst>
              <a:gd name="adj" fmla="val 9091"/>
            </a:avLst>
          </a:prstGeom>
          <a:solidFill>
            <a:srgbClr val="E4F0EE"/>
          </a:solidFill>
          <a:ln/>
        </p:spPr>
        <p:txBody>
          <a:bodyPr/>
          <a:lstStyle/>
          <a:p>
            <a:endParaRPr lang="es-ES_tradnl" sz="1867"/>
          </a:p>
        </p:txBody>
      </p:sp>
      <p:sp>
        <p:nvSpPr>
          <p:cNvPr id="209" name="Text 103">
            <a:extLst>
              <a:ext uri="{FF2B5EF4-FFF2-40B4-BE49-F238E27FC236}">
                <a16:creationId xmlns:a16="http://schemas.microsoft.com/office/drawing/2014/main" id="{32930B8D-ECB7-7301-7640-1E8EEE49FD0B}"/>
              </a:ext>
            </a:extLst>
          </p:cNvPr>
          <p:cNvSpPr txBox="1"/>
          <p:nvPr/>
        </p:nvSpPr>
        <p:spPr>
          <a:xfrm>
            <a:off x="1036320" y="7985760"/>
            <a:ext cx="14203680" cy="670560"/>
          </a:xfrm>
          <a:prstGeom prst="rect">
            <a:avLst/>
          </a:prstGeom>
          <a:noFill/>
          <a:ln/>
        </p:spPr>
        <p:txBody>
          <a:bodyPr wrap="square" lIns="0" tIns="0" rIns="0" bIns="0" rtlCol="0" anchor="ctr"/>
          <a:lstStyle/>
          <a:p>
            <a:r>
              <a:rPr lang="en-US" sz="1733" b="1" dirty="0">
                <a:solidFill>
                  <a:srgbClr val="16265C"/>
                </a:solidFill>
                <a:latin typeface="Arial" pitchFamily="34" charset="0"/>
                <a:ea typeface="Arial" pitchFamily="34" charset="-122"/>
                <a:cs typeface="Arial" pitchFamily="34" charset="-120"/>
              </a:rPr>
              <a:t>Rentabilidad Cliente 360 </a:t>
            </a:r>
            <a:r>
              <a:rPr lang="en-US" sz="1733" dirty="0">
                <a:solidFill>
                  <a:srgbClr val="16265C"/>
                </a:solidFill>
                <a:latin typeface="Arial" pitchFamily="34" charset="0"/>
                <a:ea typeface="Arial" pitchFamily="34" charset="-122"/>
                <a:cs typeface="Arial" pitchFamily="34" charset="-120"/>
              </a:rPr>
              <a:t>no tiene monitoreo definido porque no arranca hasta que los nueve modelos anteriores estén en producción.</a:t>
            </a:r>
            <a:endParaRPr lang="en-US" sz="173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F825D3-D053-79CB-6C16-57F72FD5CF36}"/>
            </a:ext>
          </a:extLst>
        </p:cNvPr>
        <p:cNvGrpSpPr/>
        <p:nvPr/>
      </p:nvGrpSpPr>
      <p:grpSpPr>
        <a:xfrm>
          <a:off x="0" y="0"/>
          <a:ext cx="0" cy="0"/>
          <a:chOff x="0" y="0"/>
          <a:chExt cx="0" cy="0"/>
        </a:xfrm>
      </p:grpSpPr>
      <p:sp>
        <p:nvSpPr>
          <p:cNvPr id="118" name="Google Shape;167;g3ed063acbfe_1_0">
            <a:extLst>
              <a:ext uri="{FF2B5EF4-FFF2-40B4-BE49-F238E27FC236}">
                <a16:creationId xmlns:a16="http://schemas.microsoft.com/office/drawing/2014/main" id="{DB1FCB34-E26E-49AC-FF96-53F061DBBCB7}"/>
              </a:ext>
            </a:extLst>
          </p:cNvPr>
          <p:cNvSpPr txBox="1"/>
          <p:nvPr/>
        </p:nvSpPr>
        <p:spPr>
          <a:xfrm>
            <a:off x="658368" y="45477"/>
            <a:ext cx="14024884"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2800" b="1" kern="1200" noProof="0" dirty="0">
                <a:solidFill>
                  <a:srgbClr val="13807B"/>
                </a:solidFill>
                <a:latin typeface="Poppins"/>
                <a:ea typeface="Poppins"/>
                <a:cs typeface="Poppins"/>
                <a:sym typeface="Poppins"/>
              </a:rPr>
              <a:t>Status de cada input de los modelos visión 360°: avance desagregado por modelo y frecuencia de monitoreo comprometida</a:t>
            </a:r>
          </a:p>
        </p:txBody>
      </p:sp>
      <p:sp>
        <p:nvSpPr>
          <p:cNvPr id="2" name="Rectangle 1">
            <a:extLst>
              <a:ext uri="{FF2B5EF4-FFF2-40B4-BE49-F238E27FC236}">
                <a16:creationId xmlns:a16="http://schemas.microsoft.com/office/drawing/2014/main" id="{A24C562E-89E1-E5CA-30B9-4E4906EAB753}"/>
              </a:ext>
            </a:extLst>
          </p:cNvPr>
          <p:cNvSpPr/>
          <p:nvPr/>
        </p:nvSpPr>
        <p:spPr>
          <a:xfrm>
            <a:off x="16555511" y="1569891"/>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id="{1C898E24-6CE4-8C7D-C53D-249D7C0DA744}"/>
              </a:ext>
            </a:extLst>
          </p:cNvPr>
          <p:cNvSpPr/>
          <p:nvPr/>
        </p:nvSpPr>
        <p:spPr>
          <a:xfrm>
            <a:off x="16565499" y="1372879"/>
            <a:ext cx="2680208" cy="235931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ES_tradnl" sz="2000" noProof="0" dirty="0"/>
              <a:t>Agregar la frecuencia de monitoreo </a:t>
            </a:r>
          </a:p>
          <a:p>
            <a:pPr algn="ctr"/>
            <a:r>
              <a:rPr lang="es-ES_tradnl" sz="2000" noProof="0" dirty="0"/>
              <a:t>Alinear las Leyendas para que no sean del mismo color</a:t>
            </a:r>
          </a:p>
        </p:txBody>
      </p:sp>
      <p:sp>
        <p:nvSpPr>
          <p:cNvPr id="109" name="Rectangle 108">
            <a:extLst>
              <a:ext uri="{FF2B5EF4-FFF2-40B4-BE49-F238E27FC236}">
                <a16:creationId xmlns:a16="http://schemas.microsoft.com/office/drawing/2014/main" id="{723F197A-F2BA-AC2C-EA7A-16CCA0BE38F9}"/>
              </a:ext>
            </a:extLst>
          </p:cNvPr>
          <p:cNvSpPr/>
          <p:nvPr/>
        </p:nvSpPr>
        <p:spPr>
          <a:xfrm>
            <a:off x="16587624" y="4051053"/>
            <a:ext cx="5126481" cy="352305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ES_tradnl" sz="2000" noProof="0" dirty="0"/>
              <a:t>Acá mencionar que este es un avance con </a:t>
            </a:r>
            <a:r>
              <a:rPr lang="es-ES_tradnl" sz="2000" noProof="0" dirty="0" err="1"/>
              <a:t>respect</a:t>
            </a:r>
            <a:r>
              <a:rPr lang="es-ES_tradnl" sz="2000" noProof="0" dirty="0"/>
              <a:t> a la tropicalización por lo que no Cuadra con el 70% que ya ha visto Ian antes</a:t>
            </a:r>
          </a:p>
          <a:p>
            <a:pPr algn="ctr"/>
            <a:endParaRPr lang="es-ES_tradnl" sz="2000" noProof="0" dirty="0"/>
          </a:p>
          <a:p>
            <a:pPr algn="ctr"/>
            <a:r>
              <a:rPr lang="es-ES_tradnl" sz="2000" noProof="0" dirty="0"/>
              <a:t>Modelos (</a:t>
            </a:r>
            <a:r>
              <a:rPr lang="es-ES_tradnl" sz="2000" noProof="0" dirty="0" err="1"/>
              <a:t>codigos</a:t>
            </a:r>
            <a:r>
              <a:rPr lang="es-ES_tradnl" sz="2000" noProof="0" dirty="0"/>
              <a:t>)</a:t>
            </a:r>
          </a:p>
          <a:p>
            <a:pPr algn="ctr"/>
            <a:r>
              <a:rPr lang="es-ES_tradnl" sz="2000" noProof="0" dirty="0"/>
              <a:t>Manual </a:t>
            </a:r>
            <a:r>
              <a:rPr lang="es-ES_tradnl" sz="2000" noProof="0" dirty="0" err="1"/>
              <a:t>metodologico</a:t>
            </a:r>
            <a:r>
              <a:rPr lang="es-ES_tradnl" sz="2000" noProof="0" dirty="0"/>
              <a:t> </a:t>
            </a:r>
          </a:p>
          <a:p>
            <a:pPr algn="ctr"/>
            <a:r>
              <a:rPr lang="es-ES_tradnl" sz="2000" noProof="0" dirty="0"/>
              <a:t>Manual de </a:t>
            </a:r>
            <a:r>
              <a:rPr lang="es-ES_tradnl" sz="2000" noProof="0" dirty="0" err="1"/>
              <a:t>implementacion</a:t>
            </a:r>
            <a:r>
              <a:rPr lang="es-ES_tradnl" sz="2000" noProof="0" dirty="0"/>
              <a:t> </a:t>
            </a:r>
          </a:p>
          <a:p>
            <a:pPr algn="ctr"/>
            <a:r>
              <a:rPr lang="es-ES_tradnl" sz="2000" noProof="0" dirty="0"/>
              <a:t>Capacitaciones </a:t>
            </a:r>
            <a:r>
              <a:rPr lang="es-ES_tradnl" sz="2000" noProof="0" dirty="0" err="1"/>
              <a:t>Checkpoint</a:t>
            </a:r>
            <a:r>
              <a:rPr lang="es-ES_tradnl" sz="2000" noProof="0" dirty="0"/>
              <a:t> de modelos. </a:t>
            </a:r>
          </a:p>
        </p:txBody>
      </p:sp>
      <p:sp>
        <p:nvSpPr>
          <p:cNvPr id="8" name="Rectangle 7">
            <a:extLst>
              <a:ext uri="{FF2B5EF4-FFF2-40B4-BE49-F238E27FC236}">
                <a16:creationId xmlns:a16="http://schemas.microsoft.com/office/drawing/2014/main" id="{9C23DCC9-071E-1A1A-282C-9CD12044B43B}"/>
              </a:ext>
            </a:extLst>
          </p:cNvPr>
          <p:cNvSpPr/>
          <p:nvPr/>
        </p:nvSpPr>
        <p:spPr>
          <a:xfrm>
            <a:off x="0" y="1241823"/>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600" noProof="0" dirty="0">
              <a:latin typeface="Calibri" panose="020F0502020204030204" pitchFamily="34" charset="0"/>
              <a:cs typeface="Calibri" panose="020F0502020204030204" pitchFamily="34" charset="0"/>
            </a:endParaRPr>
          </a:p>
        </p:txBody>
      </p:sp>
      <p:cxnSp>
        <p:nvCxnSpPr>
          <p:cNvPr id="10" name="Connector 3">
            <a:extLst>
              <a:ext uri="{FF2B5EF4-FFF2-40B4-BE49-F238E27FC236}">
                <a16:creationId xmlns:a16="http://schemas.microsoft.com/office/drawing/2014/main" id="{1932D302-9A87-3DAB-4980-022AC1C76B98}"/>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C43453B-4D62-1DFB-CEE5-5621354AC28E}"/>
              </a:ext>
            </a:extLst>
          </p:cNvPr>
          <p:cNvSpPr txBox="1"/>
          <p:nvPr/>
        </p:nvSpPr>
        <p:spPr>
          <a:xfrm>
            <a:off x="14683252" y="8686800"/>
            <a:ext cx="914400" cy="184666"/>
          </a:xfrm>
          <a:prstGeom prst="rect">
            <a:avLst/>
          </a:prstGeom>
          <a:noFill/>
        </p:spPr>
        <p:txBody>
          <a:bodyPr wrap="square" lIns="0" tIns="0" rIns="0" bIns="0" anchor="t">
            <a:spAutoFit/>
          </a:bodyPr>
          <a:lstStyle/>
          <a:p>
            <a:pPr algn="r">
              <a:lnSpc>
                <a:spcPct val="100000"/>
              </a:lnSpc>
            </a:pPr>
            <a:r>
              <a:rPr sz="1200" b="0" i="0">
                <a:solidFill>
                  <a:srgbClr val="9AA8A7"/>
                </a:solidFill>
                <a:latin typeface="Arial"/>
              </a:rPr>
              <a:t>1</a:t>
            </a:r>
          </a:p>
        </p:txBody>
      </p:sp>
      <p:sp>
        <p:nvSpPr>
          <p:cNvPr id="107" name="TextBox 106">
            <a:extLst>
              <a:ext uri="{FF2B5EF4-FFF2-40B4-BE49-F238E27FC236}">
                <a16:creationId xmlns:a16="http://schemas.microsoft.com/office/drawing/2014/main" id="{9B450668-5CEC-CA00-5FB6-52C5B5FADC9A}"/>
              </a:ext>
            </a:extLst>
          </p:cNvPr>
          <p:cNvSpPr txBox="1"/>
          <p:nvPr/>
        </p:nvSpPr>
        <p:spPr>
          <a:xfrm>
            <a:off x="658368" y="1572768"/>
            <a:ext cx="2377440" cy="169277"/>
          </a:xfrm>
          <a:prstGeom prst="rect">
            <a:avLst/>
          </a:prstGeom>
          <a:noFill/>
        </p:spPr>
        <p:txBody>
          <a:bodyPr wrap="square" lIns="0" tIns="0" rIns="0" bIns="0" anchor="t">
            <a:spAutoFit/>
          </a:bodyPr>
          <a:lstStyle/>
          <a:p>
            <a:pPr algn="l">
              <a:lnSpc>
                <a:spcPct val="100000"/>
              </a:lnSpc>
            </a:pPr>
            <a:r>
              <a:rPr sz="1100" b="1" i="0">
                <a:solidFill>
                  <a:srgbClr val="6E7E7D"/>
                </a:solidFill>
                <a:latin typeface="Arial"/>
              </a:rPr>
              <a:t>MODELO</a:t>
            </a:r>
          </a:p>
        </p:txBody>
      </p:sp>
      <p:sp>
        <p:nvSpPr>
          <p:cNvPr id="108" name="TextBox 107">
            <a:extLst>
              <a:ext uri="{FF2B5EF4-FFF2-40B4-BE49-F238E27FC236}">
                <a16:creationId xmlns:a16="http://schemas.microsoft.com/office/drawing/2014/main" id="{FBA28BEE-E6A3-1D76-5544-8C786C0C2EF1}"/>
              </a:ext>
            </a:extLst>
          </p:cNvPr>
          <p:cNvSpPr txBox="1"/>
          <p:nvPr/>
        </p:nvSpPr>
        <p:spPr>
          <a:xfrm>
            <a:off x="3145536" y="1572768"/>
            <a:ext cx="4069080" cy="169277"/>
          </a:xfrm>
          <a:prstGeom prst="rect">
            <a:avLst/>
          </a:prstGeom>
          <a:noFill/>
        </p:spPr>
        <p:txBody>
          <a:bodyPr wrap="square" lIns="0" tIns="0" rIns="0" bIns="0" anchor="t">
            <a:spAutoFit/>
          </a:bodyPr>
          <a:lstStyle/>
          <a:p>
            <a:pPr algn="l">
              <a:lnSpc>
                <a:spcPct val="100000"/>
              </a:lnSpc>
            </a:pPr>
            <a:r>
              <a:rPr sz="1100" b="1" i="0">
                <a:solidFill>
                  <a:srgbClr val="6E7E7D"/>
                </a:solidFill>
                <a:latin typeface="Arial"/>
              </a:rPr>
              <a:t>AVANCE</a:t>
            </a:r>
          </a:p>
        </p:txBody>
      </p:sp>
      <p:sp>
        <p:nvSpPr>
          <p:cNvPr id="117" name="TextBox 116">
            <a:extLst>
              <a:ext uri="{FF2B5EF4-FFF2-40B4-BE49-F238E27FC236}">
                <a16:creationId xmlns:a16="http://schemas.microsoft.com/office/drawing/2014/main" id="{E2F9FD07-E905-8C1E-6490-741BF8BF48F9}"/>
              </a:ext>
            </a:extLst>
          </p:cNvPr>
          <p:cNvSpPr txBox="1"/>
          <p:nvPr/>
        </p:nvSpPr>
        <p:spPr>
          <a:xfrm>
            <a:off x="7205472" y="1572768"/>
            <a:ext cx="3566160" cy="169277"/>
          </a:xfrm>
          <a:prstGeom prst="rect">
            <a:avLst/>
          </a:prstGeom>
          <a:noFill/>
        </p:spPr>
        <p:txBody>
          <a:bodyPr wrap="square" lIns="0" tIns="0" rIns="0" bIns="0" anchor="t">
            <a:spAutoFit/>
          </a:bodyPr>
          <a:lstStyle/>
          <a:p>
            <a:pPr algn="l">
              <a:lnSpc>
                <a:spcPct val="100000"/>
              </a:lnSpc>
            </a:pPr>
            <a:r>
              <a:rPr sz="1100" b="1" i="0">
                <a:solidFill>
                  <a:srgbClr val="6E7E7D"/>
                </a:solidFill>
                <a:latin typeface="Arial"/>
              </a:rPr>
              <a:t>¿EN QUÉ ESTAMOS?</a:t>
            </a:r>
          </a:p>
        </p:txBody>
      </p:sp>
      <p:sp>
        <p:nvSpPr>
          <p:cNvPr id="121" name="TextBox 120">
            <a:extLst>
              <a:ext uri="{FF2B5EF4-FFF2-40B4-BE49-F238E27FC236}">
                <a16:creationId xmlns:a16="http://schemas.microsoft.com/office/drawing/2014/main" id="{5AE2A473-F8CC-4029-148E-1B3B155CC110}"/>
              </a:ext>
            </a:extLst>
          </p:cNvPr>
          <p:cNvSpPr txBox="1"/>
          <p:nvPr/>
        </p:nvSpPr>
        <p:spPr>
          <a:xfrm>
            <a:off x="10954512" y="1572768"/>
            <a:ext cx="3063240" cy="169277"/>
          </a:xfrm>
          <a:prstGeom prst="rect">
            <a:avLst/>
          </a:prstGeom>
          <a:noFill/>
        </p:spPr>
        <p:txBody>
          <a:bodyPr wrap="square" lIns="0" tIns="0" rIns="0" bIns="0" anchor="t">
            <a:spAutoFit/>
          </a:bodyPr>
          <a:lstStyle/>
          <a:p>
            <a:pPr algn="l">
              <a:lnSpc>
                <a:spcPct val="100000"/>
              </a:lnSpc>
            </a:pPr>
            <a:r>
              <a:rPr sz="1100" b="1" i="0">
                <a:solidFill>
                  <a:srgbClr val="6E7E7D"/>
                </a:solidFill>
                <a:latin typeface="Arial"/>
              </a:rPr>
              <a:t>SIGUIENTE HITO</a:t>
            </a:r>
          </a:p>
        </p:txBody>
      </p:sp>
      <p:sp>
        <p:nvSpPr>
          <p:cNvPr id="135" name="TextBox 134">
            <a:extLst>
              <a:ext uri="{FF2B5EF4-FFF2-40B4-BE49-F238E27FC236}">
                <a16:creationId xmlns:a16="http://schemas.microsoft.com/office/drawing/2014/main" id="{C6280D39-C271-044E-23EA-E1CF4C01BBF7}"/>
              </a:ext>
            </a:extLst>
          </p:cNvPr>
          <p:cNvSpPr txBox="1"/>
          <p:nvPr/>
        </p:nvSpPr>
        <p:spPr>
          <a:xfrm>
            <a:off x="14200632" y="1572768"/>
            <a:ext cx="1397020" cy="169277"/>
          </a:xfrm>
          <a:prstGeom prst="rect">
            <a:avLst/>
          </a:prstGeom>
          <a:noFill/>
        </p:spPr>
        <p:txBody>
          <a:bodyPr wrap="square" lIns="0" tIns="0" rIns="0" bIns="0" anchor="t">
            <a:spAutoFit/>
          </a:bodyPr>
          <a:lstStyle/>
          <a:p>
            <a:pPr algn="ctr">
              <a:lnSpc>
                <a:spcPct val="100000"/>
              </a:lnSpc>
            </a:pPr>
            <a:r>
              <a:rPr sz="1100" b="1" i="0">
                <a:solidFill>
                  <a:srgbClr val="6E7E7D"/>
                </a:solidFill>
                <a:latin typeface="Arial"/>
              </a:rPr>
              <a:t>MONITOREO</a:t>
            </a:r>
          </a:p>
        </p:txBody>
      </p:sp>
      <p:sp>
        <p:nvSpPr>
          <p:cNvPr id="136" name="Rectangle 135">
            <a:extLst>
              <a:ext uri="{FF2B5EF4-FFF2-40B4-BE49-F238E27FC236}">
                <a16:creationId xmlns:a16="http://schemas.microsoft.com/office/drawing/2014/main" id="{520197F2-B85C-234D-A56D-2F8927323C71}"/>
              </a:ext>
            </a:extLst>
          </p:cNvPr>
          <p:cNvSpPr/>
          <p:nvPr/>
        </p:nvSpPr>
        <p:spPr>
          <a:xfrm>
            <a:off x="11556004" y="1188478"/>
            <a:ext cx="128016" cy="12801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37" name="TextBox 136">
            <a:extLst>
              <a:ext uri="{FF2B5EF4-FFF2-40B4-BE49-F238E27FC236}">
                <a16:creationId xmlns:a16="http://schemas.microsoft.com/office/drawing/2014/main" id="{93898C60-F2C1-5127-B744-B8CCFD838A0A}"/>
              </a:ext>
            </a:extLst>
          </p:cNvPr>
          <p:cNvSpPr txBox="1"/>
          <p:nvPr/>
        </p:nvSpPr>
        <p:spPr>
          <a:xfrm>
            <a:off x="11738884" y="1144764"/>
            <a:ext cx="1325880" cy="215444"/>
          </a:xfrm>
          <a:prstGeom prst="rect">
            <a:avLst/>
          </a:prstGeom>
          <a:noFill/>
        </p:spPr>
        <p:txBody>
          <a:bodyPr wrap="square" lIns="0" tIns="0" rIns="0" bIns="0" anchor="t">
            <a:spAutoFit/>
          </a:bodyPr>
          <a:lstStyle/>
          <a:p>
            <a:pPr algn="l">
              <a:lnSpc>
                <a:spcPct val="100000"/>
              </a:lnSpc>
            </a:pPr>
            <a:r>
              <a:rPr b="0" i="0">
                <a:solidFill>
                  <a:srgbClr val="6E7E7D"/>
                </a:solidFill>
                <a:latin typeface="Arial"/>
              </a:rPr>
              <a:t>Riesgos</a:t>
            </a:r>
          </a:p>
        </p:txBody>
      </p:sp>
      <p:sp>
        <p:nvSpPr>
          <p:cNvPr id="138" name="Rectangle 137">
            <a:extLst>
              <a:ext uri="{FF2B5EF4-FFF2-40B4-BE49-F238E27FC236}">
                <a16:creationId xmlns:a16="http://schemas.microsoft.com/office/drawing/2014/main" id="{266B9424-39EB-5A6A-9DA8-39DA02CAF2C7}"/>
              </a:ext>
            </a:extLst>
          </p:cNvPr>
          <p:cNvSpPr/>
          <p:nvPr/>
        </p:nvSpPr>
        <p:spPr>
          <a:xfrm>
            <a:off x="12580132" y="1188478"/>
            <a:ext cx="128016" cy="12801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39" name="TextBox 138">
            <a:extLst>
              <a:ext uri="{FF2B5EF4-FFF2-40B4-BE49-F238E27FC236}">
                <a16:creationId xmlns:a16="http://schemas.microsoft.com/office/drawing/2014/main" id="{8663BE1E-CC3E-D1F6-53C4-65283B2BCB79}"/>
              </a:ext>
            </a:extLst>
          </p:cNvPr>
          <p:cNvSpPr txBox="1"/>
          <p:nvPr/>
        </p:nvSpPr>
        <p:spPr>
          <a:xfrm>
            <a:off x="12763012" y="1144764"/>
            <a:ext cx="1325880" cy="215444"/>
          </a:xfrm>
          <a:prstGeom prst="rect">
            <a:avLst/>
          </a:prstGeom>
          <a:noFill/>
        </p:spPr>
        <p:txBody>
          <a:bodyPr wrap="square" lIns="0" tIns="0" rIns="0" bIns="0" anchor="t">
            <a:spAutoFit/>
          </a:bodyPr>
          <a:lstStyle/>
          <a:p>
            <a:pPr algn="l">
              <a:lnSpc>
                <a:spcPct val="100000"/>
              </a:lnSpc>
            </a:pPr>
            <a:r>
              <a:rPr b="0" i="0">
                <a:solidFill>
                  <a:srgbClr val="6E7E7D"/>
                </a:solidFill>
                <a:latin typeface="Arial"/>
              </a:rPr>
              <a:t>Data Science</a:t>
            </a:r>
          </a:p>
        </p:txBody>
      </p:sp>
      <p:sp>
        <p:nvSpPr>
          <p:cNvPr id="140" name="Rectangle 139">
            <a:extLst>
              <a:ext uri="{FF2B5EF4-FFF2-40B4-BE49-F238E27FC236}">
                <a16:creationId xmlns:a16="http://schemas.microsoft.com/office/drawing/2014/main" id="{89A91104-0424-A0B4-A91A-98463223F399}"/>
              </a:ext>
            </a:extLst>
          </p:cNvPr>
          <p:cNvSpPr/>
          <p:nvPr/>
        </p:nvSpPr>
        <p:spPr>
          <a:xfrm>
            <a:off x="14043172" y="1188478"/>
            <a:ext cx="128016" cy="128016"/>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41" name="TextBox 140">
            <a:extLst>
              <a:ext uri="{FF2B5EF4-FFF2-40B4-BE49-F238E27FC236}">
                <a16:creationId xmlns:a16="http://schemas.microsoft.com/office/drawing/2014/main" id="{D81E137D-C2D3-B814-BB21-70D127829C49}"/>
              </a:ext>
            </a:extLst>
          </p:cNvPr>
          <p:cNvSpPr txBox="1"/>
          <p:nvPr/>
        </p:nvSpPr>
        <p:spPr>
          <a:xfrm>
            <a:off x="14226052" y="1144764"/>
            <a:ext cx="1325880" cy="215444"/>
          </a:xfrm>
          <a:prstGeom prst="rect">
            <a:avLst/>
          </a:prstGeom>
          <a:noFill/>
        </p:spPr>
        <p:txBody>
          <a:bodyPr wrap="square" lIns="0" tIns="0" rIns="0" bIns="0" anchor="t">
            <a:spAutoFit/>
          </a:bodyPr>
          <a:lstStyle/>
          <a:p>
            <a:pPr algn="l">
              <a:lnSpc>
                <a:spcPct val="100000"/>
              </a:lnSpc>
            </a:pPr>
            <a:r>
              <a:rPr b="0" i="0" dirty="0">
                <a:solidFill>
                  <a:srgbClr val="6E7E7D"/>
                </a:solidFill>
                <a:latin typeface="Arial"/>
              </a:rPr>
              <a:t>BN · Pricing</a:t>
            </a:r>
          </a:p>
        </p:txBody>
      </p:sp>
      <p:cxnSp>
        <p:nvCxnSpPr>
          <p:cNvPr id="142" name="Connector 17">
            <a:extLst>
              <a:ext uri="{FF2B5EF4-FFF2-40B4-BE49-F238E27FC236}">
                <a16:creationId xmlns:a16="http://schemas.microsoft.com/office/drawing/2014/main" id="{A89FC490-9A89-7BE2-BBA6-DC43CE0439D7}"/>
              </a:ext>
            </a:extLst>
          </p:cNvPr>
          <p:cNvCxnSpPr/>
          <p:nvPr/>
        </p:nvCxnSpPr>
        <p:spPr>
          <a:xfrm>
            <a:off x="658368" y="181051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43" name="Rectangle 142">
            <a:extLst>
              <a:ext uri="{FF2B5EF4-FFF2-40B4-BE49-F238E27FC236}">
                <a16:creationId xmlns:a16="http://schemas.microsoft.com/office/drawing/2014/main" id="{92EA4736-5AE6-0493-C86C-09E9EE24EA0B}"/>
              </a:ext>
            </a:extLst>
          </p:cNvPr>
          <p:cNvSpPr/>
          <p:nvPr/>
        </p:nvSpPr>
        <p:spPr>
          <a:xfrm>
            <a:off x="658368" y="1947672"/>
            <a:ext cx="109728" cy="274320"/>
          </a:xfrm>
          <a:prstGeom prst="rect">
            <a:avLst/>
          </a:prstGeom>
          <a:solidFill>
            <a:srgbClr val="26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4" name="TextBox 143">
            <a:extLst>
              <a:ext uri="{FF2B5EF4-FFF2-40B4-BE49-F238E27FC236}">
                <a16:creationId xmlns:a16="http://schemas.microsoft.com/office/drawing/2014/main" id="{5E76DE6E-243C-62FE-5D44-F529F8B0546F}"/>
              </a:ext>
            </a:extLst>
          </p:cNvPr>
          <p:cNvSpPr txBox="1"/>
          <p:nvPr/>
        </p:nvSpPr>
        <p:spPr>
          <a:xfrm>
            <a:off x="877824" y="1906524"/>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PD Lifetime</a:t>
            </a:r>
          </a:p>
        </p:txBody>
      </p:sp>
      <p:sp>
        <p:nvSpPr>
          <p:cNvPr id="145" name="TextBox 144">
            <a:extLst>
              <a:ext uri="{FF2B5EF4-FFF2-40B4-BE49-F238E27FC236}">
                <a16:creationId xmlns:a16="http://schemas.microsoft.com/office/drawing/2014/main" id="{7FE51DC8-049E-EA43-9B26-DB91633D94A6}"/>
              </a:ext>
            </a:extLst>
          </p:cNvPr>
          <p:cNvSpPr txBox="1"/>
          <p:nvPr/>
        </p:nvSpPr>
        <p:spPr>
          <a:xfrm>
            <a:off x="877824" y="2130552"/>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Riesgos</a:t>
            </a:r>
          </a:p>
        </p:txBody>
      </p:sp>
      <p:sp>
        <p:nvSpPr>
          <p:cNvPr id="146" name="Rectangle 145">
            <a:extLst>
              <a:ext uri="{FF2B5EF4-FFF2-40B4-BE49-F238E27FC236}">
                <a16:creationId xmlns:a16="http://schemas.microsoft.com/office/drawing/2014/main" id="{7DCBEA9C-8D39-FE19-6E7D-AA1095C321D2}"/>
              </a:ext>
            </a:extLst>
          </p:cNvPr>
          <p:cNvSpPr/>
          <p:nvPr/>
        </p:nvSpPr>
        <p:spPr>
          <a:xfrm>
            <a:off x="3145536" y="1984248"/>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7" name="Rectangle 146">
            <a:extLst>
              <a:ext uri="{FF2B5EF4-FFF2-40B4-BE49-F238E27FC236}">
                <a16:creationId xmlns:a16="http://schemas.microsoft.com/office/drawing/2014/main" id="{EE827980-7FE1-28FA-B8C0-5CAE4F4E3D61}"/>
              </a:ext>
            </a:extLst>
          </p:cNvPr>
          <p:cNvSpPr/>
          <p:nvPr/>
        </p:nvSpPr>
        <p:spPr>
          <a:xfrm>
            <a:off x="3145536" y="1984248"/>
            <a:ext cx="2962656"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8" name="TextBox 147">
            <a:extLst>
              <a:ext uri="{FF2B5EF4-FFF2-40B4-BE49-F238E27FC236}">
                <a16:creationId xmlns:a16="http://schemas.microsoft.com/office/drawing/2014/main" id="{8197B0F7-2386-A83B-3766-DA5B03A212AF}"/>
              </a:ext>
            </a:extLst>
          </p:cNvPr>
          <p:cNvSpPr txBox="1"/>
          <p:nvPr/>
        </p:nvSpPr>
        <p:spPr>
          <a:xfrm>
            <a:off x="6547104" y="1961388"/>
            <a:ext cx="640080" cy="246221"/>
          </a:xfrm>
          <a:prstGeom prst="rect">
            <a:avLst/>
          </a:prstGeom>
          <a:noFill/>
        </p:spPr>
        <p:txBody>
          <a:bodyPr wrap="square" lIns="0" tIns="0" rIns="0" bIns="0" anchor="t">
            <a:spAutoFit/>
          </a:bodyPr>
          <a:lstStyle/>
          <a:p>
            <a:pPr algn="l">
              <a:lnSpc>
                <a:spcPct val="100000"/>
              </a:lnSpc>
            </a:pPr>
            <a:r>
              <a:rPr sz="1600" b="1" i="0" dirty="0">
                <a:solidFill>
                  <a:srgbClr val="435A6E"/>
                </a:solidFill>
                <a:latin typeface="Arial"/>
              </a:rPr>
              <a:t>90%</a:t>
            </a:r>
          </a:p>
        </p:txBody>
      </p:sp>
      <p:sp>
        <p:nvSpPr>
          <p:cNvPr id="149" name="TextBox 148">
            <a:extLst>
              <a:ext uri="{FF2B5EF4-FFF2-40B4-BE49-F238E27FC236}">
                <a16:creationId xmlns:a16="http://schemas.microsoft.com/office/drawing/2014/main" id="{4E42CA32-2FAD-6B42-AB20-4891EF729F9A}"/>
              </a:ext>
            </a:extLst>
          </p:cNvPr>
          <p:cNvSpPr txBox="1"/>
          <p:nvPr/>
        </p:nvSpPr>
        <p:spPr>
          <a:xfrm>
            <a:off x="7205472" y="1937592"/>
            <a:ext cx="3566160" cy="390492"/>
          </a:xfrm>
          <a:prstGeom prst="rect">
            <a:avLst/>
          </a:prstGeom>
          <a:noFill/>
        </p:spPr>
        <p:txBody>
          <a:bodyPr wrap="square" lIns="0" tIns="0" rIns="0" bIns="0" anchor="ctr">
            <a:spAutoFit/>
          </a:bodyPr>
          <a:lstStyle/>
          <a:p>
            <a:pPr algn="l">
              <a:lnSpc>
                <a:spcPct val="110000"/>
              </a:lnSpc>
              <a:spcAft>
                <a:spcPts val="400"/>
              </a:spcAft>
            </a:pPr>
            <a:r>
              <a:rPr lang="en-US" sz="1200" b="0" i="0" dirty="0" err="1">
                <a:solidFill>
                  <a:srgbClr val="3E5553"/>
                </a:solidFill>
                <a:latin typeface="Arial"/>
              </a:rPr>
              <a:t>Ajuste</a:t>
            </a:r>
            <a:r>
              <a:rPr lang="en-US" sz="1200" b="0" i="0" dirty="0">
                <a:solidFill>
                  <a:srgbClr val="3E5553"/>
                </a:solidFill>
                <a:latin typeface="Arial"/>
              </a:rPr>
              <a:t> de la curva con la PD </a:t>
            </a:r>
            <a:r>
              <a:rPr lang="en-US" sz="1200" b="0" i="0" dirty="0" err="1">
                <a:solidFill>
                  <a:srgbClr val="3E5553"/>
                </a:solidFill>
                <a:latin typeface="Arial"/>
              </a:rPr>
              <a:t>Calibrada</a:t>
            </a:r>
            <a:r>
              <a:rPr lang="en-US" sz="1200" b="0" i="0" dirty="0">
                <a:solidFill>
                  <a:srgbClr val="3E5553"/>
                </a:solidFill>
                <a:latin typeface="Arial"/>
              </a:rPr>
              <a:t> y </a:t>
            </a:r>
            <a:r>
              <a:rPr lang="en-US" sz="1200" b="0" i="0" dirty="0" err="1">
                <a:solidFill>
                  <a:srgbClr val="3E5553"/>
                </a:solidFill>
                <a:latin typeface="Arial"/>
              </a:rPr>
              <a:t>marca</a:t>
            </a:r>
            <a:r>
              <a:rPr lang="en-US" sz="1200" b="0" i="0" dirty="0">
                <a:solidFill>
                  <a:srgbClr val="3E5553"/>
                </a:solidFill>
                <a:latin typeface="Arial"/>
              </a:rPr>
              <a:t> de default </a:t>
            </a:r>
            <a:r>
              <a:rPr lang="en-US" sz="1200" b="0" i="0" dirty="0" err="1">
                <a:solidFill>
                  <a:srgbClr val="3E5553"/>
                </a:solidFill>
                <a:latin typeface="Arial"/>
              </a:rPr>
              <a:t>actualizada</a:t>
            </a:r>
            <a:endParaRPr sz="1200" b="0" i="0" dirty="0">
              <a:solidFill>
                <a:srgbClr val="3E5553"/>
              </a:solidFill>
              <a:latin typeface="Arial"/>
            </a:endParaRPr>
          </a:p>
        </p:txBody>
      </p:sp>
      <p:sp>
        <p:nvSpPr>
          <p:cNvPr id="150" name="TextBox 149">
            <a:extLst>
              <a:ext uri="{FF2B5EF4-FFF2-40B4-BE49-F238E27FC236}">
                <a16:creationId xmlns:a16="http://schemas.microsoft.com/office/drawing/2014/main" id="{1F583294-79AF-E9C8-6EE0-46237EBA1E2A}"/>
              </a:ext>
            </a:extLst>
          </p:cNvPr>
          <p:cNvSpPr txBox="1"/>
          <p:nvPr/>
        </p:nvSpPr>
        <p:spPr>
          <a:xfrm>
            <a:off x="10954512" y="2039158"/>
            <a:ext cx="3063240" cy="187359"/>
          </a:xfrm>
          <a:prstGeom prst="rect">
            <a:avLst/>
          </a:prstGeom>
          <a:noFill/>
        </p:spPr>
        <p:txBody>
          <a:bodyPr wrap="square" lIns="0" tIns="0" rIns="0" bIns="0" anchor="ctr">
            <a:spAutoFit/>
          </a:bodyPr>
          <a:lstStyle/>
          <a:p>
            <a:pPr algn="l">
              <a:lnSpc>
                <a:spcPct val="110000"/>
              </a:lnSpc>
              <a:spcAft>
                <a:spcPts val="400"/>
              </a:spcAft>
            </a:pPr>
            <a:r>
              <a:rPr lang="en-US" sz="1200" b="0" i="0" dirty="0" err="1">
                <a:solidFill>
                  <a:srgbClr val="6E7E7D"/>
                </a:solidFill>
                <a:latin typeface="Arial"/>
              </a:rPr>
              <a:t>Preparación</a:t>
            </a:r>
            <a:r>
              <a:rPr lang="en-US" sz="1200" b="0" i="0" dirty="0">
                <a:solidFill>
                  <a:srgbClr val="6E7E7D"/>
                </a:solidFill>
                <a:latin typeface="Arial"/>
              </a:rPr>
              <a:t> de scripts y </a:t>
            </a:r>
            <a:r>
              <a:rPr lang="en-US" sz="1200" b="0" i="0" dirty="0" err="1">
                <a:solidFill>
                  <a:srgbClr val="6E7E7D"/>
                </a:solidFill>
                <a:latin typeface="Arial"/>
              </a:rPr>
              <a:t>metodologias</a:t>
            </a:r>
            <a:r>
              <a:rPr lang="en-US" sz="1200" b="0" i="0" dirty="0">
                <a:solidFill>
                  <a:srgbClr val="6E7E7D"/>
                </a:solidFill>
                <a:latin typeface="Arial"/>
              </a:rPr>
              <a:t>.</a:t>
            </a:r>
            <a:endParaRPr sz="1200" b="0" i="0" dirty="0">
              <a:solidFill>
                <a:srgbClr val="6E7E7D"/>
              </a:solidFill>
              <a:latin typeface="Arial"/>
            </a:endParaRPr>
          </a:p>
        </p:txBody>
      </p:sp>
      <p:sp>
        <p:nvSpPr>
          <p:cNvPr id="151" name="Rectangle 150">
            <a:extLst>
              <a:ext uri="{FF2B5EF4-FFF2-40B4-BE49-F238E27FC236}">
                <a16:creationId xmlns:a16="http://schemas.microsoft.com/office/drawing/2014/main" id="{E04A5AE9-3B2F-5664-002F-670B889F9DEC}"/>
              </a:ext>
            </a:extLst>
          </p:cNvPr>
          <p:cNvSpPr/>
          <p:nvPr/>
        </p:nvSpPr>
        <p:spPr>
          <a:xfrm>
            <a:off x="14255496" y="1961388"/>
            <a:ext cx="1287292" cy="2651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dirty="0">
                <a:solidFill>
                  <a:srgbClr val="0C514E"/>
                </a:solidFill>
                <a:latin typeface="Arial"/>
              </a:rPr>
              <a:t>Trimestral</a:t>
            </a:r>
          </a:p>
        </p:txBody>
      </p:sp>
      <p:sp>
        <p:nvSpPr>
          <p:cNvPr id="152" name="Rectangle 151">
            <a:extLst>
              <a:ext uri="{FF2B5EF4-FFF2-40B4-BE49-F238E27FC236}">
                <a16:creationId xmlns:a16="http://schemas.microsoft.com/office/drawing/2014/main" id="{67AEC185-3655-0142-5BBA-9E465F0F6A97}"/>
              </a:ext>
            </a:extLst>
          </p:cNvPr>
          <p:cNvSpPr/>
          <p:nvPr/>
        </p:nvSpPr>
        <p:spPr>
          <a:xfrm>
            <a:off x="658368" y="2510028"/>
            <a:ext cx="109728" cy="274320"/>
          </a:xfrm>
          <a:prstGeom prst="rect">
            <a:avLst/>
          </a:prstGeom>
          <a:solidFill>
            <a:srgbClr val="26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3" name="TextBox 152">
            <a:extLst>
              <a:ext uri="{FF2B5EF4-FFF2-40B4-BE49-F238E27FC236}">
                <a16:creationId xmlns:a16="http://schemas.microsoft.com/office/drawing/2014/main" id="{28FD26C4-DCEF-B8A0-28C2-FBD8F494CE90}"/>
              </a:ext>
            </a:extLst>
          </p:cNvPr>
          <p:cNvSpPr txBox="1"/>
          <p:nvPr/>
        </p:nvSpPr>
        <p:spPr>
          <a:xfrm>
            <a:off x="877824" y="2468880"/>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LGD Lifetime</a:t>
            </a:r>
          </a:p>
        </p:txBody>
      </p:sp>
      <p:sp>
        <p:nvSpPr>
          <p:cNvPr id="154" name="TextBox 153">
            <a:extLst>
              <a:ext uri="{FF2B5EF4-FFF2-40B4-BE49-F238E27FC236}">
                <a16:creationId xmlns:a16="http://schemas.microsoft.com/office/drawing/2014/main" id="{F02A1DB1-DFDE-BE51-CEAF-75EB78530502}"/>
              </a:ext>
            </a:extLst>
          </p:cNvPr>
          <p:cNvSpPr txBox="1"/>
          <p:nvPr/>
        </p:nvSpPr>
        <p:spPr>
          <a:xfrm>
            <a:off x="877824" y="2692908"/>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Riesgos</a:t>
            </a:r>
          </a:p>
        </p:txBody>
      </p:sp>
      <p:sp>
        <p:nvSpPr>
          <p:cNvPr id="155" name="Rectangle 154">
            <a:extLst>
              <a:ext uri="{FF2B5EF4-FFF2-40B4-BE49-F238E27FC236}">
                <a16:creationId xmlns:a16="http://schemas.microsoft.com/office/drawing/2014/main" id="{992F8AF7-F6BB-D65E-D292-FC91F33353E6}"/>
              </a:ext>
            </a:extLst>
          </p:cNvPr>
          <p:cNvSpPr/>
          <p:nvPr/>
        </p:nvSpPr>
        <p:spPr>
          <a:xfrm>
            <a:off x="3145536" y="2546604"/>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6" name="Rectangle 155">
            <a:extLst>
              <a:ext uri="{FF2B5EF4-FFF2-40B4-BE49-F238E27FC236}">
                <a16:creationId xmlns:a16="http://schemas.microsoft.com/office/drawing/2014/main" id="{1F99A70D-DD6F-F2EF-EFD6-89183D1B5FB8}"/>
              </a:ext>
            </a:extLst>
          </p:cNvPr>
          <p:cNvSpPr/>
          <p:nvPr/>
        </p:nvSpPr>
        <p:spPr>
          <a:xfrm>
            <a:off x="3145536" y="2546604"/>
            <a:ext cx="1133856"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7" name="TextBox 156">
            <a:extLst>
              <a:ext uri="{FF2B5EF4-FFF2-40B4-BE49-F238E27FC236}">
                <a16:creationId xmlns:a16="http://schemas.microsoft.com/office/drawing/2014/main" id="{34562DC0-EF58-1763-E9DB-A88836D6C0AD}"/>
              </a:ext>
            </a:extLst>
          </p:cNvPr>
          <p:cNvSpPr txBox="1"/>
          <p:nvPr/>
        </p:nvSpPr>
        <p:spPr>
          <a:xfrm>
            <a:off x="6547104" y="2523744"/>
            <a:ext cx="640080" cy="246221"/>
          </a:xfrm>
          <a:prstGeom prst="rect">
            <a:avLst/>
          </a:prstGeom>
          <a:noFill/>
        </p:spPr>
        <p:txBody>
          <a:bodyPr wrap="square" lIns="0" tIns="0" rIns="0" bIns="0" anchor="t">
            <a:spAutoFit/>
          </a:bodyPr>
          <a:lstStyle/>
          <a:p>
            <a:pPr algn="l">
              <a:lnSpc>
                <a:spcPct val="100000"/>
              </a:lnSpc>
            </a:pPr>
            <a:r>
              <a:rPr lang="en-US" sz="1600" b="1" dirty="0">
                <a:solidFill>
                  <a:srgbClr val="435A6E"/>
                </a:solidFill>
              </a:rPr>
              <a:t>4</a:t>
            </a:r>
            <a:r>
              <a:rPr sz="1600" b="1" i="0" dirty="0">
                <a:solidFill>
                  <a:srgbClr val="435A6E"/>
                </a:solidFill>
                <a:latin typeface="Arial"/>
              </a:rPr>
              <a:t>0%</a:t>
            </a:r>
          </a:p>
        </p:txBody>
      </p:sp>
      <p:sp>
        <p:nvSpPr>
          <p:cNvPr id="158" name="TextBox 157">
            <a:extLst>
              <a:ext uri="{FF2B5EF4-FFF2-40B4-BE49-F238E27FC236}">
                <a16:creationId xmlns:a16="http://schemas.microsoft.com/office/drawing/2014/main" id="{B1F85C0F-EA6D-1BF4-1C48-BA374585AA14}"/>
              </a:ext>
            </a:extLst>
          </p:cNvPr>
          <p:cNvSpPr txBox="1"/>
          <p:nvPr/>
        </p:nvSpPr>
        <p:spPr>
          <a:xfrm>
            <a:off x="7205472" y="2601515"/>
            <a:ext cx="3566160" cy="187359"/>
          </a:xfrm>
          <a:prstGeom prst="rect">
            <a:avLst/>
          </a:prstGeom>
          <a:noFill/>
        </p:spPr>
        <p:txBody>
          <a:bodyPr wrap="square" lIns="0" tIns="0" rIns="0" bIns="0" anchor="ctr">
            <a:spAutoFit/>
          </a:bodyPr>
          <a:lstStyle/>
          <a:p>
            <a:pPr algn="l">
              <a:lnSpc>
                <a:spcPct val="110000"/>
              </a:lnSpc>
              <a:spcAft>
                <a:spcPts val="400"/>
              </a:spcAft>
            </a:pPr>
            <a:r>
              <a:rPr lang="en-US" sz="1200" b="0" i="0" dirty="0" err="1">
                <a:solidFill>
                  <a:srgbClr val="3E5553"/>
                </a:solidFill>
                <a:latin typeface="Arial"/>
              </a:rPr>
              <a:t>Modelado</a:t>
            </a:r>
            <a:r>
              <a:rPr lang="en-US" sz="1200" b="0" i="0" dirty="0">
                <a:solidFill>
                  <a:srgbClr val="3E5553"/>
                </a:solidFill>
                <a:latin typeface="Arial"/>
              </a:rPr>
              <a:t> con data real</a:t>
            </a:r>
            <a:endParaRPr sz="1200" b="0" i="0" dirty="0">
              <a:solidFill>
                <a:srgbClr val="3E5553"/>
              </a:solidFill>
              <a:latin typeface="Arial"/>
            </a:endParaRPr>
          </a:p>
        </p:txBody>
      </p:sp>
      <p:sp>
        <p:nvSpPr>
          <p:cNvPr id="159" name="TextBox 158">
            <a:extLst>
              <a:ext uri="{FF2B5EF4-FFF2-40B4-BE49-F238E27FC236}">
                <a16:creationId xmlns:a16="http://schemas.microsoft.com/office/drawing/2014/main" id="{EB769EFD-8ABB-A855-F898-0700DDF24AB7}"/>
              </a:ext>
            </a:extLst>
          </p:cNvPr>
          <p:cNvSpPr txBox="1"/>
          <p:nvPr/>
        </p:nvSpPr>
        <p:spPr>
          <a:xfrm>
            <a:off x="10954512" y="2499948"/>
            <a:ext cx="3063240" cy="390492"/>
          </a:xfrm>
          <a:prstGeom prst="rect">
            <a:avLst/>
          </a:prstGeom>
          <a:noFill/>
        </p:spPr>
        <p:txBody>
          <a:bodyPr wrap="square" lIns="0" tIns="0" rIns="0" bIns="0" anchor="ctr">
            <a:spAutoFit/>
          </a:bodyPr>
          <a:lstStyle/>
          <a:p>
            <a:pPr algn="l">
              <a:lnSpc>
                <a:spcPct val="110000"/>
              </a:lnSpc>
              <a:spcAft>
                <a:spcPts val="400"/>
              </a:spcAft>
            </a:pPr>
            <a:r>
              <a:rPr sz="1200" b="0" i="0">
                <a:solidFill>
                  <a:srgbClr val="6E7E7D"/>
                </a:solidFill>
                <a:latin typeface="Arial"/>
              </a:rPr>
              <a:t>Dataset de modelamiento y corrida con datos reales</a:t>
            </a:r>
          </a:p>
        </p:txBody>
      </p:sp>
      <p:sp>
        <p:nvSpPr>
          <p:cNvPr id="160" name="Rectangle 159">
            <a:extLst>
              <a:ext uri="{FF2B5EF4-FFF2-40B4-BE49-F238E27FC236}">
                <a16:creationId xmlns:a16="http://schemas.microsoft.com/office/drawing/2014/main" id="{E917474C-CF65-8D22-49EB-E5FED1537A15}"/>
              </a:ext>
            </a:extLst>
          </p:cNvPr>
          <p:cNvSpPr/>
          <p:nvPr/>
        </p:nvSpPr>
        <p:spPr>
          <a:xfrm>
            <a:off x="14255496" y="2523744"/>
            <a:ext cx="1287292" cy="26517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445A6E"/>
                </a:solidFill>
                <a:latin typeface="Arial"/>
              </a:rPr>
              <a:t>Semestral</a:t>
            </a:r>
          </a:p>
        </p:txBody>
      </p:sp>
      <p:sp>
        <p:nvSpPr>
          <p:cNvPr id="161" name="Rectangle 160">
            <a:extLst>
              <a:ext uri="{FF2B5EF4-FFF2-40B4-BE49-F238E27FC236}">
                <a16:creationId xmlns:a16="http://schemas.microsoft.com/office/drawing/2014/main" id="{378F357C-455E-5DDB-F9E8-69D13DDDA33F}"/>
              </a:ext>
            </a:extLst>
          </p:cNvPr>
          <p:cNvSpPr/>
          <p:nvPr/>
        </p:nvSpPr>
        <p:spPr>
          <a:xfrm>
            <a:off x="658368" y="3072384"/>
            <a:ext cx="109728"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2" name="TextBox 161">
            <a:extLst>
              <a:ext uri="{FF2B5EF4-FFF2-40B4-BE49-F238E27FC236}">
                <a16:creationId xmlns:a16="http://schemas.microsoft.com/office/drawing/2014/main" id="{10CA46A5-A3DB-ECDB-FEE1-996CA1838C52}"/>
              </a:ext>
            </a:extLst>
          </p:cNvPr>
          <p:cNvSpPr txBox="1"/>
          <p:nvPr/>
        </p:nvSpPr>
        <p:spPr>
          <a:xfrm>
            <a:off x="877824" y="3031236"/>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Prepagos</a:t>
            </a:r>
          </a:p>
        </p:txBody>
      </p:sp>
      <p:sp>
        <p:nvSpPr>
          <p:cNvPr id="163" name="TextBox 162">
            <a:extLst>
              <a:ext uri="{FF2B5EF4-FFF2-40B4-BE49-F238E27FC236}">
                <a16:creationId xmlns:a16="http://schemas.microsoft.com/office/drawing/2014/main" id="{B9C94AC0-A8A4-2696-F491-04D7E4186678}"/>
              </a:ext>
            </a:extLst>
          </p:cNvPr>
          <p:cNvSpPr txBox="1"/>
          <p:nvPr/>
        </p:nvSpPr>
        <p:spPr>
          <a:xfrm>
            <a:off x="877824" y="3255264"/>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Data Science</a:t>
            </a:r>
          </a:p>
        </p:txBody>
      </p:sp>
      <p:sp>
        <p:nvSpPr>
          <p:cNvPr id="164" name="Rectangle 163">
            <a:extLst>
              <a:ext uri="{FF2B5EF4-FFF2-40B4-BE49-F238E27FC236}">
                <a16:creationId xmlns:a16="http://schemas.microsoft.com/office/drawing/2014/main" id="{F1C5F962-A3A9-259D-3284-B3418D5D00AD}"/>
              </a:ext>
            </a:extLst>
          </p:cNvPr>
          <p:cNvSpPr/>
          <p:nvPr/>
        </p:nvSpPr>
        <p:spPr>
          <a:xfrm>
            <a:off x="3145536" y="3108960"/>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5" name="Rectangle 164">
            <a:extLst>
              <a:ext uri="{FF2B5EF4-FFF2-40B4-BE49-F238E27FC236}">
                <a16:creationId xmlns:a16="http://schemas.microsoft.com/office/drawing/2014/main" id="{9469AC31-A275-F1C6-B46B-1B0F64C0A111}"/>
              </a:ext>
            </a:extLst>
          </p:cNvPr>
          <p:cNvSpPr/>
          <p:nvPr/>
        </p:nvSpPr>
        <p:spPr>
          <a:xfrm>
            <a:off x="3145535" y="3108960"/>
            <a:ext cx="2267711"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6" name="TextBox 165">
            <a:extLst>
              <a:ext uri="{FF2B5EF4-FFF2-40B4-BE49-F238E27FC236}">
                <a16:creationId xmlns:a16="http://schemas.microsoft.com/office/drawing/2014/main" id="{BCAC17EF-C841-716F-96DF-F86EBA500A29}"/>
              </a:ext>
            </a:extLst>
          </p:cNvPr>
          <p:cNvSpPr txBox="1"/>
          <p:nvPr/>
        </p:nvSpPr>
        <p:spPr>
          <a:xfrm>
            <a:off x="6547104" y="3086100"/>
            <a:ext cx="640080" cy="246221"/>
          </a:xfrm>
          <a:prstGeom prst="rect">
            <a:avLst/>
          </a:prstGeom>
          <a:noFill/>
        </p:spPr>
        <p:txBody>
          <a:bodyPr wrap="square" lIns="0" tIns="0" rIns="0" bIns="0" anchor="t">
            <a:spAutoFit/>
          </a:bodyPr>
          <a:lstStyle/>
          <a:p>
            <a:pPr algn="l">
              <a:lnSpc>
                <a:spcPct val="100000"/>
              </a:lnSpc>
            </a:pPr>
            <a:r>
              <a:rPr lang="en-US" sz="1600" b="1" dirty="0">
                <a:solidFill>
                  <a:srgbClr val="435A6E"/>
                </a:solidFill>
              </a:rPr>
              <a:t>6</a:t>
            </a:r>
            <a:r>
              <a:rPr sz="1600" b="1" i="0" dirty="0">
                <a:solidFill>
                  <a:srgbClr val="435A6E"/>
                </a:solidFill>
                <a:latin typeface="Arial"/>
              </a:rPr>
              <a:t>0%</a:t>
            </a:r>
          </a:p>
        </p:txBody>
      </p:sp>
      <p:sp>
        <p:nvSpPr>
          <p:cNvPr id="167" name="TextBox 166">
            <a:extLst>
              <a:ext uri="{FF2B5EF4-FFF2-40B4-BE49-F238E27FC236}">
                <a16:creationId xmlns:a16="http://schemas.microsoft.com/office/drawing/2014/main" id="{97987DDC-297A-C4C8-BF44-AC5E071DD5A2}"/>
              </a:ext>
            </a:extLst>
          </p:cNvPr>
          <p:cNvSpPr txBox="1"/>
          <p:nvPr/>
        </p:nvSpPr>
        <p:spPr>
          <a:xfrm>
            <a:off x="7205472" y="3163870"/>
            <a:ext cx="3566160" cy="187359"/>
          </a:xfrm>
          <a:prstGeom prst="rect">
            <a:avLst/>
          </a:prstGeom>
          <a:noFill/>
        </p:spPr>
        <p:txBody>
          <a:bodyPr wrap="square" lIns="0" tIns="0" rIns="0" bIns="0" anchor="ctr">
            <a:spAutoFit/>
          </a:bodyPr>
          <a:lstStyle/>
          <a:p>
            <a:pPr algn="l">
              <a:lnSpc>
                <a:spcPct val="110000"/>
              </a:lnSpc>
              <a:spcAft>
                <a:spcPts val="400"/>
              </a:spcAft>
            </a:pPr>
            <a:r>
              <a:rPr lang="en-US" sz="1200" dirty="0">
                <a:solidFill>
                  <a:srgbClr val="3E5553"/>
                </a:solidFill>
              </a:rPr>
              <a:t>Desarrollo con variables </a:t>
            </a:r>
            <a:r>
              <a:rPr lang="en-US" sz="1200" dirty="0" err="1">
                <a:solidFill>
                  <a:srgbClr val="3E5553"/>
                </a:solidFill>
              </a:rPr>
              <a:t>finalistas</a:t>
            </a:r>
            <a:endParaRPr sz="1200" b="0" i="0" dirty="0">
              <a:solidFill>
                <a:srgbClr val="3E5553"/>
              </a:solidFill>
              <a:latin typeface="Arial"/>
            </a:endParaRPr>
          </a:p>
        </p:txBody>
      </p:sp>
      <p:sp>
        <p:nvSpPr>
          <p:cNvPr id="168" name="TextBox 167">
            <a:extLst>
              <a:ext uri="{FF2B5EF4-FFF2-40B4-BE49-F238E27FC236}">
                <a16:creationId xmlns:a16="http://schemas.microsoft.com/office/drawing/2014/main" id="{C3149F78-1A2C-2D8C-1EE5-79914C298140}"/>
              </a:ext>
            </a:extLst>
          </p:cNvPr>
          <p:cNvSpPr txBox="1"/>
          <p:nvPr/>
        </p:nvSpPr>
        <p:spPr>
          <a:xfrm>
            <a:off x="10954512" y="3062304"/>
            <a:ext cx="3063240" cy="390492"/>
          </a:xfrm>
          <a:prstGeom prst="rect">
            <a:avLst/>
          </a:prstGeom>
          <a:noFill/>
        </p:spPr>
        <p:txBody>
          <a:bodyPr wrap="square" lIns="0" tIns="0" rIns="0" bIns="0" anchor="ctr">
            <a:spAutoFit/>
          </a:bodyPr>
          <a:lstStyle/>
          <a:p>
            <a:pPr>
              <a:lnSpc>
                <a:spcPct val="110000"/>
              </a:lnSpc>
              <a:spcAft>
                <a:spcPts val="400"/>
              </a:spcAft>
            </a:pPr>
            <a:r>
              <a:rPr lang="en-US" sz="1200" dirty="0" err="1">
                <a:solidFill>
                  <a:srgbClr val="6E7E7D"/>
                </a:solidFill>
              </a:rPr>
              <a:t>Presentacion</a:t>
            </a:r>
            <a:r>
              <a:rPr lang="en-US" sz="1200" dirty="0">
                <a:solidFill>
                  <a:srgbClr val="6E7E7D"/>
                </a:solidFill>
              </a:rPr>
              <a:t> del </a:t>
            </a:r>
            <a:r>
              <a:rPr lang="en-US" sz="1200" dirty="0" err="1">
                <a:solidFill>
                  <a:srgbClr val="6E7E7D"/>
                </a:solidFill>
              </a:rPr>
              <a:t>modelo</a:t>
            </a:r>
            <a:r>
              <a:rPr lang="en-US" sz="1200" dirty="0">
                <a:solidFill>
                  <a:srgbClr val="6E7E7D"/>
                </a:solidFill>
              </a:rPr>
              <a:t> pre </a:t>
            </a:r>
            <a:r>
              <a:rPr lang="en-US" sz="1200" dirty="0" err="1">
                <a:solidFill>
                  <a:srgbClr val="6E7E7D"/>
                </a:solidFill>
              </a:rPr>
              <a:t>finalista</a:t>
            </a:r>
            <a:r>
              <a:rPr lang="en-US" sz="1200" dirty="0">
                <a:solidFill>
                  <a:srgbClr val="6E7E7D"/>
                </a:solidFill>
              </a:rPr>
              <a:t>/ </a:t>
            </a:r>
            <a:r>
              <a:rPr lang="en-US" sz="1200" dirty="0" err="1">
                <a:solidFill>
                  <a:srgbClr val="6E7E7D"/>
                </a:solidFill>
              </a:rPr>
              <a:t>finalista</a:t>
            </a:r>
            <a:endParaRPr lang="en-US" sz="1200" dirty="0">
              <a:solidFill>
                <a:srgbClr val="6E7E7D"/>
              </a:solidFill>
            </a:endParaRPr>
          </a:p>
        </p:txBody>
      </p:sp>
      <p:sp>
        <p:nvSpPr>
          <p:cNvPr id="169" name="Rectangle 168">
            <a:extLst>
              <a:ext uri="{FF2B5EF4-FFF2-40B4-BE49-F238E27FC236}">
                <a16:creationId xmlns:a16="http://schemas.microsoft.com/office/drawing/2014/main" id="{D41E6C05-400D-1703-27E7-FE3CA985EDFB}"/>
              </a:ext>
            </a:extLst>
          </p:cNvPr>
          <p:cNvSpPr/>
          <p:nvPr/>
        </p:nvSpPr>
        <p:spPr>
          <a:xfrm>
            <a:off x="14255496" y="3086100"/>
            <a:ext cx="1287292" cy="2651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0C514E"/>
                </a:solidFill>
                <a:latin typeface="Arial"/>
              </a:rPr>
              <a:t>Trimestral</a:t>
            </a:r>
          </a:p>
        </p:txBody>
      </p:sp>
      <p:sp>
        <p:nvSpPr>
          <p:cNvPr id="170" name="Rectangle 169">
            <a:extLst>
              <a:ext uri="{FF2B5EF4-FFF2-40B4-BE49-F238E27FC236}">
                <a16:creationId xmlns:a16="http://schemas.microsoft.com/office/drawing/2014/main" id="{DACABB78-DFC4-724B-99AA-D1719F8CB28B}"/>
              </a:ext>
            </a:extLst>
          </p:cNvPr>
          <p:cNvSpPr/>
          <p:nvPr/>
        </p:nvSpPr>
        <p:spPr>
          <a:xfrm>
            <a:off x="658368" y="3634740"/>
            <a:ext cx="109728"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1" name="TextBox 170">
            <a:extLst>
              <a:ext uri="{FF2B5EF4-FFF2-40B4-BE49-F238E27FC236}">
                <a16:creationId xmlns:a16="http://schemas.microsoft.com/office/drawing/2014/main" id="{C44CDE2E-7938-46B8-D068-5489569A0A53}"/>
              </a:ext>
            </a:extLst>
          </p:cNvPr>
          <p:cNvSpPr txBox="1"/>
          <p:nvPr/>
        </p:nvSpPr>
        <p:spPr>
          <a:xfrm>
            <a:off x="877824" y="3593592"/>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Precancelaciones</a:t>
            </a:r>
          </a:p>
        </p:txBody>
      </p:sp>
      <p:sp>
        <p:nvSpPr>
          <p:cNvPr id="172" name="TextBox 171">
            <a:extLst>
              <a:ext uri="{FF2B5EF4-FFF2-40B4-BE49-F238E27FC236}">
                <a16:creationId xmlns:a16="http://schemas.microsoft.com/office/drawing/2014/main" id="{8D02B276-56EA-8EE0-D2A2-AC68DB429A5F}"/>
              </a:ext>
            </a:extLst>
          </p:cNvPr>
          <p:cNvSpPr txBox="1"/>
          <p:nvPr/>
        </p:nvSpPr>
        <p:spPr>
          <a:xfrm>
            <a:off x="877824" y="3817620"/>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Data Science</a:t>
            </a:r>
          </a:p>
        </p:txBody>
      </p:sp>
      <p:sp>
        <p:nvSpPr>
          <p:cNvPr id="173" name="Rectangle 172">
            <a:extLst>
              <a:ext uri="{FF2B5EF4-FFF2-40B4-BE49-F238E27FC236}">
                <a16:creationId xmlns:a16="http://schemas.microsoft.com/office/drawing/2014/main" id="{23B88F70-93D6-3CDE-3280-E522CE9487A0}"/>
              </a:ext>
            </a:extLst>
          </p:cNvPr>
          <p:cNvSpPr/>
          <p:nvPr/>
        </p:nvSpPr>
        <p:spPr>
          <a:xfrm>
            <a:off x="3145536" y="3671316"/>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4" name="Rectangle 173">
            <a:extLst>
              <a:ext uri="{FF2B5EF4-FFF2-40B4-BE49-F238E27FC236}">
                <a16:creationId xmlns:a16="http://schemas.microsoft.com/office/drawing/2014/main" id="{8703DB3C-9D9B-D004-D57D-8E9B649D7A93}"/>
              </a:ext>
            </a:extLst>
          </p:cNvPr>
          <p:cNvSpPr/>
          <p:nvPr/>
        </p:nvSpPr>
        <p:spPr>
          <a:xfrm>
            <a:off x="3145536" y="3671316"/>
            <a:ext cx="2267712"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5" name="TextBox 174">
            <a:extLst>
              <a:ext uri="{FF2B5EF4-FFF2-40B4-BE49-F238E27FC236}">
                <a16:creationId xmlns:a16="http://schemas.microsoft.com/office/drawing/2014/main" id="{8EF8C693-49BD-8965-96E9-0FCAE948B0E4}"/>
              </a:ext>
            </a:extLst>
          </p:cNvPr>
          <p:cNvSpPr txBox="1"/>
          <p:nvPr/>
        </p:nvSpPr>
        <p:spPr>
          <a:xfrm>
            <a:off x="6547104" y="3648456"/>
            <a:ext cx="640080" cy="246221"/>
          </a:xfrm>
          <a:prstGeom prst="rect">
            <a:avLst/>
          </a:prstGeom>
          <a:noFill/>
        </p:spPr>
        <p:txBody>
          <a:bodyPr wrap="square" lIns="0" tIns="0" rIns="0" bIns="0" anchor="t">
            <a:spAutoFit/>
          </a:bodyPr>
          <a:lstStyle/>
          <a:p>
            <a:pPr algn="l">
              <a:lnSpc>
                <a:spcPct val="100000"/>
              </a:lnSpc>
            </a:pPr>
            <a:r>
              <a:rPr lang="en-US" sz="1600" b="1" dirty="0">
                <a:solidFill>
                  <a:srgbClr val="435A6E"/>
                </a:solidFill>
              </a:rPr>
              <a:t>6</a:t>
            </a:r>
            <a:r>
              <a:rPr sz="1600" b="1" i="0" dirty="0">
                <a:solidFill>
                  <a:srgbClr val="435A6E"/>
                </a:solidFill>
                <a:latin typeface="Arial"/>
              </a:rPr>
              <a:t>0%</a:t>
            </a:r>
          </a:p>
        </p:txBody>
      </p:sp>
      <p:sp>
        <p:nvSpPr>
          <p:cNvPr id="176" name="TextBox 175">
            <a:extLst>
              <a:ext uri="{FF2B5EF4-FFF2-40B4-BE49-F238E27FC236}">
                <a16:creationId xmlns:a16="http://schemas.microsoft.com/office/drawing/2014/main" id="{51FF0DBA-B100-55FC-A6BD-37B7B71CB3CC}"/>
              </a:ext>
            </a:extLst>
          </p:cNvPr>
          <p:cNvSpPr txBox="1"/>
          <p:nvPr/>
        </p:nvSpPr>
        <p:spPr>
          <a:xfrm>
            <a:off x="7205472" y="3726226"/>
            <a:ext cx="3566160" cy="187359"/>
          </a:xfrm>
          <a:prstGeom prst="rect">
            <a:avLst/>
          </a:prstGeom>
          <a:noFill/>
        </p:spPr>
        <p:txBody>
          <a:bodyPr wrap="square" lIns="0" tIns="0" rIns="0" bIns="0" anchor="ctr">
            <a:spAutoFit/>
          </a:bodyPr>
          <a:lstStyle/>
          <a:p>
            <a:pPr>
              <a:lnSpc>
                <a:spcPct val="110000"/>
              </a:lnSpc>
              <a:spcAft>
                <a:spcPts val="400"/>
              </a:spcAft>
            </a:pPr>
            <a:r>
              <a:rPr lang="en-US" sz="1200" dirty="0">
                <a:solidFill>
                  <a:srgbClr val="3E5553"/>
                </a:solidFill>
              </a:rPr>
              <a:t>Desarrollo con variables </a:t>
            </a:r>
            <a:r>
              <a:rPr lang="en-US" sz="1200" dirty="0" err="1">
                <a:solidFill>
                  <a:srgbClr val="3E5553"/>
                </a:solidFill>
              </a:rPr>
              <a:t>finalistas</a:t>
            </a:r>
            <a:endParaRPr lang="en-US" sz="1200" dirty="0">
              <a:solidFill>
                <a:srgbClr val="3E5553"/>
              </a:solidFill>
            </a:endParaRPr>
          </a:p>
        </p:txBody>
      </p:sp>
      <p:sp>
        <p:nvSpPr>
          <p:cNvPr id="177" name="TextBox 176">
            <a:extLst>
              <a:ext uri="{FF2B5EF4-FFF2-40B4-BE49-F238E27FC236}">
                <a16:creationId xmlns:a16="http://schemas.microsoft.com/office/drawing/2014/main" id="{0FAE2992-FC48-EB48-190D-7E5BCBC35644}"/>
              </a:ext>
            </a:extLst>
          </p:cNvPr>
          <p:cNvSpPr txBox="1"/>
          <p:nvPr/>
        </p:nvSpPr>
        <p:spPr>
          <a:xfrm>
            <a:off x="10954512" y="3624661"/>
            <a:ext cx="3063240" cy="390492"/>
          </a:xfrm>
          <a:prstGeom prst="rect">
            <a:avLst/>
          </a:prstGeom>
          <a:noFill/>
        </p:spPr>
        <p:txBody>
          <a:bodyPr wrap="square" lIns="0" tIns="0" rIns="0" bIns="0" anchor="ctr">
            <a:spAutoFit/>
          </a:bodyPr>
          <a:lstStyle/>
          <a:p>
            <a:pPr algn="l">
              <a:lnSpc>
                <a:spcPct val="110000"/>
              </a:lnSpc>
              <a:spcAft>
                <a:spcPts val="400"/>
              </a:spcAft>
            </a:pPr>
            <a:r>
              <a:rPr lang="en-US" sz="1200" b="0" i="0" dirty="0" err="1">
                <a:solidFill>
                  <a:srgbClr val="6E7E7D"/>
                </a:solidFill>
                <a:latin typeface="Arial"/>
              </a:rPr>
              <a:t>Presentacion</a:t>
            </a:r>
            <a:r>
              <a:rPr lang="en-US" sz="1200" b="0" i="0" dirty="0">
                <a:solidFill>
                  <a:srgbClr val="6E7E7D"/>
                </a:solidFill>
                <a:latin typeface="Arial"/>
              </a:rPr>
              <a:t> del </a:t>
            </a:r>
            <a:r>
              <a:rPr lang="en-US" sz="1200" b="0" i="0" dirty="0" err="1">
                <a:solidFill>
                  <a:srgbClr val="6E7E7D"/>
                </a:solidFill>
                <a:latin typeface="Arial"/>
              </a:rPr>
              <a:t>modelo</a:t>
            </a:r>
            <a:r>
              <a:rPr lang="en-US" sz="1200" b="0" i="0" dirty="0">
                <a:solidFill>
                  <a:srgbClr val="6E7E7D"/>
                </a:solidFill>
                <a:latin typeface="Arial"/>
              </a:rPr>
              <a:t> pre </a:t>
            </a:r>
            <a:r>
              <a:rPr lang="en-US" sz="1200" b="0" i="0" dirty="0" err="1">
                <a:solidFill>
                  <a:srgbClr val="6E7E7D"/>
                </a:solidFill>
                <a:latin typeface="Arial"/>
              </a:rPr>
              <a:t>finalista</a:t>
            </a:r>
            <a:r>
              <a:rPr lang="en-US" sz="1200" b="0" i="0" dirty="0">
                <a:solidFill>
                  <a:srgbClr val="6E7E7D"/>
                </a:solidFill>
                <a:latin typeface="Arial"/>
              </a:rPr>
              <a:t>/ </a:t>
            </a:r>
            <a:r>
              <a:rPr lang="en-US" sz="1200" b="0" i="0" dirty="0" err="1">
                <a:solidFill>
                  <a:srgbClr val="6E7E7D"/>
                </a:solidFill>
                <a:latin typeface="Arial"/>
              </a:rPr>
              <a:t>finalista</a:t>
            </a:r>
            <a:endParaRPr sz="1200" b="0" i="0" dirty="0">
              <a:solidFill>
                <a:srgbClr val="6E7E7D"/>
              </a:solidFill>
              <a:latin typeface="Arial"/>
            </a:endParaRPr>
          </a:p>
        </p:txBody>
      </p:sp>
      <p:sp>
        <p:nvSpPr>
          <p:cNvPr id="178" name="Rectangle 177">
            <a:extLst>
              <a:ext uri="{FF2B5EF4-FFF2-40B4-BE49-F238E27FC236}">
                <a16:creationId xmlns:a16="http://schemas.microsoft.com/office/drawing/2014/main" id="{2F2A3406-E11C-6D10-343E-9AF6221B6132}"/>
              </a:ext>
            </a:extLst>
          </p:cNvPr>
          <p:cNvSpPr/>
          <p:nvPr/>
        </p:nvSpPr>
        <p:spPr>
          <a:xfrm>
            <a:off x="14255496" y="3648456"/>
            <a:ext cx="1287292" cy="2651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0C514E"/>
                </a:solidFill>
                <a:latin typeface="Arial"/>
              </a:rPr>
              <a:t>Trimestral</a:t>
            </a:r>
          </a:p>
        </p:txBody>
      </p:sp>
      <p:sp>
        <p:nvSpPr>
          <p:cNvPr id="179" name="Rectangle 178">
            <a:extLst>
              <a:ext uri="{FF2B5EF4-FFF2-40B4-BE49-F238E27FC236}">
                <a16:creationId xmlns:a16="http://schemas.microsoft.com/office/drawing/2014/main" id="{25CCB079-F465-B219-EA5B-B8BD3EB4EC3E}"/>
              </a:ext>
            </a:extLst>
          </p:cNvPr>
          <p:cNvSpPr/>
          <p:nvPr/>
        </p:nvSpPr>
        <p:spPr>
          <a:xfrm>
            <a:off x="658368" y="4197096"/>
            <a:ext cx="109728" cy="2743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0" name="TextBox 179">
            <a:extLst>
              <a:ext uri="{FF2B5EF4-FFF2-40B4-BE49-F238E27FC236}">
                <a16:creationId xmlns:a16="http://schemas.microsoft.com/office/drawing/2014/main" id="{C6AB01FB-FED7-CCA0-2DC3-093DD2DA4A39}"/>
              </a:ext>
            </a:extLst>
          </p:cNvPr>
          <p:cNvSpPr txBox="1"/>
          <p:nvPr/>
        </p:nvSpPr>
        <p:spPr>
          <a:xfrm>
            <a:off x="877824" y="4155948"/>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PD Repricing</a:t>
            </a:r>
          </a:p>
        </p:txBody>
      </p:sp>
      <p:sp>
        <p:nvSpPr>
          <p:cNvPr id="181" name="TextBox 180">
            <a:extLst>
              <a:ext uri="{FF2B5EF4-FFF2-40B4-BE49-F238E27FC236}">
                <a16:creationId xmlns:a16="http://schemas.microsoft.com/office/drawing/2014/main" id="{FDAFEF43-E31D-008B-8851-A5112C355454}"/>
              </a:ext>
            </a:extLst>
          </p:cNvPr>
          <p:cNvSpPr txBox="1"/>
          <p:nvPr/>
        </p:nvSpPr>
        <p:spPr>
          <a:xfrm>
            <a:off x="877824" y="4379976"/>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Riesgos</a:t>
            </a:r>
          </a:p>
        </p:txBody>
      </p:sp>
      <p:sp>
        <p:nvSpPr>
          <p:cNvPr id="182" name="Rectangle 181">
            <a:extLst>
              <a:ext uri="{FF2B5EF4-FFF2-40B4-BE49-F238E27FC236}">
                <a16:creationId xmlns:a16="http://schemas.microsoft.com/office/drawing/2014/main" id="{8832061F-6C6A-D417-719E-D00F92CEDDE4}"/>
              </a:ext>
            </a:extLst>
          </p:cNvPr>
          <p:cNvSpPr/>
          <p:nvPr/>
        </p:nvSpPr>
        <p:spPr>
          <a:xfrm>
            <a:off x="3145536" y="4233672"/>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3" name="Rectangle 182">
            <a:extLst>
              <a:ext uri="{FF2B5EF4-FFF2-40B4-BE49-F238E27FC236}">
                <a16:creationId xmlns:a16="http://schemas.microsoft.com/office/drawing/2014/main" id="{22AD6093-50A8-FAF8-A6D4-20C279EA0806}"/>
              </a:ext>
            </a:extLst>
          </p:cNvPr>
          <p:cNvSpPr/>
          <p:nvPr/>
        </p:nvSpPr>
        <p:spPr>
          <a:xfrm>
            <a:off x="3145536" y="4233672"/>
            <a:ext cx="329184"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4" name="TextBox 183">
            <a:extLst>
              <a:ext uri="{FF2B5EF4-FFF2-40B4-BE49-F238E27FC236}">
                <a16:creationId xmlns:a16="http://schemas.microsoft.com/office/drawing/2014/main" id="{0C554E9B-CF21-AC83-2137-3C79F6E89AC0}"/>
              </a:ext>
            </a:extLst>
          </p:cNvPr>
          <p:cNvSpPr txBox="1"/>
          <p:nvPr/>
        </p:nvSpPr>
        <p:spPr>
          <a:xfrm>
            <a:off x="6547104" y="4210812"/>
            <a:ext cx="640080" cy="246221"/>
          </a:xfrm>
          <a:prstGeom prst="rect">
            <a:avLst/>
          </a:prstGeom>
          <a:noFill/>
        </p:spPr>
        <p:txBody>
          <a:bodyPr wrap="square" lIns="0" tIns="0" rIns="0" bIns="0" anchor="t">
            <a:spAutoFit/>
          </a:bodyPr>
          <a:lstStyle/>
          <a:p>
            <a:pPr algn="l">
              <a:lnSpc>
                <a:spcPct val="100000"/>
              </a:lnSpc>
            </a:pPr>
            <a:r>
              <a:rPr sz="1600" b="1" i="0">
                <a:solidFill>
                  <a:srgbClr val="435A6E"/>
                </a:solidFill>
                <a:latin typeface="Arial"/>
              </a:rPr>
              <a:t>10%</a:t>
            </a:r>
          </a:p>
        </p:txBody>
      </p:sp>
      <p:sp>
        <p:nvSpPr>
          <p:cNvPr id="185" name="TextBox 184">
            <a:extLst>
              <a:ext uri="{FF2B5EF4-FFF2-40B4-BE49-F238E27FC236}">
                <a16:creationId xmlns:a16="http://schemas.microsoft.com/office/drawing/2014/main" id="{AC124C56-E9F3-6F31-8061-7B105CD51B00}"/>
              </a:ext>
            </a:extLst>
          </p:cNvPr>
          <p:cNvSpPr txBox="1"/>
          <p:nvPr/>
        </p:nvSpPr>
        <p:spPr>
          <a:xfrm>
            <a:off x="7205472" y="4187016"/>
            <a:ext cx="3566160" cy="390492"/>
          </a:xfrm>
          <a:prstGeom prst="rect">
            <a:avLst/>
          </a:prstGeom>
          <a:noFill/>
        </p:spPr>
        <p:txBody>
          <a:bodyPr wrap="square" lIns="0" tIns="0" rIns="0" bIns="0" anchor="ctr">
            <a:spAutoFit/>
          </a:bodyPr>
          <a:lstStyle/>
          <a:p>
            <a:pPr algn="l">
              <a:lnSpc>
                <a:spcPct val="110000"/>
              </a:lnSpc>
              <a:spcAft>
                <a:spcPts val="400"/>
              </a:spcAft>
            </a:pPr>
            <a:r>
              <a:rPr sz="1200" b="0" i="0">
                <a:solidFill>
                  <a:srgbClr val="3E5553"/>
                </a:solidFill>
                <a:latin typeface="Arial"/>
              </a:rPr>
              <a:t>Metodología de re-pricing vía PD; data proforma al 95%</a:t>
            </a:r>
          </a:p>
        </p:txBody>
      </p:sp>
      <p:sp>
        <p:nvSpPr>
          <p:cNvPr id="186" name="TextBox 185">
            <a:extLst>
              <a:ext uri="{FF2B5EF4-FFF2-40B4-BE49-F238E27FC236}">
                <a16:creationId xmlns:a16="http://schemas.microsoft.com/office/drawing/2014/main" id="{26C6A317-E14F-89B0-1BDC-EBE9ADE48F1D}"/>
              </a:ext>
            </a:extLst>
          </p:cNvPr>
          <p:cNvSpPr txBox="1"/>
          <p:nvPr/>
        </p:nvSpPr>
        <p:spPr>
          <a:xfrm>
            <a:off x="10954512" y="4187016"/>
            <a:ext cx="3063240" cy="390492"/>
          </a:xfrm>
          <a:prstGeom prst="rect">
            <a:avLst/>
          </a:prstGeom>
          <a:noFill/>
        </p:spPr>
        <p:txBody>
          <a:bodyPr wrap="square" lIns="0" tIns="0" rIns="0" bIns="0" anchor="ctr">
            <a:spAutoFit/>
          </a:bodyPr>
          <a:lstStyle/>
          <a:p>
            <a:pPr algn="l">
              <a:lnSpc>
                <a:spcPct val="110000"/>
              </a:lnSpc>
              <a:spcAft>
                <a:spcPts val="400"/>
              </a:spcAft>
            </a:pPr>
            <a:r>
              <a:rPr sz="1200" b="0" i="0">
                <a:solidFill>
                  <a:srgbClr val="6E7E7D"/>
                </a:solidFill>
                <a:latin typeface="Arial"/>
              </a:rPr>
              <a:t>Corridas del PLV para el tarifario de excepciones</a:t>
            </a:r>
          </a:p>
        </p:txBody>
      </p:sp>
      <p:sp>
        <p:nvSpPr>
          <p:cNvPr id="187" name="Rectangle 186">
            <a:extLst>
              <a:ext uri="{FF2B5EF4-FFF2-40B4-BE49-F238E27FC236}">
                <a16:creationId xmlns:a16="http://schemas.microsoft.com/office/drawing/2014/main" id="{3D55C062-A9FD-CCD6-F1B7-559B946A5205}"/>
              </a:ext>
            </a:extLst>
          </p:cNvPr>
          <p:cNvSpPr/>
          <p:nvPr/>
        </p:nvSpPr>
        <p:spPr>
          <a:xfrm>
            <a:off x="14255496" y="4210812"/>
            <a:ext cx="1287292" cy="2651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0C514E"/>
                </a:solidFill>
                <a:latin typeface="Arial"/>
              </a:rPr>
              <a:t>Trimestral</a:t>
            </a:r>
          </a:p>
        </p:txBody>
      </p:sp>
      <p:sp>
        <p:nvSpPr>
          <p:cNvPr id="188" name="Rectangle 187">
            <a:extLst>
              <a:ext uri="{FF2B5EF4-FFF2-40B4-BE49-F238E27FC236}">
                <a16:creationId xmlns:a16="http://schemas.microsoft.com/office/drawing/2014/main" id="{A3BBA60D-3488-FC04-B72F-A357206FDED9}"/>
              </a:ext>
            </a:extLst>
          </p:cNvPr>
          <p:cNvSpPr/>
          <p:nvPr/>
        </p:nvSpPr>
        <p:spPr>
          <a:xfrm>
            <a:off x="658368" y="4759452"/>
            <a:ext cx="109728" cy="2743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9" name="TextBox 188">
            <a:extLst>
              <a:ext uri="{FF2B5EF4-FFF2-40B4-BE49-F238E27FC236}">
                <a16:creationId xmlns:a16="http://schemas.microsoft.com/office/drawing/2014/main" id="{94E963D5-58F4-E51A-FBF0-DCE4F0265387}"/>
              </a:ext>
            </a:extLst>
          </p:cNvPr>
          <p:cNvSpPr txBox="1"/>
          <p:nvPr/>
        </p:nvSpPr>
        <p:spPr>
          <a:xfrm>
            <a:off x="877824" y="4718304"/>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PD TTC</a:t>
            </a:r>
          </a:p>
        </p:txBody>
      </p:sp>
      <p:sp>
        <p:nvSpPr>
          <p:cNvPr id="190" name="TextBox 189">
            <a:extLst>
              <a:ext uri="{FF2B5EF4-FFF2-40B4-BE49-F238E27FC236}">
                <a16:creationId xmlns:a16="http://schemas.microsoft.com/office/drawing/2014/main" id="{E0DCE011-9EE9-B5B9-DCB0-7F05189CD90B}"/>
              </a:ext>
            </a:extLst>
          </p:cNvPr>
          <p:cNvSpPr txBox="1"/>
          <p:nvPr/>
        </p:nvSpPr>
        <p:spPr>
          <a:xfrm>
            <a:off x="877824" y="4942332"/>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Riesgos</a:t>
            </a:r>
          </a:p>
        </p:txBody>
      </p:sp>
      <p:sp>
        <p:nvSpPr>
          <p:cNvPr id="191" name="Rectangle 190">
            <a:extLst>
              <a:ext uri="{FF2B5EF4-FFF2-40B4-BE49-F238E27FC236}">
                <a16:creationId xmlns:a16="http://schemas.microsoft.com/office/drawing/2014/main" id="{5AB8CA06-4EEB-3F55-D2CD-8592B8D787E9}"/>
              </a:ext>
            </a:extLst>
          </p:cNvPr>
          <p:cNvSpPr/>
          <p:nvPr/>
        </p:nvSpPr>
        <p:spPr>
          <a:xfrm>
            <a:off x="3145536" y="4796028"/>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2" name="Rectangle 191">
            <a:extLst>
              <a:ext uri="{FF2B5EF4-FFF2-40B4-BE49-F238E27FC236}">
                <a16:creationId xmlns:a16="http://schemas.microsoft.com/office/drawing/2014/main" id="{5776979C-F778-63C0-20D8-F21F4DE033C5}"/>
              </a:ext>
            </a:extLst>
          </p:cNvPr>
          <p:cNvSpPr/>
          <p:nvPr/>
        </p:nvSpPr>
        <p:spPr>
          <a:xfrm>
            <a:off x="3145535" y="4796028"/>
            <a:ext cx="2962655"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3" name="TextBox 192">
            <a:extLst>
              <a:ext uri="{FF2B5EF4-FFF2-40B4-BE49-F238E27FC236}">
                <a16:creationId xmlns:a16="http://schemas.microsoft.com/office/drawing/2014/main" id="{24EDC685-8949-E676-16F1-4F52E74ABFF1}"/>
              </a:ext>
            </a:extLst>
          </p:cNvPr>
          <p:cNvSpPr txBox="1"/>
          <p:nvPr/>
        </p:nvSpPr>
        <p:spPr>
          <a:xfrm>
            <a:off x="6547104" y="4773168"/>
            <a:ext cx="640080" cy="246221"/>
          </a:xfrm>
          <a:prstGeom prst="rect">
            <a:avLst/>
          </a:prstGeom>
          <a:noFill/>
        </p:spPr>
        <p:txBody>
          <a:bodyPr wrap="square" lIns="0" tIns="0" rIns="0" bIns="0" anchor="t">
            <a:spAutoFit/>
          </a:bodyPr>
          <a:lstStyle/>
          <a:p>
            <a:pPr algn="l">
              <a:lnSpc>
                <a:spcPct val="100000"/>
              </a:lnSpc>
            </a:pPr>
            <a:r>
              <a:rPr lang="en-US" sz="1600" b="1" dirty="0">
                <a:solidFill>
                  <a:srgbClr val="435A6E"/>
                </a:solidFill>
              </a:rPr>
              <a:t>90</a:t>
            </a:r>
            <a:r>
              <a:rPr sz="1600" b="1" i="0" dirty="0">
                <a:solidFill>
                  <a:srgbClr val="435A6E"/>
                </a:solidFill>
                <a:latin typeface="Arial"/>
              </a:rPr>
              <a:t>%</a:t>
            </a:r>
          </a:p>
        </p:txBody>
      </p:sp>
      <p:sp>
        <p:nvSpPr>
          <p:cNvPr id="194" name="TextBox 193">
            <a:extLst>
              <a:ext uri="{FF2B5EF4-FFF2-40B4-BE49-F238E27FC236}">
                <a16:creationId xmlns:a16="http://schemas.microsoft.com/office/drawing/2014/main" id="{ADC2818B-85C0-1229-1489-21CCEB90DBF9}"/>
              </a:ext>
            </a:extLst>
          </p:cNvPr>
          <p:cNvSpPr txBox="1"/>
          <p:nvPr/>
        </p:nvSpPr>
        <p:spPr>
          <a:xfrm>
            <a:off x="7205472" y="4850939"/>
            <a:ext cx="3566160" cy="187359"/>
          </a:xfrm>
          <a:prstGeom prst="rect">
            <a:avLst/>
          </a:prstGeom>
          <a:noFill/>
        </p:spPr>
        <p:txBody>
          <a:bodyPr wrap="square" lIns="0" tIns="0" rIns="0" bIns="0" anchor="ctr">
            <a:spAutoFit/>
          </a:bodyPr>
          <a:lstStyle/>
          <a:p>
            <a:pPr algn="l">
              <a:lnSpc>
                <a:spcPct val="110000"/>
              </a:lnSpc>
              <a:spcAft>
                <a:spcPts val="400"/>
              </a:spcAft>
            </a:pPr>
            <a:r>
              <a:rPr lang="en-US" sz="1200" b="0" i="0" dirty="0">
                <a:solidFill>
                  <a:srgbClr val="3E5553"/>
                </a:solidFill>
                <a:latin typeface="Arial"/>
              </a:rPr>
              <a:t>Desarrollo con la </a:t>
            </a:r>
            <a:r>
              <a:rPr lang="en-US" sz="1200" b="0" i="0" dirty="0" err="1">
                <a:solidFill>
                  <a:srgbClr val="3E5553"/>
                </a:solidFill>
                <a:latin typeface="Arial"/>
              </a:rPr>
              <a:t>marca</a:t>
            </a:r>
            <a:r>
              <a:rPr lang="en-US" sz="1200" b="0" i="0" dirty="0">
                <a:solidFill>
                  <a:srgbClr val="3E5553"/>
                </a:solidFill>
                <a:latin typeface="Arial"/>
              </a:rPr>
              <a:t> de default </a:t>
            </a:r>
            <a:r>
              <a:rPr lang="en-US" sz="1200" b="0" i="0" dirty="0" err="1">
                <a:solidFill>
                  <a:srgbClr val="3E5553"/>
                </a:solidFill>
                <a:latin typeface="Arial"/>
              </a:rPr>
              <a:t>actualizada</a:t>
            </a:r>
            <a:endParaRPr sz="1200" b="0" i="0" dirty="0">
              <a:solidFill>
                <a:srgbClr val="3E5553"/>
              </a:solidFill>
              <a:latin typeface="Arial"/>
            </a:endParaRPr>
          </a:p>
        </p:txBody>
      </p:sp>
      <p:sp>
        <p:nvSpPr>
          <p:cNvPr id="195" name="TextBox 194">
            <a:extLst>
              <a:ext uri="{FF2B5EF4-FFF2-40B4-BE49-F238E27FC236}">
                <a16:creationId xmlns:a16="http://schemas.microsoft.com/office/drawing/2014/main" id="{424649D1-F03E-8DA0-0FD1-8C879F0A17D1}"/>
              </a:ext>
            </a:extLst>
          </p:cNvPr>
          <p:cNvSpPr txBox="1"/>
          <p:nvPr/>
        </p:nvSpPr>
        <p:spPr>
          <a:xfrm>
            <a:off x="10954512" y="4749372"/>
            <a:ext cx="3063240" cy="390492"/>
          </a:xfrm>
          <a:prstGeom prst="rect">
            <a:avLst/>
          </a:prstGeom>
          <a:noFill/>
        </p:spPr>
        <p:txBody>
          <a:bodyPr wrap="square" lIns="0" tIns="0" rIns="0" bIns="0" anchor="ctr">
            <a:spAutoFit/>
          </a:bodyPr>
          <a:lstStyle/>
          <a:p>
            <a:pPr algn="l">
              <a:lnSpc>
                <a:spcPct val="110000"/>
              </a:lnSpc>
              <a:spcAft>
                <a:spcPts val="400"/>
              </a:spcAft>
            </a:pPr>
            <a:r>
              <a:rPr lang="en-US" sz="1200" b="0" i="0" dirty="0" err="1">
                <a:solidFill>
                  <a:srgbClr val="6E7E7D"/>
                </a:solidFill>
                <a:latin typeface="Arial"/>
              </a:rPr>
              <a:t>Presentacion</a:t>
            </a:r>
            <a:r>
              <a:rPr lang="en-US" sz="1200" b="0" i="0" dirty="0">
                <a:solidFill>
                  <a:srgbClr val="6E7E7D"/>
                </a:solidFill>
                <a:latin typeface="Arial"/>
              </a:rPr>
              <a:t> de </a:t>
            </a:r>
            <a:r>
              <a:rPr lang="en-US" sz="1200" b="0" i="0" dirty="0" err="1">
                <a:solidFill>
                  <a:srgbClr val="6E7E7D"/>
                </a:solidFill>
                <a:latin typeface="Arial"/>
              </a:rPr>
              <a:t>resultados</a:t>
            </a:r>
            <a:r>
              <a:rPr lang="en-US" sz="1200" b="0" i="0" dirty="0">
                <a:solidFill>
                  <a:srgbClr val="6E7E7D"/>
                </a:solidFill>
                <a:latin typeface="Arial"/>
              </a:rPr>
              <a:t> y </a:t>
            </a:r>
            <a:r>
              <a:rPr lang="en-US" sz="1200" b="0" i="0" dirty="0" err="1">
                <a:solidFill>
                  <a:srgbClr val="6E7E7D"/>
                </a:solidFill>
                <a:latin typeface="Arial"/>
              </a:rPr>
              <a:t>ajustes</a:t>
            </a:r>
            <a:r>
              <a:rPr lang="en-US" sz="1200" b="0" i="0" dirty="0">
                <a:solidFill>
                  <a:srgbClr val="6E7E7D"/>
                </a:solidFill>
                <a:latin typeface="Arial"/>
              </a:rPr>
              <a:t> de feedback</a:t>
            </a:r>
            <a:endParaRPr sz="1200" b="0" i="0" dirty="0">
              <a:solidFill>
                <a:srgbClr val="6E7E7D"/>
              </a:solidFill>
              <a:latin typeface="Arial"/>
            </a:endParaRPr>
          </a:p>
        </p:txBody>
      </p:sp>
      <p:sp>
        <p:nvSpPr>
          <p:cNvPr id="196" name="Rectangle 195">
            <a:extLst>
              <a:ext uri="{FF2B5EF4-FFF2-40B4-BE49-F238E27FC236}">
                <a16:creationId xmlns:a16="http://schemas.microsoft.com/office/drawing/2014/main" id="{A2EFE084-2A5B-FB79-2204-E9F8DC7DFB1A}"/>
              </a:ext>
            </a:extLst>
          </p:cNvPr>
          <p:cNvSpPr/>
          <p:nvPr/>
        </p:nvSpPr>
        <p:spPr>
          <a:xfrm>
            <a:off x="14255496" y="4773168"/>
            <a:ext cx="1287292" cy="26517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445A6E"/>
                </a:solidFill>
                <a:latin typeface="Arial"/>
              </a:rPr>
              <a:t>Semestral</a:t>
            </a:r>
          </a:p>
        </p:txBody>
      </p:sp>
      <p:sp>
        <p:nvSpPr>
          <p:cNvPr id="197" name="Rectangle 196">
            <a:extLst>
              <a:ext uri="{FF2B5EF4-FFF2-40B4-BE49-F238E27FC236}">
                <a16:creationId xmlns:a16="http://schemas.microsoft.com/office/drawing/2014/main" id="{1675CF57-A330-A132-F191-3DFF617EB303}"/>
              </a:ext>
            </a:extLst>
          </p:cNvPr>
          <p:cNvSpPr/>
          <p:nvPr/>
        </p:nvSpPr>
        <p:spPr>
          <a:xfrm>
            <a:off x="658368" y="5321808"/>
            <a:ext cx="109728"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8" name="TextBox 197">
            <a:extLst>
              <a:ext uri="{FF2B5EF4-FFF2-40B4-BE49-F238E27FC236}">
                <a16:creationId xmlns:a16="http://schemas.microsoft.com/office/drawing/2014/main" id="{1C0F1B95-D4C9-92BA-E1A9-A433DE8CF439}"/>
              </a:ext>
            </a:extLst>
          </p:cNvPr>
          <p:cNvSpPr txBox="1"/>
          <p:nvPr/>
        </p:nvSpPr>
        <p:spPr>
          <a:xfrm>
            <a:off x="877824" y="5280660"/>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Segmentación</a:t>
            </a:r>
          </a:p>
        </p:txBody>
      </p:sp>
      <p:sp>
        <p:nvSpPr>
          <p:cNvPr id="199" name="TextBox 198">
            <a:extLst>
              <a:ext uri="{FF2B5EF4-FFF2-40B4-BE49-F238E27FC236}">
                <a16:creationId xmlns:a16="http://schemas.microsoft.com/office/drawing/2014/main" id="{EA9F17E6-2263-13F0-2872-93C6626A6E79}"/>
              </a:ext>
            </a:extLst>
          </p:cNvPr>
          <p:cNvSpPr txBox="1"/>
          <p:nvPr/>
        </p:nvSpPr>
        <p:spPr>
          <a:xfrm>
            <a:off x="877824" y="5504688"/>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Data Science</a:t>
            </a:r>
          </a:p>
        </p:txBody>
      </p:sp>
      <p:sp>
        <p:nvSpPr>
          <p:cNvPr id="200" name="Rectangle 199">
            <a:extLst>
              <a:ext uri="{FF2B5EF4-FFF2-40B4-BE49-F238E27FC236}">
                <a16:creationId xmlns:a16="http://schemas.microsoft.com/office/drawing/2014/main" id="{06564D4E-FD29-E4FD-E77C-E5B28765494E}"/>
              </a:ext>
            </a:extLst>
          </p:cNvPr>
          <p:cNvSpPr/>
          <p:nvPr/>
        </p:nvSpPr>
        <p:spPr>
          <a:xfrm>
            <a:off x="3145536" y="5358384"/>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01" name="Rectangle 200">
            <a:extLst>
              <a:ext uri="{FF2B5EF4-FFF2-40B4-BE49-F238E27FC236}">
                <a16:creationId xmlns:a16="http://schemas.microsoft.com/office/drawing/2014/main" id="{F91F0B87-7D09-912C-0AB4-AA776D68B6DE}"/>
              </a:ext>
            </a:extLst>
          </p:cNvPr>
          <p:cNvSpPr/>
          <p:nvPr/>
        </p:nvSpPr>
        <p:spPr>
          <a:xfrm>
            <a:off x="3145536" y="5358384"/>
            <a:ext cx="3291840"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02" name="TextBox 201">
            <a:extLst>
              <a:ext uri="{FF2B5EF4-FFF2-40B4-BE49-F238E27FC236}">
                <a16:creationId xmlns:a16="http://schemas.microsoft.com/office/drawing/2014/main" id="{F583AA72-191A-9057-A95A-5B8D20626021}"/>
              </a:ext>
            </a:extLst>
          </p:cNvPr>
          <p:cNvSpPr txBox="1"/>
          <p:nvPr/>
        </p:nvSpPr>
        <p:spPr>
          <a:xfrm>
            <a:off x="6547104" y="5335524"/>
            <a:ext cx="640080" cy="246221"/>
          </a:xfrm>
          <a:prstGeom prst="rect">
            <a:avLst/>
          </a:prstGeom>
          <a:noFill/>
        </p:spPr>
        <p:txBody>
          <a:bodyPr wrap="square" lIns="0" tIns="0" rIns="0" bIns="0" anchor="t">
            <a:spAutoFit/>
          </a:bodyPr>
          <a:lstStyle/>
          <a:p>
            <a:pPr algn="l">
              <a:lnSpc>
                <a:spcPct val="100000"/>
              </a:lnSpc>
            </a:pPr>
            <a:r>
              <a:rPr lang="en-US" sz="1600" b="1" dirty="0">
                <a:solidFill>
                  <a:srgbClr val="435A6E"/>
                </a:solidFill>
              </a:rPr>
              <a:t>10</a:t>
            </a:r>
            <a:r>
              <a:rPr sz="1600" b="1" i="0" dirty="0">
                <a:solidFill>
                  <a:srgbClr val="435A6E"/>
                </a:solidFill>
                <a:latin typeface="Arial"/>
              </a:rPr>
              <a:t>0%</a:t>
            </a:r>
          </a:p>
        </p:txBody>
      </p:sp>
      <p:sp>
        <p:nvSpPr>
          <p:cNvPr id="203" name="TextBox 202">
            <a:extLst>
              <a:ext uri="{FF2B5EF4-FFF2-40B4-BE49-F238E27FC236}">
                <a16:creationId xmlns:a16="http://schemas.microsoft.com/office/drawing/2014/main" id="{A0E77536-CFA1-7F8D-9C78-5BBA22D1E42A}"/>
              </a:ext>
            </a:extLst>
          </p:cNvPr>
          <p:cNvSpPr txBox="1"/>
          <p:nvPr/>
        </p:nvSpPr>
        <p:spPr>
          <a:xfrm>
            <a:off x="7205472" y="5413295"/>
            <a:ext cx="3566160" cy="187359"/>
          </a:xfrm>
          <a:prstGeom prst="rect">
            <a:avLst/>
          </a:prstGeom>
          <a:noFill/>
        </p:spPr>
        <p:txBody>
          <a:bodyPr wrap="square" lIns="0" tIns="0" rIns="0" bIns="0" anchor="ctr">
            <a:spAutoFit/>
          </a:bodyPr>
          <a:lstStyle/>
          <a:p>
            <a:pPr algn="l">
              <a:lnSpc>
                <a:spcPct val="110000"/>
              </a:lnSpc>
              <a:spcAft>
                <a:spcPts val="400"/>
              </a:spcAft>
            </a:pPr>
            <a:r>
              <a:rPr lang="en-US" sz="1200" b="0" i="0" dirty="0">
                <a:solidFill>
                  <a:srgbClr val="3E5553"/>
                </a:solidFill>
                <a:latin typeface="Arial"/>
              </a:rPr>
              <a:t>Modelo </a:t>
            </a:r>
            <a:r>
              <a:rPr lang="en-US" sz="1200" b="0" i="0" dirty="0" err="1">
                <a:solidFill>
                  <a:srgbClr val="3E5553"/>
                </a:solidFill>
                <a:latin typeface="Arial"/>
              </a:rPr>
              <a:t>Finalizado</a:t>
            </a:r>
            <a:endParaRPr sz="1200" b="0" i="0" dirty="0">
              <a:solidFill>
                <a:srgbClr val="3E5553"/>
              </a:solidFill>
              <a:latin typeface="Arial"/>
            </a:endParaRPr>
          </a:p>
        </p:txBody>
      </p:sp>
      <p:sp>
        <p:nvSpPr>
          <p:cNvPr id="204" name="TextBox 203">
            <a:extLst>
              <a:ext uri="{FF2B5EF4-FFF2-40B4-BE49-F238E27FC236}">
                <a16:creationId xmlns:a16="http://schemas.microsoft.com/office/drawing/2014/main" id="{94E841A7-6419-04CE-7D00-7EA2091F28FB}"/>
              </a:ext>
            </a:extLst>
          </p:cNvPr>
          <p:cNvSpPr txBox="1"/>
          <p:nvPr/>
        </p:nvSpPr>
        <p:spPr>
          <a:xfrm>
            <a:off x="10954512" y="5311728"/>
            <a:ext cx="3063240" cy="390492"/>
          </a:xfrm>
          <a:prstGeom prst="rect">
            <a:avLst/>
          </a:prstGeom>
          <a:noFill/>
        </p:spPr>
        <p:txBody>
          <a:bodyPr wrap="square" lIns="0" tIns="0" rIns="0" bIns="0" anchor="ctr">
            <a:spAutoFit/>
          </a:bodyPr>
          <a:lstStyle/>
          <a:p>
            <a:pPr algn="l">
              <a:lnSpc>
                <a:spcPct val="110000"/>
              </a:lnSpc>
              <a:spcAft>
                <a:spcPts val="400"/>
              </a:spcAft>
            </a:pPr>
            <a:r>
              <a:rPr lang="en-US" sz="1200" b="0" i="0" dirty="0" err="1">
                <a:solidFill>
                  <a:srgbClr val="6E7E7D"/>
                </a:solidFill>
                <a:latin typeface="Arial"/>
              </a:rPr>
              <a:t>Transferencia</a:t>
            </a:r>
            <a:r>
              <a:rPr lang="en-US" sz="1200" b="0" i="0" dirty="0">
                <a:solidFill>
                  <a:srgbClr val="6E7E7D"/>
                </a:solidFill>
                <a:latin typeface="Arial"/>
              </a:rPr>
              <a:t> de </a:t>
            </a:r>
            <a:r>
              <a:rPr lang="en-US" sz="1200" b="0" i="0" dirty="0" err="1">
                <a:solidFill>
                  <a:srgbClr val="6E7E7D"/>
                </a:solidFill>
                <a:latin typeface="Arial"/>
              </a:rPr>
              <a:t>conocimiento</a:t>
            </a:r>
            <a:r>
              <a:rPr lang="en-US" sz="1200" b="0" i="0" dirty="0">
                <a:solidFill>
                  <a:srgbClr val="6E7E7D"/>
                </a:solidFill>
                <a:latin typeface="Arial"/>
              </a:rPr>
              <a:t> y </a:t>
            </a:r>
            <a:r>
              <a:rPr lang="en-US" sz="1200" b="0" i="0" dirty="0" err="1">
                <a:solidFill>
                  <a:srgbClr val="6E7E7D"/>
                </a:solidFill>
                <a:latin typeface="Arial"/>
              </a:rPr>
              <a:t>documentación</a:t>
            </a:r>
            <a:endParaRPr sz="1200" b="0" i="0" dirty="0">
              <a:solidFill>
                <a:srgbClr val="6E7E7D"/>
              </a:solidFill>
              <a:latin typeface="Arial"/>
            </a:endParaRPr>
          </a:p>
        </p:txBody>
      </p:sp>
      <p:sp>
        <p:nvSpPr>
          <p:cNvPr id="205" name="Rectangle 204">
            <a:extLst>
              <a:ext uri="{FF2B5EF4-FFF2-40B4-BE49-F238E27FC236}">
                <a16:creationId xmlns:a16="http://schemas.microsoft.com/office/drawing/2014/main" id="{3FB85D8C-CEFF-E0F4-7739-F177BD5091D4}"/>
              </a:ext>
            </a:extLst>
          </p:cNvPr>
          <p:cNvSpPr/>
          <p:nvPr/>
        </p:nvSpPr>
        <p:spPr>
          <a:xfrm>
            <a:off x="14255496" y="5335524"/>
            <a:ext cx="1287292" cy="2651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0C514E"/>
                </a:solidFill>
                <a:latin typeface="Arial"/>
              </a:rPr>
              <a:t>Trimestral</a:t>
            </a:r>
          </a:p>
        </p:txBody>
      </p:sp>
      <p:sp>
        <p:nvSpPr>
          <p:cNvPr id="206" name="Rectangle 205">
            <a:extLst>
              <a:ext uri="{FF2B5EF4-FFF2-40B4-BE49-F238E27FC236}">
                <a16:creationId xmlns:a16="http://schemas.microsoft.com/office/drawing/2014/main" id="{BF3A2E5B-B03F-8535-0908-F072BFCCBC2B}"/>
              </a:ext>
            </a:extLst>
          </p:cNvPr>
          <p:cNvSpPr/>
          <p:nvPr/>
        </p:nvSpPr>
        <p:spPr>
          <a:xfrm>
            <a:off x="658368" y="5884164"/>
            <a:ext cx="109728"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07" name="TextBox 206">
            <a:extLst>
              <a:ext uri="{FF2B5EF4-FFF2-40B4-BE49-F238E27FC236}">
                <a16:creationId xmlns:a16="http://schemas.microsoft.com/office/drawing/2014/main" id="{39B689FF-81D9-C050-6CB0-13EC7F30F76A}"/>
              </a:ext>
            </a:extLst>
          </p:cNvPr>
          <p:cNvSpPr txBox="1"/>
          <p:nvPr/>
        </p:nvSpPr>
        <p:spPr>
          <a:xfrm>
            <a:off x="877824" y="5843016"/>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Sensibilidad</a:t>
            </a:r>
          </a:p>
        </p:txBody>
      </p:sp>
      <p:sp>
        <p:nvSpPr>
          <p:cNvPr id="208" name="TextBox 207">
            <a:extLst>
              <a:ext uri="{FF2B5EF4-FFF2-40B4-BE49-F238E27FC236}">
                <a16:creationId xmlns:a16="http://schemas.microsoft.com/office/drawing/2014/main" id="{D2CFD6CA-8815-22FB-2C8F-5F197B6BA495}"/>
              </a:ext>
            </a:extLst>
          </p:cNvPr>
          <p:cNvSpPr txBox="1"/>
          <p:nvPr/>
        </p:nvSpPr>
        <p:spPr>
          <a:xfrm>
            <a:off x="877824" y="6067044"/>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Data Science</a:t>
            </a:r>
          </a:p>
        </p:txBody>
      </p:sp>
      <p:sp>
        <p:nvSpPr>
          <p:cNvPr id="209" name="Rectangle 208">
            <a:extLst>
              <a:ext uri="{FF2B5EF4-FFF2-40B4-BE49-F238E27FC236}">
                <a16:creationId xmlns:a16="http://schemas.microsoft.com/office/drawing/2014/main" id="{53473498-9C26-8156-37D8-89C7B28F0662}"/>
              </a:ext>
            </a:extLst>
          </p:cNvPr>
          <p:cNvSpPr/>
          <p:nvPr/>
        </p:nvSpPr>
        <p:spPr>
          <a:xfrm>
            <a:off x="3145536" y="5920740"/>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0" name="Rectangle 209">
            <a:extLst>
              <a:ext uri="{FF2B5EF4-FFF2-40B4-BE49-F238E27FC236}">
                <a16:creationId xmlns:a16="http://schemas.microsoft.com/office/drawing/2014/main" id="{ABF9986D-79C4-A4B0-0F9C-AB8BFBB387E0}"/>
              </a:ext>
            </a:extLst>
          </p:cNvPr>
          <p:cNvSpPr/>
          <p:nvPr/>
        </p:nvSpPr>
        <p:spPr>
          <a:xfrm>
            <a:off x="3145536" y="5920740"/>
            <a:ext cx="329184"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1" name="TextBox 210">
            <a:extLst>
              <a:ext uri="{FF2B5EF4-FFF2-40B4-BE49-F238E27FC236}">
                <a16:creationId xmlns:a16="http://schemas.microsoft.com/office/drawing/2014/main" id="{4C660A09-5493-5A88-606F-782B6A55C803}"/>
              </a:ext>
            </a:extLst>
          </p:cNvPr>
          <p:cNvSpPr txBox="1"/>
          <p:nvPr/>
        </p:nvSpPr>
        <p:spPr>
          <a:xfrm>
            <a:off x="6547104" y="5897880"/>
            <a:ext cx="640080" cy="246221"/>
          </a:xfrm>
          <a:prstGeom prst="rect">
            <a:avLst/>
          </a:prstGeom>
          <a:noFill/>
        </p:spPr>
        <p:txBody>
          <a:bodyPr wrap="square" lIns="0" tIns="0" rIns="0" bIns="0" anchor="t">
            <a:spAutoFit/>
          </a:bodyPr>
          <a:lstStyle/>
          <a:p>
            <a:pPr algn="l">
              <a:lnSpc>
                <a:spcPct val="100000"/>
              </a:lnSpc>
            </a:pPr>
            <a:r>
              <a:rPr sz="1600" b="1" i="0">
                <a:solidFill>
                  <a:srgbClr val="435A6E"/>
                </a:solidFill>
                <a:latin typeface="Arial"/>
              </a:rPr>
              <a:t>10%</a:t>
            </a:r>
          </a:p>
        </p:txBody>
      </p:sp>
      <p:sp>
        <p:nvSpPr>
          <p:cNvPr id="212" name="TextBox 211">
            <a:extLst>
              <a:ext uri="{FF2B5EF4-FFF2-40B4-BE49-F238E27FC236}">
                <a16:creationId xmlns:a16="http://schemas.microsoft.com/office/drawing/2014/main" id="{B1B5902B-092D-2AA7-939E-0D202A412FD5}"/>
              </a:ext>
            </a:extLst>
          </p:cNvPr>
          <p:cNvSpPr txBox="1"/>
          <p:nvPr/>
        </p:nvSpPr>
        <p:spPr>
          <a:xfrm>
            <a:off x="7205472" y="5874084"/>
            <a:ext cx="3566160" cy="390492"/>
          </a:xfrm>
          <a:prstGeom prst="rect">
            <a:avLst/>
          </a:prstGeom>
          <a:noFill/>
        </p:spPr>
        <p:txBody>
          <a:bodyPr wrap="square" lIns="0" tIns="0" rIns="0" bIns="0" anchor="ctr">
            <a:spAutoFit/>
          </a:bodyPr>
          <a:lstStyle/>
          <a:p>
            <a:pPr algn="l">
              <a:lnSpc>
                <a:spcPct val="110000"/>
              </a:lnSpc>
              <a:spcAft>
                <a:spcPts val="400"/>
              </a:spcAft>
            </a:pPr>
            <a:r>
              <a:rPr sz="1200" b="0" i="0" dirty="0">
                <a:solidFill>
                  <a:srgbClr val="3E5553"/>
                </a:solidFill>
                <a:latin typeface="Arial"/>
              </a:rPr>
              <a:t>Modelo data panel y </a:t>
            </a:r>
            <a:r>
              <a:rPr sz="1200" b="0" i="0" dirty="0" err="1">
                <a:solidFill>
                  <a:srgbClr val="3E5553"/>
                </a:solidFill>
                <a:latin typeface="Arial"/>
              </a:rPr>
              <a:t>heurística</a:t>
            </a:r>
            <a:r>
              <a:rPr sz="1200" b="0" i="0" dirty="0">
                <a:solidFill>
                  <a:srgbClr val="3E5553"/>
                </a:solidFill>
                <a:latin typeface="Arial"/>
              </a:rPr>
              <a:t> de </a:t>
            </a:r>
            <a:r>
              <a:rPr sz="1200" b="0" i="0" dirty="0" err="1">
                <a:solidFill>
                  <a:srgbClr val="3E5553"/>
                </a:solidFill>
                <a:latin typeface="Arial"/>
              </a:rPr>
              <a:t>tasas</a:t>
            </a:r>
            <a:r>
              <a:rPr sz="1200" b="0" i="0" dirty="0">
                <a:solidFill>
                  <a:srgbClr val="3E5553"/>
                </a:solidFill>
                <a:latin typeface="Arial"/>
              </a:rPr>
              <a:t> de </a:t>
            </a:r>
            <a:r>
              <a:rPr sz="1200" b="0" i="0" dirty="0" err="1">
                <a:solidFill>
                  <a:srgbClr val="3E5553"/>
                </a:solidFill>
                <a:latin typeface="Arial"/>
              </a:rPr>
              <a:t>competencia</a:t>
            </a:r>
            <a:endParaRPr sz="1200" b="0" i="0" dirty="0">
              <a:solidFill>
                <a:srgbClr val="3E5553"/>
              </a:solidFill>
              <a:latin typeface="Arial"/>
            </a:endParaRPr>
          </a:p>
        </p:txBody>
      </p:sp>
      <p:sp>
        <p:nvSpPr>
          <p:cNvPr id="213" name="TextBox 212">
            <a:extLst>
              <a:ext uri="{FF2B5EF4-FFF2-40B4-BE49-F238E27FC236}">
                <a16:creationId xmlns:a16="http://schemas.microsoft.com/office/drawing/2014/main" id="{2E1E3F3E-C7B5-5EB9-42BC-C2AFA4FB749D}"/>
              </a:ext>
            </a:extLst>
          </p:cNvPr>
          <p:cNvSpPr txBox="1"/>
          <p:nvPr/>
        </p:nvSpPr>
        <p:spPr>
          <a:xfrm>
            <a:off x="10954512" y="5874084"/>
            <a:ext cx="3063240" cy="390492"/>
          </a:xfrm>
          <a:prstGeom prst="rect">
            <a:avLst/>
          </a:prstGeom>
          <a:noFill/>
        </p:spPr>
        <p:txBody>
          <a:bodyPr wrap="square" lIns="0" tIns="0" rIns="0" bIns="0" anchor="ctr">
            <a:spAutoFit/>
          </a:bodyPr>
          <a:lstStyle/>
          <a:p>
            <a:pPr algn="l">
              <a:lnSpc>
                <a:spcPct val="110000"/>
              </a:lnSpc>
              <a:spcAft>
                <a:spcPts val="400"/>
              </a:spcAft>
            </a:pPr>
            <a:r>
              <a:rPr sz="1200" b="0" i="0">
                <a:solidFill>
                  <a:srgbClr val="6E7E7D"/>
                </a:solidFill>
                <a:latin typeface="Arial"/>
              </a:rPr>
              <a:t>Dataset de modelamiento y corrida con datos reales</a:t>
            </a:r>
          </a:p>
        </p:txBody>
      </p:sp>
      <p:sp>
        <p:nvSpPr>
          <p:cNvPr id="214" name="Rectangle 213">
            <a:extLst>
              <a:ext uri="{FF2B5EF4-FFF2-40B4-BE49-F238E27FC236}">
                <a16:creationId xmlns:a16="http://schemas.microsoft.com/office/drawing/2014/main" id="{EA895F70-9436-385A-EE14-FD15754CB1D3}"/>
              </a:ext>
            </a:extLst>
          </p:cNvPr>
          <p:cNvSpPr/>
          <p:nvPr/>
        </p:nvSpPr>
        <p:spPr>
          <a:xfrm>
            <a:off x="14255496" y="5897880"/>
            <a:ext cx="1287292" cy="2651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0C514E"/>
                </a:solidFill>
                <a:latin typeface="Arial"/>
              </a:rPr>
              <a:t>Trimestral</a:t>
            </a:r>
          </a:p>
        </p:txBody>
      </p:sp>
      <p:sp>
        <p:nvSpPr>
          <p:cNvPr id="215" name="Rectangle 214">
            <a:extLst>
              <a:ext uri="{FF2B5EF4-FFF2-40B4-BE49-F238E27FC236}">
                <a16:creationId xmlns:a16="http://schemas.microsoft.com/office/drawing/2014/main" id="{FEFB9009-5684-174E-A825-62C157A10709}"/>
              </a:ext>
            </a:extLst>
          </p:cNvPr>
          <p:cNvSpPr/>
          <p:nvPr/>
        </p:nvSpPr>
        <p:spPr>
          <a:xfrm>
            <a:off x="658368" y="6446520"/>
            <a:ext cx="109728"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6" name="TextBox 215">
            <a:extLst>
              <a:ext uri="{FF2B5EF4-FFF2-40B4-BE49-F238E27FC236}">
                <a16:creationId xmlns:a16="http://schemas.microsoft.com/office/drawing/2014/main" id="{5A0D7E17-D9BA-41D6-571A-6C2719F27849}"/>
              </a:ext>
            </a:extLst>
          </p:cNvPr>
          <p:cNvSpPr txBox="1"/>
          <p:nvPr/>
        </p:nvSpPr>
        <p:spPr>
          <a:xfrm>
            <a:off x="877824" y="6405372"/>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PLV</a:t>
            </a:r>
          </a:p>
        </p:txBody>
      </p:sp>
      <p:sp>
        <p:nvSpPr>
          <p:cNvPr id="217" name="TextBox 216">
            <a:extLst>
              <a:ext uri="{FF2B5EF4-FFF2-40B4-BE49-F238E27FC236}">
                <a16:creationId xmlns:a16="http://schemas.microsoft.com/office/drawing/2014/main" id="{FE56E6D1-925B-96CD-2342-E7AE78A23C9D}"/>
              </a:ext>
            </a:extLst>
          </p:cNvPr>
          <p:cNvSpPr txBox="1"/>
          <p:nvPr/>
        </p:nvSpPr>
        <p:spPr>
          <a:xfrm>
            <a:off x="877824" y="6629400"/>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Data Science</a:t>
            </a:r>
          </a:p>
        </p:txBody>
      </p:sp>
      <p:sp>
        <p:nvSpPr>
          <p:cNvPr id="218" name="Rectangle 217">
            <a:extLst>
              <a:ext uri="{FF2B5EF4-FFF2-40B4-BE49-F238E27FC236}">
                <a16:creationId xmlns:a16="http://schemas.microsoft.com/office/drawing/2014/main" id="{6ABAC424-6BE0-71C7-547D-1EA01471A279}"/>
              </a:ext>
            </a:extLst>
          </p:cNvPr>
          <p:cNvSpPr/>
          <p:nvPr/>
        </p:nvSpPr>
        <p:spPr>
          <a:xfrm>
            <a:off x="3145536" y="6483096"/>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9" name="Rectangle 218">
            <a:extLst>
              <a:ext uri="{FF2B5EF4-FFF2-40B4-BE49-F238E27FC236}">
                <a16:creationId xmlns:a16="http://schemas.microsoft.com/office/drawing/2014/main" id="{E8CB54E2-90F0-C35F-A0F2-35712D53C1CB}"/>
              </a:ext>
            </a:extLst>
          </p:cNvPr>
          <p:cNvSpPr/>
          <p:nvPr/>
        </p:nvSpPr>
        <p:spPr>
          <a:xfrm>
            <a:off x="3145536" y="6483096"/>
            <a:ext cx="2468880" cy="21945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0" name="TextBox 219">
            <a:extLst>
              <a:ext uri="{FF2B5EF4-FFF2-40B4-BE49-F238E27FC236}">
                <a16:creationId xmlns:a16="http://schemas.microsoft.com/office/drawing/2014/main" id="{E240DD21-B948-C202-1F5A-0EE41FDA66C6}"/>
              </a:ext>
            </a:extLst>
          </p:cNvPr>
          <p:cNvSpPr txBox="1"/>
          <p:nvPr/>
        </p:nvSpPr>
        <p:spPr>
          <a:xfrm>
            <a:off x="6547104" y="6460236"/>
            <a:ext cx="640080" cy="246221"/>
          </a:xfrm>
          <a:prstGeom prst="rect">
            <a:avLst/>
          </a:prstGeom>
          <a:noFill/>
        </p:spPr>
        <p:txBody>
          <a:bodyPr wrap="square" lIns="0" tIns="0" rIns="0" bIns="0" anchor="t">
            <a:spAutoFit/>
          </a:bodyPr>
          <a:lstStyle/>
          <a:p>
            <a:pPr algn="l">
              <a:lnSpc>
                <a:spcPct val="100000"/>
              </a:lnSpc>
            </a:pPr>
            <a:r>
              <a:rPr sz="1600" b="1" i="0">
                <a:solidFill>
                  <a:srgbClr val="435A6E"/>
                </a:solidFill>
                <a:latin typeface="Arial"/>
              </a:rPr>
              <a:t>75%</a:t>
            </a:r>
          </a:p>
        </p:txBody>
      </p:sp>
      <p:sp>
        <p:nvSpPr>
          <p:cNvPr id="221" name="TextBox 220">
            <a:extLst>
              <a:ext uri="{FF2B5EF4-FFF2-40B4-BE49-F238E27FC236}">
                <a16:creationId xmlns:a16="http://schemas.microsoft.com/office/drawing/2014/main" id="{AB2D1CFF-E7EC-26D0-667C-5D9025B112AC}"/>
              </a:ext>
            </a:extLst>
          </p:cNvPr>
          <p:cNvSpPr txBox="1"/>
          <p:nvPr/>
        </p:nvSpPr>
        <p:spPr>
          <a:xfrm>
            <a:off x="7205472" y="6538007"/>
            <a:ext cx="3566160" cy="187359"/>
          </a:xfrm>
          <a:prstGeom prst="rect">
            <a:avLst/>
          </a:prstGeom>
          <a:noFill/>
        </p:spPr>
        <p:txBody>
          <a:bodyPr wrap="square" lIns="0" tIns="0" rIns="0" bIns="0" anchor="ctr">
            <a:spAutoFit/>
          </a:bodyPr>
          <a:lstStyle/>
          <a:p>
            <a:pPr algn="l">
              <a:lnSpc>
                <a:spcPct val="110000"/>
              </a:lnSpc>
              <a:spcAft>
                <a:spcPts val="400"/>
              </a:spcAft>
            </a:pPr>
            <a:r>
              <a:rPr sz="1200" b="0" i="0">
                <a:solidFill>
                  <a:srgbClr val="3E5553"/>
                </a:solidFill>
                <a:latin typeface="Arial"/>
              </a:rPr>
              <a:t>V0.5 al 80% y V1.0 al 70%; flujo de caja construido</a:t>
            </a:r>
          </a:p>
        </p:txBody>
      </p:sp>
      <p:sp>
        <p:nvSpPr>
          <p:cNvPr id="222" name="TextBox 221">
            <a:extLst>
              <a:ext uri="{FF2B5EF4-FFF2-40B4-BE49-F238E27FC236}">
                <a16:creationId xmlns:a16="http://schemas.microsoft.com/office/drawing/2014/main" id="{9AF97E04-BB59-2A8C-0712-68E8BE4D3938}"/>
              </a:ext>
            </a:extLst>
          </p:cNvPr>
          <p:cNvSpPr txBox="1"/>
          <p:nvPr/>
        </p:nvSpPr>
        <p:spPr>
          <a:xfrm>
            <a:off x="10954512" y="6436441"/>
            <a:ext cx="3063240" cy="390492"/>
          </a:xfrm>
          <a:prstGeom prst="rect">
            <a:avLst/>
          </a:prstGeom>
          <a:noFill/>
        </p:spPr>
        <p:txBody>
          <a:bodyPr wrap="square" lIns="0" tIns="0" rIns="0" bIns="0" anchor="ctr">
            <a:spAutoFit/>
          </a:bodyPr>
          <a:lstStyle/>
          <a:p>
            <a:pPr algn="l">
              <a:lnSpc>
                <a:spcPct val="110000"/>
              </a:lnSpc>
              <a:spcAft>
                <a:spcPts val="400"/>
              </a:spcAft>
            </a:pPr>
            <a:r>
              <a:rPr sz="1200" b="0" i="0" dirty="0" err="1">
                <a:solidFill>
                  <a:srgbClr val="6E7E7D"/>
                </a:solidFill>
                <a:latin typeface="Arial"/>
              </a:rPr>
              <a:t>Parámetros</a:t>
            </a:r>
            <a:r>
              <a:rPr sz="1200" b="0" i="0" dirty="0">
                <a:solidFill>
                  <a:srgbClr val="6E7E7D"/>
                </a:solidFill>
                <a:latin typeface="Arial"/>
              </a:rPr>
              <a:t> lifetime </a:t>
            </a:r>
            <a:r>
              <a:rPr sz="1200" b="0" i="0" dirty="0" err="1">
                <a:solidFill>
                  <a:srgbClr val="6E7E7D"/>
                </a:solidFill>
                <a:latin typeface="Arial"/>
              </a:rPr>
              <a:t>completos</a:t>
            </a:r>
            <a:r>
              <a:rPr sz="1200" b="0" i="0" dirty="0">
                <a:solidFill>
                  <a:srgbClr val="6E7E7D"/>
                </a:solidFill>
                <a:latin typeface="Arial"/>
              </a:rPr>
              <a:t> y </a:t>
            </a:r>
            <a:r>
              <a:rPr sz="1200" b="0" i="0" dirty="0" err="1">
                <a:solidFill>
                  <a:srgbClr val="6E7E7D"/>
                </a:solidFill>
                <a:latin typeface="Arial"/>
              </a:rPr>
              <a:t>backtest</a:t>
            </a:r>
            <a:r>
              <a:rPr sz="1200" b="0" i="0" dirty="0">
                <a:solidFill>
                  <a:srgbClr val="6E7E7D"/>
                </a:solidFill>
                <a:latin typeface="Arial"/>
              </a:rPr>
              <a:t> con leads </a:t>
            </a:r>
            <a:r>
              <a:rPr sz="1200" b="0" i="0" dirty="0" err="1">
                <a:solidFill>
                  <a:srgbClr val="6E7E7D"/>
                </a:solidFill>
                <a:latin typeface="Arial"/>
              </a:rPr>
              <a:t>históricos</a:t>
            </a:r>
            <a:endParaRPr sz="1200" b="0" i="0" dirty="0">
              <a:solidFill>
                <a:srgbClr val="6E7E7D"/>
              </a:solidFill>
              <a:latin typeface="Arial"/>
            </a:endParaRPr>
          </a:p>
        </p:txBody>
      </p:sp>
      <p:sp>
        <p:nvSpPr>
          <p:cNvPr id="223" name="Rectangle 222">
            <a:extLst>
              <a:ext uri="{FF2B5EF4-FFF2-40B4-BE49-F238E27FC236}">
                <a16:creationId xmlns:a16="http://schemas.microsoft.com/office/drawing/2014/main" id="{0D59D85E-4518-91B1-FE15-B1FF68B6ED9E}"/>
              </a:ext>
            </a:extLst>
          </p:cNvPr>
          <p:cNvSpPr/>
          <p:nvPr/>
        </p:nvSpPr>
        <p:spPr>
          <a:xfrm>
            <a:off x="14255496" y="6460236"/>
            <a:ext cx="1287292" cy="2651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0C514E"/>
                </a:solidFill>
                <a:latin typeface="Arial"/>
              </a:rPr>
              <a:t>Trimestral</a:t>
            </a:r>
          </a:p>
        </p:txBody>
      </p:sp>
      <p:sp>
        <p:nvSpPr>
          <p:cNvPr id="226" name="Rectangle 225">
            <a:extLst>
              <a:ext uri="{FF2B5EF4-FFF2-40B4-BE49-F238E27FC236}">
                <a16:creationId xmlns:a16="http://schemas.microsoft.com/office/drawing/2014/main" id="{E6528462-5F3E-09C3-0DE4-84FBD6304475}"/>
              </a:ext>
            </a:extLst>
          </p:cNvPr>
          <p:cNvSpPr/>
          <p:nvPr/>
        </p:nvSpPr>
        <p:spPr>
          <a:xfrm>
            <a:off x="658368" y="7008876"/>
            <a:ext cx="109728" cy="2743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7" name="TextBox 226">
            <a:extLst>
              <a:ext uri="{FF2B5EF4-FFF2-40B4-BE49-F238E27FC236}">
                <a16:creationId xmlns:a16="http://schemas.microsoft.com/office/drawing/2014/main" id="{6D98D6CC-2A62-FF3E-F95A-A20341EE90B4}"/>
              </a:ext>
            </a:extLst>
          </p:cNvPr>
          <p:cNvSpPr txBox="1"/>
          <p:nvPr/>
        </p:nvSpPr>
        <p:spPr>
          <a:xfrm>
            <a:off x="877824" y="6967728"/>
            <a:ext cx="2157984"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Rentabilidad Cliente 360</a:t>
            </a:r>
          </a:p>
        </p:txBody>
      </p:sp>
      <p:sp>
        <p:nvSpPr>
          <p:cNvPr id="228" name="TextBox 227">
            <a:extLst>
              <a:ext uri="{FF2B5EF4-FFF2-40B4-BE49-F238E27FC236}">
                <a16:creationId xmlns:a16="http://schemas.microsoft.com/office/drawing/2014/main" id="{234F0858-E801-CA88-00F8-EA2D0F79EF0E}"/>
              </a:ext>
            </a:extLst>
          </p:cNvPr>
          <p:cNvSpPr txBox="1"/>
          <p:nvPr/>
        </p:nvSpPr>
        <p:spPr>
          <a:xfrm>
            <a:off x="877824" y="7191756"/>
            <a:ext cx="2157984"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BN · Pricing</a:t>
            </a:r>
          </a:p>
        </p:txBody>
      </p:sp>
      <p:sp>
        <p:nvSpPr>
          <p:cNvPr id="229" name="Rectangle 228">
            <a:extLst>
              <a:ext uri="{FF2B5EF4-FFF2-40B4-BE49-F238E27FC236}">
                <a16:creationId xmlns:a16="http://schemas.microsoft.com/office/drawing/2014/main" id="{111DD990-1241-7506-8E7B-AC8FAE0A0331}"/>
              </a:ext>
            </a:extLst>
          </p:cNvPr>
          <p:cNvSpPr/>
          <p:nvPr/>
        </p:nvSpPr>
        <p:spPr>
          <a:xfrm>
            <a:off x="3145536" y="7045452"/>
            <a:ext cx="3291840" cy="219456"/>
          </a:xfrm>
          <a:prstGeom prst="rect">
            <a:avLst/>
          </a:prstGeom>
          <a:solidFill>
            <a:srgbClr val="ECF0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cxnSp>
        <p:nvCxnSpPr>
          <p:cNvPr id="230" name="Connector 105">
            <a:extLst>
              <a:ext uri="{FF2B5EF4-FFF2-40B4-BE49-F238E27FC236}">
                <a16:creationId xmlns:a16="http://schemas.microsoft.com/office/drawing/2014/main" id="{CD9E184B-053F-B1AA-EDF1-0E6B6C963CD0}"/>
              </a:ext>
            </a:extLst>
          </p:cNvPr>
          <p:cNvCxnSpPr/>
          <p:nvPr/>
        </p:nvCxnSpPr>
        <p:spPr>
          <a:xfrm>
            <a:off x="3145536" y="7045452"/>
            <a:ext cx="3291840" cy="0"/>
          </a:xfrm>
          <a:prstGeom prst="line">
            <a:avLst/>
          </a:prstGeom>
          <a:ln w="12700">
            <a:solidFill>
              <a:srgbClr val="9AA8A7"/>
            </a:solidFill>
            <a:prstDash val="dash"/>
          </a:ln>
        </p:spPr>
        <p:style>
          <a:lnRef idx="2">
            <a:schemeClr val="accent1"/>
          </a:lnRef>
          <a:fillRef idx="0">
            <a:schemeClr val="accent1"/>
          </a:fillRef>
          <a:effectRef idx="1">
            <a:schemeClr val="accent1"/>
          </a:effectRef>
          <a:fontRef idx="minor">
            <a:schemeClr val="tx1"/>
          </a:fontRef>
        </p:style>
      </p:cxnSp>
      <p:cxnSp>
        <p:nvCxnSpPr>
          <p:cNvPr id="231" name="Connector 106">
            <a:extLst>
              <a:ext uri="{FF2B5EF4-FFF2-40B4-BE49-F238E27FC236}">
                <a16:creationId xmlns:a16="http://schemas.microsoft.com/office/drawing/2014/main" id="{13264D49-5A06-5249-73AE-EF9F23516468}"/>
              </a:ext>
            </a:extLst>
          </p:cNvPr>
          <p:cNvCxnSpPr/>
          <p:nvPr/>
        </p:nvCxnSpPr>
        <p:spPr>
          <a:xfrm>
            <a:off x="3145536" y="7264908"/>
            <a:ext cx="3291840" cy="0"/>
          </a:xfrm>
          <a:prstGeom prst="line">
            <a:avLst/>
          </a:prstGeom>
          <a:ln w="12700">
            <a:solidFill>
              <a:srgbClr val="9AA8A7"/>
            </a:solidFill>
            <a:prstDash val="dash"/>
          </a:ln>
        </p:spPr>
        <p:style>
          <a:lnRef idx="2">
            <a:schemeClr val="accent1"/>
          </a:lnRef>
          <a:fillRef idx="0">
            <a:schemeClr val="accent1"/>
          </a:fillRef>
          <a:effectRef idx="1">
            <a:schemeClr val="accent1"/>
          </a:effectRef>
          <a:fontRef idx="minor">
            <a:schemeClr val="tx1"/>
          </a:fontRef>
        </p:style>
      </p:cxnSp>
      <p:cxnSp>
        <p:nvCxnSpPr>
          <p:cNvPr id="232" name="Connector 107">
            <a:extLst>
              <a:ext uri="{FF2B5EF4-FFF2-40B4-BE49-F238E27FC236}">
                <a16:creationId xmlns:a16="http://schemas.microsoft.com/office/drawing/2014/main" id="{80E1EE58-56B7-FD4A-8761-0BD6FABDC170}"/>
              </a:ext>
            </a:extLst>
          </p:cNvPr>
          <p:cNvCxnSpPr/>
          <p:nvPr/>
        </p:nvCxnSpPr>
        <p:spPr>
          <a:xfrm>
            <a:off x="3145536" y="7045452"/>
            <a:ext cx="0" cy="219456"/>
          </a:xfrm>
          <a:prstGeom prst="line">
            <a:avLst/>
          </a:prstGeom>
          <a:ln w="12700">
            <a:solidFill>
              <a:srgbClr val="9AA8A7"/>
            </a:solidFill>
            <a:prstDash val="dash"/>
          </a:ln>
        </p:spPr>
        <p:style>
          <a:lnRef idx="2">
            <a:schemeClr val="accent1"/>
          </a:lnRef>
          <a:fillRef idx="0">
            <a:schemeClr val="accent1"/>
          </a:fillRef>
          <a:effectRef idx="1">
            <a:schemeClr val="accent1"/>
          </a:effectRef>
          <a:fontRef idx="minor">
            <a:schemeClr val="tx1"/>
          </a:fontRef>
        </p:style>
      </p:cxnSp>
      <p:cxnSp>
        <p:nvCxnSpPr>
          <p:cNvPr id="233" name="Connector 108">
            <a:extLst>
              <a:ext uri="{FF2B5EF4-FFF2-40B4-BE49-F238E27FC236}">
                <a16:creationId xmlns:a16="http://schemas.microsoft.com/office/drawing/2014/main" id="{571C5C2E-2E78-F12E-DD4F-F8646D6A1057}"/>
              </a:ext>
            </a:extLst>
          </p:cNvPr>
          <p:cNvCxnSpPr/>
          <p:nvPr/>
        </p:nvCxnSpPr>
        <p:spPr>
          <a:xfrm>
            <a:off x="6437376" y="7045452"/>
            <a:ext cx="0" cy="219456"/>
          </a:xfrm>
          <a:prstGeom prst="line">
            <a:avLst/>
          </a:prstGeom>
          <a:ln w="12700">
            <a:solidFill>
              <a:srgbClr val="9AA8A7"/>
            </a:solidFill>
            <a:prstDash val="dash"/>
          </a:ln>
        </p:spPr>
        <p:style>
          <a:lnRef idx="2">
            <a:schemeClr val="accent1"/>
          </a:lnRef>
          <a:fillRef idx="0">
            <a:schemeClr val="accent1"/>
          </a:fillRef>
          <a:effectRef idx="1">
            <a:schemeClr val="accent1"/>
          </a:effectRef>
          <a:fontRef idx="minor">
            <a:schemeClr val="tx1"/>
          </a:fontRef>
        </p:style>
      </p:cxnSp>
      <p:sp>
        <p:nvSpPr>
          <p:cNvPr id="234" name="Rectangle 233">
            <a:extLst>
              <a:ext uri="{FF2B5EF4-FFF2-40B4-BE49-F238E27FC236}">
                <a16:creationId xmlns:a16="http://schemas.microsoft.com/office/drawing/2014/main" id="{E80D7F51-BE53-62B7-C9B4-D36B2B21BFCD}"/>
              </a:ext>
            </a:extLst>
          </p:cNvPr>
          <p:cNvSpPr/>
          <p:nvPr/>
        </p:nvSpPr>
        <p:spPr>
          <a:xfrm>
            <a:off x="4133088" y="7022592"/>
            <a:ext cx="1316736" cy="265176"/>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FFFFFF"/>
                </a:solidFill>
                <a:latin typeface="Arial"/>
              </a:rPr>
              <a:t>NO INICIADO</a:t>
            </a:r>
          </a:p>
        </p:txBody>
      </p:sp>
      <p:sp>
        <p:nvSpPr>
          <p:cNvPr id="235" name="TextBox 234">
            <a:extLst>
              <a:ext uri="{FF2B5EF4-FFF2-40B4-BE49-F238E27FC236}">
                <a16:creationId xmlns:a16="http://schemas.microsoft.com/office/drawing/2014/main" id="{452F40E5-A390-C84F-F1A7-10775DD8AC6E}"/>
              </a:ext>
            </a:extLst>
          </p:cNvPr>
          <p:cNvSpPr txBox="1"/>
          <p:nvPr/>
        </p:nvSpPr>
        <p:spPr>
          <a:xfrm>
            <a:off x="6547104" y="7022592"/>
            <a:ext cx="640080" cy="276999"/>
          </a:xfrm>
          <a:prstGeom prst="rect">
            <a:avLst/>
          </a:prstGeom>
          <a:noFill/>
        </p:spPr>
        <p:txBody>
          <a:bodyPr wrap="square" lIns="0" tIns="0" rIns="0" bIns="0" anchor="t">
            <a:spAutoFit/>
          </a:bodyPr>
          <a:lstStyle/>
          <a:p>
            <a:pPr algn="l">
              <a:lnSpc>
                <a:spcPct val="100000"/>
              </a:lnSpc>
            </a:pPr>
            <a:r>
              <a:rPr sz="1800" b="1" i="0">
                <a:solidFill>
                  <a:srgbClr val="9AA8A7"/>
                </a:solidFill>
                <a:latin typeface="Arial"/>
              </a:rPr>
              <a:t>—</a:t>
            </a:r>
          </a:p>
        </p:txBody>
      </p:sp>
      <p:sp>
        <p:nvSpPr>
          <p:cNvPr id="236" name="TextBox 235">
            <a:extLst>
              <a:ext uri="{FF2B5EF4-FFF2-40B4-BE49-F238E27FC236}">
                <a16:creationId xmlns:a16="http://schemas.microsoft.com/office/drawing/2014/main" id="{3083B8C9-B9DF-2CCF-6FC9-AC88D283FD87}"/>
              </a:ext>
            </a:extLst>
          </p:cNvPr>
          <p:cNvSpPr txBox="1"/>
          <p:nvPr/>
        </p:nvSpPr>
        <p:spPr>
          <a:xfrm>
            <a:off x="7205472" y="6998796"/>
            <a:ext cx="3566160" cy="390492"/>
          </a:xfrm>
          <a:prstGeom prst="rect">
            <a:avLst/>
          </a:prstGeom>
          <a:noFill/>
        </p:spPr>
        <p:txBody>
          <a:bodyPr wrap="square" lIns="0" tIns="0" rIns="0" bIns="0" anchor="ctr">
            <a:spAutoFit/>
          </a:bodyPr>
          <a:lstStyle/>
          <a:p>
            <a:pPr algn="l">
              <a:lnSpc>
                <a:spcPct val="110000"/>
              </a:lnSpc>
              <a:spcAft>
                <a:spcPts val="400"/>
              </a:spcAft>
            </a:pPr>
            <a:r>
              <a:rPr sz="1200" b="0" i="0">
                <a:solidFill>
                  <a:srgbClr val="3E5553"/>
                </a:solidFill>
                <a:latin typeface="Arial"/>
              </a:rPr>
              <a:t>Requiere que el resto de modelos esté en producción</a:t>
            </a:r>
          </a:p>
        </p:txBody>
      </p:sp>
      <p:sp>
        <p:nvSpPr>
          <p:cNvPr id="237" name="TextBox 236">
            <a:extLst>
              <a:ext uri="{FF2B5EF4-FFF2-40B4-BE49-F238E27FC236}">
                <a16:creationId xmlns:a16="http://schemas.microsoft.com/office/drawing/2014/main" id="{6F2E34A0-43CC-86CF-B98C-C7E6221854EF}"/>
              </a:ext>
            </a:extLst>
          </p:cNvPr>
          <p:cNvSpPr txBox="1"/>
          <p:nvPr/>
        </p:nvSpPr>
        <p:spPr>
          <a:xfrm>
            <a:off x="10954512" y="6998796"/>
            <a:ext cx="3063240" cy="390492"/>
          </a:xfrm>
          <a:prstGeom prst="rect">
            <a:avLst/>
          </a:prstGeom>
          <a:noFill/>
        </p:spPr>
        <p:txBody>
          <a:bodyPr wrap="square" lIns="0" tIns="0" rIns="0" bIns="0" anchor="ctr">
            <a:spAutoFit/>
          </a:bodyPr>
          <a:lstStyle/>
          <a:p>
            <a:pPr algn="l">
              <a:lnSpc>
                <a:spcPct val="110000"/>
              </a:lnSpc>
              <a:spcAft>
                <a:spcPts val="400"/>
              </a:spcAft>
            </a:pPr>
            <a:r>
              <a:rPr sz="1200" b="0" i="0" dirty="0" err="1">
                <a:solidFill>
                  <a:srgbClr val="6E7E7D"/>
                </a:solidFill>
                <a:latin typeface="Arial"/>
              </a:rPr>
              <a:t>Arranca</a:t>
            </a:r>
            <a:r>
              <a:rPr sz="1200" b="0" i="0" dirty="0">
                <a:solidFill>
                  <a:srgbClr val="6E7E7D"/>
                </a:solidFill>
                <a:latin typeface="Arial"/>
              </a:rPr>
              <a:t> al </a:t>
            </a:r>
            <a:r>
              <a:rPr sz="1200" b="0" i="0" dirty="0" err="1">
                <a:solidFill>
                  <a:srgbClr val="6E7E7D"/>
                </a:solidFill>
                <a:latin typeface="Arial"/>
              </a:rPr>
              <a:t>cierre</a:t>
            </a:r>
            <a:r>
              <a:rPr sz="1200" b="0" i="0" dirty="0">
                <a:solidFill>
                  <a:srgbClr val="6E7E7D"/>
                </a:solidFill>
                <a:latin typeface="Arial"/>
              </a:rPr>
              <a:t> de las </a:t>
            </a:r>
            <a:r>
              <a:rPr sz="1200" b="0" i="0" dirty="0" err="1">
                <a:solidFill>
                  <a:srgbClr val="6E7E7D"/>
                </a:solidFill>
                <a:latin typeface="Arial"/>
              </a:rPr>
              <a:t>componentes</a:t>
            </a:r>
            <a:r>
              <a:rPr sz="1200" b="0" i="0" dirty="0">
                <a:solidFill>
                  <a:srgbClr val="6E7E7D"/>
                </a:solidFill>
                <a:latin typeface="Arial"/>
              </a:rPr>
              <a:t> </a:t>
            </a:r>
            <a:r>
              <a:rPr sz="1200" b="0" i="0" dirty="0" err="1">
                <a:solidFill>
                  <a:srgbClr val="6E7E7D"/>
                </a:solidFill>
                <a:latin typeface="Arial"/>
              </a:rPr>
              <a:t>anteriores</a:t>
            </a:r>
            <a:endParaRPr sz="1200" b="0" i="0" dirty="0">
              <a:solidFill>
                <a:srgbClr val="6E7E7D"/>
              </a:solidFill>
              <a:latin typeface="Arial"/>
            </a:endParaRPr>
          </a:p>
        </p:txBody>
      </p:sp>
      <p:sp>
        <p:nvSpPr>
          <p:cNvPr id="238" name="TextBox 237">
            <a:extLst>
              <a:ext uri="{FF2B5EF4-FFF2-40B4-BE49-F238E27FC236}">
                <a16:creationId xmlns:a16="http://schemas.microsoft.com/office/drawing/2014/main" id="{8D98CFD0-B698-FB3C-630C-C11082A5BC52}"/>
              </a:ext>
            </a:extLst>
          </p:cNvPr>
          <p:cNvSpPr txBox="1"/>
          <p:nvPr/>
        </p:nvSpPr>
        <p:spPr>
          <a:xfrm>
            <a:off x="14200632" y="7022592"/>
            <a:ext cx="1397020" cy="215444"/>
          </a:xfrm>
          <a:prstGeom prst="rect">
            <a:avLst/>
          </a:prstGeom>
          <a:noFill/>
        </p:spPr>
        <p:txBody>
          <a:bodyPr wrap="square" lIns="0" tIns="0" rIns="0" bIns="0" anchor="t">
            <a:spAutoFit/>
          </a:bodyPr>
          <a:lstStyle/>
          <a:p>
            <a:pPr algn="ctr">
              <a:lnSpc>
                <a:spcPct val="100000"/>
              </a:lnSpc>
            </a:pPr>
            <a:r>
              <a:rPr b="0" i="0">
                <a:solidFill>
                  <a:srgbClr val="9AA8A7"/>
                </a:solidFill>
                <a:latin typeface="Arial"/>
              </a:rPr>
              <a:t>—</a:t>
            </a:r>
          </a:p>
        </p:txBody>
      </p:sp>
      <p:sp>
        <p:nvSpPr>
          <p:cNvPr id="239" name="Rectangle 238">
            <a:extLst>
              <a:ext uri="{FF2B5EF4-FFF2-40B4-BE49-F238E27FC236}">
                <a16:creationId xmlns:a16="http://schemas.microsoft.com/office/drawing/2014/main" id="{1E9B79BE-0D42-2E55-FDFD-93C48844CEB4}"/>
              </a:ext>
            </a:extLst>
          </p:cNvPr>
          <p:cNvSpPr/>
          <p:nvPr/>
        </p:nvSpPr>
        <p:spPr>
          <a:xfrm>
            <a:off x="658368" y="7616952"/>
            <a:ext cx="14939284" cy="512064"/>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cxnSp>
        <p:nvCxnSpPr>
          <p:cNvPr id="240" name="Connector 115">
            <a:extLst>
              <a:ext uri="{FF2B5EF4-FFF2-40B4-BE49-F238E27FC236}">
                <a16:creationId xmlns:a16="http://schemas.microsoft.com/office/drawing/2014/main" id="{CFFF0427-8CFC-2E97-B695-6182BE7114D2}"/>
              </a:ext>
            </a:extLst>
          </p:cNvPr>
          <p:cNvCxnSpPr/>
          <p:nvPr/>
        </p:nvCxnSpPr>
        <p:spPr>
          <a:xfrm>
            <a:off x="658368" y="7616952"/>
            <a:ext cx="0" cy="512064"/>
          </a:xfrm>
          <a:prstGeom prst="line">
            <a:avLst/>
          </a:prstGeom>
          <a:ln w="31750">
            <a:solidFill>
              <a:srgbClr val="C87A0B"/>
            </a:solidFill>
          </a:ln>
        </p:spPr>
        <p:style>
          <a:lnRef idx="2">
            <a:schemeClr val="accent1"/>
          </a:lnRef>
          <a:fillRef idx="0">
            <a:schemeClr val="accent1"/>
          </a:fillRef>
          <a:effectRef idx="1">
            <a:schemeClr val="accent1"/>
          </a:effectRef>
          <a:fontRef idx="minor">
            <a:schemeClr val="tx1"/>
          </a:fontRef>
        </p:style>
      </p:cxnSp>
      <p:sp>
        <p:nvSpPr>
          <p:cNvPr id="241" name="TextBox 240">
            <a:extLst>
              <a:ext uri="{FF2B5EF4-FFF2-40B4-BE49-F238E27FC236}">
                <a16:creationId xmlns:a16="http://schemas.microsoft.com/office/drawing/2014/main" id="{70CFCBA8-DE31-FFF8-6431-AA8D28C3B110}"/>
              </a:ext>
            </a:extLst>
          </p:cNvPr>
          <p:cNvSpPr txBox="1"/>
          <p:nvPr/>
        </p:nvSpPr>
        <p:spPr>
          <a:xfrm>
            <a:off x="822959" y="7661645"/>
            <a:ext cx="14610100" cy="422680"/>
          </a:xfrm>
          <a:prstGeom prst="rect">
            <a:avLst/>
          </a:prstGeom>
          <a:noFill/>
        </p:spPr>
        <p:txBody>
          <a:bodyPr wrap="square" lIns="0" tIns="0" rIns="0" bIns="0" anchor="ctr">
            <a:spAutoFit/>
          </a:bodyPr>
          <a:lstStyle/>
          <a:p>
            <a:pPr algn="l">
              <a:lnSpc>
                <a:spcPct val="112000"/>
              </a:lnSpc>
              <a:spcAft>
                <a:spcPts val="200"/>
              </a:spcAft>
            </a:pPr>
            <a:r>
              <a:rPr sz="1200" b="1" i="0">
                <a:solidFill>
                  <a:srgbClr val="C87A0B"/>
                </a:solidFill>
                <a:latin typeface="Arial"/>
              </a:rPr>
              <a:t>Precisión del dato</a:t>
            </a:r>
          </a:p>
          <a:p>
            <a:pPr algn="l">
              <a:lnSpc>
                <a:spcPct val="112000"/>
              </a:lnSpc>
              <a:spcAft>
                <a:spcPts val="200"/>
              </a:spcAft>
            </a:pPr>
            <a:r>
              <a:rPr sz="1200" b="0" i="0">
                <a:solidFill>
                  <a:srgbClr val="3E5553"/>
                </a:solidFill>
                <a:latin typeface="Arial"/>
              </a:rPr>
              <a:t>El 70% comunicado anteriormente era un consolidado general del programa; este avance corresponde a la tropicalización y se presenta desagregado por modelo, junto con la frecuencia de monitoreo de cada uno.</a:t>
            </a:r>
          </a:p>
        </p:txBody>
      </p:sp>
      <p:sp>
        <p:nvSpPr>
          <p:cNvPr id="242" name="Rectangle 241">
            <a:extLst>
              <a:ext uri="{FF2B5EF4-FFF2-40B4-BE49-F238E27FC236}">
                <a16:creationId xmlns:a16="http://schemas.microsoft.com/office/drawing/2014/main" id="{551B3023-56F9-DCFC-67CB-61F13D145D82}"/>
              </a:ext>
            </a:extLst>
          </p:cNvPr>
          <p:cNvSpPr/>
          <p:nvPr/>
        </p:nvSpPr>
        <p:spPr>
          <a:xfrm>
            <a:off x="658368" y="8284464"/>
            <a:ext cx="14939284" cy="438912"/>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cxnSp>
        <p:nvCxnSpPr>
          <p:cNvPr id="243" name="Connector 118">
            <a:extLst>
              <a:ext uri="{FF2B5EF4-FFF2-40B4-BE49-F238E27FC236}">
                <a16:creationId xmlns:a16="http://schemas.microsoft.com/office/drawing/2014/main" id="{3487AFFC-1CF5-8344-D9CF-D0C975F0F8D1}"/>
              </a:ext>
            </a:extLst>
          </p:cNvPr>
          <p:cNvCxnSpPr/>
          <p:nvPr/>
        </p:nvCxnSpPr>
        <p:spPr>
          <a:xfrm>
            <a:off x="658368" y="8284464"/>
            <a:ext cx="0" cy="438912"/>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244" name="TextBox 243">
            <a:extLst>
              <a:ext uri="{FF2B5EF4-FFF2-40B4-BE49-F238E27FC236}">
                <a16:creationId xmlns:a16="http://schemas.microsoft.com/office/drawing/2014/main" id="{07FFF67A-EC1C-D0A9-8322-82598A50D9D4}"/>
              </a:ext>
            </a:extLst>
          </p:cNvPr>
          <p:cNvSpPr txBox="1"/>
          <p:nvPr/>
        </p:nvSpPr>
        <p:spPr>
          <a:xfrm>
            <a:off x="896112" y="8374397"/>
            <a:ext cx="14482084" cy="259045"/>
          </a:xfrm>
          <a:prstGeom prst="rect">
            <a:avLst/>
          </a:prstGeom>
          <a:noFill/>
        </p:spPr>
        <p:txBody>
          <a:bodyPr wrap="square" lIns="0" tIns="0" rIns="0" bIns="0" anchor="ctr">
            <a:spAutoFit/>
          </a:bodyPr>
          <a:lstStyle/>
          <a:p>
            <a:pPr algn="l">
              <a:lnSpc>
                <a:spcPct val="115000"/>
              </a:lnSpc>
              <a:spcAft>
                <a:spcPts val="400"/>
              </a:spcAft>
            </a:pPr>
            <a:r>
              <a:rPr sz="1600" b="1" i="0">
                <a:solidFill>
                  <a:srgbClr val="0C514E"/>
                </a:solidFill>
                <a:latin typeface="Arial"/>
              </a:rPr>
              <a:t>Rentabilidad Cliente 360 es la pieza que integra todo: no inicia hasta que los nueve modelos anteriores estén en producción.</a:t>
            </a:r>
          </a:p>
        </p:txBody>
      </p:sp>
    </p:spTree>
    <p:extLst>
      <p:ext uri="{BB962C8B-B14F-4D97-AF65-F5344CB8AC3E}">
        <p14:creationId xmlns:p14="http://schemas.microsoft.com/office/powerpoint/2010/main" val="1488626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90CE1D-B821-7C4D-527D-D29B3174482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0A4B8E7-5261-A55E-3505-5731482AF4DA}"/>
              </a:ext>
            </a:extLst>
          </p:cNvPr>
          <p:cNvSpPr/>
          <p:nvPr/>
        </p:nvSpPr>
        <p:spPr>
          <a:xfrm>
            <a:off x="0" y="1101969"/>
            <a:ext cx="16256000" cy="8168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648B5B85-E6F5-1289-51EF-A046D1C1F057}"/>
              </a:ext>
            </a:extLst>
          </p:cNvPr>
          <p:cNvSpPr>
            <a:spLocks noGrp="1"/>
          </p:cNvSpPr>
          <p:nvPr>
            <p:ph type="title"/>
          </p:nvPr>
        </p:nvSpPr>
        <p:spPr>
          <a:xfrm>
            <a:off x="457200" y="304800"/>
            <a:ext cx="13540154" cy="1143000"/>
          </a:xfrm>
        </p:spPr>
        <p:txBody>
          <a:bodyPr>
            <a:normAutofit/>
          </a:bodyPr>
          <a:lstStyle/>
          <a:p>
            <a:r>
              <a:rPr lang="es-ES_tradnl" sz="3200" noProof="0" dirty="0"/>
              <a:t>Cada modelo queda con un plan de monitoreo que IBK ejecuta con sus propios equipos</a:t>
            </a:r>
          </a:p>
        </p:txBody>
      </p:sp>
      <p:sp>
        <p:nvSpPr>
          <p:cNvPr id="9" name="TextBox 8">
            <a:extLst>
              <a:ext uri="{FF2B5EF4-FFF2-40B4-BE49-F238E27FC236}">
                <a16:creationId xmlns:a16="http://schemas.microsoft.com/office/drawing/2014/main" id="{8798F587-1937-D0B0-1D38-03B5869BDFA3}"/>
              </a:ext>
            </a:extLst>
          </p:cNvPr>
          <p:cNvSpPr txBox="1"/>
          <p:nvPr/>
        </p:nvSpPr>
        <p:spPr>
          <a:xfrm>
            <a:off x="658368" y="1604976"/>
            <a:ext cx="14939284" cy="276999"/>
          </a:xfrm>
          <a:prstGeom prst="rect">
            <a:avLst/>
          </a:prstGeom>
          <a:noFill/>
        </p:spPr>
        <p:txBody>
          <a:bodyPr wrap="square" lIns="0" tIns="0" rIns="0" bIns="0" anchor="t">
            <a:spAutoFit/>
          </a:bodyPr>
          <a:lstStyle/>
          <a:p>
            <a:pPr algn="l">
              <a:lnSpc>
                <a:spcPct val="100000"/>
              </a:lnSpc>
            </a:pPr>
            <a:r>
              <a:rPr sz="1800" b="1" i="0" dirty="0" err="1">
                <a:solidFill>
                  <a:srgbClr val="0B2E2C"/>
                </a:solidFill>
                <a:latin typeface="Arial"/>
              </a:rPr>
              <a:t>Qué</a:t>
            </a:r>
            <a:r>
              <a:rPr sz="1800" b="1" i="0" dirty="0">
                <a:solidFill>
                  <a:srgbClr val="0B2E2C"/>
                </a:solidFill>
                <a:latin typeface="Arial"/>
              </a:rPr>
              <a:t> se </a:t>
            </a:r>
            <a:r>
              <a:rPr sz="1800" b="1" i="0" dirty="0" err="1">
                <a:solidFill>
                  <a:srgbClr val="0B2E2C"/>
                </a:solidFill>
                <a:latin typeface="Arial"/>
              </a:rPr>
              <a:t>monitorea</a:t>
            </a:r>
            <a:endParaRPr sz="1800" b="1" i="0" dirty="0">
              <a:solidFill>
                <a:srgbClr val="0B2E2C"/>
              </a:solidFill>
              <a:latin typeface="Arial"/>
            </a:endParaRPr>
          </a:p>
        </p:txBody>
      </p:sp>
      <p:cxnSp>
        <p:nvCxnSpPr>
          <p:cNvPr id="10" name="Connector 7">
            <a:extLst>
              <a:ext uri="{FF2B5EF4-FFF2-40B4-BE49-F238E27FC236}">
                <a16:creationId xmlns:a16="http://schemas.microsoft.com/office/drawing/2014/main" id="{D80A2656-828F-E7C9-AB3E-3C7C4AAFFFF2}"/>
              </a:ext>
            </a:extLst>
          </p:cNvPr>
          <p:cNvCxnSpPr>
            <a:cxnSpLocks/>
          </p:cNvCxnSpPr>
          <p:nvPr/>
        </p:nvCxnSpPr>
        <p:spPr>
          <a:xfrm>
            <a:off x="658368" y="1938528"/>
            <a:ext cx="7666216"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3366D52E-6CCB-05E9-1A6C-B1F0E8CFA495}"/>
              </a:ext>
            </a:extLst>
          </p:cNvPr>
          <p:cNvSpPr/>
          <p:nvPr/>
        </p:nvSpPr>
        <p:spPr>
          <a:xfrm>
            <a:off x="687523" y="2066544"/>
            <a:ext cx="3597661" cy="12984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16" name="Rectangle 15">
            <a:extLst>
              <a:ext uri="{FF2B5EF4-FFF2-40B4-BE49-F238E27FC236}">
                <a16:creationId xmlns:a16="http://schemas.microsoft.com/office/drawing/2014/main" id="{4A3DA9AC-5CE4-731B-0CFA-327318F244A3}"/>
              </a:ext>
            </a:extLst>
          </p:cNvPr>
          <p:cNvSpPr/>
          <p:nvPr/>
        </p:nvSpPr>
        <p:spPr>
          <a:xfrm>
            <a:off x="687523" y="2066544"/>
            <a:ext cx="41148" cy="129844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17" name="TextBox 16">
            <a:extLst>
              <a:ext uri="{FF2B5EF4-FFF2-40B4-BE49-F238E27FC236}">
                <a16:creationId xmlns:a16="http://schemas.microsoft.com/office/drawing/2014/main" id="{B4282ABF-B19E-ABC9-A44C-C3BC599B9AB2}"/>
              </a:ext>
            </a:extLst>
          </p:cNvPr>
          <p:cNvSpPr txBox="1"/>
          <p:nvPr/>
        </p:nvSpPr>
        <p:spPr>
          <a:xfrm>
            <a:off x="906979" y="2212848"/>
            <a:ext cx="3195325" cy="184666"/>
          </a:xfrm>
          <a:prstGeom prst="rect">
            <a:avLst/>
          </a:prstGeom>
          <a:noFill/>
        </p:spPr>
        <p:txBody>
          <a:bodyPr wrap="square" lIns="0" tIns="0" rIns="0" bIns="0" anchor="t">
            <a:spAutoFit/>
          </a:bodyPr>
          <a:lstStyle/>
          <a:p>
            <a:pPr algn="l">
              <a:lnSpc>
                <a:spcPct val="100000"/>
              </a:lnSpc>
            </a:pPr>
            <a:r>
              <a:rPr sz="1200" b="1" i="0">
                <a:solidFill>
                  <a:srgbClr val="445A6E"/>
                </a:solidFill>
                <a:latin typeface="Arial"/>
              </a:rPr>
              <a:t>Performance</a:t>
            </a:r>
          </a:p>
        </p:txBody>
      </p:sp>
      <p:sp>
        <p:nvSpPr>
          <p:cNvPr id="18" name="TextBox 17">
            <a:extLst>
              <a:ext uri="{FF2B5EF4-FFF2-40B4-BE49-F238E27FC236}">
                <a16:creationId xmlns:a16="http://schemas.microsoft.com/office/drawing/2014/main" id="{43D457D3-A48A-6F2C-5A26-226508842C5F}"/>
              </a:ext>
            </a:extLst>
          </p:cNvPr>
          <p:cNvSpPr txBox="1"/>
          <p:nvPr/>
        </p:nvSpPr>
        <p:spPr>
          <a:xfrm>
            <a:off x="906979" y="2487168"/>
            <a:ext cx="3195325" cy="375616"/>
          </a:xfrm>
          <a:prstGeom prst="rect">
            <a:avLst/>
          </a:prstGeom>
          <a:noFill/>
        </p:spPr>
        <p:txBody>
          <a:bodyPr wrap="square" lIns="0" tIns="0" rIns="0" bIns="0" anchor="t">
            <a:spAutoFit/>
          </a:bodyPr>
          <a:lstStyle/>
          <a:p>
            <a:pPr algn="l">
              <a:lnSpc>
                <a:spcPct val="122000"/>
              </a:lnSpc>
            </a:pPr>
            <a:r>
              <a:rPr sz="1050" b="0" i="0">
                <a:solidFill>
                  <a:srgbClr val="6E7E7D"/>
                </a:solidFill>
                <a:latin typeface="Arial"/>
              </a:rPr>
              <a:t>Discriminación y precisión del modelo contra lo efectivamente observado (backtesting).</a:t>
            </a:r>
          </a:p>
        </p:txBody>
      </p:sp>
      <p:sp>
        <p:nvSpPr>
          <p:cNvPr id="19" name="Rectangle 18">
            <a:extLst>
              <a:ext uri="{FF2B5EF4-FFF2-40B4-BE49-F238E27FC236}">
                <a16:creationId xmlns:a16="http://schemas.microsoft.com/office/drawing/2014/main" id="{C08A7E42-6E2D-4CD6-52B5-5F3FD06946FC}"/>
              </a:ext>
            </a:extLst>
          </p:cNvPr>
          <p:cNvSpPr/>
          <p:nvPr/>
        </p:nvSpPr>
        <p:spPr>
          <a:xfrm>
            <a:off x="4468064" y="2066544"/>
            <a:ext cx="3597661" cy="12984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20" name="Rectangle 19">
            <a:extLst>
              <a:ext uri="{FF2B5EF4-FFF2-40B4-BE49-F238E27FC236}">
                <a16:creationId xmlns:a16="http://schemas.microsoft.com/office/drawing/2014/main" id="{B9D54F98-8C20-FC42-BAD7-8B3AF34595E5}"/>
              </a:ext>
            </a:extLst>
          </p:cNvPr>
          <p:cNvSpPr/>
          <p:nvPr/>
        </p:nvSpPr>
        <p:spPr>
          <a:xfrm>
            <a:off x="4468064" y="2066544"/>
            <a:ext cx="41148" cy="1298448"/>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21" name="TextBox 20">
            <a:extLst>
              <a:ext uri="{FF2B5EF4-FFF2-40B4-BE49-F238E27FC236}">
                <a16:creationId xmlns:a16="http://schemas.microsoft.com/office/drawing/2014/main" id="{77BC3451-A6B3-8AD8-F276-2C243987882A}"/>
              </a:ext>
            </a:extLst>
          </p:cNvPr>
          <p:cNvSpPr txBox="1"/>
          <p:nvPr/>
        </p:nvSpPr>
        <p:spPr>
          <a:xfrm>
            <a:off x="4687520" y="2212848"/>
            <a:ext cx="3195325" cy="184666"/>
          </a:xfrm>
          <a:prstGeom prst="rect">
            <a:avLst/>
          </a:prstGeom>
          <a:noFill/>
        </p:spPr>
        <p:txBody>
          <a:bodyPr wrap="square" lIns="0" tIns="0" rIns="0" bIns="0" anchor="t">
            <a:spAutoFit/>
          </a:bodyPr>
          <a:lstStyle/>
          <a:p>
            <a:pPr algn="l">
              <a:lnSpc>
                <a:spcPct val="100000"/>
              </a:lnSpc>
            </a:pPr>
            <a:r>
              <a:rPr sz="1200" b="1" i="0">
                <a:solidFill>
                  <a:srgbClr val="C87A0B"/>
                </a:solidFill>
                <a:latin typeface="Arial"/>
              </a:rPr>
              <a:t>Calibración</a:t>
            </a:r>
          </a:p>
        </p:txBody>
      </p:sp>
      <p:sp>
        <p:nvSpPr>
          <p:cNvPr id="22" name="TextBox 21">
            <a:extLst>
              <a:ext uri="{FF2B5EF4-FFF2-40B4-BE49-F238E27FC236}">
                <a16:creationId xmlns:a16="http://schemas.microsoft.com/office/drawing/2014/main" id="{F8EDF447-396E-4EDB-CF8E-CAAD0F66CE64}"/>
              </a:ext>
            </a:extLst>
          </p:cNvPr>
          <p:cNvSpPr txBox="1"/>
          <p:nvPr/>
        </p:nvSpPr>
        <p:spPr>
          <a:xfrm>
            <a:off x="4687520" y="2487168"/>
            <a:ext cx="3195325" cy="375616"/>
          </a:xfrm>
          <a:prstGeom prst="rect">
            <a:avLst/>
          </a:prstGeom>
          <a:noFill/>
        </p:spPr>
        <p:txBody>
          <a:bodyPr wrap="square" lIns="0" tIns="0" rIns="0" bIns="0" anchor="t">
            <a:spAutoFit/>
          </a:bodyPr>
          <a:lstStyle/>
          <a:p>
            <a:pPr algn="l">
              <a:lnSpc>
                <a:spcPct val="122000"/>
              </a:lnSpc>
            </a:pPr>
            <a:r>
              <a:rPr sz="1050" b="0" i="0">
                <a:solidFill>
                  <a:srgbClr val="6E7E7D"/>
                </a:solidFill>
                <a:latin typeface="Arial"/>
              </a:rPr>
              <a:t>¿Las curvas lifetime siguen prediciendo los niveles correctos de PD, LGD, prepago y precancelación?</a:t>
            </a:r>
          </a:p>
        </p:txBody>
      </p:sp>
      <p:sp>
        <p:nvSpPr>
          <p:cNvPr id="27" name="TextBox 26">
            <a:extLst>
              <a:ext uri="{FF2B5EF4-FFF2-40B4-BE49-F238E27FC236}">
                <a16:creationId xmlns:a16="http://schemas.microsoft.com/office/drawing/2014/main" id="{E3838D91-43F6-5CC3-4FCB-80C640D003DA}"/>
              </a:ext>
            </a:extLst>
          </p:cNvPr>
          <p:cNvSpPr txBox="1"/>
          <p:nvPr/>
        </p:nvSpPr>
        <p:spPr>
          <a:xfrm>
            <a:off x="658368" y="3616656"/>
            <a:ext cx="8229600" cy="276999"/>
          </a:xfrm>
          <a:prstGeom prst="rect">
            <a:avLst/>
          </a:prstGeom>
          <a:noFill/>
        </p:spPr>
        <p:txBody>
          <a:bodyPr wrap="square" lIns="0" tIns="0" rIns="0" bIns="0" anchor="t">
            <a:spAutoFit/>
          </a:bodyPr>
          <a:lstStyle/>
          <a:p>
            <a:pPr algn="l">
              <a:lnSpc>
                <a:spcPct val="100000"/>
              </a:lnSpc>
            </a:pPr>
            <a:r>
              <a:rPr sz="1800" b="1" i="0">
                <a:solidFill>
                  <a:srgbClr val="0B2E2C"/>
                </a:solidFill>
                <a:latin typeface="Arial"/>
              </a:rPr>
              <a:t>Regla de acción según el resultado</a:t>
            </a:r>
          </a:p>
        </p:txBody>
      </p:sp>
      <p:cxnSp>
        <p:nvCxnSpPr>
          <p:cNvPr id="28" name="Connector 25">
            <a:extLst>
              <a:ext uri="{FF2B5EF4-FFF2-40B4-BE49-F238E27FC236}">
                <a16:creationId xmlns:a16="http://schemas.microsoft.com/office/drawing/2014/main" id="{FBC45DF9-33CA-1487-EAB6-2EE37D22159A}"/>
              </a:ext>
            </a:extLst>
          </p:cNvPr>
          <p:cNvCxnSpPr>
            <a:cxnSpLocks/>
          </p:cNvCxnSpPr>
          <p:nvPr/>
        </p:nvCxnSpPr>
        <p:spPr>
          <a:xfrm>
            <a:off x="658368" y="3950208"/>
            <a:ext cx="14932380"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43D552E5-0F9D-3F6C-16BF-A33356385598}"/>
              </a:ext>
            </a:extLst>
          </p:cNvPr>
          <p:cNvSpPr/>
          <p:nvPr/>
        </p:nvSpPr>
        <p:spPr>
          <a:xfrm>
            <a:off x="658368" y="4078224"/>
            <a:ext cx="4833457" cy="137160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30" name="Rectangle 29">
            <a:extLst>
              <a:ext uri="{FF2B5EF4-FFF2-40B4-BE49-F238E27FC236}">
                <a16:creationId xmlns:a16="http://schemas.microsoft.com/office/drawing/2014/main" id="{FB167750-5235-C1AD-9574-E694D248C68C}"/>
              </a:ext>
            </a:extLst>
          </p:cNvPr>
          <p:cNvSpPr/>
          <p:nvPr/>
        </p:nvSpPr>
        <p:spPr>
          <a:xfrm>
            <a:off x="658368" y="4078224"/>
            <a:ext cx="4833457" cy="457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31" name="Oval 30">
            <a:extLst>
              <a:ext uri="{FF2B5EF4-FFF2-40B4-BE49-F238E27FC236}">
                <a16:creationId xmlns:a16="http://schemas.microsoft.com/office/drawing/2014/main" id="{378E975D-D959-1DDA-476A-EB72D5B5D202}"/>
              </a:ext>
            </a:extLst>
          </p:cNvPr>
          <p:cNvSpPr/>
          <p:nvPr/>
        </p:nvSpPr>
        <p:spPr>
          <a:xfrm>
            <a:off x="877824" y="4242816"/>
            <a:ext cx="146304" cy="146304"/>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32" name="TextBox 31">
            <a:extLst>
              <a:ext uri="{FF2B5EF4-FFF2-40B4-BE49-F238E27FC236}">
                <a16:creationId xmlns:a16="http://schemas.microsoft.com/office/drawing/2014/main" id="{15449B29-7B82-B1F8-8381-D5FC2BBF7312}"/>
              </a:ext>
            </a:extLst>
          </p:cNvPr>
          <p:cNvSpPr txBox="1"/>
          <p:nvPr/>
        </p:nvSpPr>
        <p:spPr>
          <a:xfrm>
            <a:off x="1133856" y="4230624"/>
            <a:ext cx="4175089" cy="184666"/>
          </a:xfrm>
          <a:prstGeom prst="rect">
            <a:avLst/>
          </a:prstGeom>
          <a:noFill/>
        </p:spPr>
        <p:txBody>
          <a:bodyPr wrap="square" lIns="0" tIns="0" rIns="0" bIns="0" anchor="t">
            <a:spAutoFit/>
          </a:bodyPr>
          <a:lstStyle/>
          <a:p>
            <a:pPr algn="l">
              <a:lnSpc>
                <a:spcPct val="100000"/>
              </a:lnSpc>
            </a:pPr>
            <a:r>
              <a:rPr sz="1200" b="1" i="0" dirty="0">
                <a:solidFill>
                  <a:srgbClr val="0B2E2C"/>
                </a:solidFill>
                <a:latin typeface="Arial"/>
              </a:rPr>
              <a:t>Verde · </a:t>
            </a:r>
            <a:r>
              <a:rPr sz="1200" b="1" i="0" dirty="0" err="1">
                <a:solidFill>
                  <a:srgbClr val="0B2E2C"/>
                </a:solidFill>
                <a:latin typeface="Arial"/>
              </a:rPr>
              <a:t>dentro</a:t>
            </a:r>
            <a:r>
              <a:rPr sz="1200" b="1" i="0" dirty="0">
                <a:solidFill>
                  <a:srgbClr val="0B2E2C"/>
                </a:solidFill>
                <a:latin typeface="Arial"/>
              </a:rPr>
              <a:t> de </a:t>
            </a:r>
            <a:r>
              <a:rPr sz="1200" b="1" i="0" dirty="0" err="1">
                <a:solidFill>
                  <a:srgbClr val="0B2E2C"/>
                </a:solidFill>
                <a:latin typeface="Arial"/>
              </a:rPr>
              <a:t>umbrales</a:t>
            </a:r>
            <a:endParaRPr sz="1200" b="1" i="0" dirty="0">
              <a:solidFill>
                <a:srgbClr val="0B2E2C"/>
              </a:solidFill>
              <a:latin typeface="Arial"/>
            </a:endParaRPr>
          </a:p>
        </p:txBody>
      </p:sp>
      <p:sp>
        <p:nvSpPr>
          <p:cNvPr id="33" name="TextBox 32">
            <a:extLst>
              <a:ext uri="{FF2B5EF4-FFF2-40B4-BE49-F238E27FC236}">
                <a16:creationId xmlns:a16="http://schemas.microsoft.com/office/drawing/2014/main" id="{E71D838F-BAC7-82FA-C1D9-0E74687D245E}"/>
              </a:ext>
            </a:extLst>
          </p:cNvPr>
          <p:cNvSpPr txBox="1"/>
          <p:nvPr/>
        </p:nvSpPr>
        <p:spPr>
          <a:xfrm>
            <a:off x="877824" y="4517136"/>
            <a:ext cx="4394545" cy="246221"/>
          </a:xfrm>
          <a:prstGeom prst="rect">
            <a:avLst/>
          </a:prstGeom>
          <a:noFill/>
        </p:spPr>
        <p:txBody>
          <a:bodyPr wrap="square" lIns="0" tIns="0" rIns="0" bIns="0" anchor="t">
            <a:spAutoFit/>
          </a:bodyPr>
          <a:lstStyle/>
          <a:p>
            <a:pPr algn="l">
              <a:lnSpc>
                <a:spcPct val="100000"/>
              </a:lnSpc>
            </a:pPr>
            <a:r>
              <a:rPr sz="1600" b="1" i="0">
                <a:solidFill>
                  <a:srgbClr val="13807B"/>
                </a:solidFill>
                <a:latin typeface="Arial"/>
              </a:rPr>
              <a:t>El modelo opera con normalidad</a:t>
            </a:r>
          </a:p>
        </p:txBody>
      </p:sp>
      <p:sp>
        <p:nvSpPr>
          <p:cNvPr id="34" name="TextBox 33">
            <a:extLst>
              <a:ext uri="{FF2B5EF4-FFF2-40B4-BE49-F238E27FC236}">
                <a16:creationId xmlns:a16="http://schemas.microsoft.com/office/drawing/2014/main" id="{436A63D0-692F-6CCE-0D98-9C40E9AC8917}"/>
              </a:ext>
            </a:extLst>
          </p:cNvPr>
          <p:cNvSpPr txBox="1"/>
          <p:nvPr/>
        </p:nvSpPr>
        <p:spPr>
          <a:xfrm>
            <a:off x="877824" y="4821936"/>
            <a:ext cx="4394545" cy="184474"/>
          </a:xfrm>
          <a:prstGeom prst="rect">
            <a:avLst/>
          </a:prstGeom>
          <a:noFill/>
        </p:spPr>
        <p:txBody>
          <a:bodyPr wrap="square" lIns="0" tIns="0" rIns="0" bIns="0" anchor="t">
            <a:spAutoFit/>
          </a:bodyPr>
          <a:lstStyle/>
          <a:p>
            <a:pPr algn="l">
              <a:lnSpc>
                <a:spcPct val="120000"/>
              </a:lnSpc>
            </a:pPr>
            <a:r>
              <a:rPr sz="1100" b="0" i="0" dirty="0">
                <a:solidFill>
                  <a:srgbClr val="6E7E7D"/>
                </a:solidFill>
                <a:latin typeface="Arial"/>
              </a:rPr>
              <a:t>Se documenta el </a:t>
            </a:r>
            <a:r>
              <a:rPr sz="1100" b="0" i="0" dirty="0" err="1">
                <a:solidFill>
                  <a:srgbClr val="6E7E7D"/>
                </a:solidFill>
                <a:latin typeface="Arial"/>
              </a:rPr>
              <a:t>resultado</a:t>
            </a:r>
            <a:r>
              <a:rPr sz="1100" b="0" i="0" dirty="0">
                <a:solidFill>
                  <a:srgbClr val="6E7E7D"/>
                </a:solidFill>
                <a:latin typeface="Arial"/>
              </a:rPr>
              <a:t> y se </a:t>
            </a:r>
            <a:r>
              <a:rPr sz="1100" b="0" i="0" dirty="0" err="1">
                <a:solidFill>
                  <a:srgbClr val="6E7E7D"/>
                </a:solidFill>
                <a:latin typeface="Arial"/>
              </a:rPr>
              <a:t>mantiene</a:t>
            </a:r>
            <a:r>
              <a:rPr sz="1100" b="0" i="0" dirty="0">
                <a:solidFill>
                  <a:srgbClr val="6E7E7D"/>
                </a:solidFill>
                <a:latin typeface="Arial"/>
              </a:rPr>
              <a:t> la </a:t>
            </a:r>
            <a:r>
              <a:rPr sz="1100" b="0" i="0" dirty="0" err="1">
                <a:solidFill>
                  <a:srgbClr val="6E7E7D"/>
                </a:solidFill>
                <a:latin typeface="Arial"/>
              </a:rPr>
              <a:t>frecuencia</a:t>
            </a:r>
            <a:r>
              <a:rPr sz="1100" b="0" i="0" dirty="0">
                <a:solidFill>
                  <a:srgbClr val="6E7E7D"/>
                </a:solidFill>
                <a:latin typeface="Arial"/>
              </a:rPr>
              <a:t>.</a:t>
            </a:r>
          </a:p>
        </p:txBody>
      </p:sp>
      <p:sp>
        <p:nvSpPr>
          <p:cNvPr id="35" name="Rectangle 34">
            <a:extLst>
              <a:ext uri="{FF2B5EF4-FFF2-40B4-BE49-F238E27FC236}">
                <a16:creationId xmlns:a16="http://schemas.microsoft.com/office/drawing/2014/main" id="{66A51A08-5671-8F30-55E7-B176D6AEA932}"/>
              </a:ext>
            </a:extLst>
          </p:cNvPr>
          <p:cNvSpPr/>
          <p:nvPr/>
        </p:nvSpPr>
        <p:spPr>
          <a:xfrm>
            <a:off x="658368" y="5532120"/>
            <a:ext cx="4833457" cy="137160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36" name="Rectangle 35">
            <a:extLst>
              <a:ext uri="{FF2B5EF4-FFF2-40B4-BE49-F238E27FC236}">
                <a16:creationId xmlns:a16="http://schemas.microsoft.com/office/drawing/2014/main" id="{6E9A173B-BE17-FE0C-2D8F-EF7EF210D844}"/>
              </a:ext>
            </a:extLst>
          </p:cNvPr>
          <p:cNvSpPr/>
          <p:nvPr/>
        </p:nvSpPr>
        <p:spPr>
          <a:xfrm>
            <a:off x="658368" y="5532120"/>
            <a:ext cx="4833457" cy="457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37" name="Oval 36">
            <a:extLst>
              <a:ext uri="{FF2B5EF4-FFF2-40B4-BE49-F238E27FC236}">
                <a16:creationId xmlns:a16="http://schemas.microsoft.com/office/drawing/2014/main" id="{3939565F-D1C6-C4B8-9812-9279893CE8B4}"/>
              </a:ext>
            </a:extLst>
          </p:cNvPr>
          <p:cNvSpPr/>
          <p:nvPr/>
        </p:nvSpPr>
        <p:spPr>
          <a:xfrm>
            <a:off x="877824" y="5678424"/>
            <a:ext cx="146304" cy="146304"/>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38" name="TextBox 37">
            <a:extLst>
              <a:ext uri="{FF2B5EF4-FFF2-40B4-BE49-F238E27FC236}">
                <a16:creationId xmlns:a16="http://schemas.microsoft.com/office/drawing/2014/main" id="{D91CFE07-526B-EE7C-D888-A5DC485D68BA}"/>
              </a:ext>
            </a:extLst>
          </p:cNvPr>
          <p:cNvSpPr txBox="1"/>
          <p:nvPr/>
        </p:nvSpPr>
        <p:spPr>
          <a:xfrm>
            <a:off x="1133856" y="5682977"/>
            <a:ext cx="4175089" cy="184666"/>
          </a:xfrm>
          <a:prstGeom prst="rect">
            <a:avLst/>
          </a:prstGeom>
          <a:noFill/>
        </p:spPr>
        <p:txBody>
          <a:bodyPr wrap="square" lIns="0" tIns="0" rIns="0" bIns="0" anchor="t">
            <a:spAutoFit/>
          </a:bodyPr>
          <a:lstStyle/>
          <a:p>
            <a:pPr algn="l">
              <a:lnSpc>
                <a:spcPct val="100000"/>
              </a:lnSpc>
            </a:pPr>
            <a:r>
              <a:rPr sz="1200" b="1" i="0" dirty="0" err="1">
                <a:solidFill>
                  <a:srgbClr val="0B2E2C"/>
                </a:solidFill>
                <a:latin typeface="Arial"/>
              </a:rPr>
              <a:t>Ámbar</a:t>
            </a:r>
            <a:r>
              <a:rPr sz="1200" b="1" i="0" dirty="0">
                <a:solidFill>
                  <a:srgbClr val="0B2E2C"/>
                </a:solidFill>
                <a:latin typeface="Arial"/>
              </a:rPr>
              <a:t> · </a:t>
            </a:r>
            <a:r>
              <a:rPr sz="1200" b="1" i="0" dirty="0" err="1">
                <a:solidFill>
                  <a:srgbClr val="0B2E2C"/>
                </a:solidFill>
                <a:latin typeface="Arial"/>
              </a:rPr>
              <a:t>deterioro</a:t>
            </a:r>
            <a:r>
              <a:rPr sz="1200" b="1" i="0" dirty="0">
                <a:solidFill>
                  <a:srgbClr val="0B2E2C"/>
                </a:solidFill>
                <a:latin typeface="Arial"/>
              </a:rPr>
              <a:t> </a:t>
            </a:r>
            <a:r>
              <a:rPr sz="1200" b="1" i="0" dirty="0" err="1">
                <a:solidFill>
                  <a:srgbClr val="0B2E2C"/>
                </a:solidFill>
                <a:latin typeface="Arial"/>
              </a:rPr>
              <a:t>moderado</a:t>
            </a:r>
            <a:endParaRPr sz="1200" b="1" i="0" dirty="0">
              <a:solidFill>
                <a:srgbClr val="0B2E2C"/>
              </a:solidFill>
              <a:latin typeface="Arial"/>
            </a:endParaRPr>
          </a:p>
        </p:txBody>
      </p:sp>
      <p:sp>
        <p:nvSpPr>
          <p:cNvPr id="39" name="TextBox 38">
            <a:extLst>
              <a:ext uri="{FF2B5EF4-FFF2-40B4-BE49-F238E27FC236}">
                <a16:creationId xmlns:a16="http://schemas.microsoft.com/office/drawing/2014/main" id="{8E84B461-6B40-307C-36A1-F6018DCA58CE}"/>
              </a:ext>
            </a:extLst>
          </p:cNvPr>
          <p:cNvSpPr txBox="1"/>
          <p:nvPr/>
        </p:nvSpPr>
        <p:spPr>
          <a:xfrm>
            <a:off x="877824" y="5971032"/>
            <a:ext cx="4394545" cy="246221"/>
          </a:xfrm>
          <a:prstGeom prst="rect">
            <a:avLst/>
          </a:prstGeom>
          <a:noFill/>
        </p:spPr>
        <p:txBody>
          <a:bodyPr wrap="square" lIns="0" tIns="0" rIns="0" bIns="0" anchor="t">
            <a:spAutoFit/>
          </a:bodyPr>
          <a:lstStyle/>
          <a:p>
            <a:pPr algn="l">
              <a:lnSpc>
                <a:spcPct val="100000"/>
              </a:lnSpc>
            </a:pPr>
            <a:r>
              <a:rPr sz="1600" b="1" i="0">
                <a:solidFill>
                  <a:srgbClr val="C87A0B"/>
                </a:solidFill>
                <a:latin typeface="Arial"/>
              </a:rPr>
              <a:t>Recalibrar</a:t>
            </a:r>
          </a:p>
        </p:txBody>
      </p:sp>
      <p:sp>
        <p:nvSpPr>
          <p:cNvPr id="40" name="TextBox 39">
            <a:extLst>
              <a:ext uri="{FF2B5EF4-FFF2-40B4-BE49-F238E27FC236}">
                <a16:creationId xmlns:a16="http://schemas.microsoft.com/office/drawing/2014/main" id="{30752430-2CE4-4703-E901-D1D756D1E355}"/>
              </a:ext>
            </a:extLst>
          </p:cNvPr>
          <p:cNvSpPr txBox="1"/>
          <p:nvPr/>
        </p:nvSpPr>
        <p:spPr>
          <a:xfrm>
            <a:off x="877824" y="6275832"/>
            <a:ext cx="4394545" cy="184474"/>
          </a:xfrm>
          <a:prstGeom prst="rect">
            <a:avLst/>
          </a:prstGeom>
          <a:noFill/>
        </p:spPr>
        <p:txBody>
          <a:bodyPr wrap="square" lIns="0" tIns="0" rIns="0" bIns="0" anchor="t">
            <a:spAutoFit/>
          </a:bodyPr>
          <a:lstStyle/>
          <a:p>
            <a:pPr algn="l">
              <a:lnSpc>
                <a:spcPct val="120000"/>
              </a:lnSpc>
            </a:pPr>
            <a:r>
              <a:rPr sz="1100" b="0" i="0">
                <a:solidFill>
                  <a:srgbClr val="6E7E7D"/>
                </a:solidFill>
                <a:latin typeface="Arial"/>
              </a:rPr>
              <a:t>Se reestiman parámetros sin cambiar la estructura del modelo.</a:t>
            </a:r>
          </a:p>
        </p:txBody>
      </p:sp>
      <p:sp>
        <p:nvSpPr>
          <p:cNvPr id="41" name="Rectangle 40">
            <a:extLst>
              <a:ext uri="{FF2B5EF4-FFF2-40B4-BE49-F238E27FC236}">
                <a16:creationId xmlns:a16="http://schemas.microsoft.com/office/drawing/2014/main" id="{9D65C569-1020-0885-9F16-0266F11EA1B4}"/>
              </a:ext>
            </a:extLst>
          </p:cNvPr>
          <p:cNvSpPr/>
          <p:nvPr/>
        </p:nvSpPr>
        <p:spPr>
          <a:xfrm>
            <a:off x="658368" y="7031736"/>
            <a:ext cx="4833457" cy="137160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42" name="Rectangle 41">
            <a:extLst>
              <a:ext uri="{FF2B5EF4-FFF2-40B4-BE49-F238E27FC236}">
                <a16:creationId xmlns:a16="http://schemas.microsoft.com/office/drawing/2014/main" id="{9F61096E-163D-17FE-2CAA-67BED9E42779}"/>
              </a:ext>
            </a:extLst>
          </p:cNvPr>
          <p:cNvSpPr/>
          <p:nvPr/>
        </p:nvSpPr>
        <p:spPr>
          <a:xfrm>
            <a:off x="658368" y="7031736"/>
            <a:ext cx="4833457" cy="45720"/>
          </a:xfrm>
          <a:prstGeom prst="rect">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43" name="Oval 42">
            <a:extLst>
              <a:ext uri="{FF2B5EF4-FFF2-40B4-BE49-F238E27FC236}">
                <a16:creationId xmlns:a16="http://schemas.microsoft.com/office/drawing/2014/main" id="{179F342A-F548-11D4-4FA0-FEF354CBC633}"/>
              </a:ext>
            </a:extLst>
          </p:cNvPr>
          <p:cNvSpPr/>
          <p:nvPr/>
        </p:nvSpPr>
        <p:spPr>
          <a:xfrm>
            <a:off x="877824" y="7196328"/>
            <a:ext cx="146304" cy="146304"/>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800"/>
          </a:p>
        </p:txBody>
      </p:sp>
      <p:sp>
        <p:nvSpPr>
          <p:cNvPr id="44" name="TextBox 43">
            <a:extLst>
              <a:ext uri="{FF2B5EF4-FFF2-40B4-BE49-F238E27FC236}">
                <a16:creationId xmlns:a16="http://schemas.microsoft.com/office/drawing/2014/main" id="{2B6AFB6F-ED34-C9B3-62E0-E1A7CE8757F8}"/>
              </a:ext>
            </a:extLst>
          </p:cNvPr>
          <p:cNvSpPr txBox="1"/>
          <p:nvPr/>
        </p:nvSpPr>
        <p:spPr>
          <a:xfrm>
            <a:off x="1133856" y="7171944"/>
            <a:ext cx="4175089"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Rojo · deterioro severo</a:t>
            </a:r>
          </a:p>
        </p:txBody>
      </p:sp>
      <p:sp>
        <p:nvSpPr>
          <p:cNvPr id="45" name="TextBox 44">
            <a:extLst>
              <a:ext uri="{FF2B5EF4-FFF2-40B4-BE49-F238E27FC236}">
                <a16:creationId xmlns:a16="http://schemas.microsoft.com/office/drawing/2014/main" id="{A78B38AF-691C-6F8A-89F9-6A0F4D6E9C54}"/>
              </a:ext>
            </a:extLst>
          </p:cNvPr>
          <p:cNvSpPr txBox="1"/>
          <p:nvPr/>
        </p:nvSpPr>
        <p:spPr>
          <a:xfrm>
            <a:off x="877824" y="7470648"/>
            <a:ext cx="4394545" cy="246221"/>
          </a:xfrm>
          <a:prstGeom prst="rect">
            <a:avLst/>
          </a:prstGeom>
          <a:noFill/>
        </p:spPr>
        <p:txBody>
          <a:bodyPr wrap="square" lIns="0" tIns="0" rIns="0" bIns="0" anchor="t">
            <a:spAutoFit/>
          </a:bodyPr>
          <a:lstStyle/>
          <a:p>
            <a:pPr algn="l">
              <a:lnSpc>
                <a:spcPct val="100000"/>
              </a:lnSpc>
            </a:pPr>
            <a:r>
              <a:rPr sz="1600" b="1" i="0">
                <a:solidFill>
                  <a:srgbClr val="C04B4B"/>
                </a:solidFill>
                <a:latin typeface="Arial"/>
              </a:rPr>
              <a:t>Reentrenar o reconstruir</a:t>
            </a:r>
          </a:p>
        </p:txBody>
      </p:sp>
      <p:sp>
        <p:nvSpPr>
          <p:cNvPr id="46" name="TextBox 45">
            <a:extLst>
              <a:ext uri="{FF2B5EF4-FFF2-40B4-BE49-F238E27FC236}">
                <a16:creationId xmlns:a16="http://schemas.microsoft.com/office/drawing/2014/main" id="{24626AA7-7DB4-9095-66B5-35EE293552EB}"/>
              </a:ext>
            </a:extLst>
          </p:cNvPr>
          <p:cNvSpPr txBox="1"/>
          <p:nvPr/>
        </p:nvSpPr>
        <p:spPr>
          <a:xfrm>
            <a:off x="877824" y="7775448"/>
            <a:ext cx="4394545" cy="387607"/>
          </a:xfrm>
          <a:prstGeom prst="rect">
            <a:avLst/>
          </a:prstGeom>
          <a:noFill/>
        </p:spPr>
        <p:txBody>
          <a:bodyPr wrap="square" lIns="0" tIns="0" rIns="0" bIns="0" anchor="t">
            <a:spAutoFit/>
          </a:bodyPr>
          <a:lstStyle/>
          <a:p>
            <a:pPr algn="l">
              <a:lnSpc>
                <a:spcPct val="120000"/>
              </a:lnSpc>
            </a:pPr>
            <a:r>
              <a:rPr sz="1100" b="0" i="0">
                <a:solidFill>
                  <a:srgbClr val="6E7E7D"/>
                </a:solidFill>
                <a:latin typeface="Arial"/>
              </a:rPr>
              <a:t>Se reconstruye con data reciente siguiendo el manual metodológico entregado.</a:t>
            </a:r>
          </a:p>
        </p:txBody>
      </p:sp>
      <p:pic>
        <p:nvPicPr>
          <p:cNvPr id="68" name="Imagen 2">
            <a:extLst>
              <a:ext uri="{FF2B5EF4-FFF2-40B4-BE49-F238E27FC236}">
                <a16:creationId xmlns:a16="http://schemas.microsoft.com/office/drawing/2014/main" id="{FE9AD9D0-B941-FE72-B737-B5DC8D8459CC}"/>
              </a:ext>
            </a:extLst>
          </p:cNvPr>
          <p:cNvPicPr>
            <a:picLocks noChangeAspect="1"/>
          </p:cNvPicPr>
          <p:nvPr/>
        </p:nvPicPr>
        <p:blipFill>
          <a:blip r:embed="rId2"/>
          <a:srcRect l="51230" t="74865" r="218" b="173"/>
          <a:stretch>
            <a:fillRect/>
          </a:stretch>
        </p:blipFill>
        <p:spPr>
          <a:xfrm>
            <a:off x="6504983" y="4043847"/>
            <a:ext cx="8873193" cy="4100589"/>
          </a:xfrm>
          <a:prstGeom prst="rect">
            <a:avLst/>
          </a:prstGeom>
        </p:spPr>
      </p:pic>
    </p:spTree>
    <p:extLst>
      <p:ext uri="{BB962C8B-B14F-4D97-AF65-F5344CB8AC3E}">
        <p14:creationId xmlns:p14="http://schemas.microsoft.com/office/powerpoint/2010/main" val="1484299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1EB8A-397B-1021-9CAA-5BEB19AA771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B17B7D0-4FB4-15AC-2414-179501F6670D}"/>
              </a:ext>
            </a:extLst>
          </p:cNvPr>
          <p:cNvSpPr/>
          <p:nvPr/>
        </p:nvSpPr>
        <p:spPr>
          <a:xfrm>
            <a:off x="0" y="1143000"/>
            <a:ext cx="16256000" cy="84043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48" name="Google Shape;167;g3ed063acbfe_1_0">
            <a:extLst>
              <a:ext uri="{FF2B5EF4-FFF2-40B4-BE49-F238E27FC236}">
                <a16:creationId xmlns:a16="http://schemas.microsoft.com/office/drawing/2014/main" id="{33F9FD34-51E8-FF0E-96D9-88CD54C7BE1E}"/>
              </a:ext>
            </a:extLst>
          </p:cNvPr>
          <p:cNvSpPr txBox="1"/>
          <p:nvPr/>
        </p:nvSpPr>
        <p:spPr>
          <a:xfrm>
            <a:off x="298027" y="376124"/>
            <a:ext cx="13824856"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Agenda</a:t>
            </a:r>
          </a:p>
        </p:txBody>
      </p:sp>
      <p:sp>
        <p:nvSpPr>
          <p:cNvPr id="49" name="Rectangle 48">
            <a:extLst>
              <a:ext uri="{FF2B5EF4-FFF2-40B4-BE49-F238E27FC236}">
                <a16:creationId xmlns:a16="http://schemas.microsoft.com/office/drawing/2014/main" id="{E48C38EA-754C-06C4-D851-6E3039DA102C}"/>
              </a:ext>
            </a:extLst>
          </p:cNvPr>
          <p:cNvSpPr/>
          <p:nvPr/>
        </p:nvSpPr>
        <p:spPr>
          <a:xfrm>
            <a:off x="298027" y="1519125"/>
            <a:ext cx="13453832" cy="7069063"/>
          </a:xfrm>
          <a:prstGeom prst="rect">
            <a:avLst/>
          </a:prstGeom>
          <a:solidFill>
            <a:srgbClr val="FFFFFF">
              <a:alpha val="61569"/>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pic>
        <p:nvPicPr>
          <p:cNvPr id="27" name="Google Shape;79;p16" descr="preencoded.png">
            <a:extLst>
              <a:ext uri="{FF2B5EF4-FFF2-40B4-BE49-F238E27FC236}">
                <a16:creationId xmlns:a16="http://schemas.microsoft.com/office/drawing/2014/main" id="{FABACBC1-AA8D-36CB-FBB0-B321C9640AF0}"/>
              </a:ext>
            </a:extLst>
          </p:cNvPr>
          <p:cNvPicPr preferRelativeResize="0"/>
          <p:nvPr/>
        </p:nvPicPr>
        <p:blipFill rotWithShape="1">
          <a:blip r:embed="rId3">
            <a:alphaModFix/>
          </a:blip>
          <a:srcRect t="21005"/>
          <a:stretch/>
        </p:blipFill>
        <p:spPr>
          <a:xfrm>
            <a:off x="157280" y="592487"/>
            <a:ext cx="5464231" cy="6474596"/>
          </a:xfrm>
          <a:prstGeom prst="rect">
            <a:avLst/>
          </a:prstGeom>
          <a:noFill/>
          <a:ln>
            <a:noFill/>
          </a:ln>
        </p:spPr>
      </p:pic>
      <p:sp>
        <p:nvSpPr>
          <p:cNvPr id="29" name="Google Shape;80;p16">
            <a:extLst>
              <a:ext uri="{FF2B5EF4-FFF2-40B4-BE49-F238E27FC236}">
                <a16:creationId xmlns:a16="http://schemas.microsoft.com/office/drawing/2014/main" id="{6D603622-23AC-91BA-BD61-B53D551427DB}"/>
              </a:ext>
            </a:extLst>
          </p:cNvPr>
          <p:cNvSpPr/>
          <p:nvPr/>
        </p:nvSpPr>
        <p:spPr>
          <a:xfrm>
            <a:off x="1268135" y="5488046"/>
            <a:ext cx="5717867" cy="3074133"/>
          </a:xfrm>
          <a:prstGeom prst="rect">
            <a:avLst/>
          </a:prstGeom>
          <a:solidFill>
            <a:srgbClr val="006666"/>
          </a:solidFill>
          <a:ln>
            <a:noFill/>
          </a:ln>
        </p:spPr>
        <p:txBody>
          <a:bodyPr spcFirstLastPara="1" wrap="square" lIns="101600" tIns="50800" rIns="101600" bIns="50800" anchor="ctr" anchorCtr="0">
            <a:noAutofit/>
          </a:bodyPr>
          <a:lstStyle/>
          <a:p>
            <a:pPr algn="ctr">
              <a:buClr>
                <a:schemeClr val="lt1"/>
              </a:buClr>
              <a:buSzPts val="1200"/>
            </a:pPr>
            <a:endParaRPr sz="1956">
              <a:solidFill>
                <a:schemeClr val="dk1"/>
              </a:solidFill>
              <a:latin typeface="Calibri"/>
              <a:ea typeface="Calibri"/>
              <a:cs typeface="Calibri"/>
              <a:sym typeface="Calibri"/>
            </a:endParaRPr>
          </a:p>
        </p:txBody>
      </p:sp>
      <p:sp>
        <p:nvSpPr>
          <p:cNvPr id="30" name="Google Shape;81;p16">
            <a:extLst>
              <a:ext uri="{FF2B5EF4-FFF2-40B4-BE49-F238E27FC236}">
                <a16:creationId xmlns:a16="http://schemas.microsoft.com/office/drawing/2014/main" id="{B8784F88-CC24-3C98-DDC1-8A3ACB885B19}"/>
              </a:ext>
            </a:extLst>
          </p:cNvPr>
          <p:cNvSpPr txBox="1"/>
          <p:nvPr/>
        </p:nvSpPr>
        <p:spPr>
          <a:xfrm>
            <a:off x="1763954" y="6275266"/>
            <a:ext cx="4447467" cy="1499733"/>
          </a:xfrm>
          <a:prstGeom prst="rect">
            <a:avLst/>
          </a:prstGeom>
          <a:noFill/>
          <a:ln>
            <a:noFill/>
          </a:ln>
        </p:spPr>
        <p:txBody>
          <a:bodyPr spcFirstLastPara="1" wrap="square" lIns="0" tIns="0" rIns="0" bIns="0" anchor="t" anchorCtr="0">
            <a:noAutofit/>
          </a:bodyPr>
          <a:lstStyle/>
          <a:p>
            <a:r>
              <a:rPr lang="es-419" sz="4622" b="1">
                <a:solidFill>
                  <a:schemeClr val="lt1"/>
                </a:solidFill>
                <a:latin typeface="Poppins"/>
                <a:ea typeface="Poppins"/>
                <a:cs typeface="Poppins"/>
                <a:sym typeface="Poppins"/>
              </a:rPr>
              <a:t>Agenda</a:t>
            </a:r>
            <a:endParaRPr sz="4622" b="1">
              <a:solidFill>
                <a:schemeClr val="lt1"/>
              </a:solidFill>
              <a:latin typeface="Poppins"/>
              <a:ea typeface="Poppins"/>
              <a:cs typeface="Poppins"/>
              <a:sym typeface="Poppins"/>
            </a:endParaRPr>
          </a:p>
          <a:p>
            <a:endParaRPr sz="4267">
              <a:solidFill>
                <a:schemeClr val="lt1"/>
              </a:solidFill>
              <a:latin typeface="Poppins"/>
              <a:ea typeface="Poppins"/>
              <a:cs typeface="Poppins"/>
              <a:sym typeface="Poppins"/>
            </a:endParaRPr>
          </a:p>
        </p:txBody>
      </p:sp>
      <p:sp>
        <p:nvSpPr>
          <p:cNvPr id="31" name="Google Shape;75;p2">
            <a:extLst>
              <a:ext uri="{FF2B5EF4-FFF2-40B4-BE49-F238E27FC236}">
                <a16:creationId xmlns:a16="http://schemas.microsoft.com/office/drawing/2014/main" id="{AD7B9E0F-C779-A547-6D63-C804ECA3FF08}"/>
              </a:ext>
            </a:extLst>
          </p:cNvPr>
          <p:cNvSpPr txBox="1"/>
          <p:nvPr/>
        </p:nvSpPr>
        <p:spPr>
          <a:xfrm>
            <a:off x="7298784" y="4181451"/>
            <a:ext cx="8394169"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ea typeface="Poppins"/>
                <a:cs typeface="Poppins"/>
                <a:sym typeface="Poppins"/>
              </a:rPr>
              <a:t>Entregables</a:t>
            </a:r>
            <a:r>
              <a:rPr lang="en-US" sz="2489" dirty="0">
                <a:solidFill>
                  <a:srgbClr val="353840"/>
                </a:solidFill>
                <a:latin typeface="Poppins"/>
                <a:ea typeface="Poppins"/>
                <a:cs typeface="Poppins"/>
                <a:sym typeface="Poppins"/>
              </a:rPr>
              <a:t> &amp; </a:t>
            </a:r>
            <a:r>
              <a:rPr lang="en-US" sz="2489" dirty="0" err="1">
                <a:solidFill>
                  <a:srgbClr val="353840"/>
                </a:solidFill>
                <a:latin typeface="Poppins"/>
                <a:ea typeface="Poppins"/>
                <a:cs typeface="Poppins"/>
                <a:sym typeface="Poppins"/>
              </a:rPr>
              <a:t>transferencia</a:t>
            </a:r>
            <a:r>
              <a:rPr lang="en-US" sz="2489" dirty="0">
                <a:solidFill>
                  <a:srgbClr val="353840"/>
                </a:solidFill>
                <a:latin typeface="Poppins"/>
                <a:ea typeface="Poppins"/>
                <a:cs typeface="Poppins"/>
                <a:sym typeface="Poppins"/>
              </a:rPr>
              <a:t> del </a:t>
            </a:r>
            <a:r>
              <a:rPr lang="en-US" sz="2489" dirty="0" err="1">
                <a:solidFill>
                  <a:srgbClr val="353840"/>
                </a:solidFill>
                <a:latin typeface="Poppins"/>
                <a:ea typeface="Poppins"/>
                <a:cs typeface="Poppins"/>
                <a:sym typeface="Poppins"/>
              </a:rPr>
              <a:t>conocimiento</a:t>
            </a:r>
            <a:endParaRPr sz="2489" dirty="0"/>
          </a:p>
        </p:txBody>
      </p:sp>
      <p:sp>
        <p:nvSpPr>
          <p:cNvPr id="32" name="Google Shape;76;p2">
            <a:extLst>
              <a:ext uri="{FF2B5EF4-FFF2-40B4-BE49-F238E27FC236}">
                <a16:creationId xmlns:a16="http://schemas.microsoft.com/office/drawing/2014/main" id="{E2C80742-4D5F-6311-08F7-229C517A2A69}"/>
              </a:ext>
            </a:extLst>
          </p:cNvPr>
          <p:cNvSpPr/>
          <p:nvPr/>
        </p:nvSpPr>
        <p:spPr>
          <a:xfrm>
            <a:off x="6211907" y="2639994"/>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2</a:t>
            </a:r>
            <a:endParaRPr sz="2489" dirty="0"/>
          </a:p>
        </p:txBody>
      </p:sp>
      <p:sp>
        <p:nvSpPr>
          <p:cNvPr id="33" name="Google Shape;77;p2">
            <a:extLst>
              <a:ext uri="{FF2B5EF4-FFF2-40B4-BE49-F238E27FC236}">
                <a16:creationId xmlns:a16="http://schemas.microsoft.com/office/drawing/2014/main" id="{9ACA4FF8-2A16-6130-EEB9-6848F4478DD4}"/>
              </a:ext>
            </a:extLst>
          </p:cNvPr>
          <p:cNvSpPr txBox="1"/>
          <p:nvPr/>
        </p:nvSpPr>
        <p:spPr>
          <a:xfrm>
            <a:off x="7298784" y="2552867"/>
            <a:ext cx="770010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cs typeface="Poppins"/>
                <a:sym typeface="Poppins"/>
              </a:rPr>
              <a:t>Revisión</a:t>
            </a:r>
            <a:r>
              <a:rPr lang="en-US" sz="2489" dirty="0">
                <a:solidFill>
                  <a:srgbClr val="353840"/>
                </a:solidFill>
                <a:latin typeface="Poppins"/>
                <a:cs typeface="Poppins"/>
                <a:sym typeface="Poppins"/>
              </a:rPr>
              <a:t> status modelos </a:t>
            </a:r>
            <a:r>
              <a:rPr lang="en-US" sz="2489" dirty="0" err="1">
                <a:solidFill>
                  <a:srgbClr val="353840"/>
                </a:solidFill>
                <a:latin typeface="Poppins"/>
                <a:cs typeface="Poppins"/>
                <a:sym typeface="Poppins"/>
              </a:rPr>
              <a:t>analíticos</a:t>
            </a:r>
            <a:endParaRPr sz="2489" dirty="0"/>
          </a:p>
        </p:txBody>
      </p:sp>
      <p:sp>
        <p:nvSpPr>
          <p:cNvPr id="34" name="Google Shape;78;p2">
            <a:extLst>
              <a:ext uri="{FF2B5EF4-FFF2-40B4-BE49-F238E27FC236}">
                <a16:creationId xmlns:a16="http://schemas.microsoft.com/office/drawing/2014/main" id="{2DA506BA-524A-8F8A-EED0-78A0A5348635}"/>
              </a:ext>
            </a:extLst>
          </p:cNvPr>
          <p:cNvSpPr/>
          <p:nvPr/>
        </p:nvSpPr>
        <p:spPr>
          <a:xfrm>
            <a:off x="6211907" y="4304558"/>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4</a:t>
            </a:r>
            <a:endParaRPr sz="2489" dirty="0"/>
          </a:p>
        </p:txBody>
      </p:sp>
      <p:sp>
        <p:nvSpPr>
          <p:cNvPr id="37" name="Google Shape;76;p2">
            <a:extLst>
              <a:ext uri="{FF2B5EF4-FFF2-40B4-BE49-F238E27FC236}">
                <a16:creationId xmlns:a16="http://schemas.microsoft.com/office/drawing/2014/main" id="{26F009D3-47C8-2924-9711-D878CEB98B5F}"/>
              </a:ext>
            </a:extLst>
          </p:cNvPr>
          <p:cNvSpPr/>
          <p:nvPr/>
        </p:nvSpPr>
        <p:spPr>
          <a:xfrm>
            <a:off x="6213452" y="1777188"/>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1</a:t>
            </a:r>
            <a:endParaRPr sz="2489" dirty="0"/>
          </a:p>
        </p:txBody>
      </p:sp>
      <p:sp>
        <p:nvSpPr>
          <p:cNvPr id="38" name="Google Shape;77;p2">
            <a:extLst>
              <a:ext uri="{FF2B5EF4-FFF2-40B4-BE49-F238E27FC236}">
                <a16:creationId xmlns:a16="http://schemas.microsoft.com/office/drawing/2014/main" id="{B77C5A9E-EB63-D645-0C50-514B5BE62C34}"/>
              </a:ext>
            </a:extLst>
          </p:cNvPr>
          <p:cNvSpPr txBox="1"/>
          <p:nvPr/>
        </p:nvSpPr>
        <p:spPr>
          <a:xfrm>
            <a:off x="7300329" y="1690061"/>
            <a:ext cx="881529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a:solidFill>
                  <a:srgbClr val="353840"/>
                </a:solidFill>
                <a:latin typeface="Poppins"/>
                <a:cs typeface="Poppins"/>
                <a:sym typeface="Poppins"/>
              </a:rPr>
              <a:t>Overview del Proyecto Smart Pricing 360</a:t>
            </a:r>
            <a:endParaRPr sz="2489" dirty="0"/>
          </a:p>
        </p:txBody>
      </p:sp>
      <p:sp>
        <p:nvSpPr>
          <p:cNvPr id="40" name="Google Shape;76;p2">
            <a:extLst>
              <a:ext uri="{FF2B5EF4-FFF2-40B4-BE49-F238E27FC236}">
                <a16:creationId xmlns:a16="http://schemas.microsoft.com/office/drawing/2014/main" id="{8796BC04-AE82-4926-64C2-259D959750F1}"/>
              </a:ext>
            </a:extLst>
          </p:cNvPr>
          <p:cNvSpPr/>
          <p:nvPr/>
        </p:nvSpPr>
        <p:spPr>
          <a:xfrm>
            <a:off x="6211907" y="3471646"/>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3</a:t>
            </a:r>
            <a:endParaRPr sz="2489" dirty="0"/>
          </a:p>
        </p:txBody>
      </p:sp>
      <p:sp>
        <p:nvSpPr>
          <p:cNvPr id="41" name="Google Shape;77;p2">
            <a:extLst>
              <a:ext uri="{FF2B5EF4-FFF2-40B4-BE49-F238E27FC236}">
                <a16:creationId xmlns:a16="http://schemas.microsoft.com/office/drawing/2014/main" id="{858CED12-3BC5-5C28-5C8F-B5779697243B}"/>
              </a:ext>
            </a:extLst>
          </p:cNvPr>
          <p:cNvSpPr txBox="1"/>
          <p:nvPr/>
        </p:nvSpPr>
        <p:spPr>
          <a:xfrm>
            <a:off x="7298784" y="3384519"/>
            <a:ext cx="770010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cs typeface="Poppins"/>
                <a:sym typeface="Poppins"/>
              </a:rPr>
              <a:t>Revisión</a:t>
            </a:r>
            <a:r>
              <a:rPr lang="en-US" sz="2489" dirty="0">
                <a:solidFill>
                  <a:srgbClr val="353840"/>
                </a:solidFill>
                <a:latin typeface="Poppins"/>
                <a:cs typeface="Poppins"/>
                <a:sym typeface="Poppins"/>
              </a:rPr>
              <a:t> </a:t>
            </a:r>
            <a:r>
              <a:rPr lang="en-US" sz="2489" dirty="0" err="1">
                <a:solidFill>
                  <a:srgbClr val="353840"/>
                </a:solidFill>
                <a:latin typeface="Poppins"/>
                <a:cs typeface="Poppins"/>
                <a:sym typeface="Poppins"/>
              </a:rPr>
              <a:t>detalle</a:t>
            </a:r>
            <a:r>
              <a:rPr lang="en-US" sz="2489" dirty="0">
                <a:solidFill>
                  <a:srgbClr val="353840"/>
                </a:solidFill>
                <a:latin typeface="Poppins"/>
                <a:cs typeface="Poppins"/>
                <a:sym typeface="Poppins"/>
              </a:rPr>
              <a:t> modelos y curvas </a:t>
            </a:r>
            <a:r>
              <a:rPr lang="en-US" sz="2489" dirty="0" err="1">
                <a:solidFill>
                  <a:srgbClr val="353840"/>
                </a:solidFill>
                <a:latin typeface="Poppins"/>
                <a:cs typeface="Poppins"/>
                <a:sym typeface="Poppins"/>
              </a:rPr>
              <a:t>analíticas</a:t>
            </a:r>
            <a:endParaRPr sz="2489" dirty="0"/>
          </a:p>
        </p:txBody>
      </p:sp>
    </p:spTree>
    <p:extLst>
      <p:ext uri="{BB962C8B-B14F-4D97-AF65-F5344CB8AC3E}">
        <p14:creationId xmlns:p14="http://schemas.microsoft.com/office/powerpoint/2010/main" val="651672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FE02-C8F4-63CA-0242-2A7ED2B5268C}"/>
            </a:ext>
          </a:extLst>
        </p:cNvPr>
        <p:cNvGrpSpPr/>
        <p:nvPr/>
      </p:nvGrpSpPr>
      <p:grpSpPr>
        <a:xfrm>
          <a:off x="0" y="0"/>
          <a:ext cx="0" cy="0"/>
          <a:chOff x="0" y="0"/>
          <a:chExt cx="0" cy="0"/>
        </a:xfrm>
      </p:grpSpPr>
      <p:sp>
        <p:nvSpPr>
          <p:cNvPr id="118" name="Google Shape;167;g3ed063acbfe_1_0">
            <a:extLst>
              <a:ext uri="{FF2B5EF4-FFF2-40B4-BE49-F238E27FC236}">
                <a16:creationId xmlns:a16="http://schemas.microsoft.com/office/drawing/2014/main" id="{24146D46-28EE-9B81-0405-9D9461068287}"/>
              </a:ext>
            </a:extLst>
          </p:cNvPr>
          <p:cNvSpPr txBox="1"/>
          <p:nvPr/>
        </p:nvSpPr>
        <p:spPr>
          <a:xfrm>
            <a:off x="184661" y="98822"/>
            <a:ext cx="14787179"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Ecosistema de pricing, visión cliente 360°, para la gestión del precio </a:t>
            </a:r>
          </a:p>
        </p:txBody>
      </p:sp>
      <p:sp>
        <p:nvSpPr>
          <p:cNvPr id="2" name="Rectangle 1">
            <a:extLst>
              <a:ext uri="{FF2B5EF4-FFF2-40B4-BE49-F238E27FC236}">
                <a16:creationId xmlns:a16="http://schemas.microsoft.com/office/drawing/2014/main" id="{003339B0-2F5B-070A-0550-7B458F106D1B}"/>
              </a:ext>
            </a:extLst>
          </p:cNvPr>
          <p:cNvSpPr/>
          <p:nvPr/>
        </p:nvSpPr>
        <p:spPr>
          <a:xfrm>
            <a:off x="0" y="1241823"/>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37" name="Google Shape;401;g3a8a166b9a7_8_346">
            <a:extLst>
              <a:ext uri="{FF2B5EF4-FFF2-40B4-BE49-F238E27FC236}">
                <a16:creationId xmlns:a16="http://schemas.microsoft.com/office/drawing/2014/main" id="{3078123C-94BE-B1E8-6934-99F1825DD6DE}"/>
              </a:ext>
            </a:extLst>
          </p:cNvPr>
          <p:cNvSpPr/>
          <p:nvPr/>
        </p:nvSpPr>
        <p:spPr>
          <a:xfrm>
            <a:off x="12367268" y="2990064"/>
            <a:ext cx="3589859" cy="532260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09" name="Google Shape;402;g3a8a166b9a7_8_346">
            <a:extLst>
              <a:ext uri="{FF2B5EF4-FFF2-40B4-BE49-F238E27FC236}">
                <a16:creationId xmlns:a16="http://schemas.microsoft.com/office/drawing/2014/main" id="{C935BE20-220F-6E63-0688-7FFEACA801D2}"/>
              </a:ext>
            </a:extLst>
          </p:cNvPr>
          <p:cNvSpPr/>
          <p:nvPr/>
        </p:nvSpPr>
        <p:spPr>
          <a:xfrm>
            <a:off x="12367268" y="3007819"/>
            <a:ext cx="3589859" cy="666056"/>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0" name="Google Shape;403;g3a8a166b9a7_8_346">
            <a:extLst>
              <a:ext uri="{FF2B5EF4-FFF2-40B4-BE49-F238E27FC236}">
                <a16:creationId xmlns:a16="http://schemas.microsoft.com/office/drawing/2014/main" id="{6E581268-3D54-6F36-346A-FA661B1E3A8F}"/>
              </a:ext>
            </a:extLst>
          </p:cNvPr>
          <p:cNvSpPr/>
          <p:nvPr/>
        </p:nvSpPr>
        <p:spPr>
          <a:xfrm>
            <a:off x="4340814" y="2990065"/>
            <a:ext cx="3902175"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1" name="Google Shape;404;g3a8a166b9a7_8_346">
            <a:extLst>
              <a:ext uri="{FF2B5EF4-FFF2-40B4-BE49-F238E27FC236}">
                <a16:creationId xmlns:a16="http://schemas.microsoft.com/office/drawing/2014/main" id="{F414BFBC-0152-794F-60D4-E5EE4A031748}"/>
              </a:ext>
            </a:extLst>
          </p:cNvPr>
          <p:cNvSpPr/>
          <p:nvPr/>
        </p:nvSpPr>
        <p:spPr>
          <a:xfrm>
            <a:off x="4360081" y="3006979"/>
            <a:ext cx="3889928" cy="710995"/>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2" name="Google Shape;405;g3a8a166b9a7_8_346">
            <a:extLst>
              <a:ext uri="{FF2B5EF4-FFF2-40B4-BE49-F238E27FC236}">
                <a16:creationId xmlns:a16="http://schemas.microsoft.com/office/drawing/2014/main" id="{22684FA6-D8B5-3D1C-3FEC-9A6BF4097622}"/>
              </a:ext>
            </a:extLst>
          </p:cNvPr>
          <p:cNvSpPr/>
          <p:nvPr/>
        </p:nvSpPr>
        <p:spPr>
          <a:xfrm>
            <a:off x="8407686" y="2980435"/>
            <a:ext cx="3770487"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9" name="Google Shape;406;g3a8a166b9a7_8_346">
            <a:extLst>
              <a:ext uri="{FF2B5EF4-FFF2-40B4-BE49-F238E27FC236}">
                <a16:creationId xmlns:a16="http://schemas.microsoft.com/office/drawing/2014/main" id="{9CBD5A37-71FE-4299-8098-094B5C0A649A}"/>
              </a:ext>
            </a:extLst>
          </p:cNvPr>
          <p:cNvSpPr/>
          <p:nvPr/>
        </p:nvSpPr>
        <p:spPr>
          <a:xfrm>
            <a:off x="8398088" y="3012625"/>
            <a:ext cx="3770485"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20" name="Google Shape;407;g3a8a166b9a7_8_346">
            <a:extLst>
              <a:ext uri="{FF2B5EF4-FFF2-40B4-BE49-F238E27FC236}">
                <a16:creationId xmlns:a16="http://schemas.microsoft.com/office/drawing/2014/main" id="{E254E952-EC5D-0642-097F-1C59DAD7419C}"/>
              </a:ext>
            </a:extLst>
          </p:cNvPr>
          <p:cNvSpPr/>
          <p:nvPr/>
        </p:nvSpPr>
        <p:spPr>
          <a:xfrm>
            <a:off x="416026" y="2980435"/>
            <a:ext cx="3770487" cy="533516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21" name="Google Shape;408;g3a8a166b9a7_8_346">
            <a:extLst>
              <a:ext uri="{FF2B5EF4-FFF2-40B4-BE49-F238E27FC236}">
                <a16:creationId xmlns:a16="http://schemas.microsoft.com/office/drawing/2014/main" id="{08EFE31B-95F4-9DA5-8D2E-A1F360284716}"/>
              </a:ext>
            </a:extLst>
          </p:cNvPr>
          <p:cNvSpPr/>
          <p:nvPr/>
        </p:nvSpPr>
        <p:spPr>
          <a:xfrm>
            <a:off x="409280" y="2991960"/>
            <a:ext cx="3783457"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nvGrpSpPr>
          <p:cNvPr id="122" name="Google Shape;410;g3a8a166b9a7_8_346">
            <a:extLst>
              <a:ext uri="{FF2B5EF4-FFF2-40B4-BE49-F238E27FC236}">
                <a16:creationId xmlns:a16="http://schemas.microsoft.com/office/drawing/2014/main" id="{84AB871A-74BD-BB56-567E-1F0EE2E02B65}"/>
              </a:ext>
            </a:extLst>
          </p:cNvPr>
          <p:cNvGrpSpPr/>
          <p:nvPr/>
        </p:nvGrpSpPr>
        <p:grpSpPr>
          <a:xfrm>
            <a:off x="7261859" y="974183"/>
            <a:ext cx="1935480" cy="1882989"/>
            <a:chOff x="3638550" y="1249678"/>
            <a:chExt cx="1842770" cy="1747522"/>
          </a:xfrm>
        </p:grpSpPr>
        <p:sp>
          <p:nvSpPr>
            <p:cNvPr id="123" name="Google Shape;411;g3a8a166b9a7_8_346">
              <a:extLst>
                <a:ext uri="{FF2B5EF4-FFF2-40B4-BE49-F238E27FC236}">
                  <a16:creationId xmlns:a16="http://schemas.microsoft.com/office/drawing/2014/main" id="{51FE2579-8BBA-4210-D4F1-73ADEAC6274A}"/>
                </a:ext>
              </a:extLst>
            </p:cNvPr>
            <p:cNvSpPr/>
            <p:nvPr/>
          </p:nvSpPr>
          <p:spPr>
            <a:xfrm>
              <a:off x="3638550" y="1249678"/>
              <a:ext cx="1842770" cy="1747522"/>
            </a:xfrm>
            <a:prstGeom prst="flowChartConnector">
              <a:avLst/>
            </a:prstGeom>
            <a:solidFill>
              <a:srgbClr val="DBDBDB"/>
            </a:solidFill>
            <a:ln w="9525" cap="flat" cmpd="sng">
              <a:solidFill>
                <a:srgbClr val="D8D8D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sp>
          <p:nvSpPr>
            <p:cNvPr id="124" name="Google Shape;412;g3a8a166b9a7_8_346">
              <a:extLst>
                <a:ext uri="{FF2B5EF4-FFF2-40B4-BE49-F238E27FC236}">
                  <a16:creationId xmlns:a16="http://schemas.microsoft.com/office/drawing/2014/main" id="{7635367A-0A2D-B8A9-B03A-BA2F84432FFF}"/>
                </a:ext>
              </a:extLst>
            </p:cNvPr>
            <p:cNvSpPr/>
            <p:nvPr/>
          </p:nvSpPr>
          <p:spPr>
            <a:xfrm>
              <a:off x="3887470" y="1508758"/>
              <a:ext cx="1344930" cy="1229361"/>
            </a:xfrm>
            <a:prstGeom prst="flowChartConnector">
              <a:avLst/>
            </a:prstGeom>
            <a:solidFill>
              <a:srgbClr val="F2F2F2"/>
            </a:solidFill>
            <a:ln w="5715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grpSp>
      <p:sp>
        <p:nvSpPr>
          <p:cNvPr id="125" name="Google Shape;413;g3a8a166b9a7_8_346">
            <a:extLst>
              <a:ext uri="{FF2B5EF4-FFF2-40B4-BE49-F238E27FC236}">
                <a16:creationId xmlns:a16="http://schemas.microsoft.com/office/drawing/2014/main" id="{30EFE55A-19EC-582D-FDEB-8D9A357B6517}"/>
              </a:ext>
            </a:extLst>
          </p:cNvPr>
          <p:cNvSpPr txBox="1"/>
          <p:nvPr/>
        </p:nvSpPr>
        <p:spPr>
          <a:xfrm>
            <a:off x="446847" y="5610447"/>
            <a:ext cx="3640331"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Rentabilidad diferenciada por segmento</a:t>
            </a:r>
          </a:p>
        </p:txBody>
      </p:sp>
      <p:sp>
        <p:nvSpPr>
          <p:cNvPr id="126" name="Google Shape;434;g3a8a166b9a7_8_346">
            <a:extLst>
              <a:ext uri="{FF2B5EF4-FFF2-40B4-BE49-F238E27FC236}">
                <a16:creationId xmlns:a16="http://schemas.microsoft.com/office/drawing/2014/main" id="{2FE7CEDD-DCA2-9612-6B0E-73A33256DD22}"/>
              </a:ext>
            </a:extLst>
          </p:cNvPr>
          <p:cNvSpPr txBox="1"/>
          <p:nvPr/>
        </p:nvSpPr>
        <p:spPr>
          <a:xfrm>
            <a:off x="469905" y="3846893"/>
            <a:ext cx="2638352"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latin typeface="Poppins" panose="00000500000000000000" pitchFamily="2" charset="0"/>
                <a:ea typeface="Calibri"/>
                <a:cs typeface="Poppins" panose="00000500000000000000" pitchFamily="2" charset="0"/>
                <a:sym typeface="Calibri"/>
              </a:rPr>
              <a:t>Matriz de RAROC objetivo</a:t>
            </a:r>
            <a:endParaRPr lang="es-ES_tradnl" sz="1333" kern="1200" noProof="0" dirty="0">
              <a:latin typeface="Poppins" panose="00000500000000000000" pitchFamily="2" charset="0"/>
              <a:ea typeface="Calibri"/>
              <a:cs typeface="Poppins" panose="00000500000000000000" pitchFamily="2" charset="0"/>
              <a:sym typeface="Calibri"/>
            </a:endParaRPr>
          </a:p>
        </p:txBody>
      </p:sp>
      <p:grpSp>
        <p:nvGrpSpPr>
          <p:cNvPr id="127" name="Google Shape;436;g3a8a166b9a7_8_346">
            <a:extLst>
              <a:ext uri="{FF2B5EF4-FFF2-40B4-BE49-F238E27FC236}">
                <a16:creationId xmlns:a16="http://schemas.microsoft.com/office/drawing/2014/main" id="{A6E51DD7-8E6D-C4C4-44B5-D2D0312A4639}"/>
              </a:ext>
            </a:extLst>
          </p:cNvPr>
          <p:cNvGrpSpPr/>
          <p:nvPr/>
        </p:nvGrpSpPr>
        <p:grpSpPr>
          <a:xfrm>
            <a:off x="9056426" y="4347409"/>
            <a:ext cx="2788447" cy="882460"/>
            <a:chOff x="3501127" y="4905040"/>
            <a:chExt cx="3415840" cy="1048361"/>
          </a:xfrm>
        </p:grpSpPr>
        <p:sp>
          <p:nvSpPr>
            <p:cNvPr id="128" name="Google Shape;437;g3a8a166b9a7_8_346">
              <a:extLst>
                <a:ext uri="{FF2B5EF4-FFF2-40B4-BE49-F238E27FC236}">
                  <a16:creationId xmlns:a16="http://schemas.microsoft.com/office/drawing/2014/main" id="{3B596CB1-F383-B401-A2FA-C0D6A0104994}"/>
                </a:ext>
              </a:extLst>
            </p:cNvPr>
            <p:cNvSpPr txBox="1"/>
            <p:nvPr/>
          </p:nvSpPr>
          <p:spPr>
            <a:xfrm>
              <a:off x="3501127" y="4905040"/>
              <a:ext cx="1682574" cy="498874"/>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 o</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29" name="Google Shape;438;g3a8a166b9a7_8_346">
              <a:extLst>
                <a:ext uri="{FF2B5EF4-FFF2-40B4-BE49-F238E27FC236}">
                  <a16:creationId xmlns:a16="http://schemas.microsoft.com/office/drawing/2014/main" id="{1C4C19FE-8279-12A3-F532-196AB403443F}"/>
                </a:ext>
              </a:extLst>
            </p:cNvPr>
            <p:cNvSpPr txBox="1"/>
            <p:nvPr/>
          </p:nvSpPr>
          <p:spPr>
            <a:xfrm>
              <a:off x="3511286" y="5444368"/>
              <a:ext cx="1682574" cy="498873"/>
            </a:xfrm>
            <a:prstGeom prst="rect">
              <a:avLst/>
            </a:prstGeom>
            <a:solidFill>
              <a:srgbClr val="D5DBE5"/>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Bajar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0" name="Google Shape;439;g3a8a166b9a7_8_346">
              <a:extLst>
                <a:ext uri="{FF2B5EF4-FFF2-40B4-BE49-F238E27FC236}">
                  <a16:creationId xmlns:a16="http://schemas.microsoft.com/office/drawing/2014/main" id="{BFAA4268-B484-6419-EA57-59E13C925EC2}"/>
                </a:ext>
              </a:extLst>
            </p:cNvPr>
            <p:cNvSpPr txBox="1"/>
            <p:nvPr/>
          </p:nvSpPr>
          <p:spPr>
            <a:xfrm>
              <a:off x="5224234" y="4915198"/>
              <a:ext cx="1682574" cy="498874"/>
            </a:xfrm>
            <a:prstGeom prst="rect">
              <a:avLst/>
            </a:prstGeom>
            <a:solidFill>
              <a:srgbClr val="ACB8CA">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1" name="Google Shape;440;g3a8a166b9a7_8_346">
              <a:extLst>
                <a:ext uri="{FF2B5EF4-FFF2-40B4-BE49-F238E27FC236}">
                  <a16:creationId xmlns:a16="http://schemas.microsoft.com/office/drawing/2014/main" id="{C207E727-9BF4-6C1E-1EB8-CE27FBF9B2D8}"/>
                </a:ext>
              </a:extLst>
            </p:cNvPr>
            <p:cNvSpPr txBox="1"/>
            <p:nvPr/>
          </p:nvSpPr>
          <p:spPr>
            <a:xfrm>
              <a:off x="5234393" y="5454524"/>
              <a:ext cx="1682574" cy="498877"/>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cxnSp>
        <p:nvCxnSpPr>
          <p:cNvPr id="132" name="Google Shape;441;g3a8a166b9a7_8_346">
            <a:extLst>
              <a:ext uri="{FF2B5EF4-FFF2-40B4-BE49-F238E27FC236}">
                <a16:creationId xmlns:a16="http://schemas.microsoft.com/office/drawing/2014/main" id="{F117BAF4-7C29-7DED-D9FD-4AB135242195}"/>
              </a:ext>
            </a:extLst>
          </p:cNvPr>
          <p:cNvCxnSpPr/>
          <p:nvPr/>
        </p:nvCxnSpPr>
        <p:spPr>
          <a:xfrm>
            <a:off x="8958199" y="4270488"/>
            <a:ext cx="0" cy="1025769"/>
          </a:xfrm>
          <a:prstGeom prst="straightConnector1">
            <a:avLst/>
          </a:prstGeom>
          <a:noFill/>
          <a:ln w="9525" cap="flat" cmpd="sng">
            <a:solidFill>
              <a:srgbClr val="354A49"/>
            </a:solidFill>
            <a:prstDash val="solid"/>
            <a:round/>
            <a:headEnd type="none" w="sm" len="sm"/>
            <a:tailEnd type="triangle" w="med" len="med"/>
          </a:ln>
        </p:spPr>
      </p:cxnSp>
      <p:sp>
        <p:nvSpPr>
          <p:cNvPr id="133" name="Google Shape;442;g3a8a166b9a7_8_346">
            <a:extLst>
              <a:ext uri="{FF2B5EF4-FFF2-40B4-BE49-F238E27FC236}">
                <a16:creationId xmlns:a16="http://schemas.microsoft.com/office/drawing/2014/main" id="{D3914734-C7C8-3C62-121E-B7A3A17747CB}"/>
              </a:ext>
            </a:extLst>
          </p:cNvPr>
          <p:cNvSpPr txBox="1"/>
          <p:nvPr/>
        </p:nvSpPr>
        <p:spPr>
          <a:xfrm>
            <a:off x="8358042" y="5353094"/>
            <a:ext cx="1166732" cy="266605"/>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Elasticidad</a:t>
            </a:r>
            <a:endParaRPr lang="es-ES_tradnl" sz="1600" kern="1200" noProof="0" dirty="0">
              <a:latin typeface="Poppins" panose="00000500000000000000" pitchFamily="2" charset="0"/>
              <a:ea typeface="Calibri"/>
              <a:cs typeface="Poppins" panose="00000500000000000000" pitchFamily="2" charset="0"/>
              <a:sym typeface="Calibri"/>
            </a:endParaRPr>
          </a:p>
        </p:txBody>
      </p:sp>
      <p:cxnSp>
        <p:nvCxnSpPr>
          <p:cNvPr id="134" name="Google Shape;443;g3a8a166b9a7_8_346">
            <a:extLst>
              <a:ext uri="{FF2B5EF4-FFF2-40B4-BE49-F238E27FC236}">
                <a16:creationId xmlns:a16="http://schemas.microsoft.com/office/drawing/2014/main" id="{2FD7E601-5507-3D95-07B9-30EDFD9EE598}"/>
              </a:ext>
            </a:extLst>
          </p:cNvPr>
          <p:cNvCxnSpPr/>
          <p:nvPr/>
        </p:nvCxnSpPr>
        <p:spPr>
          <a:xfrm>
            <a:off x="9021512" y="4274477"/>
            <a:ext cx="3022777" cy="12209"/>
          </a:xfrm>
          <a:prstGeom prst="straightConnector1">
            <a:avLst/>
          </a:prstGeom>
          <a:noFill/>
          <a:ln w="9525" cap="flat" cmpd="sng">
            <a:solidFill>
              <a:srgbClr val="354A49"/>
            </a:solidFill>
            <a:prstDash val="solid"/>
            <a:round/>
            <a:headEnd type="none" w="sm" len="sm"/>
            <a:tailEnd type="triangle" w="med" len="med"/>
          </a:ln>
        </p:spPr>
      </p:cxnSp>
      <p:sp>
        <p:nvSpPr>
          <p:cNvPr id="135" name="Google Shape;444;g3a8a166b9a7_8_346">
            <a:extLst>
              <a:ext uri="{FF2B5EF4-FFF2-40B4-BE49-F238E27FC236}">
                <a16:creationId xmlns:a16="http://schemas.microsoft.com/office/drawing/2014/main" id="{E6EF6F6F-11CB-B261-D674-7B611117E054}"/>
              </a:ext>
            </a:extLst>
          </p:cNvPr>
          <p:cNvSpPr txBox="1"/>
          <p:nvPr/>
        </p:nvSpPr>
        <p:spPr>
          <a:xfrm>
            <a:off x="11299678" y="3885515"/>
            <a:ext cx="1166732" cy="41017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err="1">
                <a:latin typeface="Poppins" panose="00000500000000000000" pitchFamily="2" charset="0"/>
                <a:ea typeface="Calibri"/>
                <a:cs typeface="Poppins" panose="00000500000000000000" pitchFamily="2" charset="0"/>
                <a:sym typeface="Calibri"/>
              </a:rPr>
              <a:t>Info</a:t>
            </a:r>
            <a:r>
              <a:rPr lang="es-ES_tradnl" sz="933" b="1" kern="1200" noProof="0" dirty="0">
                <a:latin typeface="Poppins" panose="00000500000000000000" pitchFamily="2" charset="0"/>
                <a:ea typeface="Calibri"/>
                <a:cs typeface="Poppins" panose="00000500000000000000" pitchFamily="2" charset="0"/>
                <a:sym typeface="Calibri"/>
              </a:rPr>
              <a:t>. </a:t>
            </a:r>
            <a:endParaRPr lang="es-ES_tradnl" sz="1600" kern="1200" noProof="0" dirty="0">
              <a:latin typeface="Poppins" panose="00000500000000000000" pitchFamily="2" charset="0"/>
              <a:ea typeface="Calibri"/>
              <a:cs typeface="Poppins" panose="00000500000000000000" pitchFamily="2" charset="0"/>
              <a:sym typeface="Calibri"/>
            </a:endParaRPr>
          </a:p>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mercado</a:t>
            </a:r>
            <a:endParaRPr lang="es-ES_tradnl" sz="1600" kern="1200" noProof="0" dirty="0">
              <a:latin typeface="Poppins" panose="00000500000000000000" pitchFamily="2" charset="0"/>
              <a:ea typeface="Calibri"/>
              <a:cs typeface="Poppins" panose="00000500000000000000" pitchFamily="2" charset="0"/>
              <a:sym typeface="Calibri"/>
            </a:endParaRPr>
          </a:p>
        </p:txBody>
      </p:sp>
      <p:sp>
        <p:nvSpPr>
          <p:cNvPr id="136" name="Google Shape;445;g3a8a166b9a7_8_346">
            <a:extLst>
              <a:ext uri="{FF2B5EF4-FFF2-40B4-BE49-F238E27FC236}">
                <a16:creationId xmlns:a16="http://schemas.microsoft.com/office/drawing/2014/main" id="{845FEC32-983C-9642-8BAF-6DE575E37A6C}"/>
              </a:ext>
            </a:extLst>
          </p:cNvPr>
          <p:cNvSpPr txBox="1"/>
          <p:nvPr/>
        </p:nvSpPr>
        <p:spPr>
          <a:xfrm>
            <a:off x="9202040" y="3946832"/>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7" name="Google Shape;446;g3a8a166b9a7_8_346">
            <a:extLst>
              <a:ext uri="{FF2B5EF4-FFF2-40B4-BE49-F238E27FC236}">
                <a16:creationId xmlns:a16="http://schemas.microsoft.com/office/drawing/2014/main" id="{28D0D1C8-E34B-5D02-15FA-E42D7CFD66FC}"/>
              </a:ext>
            </a:extLst>
          </p:cNvPr>
          <p:cNvSpPr txBox="1"/>
          <p:nvPr/>
        </p:nvSpPr>
        <p:spPr>
          <a:xfrm>
            <a:off x="10567486" y="3946832"/>
            <a:ext cx="109489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8" name="Google Shape;447;g3a8a166b9a7_8_346">
            <a:extLst>
              <a:ext uri="{FF2B5EF4-FFF2-40B4-BE49-F238E27FC236}">
                <a16:creationId xmlns:a16="http://schemas.microsoft.com/office/drawing/2014/main" id="{8B7D245B-2EC3-42D7-89E5-AC01C600717F}"/>
              </a:ext>
            </a:extLst>
          </p:cNvPr>
          <p:cNvSpPr txBox="1"/>
          <p:nvPr/>
        </p:nvSpPr>
        <p:spPr>
          <a:xfrm>
            <a:off x="8104760" y="426457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9" name="Google Shape;448;g3a8a166b9a7_8_346">
            <a:extLst>
              <a:ext uri="{FF2B5EF4-FFF2-40B4-BE49-F238E27FC236}">
                <a16:creationId xmlns:a16="http://schemas.microsoft.com/office/drawing/2014/main" id="{EFBA90D6-BB68-8AF1-01B4-AB433AC7C5D8}"/>
              </a:ext>
            </a:extLst>
          </p:cNvPr>
          <p:cNvSpPr txBox="1"/>
          <p:nvPr/>
        </p:nvSpPr>
        <p:spPr>
          <a:xfrm>
            <a:off x="8077666" y="484228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40" name="Google Shape;449;g3a8a166b9a7_8_346">
            <a:extLst>
              <a:ext uri="{FF2B5EF4-FFF2-40B4-BE49-F238E27FC236}">
                <a16:creationId xmlns:a16="http://schemas.microsoft.com/office/drawing/2014/main" id="{0BB97D4B-588B-B7A5-3760-E60C462B2AE4}"/>
              </a:ext>
            </a:extLst>
          </p:cNvPr>
          <p:cNvSpPr txBox="1"/>
          <p:nvPr/>
        </p:nvSpPr>
        <p:spPr>
          <a:xfrm>
            <a:off x="8699188" y="3839253"/>
            <a:ext cx="2823499"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solidFill>
                  <a:srgbClr val="217378"/>
                </a:solidFill>
                <a:latin typeface="Poppins" panose="00000500000000000000" pitchFamily="2" charset="0"/>
                <a:ea typeface="Calibri"/>
                <a:cs typeface="Poppins" panose="00000500000000000000" pitchFamily="2" charset="0"/>
                <a:sym typeface="Calibri"/>
              </a:rPr>
              <a:t>Tabla de decisión</a:t>
            </a:r>
            <a:endParaRPr lang="es-ES_tradnl" sz="1333" kern="1200" noProof="0" dirty="0">
              <a:latin typeface="Poppins" panose="00000500000000000000" pitchFamily="2" charset="0"/>
              <a:ea typeface="Calibri"/>
              <a:cs typeface="Poppins" panose="00000500000000000000" pitchFamily="2" charset="0"/>
              <a:sym typeface="Calibri"/>
            </a:endParaRPr>
          </a:p>
        </p:txBody>
      </p:sp>
      <p:sp>
        <p:nvSpPr>
          <p:cNvPr id="141" name="Google Shape;450;g3a8a166b9a7_8_346">
            <a:extLst>
              <a:ext uri="{FF2B5EF4-FFF2-40B4-BE49-F238E27FC236}">
                <a16:creationId xmlns:a16="http://schemas.microsoft.com/office/drawing/2014/main" id="{C9B6E767-CE0F-ABEA-E9D9-3FC35FA9687B}"/>
              </a:ext>
            </a:extLst>
          </p:cNvPr>
          <p:cNvSpPr txBox="1"/>
          <p:nvPr/>
        </p:nvSpPr>
        <p:spPr>
          <a:xfrm>
            <a:off x="8624285" y="5610447"/>
            <a:ext cx="3427713"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Ajustes por sensibilidad al precio y mercado</a:t>
            </a:r>
          </a:p>
        </p:txBody>
      </p:sp>
      <p:sp>
        <p:nvSpPr>
          <p:cNvPr id="142" name="Google Shape;451;g3a8a166b9a7_8_346">
            <a:extLst>
              <a:ext uri="{FF2B5EF4-FFF2-40B4-BE49-F238E27FC236}">
                <a16:creationId xmlns:a16="http://schemas.microsoft.com/office/drawing/2014/main" id="{2A824BEA-0EE0-ADC0-77CE-E0D3DC341555}"/>
              </a:ext>
            </a:extLst>
          </p:cNvPr>
          <p:cNvSpPr txBox="1"/>
          <p:nvPr/>
        </p:nvSpPr>
        <p:spPr>
          <a:xfrm>
            <a:off x="12356471" y="6511523"/>
            <a:ext cx="3644792"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RPr lang="es-PE"/>
            </a:defPPr>
            <a:lvl1pPr marL="171450" marR="0" lvl="0" indent="-171450">
              <a:lnSpc>
                <a:spcPct val="100000"/>
              </a:lnSpc>
              <a:spcBef>
                <a:spcPts val="0"/>
              </a:spcBef>
              <a:spcAft>
                <a:spcPts val="0"/>
              </a:spcAft>
              <a:buClr>
                <a:srgbClr val="000000"/>
              </a:buClr>
              <a:buSzPts val="1500"/>
              <a:buFont typeface="Arial"/>
              <a:buChar char="•"/>
              <a:defRPr sz="1000" b="0" i="0" u="none" strike="noStrike" cap="none">
                <a:solidFill>
                  <a:srgbClr val="000000"/>
                </a:solidFill>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marL="228594" indent="-228594" defTabSz="1219170">
              <a:defRPr/>
            </a:pPr>
            <a:r>
              <a:rPr lang="es-ES_tradnl" sz="1467" kern="1200" noProof="0" dirty="0">
                <a:sym typeface="Calibri"/>
              </a:rPr>
              <a:t>Definir rangos de negociación</a:t>
            </a:r>
          </a:p>
          <a:p>
            <a:pPr marL="228594" indent="-228594" defTabSz="1219170">
              <a:defRPr/>
            </a:pPr>
            <a:r>
              <a:rPr lang="es-ES_tradnl" sz="1467" kern="1200" noProof="0" dirty="0">
                <a:sym typeface="Calibri"/>
              </a:rPr>
              <a:t>Lineamientos de excepciones , gestión d promesas y/o re pricing</a:t>
            </a:r>
          </a:p>
          <a:p>
            <a:pPr marL="0" indent="0" defTabSz="1219170">
              <a:buNone/>
              <a:defRPr/>
            </a:pPr>
            <a:endParaRPr lang="es-ES_tradnl" sz="1467" kern="1200" noProof="0" dirty="0">
              <a:sym typeface="Calibri"/>
            </a:endParaRPr>
          </a:p>
          <a:p>
            <a:pPr marL="0" indent="0" defTabSz="1219170">
              <a:buNone/>
              <a:defRPr/>
            </a:pPr>
            <a:r>
              <a:rPr lang="es-ES_tradnl" sz="1467" kern="1200" noProof="0" dirty="0">
                <a:sym typeface="Calibri"/>
              </a:rPr>
              <a:t>CLV para monitoreo de rentabilidad de cosechas y </a:t>
            </a:r>
            <a:r>
              <a:rPr lang="es-ES_tradnl" sz="1467" kern="1200" noProof="0" dirty="0" err="1">
                <a:sym typeface="Calibri"/>
              </a:rPr>
              <a:t>dash</a:t>
            </a:r>
            <a:r>
              <a:rPr lang="es-ES_tradnl" sz="1467" kern="1200" noProof="0" dirty="0">
                <a:sym typeface="Calibri"/>
              </a:rPr>
              <a:t> excepciones</a:t>
            </a:r>
          </a:p>
        </p:txBody>
      </p:sp>
      <p:sp>
        <p:nvSpPr>
          <p:cNvPr id="143" name="Google Shape;452;g3a8a166b9a7_8_346">
            <a:extLst>
              <a:ext uri="{FF2B5EF4-FFF2-40B4-BE49-F238E27FC236}">
                <a16:creationId xmlns:a16="http://schemas.microsoft.com/office/drawing/2014/main" id="{1DCA906B-5BAE-E0C3-03C5-93052CE3388C}"/>
              </a:ext>
            </a:extLst>
          </p:cNvPr>
          <p:cNvSpPr txBox="1"/>
          <p:nvPr/>
        </p:nvSpPr>
        <p:spPr>
          <a:xfrm>
            <a:off x="8591735" y="3138105"/>
            <a:ext cx="3333215"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03 Ajuste por sensibilidad</a:t>
            </a:r>
          </a:p>
        </p:txBody>
      </p:sp>
      <p:sp>
        <p:nvSpPr>
          <p:cNvPr id="144" name="Google Shape;453;g3a8a166b9a7_8_346">
            <a:extLst>
              <a:ext uri="{FF2B5EF4-FFF2-40B4-BE49-F238E27FC236}">
                <a16:creationId xmlns:a16="http://schemas.microsoft.com/office/drawing/2014/main" id="{C1AF5AB9-8BC6-7614-DC2E-578795A801F7}"/>
              </a:ext>
            </a:extLst>
          </p:cNvPr>
          <p:cNvSpPr txBox="1"/>
          <p:nvPr/>
        </p:nvSpPr>
        <p:spPr>
          <a:xfrm>
            <a:off x="12593285" y="2987519"/>
            <a:ext cx="3138559" cy="6975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olidFill>
                  <a:srgbClr val="FFFFFF"/>
                </a:solidFill>
                <a:sym typeface="Calibri"/>
              </a:rPr>
              <a:t>04 Monitoreo y gestión de excepciones</a:t>
            </a:r>
          </a:p>
        </p:txBody>
      </p:sp>
      <p:cxnSp>
        <p:nvCxnSpPr>
          <p:cNvPr id="145" name="Google Shape;454;g3a8a166b9a7_8_346">
            <a:extLst>
              <a:ext uri="{FF2B5EF4-FFF2-40B4-BE49-F238E27FC236}">
                <a16:creationId xmlns:a16="http://schemas.microsoft.com/office/drawing/2014/main" id="{3B6D304B-A54C-2EAD-DC26-5D97DD678B6E}"/>
              </a:ext>
            </a:extLst>
          </p:cNvPr>
          <p:cNvCxnSpPr>
            <a:cxnSpLocks/>
            <a:stCxn id="123" idx="2"/>
            <a:endCxn id="120" idx="0"/>
          </p:cNvCxnSpPr>
          <p:nvPr/>
        </p:nvCxnSpPr>
        <p:spPr>
          <a:xfrm rot="10800000" flipV="1">
            <a:off x="2301270" y="1915678"/>
            <a:ext cx="4960589" cy="1064757"/>
          </a:xfrm>
          <a:prstGeom prst="bentConnector2">
            <a:avLst/>
          </a:prstGeom>
          <a:noFill/>
          <a:ln w="9525" cap="flat" cmpd="sng">
            <a:solidFill>
              <a:schemeClr val="tx1"/>
            </a:solidFill>
            <a:prstDash val="solid"/>
            <a:round/>
            <a:headEnd type="none" w="sm" len="sm"/>
            <a:tailEnd type="triangle" w="med" len="med"/>
          </a:ln>
        </p:spPr>
      </p:cxnSp>
      <p:cxnSp>
        <p:nvCxnSpPr>
          <p:cNvPr id="146" name="Google Shape;455;g3a8a166b9a7_8_346">
            <a:extLst>
              <a:ext uri="{FF2B5EF4-FFF2-40B4-BE49-F238E27FC236}">
                <a16:creationId xmlns:a16="http://schemas.microsoft.com/office/drawing/2014/main" id="{8A8B6BBD-ECDB-D0F8-4191-08BC8D8A83AD}"/>
              </a:ext>
            </a:extLst>
          </p:cNvPr>
          <p:cNvCxnSpPr>
            <a:cxnSpLocks/>
            <a:stCxn id="123" idx="6"/>
            <a:endCxn id="109" idx="0"/>
          </p:cNvCxnSpPr>
          <p:nvPr/>
        </p:nvCxnSpPr>
        <p:spPr>
          <a:xfrm>
            <a:off x="9197339" y="1915678"/>
            <a:ext cx="4964859" cy="1092141"/>
          </a:xfrm>
          <a:prstGeom prst="bentConnector2">
            <a:avLst/>
          </a:prstGeom>
          <a:noFill/>
          <a:ln w="9525" cap="flat" cmpd="sng">
            <a:solidFill>
              <a:schemeClr val="tx1"/>
            </a:solidFill>
            <a:prstDash val="solid"/>
            <a:round/>
            <a:headEnd type="none" w="sm" len="sm"/>
            <a:tailEnd type="triangle" w="med" len="med"/>
          </a:ln>
        </p:spPr>
      </p:cxnSp>
      <p:cxnSp>
        <p:nvCxnSpPr>
          <p:cNvPr id="147" name="Google Shape;456;g3a8a166b9a7_8_346">
            <a:extLst>
              <a:ext uri="{FF2B5EF4-FFF2-40B4-BE49-F238E27FC236}">
                <a16:creationId xmlns:a16="http://schemas.microsoft.com/office/drawing/2014/main" id="{A6D5ADCC-7275-21F0-5E4B-0830A187C703}"/>
              </a:ext>
            </a:extLst>
          </p:cNvPr>
          <p:cNvCxnSpPr>
            <a:stCxn id="123" idx="5"/>
            <a:endCxn id="143" idx="0"/>
          </p:cNvCxnSpPr>
          <p:nvPr/>
        </p:nvCxnSpPr>
        <p:spPr>
          <a:xfrm rot="16200000" flipH="1">
            <a:off x="9307773" y="2187536"/>
            <a:ext cx="556691" cy="1344448"/>
          </a:xfrm>
          <a:prstGeom prst="bentConnector3">
            <a:avLst>
              <a:gd name="adj1" fmla="val 38097"/>
            </a:avLst>
          </a:prstGeom>
          <a:noFill/>
          <a:ln w="9525" cap="flat" cmpd="sng">
            <a:solidFill>
              <a:schemeClr val="tx1"/>
            </a:solidFill>
            <a:prstDash val="solid"/>
            <a:round/>
            <a:headEnd type="none" w="sm" len="sm"/>
            <a:tailEnd type="triangle" w="med" len="med"/>
          </a:ln>
        </p:spPr>
      </p:cxnSp>
      <p:sp>
        <p:nvSpPr>
          <p:cNvPr id="148" name="Google Shape;465;g3a8a166b9a7_8_346">
            <a:extLst>
              <a:ext uri="{FF2B5EF4-FFF2-40B4-BE49-F238E27FC236}">
                <a16:creationId xmlns:a16="http://schemas.microsoft.com/office/drawing/2014/main" id="{61D5493A-5CE0-7D2C-1805-10340D7ADED7}"/>
              </a:ext>
            </a:extLst>
          </p:cNvPr>
          <p:cNvSpPr txBox="1"/>
          <p:nvPr/>
        </p:nvSpPr>
        <p:spPr>
          <a:xfrm>
            <a:off x="512076" y="3138105"/>
            <a:ext cx="3600000" cy="432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2700"/>
              <a:defRPr/>
            </a:pPr>
            <a:r>
              <a:rPr lang="es-ES_tradnl" sz="1600" b="1" kern="1200" noProof="0" dirty="0">
                <a:solidFill>
                  <a:prstClr val="white"/>
                </a:solidFill>
                <a:latin typeface="Poppins" panose="00000500000000000000" pitchFamily="2" charset="0"/>
                <a:ea typeface="Calibri"/>
                <a:cs typeface="Poppins" panose="00000500000000000000" pitchFamily="2" charset="0"/>
                <a:sym typeface="Calibri"/>
              </a:rPr>
              <a:t>01 Segmentación inteligente</a:t>
            </a:r>
          </a:p>
        </p:txBody>
      </p:sp>
      <p:sp>
        <p:nvSpPr>
          <p:cNvPr id="149" name="Google Shape;466;g3a8a166b9a7_8_346">
            <a:extLst>
              <a:ext uri="{FF2B5EF4-FFF2-40B4-BE49-F238E27FC236}">
                <a16:creationId xmlns:a16="http://schemas.microsoft.com/office/drawing/2014/main" id="{BC2621BE-2DC0-F737-7474-C435A11F36C4}"/>
              </a:ext>
            </a:extLst>
          </p:cNvPr>
          <p:cNvSpPr txBox="1"/>
          <p:nvPr/>
        </p:nvSpPr>
        <p:spPr>
          <a:xfrm>
            <a:off x="4347194" y="5610447"/>
            <a:ext cx="3885407" cy="861704"/>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600" b="1" kern="1200" noProof="0" dirty="0">
                <a:latin typeface="Poppins" panose="00000500000000000000" pitchFamily="2" charset="0"/>
                <a:ea typeface="Calibri"/>
                <a:cs typeface="Poppins" panose="00000500000000000000" pitchFamily="2" charset="0"/>
                <a:sym typeface="Calibri"/>
              </a:rPr>
              <a:t>Tasa alineada a rentabilidad objetivo y componentes dinámicos de riesgo</a:t>
            </a:r>
          </a:p>
        </p:txBody>
      </p:sp>
      <p:sp>
        <p:nvSpPr>
          <p:cNvPr id="150" name="Google Shape;467;g3a8a166b9a7_8_346">
            <a:extLst>
              <a:ext uri="{FF2B5EF4-FFF2-40B4-BE49-F238E27FC236}">
                <a16:creationId xmlns:a16="http://schemas.microsoft.com/office/drawing/2014/main" id="{480765DB-E0F1-D7FB-80B5-CAD52AAE3D67}"/>
              </a:ext>
            </a:extLst>
          </p:cNvPr>
          <p:cNvSpPr txBox="1"/>
          <p:nvPr/>
        </p:nvSpPr>
        <p:spPr>
          <a:xfrm>
            <a:off x="4581633" y="3138105"/>
            <a:ext cx="3421279"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02 Motor de Rentabilidad</a:t>
            </a:r>
          </a:p>
        </p:txBody>
      </p:sp>
      <p:cxnSp>
        <p:nvCxnSpPr>
          <p:cNvPr id="151" name="Google Shape;468;g3a8a166b9a7_8_346">
            <a:extLst>
              <a:ext uri="{FF2B5EF4-FFF2-40B4-BE49-F238E27FC236}">
                <a16:creationId xmlns:a16="http://schemas.microsoft.com/office/drawing/2014/main" id="{CD1D1830-7D10-132C-35AE-D9B4CA7D20CB}"/>
              </a:ext>
            </a:extLst>
          </p:cNvPr>
          <p:cNvCxnSpPr>
            <a:cxnSpLocks/>
            <a:stCxn id="123" idx="3"/>
            <a:endCxn id="110" idx="0"/>
          </p:cNvCxnSpPr>
          <p:nvPr/>
        </p:nvCxnSpPr>
        <p:spPr>
          <a:xfrm rot="5400000">
            <a:off x="6714277" y="2159041"/>
            <a:ext cx="408651" cy="1253401"/>
          </a:xfrm>
          <a:prstGeom prst="bentConnector3">
            <a:avLst>
              <a:gd name="adj1" fmla="val 50000"/>
            </a:avLst>
          </a:prstGeom>
          <a:noFill/>
          <a:ln w="9525" cap="flat" cmpd="sng">
            <a:solidFill>
              <a:schemeClr val="tx1"/>
            </a:solidFill>
            <a:prstDash val="solid"/>
            <a:round/>
            <a:headEnd type="none" w="sm" len="sm"/>
            <a:tailEnd type="triangle" w="med" len="med"/>
          </a:ln>
        </p:spPr>
      </p:cxnSp>
      <p:grpSp>
        <p:nvGrpSpPr>
          <p:cNvPr id="152" name="Google Shape;470;g3a8a166b9a7_8_346">
            <a:extLst>
              <a:ext uri="{FF2B5EF4-FFF2-40B4-BE49-F238E27FC236}">
                <a16:creationId xmlns:a16="http://schemas.microsoft.com/office/drawing/2014/main" id="{F7689088-809E-98A3-DB0A-6E1C1FCB5831}"/>
              </a:ext>
            </a:extLst>
          </p:cNvPr>
          <p:cNvGrpSpPr/>
          <p:nvPr/>
        </p:nvGrpSpPr>
        <p:grpSpPr>
          <a:xfrm>
            <a:off x="4645762" y="3739576"/>
            <a:ext cx="3357500" cy="1937920"/>
            <a:chOff x="4947976" y="3643837"/>
            <a:chExt cx="3357499" cy="1937920"/>
          </a:xfrm>
        </p:grpSpPr>
        <p:grpSp>
          <p:nvGrpSpPr>
            <p:cNvPr id="153" name="Google Shape;471;g3a8a166b9a7_8_346">
              <a:extLst>
                <a:ext uri="{FF2B5EF4-FFF2-40B4-BE49-F238E27FC236}">
                  <a16:creationId xmlns:a16="http://schemas.microsoft.com/office/drawing/2014/main" id="{C685FC78-7724-B5CA-8644-629440DD63F2}"/>
                </a:ext>
              </a:extLst>
            </p:cNvPr>
            <p:cNvGrpSpPr/>
            <p:nvPr/>
          </p:nvGrpSpPr>
          <p:grpSpPr>
            <a:xfrm>
              <a:off x="4947976" y="3643837"/>
              <a:ext cx="3357499" cy="1937920"/>
              <a:chOff x="4620745" y="3880801"/>
              <a:chExt cx="3357499" cy="1937920"/>
            </a:xfrm>
          </p:grpSpPr>
          <p:grpSp>
            <p:nvGrpSpPr>
              <p:cNvPr id="155" name="Google Shape;472;g3a8a166b9a7_8_346">
                <a:extLst>
                  <a:ext uri="{FF2B5EF4-FFF2-40B4-BE49-F238E27FC236}">
                    <a16:creationId xmlns:a16="http://schemas.microsoft.com/office/drawing/2014/main" id="{14064E49-CAD8-4A57-E1B3-8958A15DCBA4}"/>
                  </a:ext>
                </a:extLst>
              </p:cNvPr>
              <p:cNvGrpSpPr/>
              <p:nvPr/>
            </p:nvGrpSpPr>
            <p:grpSpPr>
              <a:xfrm>
                <a:off x="5041054" y="3920310"/>
                <a:ext cx="2668940" cy="1381764"/>
                <a:chOff x="247455" y="816623"/>
                <a:chExt cx="8571119" cy="4759668"/>
              </a:xfrm>
            </p:grpSpPr>
            <p:sp>
              <p:nvSpPr>
                <p:cNvPr id="160" name="Google Shape;473;g3a8a166b9a7_8_346">
                  <a:extLst>
                    <a:ext uri="{FF2B5EF4-FFF2-40B4-BE49-F238E27FC236}">
                      <a16:creationId xmlns:a16="http://schemas.microsoft.com/office/drawing/2014/main" id="{4C1770E5-D1B7-2D5F-54D8-22829CA413E5}"/>
                    </a:ext>
                  </a:extLst>
                </p:cNvPr>
                <p:cNvSpPr/>
                <p:nvPr/>
              </p:nvSpPr>
              <p:spPr>
                <a:xfrm>
                  <a:off x="5173277" y="816623"/>
                  <a:ext cx="470995" cy="417238"/>
                </a:xfrm>
                <a:prstGeom prst="flowChartConnector">
                  <a:avLst/>
                </a:prstGeom>
                <a:solidFill>
                  <a:srgbClr val="BFBFBF"/>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1" name="Google Shape;474;g3a8a166b9a7_8_346">
                  <a:extLst>
                    <a:ext uri="{FF2B5EF4-FFF2-40B4-BE49-F238E27FC236}">
                      <a16:creationId xmlns:a16="http://schemas.microsoft.com/office/drawing/2014/main" id="{234170F8-D563-2E32-AD9D-B888FB5658C0}"/>
                    </a:ext>
                  </a:extLst>
                </p:cNvPr>
                <p:cNvSpPr/>
                <p:nvPr/>
              </p:nvSpPr>
              <p:spPr>
                <a:xfrm>
                  <a:off x="6846027" y="2207321"/>
                  <a:ext cx="1056576" cy="1322550"/>
                </a:xfrm>
                <a:prstGeom prst="flowChartAlternateProcess">
                  <a:avLst/>
                </a:prstGeom>
                <a:solidFill>
                  <a:srgbClr val="7B7B7B"/>
                </a:solidFill>
                <a:ln>
                  <a:noFill/>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2" name="Google Shape;475;g3a8a166b9a7_8_346">
                  <a:extLst>
                    <a:ext uri="{FF2B5EF4-FFF2-40B4-BE49-F238E27FC236}">
                      <a16:creationId xmlns:a16="http://schemas.microsoft.com/office/drawing/2014/main" id="{5EA61574-C6CB-DCF1-F799-7DD5E655259B}"/>
                    </a:ext>
                  </a:extLst>
                </p:cNvPr>
                <p:cNvSpPr/>
                <p:nvPr/>
              </p:nvSpPr>
              <p:spPr>
                <a:xfrm>
                  <a:off x="6444483" y="3753100"/>
                  <a:ext cx="1468755" cy="536288"/>
                </a:xfrm>
                <a:prstGeom prst="roundRect">
                  <a:avLst>
                    <a:gd name="adj" fmla="val 16667"/>
                  </a:avLst>
                </a:prstGeom>
                <a:solidFill>
                  <a:srgbClr val="217378">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3" name="Google Shape;476;g3a8a166b9a7_8_346">
                  <a:extLst>
                    <a:ext uri="{FF2B5EF4-FFF2-40B4-BE49-F238E27FC236}">
                      <a16:creationId xmlns:a16="http://schemas.microsoft.com/office/drawing/2014/main" id="{119AE35C-CDD7-FBC8-001E-49FE926412A6}"/>
                    </a:ext>
                  </a:extLst>
                </p:cNvPr>
                <p:cNvSpPr/>
                <p:nvPr/>
              </p:nvSpPr>
              <p:spPr>
                <a:xfrm>
                  <a:off x="500733" y="4986740"/>
                  <a:ext cx="1603400" cy="568050"/>
                </a:xfrm>
                <a:prstGeom prst="rect">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4" name="Google Shape;477;g3a8a166b9a7_8_346">
                  <a:extLst>
                    <a:ext uri="{FF2B5EF4-FFF2-40B4-BE49-F238E27FC236}">
                      <a16:creationId xmlns:a16="http://schemas.microsoft.com/office/drawing/2014/main" id="{23E129EB-BFB2-0DF2-767E-3137B6406B04}"/>
                    </a:ext>
                  </a:extLst>
                </p:cNvPr>
                <p:cNvSpPr/>
                <p:nvPr/>
              </p:nvSpPr>
              <p:spPr>
                <a:xfrm>
                  <a:off x="1564684" y="1865567"/>
                  <a:ext cx="4777332" cy="3710724"/>
                </a:xfrm>
                <a:prstGeom prst="flowChartAlternateProcess">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5" name="Google Shape;478;g3a8a166b9a7_8_346">
                  <a:extLst>
                    <a:ext uri="{FF2B5EF4-FFF2-40B4-BE49-F238E27FC236}">
                      <a16:creationId xmlns:a16="http://schemas.microsoft.com/office/drawing/2014/main" id="{2EC3E3B7-5D88-F2E5-8FF8-A75BC4AA2646}"/>
                    </a:ext>
                  </a:extLst>
                </p:cNvPr>
                <p:cNvSpPr/>
                <p:nvPr/>
              </p:nvSpPr>
              <p:spPr>
                <a:xfrm rot="-9043956">
                  <a:off x="247455" y="3453645"/>
                  <a:ext cx="1000092" cy="572202"/>
                </a:xfrm>
                <a:prstGeom prst="diagStripe">
                  <a:avLst>
                    <a:gd name="adj" fmla="val 5000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66" name="Google Shape;479;g3a8a166b9a7_8_346">
                  <a:extLst>
                    <a:ext uri="{FF2B5EF4-FFF2-40B4-BE49-F238E27FC236}">
                      <a16:creationId xmlns:a16="http://schemas.microsoft.com/office/drawing/2014/main" id="{586CFEEF-B08E-EC25-46DE-E43B469B403C}"/>
                    </a:ext>
                  </a:extLst>
                </p:cNvPr>
                <p:cNvSpPr/>
                <p:nvPr/>
              </p:nvSpPr>
              <p:spPr>
                <a:xfrm>
                  <a:off x="497840" y="3992818"/>
                  <a:ext cx="760065" cy="988092"/>
                </a:xfrm>
                <a:prstGeom prst="snip2SameRect">
                  <a:avLst>
                    <a:gd name="adj1" fmla="val 16667"/>
                    <a:gd name="adj2" fmla="val 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7" name="Google Shape;480;g3a8a166b9a7_8_346">
                  <a:extLst>
                    <a:ext uri="{FF2B5EF4-FFF2-40B4-BE49-F238E27FC236}">
                      <a16:creationId xmlns:a16="http://schemas.microsoft.com/office/drawing/2014/main" id="{913ECC53-9970-68F7-E0C4-78C86A3E7936}"/>
                    </a:ext>
                  </a:extLst>
                </p:cNvPr>
                <p:cNvSpPr/>
                <p:nvPr/>
              </p:nvSpPr>
              <p:spPr>
                <a:xfrm>
                  <a:off x="6096001" y="3619447"/>
                  <a:ext cx="328590" cy="774450"/>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8" name="Google Shape;481;g3a8a166b9a7_8_346">
                  <a:extLst>
                    <a:ext uri="{FF2B5EF4-FFF2-40B4-BE49-F238E27FC236}">
                      <a16:creationId xmlns:a16="http://schemas.microsoft.com/office/drawing/2014/main" id="{B9887CE6-DCF2-913B-A9AD-F1DD3BFB560C}"/>
                    </a:ext>
                  </a:extLst>
                </p:cNvPr>
                <p:cNvSpPr/>
                <p:nvPr/>
              </p:nvSpPr>
              <p:spPr>
                <a:xfrm>
                  <a:off x="1971040" y="1057362"/>
                  <a:ext cx="3487910" cy="816900"/>
                </a:xfrm>
                <a:prstGeom prst="flowChartTerminator">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9" name="Google Shape;482;g3a8a166b9a7_8_346">
                  <a:extLst>
                    <a:ext uri="{FF2B5EF4-FFF2-40B4-BE49-F238E27FC236}">
                      <a16:creationId xmlns:a16="http://schemas.microsoft.com/office/drawing/2014/main" id="{E700F7B3-FD51-47AE-41EB-C0590E261F1E}"/>
                    </a:ext>
                  </a:extLst>
                </p:cNvPr>
                <p:cNvSpPr/>
                <p:nvPr/>
              </p:nvSpPr>
              <p:spPr>
                <a:xfrm>
                  <a:off x="6425043" y="3832091"/>
                  <a:ext cx="1607485" cy="536288"/>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0" name="Google Shape;483;g3a8a166b9a7_8_346">
                  <a:extLst>
                    <a:ext uri="{FF2B5EF4-FFF2-40B4-BE49-F238E27FC236}">
                      <a16:creationId xmlns:a16="http://schemas.microsoft.com/office/drawing/2014/main" id="{2AAA0E93-FE20-91A3-796E-1760C04EFC59}"/>
                    </a:ext>
                  </a:extLst>
                </p:cNvPr>
                <p:cNvSpPr/>
                <p:nvPr/>
              </p:nvSpPr>
              <p:spPr>
                <a:xfrm>
                  <a:off x="6424590" y="3842251"/>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1" name="Google Shape;484;g3a8a166b9a7_8_346">
                  <a:extLst>
                    <a:ext uri="{FF2B5EF4-FFF2-40B4-BE49-F238E27FC236}">
                      <a16:creationId xmlns:a16="http://schemas.microsoft.com/office/drawing/2014/main" id="{1EA2F481-7ABF-4B12-EAA6-3B787392CBA9}"/>
                    </a:ext>
                  </a:extLst>
                </p:cNvPr>
                <p:cNvSpPr/>
                <p:nvPr/>
              </p:nvSpPr>
              <p:spPr>
                <a:xfrm>
                  <a:off x="7521856" y="3823916"/>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2" name="Google Shape;485;g3a8a166b9a7_8_346">
                  <a:extLst>
                    <a:ext uri="{FF2B5EF4-FFF2-40B4-BE49-F238E27FC236}">
                      <a16:creationId xmlns:a16="http://schemas.microsoft.com/office/drawing/2014/main" id="{E372DD35-8EE6-9518-5AB0-D4CE3FE244DF}"/>
                    </a:ext>
                  </a:extLst>
                </p:cNvPr>
                <p:cNvSpPr/>
                <p:nvPr/>
              </p:nvSpPr>
              <p:spPr>
                <a:xfrm>
                  <a:off x="6928441" y="3937656"/>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3" name="Google Shape;486;g3a8a166b9a7_8_346">
                  <a:extLst>
                    <a:ext uri="{FF2B5EF4-FFF2-40B4-BE49-F238E27FC236}">
                      <a16:creationId xmlns:a16="http://schemas.microsoft.com/office/drawing/2014/main" id="{435139BF-E31D-EE7F-6811-16928092F10A}"/>
                    </a:ext>
                  </a:extLst>
                </p:cNvPr>
                <p:cNvSpPr/>
                <p:nvPr/>
              </p:nvSpPr>
              <p:spPr>
                <a:xfrm>
                  <a:off x="7219069" y="3951827"/>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cxnSp>
              <p:nvCxnSpPr>
                <p:cNvPr id="174" name="Google Shape;487;g3a8a166b9a7_8_346">
                  <a:extLst>
                    <a:ext uri="{FF2B5EF4-FFF2-40B4-BE49-F238E27FC236}">
                      <a16:creationId xmlns:a16="http://schemas.microsoft.com/office/drawing/2014/main" id="{F7A8976A-21F2-3989-AD90-4183248318CA}"/>
                    </a:ext>
                  </a:extLst>
                </p:cNvPr>
                <p:cNvCxnSpPr/>
                <p:nvPr/>
              </p:nvCxnSpPr>
              <p:spPr>
                <a:xfrm>
                  <a:off x="2234261" y="3314997"/>
                  <a:ext cx="3249826" cy="25410"/>
                </a:xfrm>
                <a:prstGeom prst="straightConnector1">
                  <a:avLst/>
                </a:prstGeom>
                <a:noFill/>
                <a:ln w="9525" cap="flat" cmpd="sng">
                  <a:solidFill>
                    <a:srgbClr val="217378"/>
                  </a:solidFill>
                  <a:prstDash val="solid"/>
                  <a:round/>
                  <a:headEnd type="none" w="sm" len="sm"/>
                  <a:tailEnd type="triangle" w="med" len="med"/>
                </a:ln>
              </p:spPr>
            </p:cxnSp>
            <p:cxnSp>
              <p:nvCxnSpPr>
                <p:cNvPr id="175" name="Google Shape;488;g3a8a166b9a7_8_346">
                  <a:extLst>
                    <a:ext uri="{FF2B5EF4-FFF2-40B4-BE49-F238E27FC236}">
                      <a16:creationId xmlns:a16="http://schemas.microsoft.com/office/drawing/2014/main" id="{912F6717-F8B4-4FC7-C5EE-83874340A239}"/>
                    </a:ext>
                  </a:extLst>
                </p:cNvPr>
                <p:cNvCxnSpPr/>
                <p:nvPr/>
              </p:nvCxnSpPr>
              <p:spPr>
                <a:xfrm>
                  <a:off x="2255368" y="3725054"/>
                  <a:ext cx="2876550" cy="0"/>
                </a:xfrm>
                <a:prstGeom prst="straightConnector1">
                  <a:avLst/>
                </a:prstGeom>
                <a:noFill/>
                <a:ln w="9525" cap="flat" cmpd="sng">
                  <a:solidFill>
                    <a:srgbClr val="217378"/>
                  </a:solidFill>
                  <a:prstDash val="solid"/>
                  <a:round/>
                  <a:headEnd type="none" w="sm" len="sm"/>
                  <a:tailEnd type="none" w="sm" len="sm"/>
                </a:ln>
              </p:spPr>
            </p:cxnSp>
            <p:sp>
              <p:nvSpPr>
                <p:cNvPr id="176" name="Google Shape;489;g3a8a166b9a7_8_346">
                  <a:extLst>
                    <a:ext uri="{FF2B5EF4-FFF2-40B4-BE49-F238E27FC236}">
                      <a16:creationId xmlns:a16="http://schemas.microsoft.com/office/drawing/2014/main" id="{850B4C3E-5608-01AC-A9D2-9873412D2CD7}"/>
                    </a:ext>
                  </a:extLst>
                </p:cNvPr>
                <p:cNvSpPr/>
                <p:nvPr/>
              </p:nvSpPr>
              <p:spPr>
                <a:xfrm>
                  <a:off x="2286000" y="2186764"/>
                  <a:ext cx="223796" cy="111608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7" name="Google Shape;490;g3a8a166b9a7_8_346">
                  <a:extLst>
                    <a:ext uri="{FF2B5EF4-FFF2-40B4-BE49-F238E27FC236}">
                      <a16:creationId xmlns:a16="http://schemas.microsoft.com/office/drawing/2014/main" id="{AA5484C3-1A2F-1550-FC6D-43D1431BB4A5}"/>
                    </a:ext>
                  </a:extLst>
                </p:cNvPr>
                <p:cNvSpPr/>
                <p:nvPr/>
              </p:nvSpPr>
              <p:spPr>
                <a:xfrm>
                  <a:off x="2581275" y="2321724"/>
                  <a:ext cx="195221" cy="98112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8" name="Google Shape;491;g3a8a166b9a7_8_346">
                  <a:extLst>
                    <a:ext uri="{FF2B5EF4-FFF2-40B4-BE49-F238E27FC236}">
                      <a16:creationId xmlns:a16="http://schemas.microsoft.com/office/drawing/2014/main" id="{A206F677-1856-8338-23DE-B426C0CD7A66}"/>
                    </a:ext>
                  </a:extLst>
                </p:cNvPr>
                <p:cNvSpPr/>
                <p:nvPr/>
              </p:nvSpPr>
              <p:spPr>
                <a:xfrm>
                  <a:off x="2886075" y="2439418"/>
                  <a:ext cx="195221" cy="86343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9" name="Google Shape;492;g3a8a166b9a7_8_346">
                  <a:extLst>
                    <a:ext uri="{FF2B5EF4-FFF2-40B4-BE49-F238E27FC236}">
                      <a16:creationId xmlns:a16="http://schemas.microsoft.com/office/drawing/2014/main" id="{5B3570AF-9316-2BB1-747F-3A34F6909145}"/>
                    </a:ext>
                  </a:extLst>
                </p:cNvPr>
                <p:cNvSpPr/>
                <p:nvPr/>
              </p:nvSpPr>
              <p:spPr>
                <a:xfrm>
                  <a:off x="3190875" y="2588426"/>
                  <a:ext cx="195221" cy="714423"/>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0" name="Google Shape;493;g3a8a166b9a7_8_346">
                  <a:extLst>
                    <a:ext uri="{FF2B5EF4-FFF2-40B4-BE49-F238E27FC236}">
                      <a16:creationId xmlns:a16="http://schemas.microsoft.com/office/drawing/2014/main" id="{E1D88AA8-3664-0D45-709C-2C68EF33508C}"/>
                    </a:ext>
                  </a:extLst>
                </p:cNvPr>
                <p:cNvSpPr/>
                <p:nvPr/>
              </p:nvSpPr>
              <p:spPr>
                <a:xfrm>
                  <a:off x="3486150" y="2730083"/>
                  <a:ext cx="195221" cy="58229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1" name="Google Shape;494;g3a8a166b9a7_8_346">
                  <a:extLst>
                    <a:ext uri="{FF2B5EF4-FFF2-40B4-BE49-F238E27FC236}">
                      <a16:creationId xmlns:a16="http://schemas.microsoft.com/office/drawing/2014/main" id="{0EF882B8-F0A1-036B-A4EE-E1E2EFF915BE}"/>
                    </a:ext>
                  </a:extLst>
                </p:cNvPr>
                <p:cNvSpPr/>
                <p:nvPr/>
              </p:nvSpPr>
              <p:spPr>
                <a:xfrm>
                  <a:off x="3790950" y="2868597"/>
                  <a:ext cx="161597" cy="443777"/>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2" name="Google Shape;495;g3a8a166b9a7_8_346">
                  <a:extLst>
                    <a:ext uri="{FF2B5EF4-FFF2-40B4-BE49-F238E27FC236}">
                      <a16:creationId xmlns:a16="http://schemas.microsoft.com/office/drawing/2014/main" id="{DFB337A1-B7A6-425F-75D0-FB0A8603F4CC}"/>
                    </a:ext>
                  </a:extLst>
                </p:cNvPr>
                <p:cNvSpPr/>
                <p:nvPr/>
              </p:nvSpPr>
              <p:spPr>
                <a:xfrm>
                  <a:off x="4124325" y="2988865"/>
                  <a:ext cx="159839" cy="323510"/>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3" name="Google Shape;496;g3a8a166b9a7_8_346">
                  <a:extLst>
                    <a:ext uri="{FF2B5EF4-FFF2-40B4-BE49-F238E27FC236}">
                      <a16:creationId xmlns:a16="http://schemas.microsoft.com/office/drawing/2014/main" id="{AEB944E0-0FAB-365E-BB06-47C6D6911B4A}"/>
                    </a:ext>
                  </a:extLst>
                </p:cNvPr>
                <p:cNvSpPr/>
                <p:nvPr/>
              </p:nvSpPr>
              <p:spPr>
                <a:xfrm>
                  <a:off x="2295525" y="3729814"/>
                  <a:ext cx="223796" cy="111608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4" name="Google Shape;497;g3a8a166b9a7_8_346">
                  <a:extLst>
                    <a:ext uri="{FF2B5EF4-FFF2-40B4-BE49-F238E27FC236}">
                      <a16:creationId xmlns:a16="http://schemas.microsoft.com/office/drawing/2014/main" id="{8AD51B90-6EE1-1E63-C728-9B322396E48D}"/>
                    </a:ext>
                  </a:extLst>
                </p:cNvPr>
                <p:cNvSpPr/>
                <p:nvPr/>
              </p:nvSpPr>
              <p:spPr>
                <a:xfrm>
                  <a:off x="2590800" y="3731424"/>
                  <a:ext cx="195221" cy="98112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5" name="Google Shape;498;g3a8a166b9a7_8_346">
                  <a:extLst>
                    <a:ext uri="{FF2B5EF4-FFF2-40B4-BE49-F238E27FC236}">
                      <a16:creationId xmlns:a16="http://schemas.microsoft.com/office/drawing/2014/main" id="{7341BAC0-69C2-5506-5F2A-BFEB34704A75}"/>
                    </a:ext>
                  </a:extLst>
                </p:cNvPr>
                <p:cNvSpPr/>
                <p:nvPr/>
              </p:nvSpPr>
              <p:spPr>
                <a:xfrm>
                  <a:off x="2895600" y="3734818"/>
                  <a:ext cx="195221" cy="86343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6" name="Google Shape;499;g3a8a166b9a7_8_346">
                  <a:extLst>
                    <a:ext uri="{FF2B5EF4-FFF2-40B4-BE49-F238E27FC236}">
                      <a16:creationId xmlns:a16="http://schemas.microsoft.com/office/drawing/2014/main" id="{39BBD60B-D25C-0A3F-6C67-6ADD57E8B932}"/>
                    </a:ext>
                  </a:extLst>
                </p:cNvPr>
                <p:cNvSpPr/>
                <p:nvPr/>
              </p:nvSpPr>
              <p:spPr>
                <a:xfrm>
                  <a:off x="3200400" y="3731426"/>
                  <a:ext cx="195221" cy="714423"/>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7" name="Google Shape;500;g3a8a166b9a7_8_346">
                  <a:extLst>
                    <a:ext uri="{FF2B5EF4-FFF2-40B4-BE49-F238E27FC236}">
                      <a16:creationId xmlns:a16="http://schemas.microsoft.com/office/drawing/2014/main" id="{E5106718-F793-579C-9D48-879155650E24}"/>
                    </a:ext>
                  </a:extLst>
                </p:cNvPr>
                <p:cNvSpPr/>
                <p:nvPr/>
              </p:nvSpPr>
              <p:spPr>
                <a:xfrm>
                  <a:off x="3495675" y="3730208"/>
                  <a:ext cx="195221" cy="58229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8" name="Google Shape;501;g3a8a166b9a7_8_346">
                  <a:extLst>
                    <a:ext uri="{FF2B5EF4-FFF2-40B4-BE49-F238E27FC236}">
                      <a16:creationId xmlns:a16="http://schemas.microsoft.com/office/drawing/2014/main" id="{170AFEE0-3F57-A0B5-9F6F-A6838B1626F4}"/>
                    </a:ext>
                  </a:extLst>
                </p:cNvPr>
                <p:cNvSpPr/>
                <p:nvPr/>
              </p:nvSpPr>
              <p:spPr>
                <a:xfrm>
                  <a:off x="3800475" y="3735372"/>
                  <a:ext cx="161597" cy="443777"/>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9" name="Google Shape;502;g3a8a166b9a7_8_346">
                  <a:extLst>
                    <a:ext uri="{FF2B5EF4-FFF2-40B4-BE49-F238E27FC236}">
                      <a16:creationId xmlns:a16="http://schemas.microsoft.com/office/drawing/2014/main" id="{AF1093F6-1187-5D37-6F20-29096CCEDE54}"/>
                    </a:ext>
                  </a:extLst>
                </p:cNvPr>
                <p:cNvSpPr/>
                <p:nvPr/>
              </p:nvSpPr>
              <p:spPr>
                <a:xfrm>
                  <a:off x="4133850" y="3731815"/>
                  <a:ext cx="159839" cy="323510"/>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0" name="Google Shape;503;g3a8a166b9a7_8_346">
                  <a:extLst>
                    <a:ext uri="{FF2B5EF4-FFF2-40B4-BE49-F238E27FC236}">
                      <a16:creationId xmlns:a16="http://schemas.microsoft.com/office/drawing/2014/main" id="{9BA819BE-E8A1-9BCA-50C6-4A0256FA7A83}"/>
                    </a:ext>
                  </a:extLst>
                </p:cNvPr>
                <p:cNvSpPr/>
                <p:nvPr/>
              </p:nvSpPr>
              <p:spPr>
                <a:xfrm>
                  <a:off x="5076408" y="1169053"/>
                  <a:ext cx="690149" cy="700096"/>
                </a:xfrm>
                <a:prstGeom prst="snip2SameRect">
                  <a:avLst>
                    <a:gd name="adj1" fmla="val 16667"/>
                    <a:gd name="adj2" fmla="val 0"/>
                  </a:avLst>
                </a:prstGeom>
                <a:solidFill>
                  <a:srgbClr val="005C2A"/>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1" name="Google Shape;504;g3a8a166b9a7_8_346">
                  <a:extLst>
                    <a:ext uri="{FF2B5EF4-FFF2-40B4-BE49-F238E27FC236}">
                      <a16:creationId xmlns:a16="http://schemas.microsoft.com/office/drawing/2014/main" id="{4503EAB8-5CD9-4EE7-018E-761EE41D0AB8}"/>
                    </a:ext>
                  </a:extLst>
                </p:cNvPr>
                <p:cNvPicPr preferRelativeResize="0"/>
                <p:nvPr/>
              </p:nvPicPr>
              <p:blipFill rotWithShape="1">
                <a:blip r:embed="rId3">
                  <a:alphaModFix/>
                </a:blip>
                <a:srcRect/>
                <a:stretch/>
              </p:blipFill>
              <p:spPr>
                <a:xfrm>
                  <a:off x="5539080" y="2010359"/>
                  <a:ext cx="660717" cy="660718"/>
                </a:xfrm>
                <a:prstGeom prst="rect">
                  <a:avLst/>
                </a:prstGeom>
                <a:noFill/>
                <a:ln>
                  <a:noFill/>
                </a:ln>
              </p:spPr>
            </p:pic>
            <p:sp>
              <p:nvSpPr>
                <p:cNvPr id="192" name="Google Shape;505;g3a8a166b9a7_8_346">
                  <a:extLst>
                    <a:ext uri="{FF2B5EF4-FFF2-40B4-BE49-F238E27FC236}">
                      <a16:creationId xmlns:a16="http://schemas.microsoft.com/office/drawing/2014/main" id="{758CBF82-E76D-9238-6E60-51396711C181}"/>
                    </a:ext>
                  </a:extLst>
                </p:cNvPr>
                <p:cNvSpPr/>
                <p:nvPr/>
              </p:nvSpPr>
              <p:spPr>
                <a:xfrm>
                  <a:off x="5074890" y="2603392"/>
                  <a:ext cx="1254882" cy="637095"/>
                </a:xfrm>
                <a:prstGeom prst="flowChartAlternateProcess">
                  <a:avLst/>
                </a:prstGeom>
                <a:solidFill>
                  <a:srgbClr val="85AEAD"/>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3" name="Google Shape;506;g3a8a166b9a7_8_346">
                  <a:extLst>
                    <a:ext uri="{FF2B5EF4-FFF2-40B4-BE49-F238E27FC236}">
                      <a16:creationId xmlns:a16="http://schemas.microsoft.com/office/drawing/2014/main" id="{0E8915AA-B68C-2BF9-D628-220442E295E1}"/>
                    </a:ext>
                  </a:extLst>
                </p:cNvPr>
                <p:cNvSpPr/>
                <p:nvPr/>
              </p:nvSpPr>
              <p:spPr>
                <a:xfrm rot="-1573174">
                  <a:off x="4722195" y="3724733"/>
                  <a:ext cx="1145800" cy="417133"/>
                </a:xfrm>
                <a:prstGeom prst="curvedUpArrow">
                  <a:avLst>
                    <a:gd name="adj1" fmla="val 25000"/>
                    <a:gd name="adj2" fmla="val 50000"/>
                    <a:gd name="adj3" fmla="val 25000"/>
                  </a:avLst>
                </a:prstGeom>
                <a:solidFill>
                  <a:srgbClr val="85AEAD"/>
                </a:solidFill>
                <a:ln w="9525" cap="flat" cmpd="sng">
                  <a:solidFill>
                    <a:srgbClr val="17201F"/>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4" name="Google Shape;507;g3a8a166b9a7_8_346">
                  <a:extLst>
                    <a:ext uri="{FF2B5EF4-FFF2-40B4-BE49-F238E27FC236}">
                      <a16:creationId xmlns:a16="http://schemas.microsoft.com/office/drawing/2014/main" id="{4391644F-2C96-D1A0-682F-08288F5A3A71}"/>
                    </a:ext>
                  </a:extLst>
                </p:cNvPr>
                <p:cNvSpPr/>
                <p:nvPr/>
              </p:nvSpPr>
              <p:spPr>
                <a:xfrm rot="5400000">
                  <a:off x="5403442" y="1608910"/>
                  <a:ext cx="64592" cy="680614"/>
                </a:xfrm>
                <a:prstGeom prst="rightBrace">
                  <a:avLst>
                    <a:gd name="adj1" fmla="val 8333"/>
                    <a:gd name="adj2" fmla="val 50000"/>
                  </a:avLst>
                </a:prstGeom>
                <a:no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5" name="Google Shape;508;g3a8a166b9a7_8_346">
                  <a:extLst>
                    <a:ext uri="{FF2B5EF4-FFF2-40B4-BE49-F238E27FC236}">
                      <a16:creationId xmlns:a16="http://schemas.microsoft.com/office/drawing/2014/main" id="{C469A14C-33E9-FA7B-949A-F96B48DEDC86}"/>
                    </a:ext>
                  </a:extLst>
                </p:cNvPr>
                <p:cNvSpPr txBox="1"/>
                <p:nvPr/>
              </p:nvSpPr>
              <p:spPr>
                <a:xfrm>
                  <a:off x="6628006" y="2542332"/>
                  <a:ext cx="2190568" cy="84790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solidFill>
                        <a:prstClr val="white"/>
                      </a:solidFill>
                      <a:latin typeface="Poppins" panose="00000500000000000000" pitchFamily="2" charset="0"/>
                      <a:ea typeface="Calibri"/>
                      <a:cs typeface="Poppins" panose="00000500000000000000" pitchFamily="2" charset="0"/>
                      <a:sym typeface="Calibri"/>
                    </a:rPr>
                    <a:t>TEA</a:t>
                  </a:r>
                  <a:endParaRPr lang="es-ES_tradnl" sz="1900" kern="1200" noProof="0" dirty="0">
                    <a:latin typeface="Poppins" panose="00000500000000000000" pitchFamily="2" charset="0"/>
                    <a:ea typeface="Calibri"/>
                    <a:cs typeface="Poppins" panose="00000500000000000000" pitchFamily="2" charset="0"/>
                    <a:sym typeface="Calibri"/>
                  </a:endParaRPr>
                </a:p>
              </p:txBody>
            </p:sp>
          </p:grpSp>
          <p:sp>
            <p:nvSpPr>
              <p:cNvPr id="156" name="Google Shape;509;g3a8a166b9a7_8_346">
                <a:extLst>
                  <a:ext uri="{FF2B5EF4-FFF2-40B4-BE49-F238E27FC236}">
                    <a16:creationId xmlns:a16="http://schemas.microsoft.com/office/drawing/2014/main" id="{3F222877-F578-9FD0-25DD-1AD46034D951}"/>
                  </a:ext>
                </a:extLst>
              </p:cNvPr>
              <p:cNvSpPr/>
              <p:nvPr/>
            </p:nvSpPr>
            <p:spPr>
              <a:xfrm>
                <a:off x="4620745" y="4258483"/>
                <a:ext cx="745072" cy="378796"/>
              </a:xfrm>
              <a:prstGeom prst="rect">
                <a:avLst/>
              </a:prstGeom>
              <a:solidFill>
                <a:srgbClr val="E9F8F3">
                  <a:alpha val="50196"/>
                </a:srgbClr>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200"/>
                  <a:defRPr/>
                </a:pPr>
                <a:r>
                  <a:rPr lang="es-ES_tradnl" sz="1200" kern="1200" noProof="0" dirty="0">
                    <a:solidFill>
                      <a:prstClr val="black"/>
                    </a:solidFill>
                    <a:latin typeface="Poppins" panose="00000500000000000000" pitchFamily="2" charset="0"/>
                    <a:ea typeface="Calibri"/>
                    <a:cs typeface="Poppins" panose="00000500000000000000" pitchFamily="2" charset="0"/>
                    <a:sym typeface="Calibri"/>
                  </a:rPr>
                  <a:t>INPUT</a:t>
                </a:r>
                <a:endParaRPr lang="es-ES_tradnl" sz="1900" kern="1200" noProof="0" dirty="0">
                  <a:latin typeface="Poppins" panose="00000500000000000000" pitchFamily="2" charset="0"/>
                  <a:ea typeface="Calibri"/>
                  <a:cs typeface="Poppins" panose="00000500000000000000" pitchFamily="2" charset="0"/>
                  <a:sym typeface="Calibri"/>
                </a:endParaRPr>
              </a:p>
            </p:txBody>
          </p:sp>
          <p:cxnSp>
            <p:nvCxnSpPr>
              <p:cNvPr id="157" name="Google Shape;510;g3a8a166b9a7_8_346">
                <a:extLst>
                  <a:ext uri="{FF2B5EF4-FFF2-40B4-BE49-F238E27FC236}">
                    <a16:creationId xmlns:a16="http://schemas.microsoft.com/office/drawing/2014/main" id="{DA9511C8-F9F2-9BD8-A7CF-0D85FF3D64B3}"/>
                  </a:ext>
                </a:extLst>
              </p:cNvPr>
              <p:cNvCxnSpPr>
                <a:stCxn id="190" idx="0"/>
              </p:cNvCxnSpPr>
              <p:nvPr/>
            </p:nvCxnSpPr>
            <p:spPr>
              <a:xfrm rot="10800000" flipH="1">
                <a:off x="6759636" y="4008743"/>
                <a:ext cx="329100" cy="115500"/>
              </a:xfrm>
              <a:prstGeom prst="bentConnector3">
                <a:avLst>
                  <a:gd name="adj1" fmla="val -49402"/>
                </a:avLst>
              </a:prstGeom>
              <a:noFill/>
              <a:ln w="9525" cap="flat" cmpd="sng">
                <a:solidFill>
                  <a:srgbClr val="354A49"/>
                </a:solidFill>
                <a:prstDash val="solid"/>
                <a:round/>
                <a:headEnd type="none" w="sm" len="sm"/>
                <a:tailEnd type="triangle" w="med" len="med"/>
              </a:ln>
            </p:spPr>
          </p:cxnSp>
          <p:sp>
            <p:nvSpPr>
              <p:cNvPr id="158" name="Google Shape;511;g3a8a166b9a7_8_346">
                <a:extLst>
                  <a:ext uri="{FF2B5EF4-FFF2-40B4-BE49-F238E27FC236}">
                    <a16:creationId xmlns:a16="http://schemas.microsoft.com/office/drawing/2014/main" id="{ADD8B20B-4A31-4185-93BB-C11CFD1B920D}"/>
                  </a:ext>
                </a:extLst>
              </p:cNvPr>
              <p:cNvSpPr txBox="1"/>
              <p:nvPr/>
            </p:nvSpPr>
            <p:spPr>
              <a:xfrm>
                <a:off x="7027882" y="3880801"/>
                <a:ext cx="950362" cy="3692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RAROC</a:t>
                </a:r>
                <a:endParaRPr lang="es-ES_tradnl" sz="1900" kern="1200" noProof="0" dirty="0">
                  <a:latin typeface="Poppins" panose="00000500000000000000" pitchFamily="2" charset="0"/>
                  <a:ea typeface="Calibri"/>
                  <a:cs typeface="Poppins" panose="00000500000000000000" pitchFamily="2" charset="0"/>
                  <a:sym typeface="Calibri"/>
                </a:endParaRPr>
              </a:p>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Objetivo</a:t>
                </a:r>
                <a:endParaRPr lang="es-ES_tradnl" sz="1900" kern="1200" noProof="0" dirty="0">
                  <a:latin typeface="Poppins" panose="00000500000000000000" pitchFamily="2" charset="0"/>
                  <a:ea typeface="Calibri"/>
                  <a:cs typeface="Poppins" panose="00000500000000000000" pitchFamily="2" charset="0"/>
                  <a:sym typeface="Calibri"/>
                </a:endParaRPr>
              </a:p>
            </p:txBody>
          </p:sp>
          <p:sp>
            <p:nvSpPr>
              <p:cNvPr id="159" name="Google Shape;512;g3a8a166b9a7_8_346">
                <a:extLst>
                  <a:ext uri="{FF2B5EF4-FFF2-40B4-BE49-F238E27FC236}">
                    <a16:creationId xmlns:a16="http://schemas.microsoft.com/office/drawing/2014/main" id="{91023771-69BC-ED2B-39F3-99B10C413E7D}"/>
                  </a:ext>
                </a:extLst>
              </p:cNvPr>
              <p:cNvSpPr txBox="1"/>
              <p:nvPr/>
            </p:nvSpPr>
            <p:spPr>
              <a:xfrm>
                <a:off x="5776217" y="5403293"/>
                <a:ext cx="836053" cy="415428"/>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900" kern="1200" noProof="0" dirty="0">
                    <a:latin typeface="Poppins" panose="00000500000000000000" pitchFamily="2" charset="0"/>
                    <a:ea typeface="Calibri"/>
                    <a:cs typeface="Poppins" panose="00000500000000000000" pitchFamily="2" charset="0"/>
                    <a:sym typeface="Calibri"/>
                  </a:rPr>
                  <a:t>CLV</a:t>
                </a:r>
              </a:p>
            </p:txBody>
          </p:sp>
        </p:grpSp>
        <p:sp>
          <p:nvSpPr>
            <p:cNvPr id="154" name="Google Shape;513;g3a8a166b9a7_8_346">
              <a:extLst>
                <a:ext uri="{FF2B5EF4-FFF2-40B4-BE49-F238E27FC236}">
                  <a16:creationId xmlns:a16="http://schemas.microsoft.com/office/drawing/2014/main" id="{0B508B50-C937-7FC4-62F6-B334B6316329}"/>
                </a:ext>
              </a:extLst>
            </p:cNvPr>
            <p:cNvSpPr/>
            <p:nvPr/>
          </p:nvSpPr>
          <p:spPr>
            <a:xfrm>
              <a:off x="5481891" y="4644295"/>
              <a:ext cx="185441" cy="232859"/>
            </a:xfrm>
            <a:prstGeom prst="downArrow">
              <a:avLst>
                <a:gd name="adj1" fmla="val 50000"/>
                <a:gd name="adj2" fmla="val 50000"/>
              </a:avLst>
            </a:prstGeom>
            <a:solidFill>
              <a:srgbClr val="7B7B7B"/>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sp>
        <p:nvSpPr>
          <p:cNvPr id="196" name="Google Shape;514;g3a8a166b9a7_8_346">
            <a:extLst>
              <a:ext uri="{FF2B5EF4-FFF2-40B4-BE49-F238E27FC236}">
                <a16:creationId xmlns:a16="http://schemas.microsoft.com/office/drawing/2014/main" id="{184DBFE4-78FF-B25E-1D6D-8E8DFB7E35A2}"/>
              </a:ext>
            </a:extLst>
          </p:cNvPr>
          <p:cNvSpPr/>
          <p:nvPr/>
        </p:nvSpPr>
        <p:spPr>
          <a:xfrm>
            <a:off x="297179" y="2918579"/>
            <a:ext cx="3916640" cy="5564556"/>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7" name="Google Shape;515;g3a8a166b9a7_8_346">
            <a:extLst>
              <a:ext uri="{FF2B5EF4-FFF2-40B4-BE49-F238E27FC236}">
                <a16:creationId xmlns:a16="http://schemas.microsoft.com/office/drawing/2014/main" id="{D2CB44ED-38D0-E531-40D6-A3CD94A5EDDA}"/>
              </a:ext>
            </a:extLst>
          </p:cNvPr>
          <p:cNvSpPr/>
          <p:nvPr/>
        </p:nvSpPr>
        <p:spPr>
          <a:xfrm>
            <a:off x="8348211" y="2921220"/>
            <a:ext cx="3904371" cy="5560693"/>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8" name="Google Shape;530;g3a8a166b9a7_8_346" descr="acoso">
            <a:extLst>
              <a:ext uri="{FF2B5EF4-FFF2-40B4-BE49-F238E27FC236}">
                <a16:creationId xmlns:a16="http://schemas.microsoft.com/office/drawing/2014/main" id="{EC950743-CF34-6E2F-D23F-B2BAEE32768B}"/>
              </a:ext>
            </a:extLst>
          </p:cNvPr>
          <p:cNvPicPr preferRelativeResize="0"/>
          <p:nvPr/>
        </p:nvPicPr>
        <p:blipFill rotWithShape="1">
          <a:blip r:embed="rId4">
            <a:clrChange>
              <a:clrFrom>
                <a:srgbClr val="FEFEFE"/>
              </a:clrFrom>
              <a:clrTo>
                <a:srgbClr val="FEFEFE">
                  <a:alpha val="0"/>
                </a:srgbClr>
              </a:clrTo>
            </a:clrChange>
            <a:alphaModFix/>
          </a:blip>
          <a:srcRect/>
          <a:stretch/>
        </p:blipFill>
        <p:spPr>
          <a:xfrm>
            <a:off x="7807014" y="1445973"/>
            <a:ext cx="871948" cy="871948"/>
          </a:xfrm>
          <a:prstGeom prst="rect">
            <a:avLst/>
          </a:prstGeom>
          <a:noFill/>
          <a:ln>
            <a:noFill/>
          </a:ln>
        </p:spPr>
      </p:pic>
      <p:grpSp>
        <p:nvGrpSpPr>
          <p:cNvPr id="199" name="Grupo 14">
            <a:extLst>
              <a:ext uri="{FF2B5EF4-FFF2-40B4-BE49-F238E27FC236}">
                <a16:creationId xmlns:a16="http://schemas.microsoft.com/office/drawing/2014/main" id="{872EF4EB-8E0B-1511-8762-D1DA53E71CF0}"/>
              </a:ext>
            </a:extLst>
          </p:cNvPr>
          <p:cNvGrpSpPr/>
          <p:nvPr/>
        </p:nvGrpSpPr>
        <p:grpSpPr>
          <a:xfrm>
            <a:off x="184662" y="4167833"/>
            <a:ext cx="3899441" cy="1316072"/>
            <a:chOff x="116087" y="3490074"/>
            <a:chExt cx="2924581" cy="987054"/>
          </a:xfrm>
        </p:grpSpPr>
        <p:grpSp>
          <p:nvGrpSpPr>
            <p:cNvPr id="200" name="Google Shape;415;g3a8a166b9a7_8_346">
              <a:extLst>
                <a:ext uri="{FF2B5EF4-FFF2-40B4-BE49-F238E27FC236}">
                  <a16:creationId xmlns:a16="http://schemas.microsoft.com/office/drawing/2014/main" id="{138989C4-FD3A-7FCF-5E7D-D4DD5933835F}"/>
                </a:ext>
              </a:extLst>
            </p:cNvPr>
            <p:cNvGrpSpPr/>
            <p:nvPr/>
          </p:nvGrpSpPr>
          <p:grpSpPr>
            <a:xfrm>
              <a:off x="766578" y="3692782"/>
              <a:ext cx="2105631" cy="679081"/>
              <a:chOff x="3518200" y="4306705"/>
              <a:chExt cx="5130680" cy="1597696"/>
            </a:xfrm>
          </p:grpSpPr>
          <p:sp>
            <p:nvSpPr>
              <p:cNvPr id="209" name="Google Shape;416;g3a8a166b9a7_8_346">
                <a:extLst>
                  <a:ext uri="{FF2B5EF4-FFF2-40B4-BE49-F238E27FC236}">
                    <a16:creationId xmlns:a16="http://schemas.microsoft.com/office/drawing/2014/main" id="{0559BC1E-817C-C292-6EDB-00DAD73D4D03}"/>
                  </a:ext>
                </a:extLst>
              </p:cNvPr>
              <p:cNvSpPr txBox="1"/>
              <p:nvPr/>
            </p:nvSpPr>
            <p:spPr>
              <a:xfrm>
                <a:off x="6976693" y="4329616"/>
                <a:ext cx="1657566" cy="498876"/>
              </a:xfrm>
              <a:prstGeom prst="rect">
                <a:avLst/>
              </a:prstGeom>
              <a:solidFill>
                <a:srgbClr val="548135">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p>
            </p:txBody>
          </p:sp>
          <p:grpSp>
            <p:nvGrpSpPr>
              <p:cNvPr id="210" name="Google Shape;417;g3a8a166b9a7_8_346">
                <a:extLst>
                  <a:ext uri="{FF2B5EF4-FFF2-40B4-BE49-F238E27FC236}">
                    <a16:creationId xmlns:a16="http://schemas.microsoft.com/office/drawing/2014/main" id="{90CF27CD-B671-C02E-4B9E-EFFDDCCA005D}"/>
                  </a:ext>
                </a:extLst>
              </p:cNvPr>
              <p:cNvGrpSpPr/>
              <p:nvPr/>
            </p:nvGrpSpPr>
            <p:grpSpPr>
              <a:xfrm>
                <a:off x="3518200" y="4306705"/>
                <a:ext cx="5130680" cy="1597696"/>
                <a:chOff x="3501127" y="4310221"/>
                <a:chExt cx="5130680" cy="1597696"/>
              </a:xfrm>
            </p:grpSpPr>
            <p:sp>
              <p:nvSpPr>
                <p:cNvPr id="211" name="Google Shape;418;g3a8a166b9a7_8_346">
                  <a:extLst>
                    <a:ext uri="{FF2B5EF4-FFF2-40B4-BE49-F238E27FC236}">
                      <a16:creationId xmlns:a16="http://schemas.microsoft.com/office/drawing/2014/main" id="{20E49DA7-9624-E63D-C530-22F53E04C4D3}"/>
                    </a:ext>
                  </a:extLst>
                </p:cNvPr>
                <p:cNvSpPr txBox="1"/>
                <p:nvPr/>
              </p:nvSpPr>
              <p:spPr>
                <a:xfrm>
                  <a:off x="3501127" y="4310221"/>
                  <a:ext cx="1682574" cy="498876"/>
                </a:xfrm>
                <a:prstGeom prst="rect">
                  <a:avLst/>
                </a:prstGeom>
                <a:solidFill>
                  <a:srgbClr val="FF9A0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2" name="Google Shape;419;g3a8a166b9a7_8_346">
                  <a:extLst>
                    <a:ext uri="{FF2B5EF4-FFF2-40B4-BE49-F238E27FC236}">
                      <a16:creationId xmlns:a16="http://schemas.microsoft.com/office/drawing/2014/main" id="{38ED8174-DBE9-2A0C-E2E0-AA2691B7467F}"/>
                    </a:ext>
                  </a:extLst>
                </p:cNvPr>
                <p:cNvSpPr txBox="1"/>
                <p:nvPr/>
              </p:nvSpPr>
              <p:spPr>
                <a:xfrm>
                  <a:off x="3511288" y="4849604"/>
                  <a:ext cx="1674738" cy="498876"/>
                </a:xfrm>
                <a:prstGeom prst="rect">
                  <a:avLst/>
                </a:prstGeom>
                <a:solidFill>
                  <a:srgbClr val="FFF3E1"/>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3" name="Google Shape;420;g3a8a166b9a7_8_346">
                  <a:extLst>
                    <a:ext uri="{FF2B5EF4-FFF2-40B4-BE49-F238E27FC236}">
                      <a16:creationId xmlns:a16="http://schemas.microsoft.com/office/drawing/2014/main" id="{B293C98A-E86B-4E03-778A-AB797AE31251}"/>
                    </a:ext>
                  </a:extLst>
                </p:cNvPr>
                <p:cNvSpPr txBox="1"/>
                <p:nvPr/>
              </p:nvSpPr>
              <p:spPr>
                <a:xfrm>
                  <a:off x="3518201" y="5385549"/>
                  <a:ext cx="1682574" cy="498876"/>
                </a:xfrm>
                <a:prstGeom prst="rect">
                  <a:avLst/>
                </a:prstGeom>
                <a:solidFill>
                  <a:srgbClr val="E5F1D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4" name="Google Shape;421;g3a8a166b9a7_8_346">
                  <a:extLst>
                    <a:ext uri="{FF2B5EF4-FFF2-40B4-BE49-F238E27FC236}">
                      <a16:creationId xmlns:a16="http://schemas.microsoft.com/office/drawing/2014/main" id="{4667634B-0AA7-807F-68B7-905C4EEA6262}"/>
                    </a:ext>
                  </a:extLst>
                </p:cNvPr>
                <p:cNvSpPr txBox="1"/>
                <p:nvPr/>
              </p:nvSpPr>
              <p:spPr>
                <a:xfrm>
                  <a:off x="5232054" y="4320380"/>
                  <a:ext cx="1674752" cy="498876"/>
                </a:xfrm>
                <a:prstGeom prst="rect">
                  <a:avLst/>
                </a:prstGeom>
                <a:solidFill>
                  <a:srgbClr val="FFD79B">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5" name="Google Shape;422;g3a8a166b9a7_8_346">
                  <a:extLst>
                    <a:ext uri="{FF2B5EF4-FFF2-40B4-BE49-F238E27FC236}">
                      <a16:creationId xmlns:a16="http://schemas.microsoft.com/office/drawing/2014/main" id="{5D15D482-3949-B0BF-A95C-7489AD621E07}"/>
                    </a:ext>
                  </a:extLst>
                </p:cNvPr>
                <p:cNvSpPr txBox="1"/>
                <p:nvPr/>
              </p:nvSpPr>
              <p:spPr>
                <a:xfrm>
                  <a:off x="5234393" y="4859764"/>
                  <a:ext cx="1682574" cy="498876"/>
                </a:xfrm>
                <a:prstGeom prst="rect">
                  <a:avLst/>
                </a:prstGeom>
                <a:solidFill>
                  <a:srgbClr val="A8D08C">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6" name="Google Shape;423;g3a8a166b9a7_8_346">
                  <a:extLst>
                    <a:ext uri="{FF2B5EF4-FFF2-40B4-BE49-F238E27FC236}">
                      <a16:creationId xmlns:a16="http://schemas.microsoft.com/office/drawing/2014/main" id="{093C3E51-B39D-FD14-9E11-717B76D7CDD8}"/>
                    </a:ext>
                  </a:extLst>
                </p:cNvPr>
                <p:cNvSpPr txBox="1"/>
                <p:nvPr/>
              </p:nvSpPr>
              <p:spPr>
                <a:xfrm>
                  <a:off x="5242329" y="5409041"/>
                  <a:ext cx="168257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7" name="Google Shape;424;g3a8a166b9a7_8_346">
                  <a:extLst>
                    <a:ext uri="{FF2B5EF4-FFF2-40B4-BE49-F238E27FC236}">
                      <a16:creationId xmlns:a16="http://schemas.microsoft.com/office/drawing/2014/main" id="{BCB1E906-94E1-CF64-8F5B-5BBA3C2E1E40}"/>
                    </a:ext>
                  </a:extLst>
                </p:cNvPr>
                <p:cNvSpPr txBox="1"/>
                <p:nvPr/>
              </p:nvSpPr>
              <p:spPr>
                <a:xfrm>
                  <a:off x="6963911" y="4881787"/>
                  <a:ext cx="1653273" cy="498876"/>
                </a:xfrm>
                <a:prstGeom prst="rect">
                  <a:avLst/>
                </a:prstGeom>
                <a:solidFill>
                  <a:srgbClr val="38562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8" name="Google Shape;425;g3a8a166b9a7_8_346">
                  <a:extLst>
                    <a:ext uri="{FF2B5EF4-FFF2-40B4-BE49-F238E27FC236}">
                      <a16:creationId xmlns:a16="http://schemas.microsoft.com/office/drawing/2014/main" id="{4D628063-5438-094E-3526-9E59295008FA}"/>
                    </a:ext>
                  </a:extLst>
                </p:cNvPr>
                <p:cNvSpPr txBox="1"/>
                <p:nvPr/>
              </p:nvSpPr>
              <p:spPr>
                <a:xfrm>
                  <a:off x="6971143" y="5407191"/>
                  <a:ext cx="166066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grpSp>
        <p:sp>
          <p:nvSpPr>
            <p:cNvPr id="201" name="Google Shape;426;g3a8a166b9a7_8_346">
              <a:extLst>
                <a:ext uri="{FF2B5EF4-FFF2-40B4-BE49-F238E27FC236}">
                  <a16:creationId xmlns:a16="http://schemas.microsoft.com/office/drawing/2014/main" id="{FA3AEECA-7F65-CD42-B4A9-5DFFBFAF30DF}"/>
                </a:ext>
              </a:extLst>
            </p:cNvPr>
            <p:cNvSpPr txBox="1"/>
            <p:nvPr/>
          </p:nvSpPr>
          <p:spPr>
            <a:xfrm>
              <a:off x="770767" y="3509978"/>
              <a:ext cx="696197" cy="150240"/>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Bajo </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2" name="Google Shape;427;g3a8a166b9a7_8_346">
              <a:extLst>
                <a:ext uri="{FF2B5EF4-FFF2-40B4-BE49-F238E27FC236}">
                  <a16:creationId xmlns:a16="http://schemas.microsoft.com/office/drawing/2014/main" id="{BCBA3F31-32CC-9467-2948-EDF1D7D739C0}"/>
                </a:ext>
              </a:extLst>
            </p:cNvPr>
            <p:cNvSpPr txBox="1"/>
            <p:nvPr/>
          </p:nvSpPr>
          <p:spPr>
            <a:xfrm>
              <a:off x="1472474" y="3490074"/>
              <a:ext cx="687317"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Medio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3" name="Google Shape;428;g3a8a166b9a7_8_346">
              <a:extLst>
                <a:ext uri="{FF2B5EF4-FFF2-40B4-BE49-F238E27FC236}">
                  <a16:creationId xmlns:a16="http://schemas.microsoft.com/office/drawing/2014/main" id="{116BF1DE-C988-6764-9004-C2A403C656B0}"/>
                </a:ext>
              </a:extLst>
            </p:cNvPr>
            <p:cNvSpPr txBox="1"/>
            <p:nvPr/>
          </p:nvSpPr>
          <p:spPr>
            <a:xfrm>
              <a:off x="2195549" y="3490074"/>
              <a:ext cx="670658"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Alto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cxnSp>
          <p:nvCxnSpPr>
            <p:cNvPr id="204" name="Google Shape;429;g3a8a166b9a7_8_346">
              <a:extLst>
                <a:ext uri="{FF2B5EF4-FFF2-40B4-BE49-F238E27FC236}">
                  <a16:creationId xmlns:a16="http://schemas.microsoft.com/office/drawing/2014/main" id="{ED815471-8429-BD40-3D07-781C7BEC5468}"/>
                </a:ext>
              </a:extLst>
            </p:cNvPr>
            <p:cNvCxnSpPr/>
            <p:nvPr/>
          </p:nvCxnSpPr>
          <p:spPr>
            <a:xfrm>
              <a:off x="773585" y="3653023"/>
              <a:ext cx="2267083" cy="9158"/>
            </a:xfrm>
            <a:prstGeom prst="straightConnector1">
              <a:avLst/>
            </a:prstGeom>
            <a:noFill/>
            <a:ln w="9525" cap="flat" cmpd="sng">
              <a:solidFill>
                <a:srgbClr val="354A49"/>
              </a:solidFill>
              <a:prstDash val="solid"/>
              <a:round/>
              <a:headEnd type="none" w="sm" len="sm"/>
              <a:tailEnd type="triangle" w="med" len="med"/>
            </a:ln>
          </p:spPr>
        </p:cxnSp>
        <p:cxnSp>
          <p:nvCxnSpPr>
            <p:cNvPr id="205" name="Google Shape;430;g3a8a166b9a7_8_346">
              <a:extLst>
                <a:ext uri="{FF2B5EF4-FFF2-40B4-BE49-F238E27FC236}">
                  <a16:creationId xmlns:a16="http://schemas.microsoft.com/office/drawing/2014/main" id="{6F2E57FF-AE3B-497C-2663-9939630DDBDD}"/>
                </a:ext>
              </a:extLst>
            </p:cNvPr>
            <p:cNvCxnSpPr/>
            <p:nvPr/>
          </p:nvCxnSpPr>
          <p:spPr>
            <a:xfrm>
              <a:off x="726101" y="3707802"/>
              <a:ext cx="0" cy="769326"/>
            </a:xfrm>
            <a:prstGeom prst="straightConnector1">
              <a:avLst/>
            </a:prstGeom>
            <a:noFill/>
            <a:ln w="9525" cap="flat" cmpd="sng">
              <a:solidFill>
                <a:srgbClr val="354A49"/>
              </a:solidFill>
              <a:prstDash val="solid"/>
              <a:round/>
              <a:headEnd type="none" w="sm" len="sm"/>
              <a:tailEnd type="triangle" w="med" len="med"/>
            </a:ln>
          </p:spPr>
        </p:cxnSp>
        <p:sp>
          <p:nvSpPr>
            <p:cNvPr id="206" name="Google Shape;432;g3a8a166b9a7_8_346">
              <a:extLst>
                <a:ext uri="{FF2B5EF4-FFF2-40B4-BE49-F238E27FC236}">
                  <a16:creationId xmlns:a16="http://schemas.microsoft.com/office/drawing/2014/main" id="{9EE0613D-93B8-6889-059B-D5345A85CA41}"/>
                </a:ext>
              </a:extLst>
            </p:cNvPr>
            <p:cNvSpPr txBox="1"/>
            <p:nvPr/>
          </p:nvSpPr>
          <p:spPr>
            <a:xfrm>
              <a:off x="116087" y="3927296"/>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B</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7" name="Google Shape;432;g3a8a166b9a7_8_346">
              <a:extLst>
                <a:ext uri="{FF2B5EF4-FFF2-40B4-BE49-F238E27FC236}">
                  <a16:creationId xmlns:a16="http://schemas.microsoft.com/office/drawing/2014/main" id="{64FAEC96-6C33-D968-74D8-27BCF98EF23B}"/>
                </a:ext>
              </a:extLst>
            </p:cNvPr>
            <p:cNvSpPr txBox="1"/>
            <p:nvPr/>
          </p:nvSpPr>
          <p:spPr>
            <a:xfrm>
              <a:off x="122408" y="3693398"/>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A</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8" name="Google Shape;432;g3a8a166b9a7_8_346">
              <a:extLst>
                <a:ext uri="{FF2B5EF4-FFF2-40B4-BE49-F238E27FC236}">
                  <a16:creationId xmlns:a16="http://schemas.microsoft.com/office/drawing/2014/main" id="{D6FACF97-CF17-7BC2-D8B2-8C1DCE345736}"/>
                </a:ext>
              </a:extLst>
            </p:cNvPr>
            <p:cNvSpPr txBox="1"/>
            <p:nvPr/>
          </p:nvSpPr>
          <p:spPr>
            <a:xfrm>
              <a:off x="117621" y="4155780"/>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N</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grpSp>
      <p:sp>
        <p:nvSpPr>
          <p:cNvPr id="219" name="Google Shape;451;g3a8a166b9a7_8_346">
            <a:extLst>
              <a:ext uri="{FF2B5EF4-FFF2-40B4-BE49-F238E27FC236}">
                <a16:creationId xmlns:a16="http://schemas.microsoft.com/office/drawing/2014/main" id="{82A9F3F5-4AA2-AC28-2D02-6FA5EBCB229C}"/>
              </a:ext>
            </a:extLst>
          </p:cNvPr>
          <p:cNvSpPr txBox="1"/>
          <p:nvPr/>
        </p:nvSpPr>
        <p:spPr>
          <a:xfrm>
            <a:off x="469906" y="6511523"/>
            <a:ext cx="3545753"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Construcción de segmentación</a:t>
            </a: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Ajuste con data real (en curso)</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a:t>
            </a:r>
            <a:r>
              <a:rPr lang="es-ES_tradnl" sz="1467" b="1" kern="1200" noProof="0" dirty="0">
                <a:latin typeface="Poppins" panose="00000500000000000000" pitchFamily="2" charset="0"/>
                <a:ea typeface="Calibri"/>
                <a:cs typeface="Poppins" panose="00000500000000000000" pitchFamily="2" charset="0"/>
                <a:sym typeface="Calibri"/>
              </a:rPr>
              <a:t>Definición del RAROC Objetivo y mínimo </a:t>
            </a:r>
            <a:r>
              <a:rPr lang="es-ES_tradnl" sz="1467" kern="1200" noProof="0" dirty="0">
                <a:latin typeface="Poppins" panose="00000500000000000000" pitchFamily="2" charset="0"/>
                <a:ea typeface="Calibri"/>
                <a:cs typeface="Poppins" panose="00000500000000000000" pitchFamily="2" charset="0"/>
                <a:sym typeface="Calibri"/>
              </a:rPr>
              <a:t>por segmento</a:t>
            </a:r>
          </a:p>
        </p:txBody>
      </p:sp>
      <p:sp>
        <p:nvSpPr>
          <p:cNvPr id="220" name="Google Shape;451;g3a8a166b9a7_8_346">
            <a:extLst>
              <a:ext uri="{FF2B5EF4-FFF2-40B4-BE49-F238E27FC236}">
                <a16:creationId xmlns:a16="http://schemas.microsoft.com/office/drawing/2014/main" id="{C1B6D078-E7DC-89F2-C4BC-6EB4CA3E3F65}"/>
              </a:ext>
            </a:extLst>
          </p:cNvPr>
          <p:cNvSpPr txBox="1"/>
          <p:nvPr/>
        </p:nvSpPr>
        <p:spPr>
          <a:xfrm>
            <a:off x="4400880" y="6511523"/>
            <a:ext cx="3782457"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Herramientas: </a:t>
            </a:r>
            <a:r>
              <a:rPr lang="es-ES_tradnl" sz="1467" b="1" kern="1200" noProof="0" dirty="0">
                <a:latin typeface="Poppins" panose="00000500000000000000" pitchFamily="2" charset="0"/>
                <a:ea typeface="Calibri"/>
                <a:cs typeface="Poppins" panose="00000500000000000000" pitchFamily="2" charset="0"/>
                <a:sym typeface="Calibri"/>
              </a:rPr>
              <a:t>curvas </a:t>
            </a:r>
            <a:r>
              <a:rPr lang="es-ES_tradnl" sz="1467" b="1" kern="1200" noProof="0" dirty="0" err="1">
                <a:latin typeface="Poppins" panose="00000500000000000000" pitchFamily="2" charset="0"/>
                <a:ea typeface="Calibri"/>
                <a:cs typeface="Poppins" panose="00000500000000000000" pitchFamily="2" charset="0"/>
                <a:sym typeface="Calibri"/>
              </a:rPr>
              <a:t>lifetime</a:t>
            </a:r>
            <a:r>
              <a:rPr lang="es-ES_tradnl" sz="1467" b="1" kern="1200" noProof="0" dirty="0">
                <a:latin typeface="Poppins" panose="00000500000000000000" pitchFamily="2" charset="0"/>
                <a:ea typeface="Calibri"/>
                <a:cs typeface="Poppins" panose="00000500000000000000" pitchFamily="2" charset="0"/>
                <a:sym typeface="Calibri"/>
              </a:rPr>
              <a:t> de prepagos, cancelaciones, LGD, PD &amp; componente de capital</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Cálculo de </a:t>
            </a:r>
            <a:r>
              <a:rPr lang="es-ES_tradnl" sz="1467" b="1" kern="1200" noProof="0" dirty="0">
                <a:latin typeface="Poppins" panose="00000500000000000000" pitchFamily="2" charset="0"/>
                <a:ea typeface="Calibri"/>
                <a:cs typeface="Poppins" panose="00000500000000000000" pitchFamily="2" charset="0"/>
                <a:sym typeface="Calibri"/>
              </a:rPr>
              <a:t>tasa alineada al RAROC </a:t>
            </a:r>
            <a:r>
              <a:rPr lang="es-ES_tradnl" sz="1467" kern="1200" noProof="0" dirty="0">
                <a:latin typeface="Poppins" panose="00000500000000000000" pitchFamily="2" charset="0"/>
                <a:ea typeface="Calibri"/>
                <a:cs typeface="Poppins" panose="00000500000000000000" pitchFamily="2" charset="0"/>
                <a:sym typeface="Calibri"/>
              </a:rPr>
              <a:t>objetivo</a:t>
            </a:r>
          </a:p>
        </p:txBody>
      </p:sp>
      <p:sp>
        <p:nvSpPr>
          <p:cNvPr id="221" name="Google Shape;451;g3a8a166b9a7_8_346">
            <a:extLst>
              <a:ext uri="{FF2B5EF4-FFF2-40B4-BE49-F238E27FC236}">
                <a16:creationId xmlns:a16="http://schemas.microsoft.com/office/drawing/2014/main" id="{806689C6-E1D8-F33A-D8E2-540DBAF403FD}"/>
              </a:ext>
            </a:extLst>
          </p:cNvPr>
          <p:cNvSpPr txBox="1"/>
          <p:nvPr/>
        </p:nvSpPr>
        <p:spPr>
          <a:xfrm>
            <a:off x="8349421" y="6511523"/>
            <a:ext cx="4067684"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a:ea typeface="Calibri"/>
                <a:cs typeface="Poppins"/>
                <a:sym typeface="Calibri"/>
              </a:rPr>
              <a:t>Modelo econométrico de elasticidad por </a:t>
            </a:r>
            <a:r>
              <a:rPr lang="es-ES_tradnl" sz="1467" kern="1200" noProof="0" dirty="0" err="1">
                <a:latin typeface="Poppins"/>
                <a:ea typeface="Calibri"/>
                <a:cs typeface="Poppins"/>
                <a:sym typeface="Calibri"/>
              </a:rPr>
              <a:t>cluster</a:t>
            </a:r>
            <a:endParaRPr lang="es-ES_tradnl" sz="1467" kern="1200" noProof="0" dirty="0">
              <a:latin typeface="Poppins"/>
              <a:ea typeface="Calibri"/>
              <a:cs typeface="Poppins"/>
              <a:sym typeface="Calibri"/>
            </a:endParaRP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Análisis táctico de competencia</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a:ea typeface="Calibri"/>
                <a:cs typeface="Poppins"/>
                <a:sym typeface="Calibri"/>
              </a:rPr>
              <a:t>Oportunidad: Validar </a:t>
            </a:r>
            <a:r>
              <a:rPr lang="es-ES_tradnl" sz="1467" b="1" kern="1200" noProof="0" dirty="0">
                <a:latin typeface="Poppins"/>
                <a:ea typeface="Calibri"/>
                <a:cs typeface="Poppins"/>
                <a:sym typeface="Calibri"/>
              </a:rPr>
              <a:t>sinergia</a:t>
            </a:r>
            <a:r>
              <a:rPr lang="es-ES_tradnl" sz="1467" kern="1200" noProof="0" dirty="0">
                <a:latin typeface="Poppins"/>
                <a:ea typeface="Calibri"/>
                <a:cs typeface="Poppins"/>
                <a:sym typeface="Calibri"/>
              </a:rPr>
              <a:t> con modelos de </a:t>
            </a:r>
            <a:r>
              <a:rPr lang="es-ES_tradnl" sz="1467" b="1" kern="1200" noProof="0" dirty="0" err="1">
                <a:latin typeface="Poppins"/>
                <a:ea typeface="Calibri"/>
                <a:cs typeface="Poppins"/>
                <a:sym typeface="Calibri"/>
              </a:rPr>
              <a:t>retail</a:t>
            </a:r>
            <a:r>
              <a:rPr lang="es-ES_tradnl" sz="1467" kern="1200" noProof="0" dirty="0">
                <a:latin typeface="Poppins"/>
                <a:ea typeface="Calibri"/>
                <a:cs typeface="Poppins"/>
                <a:sym typeface="Calibri"/>
              </a:rPr>
              <a:t> para BN</a:t>
            </a:r>
            <a:endParaRPr lang="es-ES_tradnl" sz="1400" kern="1200" noProof="0" dirty="0"/>
          </a:p>
        </p:txBody>
      </p:sp>
      <p:sp>
        <p:nvSpPr>
          <p:cNvPr id="222" name="Google Shape;450;g3a8a166b9a7_8_346">
            <a:extLst>
              <a:ext uri="{FF2B5EF4-FFF2-40B4-BE49-F238E27FC236}">
                <a16:creationId xmlns:a16="http://schemas.microsoft.com/office/drawing/2014/main" id="{2CE0BF8F-D6EC-10B2-3B9A-7AEBB99533A9}"/>
              </a:ext>
            </a:extLst>
          </p:cNvPr>
          <p:cNvSpPr txBox="1"/>
          <p:nvPr/>
        </p:nvSpPr>
        <p:spPr>
          <a:xfrm>
            <a:off x="12464230" y="5610447"/>
            <a:ext cx="3282809"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Gestión de excepciones (vista cliente + rentabilidad)</a:t>
            </a:r>
          </a:p>
        </p:txBody>
      </p:sp>
      <p:pic>
        <p:nvPicPr>
          <p:cNvPr id="223" name="Imagen 29" descr="cumplimiento del proyecto ">
            <a:extLst>
              <a:ext uri="{FF2B5EF4-FFF2-40B4-BE49-F238E27FC236}">
                <a16:creationId xmlns:a16="http://schemas.microsoft.com/office/drawing/2014/main" id="{1D3D80BE-F641-8451-A4A0-3C586DB62F17}"/>
              </a:ext>
            </a:extLst>
          </p:cNvPr>
          <p:cNvPicPr>
            <a:picLocks noChangeAspect="1"/>
          </p:cNvPicPr>
          <p:nvPr/>
        </p:nvPicPr>
        <p:blipFill>
          <a:blip r:embed="rId5"/>
          <a:stretch>
            <a:fillRect/>
          </a:stretch>
        </p:blipFill>
        <p:spPr>
          <a:xfrm>
            <a:off x="13531210" y="3964524"/>
            <a:ext cx="1290601" cy="1290601"/>
          </a:xfrm>
          <a:prstGeom prst="rect">
            <a:avLst/>
          </a:prstGeom>
        </p:spPr>
      </p:pic>
      <p:sp>
        <p:nvSpPr>
          <p:cNvPr id="3" name="Google Shape;514;g3a8a166b9a7_8_346">
            <a:extLst>
              <a:ext uri="{FF2B5EF4-FFF2-40B4-BE49-F238E27FC236}">
                <a16:creationId xmlns:a16="http://schemas.microsoft.com/office/drawing/2014/main" id="{287EF06F-B6AF-C1E7-459D-A28A176449BB}"/>
              </a:ext>
            </a:extLst>
          </p:cNvPr>
          <p:cNvSpPr/>
          <p:nvPr/>
        </p:nvSpPr>
        <p:spPr>
          <a:xfrm>
            <a:off x="4290402" y="2918579"/>
            <a:ext cx="3916640" cy="5564556"/>
          </a:xfrm>
          <a:prstGeom prst="rect">
            <a:avLst/>
          </a:prstGeom>
          <a:noFill/>
          <a:ln w="38100" cap="flat" cmpd="sng">
            <a:solidFill>
              <a:srgbClr val="000000"/>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highlight>
                <a:srgbClr val="006C80"/>
              </a:highlight>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3100123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2559508-8C8F-6B83-0CA5-DDF19F3B6749}"/>
            </a:ext>
          </a:extLst>
        </p:cNvPr>
        <p:cNvGrpSpPr/>
        <p:nvPr/>
      </p:nvGrpSpPr>
      <p:grpSpPr>
        <a:xfrm>
          <a:off x="0" y="0"/>
          <a:ext cx="0" cy="0"/>
          <a:chOff x="0" y="0"/>
          <a:chExt cx="0" cy="0"/>
        </a:xfrm>
      </p:grpSpPr>
      <p:sp>
        <p:nvSpPr>
          <p:cNvPr id="2" name="Google Shape;167;g3ed063acbfe_1_0">
            <a:extLst>
              <a:ext uri="{FF2B5EF4-FFF2-40B4-BE49-F238E27FC236}">
                <a16:creationId xmlns:a16="http://schemas.microsoft.com/office/drawing/2014/main" id="{840A74D2-704F-9845-590D-A3B495234EDA}"/>
              </a:ext>
            </a:extLst>
          </p:cNvPr>
          <p:cNvSpPr txBox="1"/>
          <p:nvPr/>
        </p:nvSpPr>
        <p:spPr>
          <a:xfrm>
            <a:off x="447080" y="338314"/>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Módulo</a:t>
            </a:r>
            <a:r>
              <a:rPr lang="es-ES_tradnl" sz="3200" b="1" noProof="0" dirty="0">
                <a:solidFill>
                  <a:srgbClr val="13807B"/>
                </a:solidFill>
                <a:latin typeface="Poppins"/>
                <a:ea typeface="Poppins"/>
                <a:cs typeface="Poppins"/>
                <a:sym typeface="Poppins"/>
              </a:rPr>
              <a:t> </a:t>
            </a:r>
            <a:r>
              <a:rPr lang="es-ES_tradnl" sz="3200" b="1" kern="1200" noProof="0" dirty="0" err="1">
                <a:solidFill>
                  <a:srgbClr val="13807B"/>
                </a:solidFill>
                <a:latin typeface="Poppins"/>
                <a:ea typeface="Poppins"/>
                <a:cs typeface="Poppins"/>
                <a:sym typeface="Poppins"/>
              </a:rPr>
              <a:t>Profitability-based</a:t>
            </a:r>
            <a:r>
              <a:rPr lang="es-ES_tradnl" sz="3200" b="1" kern="1200" noProof="0" dirty="0">
                <a:solidFill>
                  <a:srgbClr val="13807B"/>
                </a:solidFill>
                <a:latin typeface="Poppins"/>
                <a:ea typeface="Poppins"/>
                <a:cs typeface="Poppins"/>
                <a:sym typeface="Poppins"/>
              </a:rPr>
              <a:t> pricing: Comparativo herramienta V1.0 y Pricing IBK</a:t>
            </a:r>
          </a:p>
        </p:txBody>
      </p:sp>
      <p:sp>
        <p:nvSpPr>
          <p:cNvPr id="16" name="Rectangle 15">
            <a:extLst>
              <a:ext uri="{FF2B5EF4-FFF2-40B4-BE49-F238E27FC236}">
                <a16:creationId xmlns:a16="http://schemas.microsoft.com/office/drawing/2014/main" id="{95B76FBF-5930-F953-DF9D-672ECB353ED2}"/>
              </a:ext>
            </a:extLst>
          </p:cNvPr>
          <p:cNvSpPr/>
          <p:nvPr/>
        </p:nvSpPr>
        <p:spPr>
          <a:xfrm>
            <a:off x="65115" y="1346137"/>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17" name="Shape 3">
            <a:extLst>
              <a:ext uri="{FF2B5EF4-FFF2-40B4-BE49-F238E27FC236}">
                <a16:creationId xmlns:a16="http://schemas.microsoft.com/office/drawing/2014/main" id="{E8B9A876-6EE8-5993-2210-685CF1076EF7}"/>
              </a:ext>
            </a:extLst>
          </p:cNvPr>
          <p:cNvSpPr/>
          <p:nvPr/>
        </p:nvSpPr>
        <p:spPr>
          <a:xfrm>
            <a:off x="590270" y="1366893"/>
            <a:ext cx="1622733" cy="1745833"/>
          </a:xfrm>
          <a:prstGeom prst="roundRect">
            <a:avLst>
              <a:gd name="adj" fmla="val 3846"/>
            </a:avLst>
          </a:prstGeom>
          <a:solidFill>
            <a:srgbClr val="339966"/>
          </a:solidFill>
          <a:ln w="12700">
            <a:no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18" name="Text 4">
            <a:extLst>
              <a:ext uri="{FF2B5EF4-FFF2-40B4-BE49-F238E27FC236}">
                <a16:creationId xmlns:a16="http://schemas.microsoft.com/office/drawing/2014/main" id="{D5D598D5-12D6-5B69-600B-254187B17A61}"/>
              </a:ext>
            </a:extLst>
          </p:cNvPr>
          <p:cNvSpPr/>
          <p:nvPr/>
        </p:nvSpPr>
        <p:spPr>
          <a:xfrm>
            <a:off x="719007" y="2537631"/>
            <a:ext cx="1365256" cy="554340"/>
          </a:xfrm>
          <a:prstGeom prst="rect">
            <a:avLst/>
          </a:prstGeom>
          <a:noFill/>
          <a:ln/>
        </p:spPr>
        <p:txBody>
          <a:bodyPr wrap="square" rtlCol="0" anchor="ctr"/>
          <a:lstStyle/>
          <a:p>
            <a:pPr algn="ctr" defTabSz="914377"/>
            <a:r>
              <a:rPr lang="es-ES_tradnl" sz="1100" b="1" noProof="0" dirty="0">
                <a:solidFill>
                  <a:srgbClr val="FFFFFF"/>
                </a:solidFill>
                <a:latin typeface="Calibri" panose="020F0502020204030204" pitchFamily="34" charset="0"/>
                <a:cs typeface="Calibri" panose="020F0502020204030204" pitchFamily="34" charset="0"/>
              </a:rPr>
              <a:t>MODELO ACTUAL</a:t>
            </a:r>
          </a:p>
          <a:p>
            <a:pPr algn="ctr" defTabSz="914377"/>
            <a:r>
              <a:rPr lang="es-ES_tradnl" sz="1100" b="1" noProof="0" dirty="0">
                <a:solidFill>
                  <a:srgbClr val="FFFFFF"/>
                </a:solidFill>
                <a:latin typeface="Calibri" panose="020F0502020204030204" pitchFamily="34" charset="0"/>
                <a:cs typeface="Calibri" panose="020F0502020204030204" pitchFamily="34" charset="0"/>
              </a:rPr>
              <a:t>Pricing </a:t>
            </a:r>
            <a:r>
              <a:rPr lang="es-ES_tradnl" sz="1100" b="1" noProof="0" dirty="0" err="1">
                <a:solidFill>
                  <a:srgbClr val="FFFFFF"/>
                </a:solidFill>
                <a:latin typeface="Calibri" panose="020F0502020204030204" pitchFamily="34" charset="0"/>
                <a:cs typeface="Calibri" panose="020F0502020204030204" pitchFamily="34" charset="0"/>
              </a:rPr>
              <a:t>Uniperiodo</a:t>
            </a:r>
            <a:endParaRPr lang="es-ES_tradnl" sz="1100" b="1" noProof="0" dirty="0">
              <a:solidFill>
                <a:srgbClr val="FFFFFF"/>
              </a:solidFill>
              <a:latin typeface="Calibri" panose="020F0502020204030204" pitchFamily="34" charset="0"/>
              <a:cs typeface="Calibri" panose="020F0502020204030204" pitchFamily="34" charset="0"/>
            </a:endParaRPr>
          </a:p>
          <a:p>
            <a:pPr algn="ctr" defTabSz="914377"/>
            <a:endParaRPr lang="es-ES_tradnl" sz="1100" noProof="0" dirty="0">
              <a:latin typeface="Calibri" panose="020F0502020204030204" pitchFamily="34" charset="0"/>
              <a:cs typeface="Calibri" panose="020F0502020204030204" pitchFamily="34" charset="0"/>
            </a:endParaRPr>
          </a:p>
        </p:txBody>
      </p:sp>
      <p:sp>
        <p:nvSpPr>
          <p:cNvPr id="19" name="Shape 5">
            <a:extLst>
              <a:ext uri="{FF2B5EF4-FFF2-40B4-BE49-F238E27FC236}">
                <a16:creationId xmlns:a16="http://schemas.microsoft.com/office/drawing/2014/main" id="{74DCC64E-1316-75A7-8EF6-731572A9976B}"/>
              </a:ext>
            </a:extLst>
          </p:cNvPr>
          <p:cNvSpPr/>
          <p:nvPr/>
        </p:nvSpPr>
        <p:spPr>
          <a:xfrm>
            <a:off x="2456549" y="1327851"/>
            <a:ext cx="4060803" cy="1784875"/>
          </a:xfrm>
          <a:prstGeom prst="roundRect">
            <a:avLst>
              <a:gd name="adj" fmla="val 3125"/>
            </a:avLst>
          </a:prstGeom>
          <a:solidFill>
            <a:srgbClr val="FDFEFE"/>
          </a:solidFill>
          <a:ln w="9525">
            <a:solidFill>
              <a:schemeClr val="bg1">
                <a:lumMod val="85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20" name="Shape 6">
            <a:extLst>
              <a:ext uri="{FF2B5EF4-FFF2-40B4-BE49-F238E27FC236}">
                <a16:creationId xmlns:a16="http://schemas.microsoft.com/office/drawing/2014/main" id="{037CDB7B-6F76-7C9A-945B-B58BAEB6DB1B}"/>
              </a:ext>
            </a:extLst>
          </p:cNvPr>
          <p:cNvSpPr/>
          <p:nvPr/>
        </p:nvSpPr>
        <p:spPr>
          <a:xfrm>
            <a:off x="2456549" y="1326885"/>
            <a:ext cx="4060803" cy="274320"/>
          </a:xfrm>
          <a:prstGeom prst="round2SameRect">
            <a:avLst/>
          </a:prstGeom>
          <a:solidFill>
            <a:srgbClr val="339966"/>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21" name="Text 7">
            <a:extLst>
              <a:ext uri="{FF2B5EF4-FFF2-40B4-BE49-F238E27FC236}">
                <a16:creationId xmlns:a16="http://schemas.microsoft.com/office/drawing/2014/main" id="{4ED6212A-20AB-F5F2-4B83-CD7103F3835E}"/>
              </a:ext>
            </a:extLst>
          </p:cNvPr>
          <p:cNvSpPr/>
          <p:nvPr/>
        </p:nvSpPr>
        <p:spPr>
          <a:xfrm>
            <a:off x="2884159" y="1336029"/>
            <a:ext cx="3205583" cy="274320"/>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Prima de Riesgo</a:t>
            </a:r>
            <a:endParaRPr lang="es-ES_tradnl" sz="1067" noProof="0" dirty="0">
              <a:latin typeface="Calibri" panose="020F0502020204030204" pitchFamily="34" charset="0"/>
              <a:cs typeface="Calibri" panose="020F0502020204030204" pitchFamily="34" charset="0"/>
            </a:endParaRPr>
          </a:p>
        </p:txBody>
      </p:sp>
      <p:sp>
        <p:nvSpPr>
          <p:cNvPr id="22" name="Text 8">
            <a:extLst>
              <a:ext uri="{FF2B5EF4-FFF2-40B4-BE49-F238E27FC236}">
                <a16:creationId xmlns:a16="http://schemas.microsoft.com/office/drawing/2014/main" id="{0364B3DB-127A-717B-CADA-CECDE45B88D4}"/>
              </a:ext>
            </a:extLst>
          </p:cNvPr>
          <p:cNvSpPr/>
          <p:nvPr/>
        </p:nvSpPr>
        <p:spPr>
          <a:xfrm>
            <a:off x="2470450" y="2448445"/>
            <a:ext cx="2562324" cy="594360"/>
          </a:xfrm>
          <a:prstGeom prst="rect">
            <a:avLst/>
          </a:prstGeom>
          <a:noFill/>
          <a:ln/>
        </p:spPr>
        <p:txBody>
          <a:bodyPr wrap="square" lIns="0" tIns="0" rIns="0" bIns="0" rtlCol="0" anchor="ctr"/>
          <a:lstStyle/>
          <a:p>
            <a:pPr algn="ctr" defTabSz="914377"/>
            <a:r>
              <a:rPr lang="es-ES_tradnl" sz="1200" noProof="0" dirty="0">
                <a:solidFill>
                  <a:srgbClr val="1A2E40"/>
                </a:solidFill>
                <a:latin typeface="Calibri" panose="020F0502020204030204" pitchFamily="34" charset="0"/>
                <a:cs typeface="Calibri" panose="020F0502020204030204" pitchFamily="34" charset="0"/>
              </a:rPr>
              <a:t>Score de Riesgo</a:t>
            </a:r>
            <a:endParaRPr lang="es-ES_tradnl" sz="1200" noProof="0" dirty="0">
              <a:latin typeface="Calibri" panose="020F0502020204030204" pitchFamily="34" charset="0"/>
              <a:cs typeface="Calibri" panose="020F0502020204030204" pitchFamily="34" charset="0"/>
            </a:endParaRPr>
          </a:p>
          <a:p>
            <a:pPr algn="ctr" defTabSz="914377"/>
            <a:r>
              <a:rPr lang="es-ES_tradnl" sz="1200" noProof="0" dirty="0">
                <a:solidFill>
                  <a:srgbClr val="1A2E40"/>
                </a:solidFill>
                <a:latin typeface="Calibri" panose="020F0502020204030204" pitchFamily="34" charset="0"/>
                <a:cs typeface="Calibri" panose="020F0502020204030204" pitchFamily="34" charset="0"/>
              </a:rPr>
              <a:t>Bank / No Bank</a:t>
            </a:r>
            <a:endParaRPr lang="es-ES_tradnl" sz="1200" noProof="0" dirty="0">
              <a:latin typeface="Calibri" panose="020F0502020204030204" pitchFamily="34" charset="0"/>
              <a:cs typeface="Calibri" panose="020F0502020204030204" pitchFamily="34" charset="0"/>
            </a:endParaRPr>
          </a:p>
          <a:p>
            <a:pPr algn="ctr" defTabSz="914377"/>
            <a:r>
              <a:rPr lang="es-ES_tradnl" sz="1200" noProof="0" dirty="0">
                <a:solidFill>
                  <a:srgbClr val="1A2E40"/>
                </a:solidFill>
                <a:latin typeface="Calibri" panose="020F0502020204030204" pitchFamily="34" charset="0"/>
                <a:cs typeface="Calibri" panose="020F0502020204030204" pitchFamily="34" charset="0"/>
              </a:rPr>
              <a:t>Ruc 10 / Ruc 20</a:t>
            </a:r>
            <a:endParaRPr lang="es-ES_tradnl" sz="1200" noProof="0" dirty="0">
              <a:latin typeface="Calibri" panose="020F0502020204030204" pitchFamily="34" charset="0"/>
              <a:cs typeface="Calibri" panose="020F0502020204030204" pitchFamily="34" charset="0"/>
            </a:endParaRPr>
          </a:p>
        </p:txBody>
      </p:sp>
      <p:sp>
        <p:nvSpPr>
          <p:cNvPr id="23" name="Shape 10">
            <a:extLst>
              <a:ext uri="{FF2B5EF4-FFF2-40B4-BE49-F238E27FC236}">
                <a16:creationId xmlns:a16="http://schemas.microsoft.com/office/drawing/2014/main" id="{DFE3E35C-702C-0EE7-B42D-F8E945F4E2B0}"/>
              </a:ext>
            </a:extLst>
          </p:cNvPr>
          <p:cNvSpPr/>
          <p:nvPr/>
        </p:nvSpPr>
        <p:spPr>
          <a:xfrm>
            <a:off x="6823054" y="1327851"/>
            <a:ext cx="1239833" cy="1784875"/>
          </a:xfrm>
          <a:prstGeom prst="roundRect">
            <a:avLst>
              <a:gd name="adj" fmla="val 3846"/>
            </a:avLst>
          </a:prstGeom>
          <a:solidFill>
            <a:srgbClr val="FDFEFE"/>
          </a:solidFill>
          <a:ln w="9525">
            <a:solidFill>
              <a:schemeClr val="bg1">
                <a:lumMod val="85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24" name="Shape 11">
            <a:extLst>
              <a:ext uri="{FF2B5EF4-FFF2-40B4-BE49-F238E27FC236}">
                <a16:creationId xmlns:a16="http://schemas.microsoft.com/office/drawing/2014/main" id="{2B134259-F3F4-C1EE-54E5-C0076EC3338A}"/>
              </a:ext>
            </a:extLst>
          </p:cNvPr>
          <p:cNvSpPr/>
          <p:nvPr/>
        </p:nvSpPr>
        <p:spPr>
          <a:xfrm>
            <a:off x="6825908" y="1316373"/>
            <a:ext cx="1234123" cy="352984"/>
          </a:xfrm>
          <a:prstGeom prst="round2SameRect">
            <a:avLst/>
          </a:prstGeom>
          <a:solidFill>
            <a:srgbClr val="339966"/>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25" name="Text 12">
            <a:extLst>
              <a:ext uri="{FF2B5EF4-FFF2-40B4-BE49-F238E27FC236}">
                <a16:creationId xmlns:a16="http://schemas.microsoft.com/office/drawing/2014/main" id="{BA7CEEBE-DD70-3189-9213-82EB29812192}"/>
              </a:ext>
            </a:extLst>
          </p:cNvPr>
          <p:cNvSpPr/>
          <p:nvPr/>
        </p:nvSpPr>
        <p:spPr>
          <a:xfrm>
            <a:off x="6933367" y="1340437"/>
            <a:ext cx="1019205" cy="274320"/>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Costo de Fondos</a:t>
            </a:r>
            <a:endParaRPr lang="es-ES_tradnl" sz="1067" noProof="0" dirty="0">
              <a:latin typeface="Calibri" panose="020F0502020204030204" pitchFamily="34" charset="0"/>
              <a:cs typeface="Calibri" panose="020F0502020204030204" pitchFamily="34" charset="0"/>
            </a:endParaRPr>
          </a:p>
        </p:txBody>
      </p:sp>
      <p:sp>
        <p:nvSpPr>
          <p:cNvPr id="26" name="Text 13">
            <a:extLst>
              <a:ext uri="{FF2B5EF4-FFF2-40B4-BE49-F238E27FC236}">
                <a16:creationId xmlns:a16="http://schemas.microsoft.com/office/drawing/2014/main" id="{017C8DAC-8D6E-91E8-BE71-F93D3AF4A737}"/>
              </a:ext>
            </a:extLst>
          </p:cNvPr>
          <p:cNvSpPr/>
          <p:nvPr/>
        </p:nvSpPr>
        <p:spPr>
          <a:xfrm>
            <a:off x="6820906" y="2500829"/>
            <a:ext cx="1244129" cy="594360"/>
          </a:xfrm>
          <a:prstGeom prst="rect">
            <a:avLst/>
          </a:prstGeom>
          <a:noFill/>
          <a:ln/>
        </p:spPr>
        <p:txBody>
          <a:bodyPr wrap="square" lIns="0" tIns="0" rIns="0" bIns="0" rtlCol="0" anchor="ctr"/>
          <a:lstStyle/>
          <a:p>
            <a:pPr algn="ctr" defTabSz="914377"/>
            <a:r>
              <a:rPr lang="es-ES_tradnl" sz="1200" noProof="0" dirty="0">
                <a:solidFill>
                  <a:srgbClr val="1A2E40"/>
                </a:solidFill>
                <a:latin typeface="Calibri" panose="020F0502020204030204" pitchFamily="34" charset="0"/>
                <a:cs typeface="Calibri" panose="020F0502020204030204" pitchFamily="34" charset="0"/>
              </a:rPr>
              <a:t>Costo por Plazos</a:t>
            </a:r>
          </a:p>
          <a:p>
            <a:pPr algn="ctr" defTabSz="914377"/>
            <a:r>
              <a:rPr lang="es-ES_tradnl" sz="1200" noProof="0" dirty="0">
                <a:solidFill>
                  <a:srgbClr val="1A2E40"/>
                </a:solidFill>
                <a:latin typeface="Calibri" panose="020F0502020204030204" pitchFamily="34" charset="0"/>
                <a:cs typeface="Calibri" panose="020F0502020204030204" pitchFamily="34" charset="0"/>
              </a:rPr>
              <a:t>3m / 12 m / 24 m</a:t>
            </a:r>
          </a:p>
        </p:txBody>
      </p:sp>
      <p:sp>
        <p:nvSpPr>
          <p:cNvPr id="27" name="Shape 15">
            <a:extLst>
              <a:ext uri="{FF2B5EF4-FFF2-40B4-BE49-F238E27FC236}">
                <a16:creationId xmlns:a16="http://schemas.microsoft.com/office/drawing/2014/main" id="{5A14F7BB-3BD8-DF33-FAF4-22B62ED0995D}"/>
              </a:ext>
            </a:extLst>
          </p:cNvPr>
          <p:cNvSpPr/>
          <p:nvPr/>
        </p:nvSpPr>
        <p:spPr>
          <a:xfrm>
            <a:off x="8390031" y="1327855"/>
            <a:ext cx="1216061" cy="1784871"/>
          </a:xfrm>
          <a:prstGeom prst="roundRect">
            <a:avLst>
              <a:gd name="adj" fmla="val 3846"/>
            </a:avLst>
          </a:prstGeom>
          <a:solidFill>
            <a:srgbClr val="FDFEFE"/>
          </a:solidFill>
          <a:ln w="9525">
            <a:solidFill>
              <a:schemeClr val="bg1">
                <a:lumMod val="85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28" name="Shape 16">
            <a:extLst>
              <a:ext uri="{FF2B5EF4-FFF2-40B4-BE49-F238E27FC236}">
                <a16:creationId xmlns:a16="http://schemas.microsoft.com/office/drawing/2014/main" id="{6221BE11-BE03-F83E-AC10-61EB89B2FD21}"/>
              </a:ext>
            </a:extLst>
          </p:cNvPr>
          <p:cNvSpPr/>
          <p:nvPr/>
        </p:nvSpPr>
        <p:spPr>
          <a:xfrm>
            <a:off x="8387640" y="1326257"/>
            <a:ext cx="1220843" cy="352984"/>
          </a:xfrm>
          <a:prstGeom prst="round2SameRect">
            <a:avLst/>
          </a:prstGeom>
          <a:solidFill>
            <a:srgbClr val="339966"/>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29" name="Text 17">
            <a:extLst>
              <a:ext uri="{FF2B5EF4-FFF2-40B4-BE49-F238E27FC236}">
                <a16:creationId xmlns:a16="http://schemas.microsoft.com/office/drawing/2014/main" id="{25F6DA8C-60A9-8EE3-CCE0-5694B91216C7}"/>
              </a:ext>
            </a:extLst>
          </p:cNvPr>
          <p:cNvSpPr/>
          <p:nvPr/>
        </p:nvSpPr>
        <p:spPr>
          <a:xfrm>
            <a:off x="8488460" y="1346137"/>
            <a:ext cx="1019203" cy="274320"/>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Costo Operativo</a:t>
            </a:r>
            <a:endParaRPr lang="es-ES_tradnl" sz="1067" noProof="0" dirty="0">
              <a:latin typeface="Calibri" panose="020F0502020204030204" pitchFamily="34" charset="0"/>
              <a:cs typeface="Calibri" panose="020F0502020204030204" pitchFamily="34" charset="0"/>
            </a:endParaRPr>
          </a:p>
        </p:txBody>
      </p:sp>
      <p:sp>
        <p:nvSpPr>
          <p:cNvPr id="30" name="Text 18">
            <a:extLst>
              <a:ext uri="{FF2B5EF4-FFF2-40B4-BE49-F238E27FC236}">
                <a16:creationId xmlns:a16="http://schemas.microsoft.com/office/drawing/2014/main" id="{D3A4D617-04B9-DF11-8317-679C73B80C0D}"/>
              </a:ext>
            </a:extLst>
          </p:cNvPr>
          <p:cNvSpPr/>
          <p:nvPr/>
        </p:nvSpPr>
        <p:spPr>
          <a:xfrm>
            <a:off x="8528904" y="2500829"/>
            <a:ext cx="938315" cy="594360"/>
          </a:xfrm>
          <a:prstGeom prst="rect">
            <a:avLst/>
          </a:prstGeom>
          <a:noFill/>
          <a:ln/>
        </p:spPr>
        <p:txBody>
          <a:bodyPr wrap="square" lIns="0" tIns="0" rIns="0" bIns="0" rtlCol="0" anchor="ctr"/>
          <a:lstStyle/>
          <a:p>
            <a:pPr algn="ctr" defTabSz="914377"/>
            <a:r>
              <a:rPr lang="es-ES_tradnl" sz="1200" noProof="0" dirty="0">
                <a:solidFill>
                  <a:srgbClr val="1A2E40"/>
                </a:solidFill>
                <a:latin typeface="Calibri" panose="020F0502020204030204" pitchFamily="34" charset="0"/>
                <a:cs typeface="Calibri" panose="020F0502020204030204" pitchFamily="34" charset="0"/>
              </a:rPr>
              <a:t>Fijo 4%</a:t>
            </a:r>
          </a:p>
        </p:txBody>
      </p:sp>
      <p:sp>
        <p:nvSpPr>
          <p:cNvPr id="31" name="Shape 20">
            <a:extLst>
              <a:ext uri="{FF2B5EF4-FFF2-40B4-BE49-F238E27FC236}">
                <a16:creationId xmlns:a16="http://schemas.microsoft.com/office/drawing/2014/main" id="{A96762DC-AB5B-3AF5-DB64-1FCD6BC1CDC1}"/>
              </a:ext>
            </a:extLst>
          </p:cNvPr>
          <p:cNvSpPr/>
          <p:nvPr/>
        </p:nvSpPr>
        <p:spPr>
          <a:xfrm>
            <a:off x="9996263" y="1327855"/>
            <a:ext cx="1196645" cy="1784871"/>
          </a:xfrm>
          <a:prstGeom prst="roundRect">
            <a:avLst>
              <a:gd name="adj" fmla="val 3448"/>
            </a:avLst>
          </a:prstGeom>
          <a:solidFill>
            <a:srgbClr val="FDFEFE"/>
          </a:solidFill>
          <a:ln w="9525">
            <a:solidFill>
              <a:schemeClr val="bg1">
                <a:lumMod val="85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32" name="Shape 21">
            <a:extLst>
              <a:ext uri="{FF2B5EF4-FFF2-40B4-BE49-F238E27FC236}">
                <a16:creationId xmlns:a16="http://schemas.microsoft.com/office/drawing/2014/main" id="{FAB727BC-8313-0F36-8161-14AB6F82F4CF}"/>
              </a:ext>
            </a:extLst>
          </p:cNvPr>
          <p:cNvSpPr/>
          <p:nvPr/>
        </p:nvSpPr>
        <p:spPr>
          <a:xfrm>
            <a:off x="9991479" y="1326257"/>
            <a:ext cx="1196645" cy="352984"/>
          </a:xfrm>
          <a:prstGeom prst="round2SameRect">
            <a:avLst/>
          </a:prstGeom>
          <a:solidFill>
            <a:srgbClr val="339966"/>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33" name="Text 22">
            <a:extLst>
              <a:ext uri="{FF2B5EF4-FFF2-40B4-BE49-F238E27FC236}">
                <a16:creationId xmlns:a16="http://schemas.microsoft.com/office/drawing/2014/main" id="{6E4B2FD7-F12E-F212-695C-79D3EB6E94A1}"/>
              </a:ext>
            </a:extLst>
          </p:cNvPr>
          <p:cNvSpPr/>
          <p:nvPr/>
        </p:nvSpPr>
        <p:spPr>
          <a:xfrm>
            <a:off x="10083311" y="1346137"/>
            <a:ext cx="1022549" cy="274320"/>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Margen Comercial</a:t>
            </a:r>
            <a:endParaRPr lang="es-ES_tradnl" sz="1067" noProof="0" dirty="0">
              <a:latin typeface="Calibri" panose="020F0502020204030204" pitchFamily="34" charset="0"/>
              <a:cs typeface="Calibri" panose="020F0502020204030204" pitchFamily="34" charset="0"/>
            </a:endParaRPr>
          </a:p>
        </p:txBody>
      </p:sp>
      <p:sp>
        <p:nvSpPr>
          <p:cNvPr id="34" name="Text 23">
            <a:extLst>
              <a:ext uri="{FF2B5EF4-FFF2-40B4-BE49-F238E27FC236}">
                <a16:creationId xmlns:a16="http://schemas.microsoft.com/office/drawing/2014/main" id="{9BD6BEEC-7138-8E38-E34F-6C78BDF4B768}"/>
              </a:ext>
            </a:extLst>
          </p:cNvPr>
          <p:cNvSpPr/>
          <p:nvPr/>
        </p:nvSpPr>
        <p:spPr>
          <a:xfrm>
            <a:off x="10119572" y="2500829"/>
            <a:ext cx="950027" cy="594360"/>
          </a:xfrm>
          <a:prstGeom prst="rect">
            <a:avLst/>
          </a:prstGeom>
          <a:noFill/>
          <a:ln/>
        </p:spPr>
        <p:txBody>
          <a:bodyPr wrap="square" lIns="0" tIns="0" rIns="0" bIns="0" rtlCol="0" anchor="ctr"/>
          <a:lstStyle/>
          <a:p>
            <a:pPr algn="ctr" defTabSz="914377"/>
            <a:r>
              <a:rPr lang="es-ES_tradnl" sz="1200" noProof="0" dirty="0">
                <a:solidFill>
                  <a:srgbClr val="1A2E40"/>
                </a:solidFill>
                <a:latin typeface="Calibri" panose="020F0502020204030204" pitchFamily="34" charset="0"/>
                <a:cs typeface="Calibri" panose="020F0502020204030204" pitchFamily="34" charset="0"/>
              </a:rPr>
              <a:t>Saldo Cliente</a:t>
            </a:r>
          </a:p>
        </p:txBody>
      </p:sp>
      <p:sp>
        <p:nvSpPr>
          <p:cNvPr id="35" name="Text 24">
            <a:extLst>
              <a:ext uri="{FF2B5EF4-FFF2-40B4-BE49-F238E27FC236}">
                <a16:creationId xmlns:a16="http://schemas.microsoft.com/office/drawing/2014/main" id="{0F577E82-7702-8D85-0FA0-DA34F0247E6B}"/>
              </a:ext>
            </a:extLst>
          </p:cNvPr>
          <p:cNvSpPr/>
          <p:nvPr/>
        </p:nvSpPr>
        <p:spPr>
          <a:xfrm>
            <a:off x="11712747" y="1921671"/>
            <a:ext cx="740783" cy="475488"/>
          </a:xfrm>
          <a:prstGeom prst="rect">
            <a:avLst/>
          </a:prstGeom>
          <a:noFill/>
          <a:ln/>
        </p:spPr>
        <p:txBody>
          <a:bodyPr wrap="square" rtlCol="0" anchor="ctr"/>
          <a:lstStyle/>
          <a:p>
            <a:pPr algn="ctr" defTabSz="914377"/>
            <a:r>
              <a:rPr lang="es-ES_tradnl" sz="1200" b="1" noProof="0" dirty="0">
                <a:solidFill>
                  <a:srgbClr val="1A3A5C"/>
                </a:solidFill>
                <a:latin typeface="Calibri" panose="020F0502020204030204" pitchFamily="34" charset="0"/>
                <a:cs typeface="Calibri" panose="020F0502020204030204" pitchFamily="34" charset="0"/>
              </a:rPr>
              <a:t> 200 </a:t>
            </a:r>
            <a:r>
              <a:rPr lang="es-ES_tradnl" sz="1200" b="1" noProof="0" dirty="0" err="1">
                <a:solidFill>
                  <a:srgbClr val="1A3A5C"/>
                </a:solidFill>
                <a:latin typeface="Calibri" panose="020F0502020204030204" pitchFamily="34" charset="0"/>
                <a:cs typeface="Calibri" panose="020F0502020204030204" pitchFamily="34" charset="0"/>
              </a:rPr>
              <a:t>pbs</a:t>
            </a:r>
            <a:endParaRPr lang="es-ES_tradnl" sz="1200" noProof="0" dirty="0">
              <a:latin typeface="Calibri" panose="020F0502020204030204" pitchFamily="34" charset="0"/>
              <a:cs typeface="Calibri" panose="020F0502020204030204" pitchFamily="34" charset="0"/>
            </a:endParaRPr>
          </a:p>
        </p:txBody>
      </p:sp>
      <p:sp>
        <p:nvSpPr>
          <p:cNvPr id="36" name="Text 25">
            <a:extLst>
              <a:ext uri="{FF2B5EF4-FFF2-40B4-BE49-F238E27FC236}">
                <a16:creationId xmlns:a16="http://schemas.microsoft.com/office/drawing/2014/main" id="{01E52CE6-A99B-7211-FF29-F6039A427C4B}"/>
              </a:ext>
            </a:extLst>
          </p:cNvPr>
          <p:cNvSpPr/>
          <p:nvPr/>
        </p:nvSpPr>
        <p:spPr>
          <a:xfrm>
            <a:off x="13148311" y="1976535"/>
            <a:ext cx="310896" cy="365760"/>
          </a:xfrm>
          <a:prstGeom prst="rect">
            <a:avLst/>
          </a:prstGeom>
          <a:noFill/>
          <a:ln/>
        </p:spPr>
        <p:txBody>
          <a:bodyPr wrap="square" rtlCol="0" anchor="ctr"/>
          <a:lstStyle/>
          <a:p>
            <a:pPr algn="ctr" defTabSz="914377"/>
            <a:r>
              <a:rPr lang="es-ES_tradnl" sz="2800" b="1" noProof="0" dirty="0">
                <a:solidFill>
                  <a:srgbClr val="C6E9E7">
                    <a:lumMod val="50000"/>
                  </a:srgbClr>
                </a:solidFill>
                <a:latin typeface="Calibri" panose="020F0502020204030204" pitchFamily="34" charset="0"/>
                <a:cs typeface="Calibri" panose="020F0502020204030204" pitchFamily="34" charset="0"/>
              </a:rPr>
              <a:t>=</a:t>
            </a:r>
            <a:endParaRPr lang="es-ES_tradnl" sz="2800" noProof="0" dirty="0">
              <a:solidFill>
                <a:srgbClr val="C6E9E7">
                  <a:lumMod val="50000"/>
                </a:srgbClr>
              </a:solidFill>
              <a:latin typeface="Calibri" panose="020F0502020204030204" pitchFamily="34" charset="0"/>
              <a:cs typeface="Calibri" panose="020F0502020204030204" pitchFamily="34" charset="0"/>
            </a:endParaRPr>
          </a:p>
        </p:txBody>
      </p:sp>
      <p:sp>
        <p:nvSpPr>
          <p:cNvPr id="37" name="Shape 28">
            <a:extLst>
              <a:ext uri="{FF2B5EF4-FFF2-40B4-BE49-F238E27FC236}">
                <a16:creationId xmlns:a16="http://schemas.microsoft.com/office/drawing/2014/main" id="{E43DD1C1-8635-3E48-21E4-050BD44B45E9}"/>
              </a:ext>
            </a:extLst>
          </p:cNvPr>
          <p:cNvSpPr/>
          <p:nvPr/>
        </p:nvSpPr>
        <p:spPr>
          <a:xfrm>
            <a:off x="577057" y="3189389"/>
            <a:ext cx="1649159" cy="5083754"/>
          </a:xfrm>
          <a:prstGeom prst="roundRect">
            <a:avLst>
              <a:gd name="adj" fmla="val 3846"/>
            </a:avLst>
          </a:prstGeom>
          <a:solidFill>
            <a:srgbClr val="13807B"/>
          </a:solidFill>
          <a:ln w="12700">
            <a:no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38" name="Text 29">
            <a:extLst>
              <a:ext uri="{FF2B5EF4-FFF2-40B4-BE49-F238E27FC236}">
                <a16:creationId xmlns:a16="http://schemas.microsoft.com/office/drawing/2014/main" id="{0DACEB29-98EA-05AA-7ABC-F70EBF5949D4}"/>
              </a:ext>
            </a:extLst>
          </p:cNvPr>
          <p:cNvSpPr/>
          <p:nvPr/>
        </p:nvSpPr>
        <p:spPr>
          <a:xfrm>
            <a:off x="582234" y="5368828"/>
            <a:ext cx="1638805" cy="2293857"/>
          </a:xfrm>
          <a:prstGeom prst="rect">
            <a:avLst/>
          </a:prstGeom>
          <a:noFill/>
          <a:ln/>
        </p:spPr>
        <p:txBody>
          <a:bodyPr wrap="square" rtlCol="0" anchor="ctr"/>
          <a:lstStyle/>
          <a:p>
            <a:pPr algn="ctr" defTabSz="914377"/>
            <a:r>
              <a:rPr lang="es-ES_tradnl" sz="1100" b="1" noProof="0" dirty="0">
                <a:solidFill>
                  <a:srgbClr val="FFFFFF"/>
                </a:solidFill>
                <a:latin typeface="Calibri" panose="020F0502020204030204" pitchFamily="34" charset="0"/>
                <a:cs typeface="Calibri" panose="020F0502020204030204" pitchFamily="34" charset="0"/>
              </a:rPr>
              <a:t>MODELO VOI</a:t>
            </a:r>
          </a:p>
          <a:p>
            <a:pPr algn="ctr" defTabSz="914377"/>
            <a:r>
              <a:rPr lang="es-ES_tradnl" sz="1100" b="1" noProof="0" dirty="0">
                <a:solidFill>
                  <a:srgbClr val="FFFFFF"/>
                </a:solidFill>
                <a:latin typeface="Calibri" panose="020F0502020204030204" pitchFamily="34" charset="0"/>
                <a:cs typeface="Calibri" panose="020F0502020204030204" pitchFamily="34" charset="0"/>
              </a:rPr>
              <a:t>Vs1.0</a:t>
            </a:r>
          </a:p>
          <a:p>
            <a:pPr algn="ctr" defTabSz="914377"/>
            <a:r>
              <a:rPr lang="es-ES_tradnl" sz="1100" b="1" noProof="0" dirty="0">
                <a:solidFill>
                  <a:srgbClr val="FFFFFF"/>
                </a:solidFill>
                <a:latin typeface="Calibri" panose="020F0502020204030204" pitchFamily="34" charset="0"/>
                <a:cs typeface="Calibri" panose="020F0502020204030204" pitchFamily="34" charset="0"/>
              </a:rPr>
              <a:t>Pricing </a:t>
            </a:r>
            <a:r>
              <a:rPr lang="es-ES_tradnl" sz="1100" b="1" noProof="0" dirty="0" err="1">
                <a:solidFill>
                  <a:srgbClr val="FFFFFF"/>
                </a:solidFill>
                <a:latin typeface="Calibri" panose="020F0502020204030204" pitchFamily="34" charset="0"/>
                <a:cs typeface="Calibri" panose="020F0502020204030204" pitchFamily="34" charset="0"/>
              </a:rPr>
              <a:t>Multiperiodos</a:t>
            </a:r>
            <a:endParaRPr lang="es-ES_tradnl" sz="1100" noProof="0" dirty="0">
              <a:solidFill>
                <a:srgbClr val="FFFFFF"/>
              </a:solidFill>
              <a:latin typeface="Calibri" panose="020F0502020204030204" pitchFamily="34" charset="0"/>
              <a:cs typeface="Calibri" panose="020F0502020204030204" pitchFamily="34" charset="0"/>
            </a:endParaRPr>
          </a:p>
          <a:p>
            <a:pPr algn="ctr" defTabSz="914377"/>
            <a:endParaRPr lang="es-ES_tradnl" sz="1100" noProof="0" dirty="0">
              <a:solidFill>
                <a:srgbClr val="FFFFFF"/>
              </a:solidFill>
              <a:latin typeface="Calibri" panose="020F0502020204030204" pitchFamily="34" charset="0"/>
              <a:cs typeface="Calibri" panose="020F0502020204030204" pitchFamily="34" charset="0"/>
            </a:endParaRPr>
          </a:p>
        </p:txBody>
      </p:sp>
      <p:sp>
        <p:nvSpPr>
          <p:cNvPr id="39" name="Shape 30">
            <a:extLst>
              <a:ext uri="{FF2B5EF4-FFF2-40B4-BE49-F238E27FC236}">
                <a16:creationId xmlns:a16="http://schemas.microsoft.com/office/drawing/2014/main" id="{08D3CF01-E1C8-C025-9A8E-FFBB2A604C82}"/>
              </a:ext>
            </a:extLst>
          </p:cNvPr>
          <p:cNvSpPr/>
          <p:nvPr/>
        </p:nvSpPr>
        <p:spPr>
          <a:xfrm>
            <a:off x="2470449" y="3229132"/>
            <a:ext cx="4057963" cy="4568732"/>
          </a:xfrm>
          <a:prstGeom prst="roundRect">
            <a:avLst>
              <a:gd name="adj" fmla="val 1765"/>
            </a:avLst>
          </a:prstGeom>
          <a:solidFill>
            <a:srgbClr val="F5F9FA"/>
          </a:solidFill>
          <a:ln w="9525">
            <a:solidFill>
              <a:schemeClr val="accent2">
                <a:lumMod val="90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40" name="Shape 31">
            <a:extLst>
              <a:ext uri="{FF2B5EF4-FFF2-40B4-BE49-F238E27FC236}">
                <a16:creationId xmlns:a16="http://schemas.microsoft.com/office/drawing/2014/main" id="{35421CF0-B9F5-4F7D-F920-2ADA50F7BD7D}"/>
              </a:ext>
            </a:extLst>
          </p:cNvPr>
          <p:cNvSpPr/>
          <p:nvPr/>
        </p:nvSpPr>
        <p:spPr>
          <a:xfrm>
            <a:off x="2470449" y="3228890"/>
            <a:ext cx="4057963" cy="283583"/>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41" name="Text 32">
            <a:extLst>
              <a:ext uri="{FF2B5EF4-FFF2-40B4-BE49-F238E27FC236}">
                <a16:creationId xmlns:a16="http://schemas.microsoft.com/office/drawing/2014/main" id="{7D6B1B14-AD02-8358-66DE-0893EA07B560}"/>
              </a:ext>
            </a:extLst>
          </p:cNvPr>
          <p:cNvSpPr/>
          <p:nvPr/>
        </p:nvSpPr>
        <p:spPr>
          <a:xfrm>
            <a:off x="2472117" y="3247419"/>
            <a:ext cx="4029664" cy="269051"/>
          </a:xfrm>
          <a:prstGeom prst="rect">
            <a:avLst/>
          </a:prstGeom>
          <a:noFill/>
          <a:ln/>
        </p:spPr>
        <p:txBody>
          <a:bodyPr wrap="square" lIns="0" tIns="0" rIns="0" bIns="0" rtlCol="0" anchor="ctr"/>
          <a:lstStyle/>
          <a:p>
            <a:pPr algn="ctr" defTabSz="914377"/>
            <a:r>
              <a:rPr lang="es-ES_tradnl" sz="1200" b="1" noProof="0" dirty="0">
                <a:solidFill>
                  <a:srgbClr val="FFFFFF"/>
                </a:solidFill>
                <a:latin typeface="Calibri" panose="020F0502020204030204" pitchFamily="34" charset="0"/>
                <a:cs typeface="Calibri" panose="020F0502020204030204" pitchFamily="34" charset="0"/>
              </a:rPr>
              <a:t>Prima de Riesgo (</a:t>
            </a:r>
            <a:r>
              <a:rPr lang="es-ES_tradnl" sz="1200" b="1" noProof="0" dirty="0" err="1">
                <a:solidFill>
                  <a:srgbClr val="FFFFFF"/>
                </a:solidFill>
                <a:latin typeface="Calibri" panose="020F0502020204030204" pitchFamily="34" charset="0"/>
                <a:cs typeface="Calibri" panose="020F0502020204030204" pitchFamily="34" charset="0"/>
              </a:rPr>
              <a:t>Lifetime</a:t>
            </a:r>
            <a:r>
              <a:rPr lang="es-ES_tradnl" sz="1200" b="1" noProof="0" dirty="0">
                <a:solidFill>
                  <a:srgbClr val="FFFFFF"/>
                </a:solidFill>
                <a:latin typeface="Calibri" panose="020F0502020204030204" pitchFamily="34" charset="0"/>
                <a:cs typeface="Calibri" panose="020F0502020204030204" pitchFamily="34" charset="0"/>
              </a:rPr>
              <a:t>)</a:t>
            </a:r>
            <a:endParaRPr lang="es-ES_tradnl" sz="1200" noProof="0" dirty="0">
              <a:latin typeface="Calibri" panose="020F0502020204030204" pitchFamily="34" charset="0"/>
              <a:cs typeface="Calibri" panose="020F0502020204030204" pitchFamily="34" charset="0"/>
            </a:endParaRPr>
          </a:p>
        </p:txBody>
      </p:sp>
      <p:sp>
        <p:nvSpPr>
          <p:cNvPr id="42" name="Shape 33">
            <a:extLst>
              <a:ext uri="{FF2B5EF4-FFF2-40B4-BE49-F238E27FC236}">
                <a16:creationId xmlns:a16="http://schemas.microsoft.com/office/drawing/2014/main" id="{9E05CA31-7B80-83DF-0555-BAF0D0D9722F}"/>
              </a:ext>
            </a:extLst>
          </p:cNvPr>
          <p:cNvSpPr/>
          <p:nvPr/>
        </p:nvSpPr>
        <p:spPr>
          <a:xfrm>
            <a:off x="2512548" y="3585623"/>
            <a:ext cx="2180107" cy="1910279"/>
          </a:xfrm>
          <a:prstGeom prst="roundRect">
            <a:avLst>
              <a:gd name="adj" fmla="val 2759"/>
            </a:avLst>
          </a:prstGeom>
          <a:solidFill>
            <a:srgbClr val="F6FAFB"/>
          </a:solidFill>
          <a:ln w="9525">
            <a:solidFill>
              <a:schemeClr val="accent2">
                <a:lumMod val="90000"/>
              </a:schemeClr>
            </a:solid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43" name="Shape 34">
            <a:extLst>
              <a:ext uri="{FF2B5EF4-FFF2-40B4-BE49-F238E27FC236}">
                <a16:creationId xmlns:a16="http://schemas.microsoft.com/office/drawing/2014/main" id="{21541AF4-03A6-0C72-EB8B-B609E71A58EE}"/>
              </a:ext>
            </a:extLst>
          </p:cNvPr>
          <p:cNvSpPr/>
          <p:nvPr/>
        </p:nvSpPr>
        <p:spPr>
          <a:xfrm>
            <a:off x="2512548" y="3585624"/>
            <a:ext cx="2175365" cy="356769"/>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44" name="Text 35">
            <a:extLst>
              <a:ext uri="{FF2B5EF4-FFF2-40B4-BE49-F238E27FC236}">
                <a16:creationId xmlns:a16="http://schemas.microsoft.com/office/drawing/2014/main" id="{724430E8-512D-E043-96B6-802FED8B9DCF}"/>
              </a:ext>
            </a:extLst>
          </p:cNvPr>
          <p:cNvSpPr/>
          <p:nvPr/>
        </p:nvSpPr>
        <p:spPr>
          <a:xfrm>
            <a:off x="2507807" y="3651016"/>
            <a:ext cx="2183467" cy="237744"/>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Pérdida Esperada</a:t>
            </a:r>
            <a:endParaRPr lang="es-ES_tradnl" sz="1067" noProof="0" dirty="0">
              <a:latin typeface="Calibri" panose="020F0502020204030204" pitchFamily="34" charset="0"/>
              <a:cs typeface="Calibri" panose="020F0502020204030204" pitchFamily="34" charset="0"/>
            </a:endParaRPr>
          </a:p>
        </p:txBody>
      </p:sp>
      <p:sp>
        <p:nvSpPr>
          <p:cNvPr id="45" name="Text 37">
            <a:extLst>
              <a:ext uri="{FF2B5EF4-FFF2-40B4-BE49-F238E27FC236}">
                <a16:creationId xmlns:a16="http://schemas.microsoft.com/office/drawing/2014/main" id="{BC06B657-F195-457A-9AF0-C4A24745356A}"/>
              </a:ext>
            </a:extLst>
          </p:cNvPr>
          <p:cNvSpPr/>
          <p:nvPr/>
        </p:nvSpPr>
        <p:spPr>
          <a:xfrm>
            <a:off x="4654570" y="4268912"/>
            <a:ext cx="379543" cy="548640"/>
          </a:xfrm>
          <a:prstGeom prst="rect">
            <a:avLst/>
          </a:prstGeom>
          <a:noFill/>
          <a:ln/>
        </p:spPr>
        <p:txBody>
          <a:bodyPr wrap="square" rtlCol="0" anchor="ctr"/>
          <a:lstStyle/>
          <a:p>
            <a:pPr algn="ctr" defTabSz="914377"/>
            <a:r>
              <a:rPr lang="es-ES_tradnl" sz="2800" b="1" noProof="0" dirty="0">
                <a:solidFill>
                  <a:srgbClr val="1A3A5C"/>
                </a:solidFill>
                <a:latin typeface="Calibri" panose="020F0502020204030204" pitchFamily="34" charset="0"/>
                <a:cs typeface="Calibri" panose="020F0502020204030204" pitchFamily="34" charset="0"/>
              </a:rPr>
              <a:t>+</a:t>
            </a:r>
            <a:endParaRPr lang="es-ES_tradnl" sz="2800" noProof="0" dirty="0">
              <a:latin typeface="Calibri" panose="020F0502020204030204" pitchFamily="34" charset="0"/>
              <a:cs typeface="Calibri" panose="020F0502020204030204" pitchFamily="34" charset="0"/>
            </a:endParaRPr>
          </a:p>
        </p:txBody>
      </p:sp>
      <p:sp>
        <p:nvSpPr>
          <p:cNvPr id="46" name="Shape 38">
            <a:extLst>
              <a:ext uri="{FF2B5EF4-FFF2-40B4-BE49-F238E27FC236}">
                <a16:creationId xmlns:a16="http://schemas.microsoft.com/office/drawing/2014/main" id="{DB28AFBC-BCCE-FE4D-0F8A-D53AB51EBBB3}"/>
              </a:ext>
            </a:extLst>
          </p:cNvPr>
          <p:cNvSpPr/>
          <p:nvPr/>
        </p:nvSpPr>
        <p:spPr>
          <a:xfrm>
            <a:off x="5000769" y="3576602"/>
            <a:ext cx="1411455" cy="1910279"/>
          </a:xfrm>
          <a:prstGeom prst="roundRect">
            <a:avLst>
              <a:gd name="adj" fmla="val 2797"/>
            </a:avLst>
          </a:prstGeom>
          <a:solidFill>
            <a:srgbClr val="F6FAFB"/>
          </a:solidFill>
          <a:ln w="9525">
            <a:solidFill>
              <a:schemeClr val="accent2">
                <a:lumMod val="90000"/>
              </a:schemeClr>
            </a:solid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47" name="Shape 39">
            <a:extLst>
              <a:ext uri="{FF2B5EF4-FFF2-40B4-BE49-F238E27FC236}">
                <a16:creationId xmlns:a16="http://schemas.microsoft.com/office/drawing/2014/main" id="{EA92E8FA-EDB1-D309-74E3-06B6649F7627}"/>
              </a:ext>
            </a:extLst>
          </p:cNvPr>
          <p:cNvSpPr/>
          <p:nvPr/>
        </p:nvSpPr>
        <p:spPr>
          <a:xfrm>
            <a:off x="5005508" y="3574106"/>
            <a:ext cx="1406715" cy="356769"/>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48" name="Text 40">
            <a:extLst>
              <a:ext uri="{FF2B5EF4-FFF2-40B4-BE49-F238E27FC236}">
                <a16:creationId xmlns:a16="http://schemas.microsoft.com/office/drawing/2014/main" id="{C8484207-C1A4-D23D-1E2B-155E59FE15B3}"/>
              </a:ext>
            </a:extLst>
          </p:cNvPr>
          <p:cNvSpPr/>
          <p:nvPr/>
        </p:nvSpPr>
        <p:spPr>
          <a:xfrm>
            <a:off x="5019055" y="3635067"/>
            <a:ext cx="1431456" cy="228600"/>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Pérdida No Esperada</a:t>
            </a:r>
            <a:br>
              <a:rPr lang="es-ES_tradnl" sz="1067" b="1" noProof="0" dirty="0">
                <a:solidFill>
                  <a:srgbClr val="FFFFFF"/>
                </a:solidFill>
                <a:latin typeface="Calibri" panose="020F0502020204030204" pitchFamily="34" charset="0"/>
                <a:cs typeface="Calibri" panose="020F0502020204030204" pitchFamily="34" charset="0"/>
              </a:rPr>
            </a:br>
            <a:r>
              <a:rPr lang="es-ES_tradnl" sz="1067" b="1" noProof="0" dirty="0">
                <a:solidFill>
                  <a:srgbClr val="FFFFFF"/>
                </a:solidFill>
                <a:latin typeface="Calibri" panose="020F0502020204030204" pitchFamily="34" charset="0"/>
                <a:cs typeface="Calibri" panose="020F0502020204030204" pitchFamily="34" charset="0"/>
              </a:rPr>
              <a:t>(IRB Básico) </a:t>
            </a:r>
            <a:endParaRPr lang="es-ES_tradnl" sz="1067" noProof="0" dirty="0">
              <a:latin typeface="Calibri" panose="020F0502020204030204" pitchFamily="34" charset="0"/>
              <a:cs typeface="Calibri" panose="020F0502020204030204" pitchFamily="34" charset="0"/>
            </a:endParaRPr>
          </a:p>
        </p:txBody>
      </p:sp>
      <p:sp>
        <p:nvSpPr>
          <p:cNvPr id="49" name="Text 41">
            <a:extLst>
              <a:ext uri="{FF2B5EF4-FFF2-40B4-BE49-F238E27FC236}">
                <a16:creationId xmlns:a16="http://schemas.microsoft.com/office/drawing/2014/main" id="{4E1D9B1C-FB84-DA25-84C3-489895411368}"/>
              </a:ext>
            </a:extLst>
          </p:cNvPr>
          <p:cNvSpPr/>
          <p:nvPr/>
        </p:nvSpPr>
        <p:spPr>
          <a:xfrm>
            <a:off x="5032773" y="4107033"/>
            <a:ext cx="1347447" cy="1215531"/>
          </a:xfrm>
          <a:prstGeom prst="rect">
            <a:avLst/>
          </a:prstGeom>
          <a:noFill/>
          <a:ln/>
        </p:spPr>
        <p:txBody>
          <a:bodyPr wrap="square" lIns="0" tIns="0" rIns="0" bIns="0" rtlCol="0" anchor="t"/>
          <a:lstStyle/>
          <a:p>
            <a:pPr algn="ctr" defTabSz="914377"/>
            <a:endParaRPr lang="es-ES_tradnl" sz="900" noProof="0" dirty="0">
              <a:solidFill>
                <a:srgbClr val="1A2E40"/>
              </a:solidFill>
              <a:latin typeface="Calibri" panose="020F0502020204030204" pitchFamily="34" charset="0"/>
              <a:cs typeface="Calibri" panose="020F0502020204030204" pitchFamily="34" charset="0"/>
            </a:endParaRPr>
          </a:p>
          <a:p>
            <a:pPr marL="171446" indent="-171446" defTabSz="914377">
              <a:buFont typeface="Arial" panose="020B0604020202020204" pitchFamily="34" charset="0"/>
              <a:buChar char="•"/>
            </a:pPr>
            <a:r>
              <a:rPr lang="es-ES_tradnl" sz="900" noProof="0" dirty="0">
                <a:solidFill>
                  <a:srgbClr val="1A2E40"/>
                </a:solidFill>
                <a:latin typeface="Calibri" panose="020F0502020204030204" pitchFamily="34" charset="0"/>
                <a:cs typeface="Calibri" panose="020F0502020204030204" pitchFamily="34" charset="0"/>
              </a:rPr>
              <a:t>Probabilidad de Incumplimiento (PD)</a:t>
            </a:r>
            <a:endParaRPr lang="es-ES_tradnl" sz="900" noProof="0" dirty="0">
              <a:latin typeface="Calibri" panose="020F0502020204030204" pitchFamily="34" charset="0"/>
              <a:cs typeface="Calibri" panose="020F0502020204030204" pitchFamily="34" charset="0"/>
            </a:endParaRPr>
          </a:p>
          <a:p>
            <a:pPr marL="171446" indent="-171446" defTabSz="914377">
              <a:buFont typeface="Arial" panose="020B0604020202020204" pitchFamily="34" charset="0"/>
              <a:buChar char="•"/>
            </a:pPr>
            <a:r>
              <a:rPr lang="es-ES_tradnl" sz="900" noProof="0" dirty="0">
                <a:solidFill>
                  <a:srgbClr val="1A2E40"/>
                </a:solidFill>
                <a:latin typeface="Calibri" panose="020F0502020204030204" pitchFamily="34" charset="0"/>
                <a:cs typeface="Calibri" panose="020F0502020204030204" pitchFamily="34" charset="0"/>
              </a:rPr>
              <a:t>Loss Given Default (LGD) Regulatorio</a:t>
            </a:r>
            <a:endParaRPr lang="es-ES_tradnl" sz="900" noProof="0" dirty="0">
              <a:latin typeface="Calibri" panose="020F0502020204030204" pitchFamily="34" charset="0"/>
              <a:cs typeface="Calibri" panose="020F0502020204030204" pitchFamily="34" charset="0"/>
            </a:endParaRPr>
          </a:p>
          <a:p>
            <a:pPr marL="171446" indent="-171446" defTabSz="914377">
              <a:buFont typeface="Arial" panose="020B0604020202020204" pitchFamily="34" charset="0"/>
              <a:buChar char="•"/>
            </a:pPr>
            <a:r>
              <a:rPr lang="es-ES_tradnl" sz="900" noProof="0" dirty="0">
                <a:solidFill>
                  <a:srgbClr val="1A2E40"/>
                </a:solidFill>
                <a:latin typeface="Calibri" panose="020F0502020204030204" pitchFamily="34" charset="0"/>
                <a:cs typeface="Calibri" panose="020F0502020204030204" pitchFamily="34" charset="0"/>
              </a:rPr>
              <a:t>Correlación (</a:t>
            </a:r>
            <a:r>
              <a:rPr lang="es-ES_tradnl" sz="900" noProof="0" dirty="0" err="1">
                <a:solidFill>
                  <a:srgbClr val="1A2E40"/>
                </a:solidFill>
                <a:latin typeface="Calibri" panose="020F0502020204030204" pitchFamily="34" charset="0"/>
                <a:cs typeface="Calibri" panose="020F0502020204030204" pitchFamily="34" charset="0"/>
              </a:rPr>
              <a:t>ρ</a:t>
            </a:r>
            <a:r>
              <a:rPr lang="es-ES_tradnl" sz="900" noProof="0" dirty="0">
                <a:solidFill>
                  <a:srgbClr val="1A2E40"/>
                </a:solidFill>
                <a:latin typeface="Calibri" panose="020F0502020204030204" pitchFamily="34" charset="0"/>
                <a:cs typeface="Calibri" panose="020F0502020204030204" pitchFamily="34" charset="0"/>
              </a:rPr>
              <a:t>)</a:t>
            </a:r>
            <a:endParaRPr lang="es-ES_tradnl" sz="900" noProof="0" dirty="0">
              <a:latin typeface="Calibri" panose="020F0502020204030204" pitchFamily="34" charset="0"/>
              <a:cs typeface="Calibri" panose="020F0502020204030204" pitchFamily="34" charset="0"/>
            </a:endParaRPr>
          </a:p>
          <a:p>
            <a:pPr marL="171446" indent="-171446" defTabSz="914377">
              <a:buFont typeface="Arial" panose="020B0604020202020204" pitchFamily="34" charset="0"/>
              <a:buChar char="•"/>
            </a:pPr>
            <a:r>
              <a:rPr lang="es-ES_tradnl" sz="900" noProof="0" dirty="0">
                <a:solidFill>
                  <a:srgbClr val="1A2E40"/>
                </a:solidFill>
                <a:latin typeface="Calibri" panose="020F0502020204030204" pitchFamily="34" charset="0"/>
                <a:cs typeface="Calibri" panose="020F0502020204030204" pitchFamily="34" charset="0"/>
              </a:rPr>
              <a:t>Ajuste por Madurez (b)</a:t>
            </a:r>
            <a:endParaRPr lang="es-ES_tradnl" sz="900" noProof="0" dirty="0">
              <a:latin typeface="Calibri" panose="020F0502020204030204" pitchFamily="34" charset="0"/>
              <a:cs typeface="Calibri" panose="020F0502020204030204" pitchFamily="34" charset="0"/>
            </a:endParaRPr>
          </a:p>
        </p:txBody>
      </p:sp>
      <p:sp>
        <p:nvSpPr>
          <p:cNvPr id="50" name="Text 42">
            <a:extLst>
              <a:ext uri="{FF2B5EF4-FFF2-40B4-BE49-F238E27FC236}">
                <a16:creationId xmlns:a16="http://schemas.microsoft.com/office/drawing/2014/main" id="{1FCB5818-213D-C241-6A1A-92133BB622B8}"/>
              </a:ext>
            </a:extLst>
          </p:cNvPr>
          <p:cNvSpPr/>
          <p:nvPr/>
        </p:nvSpPr>
        <p:spPr>
          <a:xfrm>
            <a:off x="3400216" y="5478555"/>
            <a:ext cx="1431195" cy="274320"/>
          </a:xfrm>
          <a:prstGeom prst="rect">
            <a:avLst/>
          </a:prstGeom>
          <a:noFill/>
          <a:ln/>
        </p:spPr>
        <p:txBody>
          <a:bodyPr wrap="square" rtlCol="0" anchor="ctr"/>
          <a:lstStyle/>
          <a:p>
            <a:pPr algn="ctr" defTabSz="914377"/>
            <a:r>
              <a:rPr lang="es-ES_tradnl" sz="2800" b="1" noProof="0" dirty="0">
                <a:solidFill>
                  <a:srgbClr val="1A3A5C"/>
                </a:solidFill>
                <a:latin typeface="Calibri" panose="020F0502020204030204" pitchFamily="34" charset="0"/>
                <a:cs typeface="Calibri" panose="020F0502020204030204" pitchFamily="34" charset="0"/>
              </a:rPr>
              <a:t>−</a:t>
            </a:r>
            <a:endParaRPr lang="es-ES_tradnl" sz="2800" noProof="0" dirty="0">
              <a:latin typeface="Calibri" panose="020F0502020204030204" pitchFamily="34" charset="0"/>
              <a:cs typeface="Calibri" panose="020F0502020204030204" pitchFamily="34" charset="0"/>
            </a:endParaRPr>
          </a:p>
        </p:txBody>
      </p:sp>
      <p:sp>
        <p:nvSpPr>
          <p:cNvPr id="51" name="Shape 43">
            <a:extLst>
              <a:ext uri="{FF2B5EF4-FFF2-40B4-BE49-F238E27FC236}">
                <a16:creationId xmlns:a16="http://schemas.microsoft.com/office/drawing/2014/main" id="{BE8EA341-589D-8897-1A7D-2EED0F735FFE}"/>
              </a:ext>
            </a:extLst>
          </p:cNvPr>
          <p:cNvSpPr/>
          <p:nvPr/>
        </p:nvSpPr>
        <p:spPr>
          <a:xfrm>
            <a:off x="3385184" y="5771163"/>
            <a:ext cx="1461256" cy="676656"/>
          </a:xfrm>
          <a:prstGeom prst="roundRect">
            <a:avLst>
              <a:gd name="adj" fmla="val 5405"/>
            </a:avLst>
          </a:prstGeom>
          <a:solidFill>
            <a:srgbClr val="F6FAFB"/>
          </a:solidFill>
          <a:ln w="9525">
            <a:solidFill>
              <a:schemeClr val="accent2">
                <a:lumMod val="90000"/>
              </a:schemeClr>
            </a:solid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52" name="Shape 44">
            <a:extLst>
              <a:ext uri="{FF2B5EF4-FFF2-40B4-BE49-F238E27FC236}">
                <a16:creationId xmlns:a16="http://schemas.microsoft.com/office/drawing/2014/main" id="{F790EDA0-56DD-F08D-1E1A-372647B47916}"/>
              </a:ext>
            </a:extLst>
          </p:cNvPr>
          <p:cNvSpPr/>
          <p:nvPr/>
        </p:nvSpPr>
        <p:spPr>
          <a:xfrm>
            <a:off x="3385129" y="5768667"/>
            <a:ext cx="1461369" cy="237744"/>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53" name="Text 45">
            <a:extLst>
              <a:ext uri="{FF2B5EF4-FFF2-40B4-BE49-F238E27FC236}">
                <a16:creationId xmlns:a16="http://schemas.microsoft.com/office/drawing/2014/main" id="{EE63F6A5-0306-9A48-971C-68BD3CC03690}"/>
              </a:ext>
            </a:extLst>
          </p:cNvPr>
          <p:cNvSpPr/>
          <p:nvPr/>
        </p:nvSpPr>
        <p:spPr>
          <a:xfrm>
            <a:off x="3394318" y="5789451"/>
            <a:ext cx="1442991" cy="237744"/>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Cancelación</a:t>
            </a:r>
            <a:endParaRPr lang="es-ES_tradnl" sz="1067" noProof="0" dirty="0">
              <a:latin typeface="Calibri" panose="020F0502020204030204" pitchFamily="34" charset="0"/>
              <a:cs typeface="Calibri" panose="020F0502020204030204" pitchFamily="34" charset="0"/>
            </a:endParaRPr>
          </a:p>
        </p:txBody>
      </p:sp>
      <p:sp>
        <p:nvSpPr>
          <p:cNvPr id="1028" name="Text 46">
            <a:extLst>
              <a:ext uri="{FF2B5EF4-FFF2-40B4-BE49-F238E27FC236}">
                <a16:creationId xmlns:a16="http://schemas.microsoft.com/office/drawing/2014/main" id="{124D5986-F3EA-4F5C-2D7E-DEF8FD2803C9}"/>
              </a:ext>
            </a:extLst>
          </p:cNvPr>
          <p:cNvSpPr/>
          <p:nvPr/>
        </p:nvSpPr>
        <p:spPr>
          <a:xfrm>
            <a:off x="3099585" y="6045483"/>
            <a:ext cx="2032455" cy="374904"/>
          </a:xfrm>
          <a:prstGeom prst="rect">
            <a:avLst/>
          </a:prstGeom>
          <a:noFill/>
          <a:ln/>
        </p:spPr>
        <p:txBody>
          <a:bodyPr wrap="square" lIns="0" tIns="0" rIns="0" bIns="0" rtlCol="0" anchor="t"/>
          <a:lstStyle/>
          <a:p>
            <a:pPr algn="ctr" defTabSz="914377"/>
            <a:r>
              <a:rPr lang="es-ES_tradnl" sz="900" noProof="0" dirty="0" err="1">
                <a:solidFill>
                  <a:srgbClr val="1A2E40"/>
                </a:solidFill>
                <a:latin typeface="Calibri" panose="020F0502020204030204" pitchFamily="34" charset="0"/>
                <a:cs typeface="Calibri" panose="020F0502020204030204" pitchFamily="34" charset="0"/>
              </a:rPr>
              <a:t>XB_cano</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err="1">
                <a:solidFill>
                  <a:srgbClr val="1A2E40"/>
                </a:solidFill>
                <a:latin typeface="Calibri" panose="020F0502020204030204" pitchFamily="34" charset="0"/>
                <a:cs typeface="Calibri" panose="020F0502020204030204" pitchFamily="34" charset="0"/>
              </a:rPr>
              <a:t>B_Curve</a:t>
            </a:r>
            <a:r>
              <a:rPr lang="es-ES_tradnl" sz="900" noProof="0" dirty="0">
                <a:solidFill>
                  <a:srgbClr val="1A2E40"/>
                </a:solidFill>
                <a:latin typeface="Calibri" panose="020F0502020204030204" pitchFamily="34" charset="0"/>
                <a:cs typeface="Calibri" panose="020F0502020204030204" pitchFamily="34" charset="0"/>
              </a:rPr>
              <a:t> SH</a:t>
            </a:r>
            <a:endParaRPr lang="es-ES_tradnl" sz="900" noProof="0" dirty="0">
              <a:latin typeface="Calibri" panose="020F0502020204030204" pitchFamily="34" charset="0"/>
              <a:cs typeface="Calibri" panose="020F0502020204030204" pitchFamily="34" charset="0"/>
            </a:endParaRPr>
          </a:p>
        </p:txBody>
      </p:sp>
      <p:sp>
        <p:nvSpPr>
          <p:cNvPr id="1036" name="Text 47">
            <a:extLst>
              <a:ext uri="{FF2B5EF4-FFF2-40B4-BE49-F238E27FC236}">
                <a16:creationId xmlns:a16="http://schemas.microsoft.com/office/drawing/2014/main" id="{A66FBC7B-7335-E867-D1B6-A9FE2DD42594}"/>
              </a:ext>
            </a:extLst>
          </p:cNvPr>
          <p:cNvSpPr/>
          <p:nvPr/>
        </p:nvSpPr>
        <p:spPr>
          <a:xfrm>
            <a:off x="3382236" y="6520971"/>
            <a:ext cx="1467155" cy="274320"/>
          </a:xfrm>
          <a:prstGeom prst="rect">
            <a:avLst/>
          </a:prstGeom>
          <a:noFill/>
          <a:ln/>
        </p:spPr>
        <p:txBody>
          <a:bodyPr wrap="square" rtlCol="0" anchor="ctr"/>
          <a:lstStyle/>
          <a:p>
            <a:pPr algn="ctr" defTabSz="914377"/>
            <a:r>
              <a:rPr lang="es-ES_tradnl" sz="2800" b="1" noProof="0" dirty="0">
                <a:solidFill>
                  <a:srgbClr val="1A3A5C"/>
                </a:solidFill>
                <a:latin typeface="Calibri" panose="020F0502020204030204" pitchFamily="34" charset="0"/>
                <a:cs typeface="Calibri" panose="020F0502020204030204" pitchFamily="34" charset="0"/>
              </a:rPr>
              <a:t>×</a:t>
            </a:r>
            <a:endParaRPr lang="es-ES_tradnl" sz="2800" noProof="0" dirty="0">
              <a:latin typeface="Calibri" panose="020F0502020204030204" pitchFamily="34" charset="0"/>
              <a:cs typeface="Calibri" panose="020F0502020204030204" pitchFamily="34" charset="0"/>
            </a:endParaRPr>
          </a:p>
        </p:txBody>
      </p:sp>
      <p:sp>
        <p:nvSpPr>
          <p:cNvPr id="1045" name="Shape 48">
            <a:extLst>
              <a:ext uri="{FF2B5EF4-FFF2-40B4-BE49-F238E27FC236}">
                <a16:creationId xmlns:a16="http://schemas.microsoft.com/office/drawing/2014/main" id="{F14A365B-70C5-2ED3-A423-6E3207EFB2A4}"/>
              </a:ext>
            </a:extLst>
          </p:cNvPr>
          <p:cNvSpPr/>
          <p:nvPr/>
        </p:nvSpPr>
        <p:spPr>
          <a:xfrm>
            <a:off x="3382234" y="6813579"/>
            <a:ext cx="1467156" cy="926935"/>
          </a:xfrm>
          <a:prstGeom prst="roundRect">
            <a:avLst>
              <a:gd name="adj" fmla="val 3636"/>
            </a:avLst>
          </a:prstGeom>
          <a:solidFill>
            <a:srgbClr val="F6FAFB"/>
          </a:solidFill>
          <a:ln w="9525">
            <a:solidFill>
              <a:schemeClr val="accent2">
                <a:lumMod val="90000"/>
              </a:schemeClr>
            </a:solid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1073" name="Shape 49">
            <a:extLst>
              <a:ext uri="{FF2B5EF4-FFF2-40B4-BE49-F238E27FC236}">
                <a16:creationId xmlns:a16="http://schemas.microsoft.com/office/drawing/2014/main" id="{9EF177A8-E4E8-21E0-C076-66872E940EF5}"/>
              </a:ext>
            </a:extLst>
          </p:cNvPr>
          <p:cNvSpPr/>
          <p:nvPr/>
        </p:nvSpPr>
        <p:spPr>
          <a:xfrm>
            <a:off x="3382234" y="6811084"/>
            <a:ext cx="1467156" cy="237744"/>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1074" name="Text 50">
            <a:extLst>
              <a:ext uri="{FF2B5EF4-FFF2-40B4-BE49-F238E27FC236}">
                <a16:creationId xmlns:a16="http://schemas.microsoft.com/office/drawing/2014/main" id="{499466EB-1698-6F7B-B89F-7770DF6E21FD}"/>
              </a:ext>
            </a:extLst>
          </p:cNvPr>
          <p:cNvSpPr/>
          <p:nvPr/>
        </p:nvSpPr>
        <p:spPr>
          <a:xfrm>
            <a:off x="3391404" y="6831867"/>
            <a:ext cx="1448816" cy="237744"/>
          </a:xfrm>
          <a:prstGeom prst="rect">
            <a:avLst/>
          </a:prstGeom>
          <a:noFill/>
          <a:ln/>
        </p:spPr>
        <p:txBody>
          <a:bodyPr wrap="square" lIns="0" tIns="0" rIns="0" bIns="0" rtlCol="0" anchor="ctr"/>
          <a:lstStyle/>
          <a:p>
            <a:pPr algn="ctr" defTabSz="914377"/>
            <a:r>
              <a:rPr lang="es-ES_tradnl" sz="800" b="1" noProof="0" dirty="0">
                <a:solidFill>
                  <a:srgbClr val="FFFFFF"/>
                </a:solidFill>
                <a:latin typeface="Calibri" panose="020F0502020204030204" pitchFamily="34" charset="0"/>
                <a:cs typeface="Calibri" panose="020F0502020204030204" pitchFamily="34" charset="0"/>
              </a:rPr>
              <a:t>Prepago</a:t>
            </a:r>
            <a:endParaRPr lang="es-ES_tradnl" sz="800" noProof="0" dirty="0">
              <a:latin typeface="Calibri" panose="020F0502020204030204" pitchFamily="34" charset="0"/>
              <a:cs typeface="Calibri" panose="020F0502020204030204" pitchFamily="34" charset="0"/>
            </a:endParaRPr>
          </a:p>
        </p:txBody>
      </p:sp>
      <p:sp>
        <p:nvSpPr>
          <p:cNvPr id="1075" name="Text 51">
            <a:extLst>
              <a:ext uri="{FF2B5EF4-FFF2-40B4-BE49-F238E27FC236}">
                <a16:creationId xmlns:a16="http://schemas.microsoft.com/office/drawing/2014/main" id="{4C096FE8-B281-A519-93BA-8AA2275613DE}"/>
              </a:ext>
            </a:extLst>
          </p:cNvPr>
          <p:cNvSpPr/>
          <p:nvPr/>
        </p:nvSpPr>
        <p:spPr>
          <a:xfrm>
            <a:off x="3095483" y="7087899"/>
            <a:ext cx="2040661" cy="493776"/>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Probabilidad prepago</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a:solidFill>
                  <a:srgbClr val="1A2E40"/>
                </a:solidFill>
                <a:latin typeface="Calibri" panose="020F0502020204030204" pitchFamily="34" charset="0"/>
                <a:cs typeface="Calibri" panose="020F0502020204030204" pitchFamily="34" charset="0"/>
              </a:rPr>
              <a:t>Magnitud primer prepago</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a:solidFill>
                  <a:srgbClr val="1A2E40"/>
                </a:solidFill>
                <a:latin typeface="Calibri" panose="020F0502020204030204" pitchFamily="34" charset="0"/>
                <a:cs typeface="Calibri" panose="020F0502020204030204" pitchFamily="34" charset="0"/>
              </a:rPr>
              <a:t>Coeficiente prepago anterior</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err="1">
                <a:solidFill>
                  <a:srgbClr val="1A2E40"/>
                </a:solidFill>
                <a:latin typeface="Calibri" panose="020F0502020204030204" pitchFamily="34" charset="0"/>
                <a:cs typeface="Calibri" panose="020F0502020204030204" pitchFamily="34" charset="0"/>
              </a:rPr>
              <a:t>Sbeta</a:t>
            </a:r>
            <a:r>
              <a:rPr lang="es-ES_tradnl" sz="900" noProof="0" dirty="0">
                <a:solidFill>
                  <a:srgbClr val="1A2E40"/>
                </a:solidFill>
                <a:latin typeface="Calibri" panose="020F0502020204030204" pitchFamily="34" charset="0"/>
                <a:cs typeface="Calibri" panose="020F0502020204030204" pitchFamily="34" charset="0"/>
              </a:rPr>
              <a:t> </a:t>
            </a:r>
            <a:r>
              <a:rPr lang="es-ES_tradnl" sz="900" noProof="0" dirty="0" err="1">
                <a:solidFill>
                  <a:srgbClr val="1A2E40"/>
                </a:solidFill>
                <a:latin typeface="Calibri" panose="020F0502020204030204" pitchFamily="34" charset="0"/>
                <a:cs typeface="Calibri" panose="020F0502020204030204" pitchFamily="34" charset="0"/>
              </a:rPr>
              <a:t>magnitude</a:t>
            </a:r>
            <a:r>
              <a:rPr lang="es-ES_tradnl" sz="900" noProof="0" dirty="0">
                <a:solidFill>
                  <a:srgbClr val="1A2E40"/>
                </a:solidFill>
                <a:latin typeface="Calibri" panose="020F0502020204030204" pitchFamily="34" charset="0"/>
                <a:cs typeface="Calibri" panose="020F0502020204030204" pitchFamily="34" charset="0"/>
              </a:rPr>
              <a:t> cliente</a:t>
            </a:r>
            <a:endParaRPr lang="es-ES_tradnl" sz="900" noProof="0" dirty="0">
              <a:latin typeface="Calibri" panose="020F0502020204030204" pitchFamily="34" charset="0"/>
              <a:cs typeface="Calibri" panose="020F0502020204030204" pitchFamily="34" charset="0"/>
            </a:endParaRPr>
          </a:p>
        </p:txBody>
      </p:sp>
      <p:sp>
        <p:nvSpPr>
          <p:cNvPr id="1076" name="Shape 53">
            <a:extLst>
              <a:ext uri="{FF2B5EF4-FFF2-40B4-BE49-F238E27FC236}">
                <a16:creationId xmlns:a16="http://schemas.microsoft.com/office/drawing/2014/main" id="{E85CA461-B3A6-8DC3-95CE-09BE675ABD5F}"/>
              </a:ext>
            </a:extLst>
          </p:cNvPr>
          <p:cNvSpPr/>
          <p:nvPr/>
        </p:nvSpPr>
        <p:spPr>
          <a:xfrm>
            <a:off x="6834594" y="4713953"/>
            <a:ext cx="1216751" cy="1890496"/>
          </a:xfrm>
          <a:prstGeom prst="roundRect">
            <a:avLst>
              <a:gd name="adj" fmla="val 3846"/>
            </a:avLst>
          </a:prstGeom>
          <a:solidFill>
            <a:srgbClr val="F5F9FA"/>
          </a:solidFill>
          <a:ln w="9525">
            <a:solidFill>
              <a:schemeClr val="accent2">
                <a:lumMod val="90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1079" name="Shape 54">
            <a:extLst>
              <a:ext uri="{FF2B5EF4-FFF2-40B4-BE49-F238E27FC236}">
                <a16:creationId xmlns:a16="http://schemas.microsoft.com/office/drawing/2014/main" id="{23E16A14-DD67-C38F-DD02-FDFE8E56555B}"/>
              </a:ext>
            </a:extLst>
          </p:cNvPr>
          <p:cNvSpPr/>
          <p:nvPr/>
        </p:nvSpPr>
        <p:spPr>
          <a:xfrm>
            <a:off x="6833411" y="4692697"/>
            <a:ext cx="1219116" cy="405225"/>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1080" name="Text 55">
            <a:extLst>
              <a:ext uri="{FF2B5EF4-FFF2-40B4-BE49-F238E27FC236}">
                <a16:creationId xmlns:a16="http://schemas.microsoft.com/office/drawing/2014/main" id="{5EECF008-1DFB-575D-511A-D59AA4A488A4}"/>
              </a:ext>
            </a:extLst>
          </p:cNvPr>
          <p:cNvSpPr/>
          <p:nvPr/>
        </p:nvSpPr>
        <p:spPr>
          <a:xfrm>
            <a:off x="6850592" y="4796248"/>
            <a:ext cx="1184755" cy="198120"/>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Costo de Fondos</a:t>
            </a:r>
            <a:endParaRPr lang="es-ES_tradnl" sz="1067" noProof="0" dirty="0">
              <a:latin typeface="Calibri" panose="020F0502020204030204" pitchFamily="34" charset="0"/>
              <a:cs typeface="Calibri" panose="020F0502020204030204" pitchFamily="34" charset="0"/>
            </a:endParaRPr>
          </a:p>
        </p:txBody>
      </p:sp>
      <p:sp>
        <p:nvSpPr>
          <p:cNvPr id="1081" name="Text 56">
            <a:extLst>
              <a:ext uri="{FF2B5EF4-FFF2-40B4-BE49-F238E27FC236}">
                <a16:creationId xmlns:a16="http://schemas.microsoft.com/office/drawing/2014/main" id="{C3CA24CE-26EA-5BB9-CFBE-88C7AA478538}"/>
              </a:ext>
            </a:extLst>
          </p:cNvPr>
          <p:cNvSpPr/>
          <p:nvPr/>
        </p:nvSpPr>
        <p:spPr>
          <a:xfrm>
            <a:off x="6833411" y="6112717"/>
            <a:ext cx="1219116" cy="468580"/>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Costo según</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err="1">
                <a:solidFill>
                  <a:srgbClr val="1A2E40"/>
                </a:solidFill>
                <a:latin typeface="Calibri" panose="020F0502020204030204" pitchFamily="34" charset="0"/>
                <a:cs typeface="Calibri" panose="020F0502020204030204" pitchFamily="34" charset="0"/>
              </a:rPr>
              <a:t>Duration</a:t>
            </a:r>
            <a:r>
              <a:rPr lang="es-ES_tradnl" sz="900" noProof="0" dirty="0">
                <a:solidFill>
                  <a:srgbClr val="1A2E40"/>
                </a:solidFill>
                <a:latin typeface="Calibri" panose="020F0502020204030204" pitchFamily="34" charset="0"/>
                <a:cs typeface="Calibri" panose="020F0502020204030204" pitchFamily="34" charset="0"/>
              </a:rPr>
              <a:t> de crédito</a:t>
            </a:r>
            <a:endParaRPr lang="es-ES_tradnl" sz="900" noProof="0" dirty="0">
              <a:latin typeface="Calibri" panose="020F0502020204030204" pitchFamily="34" charset="0"/>
              <a:cs typeface="Calibri" panose="020F0502020204030204" pitchFamily="34" charset="0"/>
            </a:endParaRPr>
          </a:p>
        </p:txBody>
      </p:sp>
      <p:sp>
        <p:nvSpPr>
          <p:cNvPr id="1082" name="Shape 58">
            <a:extLst>
              <a:ext uri="{FF2B5EF4-FFF2-40B4-BE49-F238E27FC236}">
                <a16:creationId xmlns:a16="http://schemas.microsoft.com/office/drawing/2014/main" id="{47869AF3-EF12-A9D4-ACFD-2D723213AD0F}"/>
              </a:ext>
            </a:extLst>
          </p:cNvPr>
          <p:cNvSpPr/>
          <p:nvPr/>
        </p:nvSpPr>
        <p:spPr>
          <a:xfrm>
            <a:off x="8393532" y="4713953"/>
            <a:ext cx="1209059" cy="1890496"/>
          </a:xfrm>
          <a:prstGeom prst="roundRect">
            <a:avLst>
              <a:gd name="adj" fmla="val 3846"/>
            </a:avLst>
          </a:prstGeom>
          <a:solidFill>
            <a:srgbClr val="F5F9FA"/>
          </a:solidFill>
          <a:ln w="9525">
            <a:solidFill>
              <a:schemeClr val="accent2">
                <a:lumMod val="90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1083" name="Shape 59">
            <a:extLst>
              <a:ext uri="{FF2B5EF4-FFF2-40B4-BE49-F238E27FC236}">
                <a16:creationId xmlns:a16="http://schemas.microsoft.com/office/drawing/2014/main" id="{0D8D874B-F8F2-1322-1CEF-A7CA8AF18915}"/>
              </a:ext>
            </a:extLst>
          </p:cNvPr>
          <p:cNvSpPr/>
          <p:nvPr/>
        </p:nvSpPr>
        <p:spPr>
          <a:xfrm>
            <a:off x="8390032" y="4692697"/>
            <a:ext cx="1216059" cy="405225"/>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1085" name="Text 60">
            <a:extLst>
              <a:ext uri="{FF2B5EF4-FFF2-40B4-BE49-F238E27FC236}">
                <a16:creationId xmlns:a16="http://schemas.microsoft.com/office/drawing/2014/main" id="{BA2E9EA3-22C1-73B9-B0F1-60468533D848}"/>
              </a:ext>
            </a:extLst>
          </p:cNvPr>
          <p:cNvSpPr/>
          <p:nvPr/>
        </p:nvSpPr>
        <p:spPr>
          <a:xfrm>
            <a:off x="8405527" y="4796248"/>
            <a:ext cx="1185068" cy="198120"/>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Costo Operativo</a:t>
            </a:r>
            <a:endParaRPr lang="es-ES_tradnl" sz="1067" noProof="0" dirty="0">
              <a:latin typeface="Calibri" panose="020F0502020204030204" pitchFamily="34" charset="0"/>
              <a:cs typeface="Calibri" panose="020F0502020204030204" pitchFamily="34" charset="0"/>
            </a:endParaRPr>
          </a:p>
        </p:txBody>
      </p:sp>
      <p:sp>
        <p:nvSpPr>
          <p:cNvPr id="1087" name="Text 61">
            <a:extLst>
              <a:ext uri="{FF2B5EF4-FFF2-40B4-BE49-F238E27FC236}">
                <a16:creationId xmlns:a16="http://schemas.microsoft.com/office/drawing/2014/main" id="{C6152316-08FD-FA6A-4997-79B81BAAA74C}"/>
              </a:ext>
            </a:extLst>
          </p:cNvPr>
          <p:cNvSpPr/>
          <p:nvPr/>
        </p:nvSpPr>
        <p:spPr>
          <a:xfrm>
            <a:off x="8393536" y="6112717"/>
            <a:ext cx="1209051" cy="467940"/>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Costo Adquisición</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a:solidFill>
                  <a:srgbClr val="1A2E40"/>
                </a:solidFill>
                <a:latin typeface="Calibri" panose="020F0502020204030204" pitchFamily="34" charset="0"/>
                <a:cs typeface="Calibri" panose="020F0502020204030204" pitchFamily="34" charset="0"/>
              </a:rPr>
              <a:t>Costo Operativo</a:t>
            </a:r>
            <a:endParaRPr lang="es-ES_tradnl" sz="900" noProof="0" dirty="0">
              <a:latin typeface="Calibri" panose="020F0502020204030204" pitchFamily="34" charset="0"/>
              <a:cs typeface="Calibri" panose="020F0502020204030204" pitchFamily="34" charset="0"/>
            </a:endParaRPr>
          </a:p>
        </p:txBody>
      </p:sp>
      <p:sp>
        <p:nvSpPr>
          <p:cNvPr id="256" name="Shape 63">
            <a:extLst>
              <a:ext uri="{FF2B5EF4-FFF2-40B4-BE49-F238E27FC236}">
                <a16:creationId xmlns:a16="http://schemas.microsoft.com/office/drawing/2014/main" id="{D60E5CF1-3BAE-A849-8995-2E5F0066C5BC}"/>
              </a:ext>
            </a:extLst>
          </p:cNvPr>
          <p:cNvSpPr/>
          <p:nvPr/>
        </p:nvSpPr>
        <p:spPr>
          <a:xfrm>
            <a:off x="9992903" y="4713953"/>
            <a:ext cx="1201363" cy="1890496"/>
          </a:xfrm>
          <a:prstGeom prst="roundRect">
            <a:avLst>
              <a:gd name="adj" fmla="val 3448"/>
            </a:avLst>
          </a:prstGeom>
          <a:solidFill>
            <a:srgbClr val="F5F9FA"/>
          </a:solidFill>
          <a:ln w="9525">
            <a:solidFill>
              <a:schemeClr val="accent2">
                <a:lumMod val="90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268" name="Shape 64">
            <a:extLst>
              <a:ext uri="{FF2B5EF4-FFF2-40B4-BE49-F238E27FC236}">
                <a16:creationId xmlns:a16="http://schemas.microsoft.com/office/drawing/2014/main" id="{497FA285-476F-14A3-63A2-87462104D6AD}"/>
              </a:ext>
            </a:extLst>
          </p:cNvPr>
          <p:cNvSpPr/>
          <p:nvPr/>
        </p:nvSpPr>
        <p:spPr>
          <a:xfrm>
            <a:off x="9986769" y="4692697"/>
            <a:ext cx="1201359" cy="405225"/>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269" name="Text 65">
            <a:extLst>
              <a:ext uri="{FF2B5EF4-FFF2-40B4-BE49-F238E27FC236}">
                <a16:creationId xmlns:a16="http://schemas.microsoft.com/office/drawing/2014/main" id="{92DF65DF-937B-5B8E-C1BD-B332FDA3607E}"/>
              </a:ext>
            </a:extLst>
          </p:cNvPr>
          <p:cNvSpPr/>
          <p:nvPr/>
        </p:nvSpPr>
        <p:spPr>
          <a:xfrm>
            <a:off x="10002542" y="4796248"/>
            <a:ext cx="1184087" cy="198120"/>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RAROC</a:t>
            </a:r>
            <a:endParaRPr lang="es-ES_tradnl" sz="1067" noProof="0" dirty="0">
              <a:latin typeface="Calibri" panose="020F0502020204030204" pitchFamily="34" charset="0"/>
              <a:cs typeface="Calibri" panose="020F0502020204030204" pitchFamily="34" charset="0"/>
            </a:endParaRPr>
          </a:p>
        </p:txBody>
      </p:sp>
      <p:sp>
        <p:nvSpPr>
          <p:cNvPr id="271" name="Text 66">
            <a:extLst>
              <a:ext uri="{FF2B5EF4-FFF2-40B4-BE49-F238E27FC236}">
                <a16:creationId xmlns:a16="http://schemas.microsoft.com/office/drawing/2014/main" id="{698299A2-9D80-BEB8-352D-A162CBE75D65}"/>
              </a:ext>
            </a:extLst>
          </p:cNvPr>
          <p:cNvSpPr/>
          <p:nvPr/>
        </p:nvSpPr>
        <p:spPr>
          <a:xfrm>
            <a:off x="9998654" y="6112717"/>
            <a:ext cx="1191863" cy="467940"/>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Rentabilidad ajustada al</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a:solidFill>
                  <a:srgbClr val="1A2E40"/>
                </a:solidFill>
                <a:latin typeface="Calibri" panose="020F0502020204030204" pitchFamily="34" charset="0"/>
                <a:cs typeface="Calibri" panose="020F0502020204030204" pitchFamily="34" charset="0"/>
              </a:rPr>
              <a:t>Riesgo según apetito al</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a:solidFill>
                  <a:srgbClr val="1A2E40"/>
                </a:solidFill>
                <a:latin typeface="Calibri" panose="020F0502020204030204" pitchFamily="34" charset="0"/>
                <a:cs typeface="Calibri" panose="020F0502020204030204" pitchFamily="34" charset="0"/>
              </a:rPr>
              <a:t>riesgo del banco</a:t>
            </a:r>
            <a:endParaRPr lang="es-ES_tradnl" sz="900" noProof="0" dirty="0">
              <a:latin typeface="Calibri" panose="020F0502020204030204" pitchFamily="34" charset="0"/>
              <a:cs typeface="Calibri" panose="020F0502020204030204" pitchFamily="34" charset="0"/>
            </a:endParaRPr>
          </a:p>
        </p:txBody>
      </p:sp>
      <p:sp>
        <p:nvSpPr>
          <p:cNvPr id="273" name="Text 72">
            <a:extLst>
              <a:ext uri="{FF2B5EF4-FFF2-40B4-BE49-F238E27FC236}">
                <a16:creationId xmlns:a16="http://schemas.microsoft.com/office/drawing/2014/main" id="{B067F100-6C24-0447-A951-688ABA4953AF}"/>
              </a:ext>
            </a:extLst>
          </p:cNvPr>
          <p:cNvSpPr/>
          <p:nvPr/>
        </p:nvSpPr>
        <p:spPr>
          <a:xfrm>
            <a:off x="13119468" y="5501740"/>
            <a:ext cx="363803" cy="360485"/>
          </a:xfrm>
          <a:prstGeom prst="rect">
            <a:avLst/>
          </a:prstGeom>
          <a:noFill/>
          <a:ln/>
        </p:spPr>
        <p:txBody>
          <a:bodyPr wrap="square" rtlCol="0" anchor="ctr"/>
          <a:lstStyle/>
          <a:p>
            <a:pPr algn="ctr" defTabSz="914377"/>
            <a:r>
              <a:rPr lang="es-ES_tradnl" sz="2800" b="1" noProof="0" dirty="0">
                <a:solidFill>
                  <a:srgbClr val="C6E9E7">
                    <a:lumMod val="50000"/>
                  </a:srgbClr>
                </a:solidFill>
                <a:latin typeface="Calibri" panose="020F0502020204030204" pitchFamily="34" charset="0"/>
                <a:cs typeface="Calibri" panose="020F0502020204030204" pitchFamily="34" charset="0"/>
              </a:rPr>
              <a:t>=</a:t>
            </a:r>
            <a:endParaRPr lang="es-ES_tradnl" sz="2800" noProof="0" dirty="0">
              <a:solidFill>
                <a:srgbClr val="C6E9E7">
                  <a:lumMod val="50000"/>
                </a:srgbClr>
              </a:solidFill>
              <a:latin typeface="Calibri" panose="020F0502020204030204" pitchFamily="34" charset="0"/>
              <a:cs typeface="Calibri" panose="020F0502020204030204" pitchFamily="34" charset="0"/>
            </a:endParaRPr>
          </a:p>
        </p:txBody>
      </p:sp>
      <p:sp>
        <p:nvSpPr>
          <p:cNvPr id="275" name="Text 4">
            <a:extLst>
              <a:ext uri="{FF2B5EF4-FFF2-40B4-BE49-F238E27FC236}">
                <a16:creationId xmlns:a16="http://schemas.microsoft.com/office/drawing/2014/main" id="{744236DA-AD48-492A-0700-0B4A03C1DF63}"/>
              </a:ext>
            </a:extLst>
          </p:cNvPr>
          <p:cNvSpPr/>
          <p:nvPr/>
        </p:nvSpPr>
        <p:spPr>
          <a:xfrm>
            <a:off x="999477" y="1587431"/>
            <a:ext cx="804319" cy="1463040"/>
          </a:xfrm>
          <a:prstGeom prst="rect">
            <a:avLst/>
          </a:prstGeom>
          <a:noFill/>
          <a:ln/>
        </p:spPr>
        <p:txBody>
          <a:bodyPr wrap="square" rtlCol="0" anchor="ctr"/>
          <a:lstStyle/>
          <a:p>
            <a:pPr algn="ctr" defTabSz="914377"/>
            <a:endParaRPr lang="es-ES_tradnl" sz="1000" b="1" noProof="0" dirty="0">
              <a:solidFill>
                <a:srgbClr val="FFFFFF"/>
              </a:solidFill>
              <a:latin typeface="Calibri" panose="020F0502020204030204" pitchFamily="34" charset="0"/>
              <a:cs typeface="Calibri" panose="020F0502020204030204" pitchFamily="34" charset="0"/>
            </a:endParaRPr>
          </a:p>
        </p:txBody>
      </p:sp>
      <p:sp>
        <p:nvSpPr>
          <p:cNvPr id="277" name="Text 29">
            <a:extLst>
              <a:ext uri="{FF2B5EF4-FFF2-40B4-BE49-F238E27FC236}">
                <a16:creationId xmlns:a16="http://schemas.microsoft.com/office/drawing/2014/main" id="{221433F1-D900-8A9E-5ED9-A732A193F9A7}"/>
              </a:ext>
            </a:extLst>
          </p:cNvPr>
          <p:cNvSpPr/>
          <p:nvPr/>
        </p:nvSpPr>
        <p:spPr>
          <a:xfrm>
            <a:off x="2115037" y="3143789"/>
            <a:ext cx="1270311" cy="4480560"/>
          </a:xfrm>
          <a:prstGeom prst="rect">
            <a:avLst/>
          </a:prstGeom>
          <a:noFill/>
          <a:ln/>
        </p:spPr>
        <p:txBody>
          <a:bodyPr wrap="square" rtlCol="0" anchor="ctr"/>
          <a:lstStyle/>
          <a:p>
            <a:pPr algn="ctr" defTabSz="914377"/>
            <a:endParaRPr lang="es-ES_tradnl" sz="1000" b="1" noProof="0" dirty="0">
              <a:solidFill>
                <a:srgbClr val="EEECE1">
                  <a:lumMod val="10000"/>
                </a:srgbClr>
              </a:solidFill>
              <a:latin typeface="Calibri" panose="020F0502020204030204" pitchFamily="34" charset="0"/>
              <a:cs typeface="Calibri" panose="020F0502020204030204" pitchFamily="34" charset="0"/>
            </a:endParaRPr>
          </a:p>
        </p:txBody>
      </p:sp>
      <p:sp>
        <p:nvSpPr>
          <p:cNvPr id="281" name="Text 36">
            <a:extLst>
              <a:ext uri="{FF2B5EF4-FFF2-40B4-BE49-F238E27FC236}">
                <a16:creationId xmlns:a16="http://schemas.microsoft.com/office/drawing/2014/main" id="{A1590416-3779-EC86-B816-DA82A130C313}"/>
              </a:ext>
            </a:extLst>
          </p:cNvPr>
          <p:cNvSpPr/>
          <p:nvPr/>
        </p:nvSpPr>
        <p:spPr>
          <a:xfrm>
            <a:off x="2544477" y="4024651"/>
            <a:ext cx="1009256" cy="409797"/>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Probabilidad de Default </a:t>
            </a:r>
          </a:p>
          <a:p>
            <a:pPr algn="ctr" defTabSz="914377"/>
            <a:r>
              <a:rPr lang="es-ES_tradnl" sz="900" noProof="0" dirty="0">
                <a:solidFill>
                  <a:srgbClr val="1A2E40"/>
                </a:solidFill>
                <a:latin typeface="Calibri" panose="020F0502020204030204" pitchFamily="34" charset="0"/>
                <a:cs typeface="Calibri" panose="020F0502020204030204" pitchFamily="34" charset="0"/>
              </a:rPr>
              <a:t>(PD </a:t>
            </a:r>
            <a:r>
              <a:rPr lang="es-ES_tradnl" sz="900" noProof="0" dirty="0" err="1">
                <a:solidFill>
                  <a:srgbClr val="1A2E40"/>
                </a:solidFill>
                <a:latin typeface="Calibri" panose="020F0502020204030204" pitchFamily="34" charset="0"/>
                <a:cs typeface="Calibri" panose="020F0502020204030204" pitchFamily="34" charset="0"/>
              </a:rPr>
              <a:t>Lifetime</a:t>
            </a:r>
            <a:r>
              <a:rPr lang="es-ES_tradnl" sz="900" noProof="0" dirty="0">
                <a:solidFill>
                  <a:srgbClr val="1A2E40"/>
                </a:solidFill>
                <a:latin typeface="Calibri" panose="020F0502020204030204" pitchFamily="34" charset="0"/>
                <a:cs typeface="Calibri" panose="020F0502020204030204" pitchFamily="34" charset="0"/>
              </a:rPr>
              <a:t>)</a:t>
            </a:r>
            <a:endParaRPr lang="es-ES_tradnl" sz="900" noProof="0" dirty="0">
              <a:latin typeface="Calibri" panose="020F0502020204030204" pitchFamily="34" charset="0"/>
              <a:cs typeface="Calibri" panose="020F0502020204030204" pitchFamily="34" charset="0"/>
            </a:endParaRPr>
          </a:p>
        </p:txBody>
      </p:sp>
      <p:sp>
        <p:nvSpPr>
          <p:cNvPr id="283" name="Text 36">
            <a:extLst>
              <a:ext uri="{FF2B5EF4-FFF2-40B4-BE49-F238E27FC236}">
                <a16:creationId xmlns:a16="http://schemas.microsoft.com/office/drawing/2014/main" id="{4FECCC2D-744E-D350-9CC5-C742E305B388}"/>
              </a:ext>
            </a:extLst>
          </p:cNvPr>
          <p:cNvSpPr/>
          <p:nvPr/>
        </p:nvSpPr>
        <p:spPr>
          <a:xfrm>
            <a:off x="2643323" y="4766207"/>
            <a:ext cx="681805" cy="334799"/>
          </a:xfrm>
          <a:prstGeom prst="rect">
            <a:avLst/>
          </a:prstGeom>
          <a:noFill/>
          <a:ln/>
        </p:spPr>
        <p:txBody>
          <a:bodyPr wrap="square" lIns="0" tIns="0" rIns="0" bIns="0" rtlCol="0" anchor="t"/>
          <a:lstStyle/>
          <a:p>
            <a:pPr defTabSz="914377"/>
            <a:r>
              <a:rPr lang="es-ES_tradnl" sz="900" noProof="0" dirty="0">
                <a:solidFill>
                  <a:srgbClr val="1A2E40"/>
                </a:solidFill>
                <a:latin typeface="Calibri" panose="020F0502020204030204" pitchFamily="34" charset="0"/>
                <a:cs typeface="Calibri" panose="020F0502020204030204" pitchFamily="34" charset="0"/>
              </a:rPr>
              <a:t>PD APP</a:t>
            </a:r>
          </a:p>
          <a:p>
            <a:pPr marL="171446" indent="-171446" defTabSz="914377">
              <a:buFont typeface="Arial" panose="020B0604020202020204" pitchFamily="34" charset="0"/>
              <a:buChar char="•"/>
            </a:pPr>
            <a:r>
              <a:rPr lang="es-ES_tradnl" sz="900" noProof="0" dirty="0">
                <a:solidFill>
                  <a:srgbClr val="1A2E40"/>
                </a:solidFill>
                <a:latin typeface="Calibri" panose="020F0502020204030204" pitchFamily="34" charset="0"/>
                <a:cs typeface="Calibri" panose="020F0502020204030204" pitchFamily="34" charset="0"/>
              </a:rPr>
              <a:t>Bank</a:t>
            </a:r>
          </a:p>
          <a:p>
            <a:pPr marL="171446" indent="-171446" defTabSz="914377">
              <a:buFont typeface="Arial" panose="020B0604020202020204" pitchFamily="34" charset="0"/>
              <a:buChar char="•"/>
            </a:pPr>
            <a:r>
              <a:rPr lang="es-ES_tradnl" sz="900" noProof="0" dirty="0" err="1">
                <a:solidFill>
                  <a:srgbClr val="1A2E40"/>
                </a:solidFill>
                <a:latin typeface="Calibri" panose="020F0502020204030204" pitchFamily="34" charset="0"/>
                <a:cs typeface="Calibri" panose="020F0502020204030204" pitchFamily="34" charset="0"/>
              </a:rPr>
              <a:t>NoBank</a:t>
            </a:r>
            <a:endParaRPr lang="es-ES_tradnl" sz="900" noProof="0" dirty="0">
              <a:latin typeface="Calibri" panose="020F0502020204030204" pitchFamily="34" charset="0"/>
              <a:cs typeface="Calibri" panose="020F0502020204030204" pitchFamily="34" charset="0"/>
            </a:endParaRPr>
          </a:p>
        </p:txBody>
      </p:sp>
      <p:sp>
        <p:nvSpPr>
          <p:cNvPr id="290" name="Text 36">
            <a:extLst>
              <a:ext uri="{FF2B5EF4-FFF2-40B4-BE49-F238E27FC236}">
                <a16:creationId xmlns:a16="http://schemas.microsoft.com/office/drawing/2014/main" id="{344AEBFA-2268-921F-483F-C3C6C5B27752}"/>
              </a:ext>
            </a:extLst>
          </p:cNvPr>
          <p:cNvSpPr/>
          <p:nvPr/>
        </p:nvSpPr>
        <p:spPr>
          <a:xfrm>
            <a:off x="3718633" y="4024651"/>
            <a:ext cx="878232" cy="269747"/>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Loss Given </a:t>
            </a:r>
          </a:p>
          <a:p>
            <a:pPr algn="ctr" defTabSz="914377"/>
            <a:r>
              <a:rPr lang="es-ES_tradnl" sz="900" noProof="0" dirty="0">
                <a:solidFill>
                  <a:srgbClr val="1A2E40"/>
                </a:solidFill>
                <a:latin typeface="Calibri" panose="020F0502020204030204" pitchFamily="34" charset="0"/>
                <a:cs typeface="Calibri" panose="020F0502020204030204" pitchFamily="34" charset="0"/>
              </a:rPr>
              <a:t>Default </a:t>
            </a:r>
          </a:p>
          <a:p>
            <a:pPr algn="ctr" defTabSz="914377"/>
            <a:r>
              <a:rPr lang="es-ES_tradnl" sz="900" noProof="0" dirty="0">
                <a:solidFill>
                  <a:srgbClr val="1A2E40"/>
                </a:solidFill>
                <a:latin typeface="Calibri" panose="020F0502020204030204" pitchFamily="34" charset="0"/>
                <a:cs typeface="Calibri" panose="020F0502020204030204" pitchFamily="34" charset="0"/>
              </a:rPr>
              <a:t>(LGD </a:t>
            </a:r>
            <a:r>
              <a:rPr lang="es-ES_tradnl" sz="900" noProof="0" dirty="0" err="1">
                <a:solidFill>
                  <a:srgbClr val="1A2E40"/>
                </a:solidFill>
                <a:latin typeface="Calibri" panose="020F0502020204030204" pitchFamily="34" charset="0"/>
                <a:cs typeface="Calibri" panose="020F0502020204030204" pitchFamily="34" charset="0"/>
              </a:rPr>
              <a:t>Lifetime</a:t>
            </a:r>
            <a:r>
              <a:rPr lang="es-ES_tradnl" sz="900" noProof="0" dirty="0">
                <a:solidFill>
                  <a:srgbClr val="1A2E40"/>
                </a:solidFill>
                <a:latin typeface="Calibri" panose="020F0502020204030204" pitchFamily="34" charset="0"/>
                <a:cs typeface="Calibri" panose="020F0502020204030204" pitchFamily="34" charset="0"/>
              </a:rPr>
              <a:t>)</a:t>
            </a:r>
            <a:endParaRPr lang="es-ES_tradnl" sz="900" noProof="0" dirty="0">
              <a:latin typeface="Calibri" panose="020F0502020204030204" pitchFamily="34" charset="0"/>
              <a:cs typeface="Calibri" panose="020F0502020204030204" pitchFamily="34" charset="0"/>
            </a:endParaRPr>
          </a:p>
        </p:txBody>
      </p:sp>
      <p:sp>
        <p:nvSpPr>
          <p:cNvPr id="291" name="Text 9">
            <a:extLst>
              <a:ext uri="{FF2B5EF4-FFF2-40B4-BE49-F238E27FC236}">
                <a16:creationId xmlns:a16="http://schemas.microsoft.com/office/drawing/2014/main" id="{AE987C5A-247C-8B63-3FB2-40607FF0F05C}"/>
              </a:ext>
            </a:extLst>
          </p:cNvPr>
          <p:cNvSpPr/>
          <p:nvPr/>
        </p:nvSpPr>
        <p:spPr>
          <a:xfrm>
            <a:off x="6528413" y="1906853"/>
            <a:ext cx="303756" cy="559671"/>
          </a:xfrm>
          <a:prstGeom prst="rect">
            <a:avLst/>
          </a:prstGeom>
          <a:noFill/>
          <a:ln/>
        </p:spPr>
        <p:txBody>
          <a:bodyPr wrap="square" rtlCol="0" anchor="ctr"/>
          <a:lstStyle/>
          <a:p>
            <a:pPr algn="ctr" defTabSz="914377"/>
            <a:r>
              <a:rPr lang="es-ES_tradnl" sz="4000" b="1" noProof="0" dirty="0">
                <a:solidFill>
                  <a:srgbClr val="1A3A5C"/>
                </a:solidFill>
                <a:latin typeface="Calibri" panose="020F0502020204030204" pitchFamily="34" charset="0"/>
                <a:cs typeface="Calibri" panose="020F0502020204030204" pitchFamily="34" charset="0"/>
              </a:rPr>
              <a:t>+</a:t>
            </a:r>
            <a:endParaRPr lang="es-ES_tradnl" sz="4000" noProof="0" dirty="0">
              <a:latin typeface="Calibri" panose="020F0502020204030204" pitchFamily="34" charset="0"/>
              <a:cs typeface="Calibri" panose="020F0502020204030204" pitchFamily="34" charset="0"/>
            </a:endParaRPr>
          </a:p>
        </p:txBody>
      </p:sp>
      <p:sp>
        <p:nvSpPr>
          <p:cNvPr id="292" name="Text 9">
            <a:extLst>
              <a:ext uri="{FF2B5EF4-FFF2-40B4-BE49-F238E27FC236}">
                <a16:creationId xmlns:a16="http://schemas.microsoft.com/office/drawing/2014/main" id="{19D762D7-33DE-8239-AC8A-07B88240ED6F}"/>
              </a:ext>
            </a:extLst>
          </p:cNvPr>
          <p:cNvSpPr/>
          <p:nvPr/>
        </p:nvSpPr>
        <p:spPr>
          <a:xfrm>
            <a:off x="6528413" y="5302555"/>
            <a:ext cx="303756" cy="559671"/>
          </a:xfrm>
          <a:prstGeom prst="rect">
            <a:avLst/>
          </a:prstGeom>
          <a:noFill/>
          <a:ln/>
        </p:spPr>
        <p:txBody>
          <a:bodyPr wrap="square" rtlCol="0" anchor="ctr"/>
          <a:lstStyle/>
          <a:p>
            <a:pPr algn="ctr" defTabSz="914377"/>
            <a:r>
              <a:rPr lang="es-ES_tradnl" sz="4000" b="1" noProof="0" dirty="0">
                <a:solidFill>
                  <a:srgbClr val="1A3A5C"/>
                </a:solidFill>
                <a:latin typeface="Calibri" panose="020F0502020204030204" pitchFamily="34" charset="0"/>
                <a:cs typeface="Calibri" panose="020F0502020204030204" pitchFamily="34" charset="0"/>
              </a:rPr>
              <a:t>+</a:t>
            </a:r>
            <a:endParaRPr lang="es-ES_tradnl" sz="4000" noProof="0" dirty="0">
              <a:latin typeface="Calibri" panose="020F0502020204030204" pitchFamily="34" charset="0"/>
              <a:cs typeface="Calibri" panose="020F0502020204030204" pitchFamily="34" charset="0"/>
            </a:endParaRPr>
          </a:p>
        </p:txBody>
      </p:sp>
      <p:sp>
        <p:nvSpPr>
          <p:cNvPr id="293" name="Text 9">
            <a:extLst>
              <a:ext uri="{FF2B5EF4-FFF2-40B4-BE49-F238E27FC236}">
                <a16:creationId xmlns:a16="http://schemas.microsoft.com/office/drawing/2014/main" id="{9B829756-CE97-FDE7-68D8-41F3DC7FB6FC}"/>
              </a:ext>
            </a:extLst>
          </p:cNvPr>
          <p:cNvSpPr/>
          <p:nvPr/>
        </p:nvSpPr>
        <p:spPr>
          <a:xfrm>
            <a:off x="8072133" y="5302555"/>
            <a:ext cx="303756" cy="559671"/>
          </a:xfrm>
          <a:prstGeom prst="rect">
            <a:avLst/>
          </a:prstGeom>
          <a:noFill/>
          <a:ln/>
        </p:spPr>
        <p:txBody>
          <a:bodyPr wrap="square" rtlCol="0" anchor="ctr"/>
          <a:lstStyle/>
          <a:p>
            <a:pPr algn="ctr" defTabSz="914377"/>
            <a:r>
              <a:rPr lang="es-ES_tradnl" sz="4000" b="1" noProof="0" dirty="0">
                <a:solidFill>
                  <a:srgbClr val="1A3A5C"/>
                </a:solidFill>
                <a:latin typeface="Calibri" panose="020F0502020204030204" pitchFamily="34" charset="0"/>
                <a:cs typeface="Calibri" panose="020F0502020204030204" pitchFamily="34" charset="0"/>
              </a:rPr>
              <a:t>+</a:t>
            </a:r>
            <a:endParaRPr lang="es-ES_tradnl" sz="4000" noProof="0" dirty="0">
              <a:latin typeface="Calibri" panose="020F0502020204030204" pitchFamily="34" charset="0"/>
              <a:cs typeface="Calibri" panose="020F0502020204030204" pitchFamily="34" charset="0"/>
            </a:endParaRPr>
          </a:p>
        </p:txBody>
      </p:sp>
      <p:sp>
        <p:nvSpPr>
          <p:cNvPr id="294" name="Text 9">
            <a:extLst>
              <a:ext uri="{FF2B5EF4-FFF2-40B4-BE49-F238E27FC236}">
                <a16:creationId xmlns:a16="http://schemas.microsoft.com/office/drawing/2014/main" id="{4AFF7AD0-161A-F954-A680-B99B2BCD48CA}"/>
              </a:ext>
            </a:extLst>
          </p:cNvPr>
          <p:cNvSpPr/>
          <p:nvPr/>
        </p:nvSpPr>
        <p:spPr>
          <a:xfrm>
            <a:off x="9643442" y="5302555"/>
            <a:ext cx="303756" cy="559671"/>
          </a:xfrm>
          <a:prstGeom prst="rect">
            <a:avLst/>
          </a:prstGeom>
          <a:noFill/>
          <a:ln/>
        </p:spPr>
        <p:txBody>
          <a:bodyPr wrap="square" rtlCol="0" anchor="ctr"/>
          <a:lstStyle/>
          <a:p>
            <a:pPr algn="ctr" defTabSz="914377"/>
            <a:r>
              <a:rPr lang="es-ES_tradnl" sz="4000" b="1" noProof="0" dirty="0">
                <a:solidFill>
                  <a:srgbClr val="1A3A5C"/>
                </a:solidFill>
                <a:latin typeface="Calibri" panose="020F0502020204030204" pitchFamily="34" charset="0"/>
                <a:cs typeface="Calibri" panose="020F0502020204030204" pitchFamily="34" charset="0"/>
              </a:rPr>
              <a:t>+</a:t>
            </a:r>
            <a:endParaRPr lang="es-ES_tradnl" sz="4000" noProof="0" dirty="0">
              <a:latin typeface="Calibri" panose="020F0502020204030204" pitchFamily="34" charset="0"/>
              <a:cs typeface="Calibri" panose="020F0502020204030204" pitchFamily="34" charset="0"/>
            </a:endParaRPr>
          </a:p>
        </p:txBody>
      </p:sp>
      <p:sp>
        <p:nvSpPr>
          <p:cNvPr id="295" name="Text 9">
            <a:extLst>
              <a:ext uri="{FF2B5EF4-FFF2-40B4-BE49-F238E27FC236}">
                <a16:creationId xmlns:a16="http://schemas.microsoft.com/office/drawing/2014/main" id="{6E56F846-C187-543F-4C6A-2773685D7379}"/>
              </a:ext>
            </a:extLst>
          </p:cNvPr>
          <p:cNvSpPr/>
          <p:nvPr/>
        </p:nvSpPr>
        <p:spPr>
          <a:xfrm>
            <a:off x="8072133" y="1906853"/>
            <a:ext cx="303756" cy="559671"/>
          </a:xfrm>
          <a:prstGeom prst="rect">
            <a:avLst/>
          </a:prstGeom>
          <a:noFill/>
          <a:ln/>
        </p:spPr>
        <p:txBody>
          <a:bodyPr wrap="square" rtlCol="0" anchor="ctr"/>
          <a:lstStyle/>
          <a:p>
            <a:pPr algn="ctr" defTabSz="914377"/>
            <a:r>
              <a:rPr lang="es-ES_tradnl" sz="4000" b="1" noProof="0" dirty="0">
                <a:solidFill>
                  <a:srgbClr val="1A3A5C"/>
                </a:solidFill>
                <a:latin typeface="Calibri" panose="020F0502020204030204" pitchFamily="34" charset="0"/>
                <a:cs typeface="Calibri" panose="020F0502020204030204" pitchFamily="34" charset="0"/>
              </a:rPr>
              <a:t>+</a:t>
            </a:r>
            <a:endParaRPr lang="es-ES_tradnl" sz="4000" noProof="0" dirty="0">
              <a:latin typeface="Calibri" panose="020F0502020204030204" pitchFamily="34" charset="0"/>
              <a:cs typeface="Calibri" panose="020F0502020204030204" pitchFamily="34" charset="0"/>
            </a:endParaRPr>
          </a:p>
        </p:txBody>
      </p:sp>
      <p:sp>
        <p:nvSpPr>
          <p:cNvPr id="296" name="Text 9">
            <a:extLst>
              <a:ext uri="{FF2B5EF4-FFF2-40B4-BE49-F238E27FC236}">
                <a16:creationId xmlns:a16="http://schemas.microsoft.com/office/drawing/2014/main" id="{69982D8C-56ED-4D36-6446-1127E54A4E36}"/>
              </a:ext>
            </a:extLst>
          </p:cNvPr>
          <p:cNvSpPr/>
          <p:nvPr/>
        </p:nvSpPr>
        <p:spPr>
          <a:xfrm>
            <a:off x="9643442" y="1906853"/>
            <a:ext cx="303756" cy="559671"/>
          </a:xfrm>
          <a:prstGeom prst="rect">
            <a:avLst/>
          </a:prstGeom>
          <a:noFill/>
          <a:ln/>
        </p:spPr>
        <p:txBody>
          <a:bodyPr wrap="square" rtlCol="0" anchor="ctr"/>
          <a:lstStyle/>
          <a:p>
            <a:pPr algn="ctr" defTabSz="914377"/>
            <a:r>
              <a:rPr lang="es-ES_tradnl" sz="4000" b="1" noProof="0" dirty="0">
                <a:solidFill>
                  <a:srgbClr val="1A3A5C"/>
                </a:solidFill>
                <a:latin typeface="Calibri" panose="020F0502020204030204" pitchFamily="34" charset="0"/>
                <a:cs typeface="Calibri" panose="020F0502020204030204" pitchFamily="34" charset="0"/>
              </a:rPr>
              <a:t>+</a:t>
            </a:r>
            <a:endParaRPr lang="es-ES_tradnl" sz="4000" noProof="0" dirty="0">
              <a:latin typeface="Calibri" panose="020F0502020204030204" pitchFamily="34" charset="0"/>
              <a:cs typeface="Calibri" panose="020F0502020204030204" pitchFamily="34" charset="0"/>
            </a:endParaRPr>
          </a:p>
        </p:txBody>
      </p:sp>
      <p:sp>
        <p:nvSpPr>
          <p:cNvPr id="301" name="Text 9">
            <a:extLst>
              <a:ext uri="{FF2B5EF4-FFF2-40B4-BE49-F238E27FC236}">
                <a16:creationId xmlns:a16="http://schemas.microsoft.com/office/drawing/2014/main" id="{FD02568F-CDF1-999B-99EA-8122C31BBCBF}"/>
              </a:ext>
            </a:extLst>
          </p:cNvPr>
          <p:cNvSpPr/>
          <p:nvPr/>
        </p:nvSpPr>
        <p:spPr>
          <a:xfrm>
            <a:off x="11206110" y="5302555"/>
            <a:ext cx="303756" cy="559671"/>
          </a:xfrm>
          <a:prstGeom prst="rect">
            <a:avLst/>
          </a:prstGeom>
          <a:noFill/>
          <a:ln/>
        </p:spPr>
        <p:txBody>
          <a:bodyPr wrap="square" rtlCol="0" anchor="ctr"/>
          <a:lstStyle/>
          <a:p>
            <a:pPr algn="ctr" defTabSz="914377"/>
            <a:r>
              <a:rPr lang="es-ES_tradnl" sz="4000" b="1" noProof="0" dirty="0">
                <a:solidFill>
                  <a:srgbClr val="1A3A5C"/>
                </a:solidFill>
                <a:latin typeface="Calibri" panose="020F0502020204030204" pitchFamily="34" charset="0"/>
                <a:cs typeface="Calibri" panose="020F0502020204030204" pitchFamily="34" charset="0"/>
              </a:rPr>
              <a:t>-</a:t>
            </a:r>
            <a:endParaRPr lang="es-ES_tradnl" sz="4000" noProof="0" dirty="0">
              <a:latin typeface="Calibri" panose="020F0502020204030204" pitchFamily="34" charset="0"/>
              <a:cs typeface="Calibri" panose="020F0502020204030204" pitchFamily="34" charset="0"/>
            </a:endParaRPr>
          </a:p>
        </p:txBody>
      </p:sp>
      <p:sp>
        <p:nvSpPr>
          <p:cNvPr id="302" name="Text 9">
            <a:extLst>
              <a:ext uri="{FF2B5EF4-FFF2-40B4-BE49-F238E27FC236}">
                <a16:creationId xmlns:a16="http://schemas.microsoft.com/office/drawing/2014/main" id="{B22B1898-2BFE-B311-4105-81FA59A1C425}"/>
              </a:ext>
            </a:extLst>
          </p:cNvPr>
          <p:cNvSpPr/>
          <p:nvPr/>
        </p:nvSpPr>
        <p:spPr>
          <a:xfrm>
            <a:off x="11206110" y="1906853"/>
            <a:ext cx="303756" cy="559671"/>
          </a:xfrm>
          <a:prstGeom prst="rect">
            <a:avLst/>
          </a:prstGeom>
          <a:noFill/>
          <a:ln/>
        </p:spPr>
        <p:txBody>
          <a:bodyPr wrap="square" rtlCol="0" anchor="ctr"/>
          <a:lstStyle/>
          <a:p>
            <a:pPr algn="ctr" defTabSz="914377"/>
            <a:r>
              <a:rPr lang="es-ES_tradnl" sz="4000" b="1" noProof="0" dirty="0">
                <a:solidFill>
                  <a:srgbClr val="1A3A5C"/>
                </a:solidFill>
                <a:latin typeface="Calibri" panose="020F0502020204030204" pitchFamily="34" charset="0"/>
                <a:cs typeface="Calibri" panose="020F0502020204030204" pitchFamily="34" charset="0"/>
              </a:rPr>
              <a:t>+</a:t>
            </a:r>
            <a:endParaRPr lang="es-ES_tradnl" sz="4000" noProof="0" dirty="0">
              <a:latin typeface="Calibri" panose="020F0502020204030204" pitchFamily="34" charset="0"/>
              <a:cs typeface="Calibri" panose="020F0502020204030204" pitchFamily="34" charset="0"/>
            </a:endParaRPr>
          </a:p>
        </p:txBody>
      </p:sp>
      <p:sp>
        <p:nvSpPr>
          <p:cNvPr id="303" name="Oval 302">
            <a:extLst>
              <a:ext uri="{FF2B5EF4-FFF2-40B4-BE49-F238E27FC236}">
                <a16:creationId xmlns:a16="http://schemas.microsoft.com/office/drawing/2014/main" id="{A0B78942-1996-D805-03A0-BCD761342471}"/>
              </a:ext>
            </a:extLst>
          </p:cNvPr>
          <p:cNvSpPr/>
          <p:nvPr/>
        </p:nvSpPr>
        <p:spPr>
          <a:xfrm>
            <a:off x="933430" y="1487878"/>
            <a:ext cx="1003924" cy="10039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04" name="Picture 303" descr="banco ">
            <a:extLst>
              <a:ext uri="{FF2B5EF4-FFF2-40B4-BE49-F238E27FC236}">
                <a16:creationId xmlns:a16="http://schemas.microsoft.com/office/drawing/2014/main" id="{868CB45F-6327-38F6-166D-3BBF63CCB1E2}"/>
              </a:ext>
            </a:extLst>
          </p:cNvPr>
          <p:cNvPicPr>
            <a:picLocks noChangeAspect="1"/>
          </p:cNvPicPr>
          <p:nvPr/>
        </p:nvPicPr>
        <p:blipFill>
          <a:blip r:embed="rId3"/>
          <a:stretch>
            <a:fillRect/>
          </a:stretch>
        </p:blipFill>
        <p:spPr>
          <a:xfrm>
            <a:off x="1071354" y="1569477"/>
            <a:ext cx="728076" cy="728076"/>
          </a:xfrm>
          <a:prstGeom prst="rect">
            <a:avLst/>
          </a:prstGeom>
        </p:spPr>
      </p:pic>
      <p:sp>
        <p:nvSpPr>
          <p:cNvPr id="305" name="Oval 304">
            <a:extLst>
              <a:ext uri="{FF2B5EF4-FFF2-40B4-BE49-F238E27FC236}">
                <a16:creationId xmlns:a16="http://schemas.microsoft.com/office/drawing/2014/main" id="{32A3D339-474D-D44F-6068-B7529B0A1757}"/>
              </a:ext>
            </a:extLst>
          </p:cNvPr>
          <p:cNvSpPr/>
          <p:nvPr/>
        </p:nvSpPr>
        <p:spPr>
          <a:xfrm>
            <a:off x="899674" y="4763293"/>
            <a:ext cx="1003924" cy="100392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06" name="Picture 305" descr="diagrama ">
            <a:extLst>
              <a:ext uri="{FF2B5EF4-FFF2-40B4-BE49-F238E27FC236}">
                <a16:creationId xmlns:a16="http://schemas.microsoft.com/office/drawing/2014/main" id="{88A5F5FF-6FEC-344E-E3DB-C79679209E39}"/>
              </a:ext>
            </a:extLst>
          </p:cNvPr>
          <p:cNvPicPr>
            <a:picLocks noChangeAspect="1"/>
          </p:cNvPicPr>
          <p:nvPr/>
        </p:nvPicPr>
        <p:blipFill>
          <a:blip r:embed="rId4">
            <a:duotone>
              <a:schemeClr val="accent6">
                <a:shade val="45000"/>
                <a:satMod val="135000"/>
              </a:schemeClr>
              <a:prstClr val="white"/>
            </a:duotone>
          </a:blip>
          <a:stretch>
            <a:fillRect/>
          </a:stretch>
        </p:blipFill>
        <p:spPr>
          <a:xfrm>
            <a:off x="1140534" y="4982697"/>
            <a:ext cx="522204" cy="522204"/>
          </a:xfrm>
          <a:prstGeom prst="rect">
            <a:avLst/>
          </a:prstGeom>
        </p:spPr>
      </p:pic>
      <p:grpSp>
        <p:nvGrpSpPr>
          <p:cNvPr id="4" name="Group 3">
            <a:extLst>
              <a:ext uri="{FF2B5EF4-FFF2-40B4-BE49-F238E27FC236}">
                <a16:creationId xmlns:a16="http://schemas.microsoft.com/office/drawing/2014/main" id="{DF7DE258-F217-AE79-CE49-33D61F11F3E1}"/>
              </a:ext>
            </a:extLst>
          </p:cNvPr>
          <p:cNvGrpSpPr/>
          <p:nvPr/>
        </p:nvGrpSpPr>
        <p:grpSpPr>
          <a:xfrm>
            <a:off x="3423833" y="1757198"/>
            <a:ext cx="747159" cy="747159"/>
            <a:chOff x="4145075" y="1757198"/>
            <a:chExt cx="747159" cy="747159"/>
          </a:xfrm>
        </p:grpSpPr>
        <p:sp>
          <p:nvSpPr>
            <p:cNvPr id="307" name="Oval 306">
              <a:extLst>
                <a:ext uri="{FF2B5EF4-FFF2-40B4-BE49-F238E27FC236}">
                  <a16:creationId xmlns:a16="http://schemas.microsoft.com/office/drawing/2014/main" id="{F68C7D92-CABC-A7C8-34EA-1B9BBA57B1D8}"/>
                </a:ext>
              </a:extLst>
            </p:cNvPr>
            <p:cNvSpPr/>
            <p:nvPr/>
          </p:nvSpPr>
          <p:spPr>
            <a:xfrm>
              <a:off x="4145075" y="1757198"/>
              <a:ext cx="747159" cy="747159"/>
            </a:xfrm>
            <a:prstGeom prst="ellipse">
              <a:avLst/>
            </a:prstGeom>
            <a:solidFill>
              <a:srgbClr val="ECEE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08" name="Picture 307" descr="verificación de escudo ">
              <a:extLst>
                <a:ext uri="{FF2B5EF4-FFF2-40B4-BE49-F238E27FC236}">
                  <a16:creationId xmlns:a16="http://schemas.microsoft.com/office/drawing/2014/main" id="{CF9EADF1-A111-7E58-3F70-8E0AF7FFC231}"/>
                </a:ext>
              </a:extLst>
            </p:cNvPr>
            <p:cNvPicPr>
              <a:picLocks noChangeAspect="1"/>
            </p:cNvPicPr>
            <p:nvPr/>
          </p:nvPicPr>
          <p:blipFill>
            <a:blip r:embed="rId5"/>
            <a:stretch>
              <a:fillRect/>
            </a:stretch>
          </p:blipFill>
          <p:spPr>
            <a:xfrm>
              <a:off x="4205411" y="1811714"/>
              <a:ext cx="638125" cy="638125"/>
            </a:xfrm>
            <a:prstGeom prst="rect">
              <a:avLst/>
            </a:prstGeom>
          </p:spPr>
        </p:pic>
      </p:grpSp>
      <p:sp>
        <p:nvSpPr>
          <p:cNvPr id="309" name="Text 36">
            <a:extLst>
              <a:ext uri="{FF2B5EF4-FFF2-40B4-BE49-F238E27FC236}">
                <a16:creationId xmlns:a16="http://schemas.microsoft.com/office/drawing/2014/main" id="{29B59507-F293-ECC4-F8FD-82F6BF695873}"/>
              </a:ext>
            </a:extLst>
          </p:cNvPr>
          <p:cNvSpPr/>
          <p:nvPr/>
        </p:nvSpPr>
        <p:spPr>
          <a:xfrm>
            <a:off x="3553732" y="4459752"/>
            <a:ext cx="1110051" cy="660905"/>
          </a:xfrm>
          <a:prstGeom prst="rect">
            <a:avLst/>
          </a:prstGeom>
          <a:noFill/>
          <a:ln/>
        </p:spPr>
        <p:txBody>
          <a:bodyPr wrap="square" lIns="0" tIns="0" rIns="0" bIns="0" rtlCol="0" anchor="t"/>
          <a:lstStyle/>
          <a:p>
            <a:pPr marL="171446" indent="-171446" defTabSz="914377">
              <a:buFont typeface="Arial" panose="020B0604020202020204" pitchFamily="34" charset="0"/>
              <a:buChar char="•"/>
            </a:pPr>
            <a:r>
              <a:rPr lang="es-ES_tradnl" sz="900" noProof="0" dirty="0">
                <a:solidFill>
                  <a:srgbClr val="1A2E40"/>
                </a:solidFill>
                <a:latin typeface="Calibri" panose="020F0502020204030204" pitchFamily="34" charset="0"/>
                <a:cs typeface="Calibri" panose="020F0502020204030204" pitchFamily="34" charset="0"/>
              </a:rPr>
              <a:t>Sin Garantías</a:t>
            </a:r>
          </a:p>
          <a:p>
            <a:pPr marL="171446" lvl="3" indent="-171446" defTabSz="914377">
              <a:buFont typeface="Arial" panose="020B0604020202020204" pitchFamily="34" charset="0"/>
              <a:buChar char="•"/>
            </a:pPr>
            <a:r>
              <a:rPr lang="es-ES_tradnl" sz="900" noProof="0" dirty="0">
                <a:solidFill>
                  <a:srgbClr val="1A2E40"/>
                </a:solidFill>
                <a:latin typeface="Calibri" panose="020F0502020204030204" pitchFamily="34" charset="0"/>
                <a:cs typeface="Calibri" panose="020F0502020204030204" pitchFamily="34" charset="0"/>
              </a:rPr>
              <a:t>Garantías Reales Mobiliarias (IRB Básico)</a:t>
            </a:r>
            <a:endParaRPr lang="es-ES_tradnl" sz="900" noProof="0" dirty="0">
              <a:latin typeface="Calibri" panose="020F0502020204030204" pitchFamily="34" charset="0"/>
              <a:cs typeface="Calibri" panose="020F0502020204030204" pitchFamily="34" charset="0"/>
            </a:endParaRPr>
          </a:p>
          <a:p>
            <a:pPr marL="171446" lvl="3" indent="-171446" defTabSz="914377">
              <a:buFont typeface="Arial" panose="020B0604020202020204" pitchFamily="34" charset="0"/>
              <a:buChar char="•"/>
            </a:pPr>
            <a:r>
              <a:rPr lang="es-ES_tradnl" sz="900" noProof="0" dirty="0">
                <a:solidFill>
                  <a:srgbClr val="1A2E40"/>
                </a:solidFill>
                <a:latin typeface="Calibri" panose="020F0502020204030204" pitchFamily="34" charset="0"/>
                <a:cs typeface="Calibri" panose="020F0502020204030204" pitchFamily="34" charset="0"/>
              </a:rPr>
              <a:t>Garantías Reales Hipotecarias (IRB Básico)</a:t>
            </a:r>
            <a:endParaRPr lang="es-ES_tradnl" sz="900" noProof="0" dirty="0">
              <a:latin typeface="Calibri" panose="020F0502020204030204" pitchFamily="34" charset="0"/>
              <a:cs typeface="Calibri" panose="020F0502020204030204" pitchFamily="34" charset="0"/>
            </a:endParaRPr>
          </a:p>
        </p:txBody>
      </p:sp>
      <p:cxnSp>
        <p:nvCxnSpPr>
          <p:cNvPr id="310" name="Straight Connector 309">
            <a:extLst>
              <a:ext uri="{FF2B5EF4-FFF2-40B4-BE49-F238E27FC236}">
                <a16:creationId xmlns:a16="http://schemas.microsoft.com/office/drawing/2014/main" id="{FE1A413E-8028-2DD6-066C-7DA6145D7301}"/>
              </a:ext>
            </a:extLst>
          </p:cNvPr>
          <p:cNvCxnSpPr/>
          <p:nvPr/>
        </p:nvCxnSpPr>
        <p:spPr>
          <a:xfrm>
            <a:off x="3508845" y="4101232"/>
            <a:ext cx="0" cy="1343672"/>
          </a:xfrm>
          <a:prstGeom prst="line">
            <a:avLst/>
          </a:prstGeom>
          <a:ln>
            <a:solidFill>
              <a:schemeClr val="bg2">
                <a:lumMod val="20000"/>
                <a:lumOff val="80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311" name="Oval 310">
            <a:extLst>
              <a:ext uri="{FF2B5EF4-FFF2-40B4-BE49-F238E27FC236}">
                <a16:creationId xmlns:a16="http://schemas.microsoft.com/office/drawing/2014/main" id="{D106ECB4-E014-7B6A-1382-B8C8061D70A9}"/>
              </a:ext>
            </a:extLst>
          </p:cNvPr>
          <p:cNvSpPr/>
          <p:nvPr/>
        </p:nvSpPr>
        <p:spPr>
          <a:xfrm>
            <a:off x="7069390" y="1757198"/>
            <a:ext cx="747159" cy="747159"/>
          </a:xfrm>
          <a:prstGeom prst="ellipse">
            <a:avLst/>
          </a:prstGeom>
          <a:solidFill>
            <a:srgbClr val="ECEE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12" name="Picture 311" descr="costo ">
            <a:extLst>
              <a:ext uri="{FF2B5EF4-FFF2-40B4-BE49-F238E27FC236}">
                <a16:creationId xmlns:a16="http://schemas.microsoft.com/office/drawing/2014/main" id="{CFFADCAA-B70E-8839-8270-63535F2DEC70}"/>
              </a:ext>
            </a:extLst>
          </p:cNvPr>
          <p:cNvPicPr>
            <a:picLocks noChangeAspect="1"/>
          </p:cNvPicPr>
          <p:nvPr/>
        </p:nvPicPr>
        <p:blipFill>
          <a:blip r:embed="rId6"/>
          <a:stretch>
            <a:fillRect/>
          </a:stretch>
        </p:blipFill>
        <p:spPr>
          <a:xfrm>
            <a:off x="7195390" y="1883198"/>
            <a:ext cx="495159" cy="495159"/>
          </a:xfrm>
          <a:prstGeom prst="rect">
            <a:avLst/>
          </a:prstGeom>
        </p:spPr>
      </p:pic>
      <p:sp>
        <p:nvSpPr>
          <p:cNvPr id="313" name="Oval 312">
            <a:extLst>
              <a:ext uri="{FF2B5EF4-FFF2-40B4-BE49-F238E27FC236}">
                <a16:creationId xmlns:a16="http://schemas.microsoft.com/office/drawing/2014/main" id="{085E9961-8D78-48C2-FB26-BDF42F02E3A8}"/>
              </a:ext>
            </a:extLst>
          </p:cNvPr>
          <p:cNvSpPr/>
          <p:nvPr/>
        </p:nvSpPr>
        <p:spPr>
          <a:xfrm>
            <a:off x="8624482" y="1757198"/>
            <a:ext cx="747159" cy="747159"/>
          </a:xfrm>
          <a:prstGeom prst="ellipse">
            <a:avLst/>
          </a:prstGeom>
          <a:solidFill>
            <a:srgbClr val="ECEE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sp>
        <p:nvSpPr>
          <p:cNvPr id="314" name="Oval 313">
            <a:extLst>
              <a:ext uri="{FF2B5EF4-FFF2-40B4-BE49-F238E27FC236}">
                <a16:creationId xmlns:a16="http://schemas.microsoft.com/office/drawing/2014/main" id="{B522CD39-9125-0932-12E8-DB40026E25B5}"/>
              </a:ext>
            </a:extLst>
          </p:cNvPr>
          <p:cNvSpPr/>
          <p:nvPr/>
        </p:nvSpPr>
        <p:spPr>
          <a:xfrm>
            <a:off x="10221005" y="1757198"/>
            <a:ext cx="747159" cy="747159"/>
          </a:xfrm>
          <a:prstGeom prst="ellipse">
            <a:avLst/>
          </a:prstGeom>
          <a:solidFill>
            <a:srgbClr val="ECEE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15" name="Picture 314" descr="activo fijo ">
            <a:extLst>
              <a:ext uri="{FF2B5EF4-FFF2-40B4-BE49-F238E27FC236}">
                <a16:creationId xmlns:a16="http://schemas.microsoft.com/office/drawing/2014/main" id="{9EADB8AB-F4AA-615E-BD6B-5225F31C30D8}"/>
              </a:ext>
            </a:extLst>
          </p:cNvPr>
          <p:cNvPicPr>
            <a:picLocks noChangeAspect="1"/>
          </p:cNvPicPr>
          <p:nvPr/>
        </p:nvPicPr>
        <p:blipFill>
          <a:blip r:embed="rId7"/>
          <a:stretch>
            <a:fillRect/>
          </a:stretch>
        </p:blipFill>
        <p:spPr>
          <a:xfrm>
            <a:off x="8712162" y="1844877"/>
            <a:ext cx="571801" cy="571801"/>
          </a:xfrm>
          <a:prstGeom prst="rect">
            <a:avLst/>
          </a:prstGeom>
        </p:spPr>
      </p:pic>
      <p:pic>
        <p:nvPicPr>
          <p:cNvPr id="316" name="Picture 315" descr="inversor ">
            <a:extLst>
              <a:ext uri="{FF2B5EF4-FFF2-40B4-BE49-F238E27FC236}">
                <a16:creationId xmlns:a16="http://schemas.microsoft.com/office/drawing/2014/main" id="{84BE8811-3AC3-ECD6-DC66-BF6A565DDE17}"/>
              </a:ext>
            </a:extLst>
          </p:cNvPr>
          <p:cNvPicPr>
            <a:picLocks noChangeAspect="1"/>
          </p:cNvPicPr>
          <p:nvPr/>
        </p:nvPicPr>
        <p:blipFill>
          <a:blip r:embed="rId8"/>
          <a:stretch>
            <a:fillRect/>
          </a:stretch>
        </p:blipFill>
        <p:spPr>
          <a:xfrm>
            <a:off x="10339064" y="1875256"/>
            <a:ext cx="511040" cy="511040"/>
          </a:xfrm>
          <a:prstGeom prst="rect">
            <a:avLst/>
          </a:prstGeom>
        </p:spPr>
      </p:pic>
      <p:sp>
        <p:nvSpPr>
          <p:cNvPr id="317" name="Oval 316">
            <a:extLst>
              <a:ext uri="{FF2B5EF4-FFF2-40B4-BE49-F238E27FC236}">
                <a16:creationId xmlns:a16="http://schemas.microsoft.com/office/drawing/2014/main" id="{1A52156D-A3E8-FE74-7BE2-4B54BCF681DF}"/>
              </a:ext>
            </a:extLst>
          </p:cNvPr>
          <p:cNvSpPr/>
          <p:nvPr/>
        </p:nvSpPr>
        <p:spPr>
          <a:xfrm>
            <a:off x="7069390" y="5233973"/>
            <a:ext cx="747159" cy="747159"/>
          </a:xfrm>
          <a:prstGeom prst="ellipse">
            <a:avLst/>
          </a:prstGeom>
          <a:solidFill>
            <a:srgbClr val="DDF0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18" name="Picture 317" descr="costo ">
            <a:hlinkClick r:id="rId9" action="ppaction://hlinksldjump"/>
            <a:extLst>
              <a:ext uri="{FF2B5EF4-FFF2-40B4-BE49-F238E27FC236}">
                <a16:creationId xmlns:a16="http://schemas.microsoft.com/office/drawing/2014/main" id="{0CFB983E-A680-C25B-BAFE-B45D275AE6AF}"/>
              </a:ext>
            </a:extLst>
          </p:cNvPr>
          <p:cNvPicPr>
            <a:picLocks noChangeAspect="1"/>
          </p:cNvPicPr>
          <p:nvPr/>
        </p:nvPicPr>
        <p:blipFill>
          <a:blip r:embed="rId6">
            <a:duotone>
              <a:schemeClr val="accent6">
                <a:shade val="45000"/>
                <a:satMod val="135000"/>
              </a:schemeClr>
              <a:prstClr val="white"/>
            </a:duotone>
          </a:blip>
          <a:stretch>
            <a:fillRect/>
          </a:stretch>
        </p:blipFill>
        <p:spPr>
          <a:xfrm>
            <a:off x="7195390" y="5330943"/>
            <a:ext cx="495159" cy="495159"/>
          </a:xfrm>
          <a:prstGeom prst="rect">
            <a:avLst/>
          </a:prstGeom>
        </p:spPr>
      </p:pic>
      <p:sp>
        <p:nvSpPr>
          <p:cNvPr id="319" name="Oval 318">
            <a:extLst>
              <a:ext uri="{FF2B5EF4-FFF2-40B4-BE49-F238E27FC236}">
                <a16:creationId xmlns:a16="http://schemas.microsoft.com/office/drawing/2014/main" id="{77903535-65ED-2543-3C36-531C22F3F364}"/>
              </a:ext>
            </a:extLst>
          </p:cNvPr>
          <p:cNvSpPr/>
          <p:nvPr/>
        </p:nvSpPr>
        <p:spPr>
          <a:xfrm>
            <a:off x="8624482" y="5233973"/>
            <a:ext cx="747159" cy="747159"/>
          </a:xfrm>
          <a:prstGeom prst="ellipse">
            <a:avLst/>
          </a:prstGeom>
          <a:solidFill>
            <a:srgbClr val="DDF0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20" name="Picture 319" descr="activo fijo ">
            <a:hlinkClick r:id="rId10" action="ppaction://hlinksldjump"/>
            <a:extLst>
              <a:ext uri="{FF2B5EF4-FFF2-40B4-BE49-F238E27FC236}">
                <a16:creationId xmlns:a16="http://schemas.microsoft.com/office/drawing/2014/main" id="{803DD45A-6B69-8BE3-9F41-360E606C6D73}"/>
              </a:ext>
            </a:extLst>
          </p:cNvPr>
          <p:cNvPicPr>
            <a:picLocks noChangeAspect="1"/>
          </p:cNvPicPr>
          <p:nvPr/>
        </p:nvPicPr>
        <p:blipFill>
          <a:blip r:embed="rId7">
            <a:duotone>
              <a:schemeClr val="accent6">
                <a:shade val="45000"/>
                <a:satMod val="135000"/>
              </a:schemeClr>
              <a:prstClr val="white"/>
            </a:duotone>
          </a:blip>
          <a:stretch>
            <a:fillRect/>
          </a:stretch>
        </p:blipFill>
        <p:spPr>
          <a:xfrm>
            <a:off x="8712162" y="5330944"/>
            <a:ext cx="571801" cy="571801"/>
          </a:xfrm>
          <a:prstGeom prst="rect">
            <a:avLst/>
          </a:prstGeom>
        </p:spPr>
      </p:pic>
      <p:sp>
        <p:nvSpPr>
          <p:cNvPr id="321" name="Oval 320">
            <a:extLst>
              <a:ext uri="{FF2B5EF4-FFF2-40B4-BE49-F238E27FC236}">
                <a16:creationId xmlns:a16="http://schemas.microsoft.com/office/drawing/2014/main" id="{6C391828-C847-539E-3024-C817FBBFE8FB}"/>
              </a:ext>
            </a:extLst>
          </p:cNvPr>
          <p:cNvSpPr/>
          <p:nvPr/>
        </p:nvSpPr>
        <p:spPr>
          <a:xfrm>
            <a:off x="10221005" y="5233973"/>
            <a:ext cx="747159" cy="747159"/>
          </a:xfrm>
          <a:prstGeom prst="ellipse">
            <a:avLst/>
          </a:prstGeom>
          <a:solidFill>
            <a:srgbClr val="DDF0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22" name="Picture 321" descr="objetivo ">
            <a:hlinkClick r:id="rId11" action="ppaction://hlinksldjump"/>
            <a:extLst>
              <a:ext uri="{FF2B5EF4-FFF2-40B4-BE49-F238E27FC236}">
                <a16:creationId xmlns:a16="http://schemas.microsoft.com/office/drawing/2014/main" id="{5E10FAF3-5DD5-C986-CD46-03B5386E80A7}"/>
              </a:ext>
            </a:extLst>
          </p:cNvPr>
          <p:cNvPicPr>
            <a:picLocks noChangeAspect="1"/>
          </p:cNvPicPr>
          <p:nvPr/>
        </p:nvPicPr>
        <p:blipFill>
          <a:blip r:embed="rId12">
            <a:duotone>
              <a:schemeClr val="accent6">
                <a:shade val="45000"/>
                <a:satMod val="135000"/>
              </a:schemeClr>
              <a:prstClr val="white"/>
            </a:duotone>
          </a:blip>
          <a:stretch>
            <a:fillRect/>
          </a:stretch>
        </p:blipFill>
        <p:spPr>
          <a:xfrm>
            <a:off x="10326675" y="5330943"/>
            <a:ext cx="535821" cy="535821"/>
          </a:xfrm>
          <a:prstGeom prst="rect">
            <a:avLst/>
          </a:prstGeom>
        </p:spPr>
      </p:pic>
      <p:sp>
        <p:nvSpPr>
          <p:cNvPr id="323" name="Oval 322">
            <a:extLst>
              <a:ext uri="{FF2B5EF4-FFF2-40B4-BE49-F238E27FC236}">
                <a16:creationId xmlns:a16="http://schemas.microsoft.com/office/drawing/2014/main" id="{9F6B377A-7911-154F-ACF7-465CAF14C4FB}"/>
              </a:ext>
            </a:extLst>
          </p:cNvPr>
          <p:cNvSpPr/>
          <p:nvPr/>
        </p:nvSpPr>
        <p:spPr>
          <a:xfrm>
            <a:off x="5308853" y="5723941"/>
            <a:ext cx="747159" cy="747159"/>
          </a:xfrm>
          <a:prstGeom prst="ellipse">
            <a:avLst/>
          </a:prstGeom>
          <a:solidFill>
            <a:srgbClr val="DDF0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24" name="Picture 323" descr="cancelación ">
            <a:hlinkClick r:id="rId9" action="ppaction://hlinksldjump"/>
            <a:extLst>
              <a:ext uri="{FF2B5EF4-FFF2-40B4-BE49-F238E27FC236}">
                <a16:creationId xmlns:a16="http://schemas.microsoft.com/office/drawing/2014/main" id="{AE52C51B-68D5-113C-2B0C-0F5A417C2ADA}"/>
              </a:ext>
            </a:extLst>
          </p:cNvPr>
          <p:cNvPicPr>
            <a:picLocks noChangeAspect="1"/>
          </p:cNvPicPr>
          <p:nvPr/>
        </p:nvPicPr>
        <p:blipFill>
          <a:blip r:embed="rId13">
            <a:duotone>
              <a:schemeClr val="accent6">
                <a:shade val="45000"/>
                <a:satMod val="135000"/>
              </a:schemeClr>
              <a:prstClr val="white"/>
            </a:duotone>
          </a:blip>
          <a:stretch>
            <a:fillRect/>
          </a:stretch>
        </p:blipFill>
        <p:spPr>
          <a:xfrm>
            <a:off x="5452376" y="5857924"/>
            <a:ext cx="489851" cy="489851"/>
          </a:xfrm>
          <a:prstGeom prst="rect">
            <a:avLst/>
          </a:prstGeom>
        </p:spPr>
      </p:pic>
      <p:sp>
        <p:nvSpPr>
          <p:cNvPr id="325" name="Oval 324">
            <a:extLst>
              <a:ext uri="{FF2B5EF4-FFF2-40B4-BE49-F238E27FC236}">
                <a16:creationId xmlns:a16="http://schemas.microsoft.com/office/drawing/2014/main" id="{96A2387F-A4E7-B17F-9669-D3869BF1C680}"/>
              </a:ext>
            </a:extLst>
          </p:cNvPr>
          <p:cNvSpPr/>
          <p:nvPr/>
        </p:nvSpPr>
        <p:spPr>
          <a:xfrm>
            <a:off x="5308853" y="6852565"/>
            <a:ext cx="747159" cy="747159"/>
          </a:xfrm>
          <a:prstGeom prst="ellipse">
            <a:avLst/>
          </a:prstGeom>
          <a:solidFill>
            <a:srgbClr val="DDF0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26" name="Picture 325" descr="viajar ">
            <a:hlinkClick r:id="rId9" action="ppaction://hlinksldjump"/>
            <a:extLst>
              <a:ext uri="{FF2B5EF4-FFF2-40B4-BE49-F238E27FC236}">
                <a16:creationId xmlns:a16="http://schemas.microsoft.com/office/drawing/2014/main" id="{1226D4B3-5A8D-9434-8B82-AA21E6F1A196}"/>
              </a:ext>
            </a:extLst>
          </p:cNvPr>
          <p:cNvPicPr>
            <a:picLocks noChangeAspect="1"/>
          </p:cNvPicPr>
          <p:nvPr/>
        </p:nvPicPr>
        <p:blipFill>
          <a:blip r:embed="rId14">
            <a:duotone>
              <a:schemeClr val="accent6">
                <a:shade val="45000"/>
                <a:satMod val="135000"/>
              </a:schemeClr>
              <a:prstClr val="white"/>
            </a:duotone>
          </a:blip>
          <a:stretch>
            <a:fillRect/>
          </a:stretch>
        </p:blipFill>
        <p:spPr>
          <a:xfrm>
            <a:off x="5452376" y="6982824"/>
            <a:ext cx="511963" cy="511963"/>
          </a:xfrm>
          <a:prstGeom prst="rect">
            <a:avLst/>
          </a:prstGeom>
        </p:spPr>
      </p:pic>
      <p:sp>
        <p:nvSpPr>
          <p:cNvPr id="327" name="Rounded Rectangle 326">
            <a:extLst>
              <a:ext uri="{FF2B5EF4-FFF2-40B4-BE49-F238E27FC236}">
                <a16:creationId xmlns:a16="http://schemas.microsoft.com/office/drawing/2014/main" id="{95870FAC-4323-6695-A627-B9DC9C7EB854}"/>
              </a:ext>
            </a:extLst>
          </p:cNvPr>
          <p:cNvSpPr/>
          <p:nvPr/>
        </p:nvSpPr>
        <p:spPr>
          <a:xfrm flipV="1">
            <a:off x="1453512" y="8354041"/>
            <a:ext cx="13252027" cy="679027"/>
          </a:xfrm>
          <a:prstGeom prst="roundRect">
            <a:avLst/>
          </a:prstGeom>
          <a:solidFill>
            <a:schemeClr val="bg1">
              <a:lumMod val="85000"/>
              <a:alpha val="2549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28" name="Picture 327" descr="modelado 3d ">
            <a:extLst>
              <a:ext uri="{FF2B5EF4-FFF2-40B4-BE49-F238E27FC236}">
                <a16:creationId xmlns:a16="http://schemas.microsoft.com/office/drawing/2014/main" id="{E7D25E9C-493C-0503-6892-FC4E942AF460}"/>
              </a:ext>
            </a:extLst>
          </p:cNvPr>
          <p:cNvPicPr>
            <a:picLocks noChangeAspect="1"/>
          </p:cNvPicPr>
          <p:nvPr/>
        </p:nvPicPr>
        <p:blipFill>
          <a:blip r:embed="rId15">
            <a:duotone>
              <a:schemeClr val="bg2">
                <a:shade val="45000"/>
                <a:satMod val="135000"/>
              </a:schemeClr>
              <a:prstClr val="white"/>
            </a:duotone>
          </a:blip>
          <a:stretch>
            <a:fillRect/>
          </a:stretch>
        </p:blipFill>
        <p:spPr>
          <a:xfrm>
            <a:off x="1640615" y="8446888"/>
            <a:ext cx="513588" cy="513588"/>
          </a:xfrm>
          <a:prstGeom prst="rect">
            <a:avLst/>
          </a:prstGeom>
        </p:spPr>
      </p:pic>
      <p:sp>
        <p:nvSpPr>
          <p:cNvPr id="329" name="Text 36">
            <a:extLst>
              <a:ext uri="{FF2B5EF4-FFF2-40B4-BE49-F238E27FC236}">
                <a16:creationId xmlns:a16="http://schemas.microsoft.com/office/drawing/2014/main" id="{515A3BA3-3530-56C1-59B5-3F35B54DAEFF}"/>
              </a:ext>
            </a:extLst>
          </p:cNvPr>
          <p:cNvSpPr/>
          <p:nvPr/>
        </p:nvSpPr>
        <p:spPr>
          <a:xfrm>
            <a:off x="2336757" y="8437745"/>
            <a:ext cx="1009256" cy="158515"/>
          </a:xfrm>
          <a:prstGeom prst="rect">
            <a:avLst/>
          </a:prstGeom>
          <a:noFill/>
          <a:ln/>
        </p:spPr>
        <p:txBody>
          <a:bodyPr wrap="square" lIns="0" tIns="0" rIns="0" bIns="0" rtlCol="0" anchor="t"/>
          <a:lstStyle/>
          <a:p>
            <a:pPr algn="ctr" defTabSz="914377"/>
            <a:r>
              <a:rPr lang="es-ES_tradnl" sz="900" b="1" noProof="0" dirty="0">
                <a:solidFill>
                  <a:srgbClr val="13807B">
                    <a:lumMod val="75000"/>
                  </a:srgbClr>
                </a:solidFill>
                <a:latin typeface="Calibri" panose="020F0502020204030204" pitchFamily="34" charset="0"/>
                <a:cs typeface="Calibri" panose="020F0502020204030204" pitchFamily="34" charset="0"/>
              </a:rPr>
              <a:t>Modelos </a:t>
            </a:r>
            <a:r>
              <a:rPr lang="es-ES_tradnl" sz="900" b="1" noProof="0" dirty="0" err="1">
                <a:solidFill>
                  <a:srgbClr val="13807B">
                    <a:lumMod val="75000"/>
                  </a:srgbClr>
                </a:solidFill>
                <a:latin typeface="Calibri" panose="020F0502020204030204" pitchFamily="34" charset="0"/>
                <a:cs typeface="Calibri" panose="020F0502020204030204" pitchFamily="34" charset="0"/>
              </a:rPr>
              <a:t>Lifetime</a:t>
            </a:r>
            <a:endParaRPr lang="es-ES_tradnl" sz="900" b="1" noProof="0" dirty="0">
              <a:solidFill>
                <a:srgbClr val="13807B">
                  <a:lumMod val="75000"/>
                </a:srgbClr>
              </a:solidFill>
              <a:latin typeface="Calibri" panose="020F0502020204030204" pitchFamily="34" charset="0"/>
              <a:cs typeface="Calibri" panose="020F0502020204030204" pitchFamily="34" charset="0"/>
            </a:endParaRPr>
          </a:p>
        </p:txBody>
      </p:sp>
      <p:sp>
        <p:nvSpPr>
          <p:cNvPr id="330" name="Text 36">
            <a:extLst>
              <a:ext uri="{FF2B5EF4-FFF2-40B4-BE49-F238E27FC236}">
                <a16:creationId xmlns:a16="http://schemas.microsoft.com/office/drawing/2014/main" id="{555D4090-7B93-B799-C57F-2F70FB619AD0}"/>
              </a:ext>
            </a:extLst>
          </p:cNvPr>
          <p:cNvSpPr/>
          <p:nvPr/>
        </p:nvSpPr>
        <p:spPr>
          <a:xfrm>
            <a:off x="2336757" y="8681585"/>
            <a:ext cx="1009256" cy="335299"/>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PD, LGD, Prepagos, </a:t>
            </a:r>
            <a:r>
              <a:rPr lang="es-ES_tradnl" sz="900" noProof="0" dirty="0" err="1">
                <a:solidFill>
                  <a:srgbClr val="1A2E40"/>
                </a:solidFill>
                <a:latin typeface="Calibri" panose="020F0502020204030204" pitchFamily="34" charset="0"/>
                <a:cs typeface="Calibri" panose="020F0502020204030204" pitchFamily="34" charset="0"/>
              </a:rPr>
              <a:t>PreCancelaciones</a:t>
            </a:r>
            <a:endParaRPr lang="es-ES_tradnl" sz="900" noProof="0" dirty="0">
              <a:latin typeface="Calibri" panose="020F0502020204030204" pitchFamily="34" charset="0"/>
              <a:cs typeface="Calibri" panose="020F0502020204030204" pitchFamily="34" charset="0"/>
            </a:endParaRPr>
          </a:p>
        </p:txBody>
      </p:sp>
      <p:pic>
        <p:nvPicPr>
          <p:cNvPr id="331" name="Picture 330" descr="curva ">
            <a:extLst>
              <a:ext uri="{FF2B5EF4-FFF2-40B4-BE49-F238E27FC236}">
                <a16:creationId xmlns:a16="http://schemas.microsoft.com/office/drawing/2014/main" id="{8E5E1BC4-D252-FFA4-F4FE-4495AF1FA087}"/>
              </a:ext>
            </a:extLst>
          </p:cNvPr>
          <p:cNvPicPr>
            <a:picLocks noChangeAspect="1"/>
          </p:cNvPicPr>
          <p:nvPr/>
        </p:nvPicPr>
        <p:blipFill>
          <a:blip r:embed="rId16">
            <a:duotone>
              <a:schemeClr val="bg2">
                <a:shade val="45000"/>
                <a:satMod val="135000"/>
              </a:schemeClr>
              <a:prstClr val="white"/>
            </a:duotone>
          </a:blip>
          <a:stretch>
            <a:fillRect/>
          </a:stretch>
        </p:blipFill>
        <p:spPr>
          <a:xfrm>
            <a:off x="3753686" y="8446888"/>
            <a:ext cx="476100" cy="476100"/>
          </a:xfrm>
          <a:prstGeom prst="rect">
            <a:avLst/>
          </a:prstGeom>
        </p:spPr>
      </p:pic>
      <p:sp>
        <p:nvSpPr>
          <p:cNvPr id="333" name="Text 36">
            <a:extLst>
              <a:ext uri="{FF2B5EF4-FFF2-40B4-BE49-F238E27FC236}">
                <a16:creationId xmlns:a16="http://schemas.microsoft.com/office/drawing/2014/main" id="{D2C9D076-CCF0-B98B-80A8-3DC7FF4AA6D0}"/>
              </a:ext>
            </a:extLst>
          </p:cNvPr>
          <p:cNvSpPr/>
          <p:nvPr/>
        </p:nvSpPr>
        <p:spPr>
          <a:xfrm>
            <a:off x="4506861" y="8431522"/>
            <a:ext cx="1009256" cy="158515"/>
          </a:xfrm>
          <a:prstGeom prst="rect">
            <a:avLst/>
          </a:prstGeom>
          <a:noFill/>
          <a:ln/>
        </p:spPr>
        <p:txBody>
          <a:bodyPr wrap="square" lIns="0" tIns="0" rIns="0" bIns="0" rtlCol="0" anchor="t"/>
          <a:lstStyle/>
          <a:p>
            <a:pPr algn="ctr" defTabSz="914377"/>
            <a:r>
              <a:rPr lang="es-ES_tradnl" sz="900" b="1" noProof="0" dirty="0">
                <a:solidFill>
                  <a:srgbClr val="13807B">
                    <a:lumMod val="75000"/>
                  </a:srgbClr>
                </a:solidFill>
                <a:latin typeface="Calibri" panose="020F0502020204030204" pitchFamily="34" charset="0"/>
                <a:cs typeface="Calibri" panose="020F0502020204030204" pitchFamily="34" charset="0"/>
              </a:rPr>
              <a:t>Costos de Fondos</a:t>
            </a:r>
          </a:p>
        </p:txBody>
      </p:sp>
      <p:sp>
        <p:nvSpPr>
          <p:cNvPr id="335" name="Text 36">
            <a:extLst>
              <a:ext uri="{FF2B5EF4-FFF2-40B4-BE49-F238E27FC236}">
                <a16:creationId xmlns:a16="http://schemas.microsoft.com/office/drawing/2014/main" id="{DA248F16-D7CD-75E5-79D8-2025AD1ECB77}"/>
              </a:ext>
            </a:extLst>
          </p:cNvPr>
          <p:cNvSpPr/>
          <p:nvPr/>
        </p:nvSpPr>
        <p:spPr>
          <a:xfrm>
            <a:off x="4506861" y="8675362"/>
            <a:ext cx="1009256" cy="335299"/>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Curvas de tasas de fondeo</a:t>
            </a:r>
            <a:endParaRPr lang="es-ES_tradnl" sz="900" noProof="0" dirty="0">
              <a:latin typeface="Calibri" panose="020F0502020204030204" pitchFamily="34" charset="0"/>
              <a:cs typeface="Calibri" panose="020F0502020204030204" pitchFamily="34" charset="0"/>
            </a:endParaRPr>
          </a:p>
        </p:txBody>
      </p:sp>
      <p:pic>
        <p:nvPicPr>
          <p:cNvPr id="336" name="Picture 335" descr="seguridad activada ">
            <a:extLst>
              <a:ext uri="{FF2B5EF4-FFF2-40B4-BE49-F238E27FC236}">
                <a16:creationId xmlns:a16="http://schemas.microsoft.com/office/drawing/2014/main" id="{F9B39949-92C9-3839-9CDC-7C8868DF2595}"/>
              </a:ext>
            </a:extLst>
          </p:cNvPr>
          <p:cNvPicPr>
            <a:picLocks noChangeAspect="1"/>
          </p:cNvPicPr>
          <p:nvPr/>
        </p:nvPicPr>
        <p:blipFill>
          <a:blip r:embed="rId17">
            <a:duotone>
              <a:schemeClr val="bg2">
                <a:shade val="45000"/>
                <a:satMod val="135000"/>
              </a:schemeClr>
              <a:prstClr val="white"/>
            </a:duotone>
          </a:blip>
          <a:stretch>
            <a:fillRect/>
          </a:stretch>
        </p:blipFill>
        <p:spPr>
          <a:xfrm>
            <a:off x="5931153" y="8434465"/>
            <a:ext cx="517355" cy="517355"/>
          </a:xfrm>
          <a:prstGeom prst="rect">
            <a:avLst/>
          </a:prstGeom>
        </p:spPr>
      </p:pic>
      <p:sp>
        <p:nvSpPr>
          <p:cNvPr id="337" name="Text 36">
            <a:extLst>
              <a:ext uri="{FF2B5EF4-FFF2-40B4-BE49-F238E27FC236}">
                <a16:creationId xmlns:a16="http://schemas.microsoft.com/office/drawing/2014/main" id="{6546086B-773B-FA36-C3A8-931E06B1A7C7}"/>
              </a:ext>
            </a:extLst>
          </p:cNvPr>
          <p:cNvSpPr/>
          <p:nvPr/>
        </p:nvSpPr>
        <p:spPr>
          <a:xfrm>
            <a:off x="6488061" y="8437618"/>
            <a:ext cx="1009256" cy="158515"/>
          </a:xfrm>
          <a:prstGeom prst="rect">
            <a:avLst/>
          </a:prstGeom>
          <a:noFill/>
          <a:ln/>
        </p:spPr>
        <p:txBody>
          <a:bodyPr wrap="square" lIns="0" tIns="0" rIns="0" bIns="0" rtlCol="0" anchor="t"/>
          <a:lstStyle/>
          <a:p>
            <a:pPr algn="ctr" defTabSz="914377"/>
            <a:r>
              <a:rPr lang="es-ES_tradnl" sz="900" b="1" noProof="0" dirty="0">
                <a:solidFill>
                  <a:srgbClr val="13807B">
                    <a:lumMod val="75000"/>
                  </a:srgbClr>
                </a:solidFill>
                <a:latin typeface="Calibri" panose="020F0502020204030204" pitchFamily="34" charset="0"/>
                <a:cs typeface="Calibri" panose="020F0502020204030204" pitchFamily="34" charset="0"/>
              </a:rPr>
              <a:t>POLITICAS</a:t>
            </a:r>
          </a:p>
        </p:txBody>
      </p:sp>
      <p:sp>
        <p:nvSpPr>
          <p:cNvPr id="338" name="Text 36">
            <a:extLst>
              <a:ext uri="{FF2B5EF4-FFF2-40B4-BE49-F238E27FC236}">
                <a16:creationId xmlns:a16="http://schemas.microsoft.com/office/drawing/2014/main" id="{5605F209-8768-F091-83C3-F15E629C475D}"/>
              </a:ext>
            </a:extLst>
          </p:cNvPr>
          <p:cNvSpPr/>
          <p:nvPr/>
        </p:nvSpPr>
        <p:spPr>
          <a:xfrm>
            <a:off x="6488061" y="8681458"/>
            <a:ext cx="1009256" cy="335299"/>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Políticas de Riesgo y apetito de capital</a:t>
            </a:r>
            <a:endParaRPr lang="es-ES_tradnl" sz="900" noProof="0" dirty="0">
              <a:latin typeface="Calibri" panose="020F0502020204030204" pitchFamily="34" charset="0"/>
              <a:cs typeface="Calibri" panose="020F0502020204030204" pitchFamily="34" charset="0"/>
            </a:endParaRPr>
          </a:p>
        </p:txBody>
      </p:sp>
      <p:pic>
        <p:nvPicPr>
          <p:cNvPr id="343" name="Picture 342" descr="bases de datos ">
            <a:extLst>
              <a:ext uri="{FF2B5EF4-FFF2-40B4-BE49-F238E27FC236}">
                <a16:creationId xmlns:a16="http://schemas.microsoft.com/office/drawing/2014/main" id="{48DDCE3E-2016-0EE8-0C75-FC070113B35D}"/>
              </a:ext>
            </a:extLst>
          </p:cNvPr>
          <p:cNvPicPr>
            <a:picLocks noChangeAspect="1"/>
          </p:cNvPicPr>
          <p:nvPr/>
        </p:nvPicPr>
        <p:blipFill>
          <a:blip r:embed="rId18">
            <a:duotone>
              <a:schemeClr val="bg2">
                <a:shade val="45000"/>
                <a:satMod val="135000"/>
              </a:schemeClr>
              <a:prstClr val="white"/>
            </a:duotone>
          </a:blip>
          <a:stretch>
            <a:fillRect/>
          </a:stretch>
        </p:blipFill>
        <p:spPr>
          <a:xfrm>
            <a:off x="7802418" y="8421480"/>
            <a:ext cx="549684" cy="549684"/>
          </a:xfrm>
          <a:prstGeom prst="rect">
            <a:avLst/>
          </a:prstGeom>
        </p:spPr>
      </p:pic>
      <p:sp>
        <p:nvSpPr>
          <p:cNvPr id="344" name="Text 36">
            <a:extLst>
              <a:ext uri="{FF2B5EF4-FFF2-40B4-BE49-F238E27FC236}">
                <a16:creationId xmlns:a16="http://schemas.microsoft.com/office/drawing/2014/main" id="{D0AE2B41-38BA-1CAD-CD89-47A8B86848DF}"/>
              </a:ext>
            </a:extLst>
          </p:cNvPr>
          <p:cNvSpPr/>
          <p:nvPr/>
        </p:nvSpPr>
        <p:spPr>
          <a:xfrm>
            <a:off x="8505837" y="8434570"/>
            <a:ext cx="1009256" cy="158515"/>
          </a:xfrm>
          <a:prstGeom prst="rect">
            <a:avLst/>
          </a:prstGeom>
          <a:noFill/>
          <a:ln/>
        </p:spPr>
        <p:txBody>
          <a:bodyPr wrap="square" lIns="0" tIns="0" rIns="0" bIns="0" rtlCol="0" anchor="t"/>
          <a:lstStyle/>
          <a:p>
            <a:pPr algn="ctr" defTabSz="914377"/>
            <a:r>
              <a:rPr lang="es-ES_tradnl" sz="900" b="1" noProof="0" dirty="0">
                <a:solidFill>
                  <a:srgbClr val="13807B">
                    <a:lumMod val="75000"/>
                  </a:srgbClr>
                </a:solidFill>
                <a:latin typeface="Calibri" panose="020F0502020204030204" pitchFamily="34" charset="0"/>
                <a:cs typeface="Calibri" panose="020F0502020204030204" pitchFamily="34" charset="0"/>
              </a:rPr>
              <a:t>POLITICAS</a:t>
            </a:r>
          </a:p>
        </p:txBody>
      </p:sp>
      <p:sp>
        <p:nvSpPr>
          <p:cNvPr id="345" name="Text 36">
            <a:extLst>
              <a:ext uri="{FF2B5EF4-FFF2-40B4-BE49-F238E27FC236}">
                <a16:creationId xmlns:a16="http://schemas.microsoft.com/office/drawing/2014/main" id="{19C8D3E1-D749-F03A-A596-C25D50B34F11}"/>
              </a:ext>
            </a:extLst>
          </p:cNvPr>
          <p:cNvSpPr/>
          <p:nvPr/>
        </p:nvSpPr>
        <p:spPr>
          <a:xfrm>
            <a:off x="8505837" y="8678410"/>
            <a:ext cx="1009256" cy="335299"/>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Políticas de Riesgo y apetito de capital</a:t>
            </a:r>
            <a:endParaRPr lang="es-ES_tradnl" sz="900" noProof="0" dirty="0">
              <a:latin typeface="Calibri" panose="020F0502020204030204" pitchFamily="34" charset="0"/>
              <a:cs typeface="Calibri" panose="020F0502020204030204" pitchFamily="34" charset="0"/>
            </a:endParaRPr>
          </a:p>
        </p:txBody>
      </p:sp>
      <p:pic>
        <p:nvPicPr>
          <p:cNvPr id="346" name="Picture 345" descr="filtrar ">
            <a:extLst>
              <a:ext uri="{FF2B5EF4-FFF2-40B4-BE49-F238E27FC236}">
                <a16:creationId xmlns:a16="http://schemas.microsoft.com/office/drawing/2014/main" id="{B9E77A28-CF23-5841-F57F-239A007539B5}"/>
              </a:ext>
            </a:extLst>
          </p:cNvPr>
          <p:cNvPicPr>
            <a:picLocks noChangeAspect="1"/>
          </p:cNvPicPr>
          <p:nvPr/>
        </p:nvPicPr>
        <p:blipFill>
          <a:blip r:embed="rId19">
            <a:duotone>
              <a:schemeClr val="bg2">
                <a:shade val="45000"/>
                <a:satMod val="135000"/>
              </a:schemeClr>
              <a:prstClr val="white"/>
            </a:duotone>
          </a:blip>
          <a:stretch>
            <a:fillRect/>
          </a:stretch>
        </p:blipFill>
        <p:spPr>
          <a:xfrm>
            <a:off x="9853469" y="8404044"/>
            <a:ext cx="545247" cy="545247"/>
          </a:xfrm>
          <a:prstGeom prst="rect">
            <a:avLst/>
          </a:prstGeom>
        </p:spPr>
      </p:pic>
      <p:sp>
        <p:nvSpPr>
          <p:cNvPr id="347" name="Text 36">
            <a:extLst>
              <a:ext uri="{FF2B5EF4-FFF2-40B4-BE49-F238E27FC236}">
                <a16:creationId xmlns:a16="http://schemas.microsoft.com/office/drawing/2014/main" id="{85769F44-72AC-75FE-42B9-54EF187B6CCC}"/>
              </a:ext>
            </a:extLst>
          </p:cNvPr>
          <p:cNvSpPr/>
          <p:nvPr/>
        </p:nvSpPr>
        <p:spPr>
          <a:xfrm>
            <a:off x="10541901" y="8440666"/>
            <a:ext cx="1475103" cy="158515"/>
          </a:xfrm>
          <a:prstGeom prst="rect">
            <a:avLst/>
          </a:prstGeom>
          <a:noFill/>
          <a:ln/>
        </p:spPr>
        <p:txBody>
          <a:bodyPr wrap="square" lIns="0" tIns="0" rIns="0" bIns="0" rtlCol="0" anchor="t"/>
          <a:lstStyle/>
          <a:p>
            <a:pPr algn="ctr" defTabSz="914377"/>
            <a:r>
              <a:rPr lang="es-ES_tradnl" sz="900" b="1" noProof="0" dirty="0">
                <a:solidFill>
                  <a:srgbClr val="13807B">
                    <a:lumMod val="75000"/>
                  </a:srgbClr>
                </a:solidFill>
                <a:latin typeface="Calibri" panose="020F0502020204030204" pitchFamily="34" charset="0"/>
                <a:cs typeface="Calibri" panose="020F0502020204030204" pitchFamily="34" charset="0"/>
              </a:rPr>
              <a:t>SUPUESTOS Y PARAMETROS</a:t>
            </a:r>
          </a:p>
        </p:txBody>
      </p:sp>
      <p:sp>
        <p:nvSpPr>
          <p:cNvPr id="348" name="Text 36">
            <a:extLst>
              <a:ext uri="{FF2B5EF4-FFF2-40B4-BE49-F238E27FC236}">
                <a16:creationId xmlns:a16="http://schemas.microsoft.com/office/drawing/2014/main" id="{88C229B5-9B9E-EA3F-95DD-5D352CF24A64}"/>
              </a:ext>
            </a:extLst>
          </p:cNvPr>
          <p:cNvSpPr/>
          <p:nvPr/>
        </p:nvSpPr>
        <p:spPr>
          <a:xfrm>
            <a:off x="10541901" y="8684506"/>
            <a:ext cx="1475103" cy="335299"/>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Parámetros y supuestos de prepagos y cancelaciones</a:t>
            </a:r>
            <a:endParaRPr lang="es-ES_tradnl" sz="900" noProof="0" dirty="0">
              <a:latin typeface="Calibri" panose="020F0502020204030204" pitchFamily="34" charset="0"/>
              <a:cs typeface="Calibri" panose="020F0502020204030204" pitchFamily="34" charset="0"/>
            </a:endParaRPr>
          </a:p>
        </p:txBody>
      </p:sp>
      <p:pic>
        <p:nvPicPr>
          <p:cNvPr id="349" name="Picture 348" descr="sustracción ">
            <a:extLst>
              <a:ext uri="{FF2B5EF4-FFF2-40B4-BE49-F238E27FC236}">
                <a16:creationId xmlns:a16="http://schemas.microsoft.com/office/drawing/2014/main" id="{D16DB822-22F7-7E51-B882-69F2EC2AF09F}"/>
              </a:ext>
            </a:extLst>
          </p:cNvPr>
          <p:cNvPicPr>
            <a:picLocks noChangeAspect="1"/>
          </p:cNvPicPr>
          <p:nvPr/>
        </p:nvPicPr>
        <p:blipFill>
          <a:blip r:embed="rId20">
            <a:duotone>
              <a:schemeClr val="bg2">
                <a:shade val="45000"/>
                <a:satMod val="135000"/>
              </a:schemeClr>
              <a:prstClr val="white"/>
            </a:duotone>
          </a:blip>
          <a:stretch>
            <a:fillRect/>
          </a:stretch>
        </p:blipFill>
        <p:spPr>
          <a:xfrm>
            <a:off x="12487099" y="8482198"/>
            <a:ext cx="474347" cy="474347"/>
          </a:xfrm>
          <a:prstGeom prst="rect">
            <a:avLst/>
          </a:prstGeom>
        </p:spPr>
      </p:pic>
      <p:sp>
        <p:nvSpPr>
          <p:cNvPr id="369" name="Text 36">
            <a:extLst>
              <a:ext uri="{FF2B5EF4-FFF2-40B4-BE49-F238E27FC236}">
                <a16:creationId xmlns:a16="http://schemas.microsoft.com/office/drawing/2014/main" id="{8A0937C0-DC8D-BF2F-C394-A6F599880332}"/>
              </a:ext>
            </a:extLst>
          </p:cNvPr>
          <p:cNvSpPr/>
          <p:nvPr/>
        </p:nvSpPr>
        <p:spPr>
          <a:xfrm>
            <a:off x="13119467" y="8443974"/>
            <a:ext cx="1475103" cy="158515"/>
          </a:xfrm>
          <a:prstGeom prst="rect">
            <a:avLst/>
          </a:prstGeom>
          <a:noFill/>
          <a:ln/>
        </p:spPr>
        <p:txBody>
          <a:bodyPr wrap="square" lIns="0" tIns="0" rIns="0" bIns="0" rtlCol="0" anchor="t"/>
          <a:lstStyle/>
          <a:p>
            <a:pPr algn="ctr" defTabSz="914377"/>
            <a:r>
              <a:rPr lang="es-ES_tradnl" sz="900" b="1" noProof="0" dirty="0">
                <a:solidFill>
                  <a:srgbClr val="13807B">
                    <a:lumMod val="75000"/>
                  </a:srgbClr>
                </a:solidFill>
                <a:latin typeface="Calibri" panose="020F0502020204030204" pitchFamily="34" charset="0"/>
                <a:cs typeface="Calibri" panose="020F0502020204030204" pitchFamily="34" charset="0"/>
              </a:rPr>
              <a:t>INTERACCION</a:t>
            </a:r>
          </a:p>
        </p:txBody>
      </p:sp>
      <p:sp>
        <p:nvSpPr>
          <p:cNvPr id="370" name="Text 36">
            <a:extLst>
              <a:ext uri="{FF2B5EF4-FFF2-40B4-BE49-F238E27FC236}">
                <a16:creationId xmlns:a16="http://schemas.microsoft.com/office/drawing/2014/main" id="{EBD90F3E-B822-E41C-B038-BEE5B9A68E91}"/>
              </a:ext>
            </a:extLst>
          </p:cNvPr>
          <p:cNvSpPr/>
          <p:nvPr/>
        </p:nvSpPr>
        <p:spPr>
          <a:xfrm>
            <a:off x="13119468" y="8687814"/>
            <a:ext cx="1536377" cy="335299"/>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La interacción entre </a:t>
            </a:r>
            <a:r>
              <a:rPr lang="es-ES_tradnl" sz="900" noProof="0" dirty="0" err="1">
                <a:solidFill>
                  <a:srgbClr val="1A2E40"/>
                </a:solidFill>
                <a:latin typeface="Calibri" panose="020F0502020204030204" pitchFamily="34" charset="0"/>
                <a:cs typeface="Calibri" panose="020F0502020204030204" pitchFamily="34" charset="0"/>
              </a:rPr>
              <a:t>components</a:t>
            </a:r>
            <a:r>
              <a:rPr lang="es-ES_tradnl" sz="900" noProof="0" dirty="0">
                <a:solidFill>
                  <a:srgbClr val="1A2E40"/>
                </a:solidFill>
                <a:latin typeface="Calibri" panose="020F0502020204030204" pitchFamily="34" charset="0"/>
                <a:cs typeface="Calibri" panose="020F0502020204030204" pitchFamily="34" charset="0"/>
              </a:rPr>
              <a:t> y sus componentes</a:t>
            </a:r>
            <a:endParaRPr lang="es-ES_tradnl" sz="900" noProof="0" dirty="0">
              <a:latin typeface="Calibri" panose="020F0502020204030204" pitchFamily="34" charset="0"/>
              <a:cs typeface="Calibri" panose="020F0502020204030204" pitchFamily="34" charset="0"/>
            </a:endParaRPr>
          </a:p>
        </p:txBody>
      </p:sp>
      <p:sp>
        <p:nvSpPr>
          <p:cNvPr id="371" name="Text 71">
            <a:extLst>
              <a:ext uri="{FF2B5EF4-FFF2-40B4-BE49-F238E27FC236}">
                <a16:creationId xmlns:a16="http://schemas.microsoft.com/office/drawing/2014/main" id="{2D31BEE3-0C73-5DD6-2560-18BA928E0782}"/>
              </a:ext>
            </a:extLst>
          </p:cNvPr>
          <p:cNvSpPr/>
          <p:nvPr/>
        </p:nvSpPr>
        <p:spPr>
          <a:xfrm>
            <a:off x="11489826" y="4333368"/>
            <a:ext cx="1203017" cy="483488"/>
          </a:xfrm>
          <a:prstGeom prst="rect">
            <a:avLst/>
          </a:prstGeom>
          <a:noFill/>
          <a:ln/>
        </p:spPr>
        <p:txBody>
          <a:bodyPr wrap="square" lIns="0" tIns="0" rIns="0" bIns="0" rtlCol="0" anchor="t"/>
          <a:lstStyle/>
          <a:p>
            <a:pPr algn="ctr" defTabSz="914377"/>
            <a:r>
              <a:rPr lang="es-ES_tradnl" sz="900" noProof="0" dirty="0">
                <a:solidFill>
                  <a:srgbClr val="006C80"/>
                </a:solidFill>
                <a:latin typeface="Calibri" panose="020F0502020204030204" pitchFamily="34" charset="0"/>
                <a:cs typeface="Calibri" panose="020F0502020204030204" pitchFamily="34" charset="0"/>
              </a:rPr>
              <a:t>Implementación</a:t>
            </a:r>
          </a:p>
          <a:p>
            <a:pPr algn="ctr" defTabSz="914377"/>
            <a:r>
              <a:rPr lang="es-ES_tradnl" sz="900" noProof="0" dirty="0">
                <a:solidFill>
                  <a:srgbClr val="006C80"/>
                </a:solidFill>
                <a:latin typeface="Calibri" panose="020F0502020204030204" pitchFamily="34" charset="0"/>
                <a:cs typeface="Calibri" panose="020F0502020204030204" pitchFamily="34" charset="0"/>
              </a:rPr>
              <a:t>táctica</a:t>
            </a:r>
          </a:p>
        </p:txBody>
      </p:sp>
      <p:sp>
        <p:nvSpPr>
          <p:cNvPr id="372" name="Shape 68">
            <a:extLst>
              <a:ext uri="{FF2B5EF4-FFF2-40B4-BE49-F238E27FC236}">
                <a16:creationId xmlns:a16="http://schemas.microsoft.com/office/drawing/2014/main" id="{94C99305-38E3-8476-503C-BED4E95D9F7E}"/>
              </a:ext>
            </a:extLst>
          </p:cNvPr>
          <p:cNvSpPr/>
          <p:nvPr/>
        </p:nvSpPr>
        <p:spPr>
          <a:xfrm>
            <a:off x="11484872" y="4713953"/>
            <a:ext cx="1196531" cy="1890496"/>
          </a:xfrm>
          <a:prstGeom prst="roundRect">
            <a:avLst>
              <a:gd name="adj" fmla="val 4545"/>
            </a:avLst>
          </a:prstGeom>
          <a:solidFill>
            <a:srgbClr val="F5F9FA"/>
          </a:solidFill>
          <a:ln w="9525">
            <a:solidFill>
              <a:schemeClr val="accent2">
                <a:lumMod val="90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373" name="Shape 69">
            <a:extLst>
              <a:ext uri="{FF2B5EF4-FFF2-40B4-BE49-F238E27FC236}">
                <a16:creationId xmlns:a16="http://schemas.microsoft.com/office/drawing/2014/main" id="{A9ACA09C-0498-F48D-6772-228CFEE45099}"/>
              </a:ext>
            </a:extLst>
          </p:cNvPr>
          <p:cNvSpPr/>
          <p:nvPr/>
        </p:nvSpPr>
        <p:spPr>
          <a:xfrm>
            <a:off x="11483248" y="4697489"/>
            <a:ext cx="1199779" cy="395641"/>
          </a:xfrm>
          <a:prstGeom prst="round2SameRect">
            <a:avLst/>
          </a:prstGeom>
          <a:solidFill>
            <a:srgbClr val="13807B"/>
          </a:solidFill>
          <a:ln w="12700">
            <a:noFill/>
            <a:prstDash val="solid"/>
          </a:ln>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374" name="Text 70">
            <a:extLst>
              <a:ext uri="{FF2B5EF4-FFF2-40B4-BE49-F238E27FC236}">
                <a16:creationId xmlns:a16="http://schemas.microsoft.com/office/drawing/2014/main" id="{DBE94BB0-3F5B-9946-54B5-78A1BEB27115}"/>
              </a:ext>
            </a:extLst>
          </p:cNvPr>
          <p:cNvSpPr/>
          <p:nvPr/>
        </p:nvSpPr>
        <p:spPr>
          <a:xfrm>
            <a:off x="11484876" y="4797527"/>
            <a:ext cx="1196525" cy="195563"/>
          </a:xfrm>
          <a:prstGeom prst="rect">
            <a:avLst/>
          </a:prstGeom>
          <a:noFill/>
          <a:ln/>
        </p:spPr>
        <p:txBody>
          <a:bodyPr wrap="square" lIns="0" tIns="0" rIns="0" bIns="0" rtlCol="0" anchor="ctr"/>
          <a:lstStyle/>
          <a:p>
            <a:pPr algn="ctr" defTabSz="914377"/>
            <a:r>
              <a:rPr lang="es-ES_tradnl" sz="1067" b="1" noProof="0" dirty="0">
                <a:solidFill>
                  <a:srgbClr val="FFFFFF"/>
                </a:solidFill>
                <a:latin typeface="Calibri" panose="020F0502020204030204" pitchFamily="34" charset="0"/>
                <a:cs typeface="Calibri" panose="020F0502020204030204" pitchFamily="34" charset="0"/>
              </a:rPr>
              <a:t>Beneficio</a:t>
            </a:r>
            <a:r>
              <a:rPr lang="es-ES_tradnl" sz="1067" noProof="0" dirty="0">
                <a:latin typeface="Calibri" panose="020F0502020204030204" pitchFamily="34" charset="0"/>
                <a:cs typeface="Calibri" panose="020F0502020204030204" pitchFamily="34" charset="0"/>
              </a:rPr>
              <a:t> </a:t>
            </a:r>
            <a:r>
              <a:rPr lang="es-ES_tradnl" sz="1067" b="1" noProof="0" dirty="0">
                <a:solidFill>
                  <a:srgbClr val="FFFFFF"/>
                </a:solidFill>
                <a:latin typeface="Calibri" panose="020F0502020204030204" pitchFamily="34" charset="0"/>
                <a:cs typeface="Calibri" panose="020F0502020204030204" pitchFamily="34" charset="0"/>
              </a:rPr>
              <a:t>Capital</a:t>
            </a:r>
            <a:endParaRPr lang="es-ES_tradnl" sz="1067" noProof="0" dirty="0">
              <a:latin typeface="Calibri" panose="020F0502020204030204" pitchFamily="34" charset="0"/>
              <a:cs typeface="Calibri" panose="020F0502020204030204" pitchFamily="34" charset="0"/>
            </a:endParaRPr>
          </a:p>
        </p:txBody>
      </p:sp>
      <p:sp>
        <p:nvSpPr>
          <p:cNvPr id="375" name="Text 71">
            <a:extLst>
              <a:ext uri="{FF2B5EF4-FFF2-40B4-BE49-F238E27FC236}">
                <a16:creationId xmlns:a16="http://schemas.microsoft.com/office/drawing/2014/main" id="{888E9302-6912-21BB-9125-0F3096A4A52D}"/>
              </a:ext>
            </a:extLst>
          </p:cNvPr>
          <p:cNvSpPr/>
          <p:nvPr/>
        </p:nvSpPr>
        <p:spPr>
          <a:xfrm>
            <a:off x="11506160" y="6112716"/>
            <a:ext cx="1203017" cy="483488"/>
          </a:xfrm>
          <a:prstGeom prst="rect">
            <a:avLst/>
          </a:prstGeom>
          <a:noFill/>
          <a:ln/>
        </p:spPr>
        <p:txBody>
          <a:bodyPr wrap="square" lIns="0" tIns="0" rIns="0" bIns="0" rtlCol="0" anchor="t"/>
          <a:lstStyle/>
          <a:p>
            <a:pPr algn="ctr" defTabSz="914377"/>
            <a:r>
              <a:rPr lang="es-ES_tradnl" sz="900" noProof="0" dirty="0">
                <a:solidFill>
                  <a:srgbClr val="1A2E40"/>
                </a:solidFill>
                <a:latin typeface="Calibri" panose="020F0502020204030204" pitchFamily="34" charset="0"/>
                <a:cs typeface="Calibri" panose="020F0502020204030204" pitchFamily="34" charset="0"/>
              </a:rPr>
              <a:t>Tasa Libre</a:t>
            </a:r>
            <a:endParaRPr lang="es-ES_tradnl" sz="900" noProof="0" dirty="0">
              <a:latin typeface="Calibri" panose="020F0502020204030204" pitchFamily="34" charset="0"/>
              <a:cs typeface="Calibri" panose="020F0502020204030204" pitchFamily="34" charset="0"/>
            </a:endParaRPr>
          </a:p>
          <a:p>
            <a:pPr algn="ctr" defTabSz="914377"/>
            <a:r>
              <a:rPr lang="es-ES_tradnl" sz="900" noProof="0" dirty="0">
                <a:solidFill>
                  <a:srgbClr val="1A2E40"/>
                </a:solidFill>
                <a:latin typeface="Calibri" panose="020F0502020204030204" pitchFamily="34" charset="0"/>
                <a:cs typeface="Calibri" panose="020F0502020204030204" pitchFamily="34" charset="0"/>
              </a:rPr>
              <a:t>de Riesgo</a:t>
            </a:r>
            <a:endParaRPr lang="es-ES_tradnl" sz="900" noProof="0" dirty="0">
              <a:latin typeface="Calibri" panose="020F0502020204030204" pitchFamily="34" charset="0"/>
              <a:cs typeface="Calibri" panose="020F0502020204030204" pitchFamily="34" charset="0"/>
            </a:endParaRPr>
          </a:p>
        </p:txBody>
      </p:sp>
      <p:sp>
        <p:nvSpPr>
          <p:cNvPr id="377" name="Oval 376">
            <a:extLst>
              <a:ext uri="{FF2B5EF4-FFF2-40B4-BE49-F238E27FC236}">
                <a16:creationId xmlns:a16="http://schemas.microsoft.com/office/drawing/2014/main" id="{62CEDE5B-01EB-2540-AFBB-83ACA446B17F}"/>
              </a:ext>
            </a:extLst>
          </p:cNvPr>
          <p:cNvSpPr/>
          <p:nvPr/>
        </p:nvSpPr>
        <p:spPr>
          <a:xfrm>
            <a:off x="11709559" y="5233973"/>
            <a:ext cx="747159" cy="747159"/>
          </a:xfrm>
          <a:prstGeom prst="ellipse">
            <a:avLst/>
          </a:prstGeom>
          <a:solidFill>
            <a:srgbClr val="DDF0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378" name="Picture 377" descr="bancario ">
            <a:hlinkClick r:id="rId21" action="ppaction://hlinksldjump"/>
            <a:extLst>
              <a:ext uri="{FF2B5EF4-FFF2-40B4-BE49-F238E27FC236}">
                <a16:creationId xmlns:a16="http://schemas.microsoft.com/office/drawing/2014/main" id="{E7855368-6AB0-14D3-0130-A2ED024A5B08}"/>
              </a:ext>
            </a:extLst>
          </p:cNvPr>
          <p:cNvPicPr>
            <a:picLocks noChangeAspect="1"/>
          </p:cNvPicPr>
          <p:nvPr/>
        </p:nvPicPr>
        <p:blipFill>
          <a:blip r:embed="rId22">
            <a:duotone>
              <a:schemeClr val="accent6">
                <a:shade val="45000"/>
                <a:satMod val="135000"/>
              </a:schemeClr>
              <a:prstClr val="white"/>
            </a:duotone>
          </a:blip>
          <a:stretch>
            <a:fillRect/>
          </a:stretch>
        </p:blipFill>
        <p:spPr>
          <a:xfrm>
            <a:off x="11849213" y="5330944"/>
            <a:ext cx="467851" cy="467851"/>
          </a:xfrm>
          <a:prstGeom prst="rect">
            <a:avLst/>
          </a:prstGeom>
        </p:spPr>
      </p:pic>
      <p:sp>
        <p:nvSpPr>
          <p:cNvPr id="379" name="Rectangle 378">
            <a:extLst>
              <a:ext uri="{FF2B5EF4-FFF2-40B4-BE49-F238E27FC236}">
                <a16:creationId xmlns:a16="http://schemas.microsoft.com/office/drawing/2014/main" id="{277A9691-1242-873A-3870-D23BF0EF6AC7}"/>
              </a:ext>
            </a:extLst>
          </p:cNvPr>
          <p:cNvSpPr/>
          <p:nvPr/>
        </p:nvSpPr>
        <p:spPr>
          <a:xfrm>
            <a:off x="13612677" y="3247419"/>
            <a:ext cx="2377440" cy="464945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noProof="0" dirty="0"/>
          </a:p>
        </p:txBody>
      </p:sp>
      <p:sp>
        <p:nvSpPr>
          <p:cNvPr id="380" name="TextBox 379">
            <a:extLst>
              <a:ext uri="{FF2B5EF4-FFF2-40B4-BE49-F238E27FC236}">
                <a16:creationId xmlns:a16="http://schemas.microsoft.com/office/drawing/2014/main" id="{784D3190-1F26-8B53-B759-758FA69B777B}"/>
              </a:ext>
            </a:extLst>
          </p:cNvPr>
          <p:cNvSpPr txBox="1"/>
          <p:nvPr/>
        </p:nvSpPr>
        <p:spPr>
          <a:xfrm>
            <a:off x="13612677" y="4583606"/>
            <a:ext cx="2377440" cy="292608"/>
          </a:xfrm>
          <a:prstGeom prst="rect">
            <a:avLst/>
          </a:prstGeom>
          <a:noFill/>
        </p:spPr>
        <p:txBody>
          <a:bodyPr wrap="square" lIns="0" tIns="0" rIns="0" bIns="0" anchor="t">
            <a:spAutoFit/>
          </a:bodyPr>
          <a:lstStyle/>
          <a:p>
            <a:pPr algn="ctr">
              <a:lnSpc>
                <a:spcPct val="100000"/>
              </a:lnSpc>
            </a:pPr>
            <a:r>
              <a:rPr lang="es-ES_tradnl" sz="1500" b="1" i="0" noProof="0" dirty="0">
                <a:solidFill>
                  <a:srgbClr val="FFFFFF"/>
                </a:solidFill>
                <a:latin typeface="Arial"/>
              </a:rPr>
              <a:t>Tasa oferta</a:t>
            </a:r>
          </a:p>
        </p:txBody>
      </p:sp>
      <p:cxnSp>
        <p:nvCxnSpPr>
          <p:cNvPr id="381" name="Connector 82">
            <a:extLst>
              <a:ext uri="{FF2B5EF4-FFF2-40B4-BE49-F238E27FC236}">
                <a16:creationId xmlns:a16="http://schemas.microsoft.com/office/drawing/2014/main" id="{6E337295-19E3-1B8A-E412-AA9689A2D235}"/>
              </a:ext>
            </a:extLst>
          </p:cNvPr>
          <p:cNvCxnSpPr/>
          <p:nvPr/>
        </p:nvCxnSpPr>
        <p:spPr>
          <a:xfrm>
            <a:off x="14115597" y="5022518"/>
            <a:ext cx="1371600" cy="0"/>
          </a:xfrm>
          <a:prstGeom prst="line">
            <a:avLst/>
          </a:prstGeom>
          <a:ln w="19050">
            <a:solidFill>
              <a:srgbClr val="2F9E98"/>
            </a:solidFill>
          </a:ln>
        </p:spPr>
        <p:style>
          <a:lnRef idx="2">
            <a:schemeClr val="accent1"/>
          </a:lnRef>
          <a:fillRef idx="0">
            <a:schemeClr val="accent1"/>
          </a:fillRef>
          <a:effectRef idx="1">
            <a:schemeClr val="accent1"/>
          </a:effectRef>
          <a:fontRef idx="minor">
            <a:schemeClr val="tx1"/>
          </a:fontRef>
        </p:style>
      </p:cxnSp>
      <p:sp>
        <p:nvSpPr>
          <p:cNvPr id="382" name="Rectangle 381">
            <a:extLst>
              <a:ext uri="{FF2B5EF4-FFF2-40B4-BE49-F238E27FC236}">
                <a16:creationId xmlns:a16="http://schemas.microsoft.com/office/drawing/2014/main" id="{825AFEF7-50E6-11AA-819F-A828298CE2B3}"/>
              </a:ext>
            </a:extLst>
          </p:cNvPr>
          <p:cNvSpPr/>
          <p:nvPr/>
        </p:nvSpPr>
        <p:spPr>
          <a:xfrm>
            <a:off x="13785551" y="5227095"/>
            <a:ext cx="1938528" cy="100584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22000"/>
              </a:lnSpc>
            </a:pPr>
            <a:r>
              <a:rPr lang="es-ES_tradnl" sz="900" b="1" i="0" noProof="0" dirty="0">
                <a:solidFill>
                  <a:srgbClr val="000000"/>
                </a:solidFill>
                <a:latin typeface="Arial"/>
              </a:rPr>
              <a:t>TASA RESULTANTE</a:t>
            </a:r>
          </a:p>
          <a:p>
            <a:pPr algn="ctr">
              <a:lnSpc>
                <a:spcPct val="122000"/>
              </a:lnSpc>
            </a:pPr>
            <a:r>
              <a:rPr lang="es-ES_tradnl" sz="900" b="1" i="0" noProof="0" dirty="0">
                <a:solidFill>
                  <a:srgbClr val="000000"/>
                </a:solidFill>
                <a:latin typeface="Arial"/>
              </a:rPr>
              <a:t>alineada a la</a:t>
            </a:r>
          </a:p>
          <a:p>
            <a:pPr algn="ctr">
              <a:lnSpc>
                <a:spcPct val="122000"/>
              </a:lnSpc>
            </a:pPr>
            <a:r>
              <a:rPr lang="es-ES_tradnl" sz="900" b="1" i="0" noProof="0" dirty="0">
                <a:solidFill>
                  <a:srgbClr val="000000"/>
                </a:solidFill>
                <a:latin typeface="Arial"/>
              </a:rPr>
              <a:t>rentabilidad objetivo (ROA y RAROC)</a:t>
            </a:r>
          </a:p>
        </p:txBody>
      </p:sp>
      <p:sp>
        <p:nvSpPr>
          <p:cNvPr id="383" name="Rectangle 382">
            <a:extLst>
              <a:ext uri="{FF2B5EF4-FFF2-40B4-BE49-F238E27FC236}">
                <a16:creationId xmlns:a16="http://schemas.microsoft.com/office/drawing/2014/main" id="{FD2D2B2A-F591-E2A3-7694-D16C8F42D8A9}"/>
              </a:ext>
            </a:extLst>
          </p:cNvPr>
          <p:cNvSpPr/>
          <p:nvPr/>
        </p:nvSpPr>
        <p:spPr>
          <a:xfrm>
            <a:off x="13630759" y="1346137"/>
            <a:ext cx="2354308" cy="1766589"/>
          </a:xfrm>
          <a:prstGeom prst="rect">
            <a:avLst/>
          </a:prstGeom>
          <a:solidFill>
            <a:srgbClr val="F1F3F3"/>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noProof="0" dirty="0"/>
          </a:p>
        </p:txBody>
      </p:sp>
      <p:sp>
        <p:nvSpPr>
          <p:cNvPr id="384" name="TextBox 383">
            <a:extLst>
              <a:ext uri="{FF2B5EF4-FFF2-40B4-BE49-F238E27FC236}">
                <a16:creationId xmlns:a16="http://schemas.microsoft.com/office/drawing/2014/main" id="{76A14F89-EB63-4223-0ACE-12D83DFABF0D}"/>
              </a:ext>
            </a:extLst>
          </p:cNvPr>
          <p:cNvSpPr txBox="1"/>
          <p:nvPr/>
        </p:nvSpPr>
        <p:spPr>
          <a:xfrm>
            <a:off x="13630759" y="1891061"/>
            <a:ext cx="2377440" cy="274320"/>
          </a:xfrm>
          <a:prstGeom prst="rect">
            <a:avLst/>
          </a:prstGeom>
          <a:noFill/>
        </p:spPr>
        <p:txBody>
          <a:bodyPr wrap="square" lIns="0" tIns="0" rIns="0" bIns="0" anchor="t">
            <a:spAutoFit/>
          </a:bodyPr>
          <a:lstStyle/>
          <a:p>
            <a:pPr algn="ctr">
              <a:lnSpc>
                <a:spcPct val="100000"/>
              </a:lnSpc>
            </a:pPr>
            <a:r>
              <a:rPr lang="es-ES_tradnl" sz="1300" b="1" i="0" noProof="0" dirty="0">
                <a:solidFill>
                  <a:srgbClr val="3E5553"/>
                </a:solidFill>
                <a:latin typeface="Arial"/>
              </a:rPr>
              <a:t>Tasa oferta</a:t>
            </a:r>
          </a:p>
        </p:txBody>
      </p:sp>
      <p:sp>
        <p:nvSpPr>
          <p:cNvPr id="385" name="TextBox 384">
            <a:extLst>
              <a:ext uri="{FF2B5EF4-FFF2-40B4-BE49-F238E27FC236}">
                <a16:creationId xmlns:a16="http://schemas.microsoft.com/office/drawing/2014/main" id="{5FE9DC91-0745-83A8-C6E5-7932208C6ABA}"/>
              </a:ext>
            </a:extLst>
          </p:cNvPr>
          <p:cNvSpPr txBox="1"/>
          <p:nvPr/>
        </p:nvSpPr>
        <p:spPr>
          <a:xfrm>
            <a:off x="13831927" y="2284253"/>
            <a:ext cx="1975104" cy="640080"/>
          </a:xfrm>
          <a:prstGeom prst="rect">
            <a:avLst/>
          </a:prstGeom>
          <a:noFill/>
        </p:spPr>
        <p:txBody>
          <a:bodyPr wrap="square" lIns="0" tIns="0" rIns="0" bIns="0" anchor="t">
            <a:spAutoFit/>
          </a:bodyPr>
          <a:lstStyle/>
          <a:p>
            <a:pPr algn="ctr">
              <a:lnSpc>
                <a:spcPct val="120000"/>
              </a:lnSpc>
            </a:pPr>
            <a:r>
              <a:rPr lang="es-ES_tradnl" sz="850" b="0" i="0" noProof="0" dirty="0">
                <a:solidFill>
                  <a:srgbClr val="6E7E7D"/>
                </a:solidFill>
                <a:latin typeface="Arial"/>
              </a:rPr>
              <a:t>Un solo período, sin lectura del ciclo de vida</a:t>
            </a:r>
          </a:p>
        </p:txBody>
      </p:sp>
      <p:sp>
        <p:nvSpPr>
          <p:cNvPr id="3" name="Text 13">
            <a:extLst>
              <a:ext uri="{FF2B5EF4-FFF2-40B4-BE49-F238E27FC236}">
                <a16:creationId xmlns:a16="http://schemas.microsoft.com/office/drawing/2014/main" id="{BBD11CAE-7159-D858-9EAA-5A0DD2CB8741}"/>
              </a:ext>
            </a:extLst>
          </p:cNvPr>
          <p:cNvSpPr/>
          <p:nvPr/>
        </p:nvSpPr>
        <p:spPr>
          <a:xfrm>
            <a:off x="4918957" y="2457589"/>
            <a:ext cx="1244129" cy="594360"/>
          </a:xfrm>
          <a:prstGeom prst="rect">
            <a:avLst/>
          </a:prstGeom>
          <a:noFill/>
          <a:ln/>
        </p:spPr>
        <p:txBody>
          <a:bodyPr wrap="square" lIns="0" tIns="0" rIns="0" bIns="0" rtlCol="0" anchor="ctr"/>
          <a:lstStyle/>
          <a:p>
            <a:pPr algn="ctr" defTabSz="914377"/>
            <a:r>
              <a:rPr lang="es-ES_tradnl" sz="1200" noProof="0" dirty="0" err="1">
                <a:solidFill>
                  <a:srgbClr val="1A2E40"/>
                </a:solidFill>
                <a:latin typeface="Calibri" panose="020F0502020204030204" pitchFamily="34" charset="0"/>
                <a:cs typeface="Calibri" panose="020F0502020204030204" pitchFamily="34" charset="0"/>
              </a:rPr>
              <a:t>CoK</a:t>
            </a:r>
            <a:endParaRPr lang="es-ES_tradnl" sz="1200" noProof="0" dirty="0">
              <a:solidFill>
                <a:srgbClr val="1A2E40"/>
              </a:solidFill>
              <a:latin typeface="Calibri" panose="020F0502020204030204" pitchFamily="34" charset="0"/>
              <a:cs typeface="Calibri" panose="020F0502020204030204" pitchFamily="34" charset="0"/>
            </a:endParaRPr>
          </a:p>
        </p:txBody>
      </p:sp>
      <p:sp>
        <p:nvSpPr>
          <p:cNvPr id="6" name="Oval 5">
            <a:extLst>
              <a:ext uri="{FF2B5EF4-FFF2-40B4-BE49-F238E27FC236}">
                <a16:creationId xmlns:a16="http://schemas.microsoft.com/office/drawing/2014/main" id="{CDE7EA9B-A42D-2293-2282-D40902985EEC}"/>
              </a:ext>
            </a:extLst>
          </p:cNvPr>
          <p:cNvSpPr/>
          <p:nvPr/>
        </p:nvSpPr>
        <p:spPr>
          <a:xfrm>
            <a:off x="5165798" y="1846574"/>
            <a:ext cx="747159" cy="747159"/>
          </a:xfrm>
          <a:prstGeom prst="ellipse">
            <a:avLst/>
          </a:prstGeom>
          <a:solidFill>
            <a:srgbClr val="ECEE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7" name="Picture 6" descr="ahorro de costes ">
            <a:extLst>
              <a:ext uri="{FF2B5EF4-FFF2-40B4-BE49-F238E27FC236}">
                <a16:creationId xmlns:a16="http://schemas.microsoft.com/office/drawing/2014/main" id="{FD9132C8-F6C5-886C-3DF2-35048DD9469B}"/>
              </a:ext>
            </a:extLst>
          </p:cNvPr>
          <p:cNvPicPr>
            <a:picLocks noChangeAspect="1"/>
          </p:cNvPicPr>
          <p:nvPr/>
        </p:nvPicPr>
        <p:blipFill>
          <a:blip r:embed="rId23">
            <a:biLevel thresh="25000"/>
          </a:blip>
          <a:stretch>
            <a:fillRect/>
          </a:stretch>
        </p:blipFill>
        <p:spPr>
          <a:xfrm>
            <a:off x="5293531" y="1974108"/>
            <a:ext cx="479295" cy="479295"/>
          </a:xfrm>
          <a:prstGeom prst="rect">
            <a:avLst/>
          </a:prstGeom>
        </p:spPr>
      </p:pic>
      <p:sp>
        <p:nvSpPr>
          <p:cNvPr id="8" name="Shape 15">
            <a:extLst>
              <a:ext uri="{FF2B5EF4-FFF2-40B4-BE49-F238E27FC236}">
                <a16:creationId xmlns:a16="http://schemas.microsoft.com/office/drawing/2014/main" id="{1F9E221F-E2A2-F114-41DF-FC8C425C8E06}"/>
              </a:ext>
            </a:extLst>
          </p:cNvPr>
          <p:cNvSpPr/>
          <p:nvPr/>
        </p:nvSpPr>
        <p:spPr>
          <a:xfrm>
            <a:off x="4935236" y="1683600"/>
            <a:ext cx="1216061" cy="1348319"/>
          </a:xfrm>
          <a:prstGeom prst="roundRect">
            <a:avLst>
              <a:gd name="adj" fmla="val 3846"/>
            </a:avLst>
          </a:prstGeom>
          <a:solidFill>
            <a:srgbClr val="FDFEFE">
              <a:alpha val="54902"/>
            </a:srgbClr>
          </a:solidFill>
          <a:ln w="9525">
            <a:solidFill>
              <a:schemeClr val="bg1">
                <a:lumMod val="85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9" name="Shape 15">
            <a:extLst>
              <a:ext uri="{FF2B5EF4-FFF2-40B4-BE49-F238E27FC236}">
                <a16:creationId xmlns:a16="http://schemas.microsoft.com/office/drawing/2014/main" id="{A519EC12-2A06-F109-C78D-1288BCF83130}"/>
              </a:ext>
            </a:extLst>
          </p:cNvPr>
          <p:cNvSpPr/>
          <p:nvPr/>
        </p:nvSpPr>
        <p:spPr>
          <a:xfrm>
            <a:off x="2456549" y="7880122"/>
            <a:ext cx="10205714" cy="393021"/>
          </a:xfrm>
          <a:prstGeom prst="roundRect">
            <a:avLst>
              <a:gd name="adj" fmla="val 3846"/>
            </a:avLst>
          </a:prstGeom>
          <a:solidFill>
            <a:srgbClr val="FDFEFE">
              <a:alpha val="54902"/>
            </a:srgbClr>
          </a:solidFill>
          <a:ln w="9525">
            <a:solidFill>
              <a:schemeClr val="bg1">
                <a:lumMod val="85000"/>
              </a:schemeClr>
            </a:solidFill>
            <a:prstDash val="solid"/>
          </a:ln>
          <a:effectLst>
            <a:outerShdw blurRad="50800" dist="12700" dir="2700000" algn="bl" rotWithShape="0">
              <a:srgbClr val="000000">
                <a:alpha val="10000"/>
              </a:srgbClr>
            </a:outerShdw>
          </a:effectLst>
        </p:spPr>
        <p:txBody>
          <a:bodyPr/>
          <a:lstStyle/>
          <a:p>
            <a:pPr defTabSz="914377"/>
            <a:endParaRPr lang="es-ES_tradnl" noProof="0" dirty="0">
              <a:latin typeface="Calibri" panose="020F0502020204030204" pitchFamily="34" charset="0"/>
              <a:cs typeface="Calibri" panose="020F0502020204030204" pitchFamily="34" charset="0"/>
            </a:endParaRPr>
          </a:p>
        </p:txBody>
      </p:sp>
      <p:sp>
        <p:nvSpPr>
          <p:cNvPr id="13" name="Text 13">
            <a:extLst>
              <a:ext uri="{FF2B5EF4-FFF2-40B4-BE49-F238E27FC236}">
                <a16:creationId xmlns:a16="http://schemas.microsoft.com/office/drawing/2014/main" id="{708AD4A0-0F17-B539-CF87-EB245DFCB47B}"/>
              </a:ext>
            </a:extLst>
          </p:cNvPr>
          <p:cNvSpPr/>
          <p:nvPr/>
        </p:nvSpPr>
        <p:spPr>
          <a:xfrm>
            <a:off x="6680291" y="7775153"/>
            <a:ext cx="1244129" cy="594360"/>
          </a:xfrm>
          <a:prstGeom prst="rect">
            <a:avLst/>
          </a:prstGeom>
          <a:noFill/>
          <a:ln/>
        </p:spPr>
        <p:txBody>
          <a:bodyPr wrap="square" lIns="0" tIns="0" rIns="0" bIns="0" rtlCol="0" anchor="ctr"/>
          <a:lstStyle/>
          <a:p>
            <a:pPr algn="ctr" defTabSz="914377"/>
            <a:r>
              <a:rPr lang="es-ES_tradnl" sz="1200" noProof="0" dirty="0" err="1">
                <a:solidFill>
                  <a:srgbClr val="1A2E40"/>
                </a:solidFill>
                <a:latin typeface="Calibri" panose="020F0502020204030204" pitchFamily="34" charset="0"/>
                <a:cs typeface="Calibri" panose="020F0502020204030204" pitchFamily="34" charset="0"/>
              </a:rPr>
              <a:t>CoK</a:t>
            </a:r>
            <a:endParaRPr lang="es-ES_tradnl" sz="1200" noProof="0" dirty="0">
              <a:solidFill>
                <a:srgbClr val="1A2E40"/>
              </a:solidFill>
              <a:latin typeface="Calibri" panose="020F0502020204030204" pitchFamily="34" charset="0"/>
              <a:cs typeface="Calibri" panose="020F0502020204030204" pitchFamily="34" charset="0"/>
            </a:endParaRPr>
          </a:p>
        </p:txBody>
      </p:sp>
      <p:grpSp>
        <p:nvGrpSpPr>
          <p:cNvPr id="54" name="Group 53">
            <a:extLst>
              <a:ext uri="{FF2B5EF4-FFF2-40B4-BE49-F238E27FC236}">
                <a16:creationId xmlns:a16="http://schemas.microsoft.com/office/drawing/2014/main" id="{03EE067C-7178-A2D3-124F-50A4FDED769D}"/>
              </a:ext>
            </a:extLst>
          </p:cNvPr>
          <p:cNvGrpSpPr/>
          <p:nvPr/>
        </p:nvGrpSpPr>
        <p:grpSpPr>
          <a:xfrm>
            <a:off x="6901015" y="7956615"/>
            <a:ext cx="256024" cy="256024"/>
            <a:chOff x="6683761" y="7980061"/>
            <a:chExt cx="256024" cy="256024"/>
          </a:xfrm>
        </p:grpSpPr>
        <p:sp>
          <p:nvSpPr>
            <p:cNvPr id="14" name="Oval 13">
              <a:extLst>
                <a:ext uri="{FF2B5EF4-FFF2-40B4-BE49-F238E27FC236}">
                  <a16:creationId xmlns:a16="http://schemas.microsoft.com/office/drawing/2014/main" id="{F6B181E9-6687-4F65-06A4-4991061F4C5F}"/>
                </a:ext>
              </a:extLst>
            </p:cNvPr>
            <p:cNvSpPr/>
            <p:nvPr/>
          </p:nvSpPr>
          <p:spPr>
            <a:xfrm>
              <a:off x="6683761" y="7980061"/>
              <a:ext cx="256024" cy="256024"/>
            </a:xfrm>
            <a:prstGeom prst="ellipse">
              <a:avLst/>
            </a:prstGeom>
            <a:solidFill>
              <a:srgbClr val="ECEE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s-ES_tradnl" noProof="0" dirty="0">
                <a:solidFill>
                  <a:srgbClr val="FFFFFF"/>
                </a:solidFill>
                <a:latin typeface="Arial"/>
              </a:endParaRPr>
            </a:p>
          </p:txBody>
        </p:sp>
        <p:pic>
          <p:nvPicPr>
            <p:cNvPr id="15" name="Picture 14" descr="ahorro de costes ">
              <a:extLst>
                <a:ext uri="{FF2B5EF4-FFF2-40B4-BE49-F238E27FC236}">
                  <a16:creationId xmlns:a16="http://schemas.microsoft.com/office/drawing/2014/main" id="{D54282CA-BCEA-FC53-6C3D-7C72E28B0854}"/>
                </a:ext>
              </a:extLst>
            </p:cNvPr>
            <p:cNvPicPr>
              <a:picLocks noChangeAspect="1"/>
            </p:cNvPicPr>
            <p:nvPr/>
          </p:nvPicPr>
          <p:blipFill>
            <a:blip r:embed="rId23">
              <a:biLevel thresh="25000"/>
            </a:blip>
            <a:stretch>
              <a:fillRect/>
            </a:stretch>
          </p:blipFill>
          <p:spPr>
            <a:xfrm>
              <a:off x="6717129" y="8009700"/>
              <a:ext cx="187476" cy="187476"/>
            </a:xfrm>
            <a:prstGeom prst="rect">
              <a:avLst/>
            </a:prstGeom>
          </p:spPr>
        </p:pic>
      </p:grpSp>
    </p:spTree>
    <p:extLst>
      <p:ext uri="{BB962C8B-B14F-4D97-AF65-F5344CB8AC3E}">
        <p14:creationId xmlns:p14="http://schemas.microsoft.com/office/powerpoint/2010/main" val="2439233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5C56999-7FFB-66F7-2905-CE2D022BFE4B}"/>
            </a:ext>
          </a:extLst>
        </p:cNvPr>
        <p:cNvGrpSpPr/>
        <p:nvPr/>
      </p:nvGrpSpPr>
      <p:grpSpPr>
        <a:xfrm>
          <a:off x="0" y="0"/>
          <a:ext cx="0" cy="0"/>
          <a:chOff x="0" y="0"/>
          <a:chExt cx="0" cy="0"/>
        </a:xfrm>
      </p:grpSpPr>
      <p:sp>
        <p:nvSpPr>
          <p:cNvPr id="2" name="Google Shape;167;g3ed063acbfe_1_0">
            <a:extLst>
              <a:ext uri="{FF2B5EF4-FFF2-40B4-BE49-F238E27FC236}">
                <a16:creationId xmlns:a16="http://schemas.microsoft.com/office/drawing/2014/main" id="{8FFDDCBE-F881-F025-4416-76111FFA9145}"/>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El CLV encuentra la tasa óptima que cumple el RAROC objetivo, leyendo el crédito a lo largo de toda su vida</a:t>
            </a:r>
          </a:p>
        </p:txBody>
      </p:sp>
      <p:sp>
        <p:nvSpPr>
          <p:cNvPr id="16" name="Rectangle 15">
            <a:extLst>
              <a:ext uri="{FF2B5EF4-FFF2-40B4-BE49-F238E27FC236}">
                <a16:creationId xmlns:a16="http://schemas.microsoft.com/office/drawing/2014/main" id="{8FED1066-28EA-7726-BDA6-45AF14BBB15D}"/>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cxnSp>
        <p:nvCxnSpPr>
          <p:cNvPr id="3" name="Connector 3">
            <a:extLst>
              <a:ext uri="{FF2B5EF4-FFF2-40B4-BE49-F238E27FC236}">
                <a16:creationId xmlns:a16="http://schemas.microsoft.com/office/drawing/2014/main" id="{103271FA-8662-5872-27F3-4EAED177D75F}"/>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0DE3C790-EFAC-DF86-BC2C-1C7D630AF892}"/>
              </a:ext>
            </a:extLst>
          </p:cNvPr>
          <p:cNvSpPr/>
          <p:nvPr/>
        </p:nvSpPr>
        <p:spPr>
          <a:xfrm>
            <a:off x="658368" y="2095639"/>
            <a:ext cx="3246120" cy="3246120"/>
          </a:xfrm>
          <a:prstGeom prst="roundRect">
            <a:avLst>
              <a:gd name="adj" fmla="val 1408"/>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5" name="Rounded Rectangle 4">
            <a:extLst>
              <a:ext uri="{FF2B5EF4-FFF2-40B4-BE49-F238E27FC236}">
                <a16:creationId xmlns:a16="http://schemas.microsoft.com/office/drawing/2014/main" id="{47B604B1-982F-BAEB-91FD-46CD7C909C4D}"/>
              </a:ext>
            </a:extLst>
          </p:cNvPr>
          <p:cNvSpPr/>
          <p:nvPr/>
        </p:nvSpPr>
        <p:spPr>
          <a:xfrm>
            <a:off x="658368" y="2095639"/>
            <a:ext cx="3246120" cy="329184"/>
          </a:xfrm>
          <a:prstGeom prst="roundRect">
            <a:avLst>
              <a:gd name="adj" fmla="val 13888"/>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INPUTS</a:t>
            </a:r>
          </a:p>
        </p:txBody>
      </p:sp>
      <p:sp>
        <p:nvSpPr>
          <p:cNvPr id="6" name="Rectangle 5">
            <a:extLst>
              <a:ext uri="{FF2B5EF4-FFF2-40B4-BE49-F238E27FC236}">
                <a16:creationId xmlns:a16="http://schemas.microsoft.com/office/drawing/2014/main" id="{3B4AD83D-5D43-370B-B9EC-838E0D1B9385}"/>
              </a:ext>
            </a:extLst>
          </p:cNvPr>
          <p:cNvSpPr/>
          <p:nvPr/>
        </p:nvSpPr>
        <p:spPr>
          <a:xfrm>
            <a:off x="658368" y="2369959"/>
            <a:ext cx="3246120" cy="5486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78C4AA96-F4B1-45FF-E446-D66911AFACD8}"/>
              </a:ext>
            </a:extLst>
          </p:cNvPr>
          <p:cNvSpPr/>
          <p:nvPr/>
        </p:nvSpPr>
        <p:spPr>
          <a:xfrm>
            <a:off x="841247" y="2571127"/>
            <a:ext cx="2880360" cy="60350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4719279-82A9-2D86-7A93-057BBC8A34EC}"/>
              </a:ext>
            </a:extLst>
          </p:cNvPr>
          <p:cNvSpPr txBox="1"/>
          <p:nvPr/>
        </p:nvSpPr>
        <p:spPr>
          <a:xfrm>
            <a:off x="1005840" y="2644279"/>
            <a:ext cx="2606039"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445A6E"/>
                </a:solidFill>
                <a:latin typeface="Calibri" panose="020F0502020204030204" pitchFamily="34" charset="0"/>
                <a:cs typeface="Calibri" panose="020F0502020204030204" pitchFamily="34" charset="0"/>
              </a:rPr>
              <a:t>Cliente</a:t>
            </a:r>
          </a:p>
        </p:txBody>
      </p:sp>
      <p:sp>
        <p:nvSpPr>
          <p:cNvPr id="9" name="TextBox 8">
            <a:extLst>
              <a:ext uri="{FF2B5EF4-FFF2-40B4-BE49-F238E27FC236}">
                <a16:creationId xmlns:a16="http://schemas.microsoft.com/office/drawing/2014/main" id="{4BC46DFB-D4C0-A73B-27A7-C1E19DE71DDA}"/>
              </a:ext>
            </a:extLst>
          </p:cNvPr>
          <p:cNvSpPr txBox="1"/>
          <p:nvPr/>
        </p:nvSpPr>
        <p:spPr>
          <a:xfrm>
            <a:off x="1005840" y="2854591"/>
            <a:ext cx="2606039"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Segmento, comportamiento, MFA</a:t>
            </a:r>
          </a:p>
        </p:txBody>
      </p:sp>
      <p:sp>
        <p:nvSpPr>
          <p:cNvPr id="10" name="Rectangle 9">
            <a:extLst>
              <a:ext uri="{FF2B5EF4-FFF2-40B4-BE49-F238E27FC236}">
                <a16:creationId xmlns:a16="http://schemas.microsoft.com/office/drawing/2014/main" id="{96DAFFF0-6734-70FB-EDE5-59659B7217C6}"/>
              </a:ext>
            </a:extLst>
          </p:cNvPr>
          <p:cNvSpPr/>
          <p:nvPr/>
        </p:nvSpPr>
        <p:spPr>
          <a:xfrm>
            <a:off x="841247" y="3247783"/>
            <a:ext cx="2880360" cy="60350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2AE3C38-BD40-FF05-36C6-E45E173085C8}"/>
              </a:ext>
            </a:extLst>
          </p:cNvPr>
          <p:cNvSpPr txBox="1"/>
          <p:nvPr/>
        </p:nvSpPr>
        <p:spPr>
          <a:xfrm>
            <a:off x="1005840" y="3320935"/>
            <a:ext cx="2606039"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445A6E"/>
                </a:solidFill>
                <a:latin typeface="Calibri" panose="020F0502020204030204" pitchFamily="34" charset="0"/>
                <a:cs typeface="Calibri" panose="020F0502020204030204" pitchFamily="34" charset="0"/>
              </a:rPr>
              <a:t>Operación</a:t>
            </a:r>
          </a:p>
        </p:txBody>
      </p:sp>
      <p:sp>
        <p:nvSpPr>
          <p:cNvPr id="12" name="TextBox 11">
            <a:extLst>
              <a:ext uri="{FF2B5EF4-FFF2-40B4-BE49-F238E27FC236}">
                <a16:creationId xmlns:a16="http://schemas.microsoft.com/office/drawing/2014/main" id="{28BAAAD0-F8D1-0506-8DA8-88C12DE70048}"/>
              </a:ext>
            </a:extLst>
          </p:cNvPr>
          <p:cNvSpPr txBox="1"/>
          <p:nvPr/>
        </p:nvSpPr>
        <p:spPr>
          <a:xfrm>
            <a:off x="1005840" y="3531247"/>
            <a:ext cx="2606039"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Monto, plazo, garantía, producto</a:t>
            </a:r>
          </a:p>
        </p:txBody>
      </p:sp>
      <p:sp>
        <p:nvSpPr>
          <p:cNvPr id="13" name="Rectangle 12">
            <a:extLst>
              <a:ext uri="{FF2B5EF4-FFF2-40B4-BE49-F238E27FC236}">
                <a16:creationId xmlns:a16="http://schemas.microsoft.com/office/drawing/2014/main" id="{115BE054-3DB7-F3C6-6269-FA6E241D74BC}"/>
              </a:ext>
            </a:extLst>
          </p:cNvPr>
          <p:cNvSpPr/>
          <p:nvPr/>
        </p:nvSpPr>
        <p:spPr>
          <a:xfrm>
            <a:off x="841247" y="3924439"/>
            <a:ext cx="2880360" cy="60350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5C02006E-D217-28D9-A8F4-FA13B7E5696E}"/>
              </a:ext>
            </a:extLst>
          </p:cNvPr>
          <p:cNvSpPr txBox="1"/>
          <p:nvPr/>
        </p:nvSpPr>
        <p:spPr>
          <a:xfrm>
            <a:off x="1005840" y="3997591"/>
            <a:ext cx="2606039"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445A6E"/>
                </a:solidFill>
                <a:latin typeface="Calibri" panose="020F0502020204030204" pitchFamily="34" charset="0"/>
                <a:cs typeface="Calibri" panose="020F0502020204030204" pitchFamily="34" charset="0"/>
              </a:rPr>
              <a:t>Riesgo</a:t>
            </a:r>
          </a:p>
        </p:txBody>
      </p:sp>
      <p:sp>
        <p:nvSpPr>
          <p:cNvPr id="15" name="TextBox 14">
            <a:extLst>
              <a:ext uri="{FF2B5EF4-FFF2-40B4-BE49-F238E27FC236}">
                <a16:creationId xmlns:a16="http://schemas.microsoft.com/office/drawing/2014/main" id="{058689DC-9D50-14C8-F563-8BC5D538B169}"/>
              </a:ext>
            </a:extLst>
          </p:cNvPr>
          <p:cNvSpPr txBox="1"/>
          <p:nvPr/>
        </p:nvSpPr>
        <p:spPr>
          <a:xfrm>
            <a:off x="1005840" y="4207903"/>
            <a:ext cx="2606039"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PD y LGD </a:t>
            </a:r>
            <a:r>
              <a:rPr lang="es-ES_tradnl" sz="1100" b="0" i="0" noProof="0" dirty="0" err="1">
                <a:solidFill>
                  <a:srgbClr val="6E7E7D"/>
                </a:solidFill>
                <a:latin typeface="Calibri" panose="020F0502020204030204" pitchFamily="34" charset="0"/>
                <a:cs typeface="Calibri" panose="020F0502020204030204" pitchFamily="34" charset="0"/>
              </a:rPr>
              <a:t>lifetime</a:t>
            </a:r>
            <a:endParaRPr lang="es-ES_tradnl" sz="1100" b="0" i="0" noProof="0" dirty="0">
              <a:solidFill>
                <a:srgbClr val="6E7E7D"/>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2E7CCA6D-1E27-C53F-36A7-C6867A41DD44}"/>
              </a:ext>
            </a:extLst>
          </p:cNvPr>
          <p:cNvSpPr/>
          <p:nvPr/>
        </p:nvSpPr>
        <p:spPr>
          <a:xfrm>
            <a:off x="841247" y="4601095"/>
            <a:ext cx="2880360" cy="60350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55" name="TextBox 54">
            <a:extLst>
              <a:ext uri="{FF2B5EF4-FFF2-40B4-BE49-F238E27FC236}">
                <a16:creationId xmlns:a16="http://schemas.microsoft.com/office/drawing/2014/main" id="{03C44CF3-ECF7-BAE9-79AC-7C6FAF2147FD}"/>
              </a:ext>
            </a:extLst>
          </p:cNvPr>
          <p:cNvSpPr txBox="1"/>
          <p:nvPr/>
        </p:nvSpPr>
        <p:spPr>
          <a:xfrm>
            <a:off x="1005840" y="4674247"/>
            <a:ext cx="2606039"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445A6E"/>
                </a:solidFill>
                <a:latin typeface="Calibri" panose="020F0502020204030204" pitchFamily="34" charset="0"/>
                <a:cs typeface="Calibri" panose="020F0502020204030204" pitchFamily="34" charset="0"/>
              </a:rPr>
              <a:t>Mercado y banco</a:t>
            </a:r>
          </a:p>
        </p:txBody>
      </p:sp>
      <p:sp>
        <p:nvSpPr>
          <p:cNvPr id="56" name="TextBox 55">
            <a:extLst>
              <a:ext uri="{FF2B5EF4-FFF2-40B4-BE49-F238E27FC236}">
                <a16:creationId xmlns:a16="http://schemas.microsoft.com/office/drawing/2014/main" id="{F10F1271-07CA-5569-4E7F-4FD7E089C2A6}"/>
              </a:ext>
            </a:extLst>
          </p:cNvPr>
          <p:cNvSpPr txBox="1"/>
          <p:nvPr/>
        </p:nvSpPr>
        <p:spPr>
          <a:xfrm>
            <a:off x="1005840" y="4884559"/>
            <a:ext cx="2606039"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Curva de fondeo, apetito de capital</a:t>
            </a:r>
          </a:p>
        </p:txBody>
      </p:sp>
      <p:cxnSp>
        <p:nvCxnSpPr>
          <p:cNvPr id="57" name="Connector 21">
            <a:extLst>
              <a:ext uri="{FF2B5EF4-FFF2-40B4-BE49-F238E27FC236}">
                <a16:creationId xmlns:a16="http://schemas.microsoft.com/office/drawing/2014/main" id="{3C14BAD6-75D4-6405-A0B3-20B1DD5FEC24}"/>
              </a:ext>
            </a:extLst>
          </p:cNvPr>
          <p:cNvCxnSpPr/>
          <p:nvPr/>
        </p:nvCxnSpPr>
        <p:spPr>
          <a:xfrm>
            <a:off x="4032503" y="3723271"/>
            <a:ext cx="329185"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C23E4323-62B7-6991-C426-97DBAFDF5E02}"/>
              </a:ext>
            </a:extLst>
          </p:cNvPr>
          <p:cNvSpPr/>
          <p:nvPr/>
        </p:nvSpPr>
        <p:spPr>
          <a:xfrm>
            <a:off x="4453127" y="2095639"/>
            <a:ext cx="7349764" cy="32461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59" name="TextBox 58">
            <a:extLst>
              <a:ext uri="{FF2B5EF4-FFF2-40B4-BE49-F238E27FC236}">
                <a16:creationId xmlns:a16="http://schemas.microsoft.com/office/drawing/2014/main" id="{EA870EA0-9DE1-8897-01D7-0F5B9B928164}"/>
              </a:ext>
            </a:extLst>
          </p:cNvPr>
          <p:cNvSpPr txBox="1"/>
          <p:nvPr/>
        </p:nvSpPr>
        <p:spPr>
          <a:xfrm>
            <a:off x="4453127" y="2351671"/>
            <a:ext cx="7349764" cy="307777"/>
          </a:xfrm>
          <a:prstGeom prst="rect">
            <a:avLst/>
          </a:prstGeom>
          <a:noFill/>
        </p:spPr>
        <p:txBody>
          <a:bodyPr wrap="square" lIns="0" tIns="0" rIns="0" bIns="0" anchor="t">
            <a:spAutoFit/>
          </a:bodyPr>
          <a:lstStyle/>
          <a:p>
            <a:pPr algn="ctr">
              <a:lnSpc>
                <a:spcPct val="100000"/>
              </a:lnSpc>
            </a:pPr>
            <a:r>
              <a:rPr lang="es-ES_tradnl" sz="2000" b="1" i="0" noProof="0" dirty="0">
                <a:solidFill>
                  <a:srgbClr val="FFFFFF"/>
                </a:solidFill>
                <a:latin typeface="Calibri" panose="020F0502020204030204" pitchFamily="34" charset="0"/>
                <a:cs typeface="Calibri" panose="020F0502020204030204" pitchFamily="34" charset="0"/>
              </a:rPr>
              <a:t>MOTOR CLV</a:t>
            </a:r>
          </a:p>
        </p:txBody>
      </p:sp>
      <p:sp>
        <p:nvSpPr>
          <p:cNvPr id="60" name="TextBox 59">
            <a:extLst>
              <a:ext uri="{FF2B5EF4-FFF2-40B4-BE49-F238E27FC236}">
                <a16:creationId xmlns:a16="http://schemas.microsoft.com/office/drawing/2014/main" id="{4D241553-7781-78D6-5147-EA6BB1F7076F}"/>
              </a:ext>
            </a:extLst>
          </p:cNvPr>
          <p:cNvSpPr txBox="1"/>
          <p:nvPr/>
        </p:nvSpPr>
        <p:spPr>
          <a:xfrm>
            <a:off x="4453127" y="2662567"/>
            <a:ext cx="7349764"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2F9E98"/>
                </a:solidFill>
                <a:latin typeface="Calibri" panose="020F0502020204030204" pitchFamily="34" charset="0"/>
                <a:cs typeface="Calibri" panose="020F0502020204030204" pitchFamily="34" charset="0"/>
              </a:rPr>
              <a:t>Simulación </a:t>
            </a:r>
            <a:r>
              <a:rPr lang="es-ES_tradnl" sz="1200" b="0" i="0" noProof="0" dirty="0" err="1">
                <a:solidFill>
                  <a:srgbClr val="2F9E98"/>
                </a:solidFill>
                <a:latin typeface="Calibri" panose="020F0502020204030204" pitchFamily="34" charset="0"/>
                <a:cs typeface="Calibri" panose="020F0502020204030204" pitchFamily="34" charset="0"/>
              </a:rPr>
              <a:t>multiperiodo</a:t>
            </a:r>
            <a:r>
              <a:rPr lang="es-ES_tradnl" sz="1200" b="0" i="0" noProof="0" dirty="0">
                <a:solidFill>
                  <a:srgbClr val="2F9E98"/>
                </a:solidFill>
                <a:latin typeface="Calibri" panose="020F0502020204030204" pitchFamily="34" charset="0"/>
                <a:cs typeface="Calibri" panose="020F0502020204030204" pitchFamily="34" charset="0"/>
              </a:rPr>
              <a:t> del crédito</a:t>
            </a:r>
          </a:p>
        </p:txBody>
      </p:sp>
      <p:sp>
        <p:nvSpPr>
          <p:cNvPr id="61" name="Rectangle 60">
            <a:extLst>
              <a:ext uri="{FF2B5EF4-FFF2-40B4-BE49-F238E27FC236}">
                <a16:creationId xmlns:a16="http://schemas.microsoft.com/office/drawing/2014/main" id="{43221D5C-24A1-F4CA-8333-5BA464891250}"/>
              </a:ext>
            </a:extLst>
          </p:cNvPr>
          <p:cNvSpPr/>
          <p:nvPr/>
        </p:nvSpPr>
        <p:spPr>
          <a:xfrm>
            <a:off x="4956047" y="3147199"/>
            <a:ext cx="331836" cy="1417320"/>
          </a:xfrm>
          <a:prstGeom prst="rect">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62" name="Rectangle 61">
            <a:extLst>
              <a:ext uri="{FF2B5EF4-FFF2-40B4-BE49-F238E27FC236}">
                <a16:creationId xmlns:a16="http://schemas.microsoft.com/office/drawing/2014/main" id="{3DB5C8A5-4C73-BA04-78CB-96ADE9B107D1}"/>
              </a:ext>
            </a:extLst>
          </p:cNvPr>
          <p:cNvSpPr/>
          <p:nvPr/>
        </p:nvSpPr>
        <p:spPr>
          <a:xfrm>
            <a:off x="5444042" y="3235072"/>
            <a:ext cx="331836" cy="132944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63" name="Rectangle 62">
            <a:extLst>
              <a:ext uri="{FF2B5EF4-FFF2-40B4-BE49-F238E27FC236}">
                <a16:creationId xmlns:a16="http://schemas.microsoft.com/office/drawing/2014/main" id="{6FF9D725-DB11-F915-1F68-7BABB6DA8515}"/>
              </a:ext>
            </a:extLst>
          </p:cNvPr>
          <p:cNvSpPr/>
          <p:nvPr/>
        </p:nvSpPr>
        <p:spPr>
          <a:xfrm>
            <a:off x="5932036" y="3322946"/>
            <a:ext cx="331836" cy="1241572"/>
          </a:xfrm>
          <a:prstGeom prst="rect">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24" name="Rectangle 1023">
            <a:extLst>
              <a:ext uri="{FF2B5EF4-FFF2-40B4-BE49-F238E27FC236}">
                <a16:creationId xmlns:a16="http://schemas.microsoft.com/office/drawing/2014/main" id="{A7737718-8C78-3AB2-205B-E80A5FEA8624}"/>
              </a:ext>
            </a:extLst>
          </p:cNvPr>
          <p:cNvSpPr/>
          <p:nvPr/>
        </p:nvSpPr>
        <p:spPr>
          <a:xfrm>
            <a:off x="6420030" y="3410820"/>
            <a:ext cx="331836" cy="115369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25" name="Rectangle 1024">
            <a:extLst>
              <a:ext uri="{FF2B5EF4-FFF2-40B4-BE49-F238E27FC236}">
                <a16:creationId xmlns:a16="http://schemas.microsoft.com/office/drawing/2014/main" id="{990583D9-DBAC-CCEA-B1A2-1B6CE25F10BD}"/>
              </a:ext>
            </a:extLst>
          </p:cNvPr>
          <p:cNvSpPr/>
          <p:nvPr/>
        </p:nvSpPr>
        <p:spPr>
          <a:xfrm>
            <a:off x="6908024" y="3498694"/>
            <a:ext cx="331836" cy="1065824"/>
          </a:xfrm>
          <a:prstGeom prst="rect">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26" name="Rectangle 1025">
            <a:extLst>
              <a:ext uri="{FF2B5EF4-FFF2-40B4-BE49-F238E27FC236}">
                <a16:creationId xmlns:a16="http://schemas.microsoft.com/office/drawing/2014/main" id="{80067441-6F71-A651-C1D6-BCBBFB47A253}"/>
              </a:ext>
            </a:extLst>
          </p:cNvPr>
          <p:cNvSpPr/>
          <p:nvPr/>
        </p:nvSpPr>
        <p:spPr>
          <a:xfrm>
            <a:off x="7396018" y="3586568"/>
            <a:ext cx="331836" cy="97795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27" name="Rectangle 1026">
            <a:extLst>
              <a:ext uri="{FF2B5EF4-FFF2-40B4-BE49-F238E27FC236}">
                <a16:creationId xmlns:a16="http://schemas.microsoft.com/office/drawing/2014/main" id="{AC6D51FD-AF9F-C131-DEEC-4A035EABA71E}"/>
              </a:ext>
            </a:extLst>
          </p:cNvPr>
          <p:cNvSpPr/>
          <p:nvPr/>
        </p:nvSpPr>
        <p:spPr>
          <a:xfrm>
            <a:off x="7884013" y="3674442"/>
            <a:ext cx="331836" cy="890076"/>
          </a:xfrm>
          <a:prstGeom prst="rect">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29" name="Rectangle 1028">
            <a:extLst>
              <a:ext uri="{FF2B5EF4-FFF2-40B4-BE49-F238E27FC236}">
                <a16:creationId xmlns:a16="http://schemas.microsoft.com/office/drawing/2014/main" id="{1335C92A-43FB-5B38-A724-016C55A1D322}"/>
              </a:ext>
            </a:extLst>
          </p:cNvPr>
          <p:cNvSpPr/>
          <p:nvPr/>
        </p:nvSpPr>
        <p:spPr>
          <a:xfrm>
            <a:off x="8372007" y="3762315"/>
            <a:ext cx="331836" cy="802203"/>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30" name="Rectangle 1029">
            <a:extLst>
              <a:ext uri="{FF2B5EF4-FFF2-40B4-BE49-F238E27FC236}">
                <a16:creationId xmlns:a16="http://schemas.microsoft.com/office/drawing/2014/main" id="{22BDF2CC-59F4-A1A2-B7E2-7B920707517F}"/>
              </a:ext>
            </a:extLst>
          </p:cNvPr>
          <p:cNvSpPr/>
          <p:nvPr/>
        </p:nvSpPr>
        <p:spPr>
          <a:xfrm>
            <a:off x="8860001" y="3850189"/>
            <a:ext cx="331836" cy="714329"/>
          </a:xfrm>
          <a:prstGeom prst="rect">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31" name="Rectangle 1030">
            <a:extLst>
              <a:ext uri="{FF2B5EF4-FFF2-40B4-BE49-F238E27FC236}">
                <a16:creationId xmlns:a16="http://schemas.microsoft.com/office/drawing/2014/main" id="{C5E58BFF-F40F-9503-CF13-C1E96AEA0ECD}"/>
              </a:ext>
            </a:extLst>
          </p:cNvPr>
          <p:cNvSpPr/>
          <p:nvPr/>
        </p:nvSpPr>
        <p:spPr>
          <a:xfrm>
            <a:off x="9347995" y="3938063"/>
            <a:ext cx="331836" cy="626455"/>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32" name="Rectangle 1031">
            <a:extLst>
              <a:ext uri="{FF2B5EF4-FFF2-40B4-BE49-F238E27FC236}">
                <a16:creationId xmlns:a16="http://schemas.microsoft.com/office/drawing/2014/main" id="{DFB9D5A8-2877-F771-A0B3-B5E40818984C}"/>
              </a:ext>
            </a:extLst>
          </p:cNvPr>
          <p:cNvSpPr/>
          <p:nvPr/>
        </p:nvSpPr>
        <p:spPr>
          <a:xfrm>
            <a:off x="9835989" y="4025937"/>
            <a:ext cx="331836" cy="538581"/>
          </a:xfrm>
          <a:prstGeom prst="rect">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33" name="Rectangle 1032">
            <a:extLst>
              <a:ext uri="{FF2B5EF4-FFF2-40B4-BE49-F238E27FC236}">
                <a16:creationId xmlns:a16="http://schemas.microsoft.com/office/drawing/2014/main" id="{356BF979-DB30-DAB3-6EC2-90794C3523BA}"/>
              </a:ext>
            </a:extLst>
          </p:cNvPr>
          <p:cNvSpPr/>
          <p:nvPr/>
        </p:nvSpPr>
        <p:spPr>
          <a:xfrm>
            <a:off x="10323983" y="4113811"/>
            <a:ext cx="331836" cy="450707"/>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34" name="Rectangle 1033">
            <a:extLst>
              <a:ext uri="{FF2B5EF4-FFF2-40B4-BE49-F238E27FC236}">
                <a16:creationId xmlns:a16="http://schemas.microsoft.com/office/drawing/2014/main" id="{1F614B25-26A2-6FEC-820E-6A87E5A5C211}"/>
              </a:ext>
            </a:extLst>
          </p:cNvPr>
          <p:cNvSpPr/>
          <p:nvPr/>
        </p:nvSpPr>
        <p:spPr>
          <a:xfrm>
            <a:off x="10811978" y="4201685"/>
            <a:ext cx="331836" cy="362833"/>
          </a:xfrm>
          <a:prstGeom prst="rect">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1035" name="Connector 38">
            <a:extLst>
              <a:ext uri="{FF2B5EF4-FFF2-40B4-BE49-F238E27FC236}">
                <a16:creationId xmlns:a16="http://schemas.microsoft.com/office/drawing/2014/main" id="{BB8F51B4-66F6-C082-1578-8DED3DD631C0}"/>
              </a:ext>
            </a:extLst>
          </p:cNvPr>
          <p:cNvCxnSpPr/>
          <p:nvPr/>
        </p:nvCxnSpPr>
        <p:spPr>
          <a:xfrm>
            <a:off x="4956047" y="4582807"/>
            <a:ext cx="6343925" cy="0"/>
          </a:xfrm>
          <a:prstGeom prst="line">
            <a:avLst/>
          </a:prstGeom>
          <a:ln w="12700">
            <a:solidFill>
              <a:srgbClr val="1B6360"/>
            </a:solidFill>
          </a:ln>
        </p:spPr>
        <p:style>
          <a:lnRef idx="2">
            <a:schemeClr val="accent1"/>
          </a:lnRef>
          <a:fillRef idx="0">
            <a:schemeClr val="accent1"/>
          </a:fillRef>
          <a:effectRef idx="1">
            <a:schemeClr val="accent1"/>
          </a:effectRef>
          <a:fontRef idx="minor">
            <a:schemeClr val="tx1"/>
          </a:fontRef>
        </p:style>
      </p:cxnSp>
      <p:sp>
        <p:nvSpPr>
          <p:cNvPr id="1037" name="TextBox 1036">
            <a:extLst>
              <a:ext uri="{FF2B5EF4-FFF2-40B4-BE49-F238E27FC236}">
                <a16:creationId xmlns:a16="http://schemas.microsoft.com/office/drawing/2014/main" id="{78036A79-C026-AC09-2CDA-E8E5414040A1}"/>
              </a:ext>
            </a:extLst>
          </p:cNvPr>
          <p:cNvSpPr txBox="1"/>
          <p:nvPr/>
        </p:nvSpPr>
        <p:spPr>
          <a:xfrm>
            <a:off x="4453127" y="4655959"/>
            <a:ext cx="7349764"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7FA5A3"/>
                </a:solidFill>
                <a:latin typeface="Calibri" panose="020F0502020204030204" pitchFamily="34" charset="0"/>
                <a:cs typeface="Calibri" panose="020F0502020204030204" pitchFamily="34" charset="0"/>
              </a:rPr>
              <a:t>mes 1  →  mes n</a:t>
            </a:r>
          </a:p>
        </p:txBody>
      </p:sp>
      <p:sp>
        <p:nvSpPr>
          <p:cNvPr id="1038" name="Rectangle 1037">
            <a:extLst>
              <a:ext uri="{FF2B5EF4-FFF2-40B4-BE49-F238E27FC236}">
                <a16:creationId xmlns:a16="http://schemas.microsoft.com/office/drawing/2014/main" id="{FC9C787C-A270-1A6B-FDEC-A16E1641DC04}"/>
              </a:ext>
            </a:extLst>
          </p:cNvPr>
          <p:cNvSpPr/>
          <p:nvPr/>
        </p:nvSpPr>
        <p:spPr>
          <a:xfrm>
            <a:off x="4956047" y="4893703"/>
            <a:ext cx="6343924" cy="31089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Itera la tasa hasta alcanzar el RAROC objetivo</a:t>
            </a:r>
          </a:p>
        </p:txBody>
      </p:sp>
      <p:cxnSp>
        <p:nvCxnSpPr>
          <p:cNvPr id="1039" name="Connector 41">
            <a:extLst>
              <a:ext uri="{FF2B5EF4-FFF2-40B4-BE49-F238E27FC236}">
                <a16:creationId xmlns:a16="http://schemas.microsoft.com/office/drawing/2014/main" id="{D7F22797-C8C4-13E2-4BD0-5AF62D7F8AE6}"/>
              </a:ext>
            </a:extLst>
          </p:cNvPr>
          <p:cNvCxnSpPr/>
          <p:nvPr/>
        </p:nvCxnSpPr>
        <p:spPr>
          <a:xfrm>
            <a:off x="11930908" y="3723271"/>
            <a:ext cx="329184"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0" name="Rounded Rectangle 1039">
            <a:extLst>
              <a:ext uri="{FF2B5EF4-FFF2-40B4-BE49-F238E27FC236}">
                <a16:creationId xmlns:a16="http://schemas.microsoft.com/office/drawing/2014/main" id="{8A18F2EE-9EE8-CC23-87F2-AA7B6A02E087}"/>
              </a:ext>
            </a:extLst>
          </p:cNvPr>
          <p:cNvSpPr/>
          <p:nvPr/>
        </p:nvSpPr>
        <p:spPr>
          <a:xfrm>
            <a:off x="12351532" y="2095639"/>
            <a:ext cx="3246120" cy="3246120"/>
          </a:xfrm>
          <a:prstGeom prst="roundRect">
            <a:avLst>
              <a:gd name="adj" fmla="val 1408"/>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41" name="Rounded Rectangle 1040">
            <a:extLst>
              <a:ext uri="{FF2B5EF4-FFF2-40B4-BE49-F238E27FC236}">
                <a16:creationId xmlns:a16="http://schemas.microsoft.com/office/drawing/2014/main" id="{7D85B107-6595-726E-C5B0-5D57841B7086}"/>
              </a:ext>
            </a:extLst>
          </p:cNvPr>
          <p:cNvSpPr/>
          <p:nvPr/>
        </p:nvSpPr>
        <p:spPr>
          <a:xfrm>
            <a:off x="12351532" y="2095639"/>
            <a:ext cx="3246120" cy="329184"/>
          </a:xfrm>
          <a:prstGeom prst="roundRect">
            <a:avLst>
              <a:gd name="adj" fmla="val 13888"/>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OUTPUT</a:t>
            </a:r>
          </a:p>
        </p:txBody>
      </p:sp>
      <p:sp>
        <p:nvSpPr>
          <p:cNvPr id="1042" name="Rectangle 1041">
            <a:extLst>
              <a:ext uri="{FF2B5EF4-FFF2-40B4-BE49-F238E27FC236}">
                <a16:creationId xmlns:a16="http://schemas.microsoft.com/office/drawing/2014/main" id="{48859AE0-B204-7799-7389-F996AF051681}"/>
              </a:ext>
            </a:extLst>
          </p:cNvPr>
          <p:cNvSpPr/>
          <p:nvPr/>
        </p:nvSpPr>
        <p:spPr>
          <a:xfrm>
            <a:off x="12351532" y="2369959"/>
            <a:ext cx="3246120" cy="548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43" name="Rectangle 1042">
            <a:extLst>
              <a:ext uri="{FF2B5EF4-FFF2-40B4-BE49-F238E27FC236}">
                <a16:creationId xmlns:a16="http://schemas.microsoft.com/office/drawing/2014/main" id="{4AB62BB7-031F-F13C-D334-B9BAA700CD08}"/>
              </a:ext>
            </a:extLst>
          </p:cNvPr>
          <p:cNvSpPr/>
          <p:nvPr/>
        </p:nvSpPr>
        <p:spPr>
          <a:xfrm>
            <a:off x="12534412" y="2607703"/>
            <a:ext cx="2880360" cy="100584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4800" b="1" i="0" noProof="0" dirty="0">
                <a:solidFill>
                  <a:srgbClr val="0C514E"/>
                </a:solidFill>
                <a:latin typeface="Calibri" panose="020F0502020204030204" pitchFamily="34" charset="0"/>
                <a:cs typeface="Calibri" panose="020F0502020204030204" pitchFamily="34" charset="0"/>
              </a:rPr>
              <a:t>TEA</a:t>
            </a:r>
          </a:p>
        </p:txBody>
      </p:sp>
      <p:sp>
        <p:nvSpPr>
          <p:cNvPr id="1044" name="TextBox 1043">
            <a:extLst>
              <a:ext uri="{FF2B5EF4-FFF2-40B4-BE49-F238E27FC236}">
                <a16:creationId xmlns:a16="http://schemas.microsoft.com/office/drawing/2014/main" id="{11F03445-0A3B-2C46-DA61-C7519F41BFA7}"/>
              </a:ext>
            </a:extLst>
          </p:cNvPr>
          <p:cNvSpPr txBox="1"/>
          <p:nvPr/>
        </p:nvSpPr>
        <p:spPr>
          <a:xfrm>
            <a:off x="12534412" y="3723271"/>
            <a:ext cx="2880360" cy="549702"/>
          </a:xfrm>
          <a:prstGeom prst="rect">
            <a:avLst/>
          </a:prstGeom>
          <a:noFill/>
        </p:spPr>
        <p:txBody>
          <a:bodyPr wrap="square" lIns="0" tIns="0" rIns="0" bIns="0" anchor="t">
            <a:spAutoFit/>
          </a:bodyPr>
          <a:lstStyle/>
          <a:p>
            <a:pPr algn="ctr">
              <a:lnSpc>
                <a:spcPct val="115000"/>
              </a:lnSpc>
            </a:pPr>
            <a:r>
              <a:rPr lang="es-ES_tradnl" sz="1600" b="1" i="0" noProof="0" dirty="0">
                <a:solidFill>
                  <a:srgbClr val="0B2E2C"/>
                </a:solidFill>
                <a:latin typeface="Calibri" panose="020F0502020204030204" pitchFamily="34" charset="0"/>
                <a:cs typeface="Calibri" panose="020F0502020204030204" pitchFamily="34" charset="0"/>
              </a:rPr>
              <a:t>Tasa alineada a la rentabilidad objetivo</a:t>
            </a:r>
          </a:p>
        </p:txBody>
      </p:sp>
      <p:cxnSp>
        <p:nvCxnSpPr>
          <p:cNvPr id="1046" name="Connector 47">
            <a:extLst>
              <a:ext uri="{FF2B5EF4-FFF2-40B4-BE49-F238E27FC236}">
                <a16:creationId xmlns:a16="http://schemas.microsoft.com/office/drawing/2014/main" id="{67E0D857-C1D6-F22C-6140-8DD3780E793E}"/>
              </a:ext>
            </a:extLst>
          </p:cNvPr>
          <p:cNvCxnSpPr/>
          <p:nvPr/>
        </p:nvCxnSpPr>
        <p:spPr>
          <a:xfrm>
            <a:off x="12854452" y="4253623"/>
            <a:ext cx="2240280"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047" name="TextBox 1046">
            <a:extLst>
              <a:ext uri="{FF2B5EF4-FFF2-40B4-BE49-F238E27FC236}">
                <a16:creationId xmlns:a16="http://schemas.microsoft.com/office/drawing/2014/main" id="{5574DE62-1A9D-A106-36CE-5B301589690E}"/>
              </a:ext>
            </a:extLst>
          </p:cNvPr>
          <p:cNvSpPr txBox="1"/>
          <p:nvPr/>
        </p:nvSpPr>
        <p:spPr>
          <a:xfrm>
            <a:off x="12534412" y="4399927"/>
            <a:ext cx="2880360" cy="639791"/>
          </a:xfrm>
          <a:prstGeom prst="rect">
            <a:avLst/>
          </a:prstGeom>
          <a:noFill/>
        </p:spPr>
        <p:txBody>
          <a:bodyPr wrap="square" lIns="0" tIns="0" rIns="0" bIns="0" anchor="t">
            <a:spAutoFit/>
          </a:bodyPr>
          <a:lstStyle/>
          <a:p>
            <a:pPr algn="ctr">
              <a:lnSpc>
                <a:spcPct val="118000"/>
              </a:lnSpc>
            </a:pPr>
            <a:r>
              <a:rPr lang="es-ES_tradnl" sz="1200" b="0" i="0" noProof="0" dirty="0">
                <a:solidFill>
                  <a:srgbClr val="6E7E7D"/>
                </a:solidFill>
                <a:latin typeface="Calibri" panose="020F0502020204030204" pitchFamily="34" charset="0"/>
                <a:cs typeface="Calibri" panose="020F0502020204030204" pitchFamily="34" charset="0"/>
              </a:rPr>
              <a:t>Es una tasa técnica: aún no incorpora sensibilidad al precio, competencia ni excepciones.</a:t>
            </a:r>
          </a:p>
        </p:txBody>
      </p:sp>
      <p:sp>
        <p:nvSpPr>
          <p:cNvPr id="1048" name="TextBox 1047">
            <a:extLst>
              <a:ext uri="{FF2B5EF4-FFF2-40B4-BE49-F238E27FC236}">
                <a16:creationId xmlns:a16="http://schemas.microsoft.com/office/drawing/2014/main" id="{17352FD9-CE6C-D30B-7F18-82C1B5FF1DB4}"/>
              </a:ext>
            </a:extLst>
          </p:cNvPr>
          <p:cNvSpPr txBox="1"/>
          <p:nvPr/>
        </p:nvSpPr>
        <p:spPr>
          <a:xfrm>
            <a:off x="658368" y="5707519"/>
            <a:ext cx="14939284"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Qué hace dinámica a la tasa frente al modelo actual</a:t>
            </a:r>
          </a:p>
        </p:txBody>
      </p:sp>
      <p:cxnSp>
        <p:nvCxnSpPr>
          <p:cNvPr id="1049" name="Connector 50">
            <a:extLst>
              <a:ext uri="{FF2B5EF4-FFF2-40B4-BE49-F238E27FC236}">
                <a16:creationId xmlns:a16="http://schemas.microsoft.com/office/drawing/2014/main" id="{42A65331-F8D6-6837-97AF-CB46A1995320}"/>
              </a:ext>
            </a:extLst>
          </p:cNvPr>
          <p:cNvCxnSpPr/>
          <p:nvPr/>
        </p:nvCxnSpPr>
        <p:spPr>
          <a:xfrm>
            <a:off x="658368" y="6000127"/>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050" name="Rectangle 1049">
            <a:extLst>
              <a:ext uri="{FF2B5EF4-FFF2-40B4-BE49-F238E27FC236}">
                <a16:creationId xmlns:a16="http://schemas.microsoft.com/office/drawing/2014/main" id="{F6318560-8B26-78A7-3CC7-A9BA30835890}"/>
              </a:ext>
            </a:extLst>
          </p:cNvPr>
          <p:cNvSpPr/>
          <p:nvPr/>
        </p:nvSpPr>
        <p:spPr>
          <a:xfrm>
            <a:off x="658368" y="6128143"/>
            <a:ext cx="2870813" cy="117043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51" name="Rectangle 1050">
            <a:extLst>
              <a:ext uri="{FF2B5EF4-FFF2-40B4-BE49-F238E27FC236}">
                <a16:creationId xmlns:a16="http://schemas.microsoft.com/office/drawing/2014/main" id="{F0725C9B-27DA-2809-B607-4A7D46B0D7F7}"/>
              </a:ext>
            </a:extLst>
          </p:cNvPr>
          <p:cNvSpPr/>
          <p:nvPr/>
        </p:nvSpPr>
        <p:spPr>
          <a:xfrm>
            <a:off x="658368" y="6128143"/>
            <a:ext cx="287081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52" name="TextBox 1051">
            <a:extLst>
              <a:ext uri="{FF2B5EF4-FFF2-40B4-BE49-F238E27FC236}">
                <a16:creationId xmlns:a16="http://schemas.microsoft.com/office/drawing/2014/main" id="{B89C604E-A131-F034-7869-CFC54AE39247}"/>
              </a:ext>
            </a:extLst>
          </p:cNvPr>
          <p:cNvSpPr txBox="1"/>
          <p:nvPr/>
        </p:nvSpPr>
        <p:spPr>
          <a:xfrm>
            <a:off x="822959" y="6274447"/>
            <a:ext cx="2541629" cy="215444"/>
          </a:xfrm>
          <a:prstGeom prst="rect">
            <a:avLst/>
          </a:prstGeom>
          <a:noFill/>
        </p:spPr>
        <p:txBody>
          <a:bodyPr wrap="square" lIns="0" tIns="0" rIns="0" bIns="0" anchor="t">
            <a:spAutoFit/>
          </a:bodyPr>
          <a:lstStyle/>
          <a:p>
            <a:pPr algn="l">
              <a:lnSpc>
                <a:spcPct val="100000"/>
              </a:lnSpc>
            </a:pPr>
            <a:r>
              <a:rPr lang="es-ES_tradnl" b="1" i="0" noProof="0" dirty="0">
                <a:solidFill>
                  <a:srgbClr val="0C514E"/>
                </a:solidFill>
                <a:latin typeface="Calibri" panose="020F0502020204030204" pitchFamily="34" charset="0"/>
                <a:cs typeface="Calibri" panose="020F0502020204030204" pitchFamily="34" charset="0"/>
              </a:rPr>
              <a:t>Riesgo </a:t>
            </a:r>
            <a:r>
              <a:rPr lang="es-ES_tradnl" b="1" i="0" noProof="0" dirty="0" err="1">
                <a:solidFill>
                  <a:srgbClr val="0C514E"/>
                </a:solidFill>
                <a:latin typeface="Calibri" panose="020F0502020204030204" pitchFamily="34" charset="0"/>
                <a:cs typeface="Calibri" panose="020F0502020204030204" pitchFamily="34" charset="0"/>
              </a:rPr>
              <a:t>lifetime</a:t>
            </a:r>
            <a:endParaRPr lang="es-ES_tradnl" b="1" i="0" noProof="0" dirty="0">
              <a:solidFill>
                <a:srgbClr val="0C514E"/>
              </a:solidFill>
              <a:latin typeface="Calibri" panose="020F0502020204030204" pitchFamily="34" charset="0"/>
              <a:cs typeface="Calibri" panose="020F0502020204030204" pitchFamily="34" charset="0"/>
            </a:endParaRPr>
          </a:p>
        </p:txBody>
      </p:sp>
      <p:sp>
        <p:nvSpPr>
          <p:cNvPr id="1053" name="TextBox 1052">
            <a:extLst>
              <a:ext uri="{FF2B5EF4-FFF2-40B4-BE49-F238E27FC236}">
                <a16:creationId xmlns:a16="http://schemas.microsoft.com/office/drawing/2014/main" id="{F1ED3DBD-8F71-5C48-2C18-C4750E80EDE9}"/>
              </a:ext>
            </a:extLst>
          </p:cNvPr>
          <p:cNvSpPr txBox="1"/>
          <p:nvPr/>
        </p:nvSpPr>
        <p:spPr>
          <a:xfrm>
            <a:off x="822959" y="6548767"/>
            <a:ext cx="2541629" cy="386773"/>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PD y LGD mes a mes, no un score único de </a:t>
            </a:r>
            <a:r>
              <a:rPr lang="es-ES_tradnl" sz="1100" b="0" i="0" noProof="0" dirty="0" err="1">
                <a:solidFill>
                  <a:srgbClr val="6E7E7D"/>
                </a:solidFill>
                <a:latin typeface="Calibri" panose="020F0502020204030204" pitchFamily="34" charset="0"/>
                <a:cs typeface="Calibri" panose="020F0502020204030204" pitchFamily="34" charset="0"/>
              </a:rPr>
              <a:t>originación</a:t>
            </a:r>
            <a:endParaRPr lang="es-ES_tradnl" sz="1100" b="0" i="0" noProof="0" dirty="0">
              <a:solidFill>
                <a:srgbClr val="6E7E7D"/>
              </a:solidFill>
              <a:latin typeface="Calibri" panose="020F0502020204030204" pitchFamily="34" charset="0"/>
              <a:cs typeface="Calibri" panose="020F0502020204030204" pitchFamily="34" charset="0"/>
            </a:endParaRPr>
          </a:p>
        </p:txBody>
      </p:sp>
      <p:sp>
        <p:nvSpPr>
          <p:cNvPr id="1054" name="Rectangle 1053">
            <a:extLst>
              <a:ext uri="{FF2B5EF4-FFF2-40B4-BE49-F238E27FC236}">
                <a16:creationId xmlns:a16="http://schemas.microsoft.com/office/drawing/2014/main" id="{27DF21C9-46D1-F855-2F1D-68E7FBC32C5D}"/>
              </a:ext>
            </a:extLst>
          </p:cNvPr>
          <p:cNvSpPr/>
          <p:nvPr/>
        </p:nvSpPr>
        <p:spPr>
          <a:xfrm>
            <a:off x="3675485" y="6128143"/>
            <a:ext cx="2870813" cy="117043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55" name="Rectangle 1054">
            <a:extLst>
              <a:ext uri="{FF2B5EF4-FFF2-40B4-BE49-F238E27FC236}">
                <a16:creationId xmlns:a16="http://schemas.microsoft.com/office/drawing/2014/main" id="{F41C781C-8407-DAC6-28D1-5716A6051A80}"/>
              </a:ext>
            </a:extLst>
          </p:cNvPr>
          <p:cNvSpPr/>
          <p:nvPr/>
        </p:nvSpPr>
        <p:spPr>
          <a:xfrm>
            <a:off x="3675485" y="6128143"/>
            <a:ext cx="287081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56" name="TextBox 1055">
            <a:extLst>
              <a:ext uri="{FF2B5EF4-FFF2-40B4-BE49-F238E27FC236}">
                <a16:creationId xmlns:a16="http://schemas.microsoft.com/office/drawing/2014/main" id="{563F84ED-4FA1-52A3-72CD-8DF126B51525}"/>
              </a:ext>
            </a:extLst>
          </p:cNvPr>
          <p:cNvSpPr txBox="1"/>
          <p:nvPr/>
        </p:nvSpPr>
        <p:spPr>
          <a:xfrm>
            <a:off x="3840077" y="6274447"/>
            <a:ext cx="2541629" cy="215444"/>
          </a:xfrm>
          <a:prstGeom prst="rect">
            <a:avLst/>
          </a:prstGeom>
          <a:noFill/>
        </p:spPr>
        <p:txBody>
          <a:bodyPr wrap="square" lIns="0" tIns="0" rIns="0" bIns="0" anchor="t">
            <a:spAutoFit/>
          </a:bodyPr>
          <a:lstStyle/>
          <a:p>
            <a:pPr algn="l">
              <a:lnSpc>
                <a:spcPct val="100000"/>
              </a:lnSpc>
            </a:pPr>
            <a:r>
              <a:rPr lang="es-ES_tradnl" b="1" i="0" noProof="0" dirty="0">
                <a:solidFill>
                  <a:srgbClr val="0C514E"/>
                </a:solidFill>
                <a:latin typeface="Calibri" panose="020F0502020204030204" pitchFamily="34" charset="0"/>
                <a:cs typeface="Calibri" panose="020F0502020204030204" pitchFamily="34" charset="0"/>
              </a:rPr>
              <a:t>Comportamiento</a:t>
            </a:r>
          </a:p>
        </p:txBody>
      </p:sp>
      <p:sp>
        <p:nvSpPr>
          <p:cNvPr id="1057" name="TextBox 1056">
            <a:extLst>
              <a:ext uri="{FF2B5EF4-FFF2-40B4-BE49-F238E27FC236}">
                <a16:creationId xmlns:a16="http://schemas.microsoft.com/office/drawing/2014/main" id="{4A5CC59B-40B6-8FC7-14B8-5C30D60307E8}"/>
              </a:ext>
            </a:extLst>
          </p:cNvPr>
          <p:cNvSpPr txBox="1"/>
          <p:nvPr/>
        </p:nvSpPr>
        <p:spPr>
          <a:xfrm>
            <a:off x="3840077" y="6548767"/>
            <a:ext cx="2541629" cy="386773"/>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Prepagos y </a:t>
            </a:r>
            <a:r>
              <a:rPr lang="es-ES_tradnl" sz="1100" b="0" i="0" noProof="0" dirty="0" err="1">
                <a:solidFill>
                  <a:srgbClr val="6E7E7D"/>
                </a:solidFill>
                <a:latin typeface="Calibri" panose="020F0502020204030204" pitchFamily="34" charset="0"/>
                <a:cs typeface="Calibri" panose="020F0502020204030204" pitchFamily="34" charset="0"/>
              </a:rPr>
              <a:t>precancelaciones</a:t>
            </a:r>
            <a:r>
              <a:rPr lang="es-ES_tradnl" sz="1100" b="0" i="0" noProof="0" dirty="0">
                <a:solidFill>
                  <a:srgbClr val="6E7E7D"/>
                </a:solidFill>
                <a:latin typeface="Calibri" panose="020F0502020204030204" pitchFamily="34" charset="0"/>
                <a:cs typeface="Calibri" panose="020F0502020204030204" pitchFamily="34" charset="0"/>
              </a:rPr>
              <a:t> alteran el flujo real</a:t>
            </a:r>
          </a:p>
        </p:txBody>
      </p:sp>
      <p:sp>
        <p:nvSpPr>
          <p:cNvPr id="1058" name="Rectangle 1057">
            <a:extLst>
              <a:ext uri="{FF2B5EF4-FFF2-40B4-BE49-F238E27FC236}">
                <a16:creationId xmlns:a16="http://schemas.microsoft.com/office/drawing/2014/main" id="{6E40CC1C-53C1-A759-1486-F310A5EA6111}"/>
              </a:ext>
            </a:extLst>
          </p:cNvPr>
          <p:cNvSpPr/>
          <p:nvPr/>
        </p:nvSpPr>
        <p:spPr>
          <a:xfrm>
            <a:off x="6692603" y="6128143"/>
            <a:ext cx="2870813" cy="117043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59" name="Rectangle 1058">
            <a:extLst>
              <a:ext uri="{FF2B5EF4-FFF2-40B4-BE49-F238E27FC236}">
                <a16:creationId xmlns:a16="http://schemas.microsoft.com/office/drawing/2014/main" id="{C914EEC1-93EC-2980-11EE-E0AF82D7387A}"/>
              </a:ext>
            </a:extLst>
          </p:cNvPr>
          <p:cNvSpPr/>
          <p:nvPr/>
        </p:nvSpPr>
        <p:spPr>
          <a:xfrm>
            <a:off x="6692603" y="6128143"/>
            <a:ext cx="287081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60" name="TextBox 1059">
            <a:extLst>
              <a:ext uri="{FF2B5EF4-FFF2-40B4-BE49-F238E27FC236}">
                <a16:creationId xmlns:a16="http://schemas.microsoft.com/office/drawing/2014/main" id="{6643966B-5951-DEFE-915C-8D183D1A79AC}"/>
              </a:ext>
            </a:extLst>
          </p:cNvPr>
          <p:cNvSpPr txBox="1"/>
          <p:nvPr/>
        </p:nvSpPr>
        <p:spPr>
          <a:xfrm>
            <a:off x="6857195" y="6274447"/>
            <a:ext cx="2541629" cy="215444"/>
          </a:xfrm>
          <a:prstGeom prst="rect">
            <a:avLst/>
          </a:prstGeom>
          <a:noFill/>
        </p:spPr>
        <p:txBody>
          <a:bodyPr wrap="square" lIns="0" tIns="0" rIns="0" bIns="0" anchor="t">
            <a:spAutoFit/>
          </a:bodyPr>
          <a:lstStyle/>
          <a:p>
            <a:pPr algn="l">
              <a:lnSpc>
                <a:spcPct val="100000"/>
              </a:lnSpc>
            </a:pPr>
            <a:r>
              <a:rPr lang="es-ES_tradnl" b="1" i="0" noProof="0" dirty="0">
                <a:solidFill>
                  <a:srgbClr val="0C514E"/>
                </a:solidFill>
                <a:latin typeface="Calibri" panose="020F0502020204030204" pitchFamily="34" charset="0"/>
                <a:cs typeface="Calibri" panose="020F0502020204030204" pitchFamily="34" charset="0"/>
              </a:rPr>
              <a:t>Costo real de fondeo</a:t>
            </a:r>
          </a:p>
        </p:txBody>
      </p:sp>
      <p:sp>
        <p:nvSpPr>
          <p:cNvPr id="1061" name="TextBox 1060">
            <a:extLst>
              <a:ext uri="{FF2B5EF4-FFF2-40B4-BE49-F238E27FC236}">
                <a16:creationId xmlns:a16="http://schemas.microsoft.com/office/drawing/2014/main" id="{0AE29D2D-ACDC-5996-93A4-5E433FE04A99}"/>
              </a:ext>
            </a:extLst>
          </p:cNvPr>
          <p:cNvSpPr txBox="1"/>
          <p:nvPr/>
        </p:nvSpPr>
        <p:spPr>
          <a:xfrm>
            <a:off x="6857195" y="6548767"/>
            <a:ext cx="2541629" cy="386773"/>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Curva de transferencia según </a:t>
            </a:r>
            <a:r>
              <a:rPr lang="es-ES_tradnl" sz="1100" b="0" i="0" noProof="0" dirty="0" err="1">
                <a:solidFill>
                  <a:srgbClr val="6E7E7D"/>
                </a:solidFill>
                <a:latin typeface="Calibri" panose="020F0502020204030204" pitchFamily="34" charset="0"/>
                <a:cs typeface="Calibri" panose="020F0502020204030204" pitchFamily="34" charset="0"/>
              </a:rPr>
              <a:t>duration</a:t>
            </a:r>
            <a:r>
              <a:rPr lang="es-ES_tradnl" sz="1100" b="0" i="0" noProof="0" dirty="0">
                <a:solidFill>
                  <a:srgbClr val="6E7E7D"/>
                </a:solidFill>
                <a:latin typeface="Calibri" panose="020F0502020204030204" pitchFamily="34" charset="0"/>
                <a:cs typeface="Calibri" panose="020F0502020204030204" pitchFamily="34" charset="0"/>
              </a:rPr>
              <a:t>, no un fijo</a:t>
            </a:r>
          </a:p>
        </p:txBody>
      </p:sp>
      <p:sp>
        <p:nvSpPr>
          <p:cNvPr id="1062" name="Rectangle 1061">
            <a:extLst>
              <a:ext uri="{FF2B5EF4-FFF2-40B4-BE49-F238E27FC236}">
                <a16:creationId xmlns:a16="http://schemas.microsoft.com/office/drawing/2014/main" id="{E6FCFBBF-811A-0E6F-6C3A-453B809F8645}"/>
              </a:ext>
            </a:extLst>
          </p:cNvPr>
          <p:cNvSpPr/>
          <p:nvPr/>
        </p:nvSpPr>
        <p:spPr>
          <a:xfrm>
            <a:off x="9709720" y="6128143"/>
            <a:ext cx="2870813" cy="117043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63" name="Rectangle 1062">
            <a:extLst>
              <a:ext uri="{FF2B5EF4-FFF2-40B4-BE49-F238E27FC236}">
                <a16:creationId xmlns:a16="http://schemas.microsoft.com/office/drawing/2014/main" id="{3879DBBC-83F1-955B-E849-44F46AEA70E3}"/>
              </a:ext>
            </a:extLst>
          </p:cNvPr>
          <p:cNvSpPr/>
          <p:nvPr/>
        </p:nvSpPr>
        <p:spPr>
          <a:xfrm>
            <a:off x="9709720" y="6128143"/>
            <a:ext cx="287081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64" name="TextBox 1063">
            <a:extLst>
              <a:ext uri="{FF2B5EF4-FFF2-40B4-BE49-F238E27FC236}">
                <a16:creationId xmlns:a16="http://schemas.microsoft.com/office/drawing/2014/main" id="{4866DB7B-B301-C16B-00B9-37330820ED58}"/>
              </a:ext>
            </a:extLst>
          </p:cNvPr>
          <p:cNvSpPr txBox="1"/>
          <p:nvPr/>
        </p:nvSpPr>
        <p:spPr>
          <a:xfrm>
            <a:off x="9874312" y="6274447"/>
            <a:ext cx="2541629" cy="215444"/>
          </a:xfrm>
          <a:prstGeom prst="rect">
            <a:avLst/>
          </a:prstGeom>
          <a:noFill/>
        </p:spPr>
        <p:txBody>
          <a:bodyPr wrap="square" lIns="0" tIns="0" rIns="0" bIns="0" anchor="t">
            <a:spAutoFit/>
          </a:bodyPr>
          <a:lstStyle/>
          <a:p>
            <a:pPr algn="l">
              <a:lnSpc>
                <a:spcPct val="100000"/>
              </a:lnSpc>
            </a:pPr>
            <a:r>
              <a:rPr lang="es-ES_tradnl" b="1" i="0" noProof="0" dirty="0">
                <a:solidFill>
                  <a:srgbClr val="0C514E"/>
                </a:solidFill>
                <a:latin typeface="Calibri" panose="020F0502020204030204" pitchFamily="34" charset="0"/>
                <a:cs typeface="Calibri" panose="020F0502020204030204" pitchFamily="34" charset="0"/>
              </a:rPr>
              <a:t>Costo operativo real</a:t>
            </a:r>
          </a:p>
        </p:txBody>
      </p:sp>
      <p:sp>
        <p:nvSpPr>
          <p:cNvPr id="1065" name="TextBox 1064">
            <a:extLst>
              <a:ext uri="{FF2B5EF4-FFF2-40B4-BE49-F238E27FC236}">
                <a16:creationId xmlns:a16="http://schemas.microsoft.com/office/drawing/2014/main" id="{3EED0927-65DB-9547-070D-0A4984F39D6F}"/>
              </a:ext>
            </a:extLst>
          </p:cNvPr>
          <p:cNvSpPr txBox="1"/>
          <p:nvPr/>
        </p:nvSpPr>
        <p:spPr>
          <a:xfrm>
            <a:off x="9874312" y="6548767"/>
            <a:ext cx="2541629" cy="386773"/>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Adquisición al desembolso + mantenimiento sobre saldo</a:t>
            </a:r>
          </a:p>
        </p:txBody>
      </p:sp>
      <p:sp>
        <p:nvSpPr>
          <p:cNvPr id="1066" name="Rectangle 1065">
            <a:extLst>
              <a:ext uri="{FF2B5EF4-FFF2-40B4-BE49-F238E27FC236}">
                <a16:creationId xmlns:a16="http://schemas.microsoft.com/office/drawing/2014/main" id="{3706E5A5-BC5C-D833-9128-AAFDA6BB961E}"/>
              </a:ext>
            </a:extLst>
          </p:cNvPr>
          <p:cNvSpPr/>
          <p:nvPr/>
        </p:nvSpPr>
        <p:spPr>
          <a:xfrm>
            <a:off x="12726838" y="6128143"/>
            <a:ext cx="2870813" cy="117043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67" name="Rectangle 1066">
            <a:extLst>
              <a:ext uri="{FF2B5EF4-FFF2-40B4-BE49-F238E27FC236}">
                <a16:creationId xmlns:a16="http://schemas.microsoft.com/office/drawing/2014/main" id="{DBB84BC3-A6BC-295E-4CBE-97C1C061EF7D}"/>
              </a:ext>
            </a:extLst>
          </p:cNvPr>
          <p:cNvSpPr/>
          <p:nvPr/>
        </p:nvSpPr>
        <p:spPr>
          <a:xfrm>
            <a:off x="12726838" y="6128143"/>
            <a:ext cx="287081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068" name="TextBox 1067">
            <a:extLst>
              <a:ext uri="{FF2B5EF4-FFF2-40B4-BE49-F238E27FC236}">
                <a16:creationId xmlns:a16="http://schemas.microsoft.com/office/drawing/2014/main" id="{4BAC9114-F2D0-D413-B5E1-6E58569B6231}"/>
              </a:ext>
            </a:extLst>
          </p:cNvPr>
          <p:cNvSpPr txBox="1"/>
          <p:nvPr/>
        </p:nvSpPr>
        <p:spPr>
          <a:xfrm>
            <a:off x="12891430" y="6274447"/>
            <a:ext cx="2541629" cy="215444"/>
          </a:xfrm>
          <a:prstGeom prst="rect">
            <a:avLst/>
          </a:prstGeom>
          <a:noFill/>
        </p:spPr>
        <p:txBody>
          <a:bodyPr wrap="square" lIns="0" tIns="0" rIns="0" bIns="0" anchor="t">
            <a:spAutoFit/>
          </a:bodyPr>
          <a:lstStyle/>
          <a:p>
            <a:pPr algn="l">
              <a:lnSpc>
                <a:spcPct val="100000"/>
              </a:lnSpc>
            </a:pPr>
            <a:r>
              <a:rPr lang="es-ES_tradnl" b="1" i="0" noProof="0" dirty="0">
                <a:solidFill>
                  <a:srgbClr val="0C514E"/>
                </a:solidFill>
                <a:latin typeface="Calibri" panose="020F0502020204030204" pitchFamily="34" charset="0"/>
                <a:cs typeface="Calibri" panose="020F0502020204030204" pitchFamily="34" charset="0"/>
              </a:rPr>
              <a:t>Capital</a:t>
            </a:r>
          </a:p>
        </p:txBody>
      </p:sp>
      <p:sp>
        <p:nvSpPr>
          <p:cNvPr id="1069" name="TextBox 1068">
            <a:extLst>
              <a:ext uri="{FF2B5EF4-FFF2-40B4-BE49-F238E27FC236}">
                <a16:creationId xmlns:a16="http://schemas.microsoft.com/office/drawing/2014/main" id="{2F696FB7-EB02-3763-C6ED-4E449A091C5B}"/>
              </a:ext>
            </a:extLst>
          </p:cNvPr>
          <p:cNvSpPr txBox="1"/>
          <p:nvPr/>
        </p:nvSpPr>
        <p:spPr>
          <a:xfrm>
            <a:off x="12891430" y="6548767"/>
            <a:ext cx="2541629" cy="386773"/>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RAROC y beneficio de capital según apetito del banco</a:t>
            </a:r>
          </a:p>
        </p:txBody>
      </p:sp>
      <p:sp>
        <p:nvSpPr>
          <p:cNvPr id="1070" name="Rectangle 1069">
            <a:extLst>
              <a:ext uri="{FF2B5EF4-FFF2-40B4-BE49-F238E27FC236}">
                <a16:creationId xmlns:a16="http://schemas.microsoft.com/office/drawing/2014/main" id="{2177DD9C-DC83-4E6D-2326-8F9CAED520D7}"/>
              </a:ext>
            </a:extLst>
          </p:cNvPr>
          <p:cNvSpPr/>
          <p:nvPr/>
        </p:nvSpPr>
        <p:spPr>
          <a:xfrm>
            <a:off x="649214" y="7764918"/>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1071" name="Connector 72">
            <a:extLst>
              <a:ext uri="{FF2B5EF4-FFF2-40B4-BE49-F238E27FC236}">
                <a16:creationId xmlns:a16="http://schemas.microsoft.com/office/drawing/2014/main" id="{1A024E4C-2C9D-4578-ADAE-058C81A13CED}"/>
              </a:ext>
            </a:extLst>
          </p:cNvPr>
          <p:cNvCxnSpPr/>
          <p:nvPr/>
        </p:nvCxnSpPr>
        <p:spPr>
          <a:xfrm>
            <a:off x="649214" y="7764918"/>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072" name="TextBox 1071">
            <a:extLst>
              <a:ext uri="{FF2B5EF4-FFF2-40B4-BE49-F238E27FC236}">
                <a16:creationId xmlns:a16="http://schemas.microsoft.com/office/drawing/2014/main" id="{28E9C583-3881-A380-1E88-98446EC6B374}"/>
              </a:ext>
            </a:extLst>
          </p:cNvPr>
          <p:cNvSpPr txBox="1"/>
          <p:nvPr/>
        </p:nvSpPr>
        <p:spPr>
          <a:xfrm>
            <a:off x="886958" y="7931812"/>
            <a:ext cx="14482084" cy="233141"/>
          </a:xfrm>
          <a:prstGeom prst="rect">
            <a:avLst/>
          </a:prstGeom>
          <a:noFill/>
        </p:spPr>
        <p:txBody>
          <a:bodyPr wrap="square" lIns="0" tIns="0" rIns="0" bIns="0" anchor="ctr">
            <a:spAutoFit/>
          </a:bodyPr>
          <a:lstStyle/>
          <a:p>
            <a:pPr algn="l">
              <a:lnSpc>
                <a:spcPct val="115000"/>
              </a:lnSpc>
              <a:spcAft>
                <a:spcPts val="400"/>
              </a:spcAft>
            </a:pPr>
            <a:r>
              <a:rPr lang="es-ES_tradnl" b="1" i="0" noProof="0" dirty="0">
                <a:solidFill>
                  <a:srgbClr val="0C514E"/>
                </a:solidFill>
                <a:latin typeface="Calibri" panose="020F0502020204030204" pitchFamily="34" charset="0"/>
                <a:cs typeface="Calibri" panose="020F0502020204030204" pitchFamily="34" charset="0"/>
              </a:rPr>
              <a:t>El CLV entrega la tasa técnica; las componentes 01, 03 y 04 la convierten en la tasa que efectivamente se ofrece al cliente.</a:t>
            </a:r>
          </a:p>
        </p:txBody>
      </p:sp>
    </p:spTree>
    <p:extLst>
      <p:ext uri="{BB962C8B-B14F-4D97-AF65-F5344CB8AC3E}">
        <p14:creationId xmlns:p14="http://schemas.microsoft.com/office/powerpoint/2010/main" val="1159922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581955-16F7-6CA0-A1DD-08E1E825BA6A}"/>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56075962-60C6-91E5-D994-18276125843E}"/>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fontScale="85000" lnSpcReduction="10000"/>
          </a:bodyPr>
          <a:lstStyle/>
          <a:p>
            <a:pPr defTabSz="1625519">
              <a:buSzPts val="4400"/>
              <a:defRPr/>
            </a:pPr>
            <a:r>
              <a:rPr lang="es-ES_tradnl" sz="3200" b="1" kern="1200" noProof="0" dirty="0">
                <a:solidFill>
                  <a:srgbClr val="13807B"/>
                </a:solidFill>
                <a:latin typeface="Poppins"/>
                <a:ea typeface="Poppins"/>
                <a:cs typeface="Poppins"/>
                <a:sym typeface="Poppins"/>
              </a:rPr>
              <a:t>Cuatro curvas describen cómo evolucionan riesgo y comportamiento del cliente, y juntas determinan pérdida, capital y flujo real</a:t>
            </a:r>
          </a:p>
        </p:txBody>
      </p:sp>
      <p:sp>
        <p:nvSpPr>
          <p:cNvPr id="7" name="TextBox 6">
            <a:extLst>
              <a:ext uri="{FF2B5EF4-FFF2-40B4-BE49-F238E27FC236}">
                <a16:creationId xmlns:a16="http://schemas.microsoft.com/office/drawing/2014/main" id="{06697488-03DB-28AE-5027-BAAE67185A76}"/>
              </a:ext>
            </a:extLst>
          </p:cNvPr>
          <p:cNvSpPr txBox="1"/>
          <p:nvPr/>
        </p:nvSpPr>
        <p:spPr>
          <a:xfrm>
            <a:off x="14683252" y="8686800"/>
            <a:ext cx="914400" cy="237744"/>
          </a:xfrm>
          <a:prstGeom prst="rect">
            <a:avLst/>
          </a:prstGeom>
          <a:noFill/>
        </p:spPr>
        <p:txBody>
          <a:bodyPr wrap="square" lIns="0" tIns="0" rIns="0" bIns="0" anchor="t">
            <a:spAutoFit/>
          </a:bodyPr>
          <a:lstStyle/>
          <a:p>
            <a:pPr algn="r">
              <a:lnSpc>
                <a:spcPct val="100000"/>
              </a:lnSpc>
            </a:pPr>
            <a:r>
              <a:rPr lang="es-ES_tradnl" sz="900" b="0" i="0" noProof="0" dirty="0">
                <a:solidFill>
                  <a:srgbClr val="9AA8A7"/>
                </a:solidFill>
                <a:latin typeface="Arial"/>
              </a:rPr>
              <a:t>6</a:t>
            </a:r>
          </a:p>
        </p:txBody>
      </p:sp>
      <p:sp>
        <p:nvSpPr>
          <p:cNvPr id="8" name="Rectangle 7">
            <a:extLst>
              <a:ext uri="{FF2B5EF4-FFF2-40B4-BE49-F238E27FC236}">
                <a16:creationId xmlns:a16="http://schemas.microsoft.com/office/drawing/2014/main" id="{94462916-80DB-88DC-C032-3099E396FF66}"/>
              </a:ext>
            </a:extLst>
          </p:cNvPr>
          <p:cNvSpPr/>
          <p:nvPr/>
        </p:nvSpPr>
        <p:spPr>
          <a:xfrm>
            <a:off x="658368" y="1484198"/>
            <a:ext cx="14939284" cy="51206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9" name="Connector 7">
            <a:extLst>
              <a:ext uri="{FF2B5EF4-FFF2-40B4-BE49-F238E27FC236}">
                <a16:creationId xmlns:a16="http://schemas.microsoft.com/office/drawing/2014/main" id="{10F594BB-68E4-395D-A4B1-FBF525C7D411}"/>
              </a:ext>
            </a:extLst>
          </p:cNvPr>
          <p:cNvCxnSpPr/>
          <p:nvPr/>
        </p:nvCxnSpPr>
        <p:spPr>
          <a:xfrm>
            <a:off x="658368" y="1484198"/>
            <a:ext cx="0" cy="512064"/>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97E14A0-96D5-7356-C824-167322A16D76}"/>
              </a:ext>
            </a:extLst>
          </p:cNvPr>
          <p:cNvSpPr txBox="1"/>
          <p:nvPr/>
        </p:nvSpPr>
        <p:spPr>
          <a:xfrm>
            <a:off x="822959" y="1508888"/>
            <a:ext cx="14610100" cy="462691"/>
          </a:xfrm>
          <a:prstGeom prst="rect">
            <a:avLst/>
          </a:prstGeom>
          <a:noFill/>
        </p:spPr>
        <p:txBody>
          <a:bodyPr wrap="square" lIns="0" tIns="0" rIns="0" bIns="0" anchor="ctr">
            <a:spAutoFit/>
          </a:bodyPr>
          <a:lstStyle/>
          <a:p>
            <a:pPr algn="l">
              <a:lnSpc>
                <a:spcPct val="112000"/>
              </a:lnSpc>
              <a:spcAft>
                <a:spcPts val="200"/>
              </a:spcAft>
            </a:pPr>
            <a:r>
              <a:rPr lang="es-ES_tradnl" b="1" i="0" noProof="0" dirty="0">
                <a:solidFill>
                  <a:srgbClr val="13807B"/>
                </a:solidFill>
                <a:latin typeface="Calibri" panose="020F0502020204030204" pitchFamily="34" charset="0"/>
                <a:cs typeface="Calibri" panose="020F0502020204030204" pitchFamily="34" charset="0"/>
              </a:rPr>
              <a:t>Nuestro objetivo</a:t>
            </a:r>
          </a:p>
          <a:p>
            <a:pPr algn="l">
              <a:lnSpc>
                <a:spcPct val="112000"/>
              </a:lnSpc>
              <a:spcAft>
                <a:spcPts val="200"/>
              </a:spcAft>
            </a:pPr>
            <a:r>
              <a:rPr lang="es-ES_tradnl" sz="1200" b="0" i="0" noProof="0" dirty="0">
                <a:solidFill>
                  <a:srgbClr val="3E5553"/>
                </a:solidFill>
                <a:latin typeface="Calibri" panose="020F0502020204030204" pitchFamily="34" charset="0"/>
                <a:cs typeface="Calibri" panose="020F0502020204030204" pitchFamily="34" charset="0"/>
              </a:rPr>
              <a:t>Cubrir gastos operativos, costo de fondeo y </a:t>
            </a:r>
            <a:r>
              <a:rPr lang="es-ES_tradnl" sz="1200" b="0" i="0" noProof="0" dirty="0" err="1">
                <a:solidFill>
                  <a:srgbClr val="3E5553"/>
                </a:solidFill>
                <a:latin typeface="Calibri" panose="020F0502020204030204" pitchFamily="34" charset="0"/>
                <a:cs typeface="Calibri" panose="020F0502020204030204" pitchFamily="34" charset="0"/>
              </a:rPr>
              <a:t>loss</a:t>
            </a:r>
            <a:r>
              <a:rPr lang="es-ES_tradnl" sz="1200" b="0" i="0" noProof="0" dirty="0">
                <a:solidFill>
                  <a:srgbClr val="3E5553"/>
                </a:solidFill>
                <a:latin typeface="Calibri" panose="020F0502020204030204" pitchFamily="34" charset="0"/>
                <a:cs typeface="Calibri" panose="020F0502020204030204" pitchFamily="34" charset="0"/>
              </a:rPr>
              <a:t> </a:t>
            </a:r>
            <a:r>
              <a:rPr lang="es-ES_tradnl" sz="1200" b="0" i="0" noProof="0" dirty="0" err="1">
                <a:solidFill>
                  <a:srgbClr val="3E5553"/>
                </a:solidFill>
                <a:latin typeface="Calibri" panose="020F0502020204030204" pitchFamily="34" charset="0"/>
                <a:cs typeface="Calibri" panose="020F0502020204030204" pitchFamily="34" charset="0"/>
              </a:rPr>
              <a:t>absorption</a:t>
            </a:r>
            <a:r>
              <a:rPr lang="es-ES_tradnl" sz="1200" b="0" i="0" noProof="0" dirty="0">
                <a:solidFill>
                  <a:srgbClr val="3E5553"/>
                </a:solidFill>
                <a:latin typeface="Calibri" panose="020F0502020204030204" pitchFamily="34" charset="0"/>
                <a:cs typeface="Calibri" panose="020F0502020204030204" pitchFamily="34" charset="0"/>
              </a:rPr>
              <a:t>, previendo que no todos los créditos llegarán vivos al final del plazo.</a:t>
            </a:r>
          </a:p>
        </p:txBody>
      </p:sp>
      <p:sp>
        <p:nvSpPr>
          <p:cNvPr id="11" name="Rectangle 10">
            <a:extLst>
              <a:ext uri="{FF2B5EF4-FFF2-40B4-BE49-F238E27FC236}">
                <a16:creationId xmlns:a16="http://schemas.microsoft.com/office/drawing/2014/main" id="{93779B8D-195D-7D8A-153F-86909FA1E4C0}"/>
              </a:ext>
            </a:extLst>
          </p:cNvPr>
          <p:cNvSpPr/>
          <p:nvPr/>
        </p:nvSpPr>
        <p:spPr>
          <a:xfrm>
            <a:off x="658368" y="2322576"/>
            <a:ext cx="3597661" cy="2962346"/>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9FE016A5-6BF3-70CD-5B48-4B109CCC3EDF}"/>
              </a:ext>
            </a:extLst>
          </p:cNvPr>
          <p:cNvSpPr/>
          <p:nvPr/>
        </p:nvSpPr>
        <p:spPr>
          <a:xfrm>
            <a:off x="658368" y="2322576"/>
            <a:ext cx="3597661"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427B1381-A7C9-DEBD-7CF6-4EF8FD201B0F}"/>
              </a:ext>
            </a:extLst>
          </p:cNvPr>
          <p:cNvSpPr txBox="1"/>
          <p:nvPr/>
        </p:nvSpPr>
        <p:spPr>
          <a:xfrm>
            <a:off x="841247" y="2433740"/>
            <a:ext cx="457200"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13807B"/>
                </a:solidFill>
                <a:latin typeface="Calibri" panose="020F0502020204030204" pitchFamily="34" charset="0"/>
                <a:cs typeface="Calibri" panose="020F0502020204030204" pitchFamily="34" charset="0"/>
              </a:rPr>
              <a:t>01</a:t>
            </a:r>
          </a:p>
        </p:txBody>
      </p:sp>
      <p:sp>
        <p:nvSpPr>
          <p:cNvPr id="14" name="TextBox 13">
            <a:extLst>
              <a:ext uri="{FF2B5EF4-FFF2-40B4-BE49-F238E27FC236}">
                <a16:creationId xmlns:a16="http://schemas.microsoft.com/office/drawing/2014/main" id="{03B6D86F-81A3-B6BD-5FB7-27C82700049A}"/>
              </a:ext>
            </a:extLst>
          </p:cNvPr>
          <p:cNvSpPr txBox="1"/>
          <p:nvPr/>
        </p:nvSpPr>
        <p:spPr>
          <a:xfrm>
            <a:off x="1280160" y="2433740"/>
            <a:ext cx="2792989"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PD </a:t>
            </a:r>
            <a:r>
              <a:rPr lang="es-ES_tradnl" sz="1800" b="1" i="0" noProof="0" dirty="0" err="1">
                <a:solidFill>
                  <a:srgbClr val="0B2E2C"/>
                </a:solidFill>
                <a:latin typeface="Calibri" panose="020F0502020204030204" pitchFamily="34" charset="0"/>
                <a:cs typeface="Calibri" panose="020F0502020204030204" pitchFamily="34" charset="0"/>
              </a:rPr>
              <a:t>Lifetime</a:t>
            </a:r>
            <a:endParaRPr lang="es-ES_tradnl" sz="1800" b="1" i="0" noProof="0" dirty="0">
              <a:solidFill>
                <a:srgbClr val="0B2E2C"/>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3FBADCC3-1A5E-95D6-033C-C5A765B32910}"/>
              </a:ext>
            </a:extLst>
          </p:cNvPr>
          <p:cNvSpPr txBox="1"/>
          <p:nvPr/>
        </p:nvSpPr>
        <p:spPr>
          <a:xfrm>
            <a:off x="1280160" y="2743200"/>
            <a:ext cx="2792989"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Probabilidad de Default</a:t>
            </a:r>
          </a:p>
        </p:txBody>
      </p:sp>
      <p:sp>
        <p:nvSpPr>
          <p:cNvPr id="16" name="Rectangle 15">
            <a:extLst>
              <a:ext uri="{FF2B5EF4-FFF2-40B4-BE49-F238E27FC236}">
                <a16:creationId xmlns:a16="http://schemas.microsoft.com/office/drawing/2014/main" id="{A4234C53-F889-75C1-D240-D89A5CD6585B}"/>
              </a:ext>
            </a:extLst>
          </p:cNvPr>
          <p:cNvSpPr/>
          <p:nvPr/>
        </p:nvSpPr>
        <p:spPr>
          <a:xfrm>
            <a:off x="877824" y="3035808"/>
            <a:ext cx="3158749" cy="960120"/>
          </a:xfrm>
          <a:prstGeom prst="rect">
            <a:avLst/>
          </a:prstGeom>
          <a:solidFill>
            <a:srgbClr val="FAFB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17" name="Connector 15">
            <a:extLst>
              <a:ext uri="{FF2B5EF4-FFF2-40B4-BE49-F238E27FC236}">
                <a16:creationId xmlns:a16="http://schemas.microsoft.com/office/drawing/2014/main" id="{8B7AF157-C4EC-6431-F252-CDE18FCDFCE2}"/>
              </a:ext>
            </a:extLst>
          </p:cNvPr>
          <p:cNvCxnSpPr/>
          <p:nvPr/>
        </p:nvCxnSpPr>
        <p:spPr>
          <a:xfrm flipV="1">
            <a:off x="969264" y="3889795"/>
            <a:ext cx="247989" cy="14693"/>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18" name="Connector 16">
            <a:extLst>
              <a:ext uri="{FF2B5EF4-FFF2-40B4-BE49-F238E27FC236}">
                <a16:creationId xmlns:a16="http://schemas.microsoft.com/office/drawing/2014/main" id="{48B145F6-F5BD-C5EE-650F-75CE58335100}"/>
              </a:ext>
            </a:extLst>
          </p:cNvPr>
          <p:cNvCxnSpPr/>
          <p:nvPr/>
        </p:nvCxnSpPr>
        <p:spPr>
          <a:xfrm flipV="1">
            <a:off x="1217253" y="3860440"/>
            <a:ext cx="247989" cy="29355"/>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19" name="Connector 17">
            <a:extLst>
              <a:ext uri="{FF2B5EF4-FFF2-40B4-BE49-F238E27FC236}">
                <a16:creationId xmlns:a16="http://schemas.microsoft.com/office/drawing/2014/main" id="{205A71FD-D8F0-ADC5-6978-DCDC1E21AA2F}"/>
              </a:ext>
            </a:extLst>
          </p:cNvPr>
          <p:cNvCxnSpPr/>
          <p:nvPr/>
        </p:nvCxnSpPr>
        <p:spPr>
          <a:xfrm flipV="1">
            <a:off x="1465242" y="3805145"/>
            <a:ext cx="247989" cy="55295"/>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0" name="Connector 18">
            <a:extLst>
              <a:ext uri="{FF2B5EF4-FFF2-40B4-BE49-F238E27FC236}">
                <a16:creationId xmlns:a16="http://schemas.microsoft.com/office/drawing/2014/main" id="{B6C686AE-3B03-D830-1D81-82CA2C771638}"/>
              </a:ext>
            </a:extLst>
          </p:cNvPr>
          <p:cNvCxnSpPr/>
          <p:nvPr/>
        </p:nvCxnSpPr>
        <p:spPr>
          <a:xfrm flipV="1">
            <a:off x="1713231" y="3711659"/>
            <a:ext cx="247989" cy="93486"/>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1" name="Connector 19">
            <a:extLst>
              <a:ext uri="{FF2B5EF4-FFF2-40B4-BE49-F238E27FC236}">
                <a16:creationId xmlns:a16="http://schemas.microsoft.com/office/drawing/2014/main" id="{43989265-DA93-B95B-3A5F-96A1682BDC9B}"/>
              </a:ext>
            </a:extLst>
          </p:cNvPr>
          <p:cNvCxnSpPr/>
          <p:nvPr/>
        </p:nvCxnSpPr>
        <p:spPr>
          <a:xfrm flipV="1">
            <a:off x="1961220" y="3579178"/>
            <a:ext cx="247989" cy="132481"/>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2" name="Connector 20">
            <a:extLst>
              <a:ext uri="{FF2B5EF4-FFF2-40B4-BE49-F238E27FC236}">
                <a16:creationId xmlns:a16="http://schemas.microsoft.com/office/drawing/2014/main" id="{8348F0FA-3C26-C455-111D-86874E4901D5}"/>
              </a:ext>
            </a:extLst>
          </p:cNvPr>
          <p:cNvCxnSpPr/>
          <p:nvPr/>
        </p:nvCxnSpPr>
        <p:spPr>
          <a:xfrm flipV="1">
            <a:off x="2209209" y="3431764"/>
            <a:ext cx="247989" cy="147414"/>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3" name="Connector 21">
            <a:extLst>
              <a:ext uri="{FF2B5EF4-FFF2-40B4-BE49-F238E27FC236}">
                <a16:creationId xmlns:a16="http://schemas.microsoft.com/office/drawing/2014/main" id="{5CAC0C76-D485-0417-1E3E-CED3B519A5DF}"/>
              </a:ext>
            </a:extLst>
          </p:cNvPr>
          <p:cNvCxnSpPr/>
          <p:nvPr/>
        </p:nvCxnSpPr>
        <p:spPr>
          <a:xfrm flipV="1">
            <a:off x="2457198" y="3306011"/>
            <a:ext cx="247989" cy="125753"/>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4" name="Connector 22">
            <a:extLst>
              <a:ext uri="{FF2B5EF4-FFF2-40B4-BE49-F238E27FC236}">
                <a16:creationId xmlns:a16="http://schemas.microsoft.com/office/drawing/2014/main" id="{095B6C4F-CD61-6AE1-2D98-DCA123107174}"/>
              </a:ext>
            </a:extLst>
          </p:cNvPr>
          <p:cNvCxnSpPr/>
          <p:nvPr/>
        </p:nvCxnSpPr>
        <p:spPr>
          <a:xfrm flipV="1">
            <a:off x="2705187" y="3220850"/>
            <a:ext cx="247989" cy="85161"/>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5" name="Connector 23">
            <a:extLst>
              <a:ext uri="{FF2B5EF4-FFF2-40B4-BE49-F238E27FC236}">
                <a16:creationId xmlns:a16="http://schemas.microsoft.com/office/drawing/2014/main" id="{064C72F5-CAE3-8B3C-3A61-04733963318D}"/>
              </a:ext>
            </a:extLst>
          </p:cNvPr>
          <p:cNvCxnSpPr/>
          <p:nvPr/>
        </p:nvCxnSpPr>
        <p:spPr>
          <a:xfrm flipV="1">
            <a:off x="2953176" y="3171802"/>
            <a:ext cx="247989" cy="49048"/>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6" name="Connector 24">
            <a:extLst>
              <a:ext uri="{FF2B5EF4-FFF2-40B4-BE49-F238E27FC236}">
                <a16:creationId xmlns:a16="http://schemas.microsoft.com/office/drawing/2014/main" id="{72249A6E-7C01-14D3-6F09-B0E272B63C63}"/>
              </a:ext>
            </a:extLst>
          </p:cNvPr>
          <p:cNvCxnSpPr/>
          <p:nvPr/>
        </p:nvCxnSpPr>
        <p:spPr>
          <a:xfrm flipV="1">
            <a:off x="3201165" y="3146152"/>
            <a:ext cx="247989" cy="25650"/>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7" name="Connector 25">
            <a:extLst>
              <a:ext uri="{FF2B5EF4-FFF2-40B4-BE49-F238E27FC236}">
                <a16:creationId xmlns:a16="http://schemas.microsoft.com/office/drawing/2014/main" id="{4833EE65-2965-EEC5-2B66-51AB16A2C477}"/>
              </a:ext>
            </a:extLst>
          </p:cNvPr>
          <p:cNvCxnSpPr/>
          <p:nvPr/>
        </p:nvCxnSpPr>
        <p:spPr>
          <a:xfrm flipV="1">
            <a:off x="3449154" y="3133413"/>
            <a:ext cx="247989" cy="12739"/>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28" name="Connector 26">
            <a:extLst>
              <a:ext uri="{FF2B5EF4-FFF2-40B4-BE49-F238E27FC236}">
                <a16:creationId xmlns:a16="http://schemas.microsoft.com/office/drawing/2014/main" id="{0BA19308-81A1-2A8E-A7F6-B9E2C2952F30}"/>
              </a:ext>
            </a:extLst>
          </p:cNvPr>
          <p:cNvCxnSpPr/>
          <p:nvPr/>
        </p:nvCxnSpPr>
        <p:spPr>
          <a:xfrm flipV="1">
            <a:off x="3697143" y="3127248"/>
            <a:ext cx="247990" cy="6165"/>
          </a:xfrm>
          <a:prstGeom prst="line">
            <a:avLst/>
          </a:prstGeom>
          <a:ln w="22225">
            <a:solidFill>
              <a:srgbClr val="13807B"/>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D6707108-FBE2-6C54-A22B-A3430775EBD5}"/>
              </a:ext>
            </a:extLst>
          </p:cNvPr>
          <p:cNvSpPr/>
          <p:nvPr/>
        </p:nvSpPr>
        <p:spPr>
          <a:xfrm>
            <a:off x="937260" y="3872484"/>
            <a:ext cx="64008" cy="6400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id="{DB9218DE-53C9-412A-11F5-6F7297E21894}"/>
              </a:ext>
            </a:extLst>
          </p:cNvPr>
          <p:cNvSpPr/>
          <p:nvPr/>
        </p:nvSpPr>
        <p:spPr>
          <a:xfrm>
            <a:off x="1681227" y="3773141"/>
            <a:ext cx="64008" cy="6400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31" name="Oval 30">
            <a:extLst>
              <a:ext uri="{FF2B5EF4-FFF2-40B4-BE49-F238E27FC236}">
                <a16:creationId xmlns:a16="http://schemas.microsoft.com/office/drawing/2014/main" id="{4DFD53F6-2FAB-22E9-62E3-C06510BBAEDF}"/>
              </a:ext>
            </a:extLst>
          </p:cNvPr>
          <p:cNvSpPr/>
          <p:nvPr/>
        </p:nvSpPr>
        <p:spPr>
          <a:xfrm>
            <a:off x="2425194" y="3399760"/>
            <a:ext cx="64008" cy="6400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32" name="Oval 31">
            <a:extLst>
              <a:ext uri="{FF2B5EF4-FFF2-40B4-BE49-F238E27FC236}">
                <a16:creationId xmlns:a16="http://schemas.microsoft.com/office/drawing/2014/main" id="{77ADD63D-B79B-E795-E6B9-26634B6D73AA}"/>
              </a:ext>
            </a:extLst>
          </p:cNvPr>
          <p:cNvSpPr/>
          <p:nvPr/>
        </p:nvSpPr>
        <p:spPr>
          <a:xfrm>
            <a:off x="3169161" y="3139798"/>
            <a:ext cx="64008" cy="6400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29EAC0DA-9EE9-4ED5-BCDF-DA9B963F81C4}"/>
              </a:ext>
            </a:extLst>
          </p:cNvPr>
          <p:cNvSpPr/>
          <p:nvPr/>
        </p:nvSpPr>
        <p:spPr>
          <a:xfrm>
            <a:off x="3913129" y="3095244"/>
            <a:ext cx="64008" cy="6400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34" name="Connector 32">
            <a:extLst>
              <a:ext uri="{FF2B5EF4-FFF2-40B4-BE49-F238E27FC236}">
                <a16:creationId xmlns:a16="http://schemas.microsoft.com/office/drawing/2014/main" id="{1B75E8C7-519A-FE60-BFCF-ED707407393B}"/>
              </a:ext>
            </a:extLst>
          </p:cNvPr>
          <p:cNvCxnSpPr/>
          <p:nvPr/>
        </p:nvCxnSpPr>
        <p:spPr>
          <a:xfrm>
            <a:off x="969264" y="3904488"/>
            <a:ext cx="2975869" cy="0"/>
          </a:xfrm>
          <a:prstGeom prst="line">
            <a:avLst/>
          </a:prstGeom>
          <a:ln w="9525">
            <a:solidFill>
              <a:srgbClr val="D5DFDE"/>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E3FB19B4-5E9F-5999-CD85-7509B4D6B873}"/>
              </a:ext>
            </a:extLst>
          </p:cNvPr>
          <p:cNvSpPr txBox="1"/>
          <p:nvPr/>
        </p:nvSpPr>
        <p:spPr>
          <a:xfrm>
            <a:off x="877824" y="3977640"/>
            <a:ext cx="3158749"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9AA8A7"/>
                </a:solidFill>
                <a:latin typeface="Calibri" panose="020F0502020204030204" pitchFamily="34" charset="0"/>
                <a:cs typeface="Calibri" panose="020F0502020204030204" pitchFamily="34" charset="0"/>
              </a:rPr>
              <a:t>meses</a:t>
            </a:r>
          </a:p>
        </p:txBody>
      </p:sp>
      <p:sp>
        <p:nvSpPr>
          <p:cNvPr id="36" name="TextBox 35">
            <a:extLst>
              <a:ext uri="{FF2B5EF4-FFF2-40B4-BE49-F238E27FC236}">
                <a16:creationId xmlns:a16="http://schemas.microsoft.com/office/drawing/2014/main" id="{1E593CEB-9377-3CAD-25EF-23972223AE1A}"/>
              </a:ext>
            </a:extLst>
          </p:cNvPr>
          <p:cNvSpPr txBox="1"/>
          <p:nvPr/>
        </p:nvSpPr>
        <p:spPr>
          <a:xfrm>
            <a:off x="841247" y="4208022"/>
            <a:ext cx="3231901" cy="338554"/>
          </a:xfrm>
          <a:prstGeom prst="rect">
            <a:avLst/>
          </a:prstGeom>
          <a:noFill/>
        </p:spPr>
        <p:txBody>
          <a:bodyPr wrap="square" lIns="0" tIns="0" rIns="0" bIns="0" anchor="t">
            <a:spAutoFit/>
          </a:bodyPr>
          <a:lstStyle/>
          <a:p>
            <a:pPr algn="l"/>
            <a:r>
              <a:rPr lang="es-ES_tradnl" sz="1100" b="0" i="0" noProof="0" dirty="0">
                <a:solidFill>
                  <a:srgbClr val="3E5553"/>
                </a:solidFill>
                <a:latin typeface="Calibri" panose="020F0502020204030204" pitchFamily="34" charset="0"/>
                <a:cs typeface="Calibri" panose="020F0502020204030204" pitchFamily="34" charset="0"/>
              </a:rPr>
              <a:t>Probabilidad acumulada de que el cliente entre en default en cada período.</a:t>
            </a:r>
          </a:p>
        </p:txBody>
      </p:sp>
      <p:sp>
        <p:nvSpPr>
          <p:cNvPr id="37" name="Rectangle 36">
            <a:extLst>
              <a:ext uri="{FF2B5EF4-FFF2-40B4-BE49-F238E27FC236}">
                <a16:creationId xmlns:a16="http://schemas.microsoft.com/office/drawing/2014/main" id="{17816D42-06B9-CE24-A440-368EB0ED76E5}"/>
              </a:ext>
            </a:extLst>
          </p:cNvPr>
          <p:cNvSpPr/>
          <p:nvPr/>
        </p:nvSpPr>
        <p:spPr>
          <a:xfrm>
            <a:off x="841247" y="4564638"/>
            <a:ext cx="3231901" cy="512064"/>
          </a:xfrm>
          <a:prstGeom prst="rect">
            <a:avLst/>
          </a:prstGeom>
          <a:solidFill>
            <a:srgbClr val="F6F8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BC35D116-650F-2D29-7DE1-924F1C188AE7}"/>
              </a:ext>
            </a:extLst>
          </p:cNvPr>
          <p:cNvSpPr txBox="1"/>
          <p:nvPr/>
        </p:nvSpPr>
        <p:spPr>
          <a:xfrm>
            <a:off x="950976" y="4660537"/>
            <a:ext cx="3012445" cy="338554"/>
          </a:xfrm>
          <a:prstGeom prst="rect">
            <a:avLst/>
          </a:prstGeom>
          <a:noFill/>
        </p:spPr>
        <p:txBody>
          <a:bodyPr wrap="square" lIns="0" tIns="0" rIns="0" bIns="0" anchor="ctr">
            <a:spAutoFit/>
          </a:bodyPr>
          <a:lstStyle/>
          <a:p>
            <a:pPr algn="l">
              <a:spcAft>
                <a:spcPts val="400"/>
              </a:spcAft>
            </a:pPr>
            <a:r>
              <a:rPr lang="es-ES_tradnl" sz="1100" b="1" i="0" noProof="0" dirty="0">
                <a:solidFill>
                  <a:srgbClr val="13807B"/>
                </a:solidFill>
                <a:latin typeface="Calibri" panose="020F0502020204030204" pitchFamily="34" charset="0"/>
                <a:cs typeface="Calibri" panose="020F0502020204030204" pitchFamily="34" charset="0"/>
              </a:rPr>
              <a:t>Mide cómo se deteriora la calidad crediticia en el tiempo.</a:t>
            </a:r>
          </a:p>
        </p:txBody>
      </p:sp>
      <p:sp>
        <p:nvSpPr>
          <p:cNvPr id="39" name="Rectangle 38">
            <a:extLst>
              <a:ext uri="{FF2B5EF4-FFF2-40B4-BE49-F238E27FC236}">
                <a16:creationId xmlns:a16="http://schemas.microsoft.com/office/drawing/2014/main" id="{FC9C7ACC-BC09-0288-8051-1B1BD14BE1FC}"/>
              </a:ext>
            </a:extLst>
          </p:cNvPr>
          <p:cNvSpPr/>
          <p:nvPr/>
        </p:nvSpPr>
        <p:spPr>
          <a:xfrm>
            <a:off x="4438909" y="2322576"/>
            <a:ext cx="3597661" cy="2962346"/>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40" name="Rectangle 39">
            <a:extLst>
              <a:ext uri="{FF2B5EF4-FFF2-40B4-BE49-F238E27FC236}">
                <a16:creationId xmlns:a16="http://schemas.microsoft.com/office/drawing/2014/main" id="{54AAE948-FDD9-2882-865F-9881C47DC8F0}"/>
              </a:ext>
            </a:extLst>
          </p:cNvPr>
          <p:cNvSpPr/>
          <p:nvPr/>
        </p:nvSpPr>
        <p:spPr>
          <a:xfrm>
            <a:off x="4438909" y="2322576"/>
            <a:ext cx="3597661" cy="3657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E4A00700-BCE9-D1B5-21D9-A73A2CDE4786}"/>
              </a:ext>
            </a:extLst>
          </p:cNvPr>
          <p:cNvSpPr txBox="1"/>
          <p:nvPr/>
        </p:nvSpPr>
        <p:spPr>
          <a:xfrm>
            <a:off x="4621789" y="2433740"/>
            <a:ext cx="457200"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445A6E"/>
                </a:solidFill>
                <a:latin typeface="Calibri" panose="020F0502020204030204" pitchFamily="34" charset="0"/>
                <a:cs typeface="Calibri" panose="020F0502020204030204" pitchFamily="34" charset="0"/>
              </a:rPr>
              <a:t>02</a:t>
            </a:r>
          </a:p>
        </p:txBody>
      </p:sp>
      <p:sp>
        <p:nvSpPr>
          <p:cNvPr id="42" name="TextBox 41">
            <a:extLst>
              <a:ext uri="{FF2B5EF4-FFF2-40B4-BE49-F238E27FC236}">
                <a16:creationId xmlns:a16="http://schemas.microsoft.com/office/drawing/2014/main" id="{2882FED1-4C6E-A287-B8DE-CB7FF6A142F6}"/>
              </a:ext>
            </a:extLst>
          </p:cNvPr>
          <p:cNvSpPr txBox="1"/>
          <p:nvPr/>
        </p:nvSpPr>
        <p:spPr>
          <a:xfrm>
            <a:off x="5060701" y="2433740"/>
            <a:ext cx="2792989"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LGD </a:t>
            </a:r>
            <a:r>
              <a:rPr lang="es-ES_tradnl" sz="1800" b="1" i="0" noProof="0" dirty="0" err="1">
                <a:solidFill>
                  <a:srgbClr val="0B2E2C"/>
                </a:solidFill>
                <a:latin typeface="Calibri" panose="020F0502020204030204" pitchFamily="34" charset="0"/>
                <a:cs typeface="Calibri" panose="020F0502020204030204" pitchFamily="34" charset="0"/>
              </a:rPr>
              <a:t>Lifetime</a:t>
            </a:r>
            <a:endParaRPr lang="es-ES_tradnl" sz="1800" b="1" i="0" noProof="0" dirty="0">
              <a:solidFill>
                <a:srgbClr val="0B2E2C"/>
              </a:solidFill>
              <a:latin typeface="Calibri" panose="020F0502020204030204" pitchFamily="34" charset="0"/>
              <a:cs typeface="Calibri" panose="020F0502020204030204" pitchFamily="34" charset="0"/>
            </a:endParaRPr>
          </a:p>
        </p:txBody>
      </p:sp>
      <p:sp>
        <p:nvSpPr>
          <p:cNvPr id="43" name="TextBox 42">
            <a:extLst>
              <a:ext uri="{FF2B5EF4-FFF2-40B4-BE49-F238E27FC236}">
                <a16:creationId xmlns:a16="http://schemas.microsoft.com/office/drawing/2014/main" id="{42A49235-8418-2543-3F82-AAEA3994CC6B}"/>
              </a:ext>
            </a:extLst>
          </p:cNvPr>
          <p:cNvSpPr txBox="1"/>
          <p:nvPr/>
        </p:nvSpPr>
        <p:spPr>
          <a:xfrm>
            <a:off x="5060701" y="2743200"/>
            <a:ext cx="2792989"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Loss Given Default</a:t>
            </a:r>
          </a:p>
        </p:txBody>
      </p:sp>
      <p:sp>
        <p:nvSpPr>
          <p:cNvPr id="44" name="Rectangle 43">
            <a:extLst>
              <a:ext uri="{FF2B5EF4-FFF2-40B4-BE49-F238E27FC236}">
                <a16:creationId xmlns:a16="http://schemas.microsoft.com/office/drawing/2014/main" id="{6C36294D-553B-3E4C-FF49-56BE0C3603C3}"/>
              </a:ext>
            </a:extLst>
          </p:cNvPr>
          <p:cNvSpPr/>
          <p:nvPr/>
        </p:nvSpPr>
        <p:spPr>
          <a:xfrm>
            <a:off x="4658365" y="3035808"/>
            <a:ext cx="3158749" cy="960120"/>
          </a:xfrm>
          <a:prstGeom prst="rect">
            <a:avLst/>
          </a:prstGeom>
          <a:solidFill>
            <a:srgbClr val="FAFB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45" name="Connector 43">
            <a:extLst>
              <a:ext uri="{FF2B5EF4-FFF2-40B4-BE49-F238E27FC236}">
                <a16:creationId xmlns:a16="http://schemas.microsoft.com/office/drawing/2014/main" id="{1C1D6BF5-0032-686A-45F3-8B0F65AD1339}"/>
              </a:ext>
            </a:extLst>
          </p:cNvPr>
          <p:cNvCxnSpPr/>
          <p:nvPr/>
        </p:nvCxnSpPr>
        <p:spPr>
          <a:xfrm>
            <a:off x="4749805" y="3127248"/>
            <a:ext cx="247989" cy="146418"/>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46" name="Connector 44">
            <a:extLst>
              <a:ext uri="{FF2B5EF4-FFF2-40B4-BE49-F238E27FC236}">
                <a16:creationId xmlns:a16="http://schemas.microsoft.com/office/drawing/2014/main" id="{8D4E33B6-5891-5742-3D2D-847F99149FA7}"/>
              </a:ext>
            </a:extLst>
          </p:cNvPr>
          <p:cNvCxnSpPr/>
          <p:nvPr/>
        </p:nvCxnSpPr>
        <p:spPr>
          <a:xfrm>
            <a:off x="4997794" y="3273666"/>
            <a:ext cx="247989" cy="121892"/>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47" name="Connector 45">
            <a:extLst>
              <a:ext uri="{FF2B5EF4-FFF2-40B4-BE49-F238E27FC236}">
                <a16:creationId xmlns:a16="http://schemas.microsoft.com/office/drawing/2014/main" id="{F8EF5177-95AE-55B5-5C52-5DD7A4E3E59A}"/>
              </a:ext>
            </a:extLst>
          </p:cNvPr>
          <p:cNvCxnSpPr/>
          <p:nvPr/>
        </p:nvCxnSpPr>
        <p:spPr>
          <a:xfrm>
            <a:off x="5245783" y="3395558"/>
            <a:ext cx="247989" cy="101474"/>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48" name="Connector 46">
            <a:extLst>
              <a:ext uri="{FF2B5EF4-FFF2-40B4-BE49-F238E27FC236}">
                <a16:creationId xmlns:a16="http://schemas.microsoft.com/office/drawing/2014/main" id="{32EA0B4D-A1BE-2A35-C46A-AE7432A10390}"/>
              </a:ext>
            </a:extLst>
          </p:cNvPr>
          <p:cNvCxnSpPr/>
          <p:nvPr/>
        </p:nvCxnSpPr>
        <p:spPr>
          <a:xfrm>
            <a:off x="5493772" y="3497032"/>
            <a:ext cx="247989" cy="84477"/>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49" name="Connector 47">
            <a:extLst>
              <a:ext uri="{FF2B5EF4-FFF2-40B4-BE49-F238E27FC236}">
                <a16:creationId xmlns:a16="http://schemas.microsoft.com/office/drawing/2014/main" id="{3AE5345F-508B-38BF-9F69-C30779BD3018}"/>
              </a:ext>
            </a:extLst>
          </p:cNvPr>
          <p:cNvCxnSpPr/>
          <p:nvPr/>
        </p:nvCxnSpPr>
        <p:spPr>
          <a:xfrm>
            <a:off x="5741761" y="3581509"/>
            <a:ext cx="247989" cy="70325"/>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50" name="Connector 48">
            <a:extLst>
              <a:ext uri="{FF2B5EF4-FFF2-40B4-BE49-F238E27FC236}">
                <a16:creationId xmlns:a16="http://schemas.microsoft.com/office/drawing/2014/main" id="{5B7AF10F-1C96-E9EF-BF7C-12F1A6005F42}"/>
              </a:ext>
            </a:extLst>
          </p:cNvPr>
          <p:cNvCxnSpPr/>
          <p:nvPr/>
        </p:nvCxnSpPr>
        <p:spPr>
          <a:xfrm>
            <a:off x="5989750" y="3651834"/>
            <a:ext cx="247989" cy="58546"/>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51" name="Connector 49">
            <a:extLst>
              <a:ext uri="{FF2B5EF4-FFF2-40B4-BE49-F238E27FC236}">
                <a16:creationId xmlns:a16="http://schemas.microsoft.com/office/drawing/2014/main" id="{90D739F1-8AC2-8E76-FF13-7F47FD6A7777}"/>
              </a:ext>
            </a:extLst>
          </p:cNvPr>
          <p:cNvCxnSpPr/>
          <p:nvPr/>
        </p:nvCxnSpPr>
        <p:spPr>
          <a:xfrm>
            <a:off x="6237739" y="3710380"/>
            <a:ext cx="247989" cy="48738"/>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52" name="Connector 50">
            <a:extLst>
              <a:ext uri="{FF2B5EF4-FFF2-40B4-BE49-F238E27FC236}">
                <a16:creationId xmlns:a16="http://schemas.microsoft.com/office/drawing/2014/main" id="{E20C4005-5A96-B449-8DFB-E3FC02C392E5}"/>
              </a:ext>
            </a:extLst>
          </p:cNvPr>
          <p:cNvCxnSpPr/>
          <p:nvPr/>
        </p:nvCxnSpPr>
        <p:spPr>
          <a:xfrm>
            <a:off x="6485728" y="3759118"/>
            <a:ext cx="247989" cy="40575"/>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53" name="Connector 51">
            <a:extLst>
              <a:ext uri="{FF2B5EF4-FFF2-40B4-BE49-F238E27FC236}">
                <a16:creationId xmlns:a16="http://schemas.microsoft.com/office/drawing/2014/main" id="{5A539162-DA95-1A53-AC4F-923DEB6EE108}"/>
              </a:ext>
            </a:extLst>
          </p:cNvPr>
          <p:cNvCxnSpPr/>
          <p:nvPr/>
        </p:nvCxnSpPr>
        <p:spPr>
          <a:xfrm>
            <a:off x="6733717" y="3799693"/>
            <a:ext cx="247989" cy="33777"/>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54" name="Connector 52">
            <a:extLst>
              <a:ext uri="{FF2B5EF4-FFF2-40B4-BE49-F238E27FC236}">
                <a16:creationId xmlns:a16="http://schemas.microsoft.com/office/drawing/2014/main" id="{FDC926B7-65F0-7BED-B6E7-CFE6BAD64C5D}"/>
              </a:ext>
            </a:extLst>
          </p:cNvPr>
          <p:cNvCxnSpPr/>
          <p:nvPr/>
        </p:nvCxnSpPr>
        <p:spPr>
          <a:xfrm>
            <a:off x="6981706" y="3833470"/>
            <a:ext cx="247989" cy="28120"/>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55" name="Connector 53">
            <a:extLst>
              <a:ext uri="{FF2B5EF4-FFF2-40B4-BE49-F238E27FC236}">
                <a16:creationId xmlns:a16="http://schemas.microsoft.com/office/drawing/2014/main" id="{EAF60402-A957-6F87-3AA9-4382B4447797}"/>
              </a:ext>
            </a:extLst>
          </p:cNvPr>
          <p:cNvCxnSpPr/>
          <p:nvPr/>
        </p:nvCxnSpPr>
        <p:spPr>
          <a:xfrm>
            <a:off x="7229695" y="3861590"/>
            <a:ext cx="247990" cy="23409"/>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cxnSp>
        <p:nvCxnSpPr>
          <p:cNvPr id="56" name="Connector 54">
            <a:extLst>
              <a:ext uri="{FF2B5EF4-FFF2-40B4-BE49-F238E27FC236}">
                <a16:creationId xmlns:a16="http://schemas.microsoft.com/office/drawing/2014/main" id="{30D5A0DB-87CF-9085-13D5-9DF9E327E85D}"/>
              </a:ext>
            </a:extLst>
          </p:cNvPr>
          <p:cNvCxnSpPr/>
          <p:nvPr/>
        </p:nvCxnSpPr>
        <p:spPr>
          <a:xfrm>
            <a:off x="7477685" y="3884999"/>
            <a:ext cx="247989" cy="19489"/>
          </a:xfrm>
          <a:prstGeom prst="line">
            <a:avLst/>
          </a:prstGeom>
          <a:ln w="22225">
            <a:solidFill>
              <a:srgbClr val="445A6E"/>
            </a:solidFill>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3AA7545C-5187-15B6-73CD-81410461A6BF}"/>
              </a:ext>
            </a:extLst>
          </p:cNvPr>
          <p:cNvSpPr/>
          <p:nvPr/>
        </p:nvSpPr>
        <p:spPr>
          <a:xfrm>
            <a:off x="4717801" y="3095244"/>
            <a:ext cx="64008" cy="64008"/>
          </a:xfrm>
          <a:prstGeom prst="ellipse">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58" name="Oval 57">
            <a:extLst>
              <a:ext uri="{FF2B5EF4-FFF2-40B4-BE49-F238E27FC236}">
                <a16:creationId xmlns:a16="http://schemas.microsoft.com/office/drawing/2014/main" id="{07339A52-EDE1-79AD-604F-78889E96B4C2}"/>
              </a:ext>
            </a:extLst>
          </p:cNvPr>
          <p:cNvSpPr/>
          <p:nvPr/>
        </p:nvSpPr>
        <p:spPr>
          <a:xfrm>
            <a:off x="5461768" y="3465028"/>
            <a:ext cx="64008" cy="64008"/>
          </a:xfrm>
          <a:prstGeom prst="ellipse">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59" name="Oval 58">
            <a:extLst>
              <a:ext uri="{FF2B5EF4-FFF2-40B4-BE49-F238E27FC236}">
                <a16:creationId xmlns:a16="http://schemas.microsoft.com/office/drawing/2014/main" id="{27572327-4BB8-080E-6334-50C6BA7CED82}"/>
              </a:ext>
            </a:extLst>
          </p:cNvPr>
          <p:cNvSpPr/>
          <p:nvPr/>
        </p:nvSpPr>
        <p:spPr>
          <a:xfrm>
            <a:off x="6205735" y="3678376"/>
            <a:ext cx="64008" cy="64008"/>
          </a:xfrm>
          <a:prstGeom prst="ellipse">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60" name="Oval 59">
            <a:extLst>
              <a:ext uri="{FF2B5EF4-FFF2-40B4-BE49-F238E27FC236}">
                <a16:creationId xmlns:a16="http://schemas.microsoft.com/office/drawing/2014/main" id="{12A1B7C5-55B7-4A90-9872-1C955E8EA1C7}"/>
              </a:ext>
            </a:extLst>
          </p:cNvPr>
          <p:cNvSpPr/>
          <p:nvPr/>
        </p:nvSpPr>
        <p:spPr>
          <a:xfrm>
            <a:off x="6949702" y="3801466"/>
            <a:ext cx="64008" cy="64008"/>
          </a:xfrm>
          <a:prstGeom prst="ellipse">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61" name="Oval 60">
            <a:extLst>
              <a:ext uri="{FF2B5EF4-FFF2-40B4-BE49-F238E27FC236}">
                <a16:creationId xmlns:a16="http://schemas.microsoft.com/office/drawing/2014/main" id="{E38EF759-2B51-DCCF-FC28-755759C1FDEC}"/>
              </a:ext>
            </a:extLst>
          </p:cNvPr>
          <p:cNvSpPr/>
          <p:nvPr/>
        </p:nvSpPr>
        <p:spPr>
          <a:xfrm>
            <a:off x="7693670" y="3872484"/>
            <a:ext cx="64008" cy="64008"/>
          </a:xfrm>
          <a:prstGeom prst="ellipse">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62" name="Connector 60">
            <a:extLst>
              <a:ext uri="{FF2B5EF4-FFF2-40B4-BE49-F238E27FC236}">
                <a16:creationId xmlns:a16="http://schemas.microsoft.com/office/drawing/2014/main" id="{964E2249-F476-070B-2E99-8F34C30AB745}"/>
              </a:ext>
            </a:extLst>
          </p:cNvPr>
          <p:cNvCxnSpPr/>
          <p:nvPr/>
        </p:nvCxnSpPr>
        <p:spPr>
          <a:xfrm>
            <a:off x="4749805" y="3904488"/>
            <a:ext cx="2975869" cy="0"/>
          </a:xfrm>
          <a:prstGeom prst="line">
            <a:avLst/>
          </a:prstGeom>
          <a:ln w="9525">
            <a:solidFill>
              <a:srgbClr val="D5DFDE"/>
            </a:solidFil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C085A99F-F675-2F40-9462-35B6BD8DFF87}"/>
              </a:ext>
            </a:extLst>
          </p:cNvPr>
          <p:cNvSpPr txBox="1"/>
          <p:nvPr/>
        </p:nvSpPr>
        <p:spPr>
          <a:xfrm>
            <a:off x="4658365" y="3977640"/>
            <a:ext cx="3158749"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9AA8A7"/>
                </a:solidFill>
                <a:latin typeface="Calibri" panose="020F0502020204030204" pitchFamily="34" charset="0"/>
                <a:cs typeface="Calibri" panose="020F0502020204030204" pitchFamily="34" charset="0"/>
              </a:rPr>
              <a:t>meses</a:t>
            </a:r>
          </a:p>
        </p:txBody>
      </p:sp>
      <p:sp>
        <p:nvSpPr>
          <p:cNvPr id="64" name="TextBox 63">
            <a:extLst>
              <a:ext uri="{FF2B5EF4-FFF2-40B4-BE49-F238E27FC236}">
                <a16:creationId xmlns:a16="http://schemas.microsoft.com/office/drawing/2014/main" id="{079DB6F9-B5E1-5978-F699-F93317F87F1A}"/>
              </a:ext>
            </a:extLst>
          </p:cNvPr>
          <p:cNvSpPr txBox="1"/>
          <p:nvPr/>
        </p:nvSpPr>
        <p:spPr>
          <a:xfrm>
            <a:off x="4621789" y="4208022"/>
            <a:ext cx="3231901" cy="338554"/>
          </a:xfrm>
          <a:prstGeom prst="rect">
            <a:avLst/>
          </a:prstGeom>
          <a:noFill/>
        </p:spPr>
        <p:txBody>
          <a:bodyPr wrap="square" lIns="0" tIns="0" rIns="0" bIns="0" anchor="t">
            <a:spAutoFit/>
          </a:bodyPr>
          <a:lstStyle/>
          <a:p>
            <a:pPr algn="l"/>
            <a:r>
              <a:rPr lang="es-ES_tradnl" sz="1100" b="0" i="0" noProof="0" dirty="0">
                <a:solidFill>
                  <a:srgbClr val="3E5553"/>
                </a:solidFill>
                <a:latin typeface="Calibri" panose="020F0502020204030204" pitchFamily="34" charset="0"/>
                <a:cs typeface="Calibri" panose="020F0502020204030204" pitchFamily="34" charset="0"/>
              </a:rPr>
              <a:t>Severidad de la pérdida si el cliente defaultea en cada período.</a:t>
            </a:r>
          </a:p>
        </p:txBody>
      </p:sp>
      <p:sp>
        <p:nvSpPr>
          <p:cNvPr id="65" name="Rectangle 64">
            <a:extLst>
              <a:ext uri="{FF2B5EF4-FFF2-40B4-BE49-F238E27FC236}">
                <a16:creationId xmlns:a16="http://schemas.microsoft.com/office/drawing/2014/main" id="{F999E889-D718-CC09-2EFF-84C2DFEB27B7}"/>
              </a:ext>
            </a:extLst>
          </p:cNvPr>
          <p:cNvSpPr/>
          <p:nvPr/>
        </p:nvSpPr>
        <p:spPr>
          <a:xfrm>
            <a:off x="4621789" y="4564638"/>
            <a:ext cx="3231901" cy="512064"/>
          </a:xfrm>
          <a:prstGeom prst="rect">
            <a:avLst/>
          </a:prstGeom>
          <a:solidFill>
            <a:srgbClr val="F6F8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66" name="TextBox 65">
            <a:extLst>
              <a:ext uri="{FF2B5EF4-FFF2-40B4-BE49-F238E27FC236}">
                <a16:creationId xmlns:a16="http://schemas.microsoft.com/office/drawing/2014/main" id="{B179BAE6-E795-DDDE-65FE-2C3858165028}"/>
              </a:ext>
            </a:extLst>
          </p:cNvPr>
          <p:cNvSpPr txBox="1"/>
          <p:nvPr/>
        </p:nvSpPr>
        <p:spPr>
          <a:xfrm>
            <a:off x="4731517" y="4660537"/>
            <a:ext cx="3012445" cy="338554"/>
          </a:xfrm>
          <a:prstGeom prst="rect">
            <a:avLst/>
          </a:prstGeom>
          <a:noFill/>
        </p:spPr>
        <p:txBody>
          <a:bodyPr wrap="square" lIns="0" tIns="0" rIns="0" bIns="0" anchor="ctr">
            <a:spAutoFit/>
          </a:bodyPr>
          <a:lstStyle/>
          <a:p>
            <a:pPr algn="l">
              <a:spcAft>
                <a:spcPts val="400"/>
              </a:spcAft>
            </a:pPr>
            <a:r>
              <a:rPr lang="es-ES_tradnl" sz="1100" b="1" i="0" noProof="0" dirty="0">
                <a:solidFill>
                  <a:srgbClr val="445A6E"/>
                </a:solidFill>
                <a:latin typeface="Calibri" panose="020F0502020204030204" pitchFamily="34" charset="0"/>
                <a:cs typeface="Calibri" panose="020F0502020204030204" pitchFamily="34" charset="0"/>
              </a:rPr>
              <a:t>Mide cuánto se pierde efectivamente cuando el default ocurre.</a:t>
            </a:r>
          </a:p>
        </p:txBody>
      </p:sp>
      <p:sp>
        <p:nvSpPr>
          <p:cNvPr id="67" name="Rectangle 66">
            <a:extLst>
              <a:ext uri="{FF2B5EF4-FFF2-40B4-BE49-F238E27FC236}">
                <a16:creationId xmlns:a16="http://schemas.microsoft.com/office/drawing/2014/main" id="{510C6778-1CFE-06E5-4747-EE93735F3196}"/>
              </a:ext>
            </a:extLst>
          </p:cNvPr>
          <p:cNvSpPr/>
          <p:nvPr/>
        </p:nvSpPr>
        <p:spPr>
          <a:xfrm>
            <a:off x="8219450" y="2322576"/>
            <a:ext cx="3597661" cy="2962346"/>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68" name="Rectangle 67">
            <a:extLst>
              <a:ext uri="{FF2B5EF4-FFF2-40B4-BE49-F238E27FC236}">
                <a16:creationId xmlns:a16="http://schemas.microsoft.com/office/drawing/2014/main" id="{888CF8DB-1658-DCED-2CD1-EB39CA0E9285}"/>
              </a:ext>
            </a:extLst>
          </p:cNvPr>
          <p:cNvSpPr/>
          <p:nvPr/>
        </p:nvSpPr>
        <p:spPr>
          <a:xfrm>
            <a:off x="8219450" y="2322576"/>
            <a:ext cx="3597661" cy="36576"/>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69" name="TextBox 68">
            <a:extLst>
              <a:ext uri="{FF2B5EF4-FFF2-40B4-BE49-F238E27FC236}">
                <a16:creationId xmlns:a16="http://schemas.microsoft.com/office/drawing/2014/main" id="{2A3055BF-5E0D-4A37-1E1C-8BB4BDE4E549}"/>
              </a:ext>
            </a:extLst>
          </p:cNvPr>
          <p:cNvSpPr txBox="1"/>
          <p:nvPr/>
        </p:nvSpPr>
        <p:spPr>
          <a:xfrm>
            <a:off x="8402330" y="2433740"/>
            <a:ext cx="457200"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C87A0B"/>
                </a:solidFill>
                <a:latin typeface="Calibri" panose="020F0502020204030204" pitchFamily="34" charset="0"/>
                <a:cs typeface="Calibri" panose="020F0502020204030204" pitchFamily="34" charset="0"/>
              </a:rPr>
              <a:t>03</a:t>
            </a:r>
          </a:p>
        </p:txBody>
      </p:sp>
      <p:sp>
        <p:nvSpPr>
          <p:cNvPr id="70" name="TextBox 69">
            <a:extLst>
              <a:ext uri="{FF2B5EF4-FFF2-40B4-BE49-F238E27FC236}">
                <a16:creationId xmlns:a16="http://schemas.microsoft.com/office/drawing/2014/main" id="{0A7CD087-6A37-70F2-2FCC-43685AF44FAA}"/>
              </a:ext>
            </a:extLst>
          </p:cNvPr>
          <p:cNvSpPr txBox="1"/>
          <p:nvPr/>
        </p:nvSpPr>
        <p:spPr>
          <a:xfrm>
            <a:off x="8841242" y="2433740"/>
            <a:ext cx="2792989"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Prepago </a:t>
            </a:r>
            <a:r>
              <a:rPr lang="es-ES_tradnl" sz="1800" b="1" i="0" noProof="0" dirty="0" err="1">
                <a:solidFill>
                  <a:srgbClr val="0B2E2C"/>
                </a:solidFill>
                <a:latin typeface="Calibri" panose="020F0502020204030204" pitchFamily="34" charset="0"/>
                <a:cs typeface="Calibri" panose="020F0502020204030204" pitchFamily="34" charset="0"/>
              </a:rPr>
              <a:t>Lifetime</a:t>
            </a:r>
            <a:endParaRPr lang="es-ES_tradnl" sz="1800" b="1" i="0" noProof="0" dirty="0">
              <a:solidFill>
                <a:srgbClr val="0B2E2C"/>
              </a:solidFill>
              <a:latin typeface="Calibri" panose="020F0502020204030204" pitchFamily="34" charset="0"/>
              <a:cs typeface="Calibri" panose="020F0502020204030204" pitchFamily="34" charset="0"/>
            </a:endParaRPr>
          </a:p>
        </p:txBody>
      </p:sp>
      <p:sp>
        <p:nvSpPr>
          <p:cNvPr id="71" name="TextBox 70">
            <a:extLst>
              <a:ext uri="{FF2B5EF4-FFF2-40B4-BE49-F238E27FC236}">
                <a16:creationId xmlns:a16="http://schemas.microsoft.com/office/drawing/2014/main" id="{B8AB156A-D963-50A8-6FAC-9541FAD1F853}"/>
              </a:ext>
            </a:extLst>
          </p:cNvPr>
          <p:cNvSpPr txBox="1"/>
          <p:nvPr/>
        </p:nvSpPr>
        <p:spPr>
          <a:xfrm>
            <a:off x="8841242" y="2743200"/>
            <a:ext cx="2792989"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Abono adicional</a:t>
            </a:r>
          </a:p>
        </p:txBody>
      </p:sp>
      <p:sp>
        <p:nvSpPr>
          <p:cNvPr id="72" name="Rectangle 71">
            <a:extLst>
              <a:ext uri="{FF2B5EF4-FFF2-40B4-BE49-F238E27FC236}">
                <a16:creationId xmlns:a16="http://schemas.microsoft.com/office/drawing/2014/main" id="{7474D9FB-451A-AAD5-A77E-7E218830D1F9}"/>
              </a:ext>
            </a:extLst>
          </p:cNvPr>
          <p:cNvSpPr/>
          <p:nvPr/>
        </p:nvSpPr>
        <p:spPr>
          <a:xfrm>
            <a:off x="8438906" y="3035808"/>
            <a:ext cx="3158749" cy="960120"/>
          </a:xfrm>
          <a:prstGeom prst="rect">
            <a:avLst/>
          </a:prstGeom>
          <a:solidFill>
            <a:srgbClr val="FAFB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73" name="Connector 71">
            <a:extLst>
              <a:ext uri="{FF2B5EF4-FFF2-40B4-BE49-F238E27FC236}">
                <a16:creationId xmlns:a16="http://schemas.microsoft.com/office/drawing/2014/main" id="{38C1F5ED-3166-B4B6-D5ED-E8F8FC524231}"/>
              </a:ext>
            </a:extLst>
          </p:cNvPr>
          <p:cNvCxnSpPr/>
          <p:nvPr/>
        </p:nvCxnSpPr>
        <p:spPr>
          <a:xfrm flipV="1">
            <a:off x="8530346" y="3889795"/>
            <a:ext cx="247989" cy="14693"/>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74" name="Connector 72">
            <a:extLst>
              <a:ext uri="{FF2B5EF4-FFF2-40B4-BE49-F238E27FC236}">
                <a16:creationId xmlns:a16="http://schemas.microsoft.com/office/drawing/2014/main" id="{DF0BB744-E765-DA7A-0FB5-7952235A1D1B}"/>
              </a:ext>
            </a:extLst>
          </p:cNvPr>
          <p:cNvCxnSpPr/>
          <p:nvPr/>
        </p:nvCxnSpPr>
        <p:spPr>
          <a:xfrm flipV="1">
            <a:off x="8778335" y="3860440"/>
            <a:ext cx="247989" cy="29355"/>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75" name="Connector 73">
            <a:extLst>
              <a:ext uri="{FF2B5EF4-FFF2-40B4-BE49-F238E27FC236}">
                <a16:creationId xmlns:a16="http://schemas.microsoft.com/office/drawing/2014/main" id="{1CB6525F-7164-534A-E727-923DA95785BE}"/>
              </a:ext>
            </a:extLst>
          </p:cNvPr>
          <p:cNvCxnSpPr/>
          <p:nvPr/>
        </p:nvCxnSpPr>
        <p:spPr>
          <a:xfrm flipV="1">
            <a:off x="9026324" y="3805145"/>
            <a:ext cx="247989" cy="55295"/>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76" name="Connector 74">
            <a:extLst>
              <a:ext uri="{FF2B5EF4-FFF2-40B4-BE49-F238E27FC236}">
                <a16:creationId xmlns:a16="http://schemas.microsoft.com/office/drawing/2014/main" id="{ABD28C6B-6741-B323-257B-5FBDA2DEE59B}"/>
              </a:ext>
            </a:extLst>
          </p:cNvPr>
          <p:cNvCxnSpPr/>
          <p:nvPr/>
        </p:nvCxnSpPr>
        <p:spPr>
          <a:xfrm flipV="1">
            <a:off x="9274313" y="3711659"/>
            <a:ext cx="247989" cy="93486"/>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77" name="Connector 75">
            <a:extLst>
              <a:ext uri="{FF2B5EF4-FFF2-40B4-BE49-F238E27FC236}">
                <a16:creationId xmlns:a16="http://schemas.microsoft.com/office/drawing/2014/main" id="{FEE123F3-8815-A5B9-97AF-9F72EDF23AAA}"/>
              </a:ext>
            </a:extLst>
          </p:cNvPr>
          <p:cNvCxnSpPr/>
          <p:nvPr/>
        </p:nvCxnSpPr>
        <p:spPr>
          <a:xfrm flipV="1">
            <a:off x="9522302" y="3579178"/>
            <a:ext cx="247989" cy="132481"/>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78" name="Connector 76">
            <a:extLst>
              <a:ext uri="{FF2B5EF4-FFF2-40B4-BE49-F238E27FC236}">
                <a16:creationId xmlns:a16="http://schemas.microsoft.com/office/drawing/2014/main" id="{A434FF68-4623-F189-DD3C-866A06427376}"/>
              </a:ext>
            </a:extLst>
          </p:cNvPr>
          <p:cNvCxnSpPr/>
          <p:nvPr/>
        </p:nvCxnSpPr>
        <p:spPr>
          <a:xfrm flipV="1">
            <a:off x="9770291" y="3431764"/>
            <a:ext cx="247989" cy="147414"/>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79" name="Connector 77">
            <a:extLst>
              <a:ext uri="{FF2B5EF4-FFF2-40B4-BE49-F238E27FC236}">
                <a16:creationId xmlns:a16="http://schemas.microsoft.com/office/drawing/2014/main" id="{0D43EC42-4AB9-7BE1-41FF-063871B64D88}"/>
              </a:ext>
            </a:extLst>
          </p:cNvPr>
          <p:cNvCxnSpPr/>
          <p:nvPr/>
        </p:nvCxnSpPr>
        <p:spPr>
          <a:xfrm flipV="1">
            <a:off x="10018280" y="3306011"/>
            <a:ext cx="247989" cy="125753"/>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80" name="Connector 78">
            <a:extLst>
              <a:ext uri="{FF2B5EF4-FFF2-40B4-BE49-F238E27FC236}">
                <a16:creationId xmlns:a16="http://schemas.microsoft.com/office/drawing/2014/main" id="{30A1CAE7-53F0-1EAB-734A-0984320A8DE0}"/>
              </a:ext>
            </a:extLst>
          </p:cNvPr>
          <p:cNvCxnSpPr/>
          <p:nvPr/>
        </p:nvCxnSpPr>
        <p:spPr>
          <a:xfrm flipV="1">
            <a:off x="10266269" y="3220850"/>
            <a:ext cx="247989" cy="85161"/>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81" name="Connector 79">
            <a:extLst>
              <a:ext uri="{FF2B5EF4-FFF2-40B4-BE49-F238E27FC236}">
                <a16:creationId xmlns:a16="http://schemas.microsoft.com/office/drawing/2014/main" id="{12C65103-C74C-8D2E-E147-4291D6879705}"/>
              </a:ext>
            </a:extLst>
          </p:cNvPr>
          <p:cNvCxnSpPr/>
          <p:nvPr/>
        </p:nvCxnSpPr>
        <p:spPr>
          <a:xfrm flipV="1">
            <a:off x="10514258" y="3171802"/>
            <a:ext cx="247989" cy="49048"/>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82" name="Connector 80">
            <a:extLst>
              <a:ext uri="{FF2B5EF4-FFF2-40B4-BE49-F238E27FC236}">
                <a16:creationId xmlns:a16="http://schemas.microsoft.com/office/drawing/2014/main" id="{CF1608F1-8DE7-83D9-9B0B-8BA0062E2380}"/>
              </a:ext>
            </a:extLst>
          </p:cNvPr>
          <p:cNvCxnSpPr/>
          <p:nvPr/>
        </p:nvCxnSpPr>
        <p:spPr>
          <a:xfrm flipV="1">
            <a:off x="10762247" y="3146152"/>
            <a:ext cx="247990" cy="25650"/>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83" name="Connector 81">
            <a:extLst>
              <a:ext uri="{FF2B5EF4-FFF2-40B4-BE49-F238E27FC236}">
                <a16:creationId xmlns:a16="http://schemas.microsoft.com/office/drawing/2014/main" id="{7DF66D16-6537-21E7-7774-1F76747A9099}"/>
              </a:ext>
            </a:extLst>
          </p:cNvPr>
          <p:cNvCxnSpPr/>
          <p:nvPr/>
        </p:nvCxnSpPr>
        <p:spPr>
          <a:xfrm flipV="1">
            <a:off x="11010237" y="3133413"/>
            <a:ext cx="247989" cy="12739"/>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cxnSp>
        <p:nvCxnSpPr>
          <p:cNvPr id="84" name="Connector 82">
            <a:extLst>
              <a:ext uri="{FF2B5EF4-FFF2-40B4-BE49-F238E27FC236}">
                <a16:creationId xmlns:a16="http://schemas.microsoft.com/office/drawing/2014/main" id="{35CA07D0-3DD3-F411-137A-7EED2070F505}"/>
              </a:ext>
            </a:extLst>
          </p:cNvPr>
          <p:cNvCxnSpPr/>
          <p:nvPr/>
        </p:nvCxnSpPr>
        <p:spPr>
          <a:xfrm flipV="1">
            <a:off x="11258226" y="3127248"/>
            <a:ext cx="247989" cy="6165"/>
          </a:xfrm>
          <a:prstGeom prst="line">
            <a:avLst/>
          </a:prstGeom>
          <a:ln w="22225">
            <a:solidFill>
              <a:srgbClr val="C87A0B"/>
            </a:solidFill>
          </a:ln>
        </p:spPr>
        <p:style>
          <a:lnRef idx="2">
            <a:schemeClr val="accent1"/>
          </a:lnRef>
          <a:fillRef idx="0">
            <a:schemeClr val="accent1"/>
          </a:fillRef>
          <a:effectRef idx="1">
            <a:schemeClr val="accent1"/>
          </a:effectRef>
          <a:fontRef idx="minor">
            <a:schemeClr val="tx1"/>
          </a:fontRef>
        </p:style>
      </p:cxnSp>
      <p:sp>
        <p:nvSpPr>
          <p:cNvPr id="85" name="Oval 84">
            <a:extLst>
              <a:ext uri="{FF2B5EF4-FFF2-40B4-BE49-F238E27FC236}">
                <a16:creationId xmlns:a16="http://schemas.microsoft.com/office/drawing/2014/main" id="{BA50A71A-BB7D-206D-CC3A-E1D0CBB34164}"/>
              </a:ext>
            </a:extLst>
          </p:cNvPr>
          <p:cNvSpPr/>
          <p:nvPr/>
        </p:nvSpPr>
        <p:spPr>
          <a:xfrm>
            <a:off x="8498342" y="3872484"/>
            <a:ext cx="64008" cy="64008"/>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86" name="Oval 85">
            <a:extLst>
              <a:ext uri="{FF2B5EF4-FFF2-40B4-BE49-F238E27FC236}">
                <a16:creationId xmlns:a16="http://schemas.microsoft.com/office/drawing/2014/main" id="{66744CE7-D484-104F-B30F-B196CFB8B256}"/>
              </a:ext>
            </a:extLst>
          </p:cNvPr>
          <p:cNvSpPr/>
          <p:nvPr/>
        </p:nvSpPr>
        <p:spPr>
          <a:xfrm>
            <a:off x="9242309" y="3773141"/>
            <a:ext cx="64008" cy="64008"/>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87" name="Oval 86">
            <a:extLst>
              <a:ext uri="{FF2B5EF4-FFF2-40B4-BE49-F238E27FC236}">
                <a16:creationId xmlns:a16="http://schemas.microsoft.com/office/drawing/2014/main" id="{9D16F2F1-E3EC-FFC7-0BB3-84078616E0D6}"/>
              </a:ext>
            </a:extLst>
          </p:cNvPr>
          <p:cNvSpPr/>
          <p:nvPr/>
        </p:nvSpPr>
        <p:spPr>
          <a:xfrm>
            <a:off x="9986276" y="3399760"/>
            <a:ext cx="64008" cy="64008"/>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88" name="Oval 87">
            <a:extLst>
              <a:ext uri="{FF2B5EF4-FFF2-40B4-BE49-F238E27FC236}">
                <a16:creationId xmlns:a16="http://schemas.microsoft.com/office/drawing/2014/main" id="{7BF00CD1-9376-A536-7E52-C8031B02B503}"/>
              </a:ext>
            </a:extLst>
          </p:cNvPr>
          <p:cNvSpPr/>
          <p:nvPr/>
        </p:nvSpPr>
        <p:spPr>
          <a:xfrm>
            <a:off x="10730243" y="3139798"/>
            <a:ext cx="64008" cy="64008"/>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89" name="Oval 88">
            <a:extLst>
              <a:ext uri="{FF2B5EF4-FFF2-40B4-BE49-F238E27FC236}">
                <a16:creationId xmlns:a16="http://schemas.microsoft.com/office/drawing/2014/main" id="{A348FBC0-5EA0-142A-EF2F-8E2EE2544967}"/>
              </a:ext>
            </a:extLst>
          </p:cNvPr>
          <p:cNvSpPr/>
          <p:nvPr/>
        </p:nvSpPr>
        <p:spPr>
          <a:xfrm>
            <a:off x="11474211" y="3095244"/>
            <a:ext cx="64008" cy="64008"/>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90" name="Connector 88">
            <a:extLst>
              <a:ext uri="{FF2B5EF4-FFF2-40B4-BE49-F238E27FC236}">
                <a16:creationId xmlns:a16="http://schemas.microsoft.com/office/drawing/2014/main" id="{CD435670-3910-DB67-893A-8055C48D4DE7}"/>
              </a:ext>
            </a:extLst>
          </p:cNvPr>
          <p:cNvCxnSpPr/>
          <p:nvPr/>
        </p:nvCxnSpPr>
        <p:spPr>
          <a:xfrm>
            <a:off x="8530346" y="3904488"/>
            <a:ext cx="2975869" cy="0"/>
          </a:xfrm>
          <a:prstGeom prst="line">
            <a:avLst/>
          </a:prstGeom>
          <a:ln w="9525">
            <a:solidFill>
              <a:srgbClr val="D5DFDE"/>
            </a:solidFill>
          </a:ln>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E2C4B4D6-7705-6B11-04B1-EB917D260638}"/>
              </a:ext>
            </a:extLst>
          </p:cNvPr>
          <p:cNvSpPr txBox="1"/>
          <p:nvPr/>
        </p:nvSpPr>
        <p:spPr>
          <a:xfrm>
            <a:off x="8438906" y="3977640"/>
            <a:ext cx="3158749"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9AA8A7"/>
                </a:solidFill>
                <a:latin typeface="Calibri" panose="020F0502020204030204" pitchFamily="34" charset="0"/>
                <a:cs typeface="Calibri" panose="020F0502020204030204" pitchFamily="34" charset="0"/>
              </a:rPr>
              <a:t>meses</a:t>
            </a:r>
          </a:p>
        </p:txBody>
      </p:sp>
      <p:sp>
        <p:nvSpPr>
          <p:cNvPr id="92" name="TextBox 91">
            <a:extLst>
              <a:ext uri="{FF2B5EF4-FFF2-40B4-BE49-F238E27FC236}">
                <a16:creationId xmlns:a16="http://schemas.microsoft.com/office/drawing/2014/main" id="{3940EEB4-CBD5-AD2E-C1C0-B628B090C343}"/>
              </a:ext>
            </a:extLst>
          </p:cNvPr>
          <p:cNvSpPr txBox="1"/>
          <p:nvPr/>
        </p:nvSpPr>
        <p:spPr>
          <a:xfrm>
            <a:off x="8402330" y="4208022"/>
            <a:ext cx="3231901" cy="338554"/>
          </a:xfrm>
          <a:prstGeom prst="rect">
            <a:avLst/>
          </a:prstGeom>
          <a:noFill/>
        </p:spPr>
        <p:txBody>
          <a:bodyPr wrap="square" lIns="0" tIns="0" rIns="0" bIns="0" anchor="t">
            <a:spAutoFit/>
          </a:bodyPr>
          <a:lstStyle/>
          <a:p>
            <a:pPr algn="l"/>
            <a:r>
              <a:rPr lang="es-ES_tradnl" sz="1100" b="0" i="0" noProof="0" dirty="0">
                <a:solidFill>
                  <a:srgbClr val="3E5553"/>
                </a:solidFill>
                <a:latin typeface="Calibri" panose="020F0502020204030204" pitchFamily="34" charset="0"/>
                <a:cs typeface="Calibri" panose="020F0502020204030204" pitchFamily="34" charset="0"/>
              </a:rPr>
              <a:t>Probabilidad acumulada de que el cliente abone al principal sin liquidar la deuda.</a:t>
            </a:r>
          </a:p>
        </p:txBody>
      </p:sp>
      <p:sp>
        <p:nvSpPr>
          <p:cNvPr id="93" name="Rectangle 92">
            <a:extLst>
              <a:ext uri="{FF2B5EF4-FFF2-40B4-BE49-F238E27FC236}">
                <a16:creationId xmlns:a16="http://schemas.microsoft.com/office/drawing/2014/main" id="{1C7289BA-DCA8-C4F3-BFA6-362668D0D890}"/>
              </a:ext>
            </a:extLst>
          </p:cNvPr>
          <p:cNvSpPr/>
          <p:nvPr/>
        </p:nvSpPr>
        <p:spPr>
          <a:xfrm>
            <a:off x="8402330" y="4564638"/>
            <a:ext cx="3231901" cy="512064"/>
          </a:xfrm>
          <a:prstGeom prst="rect">
            <a:avLst/>
          </a:prstGeom>
          <a:solidFill>
            <a:srgbClr val="F6F8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94" name="TextBox 93">
            <a:extLst>
              <a:ext uri="{FF2B5EF4-FFF2-40B4-BE49-F238E27FC236}">
                <a16:creationId xmlns:a16="http://schemas.microsoft.com/office/drawing/2014/main" id="{5B44576D-6D8D-286C-0C53-AF8AEFC251B0}"/>
              </a:ext>
            </a:extLst>
          </p:cNvPr>
          <p:cNvSpPr txBox="1"/>
          <p:nvPr/>
        </p:nvSpPr>
        <p:spPr>
          <a:xfrm>
            <a:off x="8512058" y="4660537"/>
            <a:ext cx="3012445" cy="338554"/>
          </a:xfrm>
          <a:prstGeom prst="rect">
            <a:avLst/>
          </a:prstGeom>
          <a:noFill/>
        </p:spPr>
        <p:txBody>
          <a:bodyPr wrap="square" lIns="0" tIns="0" rIns="0" bIns="0" anchor="ctr">
            <a:spAutoFit/>
          </a:bodyPr>
          <a:lstStyle/>
          <a:p>
            <a:pPr algn="l">
              <a:spcAft>
                <a:spcPts val="400"/>
              </a:spcAft>
            </a:pPr>
            <a:r>
              <a:rPr lang="es-ES_tradnl" sz="1100" b="1" i="0" noProof="0" dirty="0">
                <a:solidFill>
                  <a:srgbClr val="C87A0B"/>
                </a:solidFill>
                <a:latin typeface="Calibri" panose="020F0502020204030204" pitchFamily="34" charset="0"/>
                <a:cs typeface="Calibri" panose="020F0502020204030204" pitchFamily="34" charset="0"/>
              </a:rPr>
              <a:t>Reduce saldo vivo e intereses futuros, pero el crédito sigue vivo.</a:t>
            </a:r>
          </a:p>
        </p:txBody>
      </p:sp>
      <p:sp>
        <p:nvSpPr>
          <p:cNvPr id="95" name="Rectangle 94">
            <a:extLst>
              <a:ext uri="{FF2B5EF4-FFF2-40B4-BE49-F238E27FC236}">
                <a16:creationId xmlns:a16="http://schemas.microsoft.com/office/drawing/2014/main" id="{4F04ECC2-DA27-DA17-6CB6-D8E78AFB200D}"/>
              </a:ext>
            </a:extLst>
          </p:cNvPr>
          <p:cNvSpPr/>
          <p:nvPr/>
        </p:nvSpPr>
        <p:spPr>
          <a:xfrm>
            <a:off x="11999991" y="2322576"/>
            <a:ext cx="3597661" cy="2962346"/>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96" name="Rectangle 95">
            <a:extLst>
              <a:ext uri="{FF2B5EF4-FFF2-40B4-BE49-F238E27FC236}">
                <a16:creationId xmlns:a16="http://schemas.microsoft.com/office/drawing/2014/main" id="{3264F5DB-1AEB-E061-4D4B-2D5A9FA595CC}"/>
              </a:ext>
            </a:extLst>
          </p:cNvPr>
          <p:cNvSpPr/>
          <p:nvPr/>
        </p:nvSpPr>
        <p:spPr>
          <a:xfrm>
            <a:off x="11999991" y="2322576"/>
            <a:ext cx="3597661" cy="36576"/>
          </a:xfrm>
          <a:prstGeom prst="rect">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97" name="TextBox 96">
            <a:extLst>
              <a:ext uri="{FF2B5EF4-FFF2-40B4-BE49-F238E27FC236}">
                <a16:creationId xmlns:a16="http://schemas.microsoft.com/office/drawing/2014/main" id="{2D09EF5A-7A69-75A2-34EF-14DAC5B65882}"/>
              </a:ext>
            </a:extLst>
          </p:cNvPr>
          <p:cNvSpPr txBox="1"/>
          <p:nvPr/>
        </p:nvSpPr>
        <p:spPr>
          <a:xfrm>
            <a:off x="12182871" y="2433740"/>
            <a:ext cx="457200"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C04B4B"/>
                </a:solidFill>
                <a:latin typeface="Calibri" panose="020F0502020204030204" pitchFamily="34" charset="0"/>
                <a:cs typeface="Calibri" panose="020F0502020204030204" pitchFamily="34" charset="0"/>
              </a:rPr>
              <a:t>04</a:t>
            </a:r>
          </a:p>
        </p:txBody>
      </p:sp>
      <p:sp>
        <p:nvSpPr>
          <p:cNvPr id="98" name="TextBox 97">
            <a:extLst>
              <a:ext uri="{FF2B5EF4-FFF2-40B4-BE49-F238E27FC236}">
                <a16:creationId xmlns:a16="http://schemas.microsoft.com/office/drawing/2014/main" id="{F80C111F-CFED-6C71-4891-C41D15B878F7}"/>
              </a:ext>
            </a:extLst>
          </p:cNvPr>
          <p:cNvSpPr txBox="1"/>
          <p:nvPr/>
        </p:nvSpPr>
        <p:spPr>
          <a:xfrm>
            <a:off x="12621783" y="2433740"/>
            <a:ext cx="2792989" cy="276999"/>
          </a:xfrm>
          <a:prstGeom prst="rect">
            <a:avLst/>
          </a:prstGeom>
          <a:noFill/>
        </p:spPr>
        <p:txBody>
          <a:bodyPr wrap="square" lIns="0" tIns="0" rIns="0" bIns="0" anchor="t">
            <a:spAutoFit/>
          </a:bodyPr>
          <a:lstStyle/>
          <a:p>
            <a:pPr algn="l">
              <a:lnSpc>
                <a:spcPct val="100000"/>
              </a:lnSpc>
            </a:pPr>
            <a:r>
              <a:rPr lang="es-ES_tradnl" sz="1800" b="1" i="0" noProof="0" dirty="0" err="1">
                <a:solidFill>
                  <a:srgbClr val="0B2E2C"/>
                </a:solidFill>
                <a:latin typeface="Calibri" panose="020F0502020204030204" pitchFamily="34" charset="0"/>
                <a:cs typeface="Calibri" panose="020F0502020204030204" pitchFamily="34" charset="0"/>
              </a:rPr>
              <a:t>Precancelación</a:t>
            </a:r>
            <a:r>
              <a:rPr lang="es-ES_tradnl" sz="1800" b="1" i="0" noProof="0" dirty="0">
                <a:solidFill>
                  <a:srgbClr val="0B2E2C"/>
                </a:solidFill>
                <a:latin typeface="Calibri" panose="020F0502020204030204" pitchFamily="34" charset="0"/>
                <a:cs typeface="Calibri" panose="020F0502020204030204" pitchFamily="34" charset="0"/>
              </a:rPr>
              <a:t> </a:t>
            </a:r>
            <a:r>
              <a:rPr lang="es-ES_tradnl" sz="1800" b="1" i="0" noProof="0" dirty="0" err="1">
                <a:solidFill>
                  <a:srgbClr val="0B2E2C"/>
                </a:solidFill>
                <a:latin typeface="Calibri" panose="020F0502020204030204" pitchFamily="34" charset="0"/>
                <a:cs typeface="Calibri" panose="020F0502020204030204" pitchFamily="34" charset="0"/>
              </a:rPr>
              <a:t>Lifetime</a:t>
            </a:r>
            <a:endParaRPr lang="es-ES_tradnl" sz="1800" b="1" i="0" noProof="0" dirty="0">
              <a:solidFill>
                <a:srgbClr val="0B2E2C"/>
              </a:solidFill>
              <a:latin typeface="Calibri" panose="020F0502020204030204" pitchFamily="34" charset="0"/>
              <a:cs typeface="Calibri" panose="020F0502020204030204" pitchFamily="34" charset="0"/>
            </a:endParaRPr>
          </a:p>
        </p:txBody>
      </p:sp>
      <p:sp>
        <p:nvSpPr>
          <p:cNvPr id="99" name="TextBox 98">
            <a:extLst>
              <a:ext uri="{FF2B5EF4-FFF2-40B4-BE49-F238E27FC236}">
                <a16:creationId xmlns:a16="http://schemas.microsoft.com/office/drawing/2014/main" id="{F4EA9FFF-1185-E987-DC11-2C5A48B27128}"/>
              </a:ext>
            </a:extLst>
          </p:cNvPr>
          <p:cNvSpPr txBox="1"/>
          <p:nvPr/>
        </p:nvSpPr>
        <p:spPr>
          <a:xfrm>
            <a:off x="12621783" y="2743200"/>
            <a:ext cx="2792989"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Liquidación anticipada</a:t>
            </a:r>
          </a:p>
        </p:txBody>
      </p:sp>
      <p:sp>
        <p:nvSpPr>
          <p:cNvPr id="100" name="Rectangle 99">
            <a:extLst>
              <a:ext uri="{FF2B5EF4-FFF2-40B4-BE49-F238E27FC236}">
                <a16:creationId xmlns:a16="http://schemas.microsoft.com/office/drawing/2014/main" id="{DF368924-B061-C9F9-DD74-56C4A030447A}"/>
              </a:ext>
            </a:extLst>
          </p:cNvPr>
          <p:cNvSpPr/>
          <p:nvPr/>
        </p:nvSpPr>
        <p:spPr>
          <a:xfrm>
            <a:off x="12219447" y="3035808"/>
            <a:ext cx="3158749" cy="960120"/>
          </a:xfrm>
          <a:prstGeom prst="rect">
            <a:avLst/>
          </a:prstGeom>
          <a:solidFill>
            <a:srgbClr val="FAFB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101" name="Connector 99">
            <a:extLst>
              <a:ext uri="{FF2B5EF4-FFF2-40B4-BE49-F238E27FC236}">
                <a16:creationId xmlns:a16="http://schemas.microsoft.com/office/drawing/2014/main" id="{E7976A3C-7B70-6305-A4C4-48B81BB94919}"/>
              </a:ext>
            </a:extLst>
          </p:cNvPr>
          <p:cNvCxnSpPr/>
          <p:nvPr/>
        </p:nvCxnSpPr>
        <p:spPr>
          <a:xfrm flipV="1">
            <a:off x="12310887" y="3904414"/>
            <a:ext cx="247989" cy="74"/>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02" name="Connector 100">
            <a:extLst>
              <a:ext uri="{FF2B5EF4-FFF2-40B4-BE49-F238E27FC236}">
                <a16:creationId xmlns:a16="http://schemas.microsoft.com/office/drawing/2014/main" id="{300C74BC-5ADC-E489-ECD7-237CE9CF98C8}"/>
              </a:ext>
            </a:extLst>
          </p:cNvPr>
          <p:cNvCxnSpPr/>
          <p:nvPr/>
        </p:nvCxnSpPr>
        <p:spPr>
          <a:xfrm flipV="1">
            <a:off x="12558876" y="3904178"/>
            <a:ext cx="247989" cy="236"/>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03" name="Connector 101">
            <a:extLst>
              <a:ext uri="{FF2B5EF4-FFF2-40B4-BE49-F238E27FC236}">
                <a16:creationId xmlns:a16="http://schemas.microsoft.com/office/drawing/2014/main" id="{02A878F7-D5B4-8AE0-6046-40A58065BB8F}"/>
              </a:ext>
            </a:extLst>
          </p:cNvPr>
          <p:cNvCxnSpPr/>
          <p:nvPr/>
        </p:nvCxnSpPr>
        <p:spPr>
          <a:xfrm flipV="1">
            <a:off x="12806865" y="3903422"/>
            <a:ext cx="247989" cy="756"/>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04" name="Connector 102">
            <a:extLst>
              <a:ext uri="{FF2B5EF4-FFF2-40B4-BE49-F238E27FC236}">
                <a16:creationId xmlns:a16="http://schemas.microsoft.com/office/drawing/2014/main" id="{63D6E9BB-8B1A-CBBC-FD87-511A3B9FBF39}"/>
              </a:ext>
            </a:extLst>
          </p:cNvPr>
          <p:cNvCxnSpPr/>
          <p:nvPr/>
        </p:nvCxnSpPr>
        <p:spPr>
          <a:xfrm flipV="1">
            <a:off x="13054854" y="3901004"/>
            <a:ext cx="247989" cy="2418"/>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05" name="Connector 103">
            <a:extLst>
              <a:ext uri="{FF2B5EF4-FFF2-40B4-BE49-F238E27FC236}">
                <a16:creationId xmlns:a16="http://schemas.microsoft.com/office/drawing/2014/main" id="{7E8E5402-1BDE-E921-D74C-7ED75EDFCF5E}"/>
              </a:ext>
            </a:extLst>
          </p:cNvPr>
          <p:cNvCxnSpPr/>
          <p:nvPr/>
        </p:nvCxnSpPr>
        <p:spPr>
          <a:xfrm flipV="1">
            <a:off x="13302843" y="3893336"/>
            <a:ext cx="247989" cy="7668"/>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06" name="Connector 104">
            <a:extLst>
              <a:ext uri="{FF2B5EF4-FFF2-40B4-BE49-F238E27FC236}">
                <a16:creationId xmlns:a16="http://schemas.microsoft.com/office/drawing/2014/main" id="{DE408FD3-FB5B-E987-D0F0-3542989195BE}"/>
              </a:ext>
            </a:extLst>
          </p:cNvPr>
          <p:cNvCxnSpPr/>
          <p:nvPr/>
        </p:nvCxnSpPr>
        <p:spPr>
          <a:xfrm flipV="1">
            <a:off x="13550832" y="3869690"/>
            <a:ext cx="247989" cy="23646"/>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07" name="Connector 105">
            <a:extLst>
              <a:ext uri="{FF2B5EF4-FFF2-40B4-BE49-F238E27FC236}">
                <a16:creationId xmlns:a16="http://schemas.microsoft.com/office/drawing/2014/main" id="{385D9FB3-6E50-2049-A5A6-3644EFEA8E5A}"/>
              </a:ext>
            </a:extLst>
          </p:cNvPr>
          <p:cNvCxnSpPr/>
          <p:nvPr/>
        </p:nvCxnSpPr>
        <p:spPr>
          <a:xfrm flipV="1">
            <a:off x="13798821" y="3802575"/>
            <a:ext cx="247989" cy="67115"/>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08" name="Connector 106">
            <a:extLst>
              <a:ext uri="{FF2B5EF4-FFF2-40B4-BE49-F238E27FC236}">
                <a16:creationId xmlns:a16="http://schemas.microsoft.com/office/drawing/2014/main" id="{EF2C1882-693D-EF41-E69F-2899458C0B7F}"/>
              </a:ext>
            </a:extLst>
          </p:cNvPr>
          <p:cNvCxnSpPr/>
          <p:nvPr/>
        </p:nvCxnSpPr>
        <p:spPr>
          <a:xfrm flipV="1">
            <a:off x="14046810" y="3649631"/>
            <a:ext cx="247989" cy="152944"/>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09" name="Connector 107">
            <a:extLst>
              <a:ext uri="{FF2B5EF4-FFF2-40B4-BE49-F238E27FC236}">
                <a16:creationId xmlns:a16="http://schemas.microsoft.com/office/drawing/2014/main" id="{91F04CCB-91B3-EA70-AF34-FEF00A9C4740}"/>
              </a:ext>
            </a:extLst>
          </p:cNvPr>
          <p:cNvCxnSpPr/>
          <p:nvPr/>
        </p:nvCxnSpPr>
        <p:spPr>
          <a:xfrm flipV="1">
            <a:off x="14294799" y="3426142"/>
            <a:ext cx="247990" cy="223489"/>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10" name="Connector 108">
            <a:extLst>
              <a:ext uri="{FF2B5EF4-FFF2-40B4-BE49-F238E27FC236}">
                <a16:creationId xmlns:a16="http://schemas.microsoft.com/office/drawing/2014/main" id="{2C722E4F-A2B2-5764-8228-23B23BDEE603}"/>
              </a:ext>
            </a:extLst>
          </p:cNvPr>
          <p:cNvCxnSpPr/>
          <p:nvPr/>
        </p:nvCxnSpPr>
        <p:spPr>
          <a:xfrm flipV="1">
            <a:off x="14542789" y="3246468"/>
            <a:ext cx="247989" cy="179674"/>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11" name="Connector 109">
            <a:extLst>
              <a:ext uri="{FF2B5EF4-FFF2-40B4-BE49-F238E27FC236}">
                <a16:creationId xmlns:a16="http://schemas.microsoft.com/office/drawing/2014/main" id="{0447CAFB-4125-115A-F85C-35E6C91B6991}"/>
              </a:ext>
            </a:extLst>
          </p:cNvPr>
          <p:cNvCxnSpPr/>
          <p:nvPr/>
        </p:nvCxnSpPr>
        <p:spPr>
          <a:xfrm flipV="1">
            <a:off x="14790778" y="3159307"/>
            <a:ext cx="247989" cy="87161"/>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cxnSp>
        <p:nvCxnSpPr>
          <p:cNvPr id="112" name="Connector 110">
            <a:extLst>
              <a:ext uri="{FF2B5EF4-FFF2-40B4-BE49-F238E27FC236}">
                <a16:creationId xmlns:a16="http://schemas.microsoft.com/office/drawing/2014/main" id="{D91FFA51-725D-657D-CCE3-D11CA035BDE7}"/>
              </a:ext>
            </a:extLst>
          </p:cNvPr>
          <p:cNvCxnSpPr/>
          <p:nvPr/>
        </p:nvCxnSpPr>
        <p:spPr>
          <a:xfrm flipV="1">
            <a:off x="15038767" y="3127248"/>
            <a:ext cx="247989" cy="32059"/>
          </a:xfrm>
          <a:prstGeom prst="line">
            <a:avLst/>
          </a:prstGeom>
          <a:ln w="22225">
            <a:solidFill>
              <a:srgbClr val="C04B4B"/>
            </a:solidFill>
          </a:ln>
        </p:spPr>
        <p:style>
          <a:lnRef idx="2">
            <a:schemeClr val="accent1"/>
          </a:lnRef>
          <a:fillRef idx="0">
            <a:schemeClr val="accent1"/>
          </a:fillRef>
          <a:effectRef idx="1">
            <a:schemeClr val="accent1"/>
          </a:effectRef>
          <a:fontRef idx="minor">
            <a:schemeClr val="tx1"/>
          </a:fontRef>
        </p:style>
      </p:cxnSp>
      <p:sp>
        <p:nvSpPr>
          <p:cNvPr id="113" name="Oval 112">
            <a:extLst>
              <a:ext uri="{FF2B5EF4-FFF2-40B4-BE49-F238E27FC236}">
                <a16:creationId xmlns:a16="http://schemas.microsoft.com/office/drawing/2014/main" id="{E577662A-BE4C-0087-45D0-90FBDC2D097C}"/>
              </a:ext>
            </a:extLst>
          </p:cNvPr>
          <p:cNvSpPr/>
          <p:nvPr/>
        </p:nvSpPr>
        <p:spPr>
          <a:xfrm>
            <a:off x="12278883" y="3872484"/>
            <a:ext cx="64008" cy="64008"/>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14" name="Oval 113">
            <a:extLst>
              <a:ext uri="{FF2B5EF4-FFF2-40B4-BE49-F238E27FC236}">
                <a16:creationId xmlns:a16="http://schemas.microsoft.com/office/drawing/2014/main" id="{FFBBA781-5DE3-546F-DCA5-E648C69369E5}"/>
              </a:ext>
            </a:extLst>
          </p:cNvPr>
          <p:cNvSpPr/>
          <p:nvPr/>
        </p:nvSpPr>
        <p:spPr>
          <a:xfrm>
            <a:off x="13022850" y="3871418"/>
            <a:ext cx="64008" cy="64008"/>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15" name="Oval 114">
            <a:extLst>
              <a:ext uri="{FF2B5EF4-FFF2-40B4-BE49-F238E27FC236}">
                <a16:creationId xmlns:a16="http://schemas.microsoft.com/office/drawing/2014/main" id="{E1FA4E16-C23E-7593-2085-233B641FA301}"/>
              </a:ext>
            </a:extLst>
          </p:cNvPr>
          <p:cNvSpPr/>
          <p:nvPr/>
        </p:nvSpPr>
        <p:spPr>
          <a:xfrm>
            <a:off x="13766817" y="3837686"/>
            <a:ext cx="64008" cy="64008"/>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16" name="Oval 115">
            <a:extLst>
              <a:ext uri="{FF2B5EF4-FFF2-40B4-BE49-F238E27FC236}">
                <a16:creationId xmlns:a16="http://schemas.microsoft.com/office/drawing/2014/main" id="{7773DEEB-CA8B-0A06-181E-7DB723BCAC91}"/>
              </a:ext>
            </a:extLst>
          </p:cNvPr>
          <p:cNvSpPr/>
          <p:nvPr/>
        </p:nvSpPr>
        <p:spPr>
          <a:xfrm>
            <a:off x="14510785" y="3394138"/>
            <a:ext cx="64008" cy="64008"/>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17" name="Oval 116">
            <a:extLst>
              <a:ext uri="{FF2B5EF4-FFF2-40B4-BE49-F238E27FC236}">
                <a16:creationId xmlns:a16="http://schemas.microsoft.com/office/drawing/2014/main" id="{61B5B6DF-59C8-DFEF-3E97-A0EFF814EC74}"/>
              </a:ext>
            </a:extLst>
          </p:cNvPr>
          <p:cNvSpPr/>
          <p:nvPr/>
        </p:nvSpPr>
        <p:spPr>
          <a:xfrm>
            <a:off x="15254752" y="3095244"/>
            <a:ext cx="64008" cy="64008"/>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118" name="Connector 116">
            <a:extLst>
              <a:ext uri="{FF2B5EF4-FFF2-40B4-BE49-F238E27FC236}">
                <a16:creationId xmlns:a16="http://schemas.microsoft.com/office/drawing/2014/main" id="{7F163B7C-CE73-839E-8C36-3EFA2219F6F5}"/>
              </a:ext>
            </a:extLst>
          </p:cNvPr>
          <p:cNvCxnSpPr/>
          <p:nvPr/>
        </p:nvCxnSpPr>
        <p:spPr>
          <a:xfrm>
            <a:off x="12310887" y="3904488"/>
            <a:ext cx="2975869" cy="0"/>
          </a:xfrm>
          <a:prstGeom prst="line">
            <a:avLst/>
          </a:prstGeom>
          <a:ln w="9525">
            <a:solidFill>
              <a:srgbClr val="D5DFDE"/>
            </a:solidFill>
          </a:ln>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67A13D88-4A63-B046-5EE6-1BF17CDA8510}"/>
              </a:ext>
            </a:extLst>
          </p:cNvPr>
          <p:cNvSpPr txBox="1"/>
          <p:nvPr/>
        </p:nvSpPr>
        <p:spPr>
          <a:xfrm>
            <a:off x="12219447" y="3977640"/>
            <a:ext cx="3158749"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9AA8A7"/>
                </a:solidFill>
                <a:latin typeface="Calibri" panose="020F0502020204030204" pitchFamily="34" charset="0"/>
                <a:cs typeface="Calibri" panose="020F0502020204030204" pitchFamily="34" charset="0"/>
              </a:rPr>
              <a:t>meses</a:t>
            </a:r>
          </a:p>
        </p:txBody>
      </p:sp>
      <p:sp>
        <p:nvSpPr>
          <p:cNvPr id="120" name="TextBox 119">
            <a:extLst>
              <a:ext uri="{FF2B5EF4-FFF2-40B4-BE49-F238E27FC236}">
                <a16:creationId xmlns:a16="http://schemas.microsoft.com/office/drawing/2014/main" id="{609DFD1A-C8CA-4749-1166-DB6F05BD8A9A}"/>
              </a:ext>
            </a:extLst>
          </p:cNvPr>
          <p:cNvSpPr txBox="1"/>
          <p:nvPr/>
        </p:nvSpPr>
        <p:spPr>
          <a:xfrm>
            <a:off x="12182871" y="4208022"/>
            <a:ext cx="3231901" cy="338554"/>
          </a:xfrm>
          <a:prstGeom prst="rect">
            <a:avLst/>
          </a:prstGeom>
          <a:noFill/>
        </p:spPr>
        <p:txBody>
          <a:bodyPr wrap="square" lIns="0" tIns="0" rIns="0" bIns="0" anchor="t">
            <a:spAutoFit/>
          </a:bodyPr>
          <a:lstStyle/>
          <a:p>
            <a:pPr algn="l"/>
            <a:r>
              <a:rPr lang="es-ES_tradnl" sz="1100" b="0" i="0" noProof="0" dirty="0">
                <a:solidFill>
                  <a:srgbClr val="3E5553"/>
                </a:solidFill>
                <a:latin typeface="Calibri" panose="020F0502020204030204" pitchFamily="34" charset="0"/>
                <a:cs typeface="Calibri" panose="020F0502020204030204" pitchFamily="34" charset="0"/>
              </a:rPr>
              <a:t>Probabilidad acumulada de que el cliente liquide totalmente la deuda antes del vencimiento.</a:t>
            </a:r>
          </a:p>
        </p:txBody>
      </p:sp>
      <p:sp>
        <p:nvSpPr>
          <p:cNvPr id="121" name="Rectangle 120">
            <a:extLst>
              <a:ext uri="{FF2B5EF4-FFF2-40B4-BE49-F238E27FC236}">
                <a16:creationId xmlns:a16="http://schemas.microsoft.com/office/drawing/2014/main" id="{CD1CB34A-A022-2BC6-B019-8A6F3674009C}"/>
              </a:ext>
            </a:extLst>
          </p:cNvPr>
          <p:cNvSpPr/>
          <p:nvPr/>
        </p:nvSpPr>
        <p:spPr>
          <a:xfrm>
            <a:off x="12182871" y="4564638"/>
            <a:ext cx="3231901" cy="512064"/>
          </a:xfrm>
          <a:prstGeom prst="rect">
            <a:avLst/>
          </a:prstGeom>
          <a:solidFill>
            <a:srgbClr val="F6F8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22" name="TextBox 121">
            <a:extLst>
              <a:ext uri="{FF2B5EF4-FFF2-40B4-BE49-F238E27FC236}">
                <a16:creationId xmlns:a16="http://schemas.microsoft.com/office/drawing/2014/main" id="{D15BE502-600F-85FC-2831-AA86B2436795}"/>
              </a:ext>
            </a:extLst>
          </p:cNvPr>
          <p:cNvSpPr txBox="1"/>
          <p:nvPr/>
        </p:nvSpPr>
        <p:spPr>
          <a:xfrm>
            <a:off x="12292599" y="4660537"/>
            <a:ext cx="3012445" cy="338554"/>
          </a:xfrm>
          <a:prstGeom prst="rect">
            <a:avLst/>
          </a:prstGeom>
          <a:noFill/>
        </p:spPr>
        <p:txBody>
          <a:bodyPr wrap="square" lIns="0" tIns="0" rIns="0" bIns="0" anchor="ctr">
            <a:spAutoFit/>
          </a:bodyPr>
          <a:lstStyle/>
          <a:p>
            <a:pPr algn="l">
              <a:spcAft>
                <a:spcPts val="400"/>
              </a:spcAft>
            </a:pPr>
            <a:r>
              <a:rPr lang="es-ES_tradnl" sz="1100" b="1" i="0" noProof="0" dirty="0">
                <a:solidFill>
                  <a:srgbClr val="C04B4B"/>
                </a:solidFill>
                <a:latin typeface="Calibri" panose="020F0502020204030204" pitchFamily="34" charset="0"/>
                <a:cs typeface="Calibri" panose="020F0502020204030204" pitchFamily="34" charset="0"/>
              </a:rPr>
              <a:t>Cuando ocurre, el crédito se liquida y todos los flujos futuros terminan.</a:t>
            </a:r>
          </a:p>
        </p:txBody>
      </p:sp>
      <p:cxnSp>
        <p:nvCxnSpPr>
          <p:cNvPr id="123" name="Connector 121">
            <a:extLst>
              <a:ext uri="{FF2B5EF4-FFF2-40B4-BE49-F238E27FC236}">
                <a16:creationId xmlns:a16="http://schemas.microsoft.com/office/drawing/2014/main" id="{0CCFF80C-6720-6343-09C1-6DA7F1161CDD}"/>
              </a:ext>
            </a:extLst>
          </p:cNvPr>
          <p:cNvCxnSpPr/>
          <p:nvPr/>
        </p:nvCxnSpPr>
        <p:spPr>
          <a:xfrm>
            <a:off x="932688" y="5660136"/>
            <a:ext cx="14390644" cy="0"/>
          </a:xfrm>
          <a:prstGeom prst="line">
            <a:avLst/>
          </a:prstGeom>
          <a:ln w="15875">
            <a:solidFill>
              <a:srgbClr val="D5DFDE"/>
            </a:solidFill>
          </a:ln>
        </p:spPr>
        <p:style>
          <a:lnRef idx="2">
            <a:schemeClr val="accent1"/>
          </a:lnRef>
          <a:fillRef idx="0">
            <a:schemeClr val="accent1"/>
          </a:fillRef>
          <a:effectRef idx="1">
            <a:schemeClr val="accent1"/>
          </a:effectRef>
          <a:fontRef idx="minor">
            <a:schemeClr val="tx1"/>
          </a:fontRef>
        </p:style>
      </p:cxnSp>
      <p:sp>
        <p:nvSpPr>
          <p:cNvPr id="124" name="Oval 123">
            <a:extLst>
              <a:ext uri="{FF2B5EF4-FFF2-40B4-BE49-F238E27FC236}">
                <a16:creationId xmlns:a16="http://schemas.microsoft.com/office/drawing/2014/main" id="{09D33BBF-C2BA-B24C-700D-08F118CE7CB3}"/>
              </a:ext>
            </a:extLst>
          </p:cNvPr>
          <p:cNvSpPr/>
          <p:nvPr/>
        </p:nvSpPr>
        <p:spPr>
          <a:xfrm>
            <a:off x="882396" y="5609844"/>
            <a:ext cx="100584" cy="100584"/>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25" name="Oval 124">
            <a:extLst>
              <a:ext uri="{FF2B5EF4-FFF2-40B4-BE49-F238E27FC236}">
                <a16:creationId xmlns:a16="http://schemas.microsoft.com/office/drawing/2014/main" id="{48AF0705-0EF6-8B10-6BDC-7F28B202CD8E}"/>
              </a:ext>
            </a:extLst>
          </p:cNvPr>
          <p:cNvSpPr/>
          <p:nvPr/>
        </p:nvSpPr>
        <p:spPr>
          <a:xfrm>
            <a:off x="15273040" y="5609844"/>
            <a:ext cx="100584" cy="100584"/>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26" name="TextBox 125">
            <a:extLst>
              <a:ext uri="{FF2B5EF4-FFF2-40B4-BE49-F238E27FC236}">
                <a16:creationId xmlns:a16="http://schemas.microsoft.com/office/drawing/2014/main" id="{44854813-AB5F-119B-D977-D1C44D79B5C2}"/>
              </a:ext>
            </a:extLst>
          </p:cNvPr>
          <p:cNvSpPr txBox="1"/>
          <p:nvPr/>
        </p:nvSpPr>
        <p:spPr>
          <a:xfrm>
            <a:off x="932688" y="5788152"/>
            <a:ext cx="2194560" cy="169277"/>
          </a:xfrm>
          <a:prstGeom prst="rect">
            <a:avLst/>
          </a:prstGeom>
          <a:noFill/>
        </p:spPr>
        <p:txBody>
          <a:bodyPr wrap="square" lIns="0" tIns="0" rIns="0" bIns="0" anchor="t">
            <a:spAutoFit/>
          </a:bodyPr>
          <a:lstStyle/>
          <a:p>
            <a:pPr algn="l">
              <a:lnSpc>
                <a:spcPct val="100000"/>
              </a:lnSpc>
            </a:pPr>
            <a:r>
              <a:rPr lang="es-ES_tradnl" sz="1100" b="1" i="0" noProof="0" dirty="0">
                <a:solidFill>
                  <a:srgbClr val="6E7E7D"/>
                </a:solidFill>
                <a:latin typeface="Calibri" panose="020F0502020204030204" pitchFamily="34" charset="0"/>
                <a:cs typeface="Calibri" panose="020F0502020204030204" pitchFamily="34" charset="0"/>
              </a:rPr>
              <a:t>Desembolso  ·  t = 0</a:t>
            </a:r>
          </a:p>
        </p:txBody>
      </p:sp>
      <p:sp>
        <p:nvSpPr>
          <p:cNvPr id="127" name="TextBox 126">
            <a:extLst>
              <a:ext uri="{FF2B5EF4-FFF2-40B4-BE49-F238E27FC236}">
                <a16:creationId xmlns:a16="http://schemas.microsoft.com/office/drawing/2014/main" id="{5F208391-2EA6-F61B-0DCB-148BC7E6EABE}"/>
              </a:ext>
            </a:extLst>
          </p:cNvPr>
          <p:cNvSpPr txBox="1"/>
          <p:nvPr/>
        </p:nvSpPr>
        <p:spPr>
          <a:xfrm>
            <a:off x="13128772" y="5788152"/>
            <a:ext cx="2194560" cy="169277"/>
          </a:xfrm>
          <a:prstGeom prst="rect">
            <a:avLst/>
          </a:prstGeom>
          <a:noFill/>
        </p:spPr>
        <p:txBody>
          <a:bodyPr wrap="square" lIns="0" tIns="0" rIns="0" bIns="0" anchor="t">
            <a:spAutoFit/>
          </a:bodyPr>
          <a:lstStyle/>
          <a:p>
            <a:pPr algn="r">
              <a:lnSpc>
                <a:spcPct val="100000"/>
              </a:lnSpc>
            </a:pPr>
            <a:r>
              <a:rPr lang="es-ES_tradnl" sz="1100" b="1" i="0" noProof="0" dirty="0">
                <a:solidFill>
                  <a:srgbClr val="6E7E7D"/>
                </a:solidFill>
                <a:latin typeface="Calibri" panose="020F0502020204030204" pitchFamily="34" charset="0"/>
                <a:cs typeface="Calibri" panose="020F0502020204030204" pitchFamily="34" charset="0"/>
              </a:rPr>
              <a:t>Fin de plazo  ·  t = N</a:t>
            </a:r>
          </a:p>
        </p:txBody>
      </p:sp>
      <p:sp>
        <p:nvSpPr>
          <p:cNvPr id="128" name="Rectangle 127">
            <a:extLst>
              <a:ext uri="{FF2B5EF4-FFF2-40B4-BE49-F238E27FC236}">
                <a16:creationId xmlns:a16="http://schemas.microsoft.com/office/drawing/2014/main" id="{02758575-1A97-0D8D-E6F2-80D30265CBD9}"/>
              </a:ext>
            </a:extLst>
          </p:cNvPr>
          <p:cNvSpPr/>
          <p:nvPr/>
        </p:nvSpPr>
        <p:spPr>
          <a:xfrm>
            <a:off x="6436370" y="5477255"/>
            <a:ext cx="3383280" cy="36576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HORIZONTE DEL CRÉDITO  (ej.: 24 meses)</a:t>
            </a:r>
          </a:p>
        </p:txBody>
      </p:sp>
      <p:sp>
        <p:nvSpPr>
          <p:cNvPr id="129" name="TextBox 128">
            <a:extLst>
              <a:ext uri="{FF2B5EF4-FFF2-40B4-BE49-F238E27FC236}">
                <a16:creationId xmlns:a16="http://schemas.microsoft.com/office/drawing/2014/main" id="{F6B46730-BC94-3159-C53D-C70419C32A68}"/>
              </a:ext>
            </a:extLst>
          </p:cNvPr>
          <p:cNvSpPr txBox="1"/>
          <p:nvPr/>
        </p:nvSpPr>
        <p:spPr>
          <a:xfrm>
            <a:off x="658368" y="6190488"/>
            <a:ext cx="14939284"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¿Cómo interactúan las curvas?</a:t>
            </a:r>
          </a:p>
        </p:txBody>
      </p:sp>
      <p:cxnSp>
        <p:nvCxnSpPr>
          <p:cNvPr id="130" name="Connector 128">
            <a:extLst>
              <a:ext uri="{FF2B5EF4-FFF2-40B4-BE49-F238E27FC236}">
                <a16:creationId xmlns:a16="http://schemas.microsoft.com/office/drawing/2014/main" id="{84E50901-4399-6248-D629-D8860BBC31A6}"/>
              </a:ext>
            </a:extLst>
          </p:cNvPr>
          <p:cNvCxnSpPr/>
          <p:nvPr/>
        </p:nvCxnSpPr>
        <p:spPr>
          <a:xfrm>
            <a:off x="658368" y="6483096"/>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31" name="Rectangle 130">
            <a:extLst>
              <a:ext uri="{FF2B5EF4-FFF2-40B4-BE49-F238E27FC236}">
                <a16:creationId xmlns:a16="http://schemas.microsoft.com/office/drawing/2014/main" id="{810CF2FC-AA5A-923C-8DC0-C6AEEF24C315}"/>
              </a:ext>
            </a:extLst>
          </p:cNvPr>
          <p:cNvSpPr/>
          <p:nvPr/>
        </p:nvSpPr>
        <p:spPr>
          <a:xfrm>
            <a:off x="658368" y="6592824"/>
            <a:ext cx="3597661" cy="89611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32" name="Rectangle 131">
            <a:extLst>
              <a:ext uri="{FF2B5EF4-FFF2-40B4-BE49-F238E27FC236}">
                <a16:creationId xmlns:a16="http://schemas.microsoft.com/office/drawing/2014/main" id="{C10EFBD0-923E-D8E4-7D7E-D8033BB3C059}"/>
              </a:ext>
            </a:extLst>
          </p:cNvPr>
          <p:cNvSpPr/>
          <p:nvPr/>
        </p:nvSpPr>
        <p:spPr>
          <a:xfrm>
            <a:off x="658368" y="6592824"/>
            <a:ext cx="36576" cy="896112"/>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33" name="TextBox 132">
            <a:extLst>
              <a:ext uri="{FF2B5EF4-FFF2-40B4-BE49-F238E27FC236}">
                <a16:creationId xmlns:a16="http://schemas.microsoft.com/office/drawing/2014/main" id="{9AC03C6F-97B0-F891-BEB8-CAEC16A05D02}"/>
              </a:ext>
            </a:extLst>
          </p:cNvPr>
          <p:cNvSpPr txBox="1"/>
          <p:nvPr/>
        </p:nvSpPr>
        <p:spPr>
          <a:xfrm>
            <a:off x="841247" y="6702552"/>
            <a:ext cx="3268477"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C514E"/>
                </a:solidFill>
                <a:latin typeface="Calibri" panose="020F0502020204030204" pitchFamily="34" charset="0"/>
                <a:cs typeface="Calibri" panose="020F0502020204030204" pitchFamily="34" charset="0"/>
              </a:rPr>
              <a:t>Exposición en riesgo (EAD)</a:t>
            </a:r>
          </a:p>
        </p:txBody>
      </p:sp>
      <p:sp>
        <p:nvSpPr>
          <p:cNvPr id="134" name="TextBox 133">
            <a:extLst>
              <a:ext uri="{FF2B5EF4-FFF2-40B4-BE49-F238E27FC236}">
                <a16:creationId xmlns:a16="http://schemas.microsoft.com/office/drawing/2014/main" id="{1572E1A4-1036-C1A0-A6BB-C3C2F975F180}"/>
              </a:ext>
            </a:extLst>
          </p:cNvPr>
          <p:cNvSpPr txBox="1"/>
          <p:nvPr/>
        </p:nvSpPr>
        <p:spPr>
          <a:xfrm>
            <a:off x="841247" y="6940296"/>
            <a:ext cx="3268477" cy="338554"/>
          </a:xfrm>
          <a:prstGeom prst="rect">
            <a:avLst/>
          </a:prstGeom>
          <a:noFill/>
        </p:spPr>
        <p:txBody>
          <a:bodyPr wrap="square" lIns="0" tIns="0" rIns="0" bIns="0" anchor="t">
            <a:spAutoFit/>
          </a:bodyPr>
          <a:lstStyle/>
          <a:p>
            <a:pPr algn="l"/>
            <a:r>
              <a:rPr lang="es-ES_tradnl" sz="1100" b="0" i="0" noProof="0" dirty="0">
                <a:solidFill>
                  <a:srgbClr val="6E7E7D"/>
                </a:solidFill>
                <a:latin typeface="Calibri" panose="020F0502020204030204" pitchFamily="34" charset="0"/>
                <a:cs typeface="Calibri" panose="020F0502020204030204" pitchFamily="34" charset="0"/>
              </a:rPr>
              <a:t>La exposición cambia en el tiempo por amortizaciones, prepagos y </a:t>
            </a:r>
            <a:r>
              <a:rPr lang="es-ES_tradnl" sz="1100" b="0" i="0" noProof="0" dirty="0" err="1">
                <a:solidFill>
                  <a:srgbClr val="6E7E7D"/>
                </a:solidFill>
                <a:latin typeface="Calibri" panose="020F0502020204030204" pitchFamily="34" charset="0"/>
                <a:cs typeface="Calibri" panose="020F0502020204030204" pitchFamily="34" charset="0"/>
              </a:rPr>
              <a:t>precancelaciones</a:t>
            </a:r>
            <a:r>
              <a:rPr lang="es-ES_tradnl" sz="1100" b="0" i="0" noProof="0" dirty="0">
                <a:solidFill>
                  <a:srgbClr val="6E7E7D"/>
                </a:solidFill>
                <a:latin typeface="Calibri" panose="020F0502020204030204" pitchFamily="34" charset="0"/>
                <a:cs typeface="Calibri" panose="020F0502020204030204" pitchFamily="34" charset="0"/>
              </a:rPr>
              <a:t>.</a:t>
            </a:r>
          </a:p>
        </p:txBody>
      </p:sp>
      <p:sp>
        <p:nvSpPr>
          <p:cNvPr id="135" name="Rectangle 134">
            <a:extLst>
              <a:ext uri="{FF2B5EF4-FFF2-40B4-BE49-F238E27FC236}">
                <a16:creationId xmlns:a16="http://schemas.microsoft.com/office/drawing/2014/main" id="{BBBE38D6-FDD7-C60E-5140-E86C961C2B18}"/>
              </a:ext>
            </a:extLst>
          </p:cNvPr>
          <p:cNvSpPr/>
          <p:nvPr/>
        </p:nvSpPr>
        <p:spPr>
          <a:xfrm>
            <a:off x="4438909" y="6592824"/>
            <a:ext cx="3597661" cy="89611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36" name="Rectangle 135">
            <a:extLst>
              <a:ext uri="{FF2B5EF4-FFF2-40B4-BE49-F238E27FC236}">
                <a16:creationId xmlns:a16="http://schemas.microsoft.com/office/drawing/2014/main" id="{9811D9CB-A94F-E10D-282D-4A250F57E097}"/>
              </a:ext>
            </a:extLst>
          </p:cNvPr>
          <p:cNvSpPr/>
          <p:nvPr/>
        </p:nvSpPr>
        <p:spPr>
          <a:xfrm>
            <a:off x="4438909" y="6592824"/>
            <a:ext cx="36576" cy="896112"/>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37" name="TextBox 136">
            <a:extLst>
              <a:ext uri="{FF2B5EF4-FFF2-40B4-BE49-F238E27FC236}">
                <a16:creationId xmlns:a16="http://schemas.microsoft.com/office/drawing/2014/main" id="{D50ADAF1-9DDB-7E5A-1AF6-672F333F3201}"/>
              </a:ext>
            </a:extLst>
          </p:cNvPr>
          <p:cNvSpPr txBox="1"/>
          <p:nvPr/>
        </p:nvSpPr>
        <p:spPr>
          <a:xfrm>
            <a:off x="4621789" y="6702552"/>
            <a:ext cx="3268477"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C514E"/>
                </a:solidFill>
                <a:latin typeface="Calibri" panose="020F0502020204030204" pitchFamily="34" charset="0"/>
                <a:cs typeface="Calibri" panose="020F0502020204030204" pitchFamily="34" charset="0"/>
              </a:rPr>
              <a:t>Pérdida esperada (PE)</a:t>
            </a:r>
          </a:p>
        </p:txBody>
      </p:sp>
      <p:sp>
        <p:nvSpPr>
          <p:cNvPr id="138" name="TextBox 137">
            <a:extLst>
              <a:ext uri="{FF2B5EF4-FFF2-40B4-BE49-F238E27FC236}">
                <a16:creationId xmlns:a16="http://schemas.microsoft.com/office/drawing/2014/main" id="{3D82EF87-2D94-5B74-2622-B4453DA7B73C}"/>
              </a:ext>
            </a:extLst>
          </p:cNvPr>
          <p:cNvSpPr txBox="1"/>
          <p:nvPr/>
        </p:nvSpPr>
        <p:spPr>
          <a:xfrm>
            <a:off x="4621789" y="6940296"/>
            <a:ext cx="3268477" cy="338554"/>
          </a:xfrm>
          <a:prstGeom prst="rect">
            <a:avLst/>
          </a:prstGeom>
          <a:noFill/>
        </p:spPr>
        <p:txBody>
          <a:bodyPr wrap="square" lIns="0" tIns="0" rIns="0" bIns="0" anchor="t">
            <a:spAutoFit/>
          </a:bodyPr>
          <a:lstStyle/>
          <a:p>
            <a:pPr algn="l"/>
            <a:r>
              <a:rPr lang="es-ES_tradnl" sz="1100" b="0" i="0" noProof="0" dirty="0">
                <a:solidFill>
                  <a:srgbClr val="6E7E7D"/>
                </a:solidFill>
                <a:latin typeface="Calibri" panose="020F0502020204030204" pitchFamily="34" charset="0"/>
                <a:cs typeface="Calibri" panose="020F0502020204030204" pitchFamily="34" charset="0"/>
              </a:rPr>
              <a:t>Se calcula integrando las curvas de PD, LGD y EAD a lo largo del tiempo.</a:t>
            </a:r>
          </a:p>
        </p:txBody>
      </p:sp>
      <p:sp>
        <p:nvSpPr>
          <p:cNvPr id="139" name="Rectangle 138">
            <a:extLst>
              <a:ext uri="{FF2B5EF4-FFF2-40B4-BE49-F238E27FC236}">
                <a16:creationId xmlns:a16="http://schemas.microsoft.com/office/drawing/2014/main" id="{CC7F6A0B-6422-A5FE-8E1D-A3C2E77CDCD6}"/>
              </a:ext>
            </a:extLst>
          </p:cNvPr>
          <p:cNvSpPr/>
          <p:nvPr/>
        </p:nvSpPr>
        <p:spPr>
          <a:xfrm>
            <a:off x="8219450" y="6592824"/>
            <a:ext cx="3597661" cy="89611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40" name="Rectangle 139">
            <a:extLst>
              <a:ext uri="{FF2B5EF4-FFF2-40B4-BE49-F238E27FC236}">
                <a16:creationId xmlns:a16="http://schemas.microsoft.com/office/drawing/2014/main" id="{A1FE3C7B-2ADC-124D-3552-3FDF3E80915C}"/>
              </a:ext>
            </a:extLst>
          </p:cNvPr>
          <p:cNvSpPr/>
          <p:nvPr/>
        </p:nvSpPr>
        <p:spPr>
          <a:xfrm>
            <a:off x="8219450" y="6592824"/>
            <a:ext cx="36576" cy="896112"/>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41" name="TextBox 140">
            <a:extLst>
              <a:ext uri="{FF2B5EF4-FFF2-40B4-BE49-F238E27FC236}">
                <a16:creationId xmlns:a16="http://schemas.microsoft.com/office/drawing/2014/main" id="{8B8D6E7E-36E8-1D2A-6ABC-01E9601669D7}"/>
              </a:ext>
            </a:extLst>
          </p:cNvPr>
          <p:cNvSpPr txBox="1"/>
          <p:nvPr/>
        </p:nvSpPr>
        <p:spPr>
          <a:xfrm>
            <a:off x="8402330" y="6702552"/>
            <a:ext cx="3268477"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C514E"/>
                </a:solidFill>
                <a:latin typeface="Calibri" panose="020F0502020204030204" pitchFamily="34" charset="0"/>
                <a:cs typeface="Calibri" panose="020F0502020204030204" pitchFamily="34" charset="0"/>
              </a:rPr>
              <a:t>Capital regulatorio</a:t>
            </a:r>
          </a:p>
        </p:txBody>
      </p:sp>
      <p:sp>
        <p:nvSpPr>
          <p:cNvPr id="142" name="TextBox 141">
            <a:extLst>
              <a:ext uri="{FF2B5EF4-FFF2-40B4-BE49-F238E27FC236}">
                <a16:creationId xmlns:a16="http://schemas.microsoft.com/office/drawing/2014/main" id="{71BF8EA2-D51F-E4BC-F832-93E56D0A9D0D}"/>
              </a:ext>
            </a:extLst>
          </p:cNvPr>
          <p:cNvSpPr txBox="1"/>
          <p:nvPr/>
        </p:nvSpPr>
        <p:spPr>
          <a:xfrm>
            <a:off x="8402330" y="6940296"/>
            <a:ext cx="3268477" cy="338554"/>
          </a:xfrm>
          <a:prstGeom prst="rect">
            <a:avLst/>
          </a:prstGeom>
          <a:noFill/>
        </p:spPr>
        <p:txBody>
          <a:bodyPr wrap="square" lIns="0" tIns="0" rIns="0" bIns="0" anchor="t">
            <a:spAutoFit/>
          </a:bodyPr>
          <a:lstStyle/>
          <a:p>
            <a:pPr algn="l"/>
            <a:r>
              <a:rPr lang="es-ES_tradnl" sz="1100" b="0" i="0" noProof="0" dirty="0">
                <a:solidFill>
                  <a:srgbClr val="6E7E7D"/>
                </a:solidFill>
                <a:latin typeface="Calibri" panose="020F0502020204030204" pitchFamily="34" charset="0"/>
                <a:cs typeface="Calibri" panose="020F0502020204030204" pitchFamily="34" charset="0"/>
              </a:rPr>
              <a:t>Requerimiento de capital según marco regulatorio (ej. IRB Básico).</a:t>
            </a:r>
          </a:p>
        </p:txBody>
      </p:sp>
      <p:sp>
        <p:nvSpPr>
          <p:cNvPr id="143" name="Rectangle 142">
            <a:extLst>
              <a:ext uri="{FF2B5EF4-FFF2-40B4-BE49-F238E27FC236}">
                <a16:creationId xmlns:a16="http://schemas.microsoft.com/office/drawing/2014/main" id="{E36685DA-05AD-F686-C139-64BBDFF401CC}"/>
              </a:ext>
            </a:extLst>
          </p:cNvPr>
          <p:cNvSpPr/>
          <p:nvPr/>
        </p:nvSpPr>
        <p:spPr>
          <a:xfrm>
            <a:off x="11999991" y="6592824"/>
            <a:ext cx="3597661" cy="896112"/>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44" name="Rectangle 143">
            <a:extLst>
              <a:ext uri="{FF2B5EF4-FFF2-40B4-BE49-F238E27FC236}">
                <a16:creationId xmlns:a16="http://schemas.microsoft.com/office/drawing/2014/main" id="{27F63629-0620-E163-464C-C8AD1ADE09FE}"/>
              </a:ext>
            </a:extLst>
          </p:cNvPr>
          <p:cNvSpPr/>
          <p:nvPr/>
        </p:nvSpPr>
        <p:spPr>
          <a:xfrm>
            <a:off x="11999991" y="6592824"/>
            <a:ext cx="36576" cy="896112"/>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45" name="TextBox 144">
            <a:extLst>
              <a:ext uri="{FF2B5EF4-FFF2-40B4-BE49-F238E27FC236}">
                <a16:creationId xmlns:a16="http://schemas.microsoft.com/office/drawing/2014/main" id="{95ED95F3-801F-BAEE-F2DE-1A05731027F8}"/>
              </a:ext>
            </a:extLst>
          </p:cNvPr>
          <p:cNvSpPr txBox="1"/>
          <p:nvPr/>
        </p:nvSpPr>
        <p:spPr>
          <a:xfrm>
            <a:off x="12182871" y="6702552"/>
            <a:ext cx="3268477"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C514E"/>
                </a:solidFill>
                <a:latin typeface="Calibri" panose="020F0502020204030204" pitchFamily="34" charset="0"/>
                <a:cs typeface="Calibri" panose="020F0502020204030204" pitchFamily="34" charset="0"/>
              </a:rPr>
              <a:t>Flujos esperados</a:t>
            </a:r>
          </a:p>
        </p:txBody>
      </p:sp>
      <p:sp>
        <p:nvSpPr>
          <p:cNvPr id="146" name="TextBox 145">
            <a:extLst>
              <a:ext uri="{FF2B5EF4-FFF2-40B4-BE49-F238E27FC236}">
                <a16:creationId xmlns:a16="http://schemas.microsoft.com/office/drawing/2014/main" id="{C56158B0-24C4-0C13-B6DE-90DF833E1001}"/>
              </a:ext>
            </a:extLst>
          </p:cNvPr>
          <p:cNvSpPr txBox="1"/>
          <p:nvPr/>
        </p:nvSpPr>
        <p:spPr>
          <a:xfrm>
            <a:off x="12182871" y="6940296"/>
            <a:ext cx="3268477" cy="338554"/>
          </a:xfrm>
          <a:prstGeom prst="rect">
            <a:avLst/>
          </a:prstGeom>
          <a:noFill/>
        </p:spPr>
        <p:txBody>
          <a:bodyPr wrap="square" lIns="0" tIns="0" rIns="0" bIns="0" anchor="t">
            <a:spAutoFit/>
          </a:bodyPr>
          <a:lstStyle/>
          <a:p>
            <a:pPr algn="l"/>
            <a:r>
              <a:rPr lang="es-ES_tradnl" sz="1100" b="0" i="0" noProof="0" dirty="0">
                <a:solidFill>
                  <a:srgbClr val="6E7E7D"/>
                </a:solidFill>
                <a:latin typeface="Calibri" panose="020F0502020204030204" pitchFamily="34" charset="0"/>
                <a:cs typeface="Calibri" panose="020F0502020204030204" pitchFamily="34" charset="0"/>
              </a:rPr>
              <a:t>Menos intereses y comisiones futuras, cambio de cronograma y menor exposición activa.</a:t>
            </a:r>
          </a:p>
        </p:txBody>
      </p:sp>
      <p:sp>
        <p:nvSpPr>
          <p:cNvPr id="147" name="Rectangle 146">
            <a:extLst>
              <a:ext uri="{FF2B5EF4-FFF2-40B4-BE49-F238E27FC236}">
                <a16:creationId xmlns:a16="http://schemas.microsoft.com/office/drawing/2014/main" id="{E2C7F0A1-27D8-D47B-C0E9-E652F579C297}"/>
              </a:ext>
            </a:extLst>
          </p:cNvPr>
          <p:cNvSpPr/>
          <p:nvPr/>
        </p:nvSpPr>
        <p:spPr>
          <a:xfrm>
            <a:off x="658368" y="7708393"/>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148" name="Connector 146">
            <a:extLst>
              <a:ext uri="{FF2B5EF4-FFF2-40B4-BE49-F238E27FC236}">
                <a16:creationId xmlns:a16="http://schemas.microsoft.com/office/drawing/2014/main" id="{B8829D09-2A63-BFBE-BF70-7D794865725D}"/>
              </a:ext>
            </a:extLst>
          </p:cNvPr>
          <p:cNvCxnSpPr/>
          <p:nvPr/>
        </p:nvCxnSpPr>
        <p:spPr>
          <a:xfrm>
            <a:off x="658368" y="7708393"/>
            <a:ext cx="0" cy="47548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7F61184D-92D3-D3C4-646A-46FA1C071419}"/>
              </a:ext>
            </a:extLst>
          </p:cNvPr>
          <p:cNvSpPr txBox="1"/>
          <p:nvPr/>
        </p:nvSpPr>
        <p:spPr>
          <a:xfrm>
            <a:off x="896112" y="7812864"/>
            <a:ext cx="14482084" cy="266548"/>
          </a:xfrm>
          <a:prstGeom prst="rect">
            <a:avLst/>
          </a:prstGeom>
          <a:noFill/>
        </p:spPr>
        <p:txBody>
          <a:bodyPr wrap="square" lIns="0" tIns="0" rIns="0" bIns="0" anchor="ctr">
            <a:spAutoFit/>
          </a:bodyPr>
          <a:lstStyle/>
          <a:p>
            <a:pPr algn="l">
              <a:lnSpc>
                <a:spcPct val="115000"/>
              </a:lnSpc>
              <a:spcAft>
                <a:spcPts val="400"/>
              </a:spcAft>
            </a:pPr>
            <a:r>
              <a:rPr lang="es-ES_tradnl" sz="1600" b="1" i="0" noProof="0" dirty="0">
                <a:solidFill>
                  <a:srgbClr val="0C514E"/>
                </a:solidFill>
                <a:latin typeface="Calibri" panose="020F0502020204030204" pitchFamily="34" charset="0"/>
                <a:cs typeface="Calibri" panose="020F0502020204030204" pitchFamily="34" charset="0"/>
              </a:rPr>
              <a:t>PE + capital = </a:t>
            </a:r>
            <a:r>
              <a:rPr lang="es-ES_tradnl" sz="1600" b="1" i="0" noProof="0" dirty="0" err="1">
                <a:solidFill>
                  <a:srgbClr val="0C514E"/>
                </a:solidFill>
                <a:latin typeface="Calibri" panose="020F0502020204030204" pitchFamily="34" charset="0"/>
                <a:cs typeface="Calibri" panose="020F0502020204030204" pitchFamily="34" charset="0"/>
              </a:rPr>
              <a:t>loss</a:t>
            </a:r>
            <a:r>
              <a:rPr lang="es-ES_tradnl" sz="1600" b="1" i="0" noProof="0" dirty="0">
                <a:solidFill>
                  <a:srgbClr val="0C514E"/>
                </a:solidFill>
                <a:latin typeface="Calibri" panose="020F0502020204030204" pitchFamily="34" charset="0"/>
                <a:cs typeface="Calibri" panose="020F0502020204030204" pitchFamily="34" charset="0"/>
              </a:rPr>
              <a:t> </a:t>
            </a:r>
            <a:r>
              <a:rPr lang="es-ES_tradnl" sz="1600" b="1" i="0" noProof="0" dirty="0" err="1">
                <a:solidFill>
                  <a:srgbClr val="0C514E"/>
                </a:solidFill>
                <a:latin typeface="Calibri" panose="020F0502020204030204" pitchFamily="34" charset="0"/>
                <a:cs typeface="Calibri" panose="020F0502020204030204" pitchFamily="34" charset="0"/>
              </a:rPr>
              <a:t>absorption</a:t>
            </a:r>
            <a:r>
              <a:rPr lang="es-ES_tradnl" sz="1600" b="1" i="0" noProof="0" dirty="0">
                <a:solidFill>
                  <a:srgbClr val="0C514E"/>
                </a:solidFill>
                <a:latin typeface="Calibri" panose="020F0502020204030204" pitchFamily="34" charset="0"/>
                <a:cs typeface="Calibri" panose="020F0502020204030204" pitchFamily="34" charset="0"/>
              </a:rPr>
              <a:t>: cubrimos pérdida esperada y capital necesario durante todo el ciclo de vida del crédito.</a:t>
            </a:r>
          </a:p>
        </p:txBody>
      </p:sp>
      <p:cxnSp>
        <p:nvCxnSpPr>
          <p:cNvPr id="151" name="Connector 3">
            <a:extLst>
              <a:ext uri="{FF2B5EF4-FFF2-40B4-BE49-F238E27FC236}">
                <a16:creationId xmlns:a16="http://schemas.microsoft.com/office/drawing/2014/main" id="{8298D347-8B98-6519-048C-3243A134ACAA}"/>
              </a:ext>
            </a:extLst>
          </p:cNvPr>
          <p:cNvCxnSpPr/>
          <p:nvPr/>
        </p:nvCxnSpPr>
        <p:spPr>
          <a:xfrm>
            <a:off x="658368" y="1265220"/>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269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7F24455F-0773-CBD0-9B85-43718AB502C4}"/>
            </a:ext>
          </a:extLst>
        </p:cNvPr>
        <p:cNvGrpSpPr/>
        <p:nvPr/>
      </p:nvGrpSpPr>
      <p:grpSpPr>
        <a:xfrm>
          <a:off x="0" y="0"/>
          <a:ext cx="0" cy="0"/>
          <a:chOff x="0" y="0"/>
          <a:chExt cx="0" cy="0"/>
        </a:xfrm>
      </p:grpSpPr>
      <p:sp>
        <p:nvSpPr>
          <p:cNvPr id="53" name="Google Shape;53;g3d1edd8623c_1_0">
            <a:extLst>
              <a:ext uri="{FF2B5EF4-FFF2-40B4-BE49-F238E27FC236}">
                <a16:creationId xmlns:a16="http://schemas.microsoft.com/office/drawing/2014/main" id="{4358A598-CD25-9325-C225-0CF355DB0D87}"/>
              </a:ext>
            </a:extLst>
          </p:cNvPr>
          <p:cNvSpPr txBox="1">
            <a:spLocks noGrp="1"/>
          </p:cNvSpPr>
          <p:nvPr>
            <p:ph type="title"/>
          </p:nvPr>
        </p:nvSpPr>
        <p:spPr>
          <a:xfrm>
            <a:off x="431800" y="2614300"/>
            <a:ext cx="8737500" cy="4073400"/>
          </a:xfrm>
          <a:prstGeom prst="rect">
            <a:avLst/>
          </a:prstGeom>
          <a:noFill/>
          <a:ln>
            <a:noFill/>
          </a:ln>
        </p:spPr>
        <p:txBody>
          <a:bodyPr spcFirstLastPara="1" wrap="square" lIns="91425" tIns="45700" rIns="91425" bIns="45700" anchor="ctr" anchorCtr="0">
            <a:normAutofit/>
          </a:bodyPr>
          <a:lstStyle/>
          <a:p>
            <a:pPr lvl="0"/>
            <a:r>
              <a:rPr lang="es-ES_tradnl" sz="4700" noProof="0" dirty="0"/>
              <a:t>Pricing 360°: </a:t>
            </a:r>
            <a:r>
              <a:rPr lang="es-ES_tradnl" sz="4700" noProof="0" dirty="0" err="1"/>
              <a:t>Checkpoint</a:t>
            </a:r>
            <a:r>
              <a:rPr lang="es-ES_tradnl" sz="4700" noProof="0" dirty="0"/>
              <a:t> Modelos  </a:t>
            </a:r>
          </a:p>
          <a:p>
            <a:pPr marL="0" lvl="0" indent="0" algn="l" rtl="0">
              <a:lnSpc>
                <a:spcPct val="100000"/>
              </a:lnSpc>
              <a:spcBef>
                <a:spcPts val="0"/>
              </a:spcBef>
              <a:spcAft>
                <a:spcPts val="0"/>
              </a:spcAft>
              <a:buSzPts val="4400"/>
              <a:buNone/>
            </a:pPr>
            <a:r>
              <a:rPr lang="es-ES_tradnl" b="0" noProof="0" dirty="0"/>
              <a:t>PD </a:t>
            </a:r>
            <a:r>
              <a:rPr lang="es-ES_tradnl" b="0" noProof="0" dirty="0" err="1"/>
              <a:t>Lifetime</a:t>
            </a:r>
            <a:endParaRPr lang="es-ES_tradnl" b="0" noProof="0" dirty="0"/>
          </a:p>
        </p:txBody>
      </p:sp>
      <p:sp>
        <p:nvSpPr>
          <p:cNvPr id="54" name="Google Shape;54;g3d1edd8623c_1_0">
            <a:extLst>
              <a:ext uri="{FF2B5EF4-FFF2-40B4-BE49-F238E27FC236}">
                <a16:creationId xmlns:a16="http://schemas.microsoft.com/office/drawing/2014/main" id="{9E80DF6D-15DC-D9F5-5B6C-598307DFE408}"/>
              </a:ext>
            </a:extLst>
          </p:cNvPr>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cxnSp>
        <p:nvCxnSpPr>
          <p:cNvPr id="55" name="Google Shape;55;g3d1edd8623c_1_0">
            <a:extLst>
              <a:ext uri="{FF2B5EF4-FFF2-40B4-BE49-F238E27FC236}">
                <a16:creationId xmlns:a16="http://schemas.microsoft.com/office/drawing/2014/main" id="{F43C48B1-E63A-1696-D5BF-DEAE7557EA2E}"/>
              </a:ext>
            </a:extLst>
          </p:cNvPr>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56" name="Google Shape;56;g3d1edd8623c_1_0">
            <a:extLst>
              <a:ext uri="{FF2B5EF4-FFF2-40B4-BE49-F238E27FC236}">
                <a16:creationId xmlns:a16="http://schemas.microsoft.com/office/drawing/2014/main" id="{DB9688AB-F079-A558-7C90-76A93454D329}"/>
              </a:ext>
            </a:extLst>
          </p:cNvPr>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pic>
        <p:nvPicPr>
          <p:cNvPr id="57" name="Google Shape;57;g3d1edd8623c_1_0">
            <a:extLst>
              <a:ext uri="{FF2B5EF4-FFF2-40B4-BE49-F238E27FC236}">
                <a16:creationId xmlns:a16="http://schemas.microsoft.com/office/drawing/2014/main" id="{D1E8FC7A-8A32-F85F-69A2-B2616DFAB1A6}"/>
              </a:ext>
            </a:extLst>
          </p:cNvPr>
          <p:cNvPicPr preferRelativeResize="0"/>
          <p:nvPr/>
        </p:nvPicPr>
        <p:blipFill rotWithShape="1">
          <a:blip r:embed="rId3">
            <a:alphaModFix/>
          </a:blip>
          <a:srcRect/>
          <a:stretch/>
        </p:blipFill>
        <p:spPr>
          <a:xfrm>
            <a:off x="15168189" y="223789"/>
            <a:ext cx="792749" cy="375950"/>
          </a:xfrm>
          <a:prstGeom prst="rect">
            <a:avLst/>
          </a:prstGeom>
          <a:noFill/>
          <a:ln>
            <a:noFill/>
          </a:ln>
        </p:spPr>
      </p:pic>
    </p:spTree>
    <p:extLst>
      <p:ext uri="{BB962C8B-B14F-4D97-AF65-F5344CB8AC3E}">
        <p14:creationId xmlns:p14="http://schemas.microsoft.com/office/powerpoint/2010/main" val="3909786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BF5D18-2931-C350-AD21-FD12BB0ED778}"/>
            </a:ext>
          </a:extLst>
        </p:cNvPr>
        <p:cNvGrpSpPr/>
        <p:nvPr/>
      </p:nvGrpSpPr>
      <p:grpSpPr>
        <a:xfrm>
          <a:off x="0" y="0"/>
          <a:ext cx="0" cy="0"/>
          <a:chOff x="0" y="0"/>
          <a:chExt cx="0" cy="0"/>
        </a:xfrm>
      </p:grpSpPr>
      <p:sp>
        <p:nvSpPr>
          <p:cNvPr id="88" name="Shape 14">
            <a:extLst>
              <a:ext uri="{FF2B5EF4-FFF2-40B4-BE49-F238E27FC236}">
                <a16:creationId xmlns:a16="http://schemas.microsoft.com/office/drawing/2014/main" id="{0F04E8A3-32FE-0C9E-BBDB-9041FF7E5A5F}"/>
              </a:ext>
            </a:extLst>
          </p:cNvPr>
          <p:cNvSpPr/>
          <p:nvPr/>
        </p:nvSpPr>
        <p:spPr>
          <a:xfrm>
            <a:off x="180235" y="1219194"/>
            <a:ext cx="5165344" cy="5965612"/>
          </a:xfrm>
          <a:prstGeom prst="roundRect">
            <a:avLst>
              <a:gd name="adj" fmla="val 2521"/>
            </a:avLst>
          </a:prstGeom>
          <a:solidFill>
            <a:schemeClr val="bg1">
              <a:lumMod val="95000"/>
            </a:schemeClr>
          </a:solidFill>
          <a:ln w="3175">
            <a:solidFill>
              <a:schemeClr val="bg2">
                <a:lumMod val="90000"/>
              </a:schemeClr>
            </a:solidFill>
            <a:prstDash val="solid"/>
          </a:ln>
          <a:effectLst>
            <a:outerShdw blurRad="76200" dist="25400" dir="5400000" algn="bl" rotWithShape="0">
              <a:srgbClr val="000000">
                <a:alpha val="15000"/>
              </a:srgbClr>
            </a:outerShdw>
          </a:effectLst>
        </p:spPr>
        <p:txBody>
          <a:bodyPr/>
          <a:lstStyle/>
          <a:p>
            <a:endParaRPr lang="es-ES_tradnl" sz="1867" dirty="0">
              <a:latin typeface="Calibri" panose="020F0502020204030204" pitchFamily="34" charset="0"/>
              <a:cs typeface="Calibri" panose="020F0502020204030204" pitchFamily="34" charset="0"/>
            </a:endParaRPr>
          </a:p>
        </p:txBody>
      </p:sp>
      <p:sp>
        <p:nvSpPr>
          <p:cNvPr id="108" name="Shape 32">
            <a:extLst>
              <a:ext uri="{FF2B5EF4-FFF2-40B4-BE49-F238E27FC236}">
                <a16:creationId xmlns:a16="http://schemas.microsoft.com/office/drawing/2014/main" id="{3054CACA-78B3-56C8-F8E3-3C3DF526BD55}"/>
              </a:ext>
            </a:extLst>
          </p:cNvPr>
          <p:cNvSpPr/>
          <p:nvPr/>
        </p:nvSpPr>
        <p:spPr>
          <a:xfrm>
            <a:off x="1268979" y="1932431"/>
            <a:ext cx="3973500" cy="1414823"/>
          </a:xfrm>
          <a:prstGeom prst="roundRect">
            <a:avLst>
              <a:gd name="adj" fmla="val 10870"/>
            </a:avLst>
          </a:prstGeom>
          <a:solidFill>
            <a:srgbClr val="FFFFFF">
              <a:alpha val="20000"/>
            </a:srgbClr>
          </a:solidFill>
          <a:ln w="3175">
            <a:solidFill>
              <a:srgbClr val="C7D2DC"/>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110" name="Shape 32">
            <a:extLst>
              <a:ext uri="{FF2B5EF4-FFF2-40B4-BE49-F238E27FC236}">
                <a16:creationId xmlns:a16="http://schemas.microsoft.com/office/drawing/2014/main" id="{443AF223-0586-910B-7A34-3E3D9928E10F}"/>
              </a:ext>
            </a:extLst>
          </p:cNvPr>
          <p:cNvSpPr/>
          <p:nvPr/>
        </p:nvSpPr>
        <p:spPr>
          <a:xfrm>
            <a:off x="1268979" y="3605247"/>
            <a:ext cx="3973500" cy="1576860"/>
          </a:xfrm>
          <a:prstGeom prst="roundRect">
            <a:avLst>
              <a:gd name="adj" fmla="val 10870"/>
            </a:avLst>
          </a:prstGeom>
          <a:solidFill>
            <a:srgbClr val="FFFFFF">
              <a:alpha val="20000"/>
            </a:srgbClr>
          </a:solidFill>
          <a:ln w="3175">
            <a:solidFill>
              <a:srgbClr val="C7D2DC"/>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119" name="Shape 32">
            <a:extLst>
              <a:ext uri="{FF2B5EF4-FFF2-40B4-BE49-F238E27FC236}">
                <a16:creationId xmlns:a16="http://schemas.microsoft.com/office/drawing/2014/main" id="{9AEAD725-3AD7-3351-FD05-EC74FF7F1BAB}"/>
              </a:ext>
            </a:extLst>
          </p:cNvPr>
          <p:cNvSpPr/>
          <p:nvPr/>
        </p:nvSpPr>
        <p:spPr>
          <a:xfrm>
            <a:off x="1268979" y="5445611"/>
            <a:ext cx="3973500" cy="1576860"/>
          </a:xfrm>
          <a:prstGeom prst="roundRect">
            <a:avLst>
              <a:gd name="adj" fmla="val 10870"/>
            </a:avLst>
          </a:prstGeom>
          <a:solidFill>
            <a:srgbClr val="FFFFFF">
              <a:alpha val="20000"/>
            </a:srgbClr>
          </a:solidFill>
          <a:ln w="3175">
            <a:solidFill>
              <a:srgbClr val="C7D2DC"/>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2" name="Text 0">
            <a:extLst>
              <a:ext uri="{FF2B5EF4-FFF2-40B4-BE49-F238E27FC236}">
                <a16:creationId xmlns:a16="http://schemas.microsoft.com/office/drawing/2014/main" id="{1AA17470-DCF2-641D-85EA-2324F42753D4}"/>
              </a:ext>
            </a:extLst>
          </p:cNvPr>
          <p:cNvSpPr/>
          <p:nvPr/>
        </p:nvSpPr>
        <p:spPr>
          <a:xfrm>
            <a:off x="180235" y="136360"/>
            <a:ext cx="12198709" cy="512064"/>
          </a:xfrm>
          <a:prstGeom prst="rect">
            <a:avLst/>
          </a:prstGeom>
          <a:noFill/>
          <a:ln/>
        </p:spPr>
        <p:txBody>
          <a:bodyPr wrap="square" rtlCol="0" anchor="ctr"/>
          <a:lstStyle/>
          <a:p>
            <a:r>
              <a:rPr lang="es-ES_tradnl" sz="2267" b="1" dirty="0">
                <a:solidFill>
                  <a:srgbClr val="009193"/>
                </a:solidFill>
                <a:latin typeface="Calibri" panose="020F0502020204030204" pitchFamily="34" charset="0"/>
                <a:ea typeface="Arial" pitchFamily="34" charset="-122"/>
                <a:cs typeface="Calibri" panose="020F0502020204030204" pitchFamily="34" charset="0"/>
              </a:rPr>
              <a:t>MORA TEMPRANA Y PD LIFETIME: ¿CÓMO SE CAPTURA Y POR QUÉ NO REQUIERE AJUSTES?</a:t>
            </a:r>
            <a:endParaRPr lang="es-ES_tradnl" sz="2267" dirty="0">
              <a:solidFill>
                <a:srgbClr val="009193"/>
              </a:solidFill>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A789D9E8-8353-864D-AE4E-848EEB8CED92}"/>
              </a:ext>
            </a:extLst>
          </p:cNvPr>
          <p:cNvSpPr/>
          <p:nvPr/>
        </p:nvSpPr>
        <p:spPr>
          <a:xfrm>
            <a:off x="182880" y="682752"/>
            <a:ext cx="15886176" cy="365760"/>
          </a:xfrm>
          <a:prstGeom prst="rect">
            <a:avLst/>
          </a:prstGeom>
          <a:noFill/>
          <a:ln/>
        </p:spPr>
        <p:txBody>
          <a:bodyPr wrap="square" rtlCol="0" anchor="ctr"/>
          <a:lstStyle/>
          <a:p>
            <a:pPr algn="ctr"/>
            <a:r>
              <a:rPr lang="es-ES_tradnl" sz="1667" dirty="0">
                <a:solidFill>
                  <a:srgbClr val="009193"/>
                </a:solidFill>
                <a:latin typeface="Calibri" panose="020F0502020204030204" pitchFamily="34" charset="0"/>
                <a:ea typeface="Arial" pitchFamily="34" charset="-122"/>
                <a:cs typeface="Calibri" panose="020F0502020204030204" pitchFamily="34" charset="0"/>
              </a:rPr>
              <a:t>La PD Lifetime descompone la PD de origen a 12 meses, que ya incorpora la mora temprana.</a:t>
            </a:r>
            <a:endParaRPr lang="es-ES_tradnl" sz="1667" dirty="0">
              <a:solidFill>
                <a:srgbClr val="009193"/>
              </a:solidFill>
              <a:latin typeface="Calibri" panose="020F0502020204030204" pitchFamily="34" charset="0"/>
              <a:cs typeface="Calibri" panose="020F0502020204030204" pitchFamily="34" charset="0"/>
            </a:endParaRPr>
          </a:p>
        </p:txBody>
      </p:sp>
      <p:sp>
        <p:nvSpPr>
          <p:cNvPr id="4" name="Shape 2">
            <a:extLst>
              <a:ext uri="{FF2B5EF4-FFF2-40B4-BE49-F238E27FC236}">
                <a16:creationId xmlns:a16="http://schemas.microsoft.com/office/drawing/2014/main" id="{FCCB8CF7-0654-DC8F-17B6-1991D5E26046}"/>
              </a:ext>
            </a:extLst>
          </p:cNvPr>
          <p:cNvSpPr/>
          <p:nvPr/>
        </p:nvSpPr>
        <p:spPr>
          <a:xfrm>
            <a:off x="182880" y="1219200"/>
            <a:ext cx="5165344" cy="279678"/>
          </a:xfrm>
          <a:prstGeom prst="roundRect">
            <a:avLst>
              <a:gd name="adj" fmla="val 2521"/>
            </a:avLst>
          </a:prstGeom>
          <a:noFill/>
        </p:spPr>
        <p:txBody>
          <a:bodyPr wrap="square">
            <a:spAutoFit/>
          </a:bodyPr>
          <a:lstStyle/>
          <a:p>
            <a:endParaRPr lang="es-ES_tradnl" sz="1200" dirty="0">
              <a:solidFill>
                <a:srgbClr val="1F2A37"/>
              </a:solidFill>
              <a:latin typeface="Calibri" panose="020F0502020204030204" pitchFamily="34" charset="0"/>
              <a:cs typeface="Calibri" panose="020F0502020204030204" pitchFamily="34" charset="0"/>
            </a:endParaRPr>
          </a:p>
        </p:txBody>
      </p:sp>
      <p:sp>
        <p:nvSpPr>
          <p:cNvPr id="5" name="Shape 3">
            <a:extLst>
              <a:ext uri="{FF2B5EF4-FFF2-40B4-BE49-F238E27FC236}">
                <a16:creationId xmlns:a16="http://schemas.microsoft.com/office/drawing/2014/main" id="{5E321222-F43C-8516-8D81-937C23E579EF}"/>
              </a:ext>
            </a:extLst>
          </p:cNvPr>
          <p:cNvSpPr/>
          <p:nvPr/>
        </p:nvSpPr>
        <p:spPr>
          <a:xfrm>
            <a:off x="182880" y="1219200"/>
            <a:ext cx="5165344" cy="316992"/>
          </a:xfrm>
          <a:prstGeom prst="roundRect">
            <a:avLst>
              <a:gd name="adj" fmla="val 10345"/>
            </a:avLst>
          </a:prstGeom>
          <a:solidFill>
            <a:srgbClr val="009193"/>
          </a:solidFill>
          <a:ln/>
        </p:spPr>
        <p:txBody>
          <a:bodyPr/>
          <a:lstStyle/>
          <a:p>
            <a:endParaRPr lang="es-ES_tradnl" sz="1867" dirty="0">
              <a:latin typeface="Calibri" panose="020F0502020204030204" pitchFamily="34" charset="0"/>
              <a:cs typeface="Calibri" panose="020F0502020204030204" pitchFamily="34" charset="0"/>
            </a:endParaRPr>
          </a:p>
        </p:txBody>
      </p:sp>
      <p:grpSp>
        <p:nvGrpSpPr>
          <p:cNvPr id="48" name="Group 47">
            <a:extLst>
              <a:ext uri="{FF2B5EF4-FFF2-40B4-BE49-F238E27FC236}">
                <a16:creationId xmlns:a16="http://schemas.microsoft.com/office/drawing/2014/main" id="{A6103A9F-DE2F-C25F-62FE-78EF58B1331B}"/>
              </a:ext>
            </a:extLst>
          </p:cNvPr>
          <p:cNvGrpSpPr/>
          <p:nvPr/>
        </p:nvGrpSpPr>
        <p:grpSpPr>
          <a:xfrm>
            <a:off x="449277" y="1177608"/>
            <a:ext cx="341376" cy="341376"/>
            <a:chOff x="336958" y="883206"/>
            <a:chExt cx="256032" cy="256032"/>
          </a:xfrm>
        </p:grpSpPr>
        <p:sp>
          <p:nvSpPr>
            <p:cNvPr id="7" name="Shape 5">
              <a:extLst>
                <a:ext uri="{FF2B5EF4-FFF2-40B4-BE49-F238E27FC236}">
                  <a16:creationId xmlns:a16="http://schemas.microsoft.com/office/drawing/2014/main" id="{AE401C79-CC45-F21E-758A-92DFA4625364}"/>
                </a:ext>
              </a:extLst>
            </p:cNvPr>
            <p:cNvSpPr/>
            <p:nvPr/>
          </p:nvSpPr>
          <p:spPr>
            <a:xfrm>
              <a:off x="336958" y="883206"/>
              <a:ext cx="256032" cy="256032"/>
            </a:xfrm>
            <a:prstGeom prst="ellipse">
              <a:avLst/>
            </a:prstGeom>
            <a:solidFill>
              <a:srgbClr val="009193"/>
            </a:solidFill>
            <a:ln w="25400">
              <a:solidFill>
                <a:srgbClr val="FFFFFF"/>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8" name="Text 6">
              <a:extLst>
                <a:ext uri="{FF2B5EF4-FFF2-40B4-BE49-F238E27FC236}">
                  <a16:creationId xmlns:a16="http://schemas.microsoft.com/office/drawing/2014/main" id="{7FC6ECEB-CC06-1B4D-9894-1B68687698CC}"/>
                </a:ext>
              </a:extLst>
            </p:cNvPr>
            <p:cNvSpPr/>
            <p:nvPr/>
          </p:nvSpPr>
          <p:spPr>
            <a:xfrm>
              <a:off x="367467" y="913715"/>
              <a:ext cx="191339" cy="191339"/>
            </a:xfrm>
            <a:prstGeom prst="rect">
              <a:avLst/>
            </a:prstGeom>
            <a:noFill/>
            <a:ln/>
          </p:spPr>
          <p:txBody>
            <a:bodyPr wrap="square" rtlCol="0" anchor="ctr"/>
            <a:lstStyle/>
            <a:p>
              <a:pPr algn="ctr"/>
              <a:r>
                <a:rPr lang="es-ES_tradnl" sz="1600" b="1" dirty="0">
                  <a:solidFill>
                    <a:srgbClr val="FFFFFF"/>
                  </a:solidFill>
                  <a:latin typeface="Calibri" panose="020F0502020204030204" pitchFamily="34" charset="0"/>
                  <a:ea typeface="Arial" pitchFamily="34" charset="-122"/>
                  <a:cs typeface="Calibri" panose="020F0502020204030204" pitchFamily="34" charset="0"/>
                </a:rPr>
                <a:t>1</a:t>
              </a:r>
              <a:endParaRPr lang="es-ES_tradnl" sz="1600" dirty="0">
                <a:latin typeface="Calibri" panose="020F0502020204030204" pitchFamily="34" charset="0"/>
                <a:cs typeface="Calibri" panose="020F0502020204030204" pitchFamily="34" charset="0"/>
              </a:endParaRPr>
            </a:p>
          </p:txBody>
        </p:sp>
      </p:grpSp>
      <p:sp>
        <p:nvSpPr>
          <p:cNvPr id="9" name="Text 7">
            <a:extLst>
              <a:ext uri="{FF2B5EF4-FFF2-40B4-BE49-F238E27FC236}">
                <a16:creationId xmlns:a16="http://schemas.microsoft.com/office/drawing/2014/main" id="{5F405A18-863A-5497-1AB4-B690D52A75DF}"/>
              </a:ext>
            </a:extLst>
          </p:cNvPr>
          <p:cNvSpPr/>
          <p:nvPr/>
        </p:nvSpPr>
        <p:spPr>
          <a:xfrm>
            <a:off x="1060704" y="1219200"/>
            <a:ext cx="4092448" cy="341376"/>
          </a:xfrm>
          <a:prstGeom prst="rect">
            <a:avLst/>
          </a:prstGeom>
          <a:noFill/>
          <a:ln/>
        </p:spPr>
        <p:txBody>
          <a:bodyPr wrap="square" rtlCol="0" anchor="ctr"/>
          <a:lstStyle/>
          <a:p>
            <a:r>
              <a:rPr lang="es-ES_tradnl" b="1" dirty="0">
                <a:solidFill>
                  <a:srgbClr val="FFFFFF"/>
                </a:solidFill>
                <a:latin typeface="Calibri" panose="020F0502020204030204" pitchFamily="34" charset="0"/>
                <a:ea typeface="Arial" pitchFamily="34" charset="-122"/>
                <a:cs typeface="Calibri" panose="020F0502020204030204" pitchFamily="34" charset="0"/>
              </a:rPr>
              <a:t>PD ORIGEN (12 meses)</a:t>
            </a:r>
            <a:endParaRPr lang="es-ES_tradnl" dirty="0">
              <a:latin typeface="Calibri" panose="020F0502020204030204" pitchFamily="34" charset="0"/>
              <a:cs typeface="Calibri" panose="020F0502020204030204" pitchFamily="34" charset="0"/>
            </a:endParaRPr>
          </a:p>
        </p:txBody>
      </p:sp>
      <p:sp>
        <p:nvSpPr>
          <p:cNvPr id="10" name="Text 8">
            <a:extLst>
              <a:ext uri="{FF2B5EF4-FFF2-40B4-BE49-F238E27FC236}">
                <a16:creationId xmlns:a16="http://schemas.microsoft.com/office/drawing/2014/main" id="{807B1CD6-D63D-2945-D5C2-991474B02195}"/>
              </a:ext>
            </a:extLst>
          </p:cNvPr>
          <p:cNvSpPr/>
          <p:nvPr/>
        </p:nvSpPr>
        <p:spPr>
          <a:xfrm>
            <a:off x="652632" y="1999488"/>
            <a:ext cx="4799584" cy="353568"/>
          </a:xfrm>
          <a:prstGeom prst="rect">
            <a:avLst/>
          </a:prstGeom>
          <a:noFill/>
          <a:ln/>
        </p:spPr>
        <p:txBody>
          <a:bodyPr wrap="square" rtlCol="0" anchor="t"/>
          <a:lstStyle/>
          <a:p>
            <a:endParaRPr lang="es-ES_tradnl" sz="1467" dirty="0">
              <a:latin typeface="Calibri" panose="020F0502020204030204" pitchFamily="34" charset="0"/>
              <a:cs typeface="Calibri" panose="020F0502020204030204" pitchFamily="34" charset="0"/>
            </a:endParaRPr>
          </a:p>
        </p:txBody>
      </p:sp>
      <p:sp>
        <p:nvSpPr>
          <p:cNvPr id="16" name="Shape 14">
            <a:extLst>
              <a:ext uri="{FF2B5EF4-FFF2-40B4-BE49-F238E27FC236}">
                <a16:creationId xmlns:a16="http://schemas.microsoft.com/office/drawing/2014/main" id="{AE6C0B3B-65EF-820C-FC06-8E89ECC0C816}"/>
              </a:ext>
            </a:extLst>
          </p:cNvPr>
          <p:cNvSpPr/>
          <p:nvPr/>
        </p:nvSpPr>
        <p:spPr>
          <a:xfrm>
            <a:off x="5543296" y="1219200"/>
            <a:ext cx="5165344" cy="5965605"/>
          </a:xfrm>
          <a:prstGeom prst="roundRect">
            <a:avLst>
              <a:gd name="adj" fmla="val 2521"/>
            </a:avLst>
          </a:prstGeom>
          <a:solidFill>
            <a:schemeClr val="bg1">
              <a:lumMod val="95000"/>
            </a:schemeClr>
          </a:solidFill>
          <a:ln w="3175">
            <a:solidFill>
              <a:schemeClr val="bg2">
                <a:lumMod val="90000"/>
              </a:schemeClr>
            </a:solidFill>
            <a:prstDash val="solid"/>
          </a:ln>
          <a:effectLst>
            <a:outerShdw blurRad="76200" dist="25400" dir="5400000" algn="bl" rotWithShape="0">
              <a:srgbClr val="000000">
                <a:alpha val="15000"/>
              </a:srgbClr>
            </a:outerShdw>
          </a:effectLst>
        </p:spPr>
        <p:txBody>
          <a:bodyPr/>
          <a:lstStyle/>
          <a:p>
            <a:endParaRPr lang="es-ES_tradnl" sz="1867" dirty="0">
              <a:latin typeface="Calibri" panose="020F0502020204030204" pitchFamily="34" charset="0"/>
              <a:cs typeface="Calibri" panose="020F0502020204030204" pitchFamily="34" charset="0"/>
            </a:endParaRPr>
          </a:p>
        </p:txBody>
      </p:sp>
      <p:sp>
        <p:nvSpPr>
          <p:cNvPr id="17" name="Shape 15">
            <a:extLst>
              <a:ext uri="{FF2B5EF4-FFF2-40B4-BE49-F238E27FC236}">
                <a16:creationId xmlns:a16="http://schemas.microsoft.com/office/drawing/2014/main" id="{040FE886-8FD4-D866-CAD1-578DA91BDFD9}"/>
              </a:ext>
            </a:extLst>
          </p:cNvPr>
          <p:cNvSpPr/>
          <p:nvPr/>
        </p:nvSpPr>
        <p:spPr>
          <a:xfrm>
            <a:off x="5543296" y="1219200"/>
            <a:ext cx="5165344" cy="316992"/>
          </a:xfrm>
          <a:prstGeom prst="roundRect">
            <a:avLst>
              <a:gd name="adj" fmla="val 10345"/>
            </a:avLst>
          </a:prstGeom>
          <a:solidFill>
            <a:srgbClr val="009193"/>
          </a:solidFill>
          <a:ln/>
        </p:spPr>
        <p:txBody>
          <a:bodyPr/>
          <a:lstStyle/>
          <a:p>
            <a:endParaRPr lang="es-ES_tradnl" sz="1867" dirty="0">
              <a:latin typeface="Calibri" panose="020F0502020204030204" pitchFamily="34" charset="0"/>
              <a:cs typeface="Calibri" panose="020F0502020204030204" pitchFamily="34" charset="0"/>
            </a:endParaRPr>
          </a:p>
        </p:txBody>
      </p:sp>
      <p:sp>
        <p:nvSpPr>
          <p:cNvPr id="19" name="Shape 17">
            <a:extLst>
              <a:ext uri="{FF2B5EF4-FFF2-40B4-BE49-F238E27FC236}">
                <a16:creationId xmlns:a16="http://schemas.microsoft.com/office/drawing/2014/main" id="{326EA540-1C1C-5BDA-780F-48F40D8060A4}"/>
              </a:ext>
            </a:extLst>
          </p:cNvPr>
          <p:cNvSpPr/>
          <p:nvPr/>
        </p:nvSpPr>
        <p:spPr>
          <a:xfrm>
            <a:off x="5809693" y="1177608"/>
            <a:ext cx="341376" cy="341376"/>
          </a:xfrm>
          <a:prstGeom prst="ellipse">
            <a:avLst/>
          </a:prstGeom>
          <a:solidFill>
            <a:srgbClr val="009193"/>
          </a:solidFill>
          <a:ln w="25400">
            <a:solidFill>
              <a:srgbClr val="FFFFFF"/>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20" name="Text 18">
            <a:extLst>
              <a:ext uri="{FF2B5EF4-FFF2-40B4-BE49-F238E27FC236}">
                <a16:creationId xmlns:a16="http://schemas.microsoft.com/office/drawing/2014/main" id="{A3D58E6E-8931-B069-E86F-A52879F90734}"/>
              </a:ext>
            </a:extLst>
          </p:cNvPr>
          <p:cNvSpPr/>
          <p:nvPr/>
        </p:nvSpPr>
        <p:spPr>
          <a:xfrm>
            <a:off x="5850373" y="1218287"/>
            <a:ext cx="255119" cy="255119"/>
          </a:xfrm>
          <a:prstGeom prst="rect">
            <a:avLst/>
          </a:prstGeom>
          <a:noFill/>
          <a:ln/>
        </p:spPr>
        <p:txBody>
          <a:bodyPr wrap="square" rtlCol="0" anchor="ctr"/>
          <a:lstStyle/>
          <a:p>
            <a:pPr algn="ctr"/>
            <a:r>
              <a:rPr lang="es-ES_tradnl" sz="1600" b="1" dirty="0">
                <a:solidFill>
                  <a:srgbClr val="FFFFFF"/>
                </a:solidFill>
                <a:latin typeface="Calibri" panose="020F0502020204030204" pitchFamily="34" charset="0"/>
                <a:ea typeface="Arial" pitchFamily="34" charset="-122"/>
                <a:cs typeface="Calibri" panose="020F0502020204030204" pitchFamily="34" charset="0"/>
              </a:rPr>
              <a:t>2</a:t>
            </a:r>
            <a:endParaRPr lang="es-ES_tradnl" sz="1600" dirty="0">
              <a:latin typeface="Calibri" panose="020F0502020204030204" pitchFamily="34" charset="0"/>
              <a:cs typeface="Calibri" panose="020F0502020204030204" pitchFamily="34" charset="0"/>
            </a:endParaRPr>
          </a:p>
        </p:txBody>
      </p:sp>
      <p:sp>
        <p:nvSpPr>
          <p:cNvPr id="21" name="Text 19">
            <a:extLst>
              <a:ext uri="{FF2B5EF4-FFF2-40B4-BE49-F238E27FC236}">
                <a16:creationId xmlns:a16="http://schemas.microsoft.com/office/drawing/2014/main" id="{8FE0CC89-6DE4-8727-9B58-F7218240B20F}"/>
              </a:ext>
            </a:extLst>
          </p:cNvPr>
          <p:cNvSpPr/>
          <p:nvPr/>
        </p:nvSpPr>
        <p:spPr>
          <a:xfrm>
            <a:off x="6421120" y="1219200"/>
            <a:ext cx="4092448" cy="341376"/>
          </a:xfrm>
          <a:prstGeom prst="rect">
            <a:avLst/>
          </a:prstGeom>
          <a:noFill/>
          <a:ln/>
        </p:spPr>
        <p:txBody>
          <a:bodyPr wrap="square" rtlCol="0" anchor="ctr"/>
          <a:lstStyle/>
          <a:p>
            <a:r>
              <a:rPr lang="es-ES_tradnl" b="1" dirty="0">
                <a:solidFill>
                  <a:srgbClr val="FFFFFF"/>
                </a:solidFill>
                <a:latin typeface="Calibri" panose="020F0502020204030204" pitchFamily="34" charset="0"/>
                <a:ea typeface="Arial" pitchFamily="34" charset="-122"/>
                <a:cs typeface="Calibri" panose="020F0502020204030204" pitchFamily="34" charset="0"/>
              </a:rPr>
              <a:t>CALIBRACIÓN INCLUYE MORA TEMPRANA</a:t>
            </a:r>
            <a:endParaRPr lang="es-ES_tradnl" dirty="0">
              <a:latin typeface="Calibri" panose="020F0502020204030204" pitchFamily="34" charset="0"/>
              <a:cs typeface="Calibri" panose="020F0502020204030204" pitchFamily="34" charset="0"/>
            </a:endParaRPr>
          </a:p>
        </p:txBody>
      </p:sp>
      <p:sp>
        <p:nvSpPr>
          <p:cNvPr id="22" name="Text 20">
            <a:extLst>
              <a:ext uri="{FF2B5EF4-FFF2-40B4-BE49-F238E27FC236}">
                <a16:creationId xmlns:a16="http://schemas.microsoft.com/office/drawing/2014/main" id="{2D8D440C-29CB-8F34-3D6E-DB73A3D41272}"/>
              </a:ext>
            </a:extLst>
          </p:cNvPr>
          <p:cNvSpPr/>
          <p:nvPr/>
        </p:nvSpPr>
        <p:spPr>
          <a:xfrm>
            <a:off x="6512814" y="1572768"/>
            <a:ext cx="3909060" cy="609600"/>
          </a:xfrm>
          <a:prstGeom prst="rect">
            <a:avLst/>
          </a:prstGeom>
          <a:noFill/>
          <a:ln/>
        </p:spPr>
        <p:txBody>
          <a:bodyPr wrap="square" rtlCol="0" anchor="t"/>
          <a:lstStyle/>
          <a:p>
            <a:endParaRPr lang="es-ES_tradnl" sz="1267" dirty="0">
              <a:solidFill>
                <a:srgbClr val="009193"/>
              </a:solidFill>
              <a:latin typeface="Calibri" panose="020F0502020204030204" pitchFamily="34" charset="0"/>
              <a:cs typeface="Calibri" panose="020F0502020204030204" pitchFamily="34" charset="0"/>
            </a:endParaRPr>
          </a:p>
        </p:txBody>
      </p:sp>
      <p:sp>
        <p:nvSpPr>
          <p:cNvPr id="23" name="Shape 21">
            <a:extLst>
              <a:ext uri="{FF2B5EF4-FFF2-40B4-BE49-F238E27FC236}">
                <a16:creationId xmlns:a16="http://schemas.microsoft.com/office/drawing/2014/main" id="{7AA4135B-199D-C4FB-934C-4B48EE978EBB}"/>
              </a:ext>
            </a:extLst>
          </p:cNvPr>
          <p:cNvSpPr/>
          <p:nvPr/>
        </p:nvSpPr>
        <p:spPr>
          <a:xfrm>
            <a:off x="5884672" y="2714752"/>
            <a:ext cx="4482592" cy="0"/>
          </a:xfrm>
          <a:prstGeom prst="line">
            <a:avLst/>
          </a:prstGeom>
          <a:noFill/>
          <a:ln w="19050">
            <a:solidFill>
              <a:srgbClr val="9AA7B4"/>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24" name="Shape 22">
            <a:extLst>
              <a:ext uri="{FF2B5EF4-FFF2-40B4-BE49-F238E27FC236}">
                <a16:creationId xmlns:a16="http://schemas.microsoft.com/office/drawing/2014/main" id="{7BBC9952-B772-1D35-6517-5EDBF358FEE6}"/>
              </a:ext>
            </a:extLst>
          </p:cNvPr>
          <p:cNvSpPr/>
          <p:nvPr/>
        </p:nvSpPr>
        <p:spPr>
          <a:xfrm>
            <a:off x="5884672" y="2690367"/>
            <a:ext cx="4482593" cy="1960467"/>
          </a:xfrm>
          <a:prstGeom prst="rect">
            <a:avLst/>
          </a:prstGeom>
          <a:solidFill>
            <a:srgbClr val="009193">
              <a:alpha val="18000"/>
            </a:srgbClr>
          </a:solidFill>
          <a:ln/>
        </p:spPr>
        <p:txBody>
          <a:bodyPr/>
          <a:lstStyle/>
          <a:p>
            <a:endParaRPr lang="es-ES_tradnl" sz="1867" dirty="0">
              <a:solidFill>
                <a:srgbClr val="009193"/>
              </a:solidFill>
              <a:latin typeface="Calibri" panose="020F0502020204030204" pitchFamily="34" charset="0"/>
              <a:cs typeface="Calibri" panose="020F0502020204030204" pitchFamily="34" charset="0"/>
            </a:endParaRPr>
          </a:p>
        </p:txBody>
      </p:sp>
      <p:sp>
        <p:nvSpPr>
          <p:cNvPr id="25" name="Shape 23">
            <a:extLst>
              <a:ext uri="{FF2B5EF4-FFF2-40B4-BE49-F238E27FC236}">
                <a16:creationId xmlns:a16="http://schemas.microsoft.com/office/drawing/2014/main" id="{9660E838-DAFE-FC51-A489-78846DCFC1DA}"/>
              </a:ext>
            </a:extLst>
          </p:cNvPr>
          <p:cNvSpPr/>
          <p:nvPr/>
        </p:nvSpPr>
        <p:spPr>
          <a:xfrm>
            <a:off x="5823712" y="2653792"/>
            <a:ext cx="121920" cy="121920"/>
          </a:xfrm>
          <a:prstGeom prst="ellipse">
            <a:avLst/>
          </a:prstGeom>
          <a:solidFill>
            <a:srgbClr val="1B3A63"/>
          </a:solidFill>
          <a:ln/>
        </p:spPr>
        <p:txBody>
          <a:bodyPr/>
          <a:lstStyle/>
          <a:p>
            <a:endParaRPr lang="es-ES_tradnl" sz="1867" dirty="0">
              <a:latin typeface="Calibri" panose="020F0502020204030204" pitchFamily="34" charset="0"/>
              <a:cs typeface="Calibri" panose="020F0502020204030204" pitchFamily="34" charset="0"/>
            </a:endParaRPr>
          </a:p>
        </p:txBody>
      </p:sp>
      <p:sp>
        <p:nvSpPr>
          <p:cNvPr id="26" name="Text 24">
            <a:extLst>
              <a:ext uri="{FF2B5EF4-FFF2-40B4-BE49-F238E27FC236}">
                <a16:creationId xmlns:a16="http://schemas.microsoft.com/office/drawing/2014/main" id="{A709438B-9568-4412-4444-A228BC18D96A}"/>
              </a:ext>
            </a:extLst>
          </p:cNvPr>
          <p:cNvSpPr/>
          <p:nvPr/>
        </p:nvSpPr>
        <p:spPr>
          <a:xfrm>
            <a:off x="5457952" y="2348992"/>
            <a:ext cx="853440" cy="243840"/>
          </a:xfrm>
          <a:prstGeom prst="rect">
            <a:avLst/>
          </a:prstGeom>
          <a:noFill/>
          <a:ln/>
        </p:spPr>
        <p:txBody>
          <a:bodyPr wrap="square" rtlCol="0" anchor="ctr"/>
          <a:lstStyle/>
          <a:p>
            <a:pPr algn="ctr"/>
            <a:r>
              <a:rPr lang="es-ES_tradnl" sz="1067" dirty="0">
                <a:solidFill>
                  <a:srgbClr val="1F2A37"/>
                </a:solidFill>
                <a:latin typeface="Calibri" panose="020F0502020204030204" pitchFamily="34" charset="0"/>
                <a:ea typeface="Arial" pitchFamily="34" charset="-122"/>
                <a:cs typeface="Calibri" panose="020F0502020204030204" pitchFamily="34" charset="0"/>
              </a:rPr>
              <a:t>Origen</a:t>
            </a:r>
            <a:endParaRPr lang="es-ES_tradnl" sz="1067" dirty="0">
              <a:latin typeface="Calibri" panose="020F0502020204030204" pitchFamily="34" charset="0"/>
              <a:cs typeface="Calibri" panose="020F0502020204030204" pitchFamily="34" charset="0"/>
            </a:endParaRPr>
          </a:p>
        </p:txBody>
      </p:sp>
      <p:sp>
        <p:nvSpPr>
          <p:cNvPr id="27" name="Shape 25">
            <a:extLst>
              <a:ext uri="{FF2B5EF4-FFF2-40B4-BE49-F238E27FC236}">
                <a16:creationId xmlns:a16="http://schemas.microsoft.com/office/drawing/2014/main" id="{8FF80900-98A2-82F8-54EC-D2B9269E2AF4}"/>
              </a:ext>
            </a:extLst>
          </p:cNvPr>
          <p:cNvSpPr/>
          <p:nvPr/>
        </p:nvSpPr>
        <p:spPr>
          <a:xfrm>
            <a:off x="7078837" y="2653792"/>
            <a:ext cx="121920" cy="121920"/>
          </a:xfrm>
          <a:prstGeom prst="ellipse">
            <a:avLst/>
          </a:prstGeom>
          <a:solidFill>
            <a:srgbClr val="9AA7B4"/>
          </a:solidFill>
          <a:ln/>
        </p:spPr>
        <p:txBody>
          <a:bodyPr/>
          <a:lstStyle/>
          <a:p>
            <a:endParaRPr lang="es-ES_tradnl" sz="1867" dirty="0">
              <a:latin typeface="Calibri" panose="020F0502020204030204" pitchFamily="34" charset="0"/>
              <a:cs typeface="Calibri" panose="020F0502020204030204" pitchFamily="34" charset="0"/>
            </a:endParaRPr>
          </a:p>
        </p:txBody>
      </p:sp>
      <p:sp>
        <p:nvSpPr>
          <p:cNvPr id="28" name="Text 26">
            <a:extLst>
              <a:ext uri="{FF2B5EF4-FFF2-40B4-BE49-F238E27FC236}">
                <a16:creationId xmlns:a16="http://schemas.microsoft.com/office/drawing/2014/main" id="{CBADD1DC-6F53-6CB6-FD85-AACF20C8F053}"/>
              </a:ext>
            </a:extLst>
          </p:cNvPr>
          <p:cNvSpPr/>
          <p:nvPr/>
        </p:nvSpPr>
        <p:spPr>
          <a:xfrm>
            <a:off x="6713077" y="2348992"/>
            <a:ext cx="853440" cy="243840"/>
          </a:xfrm>
          <a:prstGeom prst="rect">
            <a:avLst/>
          </a:prstGeom>
          <a:noFill/>
          <a:ln/>
        </p:spPr>
        <p:txBody>
          <a:bodyPr wrap="square" rtlCol="0" anchor="ctr"/>
          <a:lstStyle/>
          <a:p>
            <a:pPr algn="ctr"/>
            <a:r>
              <a:rPr lang="es-ES_tradnl" sz="1067" dirty="0">
                <a:solidFill>
                  <a:srgbClr val="1F2A37"/>
                </a:solidFill>
                <a:latin typeface="Calibri" panose="020F0502020204030204" pitchFamily="34" charset="0"/>
                <a:ea typeface="Arial" pitchFamily="34" charset="-122"/>
                <a:cs typeface="Calibri" panose="020F0502020204030204" pitchFamily="34" charset="0"/>
              </a:rPr>
              <a:t>3m</a:t>
            </a:r>
            <a:endParaRPr lang="es-ES_tradnl" sz="1067" dirty="0">
              <a:latin typeface="Calibri" panose="020F0502020204030204" pitchFamily="34" charset="0"/>
              <a:cs typeface="Calibri" panose="020F0502020204030204" pitchFamily="34" charset="0"/>
            </a:endParaRPr>
          </a:p>
        </p:txBody>
      </p:sp>
      <p:sp>
        <p:nvSpPr>
          <p:cNvPr id="29" name="Shape 27">
            <a:extLst>
              <a:ext uri="{FF2B5EF4-FFF2-40B4-BE49-F238E27FC236}">
                <a16:creationId xmlns:a16="http://schemas.microsoft.com/office/drawing/2014/main" id="{B8F29D02-FCD1-405F-7C8E-E7C44E5E155B}"/>
              </a:ext>
            </a:extLst>
          </p:cNvPr>
          <p:cNvSpPr/>
          <p:nvPr/>
        </p:nvSpPr>
        <p:spPr>
          <a:xfrm>
            <a:off x="8602919" y="2653792"/>
            <a:ext cx="121920" cy="121920"/>
          </a:xfrm>
          <a:prstGeom prst="ellipse">
            <a:avLst/>
          </a:prstGeom>
          <a:solidFill>
            <a:srgbClr val="009193"/>
          </a:solidFill>
          <a:ln/>
        </p:spPr>
        <p:txBody>
          <a:bodyPr/>
          <a:lstStyle/>
          <a:p>
            <a:endParaRPr lang="es-ES_tradnl" sz="1867" dirty="0">
              <a:latin typeface="Calibri" panose="020F0502020204030204" pitchFamily="34" charset="0"/>
              <a:cs typeface="Calibri" panose="020F0502020204030204" pitchFamily="34" charset="0"/>
            </a:endParaRPr>
          </a:p>
        </p:txBody>
      </p:sp>
      <p:sp>
        <p:nvSpPr>
          <p:cNvPr id="30" name="Text 28">
            <a:extLst>
              <a:ext uri="{FF2B5EF4-FFF2-40B4-BE49-F238E27FC236}">
                <a16:creationId xmlns:a16="http://schemas.microsoft.com/office/drawing/2014/main" id="{1C45AB57-18E9-B27C-AF42-61E42E04D770}"/>
              </a:ext>
            </a:extLst>
          </p:cNvPr>
          <p:cNvSpPr/>
          <p:nvPr/>
        </p:nvSpPr>
        <p:spPr>
          <a:xfrm>
            <a:off x="8237159" y="2348992"/>
            <a:ext cx="853440" cy="243840"/>
          </a:xfrm>
          <a:prstGeom prst="rect">
            <a:avLst/>
          </a:prstGeom>
          <a:noFill/>
          <a:ln/>
        </p:spPr>
        <p:txBody>
          <a:bodyPr wrap="square" rtlCol="0" anchor="ctr"/>
          <a:lstStyle/>
          <a:p>
            <a:pPr algn="ctr"/>
            <a:r>
              <a:rPr lang="es-ES_tradnl" sz="1067" dirty="0">
                <a:solidFill>
                  <a:srgbClr val="1F2A37"/>
                </a:solidFill>
                <a:latin typeface="Calibri" panose="020F0502020204030204" pitchFamily="34" charset="0"/>
                <a:ea typeface="Arial" pitchFamily="34" charset="-122"/>
                <a:cs typeface="Calibri" panose="020F0502020204030204" pitchFamily="34" charset="0"/>
              </a:rPr>
              <a:t>6m</a:t>
            </a:r>
            <a:endParaRPr lang="es-ES_tradnl" sz="1067" dirty="0">
              <a:latin typeface="Calibri" panose="020F0502020204030204" pitchFamily="34" charset="0"/>
              <a:cs typeface="Calibri" panose="020F0502020204030204" pitchFamily="34" charset="0"/>
            </a:endParaRPr>
          </a:p>
        </p:txBody>
      </p:sp>
      <p:sp>
        <p:nvSpPr>
          <p:cNvPr id="31" name="Shape 29">
            <a:extLst>
              <a:ext uri="{FF2B5EF4-FFF2-40B4-BE49-F238E27FC236}">
                <a16:creationId xmlns:a16="http://schemas.microsoft.com/office/drawing/2014/main" id="{2D9F1774-F058-A017-8F7D-0FDE26954EF0}"/>
              </a:ext>
            </a:extLst>
          </p:cNvPr>
          <p:cNvSpPr/>
          <p:nvPr/>
        </p:nvSpPr>
        <p:spPr>
          <a:xfrm>
            <a:off x="10306304" y="2653792"/>
            <a:ext cx="121920" cy="121920"/>
          </a:xfrm>
          <a:prstGeom prst="ellipse">
            <a:avLst/>
          </a:prstGeom>
          <a:solidFill>
            <a:srgbClr val="1B3A63"/>
          </a:solidFill>
          <a:ln/>
        </p:spPr>
        <p:txBody>
          <a:bodyPr/>
          <a:lstStyle/>
          <a:p>
            <a:endParaRPr lang="es-ES_tradnl" sz="1867" dirty="0">
              <a:latin typeface="Calibri" panose="020F0502020204030204" pitchFamily="34" charset="0"/>
              <a:cs typeface="Calibri" panose="020F0502020204030204" pitchFamily="34" charset="0"/>
            </a:endParaRPr>
          </a:p>
        </p:txBody>
      </p:sp>
      <p:sp>
        <p:nvSpPr>
          <p:cNvPr id="32" name="Text 30">
            <a:extLst>
              <a:ext uri="{FF2B5EF4-FFF2-40B4-BE49-F238E27FC236}">
                <a16:creationId xmlns:a16="http://schemas.microsoft.com/office/drawing/2014/main" id="{267BD851-9512-F581-58CA-94F3EF805514}"/>
              </a:ext>
            </a:extLst>
          </p:cNvPr>
          <p:cNvSpPr/>
          <p:nvPr/>
        </p:nvSpPr>
        <p:spPr>
          <a:xfrm>
            <a:off x="9940544" y="2348992"/>
            <a:ext cx="853440" cy="243840"/>
          </a:xfrm>
          <a:prstGeom prst="rect">
            <a:avLst/>
          </a:prstGeom>
          <a:noFill/>
          <a:ln/>
        </p:spPr>
        <p:txBody>
          <a:bodyPr wrap="square" rtlCol="0" anchor="ctr"/>
          <a:lstStyle/>
          <a:p>
            <a:pPr algn="ctr"/>
            <a:r>
              <a:rPr lang="es-ES_tradnl" sz="1067" dirty="0">
                <a:solidFill>
                  <a:srgbClr val="1F2A37"/>
                </a:solidFill>
                <a:latin typeface="Calibri" panose="020F0502020204030204" pitchFamily="34" charset="0"/>
                <a:ea typeface="Arial" pitchFamily="34" charset="-122"/>
                <a:cs typeface="Calibri" panose="020F0502020204030204" pitchFamily="34" charset="0"/>
              </a:rPr>
              <a:t>12m</a:t>
            </a:r>
            <a:endParaRPr lang="es-ES_tradnl" sz="1067" dirty="0">
              <a:latin typeface="Calibri" panose="020F0502020204030204" pitchFamily="34" charset="0"/>
              <a:cs typeface="Calibri" panose="020F0502020204030204" pitchFamily="34" charset="0"/>
            </a:endParaRPr>
          </a:p>
        </p:txBody>
      </p:sp>
      <p:sp>
        <p:nvSpPr>
          <p:cNvPr id="33" name="Text 31">
            <a:extLst>
              <a:ext uri="{FF2B5EF4-FFF2-40B4-BE49-F238E27FC236}">
                <a16:creationId xmlns:a16="http://schemas.microsoft.com/office/drawing/2014/main" id="{46609CCB-7A71-3017-9678-8A66020842C4}"/>
              </a:ext>
            </a:extLst>
          </p:cNvPr>
          <p:cNvSpPr/>
          <p:nvPr/>
        </p:nvSpPr>
        <p:spPr>
          <a:xfrm>
            <a:off x="5726176" y="3048000"/>
            <a:ext cx="4799584" cy="341376"/>
          </a:xfrm>
          <a:prstGeom prst="rect">
            <a:avLst/>
          </a:prstGeom>
          <a:noFill/>
          <a:ln/>
        </p:spPr>
        <p:txBody>
          <a:bodyPr wrap="square" rtlCol="0" anchor="ctr"/>
          <a:lstStyle/>
          <a:p>
            <a:pPr algn="ctr"/>
            <a:endParaRPr lang="es-ES_tradnl" sz="1133" dirty="0">
              <a:latin typeface="Calibri" panose="020F0502020204030204" pitchFamily="34" charset="0"/>
              <a:cs typeface="Calibri" panose="020F0502020204030204" pitchFamily="34" charset="0"/>
            </a:endParaRPr>
          </a:p>
        </p:txBody>
      </p:sp>
      <p:sp>
        <p:nvSpPr>
          <p:cNvPr id="34" name="Shape 32">
            <a:extLst>
              <a:ext uri="{FF2B5EF4-FFF2-40B4-BE49-F238E27FC236}">
                <a16:creationId xmlns:a16="http://schemas.microsoft.com/office/drawing/2014/main" id="{720A5A33-A8DD-BF49-7C2E-8AB99C9CAF10}"/>
              </a:ext>
            </a:extLst>
          </p:cNvPr>
          <p:cNvSpPr/>
          <p:nvPr/>
        </p:nvSpPr>
        <p:spPr>
          <a:xfrm>
            <a:off x="5689600" y="5436355"/>
            <a:ext cx="4872736" cy="1120555"/>
          </a:xfrm>
          <a:prstGeom prst="roundRect">
            <a:avLst>
              <a:gd name="adj" fmla="val 10870"/>
            </a:avLst>
          </a:prstGeom>
          <a:solidFill>
            <a:srgbClr val="FFFFFF"/>
          </a:solidFill>
          <a:ln w="3175">
            <a:solidFill>
              <a:srgbClr val="C7D2DC"/>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35" name="Text 33">
            <a:extLst>
              <a:ext uri="{FF2B5EF4-FFF2-40B4-BE49-F238E27FC236}">
                <a16:creationId xmlns:a16="http://schemas.microsoft.com/office/drawing/2014/main" id="{A69970E2-A03C-12B8-4F3D-84CD3434B549}"/>
              </a:ext>
            </a:extLst>
          </p:cNvPr>
          <p:cNvSpPr/>
          <p:nvPr/>
        </p:nvSpPr>
        <p:spPr>
          <a:xfrm>
            <a:off x="7200757" y="6044845"/>
            <a:ext cx="3239659" cy="463296"/>
          </a:xfrm>
          <a:prstGeom prst="rect">
            <a:avLst/>
          </a:prstGeom>
          <a:noFill/>
          <a:ln/>
        </p:spPr>
        <p:txBody>
          <a:bodyPr wrap="square" rtlCol="0" anchor="t"/>
          <a:lstStyle/>
          <a:p>
            <a:pPr>
              <a:lnSpc>
                <a:spcPct val="102000"/>
              </a:lnSpc>
            </a:pPr>
            <a:endParaRPr lang="es-ES_tradnl" sz="1200" dirty="0">
              <a:latin typeface="Calibri" panose="020F0502020204030204" pitchFamily="34" charset="0"/>
              <a:cs typeface="Calibri" panose="020F0502020204030204" pitchFamily="34" charset="0"/>
            </a:endParaRPr>
          </a:p>
        </p:txBody>
      </p:sp>
      <p:sp>
        <p:nvSpPr>
          <p:cNvPr id="36" name="Shape 34">
            <a:extLst>
              <a:ext uri="{FF2B5EF4-FFF2-40B4-BE49-F238E27FC236}">
                <a16:creationId xmlns:a16="http://schemas.microsoft.com/office/drawing/2014/main" id="{83000F88-9B7C-0FDF-6BD5-202758DBA47C}"/>
              </a:ext>
            </a:extLst>
          </p:cNvPr>
          <p:cNvSpPr/>
          <p:nvPr/>
        </p:nvSpPr>
        <p:spPr>
          <a:xfrm>
            <a:off x="10903712" y="1219200"/>
            <a:ext cx="5165344" cy="5965605"/>
          </a:xfrm>
          <a:prstGeom prst="roundRect">
            <a:avLst>
              <a:gd name="adj" fmla="val 2521"/>
            </a:avLst>
          </a:prstGeom>
          <a:solidFill>
            <a:schemeClr val="bg1">
              <a:lumMod val="95000"/>
            </a:schemeClr>
          </a:solidFill>
          <a:ln w="3175">
            <a:solidFill>
              <a:schemeClr val="bg2">
                <a:lumMod val="90000"/>
              </a:schemeClr>
            </a:solidFill>
            <a:prstDash val="solid"/>
          </a:ln>
          <a:effectLst>
            <a:outerShdw blurRad="76200" dist="25400" dir="5400000" algn="bl" rotWithShape="0">
              <a:srgbClr val="000000">
                <a:alpha val="15000"/>
              </a:srgbClr>
            </a:outerShdw>
          </a:effectLst>
        </p:spPr>
        <p:txBody>
          <a:bodyPr/>
          <a:lstStyle/>
          <a:p>
            <a:endParaRPr lang="es-ES_tradnl" sz="1867" dirty="0">
              <a:latin typeface="Calibri" panose="020F0502020204030204" pitchFamily="34" charset="0"/>
              <a:cs typeface="Calibri" panose="020F0502020204030204" pitchFamily="34" charset="0"/>
            </a:endParaRPr>
          </a:p>
        </p:txBody>
      </p:sp>
      <p:sp>
        <p:nvSpPr>
          <p:cNvPr id="37" name="Shape 35">
            <a:extLst>
              <a:ext uri="{FF2B5EF4-FFF2-40B4-BE49-F238E27FC236}">
                <a16:creationId xmlns:a16="http://schemas.microsoft.com/office/drawing/2014/main" id="{43356A48-6E62-AD02-C427-4366A34C80D2}"/>
              </a:ext>
            </a:extLst>
          </p:cNvPr>
          <p:cNvSpPr/>
          <p:nvPr/>
        </p:nvSpPr>
        <p:spPr>
          <a:xfrm>
            <a:off x="10903712" y="1219200"/>
            <a:ext cx="5165344" cy="316992"/>
          </a:xfrm>
          <a:prstGeom prst="roundRect">
            <a:avLst>
              <a:gd name="adj" fmla="val 10345"/>
            </a:avLst>
          </a:prstGeom>
          <a:solidFill>
            <a:srgbClr val="009193"/>
          </a:solidFill>
          <a:ln/>
        </p:spPr>
        <p:txBody>
          <a:bodyPr/>
          <a:lstStyle/>
          <a:p>
            <a:endParaRPr lang="es-ES_tradnl" sz="1867" dirty="0">
              <a:latin typeface="Calibri" panose="020F0502020204030204" pitchFamily="34" charset="0"/>
              <a:cs typeface="Calibri" panose="020F0502020204030204" pitchFamily="34" charset="0"/>
            </a:endParaRPr>
          </a:p>
        </p:txBody>
      </p:sp>
      <p:sp>
        <p:nvSpPr>
          <p:cNvPr id="39" name="Shape 37">
            <a:extLst>
              <a:ext uri="{FF2B5EF4-FFF2-40B4-BE49-F238E27FC236}">
                <a16:creationId xmlns:a16="http://schemas.microsoft.com/office/drawing/2014/main" id="{735EDF44-B1BE-E3E5-0564-208274D97D9C}"/>
              </a:ext>
            </a:extLst>
          </p:cNvPr>
          <p:cNvSpPr/>
          <p:nvPr/>
        </p:nvSpPr>
        <p:spPr>
          <a:xfrm>
            <a:off x="11170109" y="1177608"/>
            <a:ext cx="341376" cy="341376"/>
          </a:xfrm>
          <a:prstGeom prst="ellipse">
            <a:avLst/>
          </a:prstGeom>
          <a:solidFill>
            <a:srgbClr val="009193"/>
          </a:solidFill>
          <a:ln w="25400">
            <a:solidFill>
              <a:srgbClr val="FFFFFF"/>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40" name="Text 38">
            <a:extLst>
              <a:ext uri="{FF2B5EF4-FFF2-40B4-BE49-F238E27FC236}">
                <a16:creationId xmlns:a16="http://schemas.microsoft.com/office/drawing/2014/main" id="{622A3461-722D-350C-E3FA-EB3CA3FD0146}"/>
              </a:ext>
            </a:extLst>
          </p:cNvPr>
          <p:cNvSpPr/>
          <p:nvPr/>
        </p:nvSpPr>
        <p:spPr>
          <a:xfrm>
            <a:off x="11210789" y="1218287"/>
            <a:ext cx="255119" cy="255119"/>
          </a:xfrm>
          <a:prstGeom prst="rect">
            <a:avLst/>
          </a:prstGeom>
          <a:noFill/>
          <a:ln/>
        </p:spPr>
        <p:txBody>
          <a:bodyPr wrap="square" rtlCol="0" anchor="ctr"/>
          <a:lstStyle/>
          <a:p>
            <a:pPr algn="ctr"/>
            <a:r>
              <a:rPr lang="es-ES_tradnl" sz="1600" b="1" dirty="0">
                <a:solidFill>
                  <a:srgbClr val="FFFFFF"/>
                </a:solidFill>
                <a:latin typeface="Calibri" panose="020F0502020204030204" pitchFamily="34" charset="0"/>
                <a:ea typeface="Arial" pitchFamily="34" charset="-122"/>
                <a:cs typeface="Calibri" panose="020F0502020204030204" pitchFamily="34" charset="0"/>
              </a:rPr>
              <a:t>3</a:t>
            </a:r>
            <a:endParaRPr lang="es-ES_tradnl" sz="1600" dirty="0">
              <a:latin typeface="Calibri" panose="020F0502020204030204" pitchFamily="34" charset="0"/>
              <a:cs typeface="Calibri" panose="020F0502020204030204" pitchFamily="34" charset="0"/>
            </a:endParaRPr>
          </a:p>
        </p:txBody>
      </p:sp>
      <p:sp>
        <p:nvSpPr>
          <p:cNvPr id="41" name="Text 39">
            <a:extLst>
              <a:ext uri="{FF2B5EF4-FFF2-40B4-BE49-F238E27FC236}">
                <a16:creationId xmlns:a16="http://schemas.microsoft.com/office/drawing/2014/main" id="{0D5CCA56-19F1-173F-737D-A8A176B8FD3C}"/>
              </a:ext>
            </a:extLst>
          </p:cNvPr>
          <p:cNvSpPr/>
          <p:nvPr/>
        </p:nvSpPr>
        <p:spPr>
          <a:xfrm>
            <a:off x="11781536" y="1219200"/>
            <a:ext cx="4092448" cy="341376"/>
          </a:xfrm>
          <a:prstGeom prst="rect">
            <a:avLst/>
          </a:prstGeom>
          <a:noFill/>
          <a:ln/>
        </p:spPr>
        <p:txBody>
          <a:bodyPr wrap="square" rtlCol="0" anchor="ctr"/>
          <a:lstStyle/>
          <a:p>
            <a:r>
              <a:rPr lang="es-ES_tradnl" b="1" dirty="0">
                <a:solidFill>
                  <a:srgbClr val="FFFFFF"/>
                </a:solidFill>
                <a:latin typeface="Calibri" panose="020F0502020204030204" pitchFamily="34" charset="0"/>
                <a:ea typeface="Arial" pitchFamily="34" charset="-122"/>
                <a:cs typeface="Calibri" panose="020F0502020204030204" pitchFamily="34" charset="0"/>
              </a:rPr>
              <a:t>¿POR QUÉ NO SE REQUIERE AJUSTES ADICIONALES?</a:t>
            </a:r>
            <a:endParaRPr lang="es-ES_tradnl" dirty="0">
              <a:latin typeface="Calibri" panose="020F0502020204030204" pitchFamily="34" charset="0"/>
              <a:cs typeface="Calibri" panose="020F0502020204030204" pitchFamily="34" charset="0"/>
            </a:endParaRPr>
          </a:p>
        </p:txBody>
      </p:sp>
      <p:sp>
        <p:nvSpPr>
          <p:cNvPr id="42" name="Text 40">
            <a:extLst>
              <a:ext uri="{FF2B5EF4-FFF2-40B4-BE49-F238E27FC236}">
                <a16:creationId xmlns:a16="http://schemas.microsoft.com/office/drawing/2014/main" id="{494B0901-AD89-EC93-53B9-2B1CBF4A31DA}"/>
              </a:ext>
            </a:extLst>
          </p:cNvPr>
          <p:cNvSpPr/>
          <p:nvPr/>
        </p:nvSpPr>
        <p:spPr>
          <a:xfrm>
            <a:off x="11086592" y="2109216"/>
            <a:ext cx="4799584" cy="1341120"/>
          </a:xfrm>
          <a:prstGeom prst="rect">
            <a:avLst/>
          </a:prstGeom>
          <a:noFill/>
          <a:ln/>
        </p:spPr>
        <p:txBody>
          <a:bodyPr wrap="square" rtlCol="0" anchor="t"/>
          <a:lstStyle/>
          <a:p>
            <a:endParaRPr lang="es-ES_tradnl" dirty="0">
              <a:latin typeface="Calibri" panose="020F0502020204030204" pitchFamily="34" charset="0"/>
              <a:cs typeface="Calibri" panose="020F0502020204030204" pitchFamily="34" charset="0"/>
            </a:endParaRPr>
          </a:p>
        </p:txBody>
      </p:sp>
      <p:sp>
        <p:nvSpPr>
          <p:cNvPr id="43" name="Shape 41">
            <a:extLst>
              <a:ext uri="{FF2B5EF4-FFF2-40B4-BE49-F238E27FC236}">
                <a16:creationId xmlns:a16="http://schemas.microsoft.com/office/drawing/2014/main" id="{81BA5372-CA58-27AD-7112-48C9B723DFA9}"/>
              </a:ext>
            </a:extLst>
          </p:cNvPr>
          <p:cNvSpPr/>
          <p:nvPr/>
        </p:nvSpPr>
        <p:spPr>
          <a:xfrm>
            <a:off x="11879072" y="4619976"/>
            <a:ext cx="3214624" cy="1931193"/>
          </a:xfrm>
          <a:prstGeom prst="roundRect">
            <a:avLst>
              <a:gd name="adj" fmla="val 11111"/>
            </a:avLst>
          </a:prstGeom>
          <a:solidFill>
            <a:srgbClr val="2E6CA4"/>
          </a:solidFill>
          <a:ln/>
        </p:spPr>
        <p:txBody>
          <a:bodyPr/>
          <a:lstStyle/>
          <a:p>
            <a:endParaRPr lang="es-ES_tradnl" sz="1867" dirty="0">
              <a:latin typeface="Calibri" panose="020F0502020204030204" pitchFamily="34" charset="0"/>
              <a:cs typeface="Calibri" panose="020F0502020204030204" pitchFamily="34" charset="0"/>
            </a:endParaRPr>
          </a:p>
        </p:txBody>
      </p:sp>
      <p:sp>
        <p:nvSpPr>
          <p:cNvPr id="44" name="Text 42">
            <a:extLst>
              <a:ext uri="{FF2B5EF4-FFF2-40B4-BE49-F238E27FC236}">
                <a16:creationId xmlns:a16="http://schemas.microsoft.com/office/drawing/2014/main" id="{15DA4341-CEA1-30CB-16B3-B22EBCDE0A11}"/>
              </a:ext>
            </a:extLst>
          </p:cNvPr>
          <p:cNvSpPr/>
          <p:nvPr/>
        </p:nvSpPr>
        <p:spPr>
          <a:xfrm>
            <a:off x="12378944" y="3450336"/>
            <a:ext cx="2178304" cy="236483"/>
          </a:xfrm>
          <a:prstGeom prst="rect">
            <a:avLst/>
          </a:prstGeom>
          <a:noFill/>
          <a:ln/>
        </p:spPr>
        <p:txBody>
          <a:bodyPr wrap="square" rtlCol="0" anchor="ctr"/>
          <a:lstStyle/>
          <a:p>
            <a:pPr algn="ctr"/>
            <a:endParaRPr lang="es-ES_tradnl" dirty="0">
              <a:latin typeface="Calibri" panose="020F0502020204030204" pitchFamily="34" charset="0"/>
              <a:cs typeface="Calibri" panose="020F0502020204030204" pitchFamily="34" charset="0"/>
            </a:endParaRPr>
          </a:p>
        </p:txBody>
      </p:sp>
      <p:sp>
        <p:nvSpPr>
          <p:cNvPr id="60" name="Shape 57">
            <a:extLst>
              <a:ext uri="{FF2B5EF4-FFF2-40B4-BE49-F238E27FC236}">
                <a16:creationId xmlns:a16="http://schemas.microsoft.com/office/drawing/2014/main" id="{9A814E79-E165-580E-DCBD-05CC2E0D2980}"/>
              </a:ext>
            </a:extLst>
          </p:cNvPr>
          <p:cNvSpPr/>
          <p:nvPr/>
        </p:nvSpPr>
        <p:spPr>
          <a:xfrm>
            <a:off x="182880" y="7607808"/>
            <a:ext cx="15886176" cy="1389888"/>
          </a:xfrm>
          <a:prstGeom prst="roundRect">
            <a:avLst>
              <a:gd name="adj" fmla="val 5263"/>
            </a:avLst>
          </a:prstGeom>
          <a:solidFill>
            <a:srgbClr val="009193">
              <a:alpha val="25098"/>
            </a:srgbClr>
          </a:solidFill>
          <a:ln w="9525">
            <a:solidFill>
              <a:srgbClr val="CFE6D4"/>
            </a:solidFill>
            <a:prstDash val="solid"/>
          </a:ln>
        </p:spPr>
        <p:txBody>
          <a:bodyPr/>
          <a:lstStyle/>
          <a:p>
            <a:endParaRPr lang="es-ES_tradnl" sz="1867" dirty="0">
              <a:latin typeface="Calibri" panose="020F0502020204030204" pitchFamily="34" charset="0"/>
              <a:cs typeface="Calibri" panose="020F0502020204030204" pitchFamily="34" charset="0"/>
            </a:endParaRPr>
          </a:p>
        </p:txBody>
      </p:sp>
      <p:sp>
        <p:nvSpPr>
          <p:cNvPr id="63" name="Text 60">
            <a:extLst>
              <a:ext uri="{FF2B5EF4-FFF2-40B4-BE49-F238E27FC236}">
                <a16:creationId xmlns:a16="http://schemas.microsoft.com/office/drawing/2014/main" id="{44A112FA-959A-E7A1-B037-CD39D6DCFF65}"/>
              </a:ext>
            </a:extLst>
          </p:cNvPr>
          <p:cNvSpPr/>
          <p:nvPr/>
        </p:nvSpPr>
        <p:spPr>
          <a:xfrm>
            <a:off x="987552" y="7610197"/>
            <a:ext cx="4189984" cy="341376"/>
          </a:xfrm>
          <a:prstGeom prst="rect">
            <a:avLst/>
          </a:prstGeom>
          <a:noFill/>
          <a:ln/>
        </p:spPr>
        <p:txBody>
          <a:bodyPr wrap="square" rtlCol="0" anchor="ctr"/>
          <a:lstStyle/>
          <a:p>
            <a:r>
              <a:rPr lang="es-ES_tradnl" sz="1867" b="1" dirty="0">
                <a:solidFill>
                  <a:srgbClr val="009193"/>
                </a:solidFill>
                <a:latin typeface="Calibri" panose="020F0502020204030204" pitchFamily="34" charset="0"/>
                <a:ea typeface="Arial" pitchFamily="34" charset="-122"/>
                <a:cs typeface="Calibri" panose="020F0502020204030204" pitchFamily="34" charset="0"/>
              </a:rPr>
              <a:t>Resumen</a:t>
            </a:r>
            <a:endParaRPr lang="es-ES_tradnl" sz="1867" dirty="0">
              <a:solidFill>
                <a:srgbClr val="009193"/>
              </a:solidFill>
              <a:latin typeface="Calibri" panose="020F0502020204030204" pitchFamily="34" charset="0"/>
              <a:cs typeface="Calibri" panose="020F0502020204030204" pitchFamily="34" charset="0"/>
            </a:endParaRPr>
          </a:p>
        </p:txBody>
      </p:sp>
      <p:sp>
        <p:nvSpPr>
          <p:cNvPr id="64" name="Text 61">
            <a:extLst>
              <a:ext uri="{FF2B5EF4-FFF2-40B4-BE49-F238E27FC236}">
                <a16:creationId xmlns:a16="http://schemas.microsoft.com/office/drawing/2014/main" id="{4507A983-FC74-8DC8-6B16-C15524C93669}"/>
              </a:ext>
            </a:extLst>
          </p:cNvPr>
          <p:cNvSpPr/>
          <p:nvPr/>
        </p:nvSpPr>
        <p:spPr>
          <a:xfrm>
            <a:off x="365760" y="8119872"/>
            <a:ext cx="4799584" cy="792480"/>
          </a:xfrm>
          <a:prstGeom prst="rect">
            <a:avLst/>
          </a:prstGeom>
          <a:noFill/>
          <a:ln/>
        </p:spPr>
        <p:txBody>
          <a:bodyPr wrap="square" rtlCol="0" anchor="t"/>
          <a:lstStyle/>
          <a:p>
            <a:pPr>
              <a:lnSpc>
                <a:spcPct val="102000"/>
              </a:lnSpc>
            </a:pPr>
            <a:endParaRPr lang="es-ES_tradnl" sz="1333" dirty="0">
              <a:latin typeface="Calibri" panose="020F0502020204030204" pitchFamily="34" charset="0"/>
              <a:cs typeface="Calibri" panose="020F0502020204030204" pitchFamily="34" charset="0"/>
            </a:endParaRPr>
          </a:p>
        </p:txBody>
      </p:sp>
      <p:sp>
        <p:nvSpPr>
          <p:cNvPr id="78" name="TextBox 77">
            <a:extLst>
              <a:ext uri="{FF2B5EF4-FFF2-40B4-BE49-F238E27FC236}">
                <a16:creationId xmlns:a16="http://schemas.microsoft.com/office/drawing/2014/main" id="{D7624D25-0614-D089-50D8-CD92ABDF31D0}"/>
              </a:ext>
            </a:extLst>
          </p:cNvPr>
          <p:cNvSpPr txBox="1"/>
          <p:nvPr/>
        </p:nvSpPr>
        <p:spPr>
          <a:xfrm>
            <a:off x="1274424" y="2222159"/>
            <a:ext cx="3389587" cy="954300"/>
          </a:xfrm>
          <a:prstGeom prst="rect">
            <a:avLst/>
          </a:prstGeom>
          <a:noFill/>
        </p:spPr>
        <p:txBody>
          <a:bodyPr wrap="square">
            <a:spAutoFit/>
          </a:bodyPr>
          <a:lstStyle/>
          <a:p>
            <a:r>
              <a:rPr lang="es-ES_tradnl" sz="1867" dirty="0">
                <a:solidFill>
                  <a:srgbClr val="1F2A37"/>
                </a:solidFill>
                <a:latin typeface="Calibri" panose="020F0502020204030204" pitchFamily="34" charset="0"/>
                <a:ea typeface="Arial" pitchFamily="34" charset="-122"/>
                <a:cs typeface="Calibri" panose="020F0502020204030204" pitchFamily="34" charset="0"/>
              </a:rPr>
              <a:t>Probabilidad de que el crédito haga default en los próximos 12 meses desde el origen.</a:t>
            </a:r>
            <a:endParaRPr lang="es-ES_tradnl" sz="4800" dirty="0">
              <a:latin typeface="Calibri" panose="020F0502020204030204" pitchFamily="34" charset="0"/>
              <a:cs typeface="Calibri" panose="020F0502020204030204" pitchFamily="34" charset="0"/>
            </a:endParaRPr>
          </a:p>
        </p:txBody>
      </p:sp>
      <p:pic>
        <p:nvPicPr>
          <p:cNvPr id="122" name="Picture 121" descr="Settings ">
            <a:extLst>
              <a:ext uri="{FF2B5EF4-FFF2-40B4-BE49-F238E27FC236}">
                <a16:creationId xmlns:a16="http://schemas.microsoft.com/office/drawing/2014/main" id="{5EA1C93F-2AC2-B4D0-3A65-23F2B539D579}"/>
              </a:ext>
            </a:extLst>
          </p:cNvPr>
          <p:cNvPicPr>
            <a:picLocks noChangeAspect="1"/>
          </p:cNvPicPr>
          <p:nvPr/>
        </p:nvPicPr>
        <p:blipFill>
          <a:blip r:embed="rId3">
            <a:duotone>
              <a:schemeClr val="accent6">
                <a:shade val="45000"/>
                <a:satMod val="135000"/>
              </a:schemeClr>
              <a:prstClr val="white"/>
            </a:duotone>
            <a:alphaModFix amt="50000"/>
          </a:blip>
          <a:stretch>
            <a:fillRect/>
          </a:stretch>
        </p:blipFill>
        <p:spPr>
          <a:xfrm>
            <a:off x="5748087" y="1689672"/>
            <a:ext cx="539637" cy="539637"/>
          </a:xfrm>
          <a:prstGeom prst="rect">
            <a:avLst/>
          </a:prstGeom>
        </p:spPr>
      </p:pic>
      <p:sp>
        <p:nvSpPr>
          <p:cNvPr id="124" name="TextBox 123">
            <a:extLst>
              <a:ext uri="{FF2B5EF4-FFF2-40B4-BE49-F238E27FC236}">
                <a16:creationId xmlns:a16="http://schemas.microsoft.com/office/drawing/2014/main" id="{52BE43B2-930F-848C-76DC-52805AD81007}"/>
              </a:ext>
            </a:extLst>
          </p:cNvPr>
          <p:cNvSpPr txBox="1"/>
          <p:nvPr/>
        </p:nvSpPr>
        <p:spPr>
          <a:xfrm>
            <a:off x="6512813" y="1653097"/>
            <a:ext cx="4049523" cy="482312"/>
          </a:xfrm>
          <a:prstGeom prst="rect">
            <a:avLst/>
          </a:prstGeom>
          <a:noFill/>
        </p:spPr>
        <p:txBody>
          <a:bodyPr wrap="square">
            <a:spAutoFit/>
          </a:bodyPr>
          <a:lstStyle/>
          <a:p>
            <a:r>
              <a:rPr lang="es-ES_tradnl" sz="1267" dirty="0">
                <a:solidFill>
                  <a:srgbClr val="1F2A37"/>
                </a:solidFill>
                <a:latin typeface="Calibri" panose="020F0502020204030204" pitchFamily="34" charset="0"/>
                <a:ea typeface="Arial" pitchFamily="34" charset="-122"/>
                <a:cs typeface="Calibri" panose="020F0502020204030204" pitchFamily="34" charset="0"/>
              </a:rPr>
              <a:t>Metodología que descompone la PD de origen a 12 meses en probabilidades de default por horizonte.</a:t>
            </a:r>
            <a:endParaRPr lang="es-ES_tradnl" sz="1267" dirty="0">
              <a:solidFill>
                <a:srgbClr val="009193"/>
              </a:solidFill>
              <a:latin typeface="Calibri" panose="020F0502020204030204" pitchFamily="34" charset="0"/>
              <a:cs typeface="Calibri" panose="020F0502020204030204" pitchFamily="34" charset="0"/>
            </a:endParaRPr>
          </a:p>
        </p:txBody>
      </p:sp>
      <p:sp>
        <p:nvSpPr>
          <p:cNvPr id="125" name="Right Brace 124">
            <a:extLst>
              <a:ext uri="{FF2B5EF4-FFF2-40B4-BE49-F238E27FC236}">
                <a16:creationId xmlns:a16="http://schemas.microsoft.com/office/drawing/2014/main" id="{00217F98-43B2-C1BC-E7D0-E728F3449B70}"/>
              </a:ext>
            </a:extLst>
          </p:cNvPr>
          <p:cNvSpPr/>
          <p:nvPr/>
        </p:nvSpPr>
        <p:spPr>
          <a:xfrm rot="5400000">
            <a:off x="7900639" y="2420159"/>
            <a:ext cx="450656" cy="4482592"/>
          </a:xfrm>
          <a:prstGeom prst="rightBrace">
            <a:avLst/>
          </a:prstGeom>
          <a:ln w="12700">
            <a:solidFill>
              <a:srgbClr val="00919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sz="1867" dirty="0"/>
          </a:p>
        </p:txBody>
      </p:sp>
      <p:sp>
        <p:nvSpPr>
          <p:cNvPr id="129" name="TextBox 128">
            <a:extLst>
              <a:ext uri="{FF2B5EF4-FFF2-40B4-BE49-F238E27FC236}">
                <a16:creationId xmlns:a16="http://schemas.microsoft.com/office/drawing/2014/main" id="{7B34729C-C447-DAD4-68EE-5685AC2E206A}"/>
              </a:ext>
            </a:extLst>
          </p:cNvPr>
          <p:cNvSpPr txBox="1"/>
          <p:nvPr/>
        </p:nvSpPr>
        <p:spPr>
          <a:xfrm>
            <a:off x="6888481" y="5577659"/>
            <a:ext cx="2865120" cy="837217"/>
          </a:xfrm>
          <a:prstGeom prst="rect">
            <a:avLst/>
          </a:prstGeom>
          <a:noFill/>
        </p:spPr>
        <p:txBody>
          <a:bodyPr wrap="square">
            <a:spAutoFit/>
          </a:bodyPr>
          <a:lstStyle/>
          <a:p>
            <a:pPr>
              <a:lnSpc>
                <a:spcPct val="102000"/>
              </a:lnSpc>
            </a:pPr>
            <a:r>
              <a:rPr lang="es-ES_tradnl" sz="1600" b="1" dirty="0">
                <a:solidFill>
                  <a:srgbClr val="2E6CA4"/>
                </a:solidFill>
                <a:latin typeface="Calibri" panose="020F0502020204030204" pitchFamily="34" charset="0"/>
                <a:ea typeface="Arial" pitchFamily="34" charset="-122"/>
                <a:cs typeface="Calibri" panose="020F0502020204030204" pitchFamily="34" charset="0"/>
              </a:rPr>
              <a:t>En el mes 12, la PD acumulada coincide con la PD de origen a 12 meses</a:t>
            </a:r>
            <a:endParaRPr lang="es-ES_tradnl" sz="1600" dirty="0">
              <a:latin typeface="Calibri" panose="020F0502020204030204" pitchFamily="34" charset="0"/>
              <a:cs typeface="Calibri" panose="020F0502020204030204" pitchFamily="34" charset="0"/>
            </a:endParaRPr>
          </a:p>
        </p:txBody>
      </p:sp>
      <p:pic>
        <p:nvPicPr>
          <p:cNvPr id="131" name="Picture 130" descr="Liability ">
            <a:extLst>
              <a:ext uri="{FF2B5EF4-FFF2-40B4-BE49-F238E27FC236}">
                <a16:creationId xmlns:a16="http://schemas.microsoft.com/office/drawing/2014/main" id="{0E4531B5-9E9F-D448-009A-F9371CC7E7D6}"/>
              </a:ext>
            </a:extLst>
          </p:cNvPr>
          <p:cNvPicPr>
            <a:picLocks noChangeAspect="1"/>
          </p:cNvPicPr>
          <p:nvPr/>
        </p:nvPicPr>
        <p:blipFill>
          <a:blip r:embed="rId4">
            <a:duotone>
              <a:schemeClr val="accent6">
                <a:shade val="45000"/>
                <a:satMod val="135000"/>
              </a:schemeClr>
              <a:prstClr val="white"/>
            </a:duotone>
            <a:alphaModFix amt="50000"/>
          </a:blip>
          <a:stretch>
            <a:fillRect/>
          </a:stretch>
        </p:blipFill>
        <p:spPr>
          <a:xfrm>
            <a:off x="5913375" y="5577984"/>
            <a:ext cx="828803" cy="828803"/>
          </a:xfrm>
          <a:prstGeom prst="rect">
            <a:avLst/>
          </a:prstGeom>
        </p:spPr>
      </p:pic>
      <p:sp>
        <p:nvSpPr>
          <p:cNvPr id="134" name="TextBox 133">
            <a:extLst>
              <a:ext uri="{FF2B5EF4-FFF2-40B4-BE49-F238E27FC236}">
                <a16:creationId xmlns:a16="http://schemas.microsoft.com/office/drawing/2014/main" id="{6342F074-3371-7902-2EE6-59337E76B572}"/>
              </a:ext>
            </a:extLst>
          </p:cNvPr>
          <p:cNvSpPr txBox="1"/>
          <p:nvPr/>
        </p:nvSpPr>
        <p:spPr>
          <a:xfrm>
            <a:off x="12803064" y="2089889"/>
            <a:ext cx="2290633" cy="1816266"/>
          </a:xfrm>
          <a:prstGeom prst="rect">
            <a:avLst/>
          </a:prstGeom>
          <a:noFill/>
        </p:spPr>
        <p:txBody>
          <a:bodyPr wrap="square">
            <a:spAutoFit/>
          </a:bodyPr>
          <a:lstStyle/>
          <a:p>
            <a:r>
              <a:rPr lang="es-ES_tradnl" sz="1867" dirty="0">
                <a:solidFill>
                  <a:srgbClr val="1F2A37"/>
                </a:solidFill>
                <a:latin typeface="Calibri" panose="020F0502020204030204" pitchFamily="34" charset="0"/>
                <a:cs typeface="Calibri" panose="020F0502020204030204" pitchFamily="34" charset="0"/>
              </a:rPr>
              <a:t>La PD Lifetime toma como insumo la PD de origen a 12 meses, que ya incorpora la mora temprana en su calibración</a:t>
            </a:r>
            <a:endParaRPr lang="es-ES_tradnl" sz="1867" dirty="0">
              <a:latin typeface="Calibri" panose="020F0502020204030204" pitchFamily="34" charset="0"/>
              <a:cs typeface="Calibri" panose="020F0502020204030204" pitchFamily="34" charset="0"/>
            </a:endParaRPr>
          </a:p>
        </p:txBody>
      </p:sp>
      <p:pic>
        <p:nvPicPr>
          <p:cNvPr id="135" name="Picture 134" descr="Shield ">
            <a:extLst>
              <a:ext uri="{FF2B5EF4-FFF2-40B4-BE49-F238E27FC236}">
                <a16:creationId xmlns:a16="http://schemas.microsoft.com/office/drawing/2014/main" id="{C663735D-CB4B-35B6-E7A8-81C7691CFE16}"/>
              </a:ext>
            </a:extLst>
          </p:cNvPr>
          <p:cNvPicPr>
            <a:picLocks noChangeAspect="1"/>
          </p:cNvPicPr>
          <p:nvPr/>
        </p:nvPicPr>
        <p:blipFill>
          <a:blip r:embed="rId5">
            <a:duotone>
              <a:schemeClr val="accent6">
                <a:shade val="45000"/>
                <a:satMod val="135000"/>
              </a:schemeClr>
              <a:prstClr val="white"/>
            </a:duotone>
            <a:alphaModFix amt="50000"/>
          </a:blip>
          <a:stretch>
            <a:fillRect/>
          </a:stretch>
        </p:blipFill>
        <p:spPr>
          <a:xfrm>
            <a:off x="246824" y="2145636"/>
            <a:ext cx="992317" cy="992317"/>
          </a:xfrm>
          <a:prstGeom prst="rect">
            <a:avLst/>
          </a:prstGeom>
        </p:spPr>
      </p:pic>
      <p:sp>
        <p:nvSpPr>
          <p:cNvPr id="137" name="TextBox 136">
            <a:extLst>
              <a:ext uri="{FF2B5EF4-FFF2-40B4-BE49-F238E27FC236}">
                <a16:creationId xmlns:a16="http://schemas.microsoft.com/office/drawing/2014/main" id="{0E18D70F-5DCA-46F5-3AAF-5517DFE7392A}"/>
              </a:ext>
            </a:extLst>
          </p:cNvPr>
          <p:cNvSpPr txBox="1"/>
          <p:nvPr/>
        </p:nvSpPr>
        <p:spPr>
          <a:xfrm>
            <a:off x="12036917" y="4819884"/>
            <a:ext cx="2853579" cy="1528945"/>
          </a:xfrm>
          <a:prstGeom prst="rect">
            <a:avLst/>
          </a:prstGeom>
          <a:noFill/>
        </p:spPr>
        <p:txBody>
          <a:bodyPr wrap="square">
            <a:spAutoFit/>
          </a:bodyPr>
          <a:lstStyle/>
          <a:p>
            <a:pPr algn="ctr"/>
            <a:r>
              <a:rPr lang="es-ES_tradnl" sz="1867" b="1" dirty="0">
                <a:solidFill>
                  <a:srgbClr val="FFFFFF"/>
                </a:solidFill>
                <a:latin typeface="Calibri" panose="020F0502020204030204" pitchFamily="34" charset="0"/>
                <a:ea typeface="Arial" pitchFamily="34" charset="-122"/>
                <a:cs typeface="Calibri" panose="020F0502020204030204" pitchFamily="34" charset="0"/>
              </a:rPr>
              <a:t>Por tanto, al descomponerla en el tiempo, la mora temprana ya está reflejada de forma tácita en la PD Lifetime</a:t>
            </a:r>
            <a:endParaRPr lang="es-ES_tradnl" sz="1867"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B4BD6C7-686C-6EF5-F66E-48F82E6E4BC2}"/>
              </a:ext>
            </a:extLst>
          </p:cNvPr>
          <p:cNvSpPr txBox="1"/>
          <p:nvPr/>
        </p:nvSpPr>
        <p:spPr>
          <a:xfrm>
            <a:off x="1738348" y="7977107"/>
            <a:ext cx="2256560" cy="830997"/>
          </a:xfrm>
          <a:prstGeom prst="rect">
            <a:avLst/>
          </a:prstGeom>
          <a:noFill/>
        </p:spPr>
        <p:txBody>
          <a:bodyPr wrap="square" rtlCol="0">
            <a:spAutoFit/>
          </a:bodyPr>
          <a:lstStyle/>
          <a:p>
            <a:r>
              <a:rPr lang="es-ES_tradnl" sz="1600" dirty="0"/>
              <a:t>La PD Origen (12 meses) </a:t>
            </a:r>
            <a:r>
              <a:rPr lang="es-ES_tradnl" sz="1600" b="1" dirty="0">
                <a:solidFill>
                  <a:srgbClr val="009193"/>
                </a:solidFill>
              </a:rPr>
              <a:t>ya captura la mora temprana</a:t>
            </a:r>
          </a:p>
        </p:txBody>
      </p:sp>
      <p:sp>
        <p:nvSpPr>
          <p:cNvPr id="18" name="TextBox 17">
            <a:extLst>
              <a:ext uri="{FF2B5EF4-FFF2-40B4-BE49-F238E27FC236}">
                <a16:creationId xmlns:a16="http://schemas.microsoft.com/office/drawing/2014/main" id="{189DF179-2C64-8C70-DB4D-1DEA16DD3C75}"/>
              </a:ext>
            </a:extLst>
          </p:cNvPr>
          <p:cNvSpPr txBox="1"/>
          <p:nvPr/>
        </p:nvSpPr>
        <p:spPr>
          <a:xfrm>
            <a:off x="6121520" y="7977108"/>
            <a:ext cx="2962656" cy="1077218"/>
          </a:xfrm>
          <a:prstGeom prst="rect">
            <a:avLst/>
          </a:prstGeom>
          <a:noFill/>
        </p:spPr>
        <p:txBody>
          <a:bodyPr wrap="square" rtlCol="0">
            <a:spAutoFit/>
          </a:bodyPr>
          <a:lstStyle/>
          <a:p>
            <a:r>
              <a:rPr lang="es-ES_tradnl" sz="1600" dirty="0"/>
              <a:t>La PD Lifetime </a:t>
            </a:r>
            <a:r>
              <a:rPr lang="es-ES_tradnl" sz="1600" b="1" dirty="0">
                <a:solidFill>
                  <a:srgbClr val="009193"/>
                </a:solidFill>
              </a:rPr>
              <a:t>descompone</a:t>
            </a:r>
            <a:r>
              <a:rPr lang="es-ES_tradnl" sz="1600" dirty="0"/>
              <a:t> esa PD en probabilidades </a:t>
            </a:r>
            <a:r>
              <a:rPr lang="es-ES_tradnl" sz="1600" b="1" dirty="0">
                <a:solidFill>
                  <a:srgbClr val="009193"/>
                </a:solidFill>
              </a:rPr>
              <a:t>por cada horizonte</a:t>
            </a:r>
            <a:r>
              <a:rPr lang="es-ES_tradnl" sz="1600" dirty="0"/>
              <a:t> (3m, 4m, …, 12m)</a:t>
            </a:r>
            <a:endParaRPr lang="es-ES_tradnl" sz="1600" dirty="0">
              <a:solidFill>
                <a:srgbClr val="009193"/>
              </a:solidFill>
            </a:endParaRPr>
          </a:p>
        </p:txBody>
      </p:sp>
      <p:sp>
        <p:nvSpPr>
          <p:cNvPr id="38" name="TextBox 37">
            <a:extLst>
              <a:ext uri="{FF2B5EF4-FFF2-40B4-BE49-F238E27FC236}">
                <a16:creationId xmlns:a16="http://schemas.microsoft.com/office/drawing/2014/main" id="{13D0FB55-8E52-0686-01BD-DE929ABF9BE4}"/>
              </a:ext>
            </a:extLst>
          </p:cNvPr>
          <p:cNvSpPr txBox="1"/>
          <p:nvPr/>
        </p:nvSpPr>
        <p:spPr>
          <a:xfrm>
            <a:off x="11210788" y="8100217"/>
            <a:ext cx="2962656" cy="830997"/>
          </a:xfrm>
          <a:prstGeom prst="rect">
            <a:avLst/>
          </a:prstGeom>
          <a:noFill/>
        </p:spPr>
        <p:txBody>
          <a:bodyPr wrap="square" rtlCol="0">
            <a:spAutoFit/>
          </a:bodyPr>
          <a:lstStyle/>
          <a:p>
            <a:r>
              <a:rPr lang="es-ES_tradnl" sz="1600" dirty="0"/>
              <a:t>En el mes 12, la PD acumulada es </a:t>
            </a:r>
            <a:r>
              <a:rPr lang="es-ES_tradnl" sz="1600" b="1" dirty="0">
                <a:solidFill>
                  <a:srgbClr val="009193"/>
                </a:solidFill>
              </a:rPr>
              <a:t>idéntica a la PD Origen</a:t>
            </a:r>
          </a:p>
        </p:txBody>
      </p:sp>
      <p:grpSp>
        <p:nvGrpSpPr>
          <p:cNvPr id="49" name="Group 48">
            <a:extLst>
              <a:ext uri="{FF2B5EF4-FFF2-40B4-BE49-F238E27FC236}">
                <a16:creationId xmlns:a16="http://schemas.microsoft.com/office/drawing/2014/main" id="{4889BC24-7C8D-F6E1-F39D-D3FA7EA745E4}"/>
              </a:ext>
            </a:extLst>
          </p:cNvPr>
          <p:cNvGrpSpPr/>
          <p:nvPr/>
        </p:nvGrpSpPr>
        <p:grpSpPr>
          <a:xfrm>
            <a:off x="1093123" y="8089393"/>
            <a:ext cx="677253" cy="680727"/>
            <a:chOff x="336958" y="883206"/>
            <a:chExt cx="256032" cy="256032"/>
          </a:xfrm>
        </p:grpSpPr>
        <p:sp>
          <p:nvSpPr>
            <p:cNvPr id="61" name="Shape 5">
              <a:extLst>
                <a:ext uri="{FF2B5EF4-FFF2-40B4-BE49-F238E27FC236}">
                  <a16:creationId xmlns:a16="http://schemas.microsoft.com/office/drawing/2014/main" id="{6BE8C38E-B646-6C49-5651-FE3F7B3052BF}"/>
                </a:ext>
              </a:extLst>
            </p:cNvPr>
            <p:cNvSpPr/>
            <p:nvPr/>
          </p:nvSpPr>
          <p:spPr>
            <a:xfrm>
              <a:off x="336958" y="883206"/>
              <a:ext cx="256032" cy="256032"/>
            </a:xfrm>
            <a:prstGeom prst="ellipse">
              <a:avLst/>
            </a:prstGeom>
            <a:solidFill>
              <a:srgbClr val="009193"/>
            </a:solidFill>
            <a:ln w="25400">
              <a:solidFill>
                <a:srgbClr val="FFFFFF"/>
              </a:solidFill>
              <a:prstDash val="solid"/>
            </a:ln>
          </p:spPr>
          <p:txBody>
            <a:bodyPr/>
            <a:lstStyle/>
            <a:p>
              <a:endParaRPr lang="es-ES_tradnl" sz="5867" dirty="0">
                <a:latin typeface="Calibri" panose="020F0502020204030204" pitchFamily="34" charset="0"/>
                <a:cs typeface="Calibri" panose="020F0502020204030204" pitchFamily="34" charset="0"/>
              </a:endParaRPr>
            </a:p>
          </p:txBody>
        </p:sp>
        <p:sp>
          <p:nvSpPr>
            <p:cNvPr id="62" name="Text 6">
              <a:extLst>
                <a:ext uri="{FF2B5EF4-FFF2-40B4-BE49-F238E27FC236}">
                  <a16:creationId xmlns:a16="http://schemas.microsoft.com/office/drawing/2014/main" id="{9FD38497-7A7E-53FA-B338-74979B866C10}"/>
                </a:ext>
              </a:extLst>
            </p:cNvPr>
            <p:cNvSpPr/>
            <p:nvPr/>
          </p:nvSpPr>
          <p:spPr>
            <a:xfrm>
              <a:off x="367467" y="913715"/>
              <a:ext cx="191339" cy="191339"/>
            </a:xfrm>
            <a:prstGeom prst="rect">
              <a:avLst/>
            </a:prstGeom>
            <a:noFill/>
            <a:ln/>
          </p:spPr>
          <p:txBody>
            <a:bodyPr wrap="square" rtlCol="0" anchor="ctr"/>
            <a:lstStyle/>
            <a:p>
              <a:pPr algn="ctr"/>
              <a:r>
                <a:rPr lang="es-ES_tradnl" sz="4267" b="1" dirty="0">
                  <a:solidFill>
                    <a:srgbClr val="FFFFFF"/>
                  </a:solidFill>
                  <a:latin typeface="Calibri" panose="020F0502020204030204" pitchFamily="34" charset="0"/>
                  <a:ea typeface="Arial" pitchFamily="34" charset="-122"/>
                  <a:cs typeface="Calibri" panose="020F0502020204030204" pitchFamily="34" charset="0"/>
                </a:rPr>
                <a:t>1</a:t>
              </a:r>
              <a:endParaRPr lang="es-ES_tradnl" sz="4267" dirty="0">
                <a:latin typeface="Calibri" panose="020F0502020204030204" pitchFamily="34" charset="0"/>
                <a:cs typeface="Calibri" panose="020F0502020204030204" pitchFamily="34" charset="0"/>
              </a:endParaRPr>
            </a:p>
          </p:txBody>
        </p:sp>
      </p:grpSp>
      <p:grpSp>
        <p:nvGrpSpPr>
          <p:cNvPr id="77" name="Group 76">
            <a:extLst>
              <a:ext uri="{FF2B5EF4-FFF2-40B4-BE49-F238E27FC236}">
                <a16:creationId xmlns:a16="http://schemas.microsoft.com/office/drawing/2014/main" id="{D3195BE1-061A-7E89-DF98-4830D73F1D3B}"/>
              </a:ext>
            </a:extLst>
          </p:cNvPr>
          <p:cNvGrpSpPr/>
          <p:nvPr/>
        </p:nvGrpSpPr>
        <p:grpSpPr>
          <a:xfrm>
            <a:off x="5318531" y="8089393"/>
            <a:ext cx="677253" cy="680727"/>
            <a:chOff x="336958" y="883206"/>
            <a:chExt cx="256032" cy="256032"/>
          </a:xfrm>
        </p:grpSpPr>
        <p:sp>
          <p:nvSpPr>
            <p:cNvPr id="79" name="Shape 5">
              <a:extLst>
                <a:ext uri="{FF2B5EF4-FFF2-40B4-BE49-F238E27FC236}">
                  <a16:creationId xmlns:a16="http://schemas.microsoft.com/office/drawing/2014/main" id="{B51FAA32-11AA-59A4-9D0E-3F748E2139D6}"/>
                </a:ext>
              </a:extLst>
            </p:cNvPr>
            <p:cNvSpPr/>
            <p:nvPr/>
          </p:nvSpPr>
          <p:spPr>
            <a:xfrm>
              <a:off x="336958" y="883206"/>
              <a:ext cx="256032" cy="256032"/>
            </a:xfrm>
            <a:prstGeom prst="ellipse">
              <a:avLst/>
            </a:prstGeom>
            <a:solidFill>
              <a:srgbClr val="009193"/>
            </a:solidFill>
            <a:ln w="25400">
              <a:solidFill>
                <a:srgbClr val="FFFFFF"/>
              </a:solidFill>
              <a:prstDash val="solid"/>
            </a:ln>
          </p:spPr>
          <p:txBody>
            <a:bodyPr/>
            <a:lstStyle/>
            <a:p>
              <a:endParaRPr lang="es-ES_tradnl" sz="5867" dirty="0">
                <a:latin typeface="Calibri" panose="020F0502020204030204" pitchFamily="34" charset="0"/>
                <a:cs typeface="Calibri" panose="020F0502020204030204" pitchFamily="34" charset="0"/>
              </a:endParaRPr>
            </a:p>
          </p:txBody>
        </p:sp>
        <p:sp>
          <p:nvSpPr>
            <p:cNvPr id="82" name="Text 6">
              <a:extLst>
                <a:ext uri="{FF2B5EF4-FFF2-40B4-BE49-F238E27FC236}">
                  <a16:creationId xmlns:a16="http://schemas.microsoft.com/office/drawing/2014/main" id="{11E38C54-41B4-EE3B-D541-DB2BA15663CE}"/>
                </a:ext>
              </a:extLst>
            </p:cNvPr>
            <p:cNvSpPr/>
            <p:nvPr/>
          </p:nvSpPr>
          <p:spPr>
            <a:xfrm>
              <a:off x="367467" y="913715"/>
              <a:ext cx="191339" cy="191339"/>
            </a:xfrm>
            <a:prstGeom prst="rect">
              <a:avLst/>
            </a:prstGeom>
            <a:noFill/>
            <a:ln/>
          </p:spPr>
          <p:txBody>
            <a:bodyPr wrap="square" rtlCol="0" anchor="ctr"/>
            <a:lstStyle/>
            <a:p>
              <a:pPr algn="ctr"/>
              <a:r>
                <a:rPr lang="es-ES_tradnl" sz="4267" b="1" dirty="0">
                  <a:solidFill>
                    <a:srgbClr val="FFFFFF"/>
                  </a:solidFill>
                  <a:latin typeface="Calibri" panose="020F0502020204030204" pitchFamily="34" charset="0"/>
                  <a:cs typeface="Calibri" panose="020F0502020204030204" pitchFamily="34" charset="0"/>
                </a:rPr>
                <a:t>2</a:t>
              </a:r>
              <a:endParaRPr lang="es-ES_tradnl" sz="4267" dirty="0">
                <a:latin typeface="Calibri" panose="020F0502020204030204" pitchFamily="34" charset="0"/>
                <a:cs typeface="Calibri" panose="020F0502020204030204" pitchFamily="34" charset="0"/>
              </a:endParaRPr>
            </a:p>
          </p:txBody>
        </p:sp>
      </p:grpSp>
      <p:grpSp>
        <p:nvGrpSpPr>
          <p:cNvPr id="84" name="Group 83">
            <a:extLst>
              <a:ext uri="{FF2B5EF4-FFF2-40B4-BE49-F238E27FC236}">
                <a16:creationId xmlns:a16="http://schemas.microsoft.com/office/drawing/2014/main" id="{9AD6FC55-C009-6885-0F43-AE39A520E04B}"/>
              </a:ext>
            </a:extLst>
          </p:cNvPr>
          <p:cNvGrpSpPr/>
          <p:nvPr/>
        </p:nvGrpSpPr>
        <p:grpSpPr>
          <a:xfrm>
            <a:off x="10368698" y="8089393"/>
            <a:ext cx="677253" cy="680727"/>
            <a:chOff x="336958" y="883206"/>
            <a:chExt cx="256032" cy="256032"/>
          </a:xfrm>
        </p:grpSpPr>
        <p:sp>
          <p:nvSpPr>
            <p:cNvPr id="86" name="Shape 5">
              <a:extLst>
                <a:ext uri="{FF2B5EF4-FFF2-40B4-BE49-F238E27FC236}">
                  <a16:creationId xmlns:a16="http://schemas.microsoft.com/office/drawing/2014/main" id="{AE2E5000-4D3A-E565-455B-30602CF6E3C9}"/>
                </a:ext>
              </a:extLst>
            </p:cNvPr>
            <p:cNvSpPr/>
            <p:nvPr/>
          </p:nvSpPr>
          <p:spPr>
            <a:xfrm>
              <a:off x="336958" y="883206"/>
              <a:ext cx="256032" cy="256032"/>
            </a:xfrm>
            <a:prstGeom prst="ellipse">
              <a:avLst/>
            </a:prstGeom>
            <a:solidFill>
              <a:srgbClr val="009193"/>
            </a:solidFill>
            <a:ln w="25400">
              <a:solidFill>
                <a:srgbClr val="FFFFFF"/>
              </a:solidFill>
              <a:prstDash val="solid"/>
            </a:ln>
          </p:spPr>
          <p:txBody>
            <a:bodyPr/>
            <a:lstStyle/>
            <a:p>
              <a:endParaRPr lang="es-ES_tradnl" sz="5867" dirty="0">
                <a:latin typeface="Calibri" panose="020F0502020204030204" pitchFamily="34" charset="0"/>
                <a:cs typeface="Calibri" panose="020F0502020204030204" pitchFamily="34" charset="0"/>
              </a:endParaRPr>
            </a:p>
          </p:txBody>
        </p:sp>
        <p:sp>
          <p:nvSpPr>
            <p:cNvPr id="89" name="Text 6">
              <a:extLst>
                <a:ext uri="{FF2B5EF4-FFF2-40B4-BE49-F238E27FC236}">
                  <a16:creationId xmlns:a16="http://schemas.microsoft.com/office/drawing/2014/main" id="{FAD45151-874C-0FD2-1017-5F7784D7FB44}"/>
                </a:ext>
              </a:extLst>
            </p:cNvPr>
            <p:cNvSpPr/>
            <p:nvPr/>
          </p:nvSpPr>
          <p:spPr>
            <a:xfrm>
              <a:off x="367467" y="913715"/>
              <a:ext cx="191339" cy="191339"/>
            </a:xfrm>
            <a:prstGeom prst="rect">
              <a:avLst/>
            </a:prstGeom>
            <a:noFill/>
            <a:ln/>
          </p:spPr>
          <p:txBody>
            <a:bodyPr wrap="square" rtlCol="0" anchor="ctr"/>
            <a:lstStyle/>
            <a:p>
              <a:pPr algn="ctr"/>
              <a:r>
                <a:rPr lang="es-ES_tradnl" sz="4267" b="1" dirty="0">
                  <a:solidFill>
                    <a:srgbClr val="FFFFFF"/>
                  </a:solidFill>
                  <a:latin typeface="Calibri" panose="020F0502020204030204" pitchFamily="34" charset="0"/>
                  <a:cs typeface="Calibri" panose="020F0502020204030204" pitchFamily="34" charset="0"/>
                </a:rPr>
                <a:t>3</a:t>
              </a:r>
              <a:endParaRPr lang="es-ES_tradnl" sz="4267" dirty="0">
                <a:latin typeface="Calibri" panose="020F0502020204030204" pitchFamily="34" charset="0"/>
                <a:cs typeface="Calibri" panose="020F0502020204030204" pitchFamily="34" charset="0"/>
              </a:endParaRPr>
            </a:p>
          </p:txBody>
        </p:sp>
      </p:grpSp>
      <p:pic>
        <p:nvPicPr>
          <p:cNvPr id="91" name="Picture 90" descr="flecha correcta ">
            <a:extLst>
              <a:ext uri="{FF2B5EF4-FFF2-40B4-BE49-F238E27FC236}">
                <a16:creationId xmlns:a16="http://schemas.microsoft.com/office/drawing/2014/main" id="{04DF2DC3-25AA-A7E4-FC63-09BD14CBEA25}"/>
              </a:ext>
            </a:extLst>
          </p:cNvPr>
          <p:cNvPicPr>
            <a:picLocks noChangeAspect="1"/>
          </p:cNvPicPr>
          <p:nvPr/>
        </p:nvPicPr>
        <p:blipFill>
          <a:blip r:embed="rId6">
            <a:duotone>
              <a:schemeClr val="bg2">
                <a:shade val="45000"/>
                <a:satMod val="135000"/>
              </a:schemeClr>
              <a:prstClr val="white"/>
            </a:duotone>
          </a:blip>
          <a:stretch>
            <a:fillRect/>
          </a:stretch>
        </p:blipFill>
        <p:spPr>
          <a:xfrm>
            <a:off x="4450291" y="8195662"/>
            <a:ext cx="466319" cy="466319"/>
          </a:xfrm>
          <a:prstGeom prst="rect">
            <a:avLst/>
          </a:prstGeom>
        </p:spPr>
      </p:pic>
      <p:pic>
        <p:nvPicPr>
          <p:cNvPr id="93" name="Picture 92" descr="flecha correcta ">
            <a:extLst>
              <a:ext uri="{FF2B5EF4-FFF2-40B4-BE49-F238E27FC236}">
                <a16:creationId xmlns:a16="http://schemas.microsoft.com/office/drawing/2014/main" id="{CE0286BB-2B83-09ED-CC9F-B2777B2068CD}"/>
              </a:ext>
            </a:extLst>
          </p:cNvPr>
          <p:cNvPicPr>
            <a:picLocks noChangeAspect="1"/>
          </p:cNvPicPr>
          <p:nvPr/>
        </p:nvPicPr>
        <p:blipFill>
          <a:blip r:embed="rId6">
            <a:duotone>
              <a:schemeClr val="bg2">
                <a:shade val="45000"/>
                <a:satMod val="135000"/>
              </a:schemeClr>
              <a:prstClr val="white"/>
            </a:duotone>
          </a:blip>
          <a:stretch>
            <a:fillRect/>
          </a:stretch>
        </p:blipFill>
        <p:spPr>
          <a:xfrm>
            <a:off x="9457970" y="8157381"/>
            <a:ext cx="466319" cy="466319"/>
          </a:xfrm>
          <a:prstGeom prst="rect">
            <a:avLst/>
          </a:prstGeom>
        </p:spPr>
      </p:pic>
      <p:sp>
        <p:nvSpPr>
          <p:cNvPr id="94" name="TextBox 93">
            <a:extLst>
              <a:ext uri="{FF2B5EF4-FFF2-40B4-BE49-F238E27FC236}">
                <a16:creationId xmlns:a16="http://schemas.microsoft.com/office/drawing/2014/main" id="{B8742D7E-93E2-4C37-4644-FD25D88DCFEB}"/>
              </a:ext>
            </a:extLst>
          </p:cNvPr>
          <p:cNvSpPr txBox="1"/>
          <p:nvPr/>
        </p:nvSpPr>
        <p:spPr>
          <a:xfrm>
            <a:off x="1274424" y="3629954"/>
            <a:ext cx="3389587" cy="1528945"/>
          </a:xfrm>
          <a:prstGeom prst="rect">
            <a:avLst/>
          </a:prstGeom>
          <a:noFill/>
        </p:spPr>
        <p:txBody>
          <a:bodyPr wrap="square">
            <a:spAutoFit/>
          </a:bodyPr>
          <a:lstStyle/>
          <a:p>
            <a:r>
              <a:rPr lang="es-ES_tradnl" sz="1867" dirty="0">
                <a:solidFill>
                  <a:srgbClr val="1F2A37"/>
                </a:solidFill>
                <a:latin typeface="Calibri" panose="020F0502020204030204" pitchFamily="34" charset="0"/>
                <a:ea typeface="Arial" pitchFamily="34" charset="-122"/>
                <a:cs typeface="Calibri" panose="020F0502020204030204" pitchFamily="34" charset="0"/>
              </a:rPr>
              <a:t>Modelo entrenado con datos desde 202301</a:t>
            </a:r>
          </a:p>
          <a:p>
            <a:r>
              <a:rPr lang="es-ES_tradnl" sz="1867" dirty="0">
                <a:solidFill>
                  <a:srgbClr val="1F2A37"/>
                </a:solidFill>
                <a:latin typeface="Calibri" panose="020F0502020204030204" pitchFamily="34" charset="0"/>
                <a:cs typeface="Calibri" panose="020F0502020204030204" pitchFamily="34" charset="0"/>
              </a:rPr>
              <a:t>Solo Ingresan al entrenamiento créditos con 12 meses completos de maduración o más</a:t>
            </a:r>
            <a:endParaRPr lang="es-ES_tradnl" sz="4800" dirty="0">
              <a:latin typeface="Calibri" panose="020F0502020204030204" pitchFamily="34" charset="0"/>
              <a:cs typeface="Calibri" panose="020F0502020204030204" pitchFamily="34" charset="0"/>
            </a:endParaRPr>
          </a:p>
        </p:txBody>
      </p:sp>
      <p:sp>
        <p:nvSpPr>
          <p:cNvPr id="106" name="TextBox 105">
            <a:extLst>
              <a:ext uri="{FF2B5EF4-FFF2-40B4-BE49-F238E27FC236}">
                <a16:creationId xmlns:a16="http://schemas.microsoft.com/office/drawing/2014/main" id="{79C25657-DCD5-D460-1BC9-FFCBA5D5F633}"/>
              </a:ext>
            </a:extLst>
          </p:cNvPr>
          <p:cNvSpPr txBox="1"/>
          <p:nvPr/>
        </p:nvSpPr>
        <p:spPr>
          <a:xfrm>
            <a:off x="1274424" y="5446106"/>
            <a:ext cx="3757765" cy="379656"/>
          </a:xfrm>
          <a:prstGeom prst="rect">
            <a:avLst/>
          </a:prstGeom>
          <a:noFill/>
        </p:spPr>
        <p:txBody>
          <a:bodyPr wrap="square">
            <a:spAutoFit/>
          </a:bodyPr>
          <a:lstStyle/>
          <a:p>
            <a:r>
              <a:rPr lang="es-ES_tradnl" sz="1867" b="1" dirty="0">
                <a:solidFill>
                  <a:srgbClr val="009193"/>
                </a:solidFill>
                <a:latin typeface="Calibri" panose="020F0502020204030204" pitchFamily="34" charset="0"/>
                <a:ea typeface="Arial" pitchFamily="34" charset="-122"/>
                <a:cs typeface="Calibri" panose="020F0502020204030204" pitchFamily="34" charset="0"/>
              </a:rPr>
              <a:t>YA CAPTURA LA MORA TEMPRANA</a:t>
            </a:r>
            <a:endParaRPr lang="es-ES_tradnl" sz="4800" b="1" dirty="0">
              <a:solidFill>
                <a:srgbClr val="009193"/>
              </a:solidFill>
              <a:latin typeface="Calibri" panose="020F0502020204030204" pitchFamily="34" charset="0"/>
              <a:cs typeface="Calibri" panose="020F0502020204030204" pitchFamily="34" charset="0"/>
            </a:endParaRPr>
          </a:p>
        </p:txBody>
      </p:sp>
      <p:sp>
        <p:nvSpPr>
          <p:cNvPr id="107" name="TextBox 106">
            <a:extLst>
              <a:ext uri="{FF2B5EF4-FFF2-40B4-BE49-F238E27FC236}">
                <a16:creationId xmlns:a16="http://schemas.microsoft.com/office/drawing/2014/main" id="{A02E78CE-ED96-DDD7-9B43-A7CF52F1239C}"/>
              </a:ext>
            </a:extLst>
          </p:cNvPr>
          <p:cNvSpPr txBox="1"/>
          <p:nvPr/>
        </p:nvSpPr>
        <p:spPr>
          <a:xfrm>
            <a:off x="1274424" y="5969166"/>
            <a:ext cx="3757765" cy="954300"/>
          </a:xfrm>
          <a:prstGeom prst="rect">
            <a:avLst/>
          </a:prstGeom>
          <a:noFill/>
        </p:spPr>
        <p:txBody>
          <a:bodyPr wrap="square">
            <a:spAutoFit/>
          </a:bodyPr>
          <a:lstStyle/>
          <a:p>
            <a:r>
              <a:rPr lang="es-ES_tradnl" sz="1867" dirty="0">
                <a:solidFill>
                  <a:srgbClr val="1F2A37"/>
                </a:solidFill>
                <a:latin typeface="Calibri" panose="020F0502020204030204" pitchFamily="34" charset="0"/>
                <a:ea typeface="Arial" pitchFamily="34" charset="-122"/>
                <a:cs typeface="Calibri" panose="020F0502020204030204" pitchFamily="34" charset="0"/>
              </a:rPr>
              <a:t>IBK calibra el modelo utilizando default prematuro (mora temprana) entre 6 y 12 meses</a:t>
            </a:r>
            <a:endParaRPr lang="es-ES_tradnl" sz="4800" dirty="0">
              <a:latin typeface="Calibri" panose="020F0502020204030204" pitchFamily="34" charset="0"/>
              <a:cs typeface="Calibri" panose="020F0502020204030204" pitchFamily="34" charset="0"/>
            </a:endParaRPr>
          </a:p>
        </p:txBody>
      </p:sp>
      <p:pic>
        <p:nvPicPr>
          <p:cNvPr id="121" name="Picture 120" descr="ok ">
            <a:extLst>
              <a:ext uri="{FF2B5EF4-FFF2-40B4-BE49-F238E27FC236}">
                <a16:creationId xmlns:a16="http://schemas.microsoft.com/office/drawing/2014/main" id="{6BD15758-8653-A7E8-1DDA-861570C725D3}"/>
              </a:ext>
            </a:extLst>
          </p:cNvPr>
          <p:cNvPicPr>
            <a:picLocks noChangeAspect="1"/>
          </p:cNvPicPr>
          <p:nvPr/>
        </p:nvPicPr>
        <p:blipFill>
          <a:blip r:embed="rId7">
            <a:duotone>
              <a:schemeClr val="accent6">
                <a:shade val="45000"/>
                <a:satMod val="135000"/>
              </a:schemeClr>
              <a:prstClr val="white"/>
            </a:duotone>
            <a:alphaModFix amt="50000"/>
          </a:blip>
          <a:stretch>
            <a:fillRect/>
          </a:stretch>
        </p:blipFill>
        <p:spPr>
          <a:xfrm>
            <a:off x="11412281" y="2493821"/>
            <a:ext cx="1118984" cy="1118984"/>
          </a:xfrm>
          <a:prstGeom prst="rect">
            <a:avLst/>
          </a:prstGeom>
        </p:spPr>
      </p:pic>
      <p:pic>
        <p:nvPicPr>
          <p:cNvPr id="123" name="Picture 122" descr="calendario ">
            <a:extLst>
              <a:ext uri="{FF2B5EF4-FFF2-40B4-BE49-F238E27FC236}">
                <a16:creationId xmlns:a16="http://schemas.microsoft.com/office/drawing/2014/main" id="{CF6488A6-DE7E-921B-6A5A-2EF22D4E8D89}"/>
              </a:ext>
            </a:extLst>
          </p:cNvPr>
          <p:cNvPicPr>
            <a:picLocks noChangeAspect="1"/>
          </p:cNvPicPr>
          <p:nvPr/>
        </p:nvPicPr>
        <p:blipFill>
          <a:blip r:embed="rId8">
            <a:duotone>
              <a:schemeClr val="accent6">
                <a:shade val="45000"/>
                <a:satMod val="135000"/>
              </a:schemeClr>
              <a:prstClr val="white"/>
            </a:duotone>
            <a:alphaModFix amt="50000"/>
          </a:blip>
          <a:stretch>
            <a:fillRect/>
          </a:stretch>
        </p:blipFill>
        <p:spPr>
          <a:xfrm>
            <a:off x="263213" y="3900362"/>
            <a:ext cx="1028561" cy="1028561"/>
          </a:xfrm>
          <a:prstGeom prst="rect">
            <a:avLst/>
          </a:prstGeom>
        </p:spPr>
      </p:pic>
      <p:pic>
        <p:nvPicPr>
          <p:cNvPr id="126" name="Picture 125" descr="ok ">
            <a:extLst>
              <a:ext uri="{FF2B5EF4-FFF2-40B4-BE49-F238E27FC236}">
                <a16:creationId xmlns:a16="http://schemas.microsoft.com/office/drawing/2014/main" id="{4A706C43-FEBD-3E7D-6332-E8F4DF571EA0}"/>
              </a:ext>
            </a:extLst>
          </p:cNvPr>
          <p:cNvPicPr>
            <a:picLocks noChangeAspect="1"/>
          </p:cNvPicPr>
          <p:nvPr/>
        </p:nvPicPr>
        <p:blipFill>
          <a:blip r:embed="rId7">
            <a:duotone>
              <a:schemeClr val="accent6">
                <a:shade val="45000"/>
                <a:satMod val="135000"/>
              </a:schemeClr>
              <a:prstClr val="white"/>
            </a:duotone>
            <a:alphaModFix amt="50000"/>
          </a:blip>
          <a:stretch>
            <a:fillRect/>
          </a:stretch>
        </p:blipFill>
        <p:spPr>
          <a:xfrm>
            <a:off x="165115" y="5699531"/>
            <a:ext cx="1118984" cy="1118984"/>
          </a:xfrm>
          <a:prstGeom prst="rect">
            <a:avLst/>
          </a:prstGeom>
        </p:spPr>
      </p:pic>
      <p:sp>
        <p:nvSpPr>
          <p:cNvPr id="128" name="TextBox 127">
            <a:extLst>
              <a:ext uri="{FF2B5EF4-FFF2-40B4-BE49-F238E27FC236}">
                <a16:creationId xmlns:a16="http://schemas.microsoft.com/office/drawing/2014/main" id="{CA31B239-3062-BBCC-935E-7D0D50160A90}"/>
              </a:ext>
            </a:extLst>
          </p:cNvPr>
          <p:cNvSpPr txBox="1"/>
          <p:nvPr/>
        </p:nvSpPr>
        <p:spPr>
          <a:xfrm>
            <a:off x="6813117" y="3300837"/>
            <a:ext cx="829899" cy="872290"/>
          </a:xfrm>
          <a:prstGeom prst="rect">
            <a:avLst/>
          </a:prstGeom>
          <a:noFill/>
        </p:spPr>
        <p:txBody>
          <a:bodyPr wrap="square">
            <a:spAutoFit/>
          </a:bodyPr>
          <a:lstStyle/>
          <a:p>
            <a:r>
              <a:rPr lang="es-ES_tradnl" sz="1267" dirty="0" err="1">
                <a:solidFill>
                  <a:srgbClr val="1F2A37"/>
                </a:solidFill>
                <a:latin typeface="Calibri" panose="020F0502020204030204" pitchFamily="34" charset="0"/>
                <a:ea typeface="Arial" pitchFamily="34" charset="-122"/>
                <a:cs typeface="Calibri" panose="020F0502020204030204" pitchFamily="34" charset="0"/>
              </a:rPr>
              <a:t>Prob</a:t>
            </a:r>
            <a:r>
              <a:rPr lang="es-ES_tradnl" sz="1267" dirty="0">
                <a:solidFill>
                  <a:srgbClr val="1F2A37"/>
                </a:solidFill>
                <a:latin typeface="Calibri" panose="020F0502020204030204" pitchFamily="34" charset="0"/>
                <a:ea typeface="Arial" pitchFamily="34" charset="-122"/>
                <a:cs typeface="Calibri" panose="020F0502020204030204" pitchFamily="34" charset="0"/>
              </a:rPr>
              <a:t>. De default en el mes 3</a:t>
            </a:r>
            <a:endParaRPr lang="es-ES_tradnl" sz="1267" dirty="0">
              <a:solidFill>
                <a:srgbClr val="009193"/>
              </a:solidFill>
              <a:latin typeface="Calibri" panose="020F0502020204030204" pitchFamily="34" charset="0"/>
              <a:cs typeface="Calibri" panose="020F0502020204030204" pitchFamily="34" charset="0"/>
            </a:endParaRPr>
          </a:p>
        </p:txBody>
      </p:sp>
      <p:sp>
        <p:nvSpPr>
          <p:cNvPr id="130" name="TextBox 129">
            <a:extLst>
              <a:ext uri="{FF2B5EF4-FFF2-40B4-BE49-F238E27FC236}">
                <a16:creationId xmlns:a16="http://schemas.microsoft.com/office/drawing/2014/main" id="{CB869C5D-6C43-B3AE-AB5D-3E5B108DF1FB}"/>
              </a:ext>
            </a:extLst>
          </p:cNvPr>
          <p:cNvSpPr txBox="1"/>
          <p:nvPr/>
        </p:nvSpPr>
        <p:spPr>
          <a:xfrm>
            <a:off x="8405637" y="3300837"/>
            <a:ext cx="829899" cy="872290"/>
          </a:xfrm>
          <a:prstGeom prst="rect">
            <a:avLst/>
          </a:prstGeom>
          <a:noFill/>
        </p:spPr>
        <p:txBody>
          <a:bodyPr wrap="square">
            <a:spAutoFit/>
          </a:bodyPr>
          <a:lstStyle/>
          <a:p>
            <a:r>
              <a:rPr lang="es-ES_tradnl" sz="1267" dirty="0" err="1">
                <a:solidFill>
                  <a:srgbClr val="1F2A37"/>
                </a:solidFill>
                <a:latin typeface="Calibri" panose="020F0502020204030204" pitchFamily="34" charset="0"/>
                <a:ea typeface="Arial" pitchFamily="34" charset="-122"/>
                <a:cs typeface="Calibri" panose="020F0502020204030204" pitchFamily="34" charset="0"/>
              </a:rPr>
              <a:t>Prob</a:t>
            </a:r>
            <a:r>
              <a:rPr lang="es-ES_tradnl" sz="1267" dirty="0">
                <a:solidFill>
                  <a:srgbClr val="1F2A37"/>
                </a:solidFill>
                <a:latin typeface="Calibri" panose="020F0502020204030204" pitchFamily="34" charset="0"/>
                <a:ea typeface="Arial" pitchFamily="34" charset="-122"/>
                <a:cs typeface="Calibri" panose="020F0502020204030204" pitchFamily="34" charset="0"/>
              </a:rPr>
              <a:t>. De default en el mes 6</a:t>
            </a:r>
            <a:endParaRPr lang="es-ES_tradnl" sz="1267" dirty="0">
              <a:solidFill>
                <a:srgbClr val="009193"/>
              </a:solidFill>
              <a:latin typeface="Calibri" panose="020F0502020204030204" pitchFamily="34" charset="0"/>
              <a:cs typeface="Calibri" panose="020F0502020204030204" pitchFamily="34" charset="0"/>
            </a:endParaRPr>
          </a:p>
        </p:txBody>
      </p:sp>
      <p:sp>
        <p:nvSpPr>
          <p:cNvPr id="132" name="TextBox 131">
            <a:extLst>
              <a:ext uri="{FF2B5EF4-FFF2-40B4-BE49-F238E27FC236}">
                <a16:creationId xmlns:a16="http://schemas.microsoft.com/office/drawing/2014/main" id="{15EC2BD2-9E8D-17A2-FBCF-12B01275CA24}"/>
              </a:ext>
            </a:extLst>
          </p:cNvPr>
          <p:cNvSpPr txBox="1"/>
          <p:nvPr/>
        </p:nvSpPr>
        <p:spPr>
          <a:xfrm>
            <a:off x="9647093" y="3300838"/>
            <a:ext cx="829899" cy="872290"/>
          </a:xfrm>
          <a:prstGeom prst="rect">
            <a:avLst/>
          </a:prstGeom>
          <a:noFill/>
        </p:spPr>
        <p:txBody>
          <a:bodyPr wrap="square">
            <a:spAutoFit/>
          </a:bodyPr>
          <a:lstStyle/>
          <a:p>
            <a:r>
              <a:rPr lang="es-ES_tradnl" sz="1267" dirty="0" err="1">
                <a:solidFill>
                  <a:srgbClr val="1F2A37"/>
                </a:solidFill>
                <a:latin typeface="Calibri" panose="020F0502020204030204" pitchFamily="34" charset="0"/>
                <a:ea typeface="Arial" pitchFamily="34" charset="-122"/>
                <a:cs typeface="Calibri" panose="020F0502020204030204" pitchFamily="34" charset="0"/>
              </a:rPr>
              <a:t>Prob</a:t>
            </a:r>
            <a:r>
              <a:rPr lang="es-ES_tradnl" sz="1267" dirty="0">
                <a:solidFill>
                  <a:srgbClr val="1F2A37"/>
                </a:solidFill>
                <a:latin typeface="Calibri" panose="020F0502020204030204" pitchFamily="34" charset="0"/>
                <a:ea typeface="Arial" pitchFamily="34" charset="-122"/>
                <a:cs typeface="Calibri" panose="020F0502020204030204" pitchFamily="34" charset="0"/>
              </a:rPr>
              <a:t>. De default en el mes 12</a:t>
            </a:r>
            <a:endParaRPr lang="es-ES_tradnl" sz="1267" dirty="0">
              <a:solidFill>
                <a:srgbClr val="009193"/>
              </a:solidFill>
              <a:latin typeface="Calibri" panose="020F0502020204030204" pitchFamily="34" charset="0"/>
              <a:cs typeface="Calibri" panose="020F0502020204030204" pitchFamily="34" charset="0"/>
            </a:endParaRPr>
          </a:p>
        </p:txBody>
      </p:sp>
      <p:cxnSp>
        <p:nvCxnSpPr>
          <p:cNvPr id="136" name="Straight Arrow Connector 135">
            <a:extLst>
              <a:ext uri="{FF2B5EF4-FFF2-40B4-BE49-F238E27FC236}">
                <a16:creationId xmlns:a16="http://schemas.microsoft.com/office/drawing/2014/main" id="{AD5C08C4-1DB5-356E-B01E-4ACCB9DE8C7A}"/>
              </a:ext>
            </a:extLst>
          </p:cNvPr>
          <p:cNvCxnSpPr>
            <a:stCxn id="27" idx="0"/>
          </p:cNvCxnSpPr>
          <p:nvPr/>
        </p:nvCxnSpPr>
        <p:spPr>
          <a:xfrm>
            <a:off x="7139797" y="2653793"/>
            <a:ext cx="0" cy="484161"/>
          </a:xfrm>
          <a:prstGeom prst="straightConnector1">
            <a:avLst/>
          </a:prstGeom>
          <a:ln w="12700">
            <a:solidFill>
              <a:srgbClr val="00919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0A42AE30-B454-9374-149A-9265A2E42814}"/>
              </a:ext>
            </a:extLst>
          </p:cNvPr>
          <p:cNvCxnSpPr/>
          <p:nvPr/>
        </p:nvCxnSpPr>
        <p:spPr>
          <a:xfrm>
            <a:off x="8669779" y="2665744"/>
            <a:ext cx="0" cy="484161"/>
          </a:xfrm>
          <a:prstGeom prst="straightConnector1">
            <a:avLst/>
          </a:prstGeom>
          <a:ln w="12700">
            <a:solidFill>
              <a:srgbClr val="00919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7755AAE1-5E92-53F3-B0EC-AF5EC26CA90F}"/>
              </a:ext>
            </a:extLst>
          </p:cNvPr>
          <p:cNvCxnSpPr/>
          <p:nvPr/>
        </p:nvCxnSpPr>
        <p:spPr>
          <a:xfrm>
            <a:off x="10355144" y="2677698"/>
            <a:ext cx="0" cy="484161"/>
          </a:xfrm>
          <a:prstGeom prst="straightConnector1">
            <a:avLst/>
          </a:prstGeom>
          <a:ln w="12700">
            <a:solidFill>
              <a:srgbClr val="009193"/>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9375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68E6-0789-1256-FC37-0C659DB64B0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0532DEC-8F86-0560-7A6B-92DD73EED7D8}"/>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5AECCFD1-ACA0-175C-09CF-BC50B6659A31}"/>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Mora temprana y </a:t>
            </a:r>
            <a:r>
              <a:rPr lang="es-ES_tradnl" sz="3200" b="1" kern="1200" noProof="0" dirty="0" err="1">
                <a:solidFill>
                  <a:srgbClr val="13807B"/>
                </a:solidFill>
                <a:latin typeface="Poppins"/>
                <a:ea typeface="Poppins"/>
                <a:cs typeface="Poppins"/>
                <a:sym typeface="Poppins"/>
              </a:rPr>
              <a:t>pd</a:t>
            </a:r>
            <a:r>
              <a:rPr lang="es-ES_tradnl" sz="3200" b="1" kern="1200" noProof="0" dirty="0">
                <a:solidFill>
                  <a:srgbClr val="13807B"/>
                </a:solidFill>
                <a:latin typeface="Poppins"/>
                <a:ea typeface="Poppins"/>
                <a:cs typeface="Poppins"/>
                <a:sym typeface="Poppins"/>
              </a:rPr>
              <a:t> </a:t>
            </a:r>
            <a:r>
              <a:rPr lang="es-ES_tradnl" sz="3200" b="1" kern="1200" noProof="0" dirty="0" err="1">
                <a:solidFill>
                  <a:srgbClr val="13807B"/>
                </a:solidFill>
                <a:latin typeface="Poppins"/>
                <a:ea typeface="Poppins"/>
                <a:cs typeface="Poppins"/>
                <a:sym typeface="Poppins"/>
              </a:rPr>
              <a:t>lifetime</a:t>
            </a:r>
            <a:r>
              <a:rPr lang="es-ES_tradnl" sz="3200" b="1" kern="1200" noProof="0" dirty="0">
                <a:solidFill>
                  <a:srgbClr val="13807B"/>
                </a:solidFill>
                <a:latin typeface="Poppins"/>
                <a:ea typeface="Poppins"/>
                <a:cs typeface="Poppins"/>
                <a:sym typeface="Poppins"/>
              </a:rPr>
              <a:t>: ¿cómo se captura y por qué no requiere ajustes?</a:t>
            </a:r>
          </a:p>
        </p:txBody>
      </p:sp>
      <p:cxnSp>
        <p:nvCxnSpPr>
          <p:cNvPr id="8" name="Connector 3">
            <a:extLst>
              <a:ext uri="{FF2B5EF4-FFF2-40B4-BE49-F238E27FC236}">
                <a16:creationId xmlns:a16="http://schemas.microsoft.com/office/drawing/2014/main" id="{97EBEED4-946E-4E8B-3E1F-0C005CCE375D}"/>
              </a:ext>
            </a:extLst>
          </p:cNvPr>
          <p:cNvCxnSpPr/>
          <p:nvPr/>
        </p:nvCxnSpPr>
        <p:spPr>
          <a:xfrm>
            <a:off x="658368" y="115519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74" name="Shape 14">
            <a:extLst>
              <a:ext uri="{FF2B5EF4-FFF2-40B4-BE49-F238E27FC236}">
                <a16:creationId xmlns:a16="http://schemas.microsoft.com/office/drawing/2014/main" id="{1534ED2C-9D83-7BFC-0DCE-F2801AC5E52C}"/>
              </a:ext>
            </a:extLst>
          </p:cNvPr>
          <p:cNvSpPr/>
          <p:nvPr/>
        </p:nvSpPr>
        <p:spPr>
          <a:xfrm>
            <a:off x="208810" y="1340205"/>
            <a:ext cx="5165344" cy="2901696"/>
          </a:xfrm>
          <a:prstGeom prst="roundRect">
            <a:avLst>
              <a:gd name="adj" fmla="val 2521"/>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75" name="Shape 2">
            <a:extLst>
              <a:ext uri="{FF2B5EF4-FFF2-40B4-BE49-F238E27FC236}">
                <a16:creationId xmlns:a16="http://schemas.microsoft.com/office/drawing/2014/main" id="{A389B5E3-4EE9-4C8F-1D14-10161C342C47}"/>
              </a:ext>
            </a:extLst>
          </p:cNvPr>
          <p:cNvSpPr/>
          <p:nvPr/>
        </p:nvSpPr>
        <p:spPr>
          <a:xfrm>
            <a:off x="211455" y="1340210"/>
            <a:ext cx="5165344" cy="279678"/>
          </a:xfrm>
          <a:prstGeom prst="roundRect">
            <a:avLst>
              <a:gd name="adj" fmla="val 2521"/>
            </a:avLst>
          </a:prstGeom>
          <a:noFill/>
        </p:spPr>
        <p:txBody>
          <a:bodyPr wrap="square">
            <a:spAutoFit/>
          </a:bodyPr>
          <a:lstStyle/>
          <a:p>
            <a:pPr defTabSz="1219170">
              <a:buClrTx/>
            </a:pPr>
            <a:endParaRPr lang="es-ES_tradnl" sz="1200" kern="1200" dirty="0">
              <a:solidFill>
                <a:srgbClr val="1F2A37"/>
              </a:solidFill>
              <a:latin typeface="Calibri" panose="020F0502020204030204" pitchFamily="34" charset="0"/>
              <a:ea typeface="+mn-ea"/>
              <a:cs typeface="Calibri" panose="020F0502020204030204" pitchFamily="34" charset="0"/>
            </a:endParaRPr>
          </a:p>
        </p:txBody>
      </p:sp>
      <p:sp>
        <p:nvSpPr>
          <p:cNvPr id="276" name="Shape 3">
            <a:extLst>
              <a:ext uri="{FF2B5EF4-FFF2-40B4-BE49-F238E27FC236}">
                <a16:creationId xmlns:a16="http://schemas.microsoft.com/office/drawing/2014/main" id="{B870EC67-DD39-FF7D-8952-FDC573ABC292}"/>
              </a:ext>
            </a:extLst>
          </p:cNvPr>
          <p:cNvSpPr/>
          <p:nvPr/>
        </p:nvSpPr>
        <p:spPr>
          <a:xfrm>
            <a:off x="211455" y="1340210"/>
            <a:ext cx="5165344" cy="316992"/>
          </a:xfrm>
          <a:prstGeom prst="roundRect">
            <a:avLst>
              <a:gd name="adj" fmla="val 10345"/>
            </a:avLst>
          </a:prstGeom>
          <a:solidFill>
            <a:srgbClr val="26807B"/>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77" name="Shape 5">
            <a:extLst>
              <a:ext uri="{FF2B5EF4-FFF2-40B4-BE49-F238E27FC236}">
                <a16:creationId xmlns:a16="http://schemas.microsoft.com/office/drawing/2014/main" id="{D5F44068-E3C2-A5E9-AD95-3E435197A8B7}"/>
              </a:ext>
            </a:extLst>
          </p:cNvPr>
          <p:cNvSpPr/>
          <p:nvPr/>
        </p:nvSpPr>
        <p:spPr>
          <a:xfrm>
            <a:off x="477852" y="1298618"/>
            <a:ext cx="341376" cy="341376"/>
          </a:xfrm>
          <a:prstGeom prst="ellipse">
            <a:avLst/>
          </a:prstGeom>
          <a:solidFill>
            <a:srgbClr val="009193"/>
          </a:solidFill>
          <a:ln w="25400">
            <a:solidFill>
              <a:srgbClr val="FFFFFF"/>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78" name="Text 6">
            <a:extLst>
              <a:ext uri="{FF2B5EF4-FFF2-40B4-BE49-F238E27FC236}">
                <a16:creationId xmlns:a16="http://schemas.microsoft.com/office/drawing/2014/main" id="{3934FD99-B1A5-C24A-94D2-4D52D718F079}"/>
              </a:ext>
            </a:extLst>
          </p:cNvPr>
          <p:cNvSpPr/>
          <p:nvPr/>
        </p:nvSpPr>
        <p:spPr>
          <a:xfrm>
            <a:off x="518532" y="1339297"/>
            <a:ext cx="255119" cy="255119"/>
          </a:xfrm>
          <a:prstGeom prst="rect">
            <a:avLst/>
          </a:prstGeom>
          <a:noFill/>
          <a:ln/>
        </p:spPr>
        <p:txBody>
          <a:bodyPr wrap="square" rtlCol="0" anchor="ctr"/>
          <a:lstStyle/>
          <a:p>
            <a:pPr algn="ctr" defTabSz="1219170">
              <a:buClrTx/>
            </a:pPr>
            <a:r>
              <a:rPr lang="es-ES_tradnl" sz="1600" b="1" kern="1200" dirty="0">
                <a:solidFill>
                  <a:srgbClr val="FFFFFF"/>
                </a:solidFill>
                <a:latin typeface="Calibri" panose="020F0502020204030204" pitchFamily="34" charset="0"/>
                <a:ea typeface="Arial" pitchFamily="34" charset="-122"/>
                <a:cs typeface="Calibri" panose="020F0502020204030204" pitchFamily="34" charset="0"/>
              </a:rPr>
              <a:t>1</a:t>
            </a:r>
            <a:endParaRPr lang="es-ES_tradnl" sz="1600" kern="1200" dirty="0">
              <a:solidFill>
                <a:prstClr val="black"/>
              </a:solidFill>
              <a:latin typeface="Calibri" panose="020F0502020204030204" pitchFamily="34" charset="0"/>
              <a:ea typeface="+mn-ea"/>
              <a:cs typeface="Calibri" panose="020F0502020204030204" pitchFamily="34" charset="0"/>
            </a:endParaRPr>
          </a:p>
        </p:txBody>
      </p:sp>
      <p:sp>
        <p:nvSpPr>
          <p:cNvPr id="279" name="Text 7">
            <a:extLst>
              <a:ext uri="{FF2B5EF4-FFF2-40B4-BE49-F238E27FC236}">
                <a16:creationId xmlns:a16="http://schemas.microsoft.com/office/drawing/2014/main" id="{673926B7-D436-FBCF-5047-3D5CF60EC27C}"/>
              </a:ext>
            </a:extLst>
          </p:cNvPr>
          <p:cNvSpPr/>
          <p:nvPr/>
        </p:nvSpPr>
        <p:spPr>
          <a:xfrm>
            <a:off x="1089279" y="1340210"/>
            <a:ext cx="4092448" cy="341376"/>
          </a:xfrm>
          <a:prstGeom prst="rect">
            <a:avLst/>
          </a:prstGeom>
          <a:noFill/>
          <a:ln/>
        </p:spPr>
        <p:txBody>
          <a:bodyPr wrap="square" rtlCol="0" anchor="ctr"/>
          <a:lstStyle/>
          <a:p>
            <a:pPr defTabSz="1219170">
              <a:buClrTx/>
            </a:pPr>
            <a:r>
              <a:rPr lang="es-ES_tradnl" b="1" kern="1200" dirty="0">
                <a:solidFill>
                  <a:srgbClr val="FFFFFF"/>
                </a:solidFill>
                <a:latin typeface="Calibri" panose="020F0502020204030204" pitchFamily="34" charset="0"/>
                <a:ea typeface="Arial" pitchFamily="34" charset="-122"/>
                <a:cs typeface="Calibri" panose="020F0502020204030204" pitchFamily="34" charset="0"/>
              </a:rPr>
              <a:t>MODELO DE PD ORIGEN</a:t>
            </a:r>
            <a:endParaRPr lang="es-ES_tradnl" kern="1200" dirty="0">
              <a:solidFill>
                <a:prstClr val="black"/>
              </a:solidFill>
              <a:latin typeface="Calibri" panose="020F0502020204030204" pitchFamily="34" charset="0"/>
              <a:ea typeface="+mn-ea"/>
              <a:cs typeface="Calibri" panose="020F0502020204030204" pitchFamily="34" charset="0"/>
            </a:endParaRPr>
          </a:p>
        </p:txBody>
      </p:sp>
      <p:sp>
        <p:nvSpPr>
          <p:cNvPr id="280" name="Text 8">
            <a:extLst>
              <a:ext uri="{FF2B5EF4-FFF2-40B4-BE49-F238E27FC236}">
                <a16:creationId xmlns:a16="http://schemas.microsoft.com/office/drawing/2014/main" id="{79D79B2E-1FC8-4360-1A22-75DE860D3509}"/>
              </a:ext>
            </a:extLst>
          </p:cNvPr>
          <p:cNvSpPr/>
          <p:nvPr/>
        </p:nvSpPr>
        <p:spPr>
          <a:xfrm>
            <a:off x="394335" y="2120498"/>
            <a:ext cx="4799584" cy="353568"/>
          </a:xfrm>
          <a:prstGeom prst="rect">
            <a:avLst/>
          </a:prstGeom>
          <a:noFill/>
          <a:ln/>
        </p:spPr>
        <p:txBody>
          <a:bodyPr wrap="square" rtlCol="0" anchor="t"/>
          <a:lstStyle/>
          <a:p>
            <a:pPr defTabSz="1219170">
              <a:buClrTx/>
            </a:pPr>
            <a:endParaRPr lang="es-ES_tradnl" sz="1467" kern="1200" dirty="0">
              <a:solidFill>
                <a:prstClr val="black"/>
              </a:solidFill>
              <a:latin typeface="Calibri" panose="020F0502020204030204" pitchFamily="34" charset="0"/>
              <a:ea typeface="+mn-ea"/>
              <a:cs typeface="Calibri" panose="020F0502020204030204" pitchFamily="34" charset="0"/>
            </a:endParaRPr>
          </a:p>
        </p:txBody>
      </p:sp>
      <p:sp>
        <p:nvSpPr>
          <p:cNvPr id="281" name="Text 9">
            <a:extLst>
              <a:ext uri="{FF2B5EF4-FFF2-40B4-BE49-F238E27FC236}">
                <a16:creationId xmlns:a16="http://schemas.microsoft.com/office/drawing/2014/main" id="{DE41BA04-D5DA-89E2-172C-04A156B4B7CB}"/>
              </a:ext>
            </a:extLst>
          </p:cNvPr>
          <p:cNvSpPr/>
          <p:nvPr/>
        </p:nvSpPr>
        <p:spPr>
          <a:xfrm>
            <a:off x="394335" y="2536522"/>
            <a:ext cx="1528355" cy="219456"/>
          </a:xfrm>
          <a:prstGeom prst="rect">
            <a:avLst/>
          </a:prstGeom>
          <a:noFill/>
          <a:ln/>
        </p:spPr>
        <p:txBody>
          <a:bodyPr wrap="square" rtlCol="0" anchor="ctr"/>
          <a:lstStyle/>
          <a:p>
            <a:pPr defTabSz="1219170">
              <a:buClrTx/>
            </a:pPr>
            <a:r>
              <a:rPr lang="es-ES_tradnl" sz="1000" b="1" kern="1200" dirty="0">
                <a:solidFill>
                  <a:srgbClr val="009193"/>
                </a:solidFill>
                <a:latin typeface="Calibri" panose="020F0502020204030204" pitchFamily="34" charset="0"/>
                <a:ea typeface="Arial" pitchFamily="34" charset="-122"/>
                <a:cs typeface="Calibri" panose="020F0502020204030204" pitchFamily="34" charset="0"/>
              </a:rPr>
              <a:t>EJEMPLO CRÉDITO</a:t>
            </a:r>
            <a:endParaRPr lang="es-ES_tradnl" sz="1000" kern="1200" dirty="0">
              <a:solidFill>
                <a:srgbClr val="009193"/>
              </a:solidFill>
              <a:latin typeface="Calibri" panose="020F0502020204030204" pitchFamily="34" charset="0"/>
              <a:ea typeface="+mn-ea"/>
              <a:cs typeface="Calibri" panose="020F0502020204030204" pitchFamily="34" charset="0"/>
            </a:endParaRPr>
          </a:p>
        </p:txBody>
      </p:sp>
      <p:sp>
        <p:nvSpPr>
          <p:cNvPr id="282" name="Text 10">
            <a:extLst>
              <a:ext uri="{FF2B5EF4-FFF2-40B4-BE49-F238E27FC236}">
                <a16:creationId xmlns:a16="http://schemas.microsoft.com/office/drawing/2014/main" id="{C7D79AD4-C845-45E5-6D6D-C2C6E6FD2DAD}"/>
              </a:ext>
            </a:extLst>
          </p:cNvPr>
          <p:cNvSpPr/>
          <p:nvPr/>
        </p:nvSpPr>
        <p:spPr>
          <a:xfrm>
            <a:off x="394335" y="3120242"/>
            <a:ext cx="4799584" cy="316992"/>
          </a:xfrm>
          <a:prstGeom prst="rect">
            <a:avLst/>
          </a:prstGeom>
          <a:noFill/>
          <a:ln/>
        </p:spPr>
        <p:txBody>
          <a:bodyPr wrap="square" rtlCol="0" anchor="t"/>
          <a:lstStyle/>
          <a:p>
            <a:pPr defTabSz="1219170">
              <a:buClrTx/>
            </a:pPr>
            <a:endParaRPr lang="es-ES_tradnl" sz="1200" kern="1200" dirty="0">
              <a:solidFill>
                <a:prstClr val="black"/>
              </a:solidFill>
              <a:latin typeface="Calibri" panose="020F0502020204030204" pitchFamily="34" charset="0"/>
              <a:ea typeface="+mn-ea"/>
              <a:cs typeface="Calibri" panose="020F0502020204030204" pitchFamily="34" charset="0"/>
            </a:endParaRPr>
          </a:p>
        </p:txBody>
      </p:sp>
      <p:sp>
        <p:nvSpPr>
          <p:cNvPr id="283" name="Text 11">
            <a:extLst>
              <a:ext uri="{FF2B5EF4-FFF2-40B4-BE49-F238E27FC236}">
                <a16:creationId xmlns:a16="http://schemas.microsoft.com/office/drawing/2014/main" id="{66165AD1-239C-8C97-331B-47E6CF685EDC}"/>
              </a:ext>
            </a:extLst>
          </p:cNvPr>
          <p:cNvSpPr/>
          <p:nvPr/>
        </p:nvSpPr>
        <p:spPr>
          <a:xfrm>
            <a:off x="394335" y="3351506"/>
            <a:ext cx="1629955" cy="316992"/>
          </a:xfrm>
          <a:prstGeom prst="rect">
            <a:avLst/>
          </a:prstGeom>
          <a:noFill/>
          <a:ln/>
        </p:spPr>
        <p:txBody>
          <a:bodyPr wrap="square" rtlCol="0" anchor="t"/>
          <a:lstStyle/>
          <a:p>
            <a:pPr defTabSz="1219170">
              <a:buClrTx/>
            </a:pPr>
            <a:r>
              <a:rPr lang="es-ES_tradnl" sz="1200" b="1" kern="1200" dirty="0">
                <a:solidFill>
                  <a:srgbClr val="C0392B"/>
                </a:solidFill>
                <a:latin typeface="Calibri" panose="020F0502020204030204" pitchFamily="34" charset="0"/>
                <a:ea typeface="Arial" pitchFamily="34" charset="-122"/>
                <a:cs typeface="Calibri" panose="020F0502020204030204" pitchFamily="34" charset="0"/>
              </a:rPr>
              <a:t>✗  </a:t>
            </a:r>
            <a:r>
              <a:rPr lang="es-ES_tradnl" sz="1133" kern="1200" dirty="0">
                <a:solidFill>
                  <a:srgbClr val="1F2A37"/>
                </a:solidFill>
                <a:latin typeface="Calibri" panose="020F0502020204030204" pitchFamily="34" charset="0"/>
                <a:ea typeface="Arial" pitchFamily="34" charset="-122"/>
                <a:cs typeface="Calibri" panose="020F0502020204030204" pitchFamily="34" charset="0"/>
              </a:rPr>
              <a:t>Desarrollo 6 meses</a:t>
            </a:r>
            <a:endParaRPr lang="es-ES_tradnl" sz="1200" kern="1200" dirty="0">
              <a:solidFill>
                <a:prstClr val="black"/>
              </a:solidFill>
              <a:latin typeface="Calibri" panose="020F0502020204030204" pitchFamily="34" charset="0"/>
              <a:ea typeface="+mn-ea"/>
              <a:cs typeface="Calibri" panose="020F0502020204030204" pitchFamily="34" charset="0"/>
            </a:endParaRPr>
          </a:p>
        </p:txBody>
      </p:sp>
      <p:sp>
        <p:nvSpPr>
          <p:cNvPr id="284" name="Shape 12">
            <a:extLst>
              <a:ext uri="{FF2B5EF4-FFF2-40B4-BE49-F238E27FC236}">
                <a16:creationId xmlns:a16="http://schemas.microsoft.com/office/drawing/2014/main" id="{9D36DB78-8D9A-91F1-ADBF-9F35B570290F}"/>
              </a:ext>
            </a:extLst>
          </p:cNvPr>
          <p:cNvSpPr/>
          <p:nvPr/>
        </p:nvSpPr>
        <p:spPr>
          <a:xfrm>
            <a:off x="357759" y="3715898"/>
            <a:ext cx="4872736" cy="479273"/>
          </a:xfrm>
          <a:prstGeom prst="roundRect">
            <a:avLst>
              <a:gd name="adj" fmla="val 13158"/>
            </a:avLst>
          </a:prstGeom>
          <a:solidFill>
            <a:srgbClr val="FFFFFF"/>
          </a:solidFill>
          <a:ln w="3175">
            <a:solidFill>
              <a:srgbClr val="C7D2DC"/>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85" name="Text 13">
            <a:extLst>
              <a:ext uri="{FF2B5EF4-FFF2-40B4-BE49-F238E27FC236}">
                <a16:creationId xmlns:a16="http://schemas.microsoft.com/office/drawing/2014/main" id="{5776D1D2-0BF1-C19D-DC3C-9B0683EE3605}"/>
              </a:ext>
            </a:extLst>
          </p:cNvPr>
          <p:cNvSpPr/>
          <p:nvPr/>
        </p:nvSpPr>
        <p:spPr>
          <a:xfrm>
            <a:off x="479679" y="3681074"/>
            <a:ext cx="4628896" cy="463296"/>
          </a:xfrm>
          <a:prstGeom prst="rect">
            <a:avLst/>
          </a:prstGeom>
          <a:noFill/>
          <a:ln/>
        </p:spPr>
        <p:txBody>
          <a:bodyPr wrap="square" rtlCol="0" anchor="ctr"/>
          <a:lstStyle/>
          <a:p>
            <a:pPr defTabSz="1219170">
              <a:buClrTx/>
            </a:pPr>
            <a:endParaRPr lang="es-ES_tradnl" sz="1107" kern="1200" dirty="0">
              <a:solidFill>
                <a:prstClr val="black"/>
              </a:solidFill>
              <a:latin typeface="Calibri" panose="020F0502020204030204" pitchFamily="34" charset="0"/>
              <a:ea typeface="+mn-ea"/>
              <a:cs typeface="Calibri" panose="020F0502020204030204" pitchFamily="34" charset="0"/>
            </a:endParaRPr>
          </a:p>
        </p:txBody>
      </p:sp>
      <p:sp>
        <p:nvSpPr>
          <p:cNvPr id="286" name="Shape 14">
            <a:extLst>
              <a:ext uri="{FF2B5EF4-FFF2-40B4-BE49-F238E27FC236}">
                <a16:creationId xmlns:a16="http://schemas.microsoft.com/office/drawing/2014/main" id="{02F837C2-6673-5D3A-6CCB-95BD3035C51F}"/>
              </a:ext>
            </a:extLst>
          </p:cNvPr>
          <p:cNvSpPr/>
          <p:nvPr/>
        </p:nvSpPr>
        <p:spPr>
          <a:xfrm>
            <a:off x="5571871" y="1340210"/>
            <a:ext cx="5165344" cy="2901696"/>
          </a:xfrm>
          <a:prstGeom prst="roundRect">
            <a:avLst>
              <a:gd name="adj" fmla="val 2521"/>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7" name="Shape 15">
            <a:extLst>
              <a:ext uri="{FF2B5EF4-FFF2-40B4-BE49-F238E27FC236}">
                <a16:creationId xmlns:a16="http://schemas.microsoft.com/office/drawing/2014/main" id="{FD7E788A-ED33-9CAA-394B-B7D8F7FB74BB}"/>
              </a:ext>
            </a:extLst>
          </p:cNvPr>
          <p:cNvSpPr/>
          <p:nvPr/>
        </p:nvSpPr>
        <p:spPr>
          <a:xfrm>
            <a:off x="5571871" y="1340210"/>
            <a:ext cx="5165344" cy="316992"/>
          </a:xfrm>
          <a:prstGeom prst="roundRect">
            <a:avLst>
              <a:gd name="adj" fmla="val 10345"/>
            </a:avLst>
          </a:prstGeom>
          <a:solidFill>
            <a:srgbClr val="26807B"/>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88" name="Shape 17">
            <a:extLst>
              <a:ext uri="{FF2B5EF4-FFF2-40B4-BE49-F238E27FC236}">
                <a16:creationId xmlns:a16="http://schemas.microsoft.com/office/drawing/2014/main" id="{FD58C5E3-34F5-9649-F028-CC11AECFC6AB}"/>
              </a:ext>
            </a:extLst>
          </p:cNvPr>
          <p:cNvSpPr/>
          <p:nvPr/>
        </p:nvSpPr>
        <p:spPr>
          <a:xfrm>
            <a:off x="5838268" y="1298618"/>
            <a:ext cx="341376" cy="341376"/>
          </a:xfrm>
          <a:prstGeom prst="ellipse">
            <a:avLst/>
          </a:prstGeom>
          <a:solidFill>
            <a:srgbClr val="009193"/>
          </a:solidFill>
          <a:ln w="25400">
            <a:solidFill>
              <a:srgbClr val="FFFFFF"/>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89" name="Text 18">
            <a:extLst>
              <a:ext uri="{FF2B5EF4-FFF2-40B4-BE49-F238E27FC236}">
                <a16:creationId xmlns:a16="http://schemas.microsoft.com/office/drawing/2014/main" id="{569B637F-1C9B-228B-75F6-CD9C4DA8437E}"/>
              </a:ext>
            </a:extLst>
          </p:cNvPr>
          <p:cNvSpPr/>
          <p:nvPr/>
        </p:nvSpPr>
        <p:spPr>
          <a:xfrm>
            <a:off x="5878948" y="1339297"/>
            <a:ext cx="255119" cy="255119"/>
          </a:xfrm>
          <a:prstGeom prst="rect">
            <a:avLst/>
          </a:prstGeom>
          <a:noFill/>
          <a:ln/>
        </p:spPr>
        <p:txBody>
          <a:bodyPr wrap="square" rtlCol="0" anchor="ctr"/>
          <a:lstStyle/>
          <a:p>
            <a:pPr algn="ctr" defTabSz="1219170">
              <a:buClrTx/>
            </a:pPr>
            <a:r>
              <a:rPr lang="es-ES_tradnl" sz="1600" b="1" kern="1200" dirty="0">
                <a:solidFill>
                  <a:srgbClr val="FFFFFF"/>
                </a:solidFill>
                <a:latin typeface="Calibri" panose="020F0502020204030204" pitchFamily="34" charset="0"/>
                <a:ea typeface="Arial" pitchFamily="34" charset="-122"/>
                <a:cs typeface="Calibri" panose="020F0502020204030204" pitchFamily="34" charset="0"/>
              </a:rPr>
              <a:t>2</a:t>
            </a:r>
            <a:endParaRPr lang="es-ES_tradnl" sz="1600" kern="1200" dirty="0">
              <a:solidFill>
                <a:prstClr val="black"/>
              </a:solidFill>
              <a:latin typeface="Calibri" panose="020F0502020204030204" pitchFamily="34" charset="0"/>
              <a:ea typeface="+mn-ea"/>
              <a:cs typeface="Calibri" panose="020F0502020204030204" pitchFamily="34" charset="0"/>
            </a:endParaRPr>
          </a:p>
        </p:txBody>
      </p:sp>
      <p:sp>
        <p:nvSpPr>
          <p:cNvPr id="290" name="Text 19">
            <a:extLst>
              <a:ext uri="{FF2B5EF4-FFF2-40B4-BE49-F238E27FC236}">
                <a16:creationId xmlns:a16="http://schemas.microsoft.com/office/drawing/2014/main" id="{1B1070BC-3314-5CA9-436C-3A1A0B851E94}"/>
              </a:ext>
            </a:extLst>
          </p:cNvPr>
          <p:cNvSpPr/>
          <p:nvPr/>
        </p:nvSpPr>
        <p:spPr>
          <a:xfrm>
            <a:off x="6449695" y="1340210"/>
            <a:ext cx="4092448" cy="341376"/>
          </a:xfrm>
          <a:prstGeom prst="rect">
            <a:avLst/>
          </a:prstGeom>
          <a:noFill/>
          <a:ln/>
        </p:spPr>
        <p:txBody>
          <a:bodyPr wrap="square" rtlCol="0" anchor="ctr"/>
          <a:lstStyle/>
          <a:p>
            <a:pPr defTabSz="1219170">
              <a:buClrTx/>
            </a:pPr>
            <a:r>
              <a:rPr lang="es-ES_tradnl" b="1" kern="1200" dirty="0">
                <a:solidFill>
                  <a:srgbClr val="FFFFFF"/>
                </a:solidFill>
                <a:latin typeface="Calibri" panose="020F0502020204030204" pitchFamily="34" charset="0"/>
                <a:ea typeface="Arial" pitchFamily="34" charset="-122"/>
                <a:cs typeface="Calibri" panose="020F0502020204030204" pitchFamily="34" charset="0"/>
              </a:rPr>
              <a:t>CALIBRACIÓN INCLUYE MORA TEMPRANA</a:t>
            </a:r>
            <a:endParaRPr lang="es-ES_tradnl" kern="1200" dirty="0">
              <a:solidFill>
                <a:prstClr val="black"/>
              </a:solidFill>
              <a:latin typeface="Calibri" panose="020F0502020204030204" pitchFamily="34" charset="0"/>
              <a:ea typeface="+mn-ea"/>
              <a:cs typeface="Calibri" panose="020F0502020204030204" pitchFamily="34" charset="0"/>
            </a:endParaRPr>
          </a:p>
        </p:txBody>
      </p:sp>
      <p:sp>
        <p:nvSpPr>
          <p:cNvPr id="291" name="Text 20">
            <a:extLst>
              <a:ext uri="{FF2B5EF4-FFF2-40B4-BE49-F238E27FC236}">
                <a16:creationId xmlns:a16="http://schemas.microsoft.com/office/drawing/2014/main" id="{0253FF41-1257-6CF4-0B3B-242BAAFFB6C0}"/>
              </a:ext>
            </a:extLst>
          </p:cNvPr>
          <p:cNvSpPr/>
          <p:nvPr/>
        </p:nvSpPr>
        <p:spPr>
          <a:xfrm>
            <a:off x="6541389" y="1693778"/>
            <a:ext cx="3909060" cy="609600"/>
          </a:xfrm>
          <a:prstGeom prst="rect">
            <a:avLst/>
          </a:prstGeom>
          <a:noFill/>
          <a:ln/>
        </p:spPr>
        <p:txBody>
          <a:bodyPr wrap="square" rtlCol="0" anchor="t"/>
          <a:lstStyle/>
          <a:p>
            <a:pPr defTabSz="1219170">
              <a:buClrTx/>
            </a:pPr>
            <a:endParaRPr lang="es-ES_tradnl" sz="1267" kern="1200" dirty="0">
              <a:solidFill>
                <a:srgbClr val="009193"/>
              </a:solidFill>
              <a:latin typeface="Calibri" panose="020F0502020204030204" pitchFamily="34" charset="0"/>
              <a:ea typeface="+mn-ea"/>
              <a:cs typeface="Calibri" panose="020F0502020204030204" pitchFamily="34" charset="0"/>
            </a:endParaRPr>
          </a:p>
        </p:txBody>
      </p:sp>
      <p:sp>
        <p:nvSpPr>
          <p:cNvPr id="292" name="Shape 21">
            <a:extLst>
              <a:ext uri="{FF2B5EF4-FFF2-40B4-BE49-F238E27FC236}">
                <a16:creationId xmlns:a16="http://schemas.microsoft.com/office/drawing/2014/main" id="{B8BEFB33-A40F-6C46-BFF8-67082AE4B0DF}"/>
              </a:ext>
            </a:extLst>
          </p:cNvPr>
          <p:cNvSpPr/>
          <p:nvPr/>
        </p:nvSpPr>
        <p:spPr>
          <a:xfrm>
            <a:off x="5913247" y="2835762"/>
            <a:ext cx="4482592" cy="0"/>
          </a:xfrm>
          <a:prstGeom prst="line">
            <a:avLst/>
          </a:prstGeom>
          <a:noFill/>
          <a:ln w="19050">
            <a:solidFill>
              <a:srgbClr val="9AA7B4"/>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93" name="Shape 22">
            <a:extLst>
              <a:ext uri="{FF2B5EF4-FFF2-40B4-BE49-F238E27FC236}">
                <a16:creationId xmlns:a16="http://schemas.microsoft.com/office/drawing/2014/main" id="{77B46F80-57E9-E8AC-3B42-FDBD5779E043}"/>
              </a:ext>
            </a:extLst>
          </p:cNvPr>
          <p:cNvSpPr/>
          <p:nvPr/>
        </p:nvSpPr>
        <p:spPr>
          <a:xfrm>
            <a:off x="8692455" y="2811378"/>
            <a:ext cx="1703385" cy="195072"/>
          </a:xfrm>
          <a:prstGeom prst="rect">
            <a:avLst/>
          </a:prstGeom>
          <a:solidFill>
            <a:srgbClr val="009193">
              <a:alpha val="18000"/>
            </a:srgbClr>
          </a:solidFill>
          <a:ln/>
        </p:spPr>
        <p:txBody>
          <a:bodyPr/>
          <a:lstStyle/>
          <a:p>
            <a:pPr defTabSz="1219170">
              <a:buClrTx/>
            </a:pPr>
            <a:endParaRPr lang="es-ES_tradnl" sz="2400" kern="1200" dirty="0">
              <a:solidFill>
                <a:srgbClr val="009193"/>
              </a:solidFill>
              <a:latin typeface="Calibri" panose="020F0502020204030204" pitchFamily="34" charset="0"/>
              <a:ea typeface="+mn-ea"/>
              <a:cs typeface="Calibri" panose="020F0502020204030204" pitchFamily="34" charset="0"/>
            </a:endParaRPr>
          </a:p>
        </p:txBody>
      </p:sp>
      <p:sp>
        <p:nvSpPr>
          <p:cNvPr id="294" name="Shape 23">
            <a:extLst>
              <a:ext uri="{FF2B5EF4-FFF2-40B4-BE49-F238E27FC236}">
                <a16:creationId xmlns:a16="http://schemas.microsoft.com/office/drawing/2014/main" id="{2A7DDB7E-19BE-0550-38B7-C2C9FC4B5D4C}"/>
              </a:ext>
            </a:extLst>
          </p:cNvPr>
          <p:cNvSpPr/>
          <p:nvPr/>
        </p:nvSpPr>
        <p:spPr>
          <a:xfrm>
            <a:off x="5852287" y="2774802"/>
            <a:ext cx="121920" cy="121920"/>
          </a:xfrm>
          <a:prstGeom prst="ellipse">
            <a:avLst/>
          </a:prstGeom>
          <a:solidFill>
            <a:srgbClr val="1B3A63"/>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95" name="Text 24">
            <a:extLst>
              <a:ext uri="{FF2B5EF4-FFF2-40B4-BE49-F238E27FC236}">
                <a16:creationId xmlns:a16="http://schemas.microsoft.com/office/drawing/2014/main" id="{779F1C12-2D9C-6A88-B2AC-2421E48DCF63}"/>
              </a:ext>
            </a:extLst>
          </p:cNvPr>
          <p:cNvSpPr/>
          <p:nvPr/>
        </p:nvSpPr>
        <p:spPr>
          <a:xfrm>
            <a:off x="5486527" y="2470002"/>
            <a:ext cx="853440" cy="243840"/>
          </a:xfrm>
          <a:prstGeom prst="rect">
            <a:avLst/>
          </a:prstGeom>
          <a:noFill/>
          <a:ln/>
        </p:spPr>
        <p:txBody>
          <a:bodyPr wrap="square" rtlCol="0" anchor="ctr"/>
          <a:lstStyle/>
          <a:p>
            <a:pPr algn="ctr" defTabSz="1219170">
              <a:buClrTx/>
            </a:pPr>
            <a:r>
              <a:rPr lang="es-ES_tradnl" sz="1067" kern="1200" dirty="0">
                <a:solidFill>
                  <a:srgbClr val="1F2A37"/>
                </a:solidFill>
                <a:latin typeface="Calibri" panose="020F0502020204030204" pitchFamily="34" charset="0"/>
                <a:ea typeface="Arial" pitchFamily="34" charset="-122"/>
                <a:cs typeface="Calibri" panose="020F0502020204030204" pitchFamily="34" charset="0"/>
              </a:rPr>
              <a:t>Origen</a:t>
            </a:r>
            <a:endParaRPr lang="es-ES_tradnl" sz="1067" kern="1200" dirty="0">
              <a:solidFill>
                <a:prstClr val="black"/>
              </a:solidFill>
              <a:latin typeface="Calibri" panose="020F0502020204030204" pitchFamily="34" charset="0"/>
              <a:ea typeface="+mn-ea"/>
              <a:cs typeface="Calibri" panose="020F0502020204030204" pitchFamily="34" charset="0"/>
            </a:endParaRPr>
          </a:p>
        </p:txBody>
      </p:sp>
      <p:sp>
        <p:nvSpPr>
          <p:cNvPr id="296" name="Shape 25">
            <a:extLst>
              <a:ext uri="{FF2B5EF4-FFF2-40B4-BE49-F238E27FC236}">
                <a16:creationId xmlns:a16="http://schemas.microsoft.com/office/drawing/2014/main" id="{3C67B809-5322-F555-A7A7-86B37CA08801}"/>
              </a:ext>
            </a:extLst>
          </p:cNvPr>
          <p:cNvSpPr/>
          <p:nvPr/>
        </p:nvSpPr>
        <p:spPr>
          <a:xfrm>
            <a:off x="7107412" y="2774802"/>
            <a:ext cx="121920" cy="121920"/>
          </a:xfrm>
          <a:prstGeom prst="ellipse">
            <a:avLst/>
          </a:prstGeom>
          <a:solidFill>
            <a:srgbClr val="9AA7B4"/>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97" name="Text 26">
            <a:extLst>
              <a:ext uri="{FF2B5EF4-FFF2-40B4-BE49-F238E27FC236}">
                <a16:creationId xmlns:a16="http://schemas.microsoft.com/office/drawing/2014/main" id="{F612B76D-D597-0694-0CDE-98C764408CFC}"/>
              </a:ext>
            </a:extLst>
          </p:cNvPr>
          <p:cNvSpPr/>
          <p:nvPr/>
        </p:nvSpPr>
        <p:spPr>
          <a:xfrm>
            <a:off x="6741652" y="2470002"/>
            <a:ext cx="853440" cy="243840"/>
          </a:xfrm>
          <a:prstGeom prst="rect">
            <a:avLst/>
          </a:prstGeom>
          <a:noFill/>
          <a:ln/>
        </p:spPr>
        <p:txBody>
          <a:bodyPr wrap="square" rtlCol="0" anchor="ctr"/>
          <a:lstStyle/>
          <a:p>
            <a:pPr algn="ctr" defTabSz="1219170">
              <a:buClrTx/>
            </a:pPr>
            <a:r>
              <a:rPr lang="es-ES_tradnl" sz="1067" kern="1200" dirty="0">
                <a:solidFill>
                  <a:srgbClr val="1F2A37"/>
                </a:solidFill>
                <a:latin typeface="Calibri" panose="020F0502020204030204" pitchFamily="34" charset="0"/>
                <a:ea typeface="Arial" pitchFamily="34" charset="-122"/>
                <a:cs typeface="Calibri" panose="020F0502020204030204" pitchFamily="34" charset="0"/>
              </a:rPr>
              <a:t>3m</a:t>
            </a:r>
            <a:endParaRPr lang="es-ES_tradnl" sz="1067" kern="1200" dirty="0">
              <a:solidFill>
                <a:prstClr val="black"/>
              </a:solidFill>
              <a:latin typeface="Calibri" panose="020F0502020204030204" pitchFamily="34" charset="0"/>
              <a:ea typeface="+mn-ea"/>
              <a:cs typeface="Calibri" panose="020F0502020204030204" pitchFamily="34" charset="0"/>
            </a:endParaRPr>
          </a:p>
        </p:txBody>
      </p:sp>
      <p:sp>
        <p:nvSpPr>
          <p:cNvPr id="298" name="Shape 27">
            <a:extLst>
              <a:ext uri="{FF2B5EF4-FFF2-40B4-BE49-F238E27FC236}">
                <a16:creationId xmlns:a16="http://schemas.microsoft.com/office/drawing/2014/main" id="{20B47D3F-74CF-3298-5CA2-6592A0BDF398}"/>
              </a:ext>
            </a:extLst>
          </p:cNvPr>
          <p:cNvSpPr/>
          <p:nvPr/>
        </p:nvSpPr>
        <p:spPr>
          <a:xfrm>
            <a:off x="8631494" y="2774802"/>
            <a:ext cx="121920" cy="121920"/>
          </a:xfrm>
          <a:prstGeom prst="ellipse">
            <a:avLst/>
          </a:prstGeom>
          <a:solidFill>
            <a:srgbClr val="009193"/>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299" name="Text 28">
            <a:extLst>
              <a:ext uri="{FF2B5EF4-FFF2-40B4-BE49-F238E27FC236}">
                <a16:creationId xmlns:a16="http://schemas.microsoft.com/office/drawing/2014/main" id="{E480094A-AE30-B0EB-9B31-86AD50643546}"/>
              </a:ext>
            </a:extLst>
          </p:cNvPr>
          <p:cNvSpPr/>
          <p:nvPr/>
        </p:nvSpPr>
        <p:spPr>
          <a:xfrm>
            <a:off x="8265734" y="2470002"/>
            <a:ext cx="853440" cy="243840"/>
          </a:xfrm>
          <a:prstGeom prst="rect">
            <a:avLst/>
          </a:prstGeom>
          <a:noFill/>
          <a:ln/>
        </p:spPr>
        <p:txBody>
          <a:bodyPr wrap="square" rtlCol="0" anchor="ctr"/>
          <a:lstStyle/>
          <a:p>
            <a:pPr algn="ctr" defTabSz="1219170">
              <a:buClrTx/>
            </a:pPr>
            <a:r>
              <a:rPr lang="es-ES_tradnl" sz="1067" kern="1200" dirty="0">
                <a:solidFill>
                  <a:srgbClr val="1F2A37"/>
                </a:solidFill>
                <a:latin typeface="Calibri" panose="020F0502020204030204" pitchFamily="34" charset="0"/>
                <a:ea typeface="Arial" pitchFamily="34" charset="-122"/>
                <a:cs typeface="Calibri" panose="020F0502020204030204" pitchFamily="34" charset="0"/>
              </a:rPr>
              <a:t>6m</a:t>
            </a:r>
            <a:endParaRPr lang="es-ES_tradnl" sz="1067" kern="1200" dirty="0">
              <a:solidFill>
                <a:prstClr val="black"/>
              </a:solidFill>
              <a:latin typeface="Calibri" panose="020F0502020204030204" pitchFamily="34" charset="0"/>
              <a:ea typeface="+mn-ea"/>
              <a:cs typeface="Calibri" panose="020F0502020204030204" pitchFamily="34" charset="0"/>
            </a:endParaRPr>
          </a:p>
        </p:txBody>
      </p:sp>
      <p:sp>
        <p:nvSpPr>
          <p:cNvPr id="300" name="Shape 29">
            <a:extLst>
              <a:ext uri="{FF2B5EF4-FFF2-40B4-BE49-F238E27FC236}">
                <a16:creationId xmlns:a16="http://schemas.microsoft.com/office/drawing/2014/main" id="{B1FF9062-9C73-DDFB-E274-35D815E42284}"/>
              </a:ext>
            </a:extLst>
          </p:cNvPr>
          <p:cNvSpPr/>
          <p:nvPr/>
        </p:nvSpPr>
        <p:spPr>
          <a:xfrm>
            <a:off x="10334879" y="2774802"/>
            <a:ext cx="121920" cy="121920"/>
          </a:xfrm>
          <a:prstGeom prst="ellipse">
            <a:avLst/>
          </a:prstGeom>
          <a:solidFill>
            <a:srgbClr val="1B3A63"/>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01" name="Text 30">
            <a:extLst>
              <a:ext uri="{FF2B5EF4-FFF2-40B4-BE49-F238E27FC236}">
                <a16:creationId xmlns:a16="http://schemas.microsoft.com/office/drawing/2014/main" id="{7ED87229-BD8F-8CFF-32EC-4374D94D75D8}"/>
              </a:ext>
            </a:extLst>
          </p:cNvPr>
          <p:cNvSpPr/>
          <p:nvPr/>
        </p:nvSpPr>
        <p:spPr>
          <a:xfrm>
            <a:off x="9969119" y="2470002"/>
            <a:ext cx="853440" cy="243840"/>
          </a:xfrm>
          <a:prstGeom prst="rect">
            <a:avLst/>
          </a:prstGeom>
          <a:noFill/>
          <a:ln/>
        </p:spPr>
        <p:txBody>
          <a:bodyPr wrap="square" rtlCol="0" anchor="ctr"/>
          <a:lstStyle/>
          <a:p>
            <a:pPr algn="ctr" defTabSz="1219170">
              <a:buClrTx/>
            </a:pPr>
            <a:r>
              <a:rPr lang="es-ES_tradnl" sz="1067" kern="1200" dirty="0">
                <a:solidFill>
                  <a:srgbClr val="1F2A37"/>
                </a:solidFill>
                <a:latin typeface="Calibri" panose="020F0502020204030204" pitchFamily="34" charset="0"/>
                <a:ea typeface="Arial" pitchFamily="34" charset="-122"/>
                <a:cs typeface="Calibri" panose="020F0502020204030204" pitchFamily="34" charset="0"/>
              </a:rPr>
              <a:t>12m</a:t>
            </a:r>
            <a:endParaRPr lang="es-ES_tradnl" sz="1067" kern="1200" dirty="0">
              <a:solidFill>
                <a:prstClr val="black"/>
              </a:solidFill>
              <a:latin typeface="Calibri" panose="020F0502020204030204" pitchFamily="34" charset="0"/>
              <a:ea typeface="+mn-ea"/>
              <a:cs typeface="Calibri" panose="020F0502020204030204" pitchFamily="34" charset="0"/>
            </a:endParaRPr>
          </a:p>
        </p:txBody>
      </p:sp>
      <p:sp>
        <p:nvSpPr>
          <p:cNvPr id="302" name="Text 31">
            <a:extLst>
              <a:ext uri="{FF2B5EF4-FFF2-40B4-BE49-F238E27FC236}">
                <a16:creationId xmlns:a16="http://schemas.microsoft.com/office/drawing/2014/main" id="{460E99CA-703C-36B5-7262-7D99A2DF5FC4}"/>
              </a:ext>
            </a:extLst>
          </p:cNvPr>
          <p:cNvSpPr/>
          <p:nvPr/>
        </p:nvSpPr>
        <p:spPr>
          <a:xfrm>
            <a:off x="5754751" y="3169010"/>
            <a:ext cx="4799584" cy="341376"/>
          </a:xfrm>
          <a:prstGeom prst="rect">
            <a:avLst/>
          </a:prstGeom>
          <a:noFill/>
          <a:ln/>
        </p:spPr>
        <p:txBody>
          <a:bodyPr wrap="square" rtlCol="0" anchor="ctr"/>
          <a:lstStyle/>
          <a:p>
            <a:pPr algn="ctr" defTabSz="1219170">
              <a:buClrTx/>
            </a:pPr>
            <a:endParaRPr lang="es-ES_tradnl" sz="1133" kern="1200" dirty="0">
              <a:solidFill>
                <a:prstClr val="black"/>
              </a:solidFill>
              <a:latin typeface="Calibri" panose="020F0502020204030204" pitchFamily="34" charset="0"/>
              <a:ea typeface="+mn-ea"/>
              <a:cs typeface="Calibri" panose="020F0502020204030204" pitchFamily="34" charset="0"/>
            </a:endParaRPr>
          </a:p>
        </p:txBody>
      </p:sp>
      <p:sp>
        <p:nvSpPr>
          <p:cNvPr id="303" name="Shape 32">
            <a:extLst>
              <a:ext uri="{FF2B5EF4-FFF2-40B4-BE49-F238E27FC236}">
                <a16:creationId xmlns:a16="http://schemas.microsoft.com/office/drawing/2014/main" id="{3A1D01AD-C8DB-C92D-71D6-E4B1D56936FF}"/>
              </a:ext>
            </a:extLst>
          </p:cNvPr>
          <p:cNvSpPr/>
          <p:nvPr/>
        </p:nvSpPr>
        <p:spPr>
          <a:xfrm>
            <a:off x="5718175" y="3559154"/>
            <a:ext cx="4872736" cy="560832"/>
          </a:xfrm>
          <a:prstGeom prst="roundRect">
            <a:avLst>
              <a:gd name="adj" fmla="val 10870"/>
            </a:avLst>
          </a:prstGeom>
          <a:solidFill>
            <a:srgbClr val="FFFFFF"/>
          </a:solidFill>
          <a:ln w="3175">
            <a:solidFill>
              <a:srgbClr val="C7D2DC"/>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04" name="Text 33">
            <a:extLst>
              <a:ext uri="{FF2B5EF4-FFF2-40B4-BE49-F238E27FC236}">
                <a16:creationId xmlns:a16="http://schemas.microsoft.com/office/drawing/2014/main" id="{D4514DF6-2C3D-246C-F3FB-C71D09DBF1B4}"/>
              </a:ext>
            </a:extLst>
          </p:cNvPr>
          <p:cNvSpPr/>
          <p:nvPr/>
        </p:nvSpPr>
        <p:spPr>
          <a:xfrm>
            <a:off x="7229332" y="3607922"/>
            <a:ext cx="3239659" cy="463296"/>
          </a:xfrm>
          <a:prstGeom prst="rect">
            <a:avLst/>
          </a:prstGeom>
          <a:noFill/>
          <a:ln/>
        </p:spPr>
        <p:txBody>
          <a:bodyPr wrap="square" rtlCol="0" anchor="t"/>
          <a:lstStyle/>
          <a:p>
            <a:pPr defTabSz="1219170">
              <a:lnSpc>
                <a:spcPct val="102000"/>
              </a:lnSpc>
              <a:buClrTx/>
            </a:pPr>
            <a:endParaRPr lang="es-ES_tradnl" sz="1200" kern="1200" dirty="0">
              <a:solidFill>
                <a:prstClr val="black"/>
              </a:solidFill>
              <a:latin typeface="Calibri" panose="020F0502020204030204" pitchFamily="34" charset="0"/>
              <a:ea typeface="+mn-ea"/>
              <a:cs typeface="Calibri" panose="020F0502020204030204" pitchFamily="34" charset="0"/>
            </a:endParaRPr>
          </a:p>
        </p:txBody>
      </p:sp>
      <p:sp>
        <p:nvSpPr>
          <p:cNvPr id="305" name="Shape 34">
            <a:extLst>
              <a:ext uri="{FF2B5EF4-FFF2-40B4-BE49-F238E27FC236}">
                <a16:creationId xmlns:a16="http://schemas.microsoft.com/office/drawing/2014/main" id="{2A72A17E-1EE8-566D-C084-033AB9E2EABB}"/>
              </a:ext>
            </a:extLst>
          </p:cNvPr>
          <p:cNvSpPr/>
          <p:nvPr/>
        </p:nvSpPr>
        <p:spPr>
          <a:xfrm>
            <a:off x="10932287" y="1336518"/>
            <a:ext cx="5165344" cy="2905388"/>
          </a:xfrm>
          <a:prstGeom prst="roundRect">
            <a:avLst>
              <a:gd name="adj" fmla="val 2521"/>
            </a:avLst>
          </a:prstGeom>
          <a:noFill/>
          <a:ln w="9525">
            <a:solidFill>
              <a:srgbClr val="D8DEE6"/>
            </a:solidFill>
            <a:prstDash val="solid"/>
          </a:ln>
          <a:effectLst>
            <a:outerShdw blurRad="76200" dist="25400" dir="5400000" algn="bl" rotWithShape="0">
              <a:srgbClr val="000000">
                <a:alpha val="15000"/>
              </a:srgbClr>
            </a:outerShdw>
          </a:effectLst>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06" name="Shape 35">
            <a:extLst>
              <a:ext uri="{FF2B5EF4-FFF2-40B4-BE49-F238E27FC236}">
                <a16:creationId xmlns:a16="http://schemas.microsoft.com/office/drawing/2014/main" id="{52C5C7AC-03B1-23BB-E3E2-43C4647D2432}"/>
              </a:ext>
            </a:extLst>
          </p:cNvPr>
          <p:cNvSpPr/>
          <p:nvPr/>
        </p:nvSpPr>
        <p:spPr>
          <a:xfrm>
            <a:off x="10932287" y="1340210"/>
            <a:ext cx="5165344" cy="316992"/>
          </a:xfrm>
          <a:prstGeom prst="roundRect">
            <a:avLst>
              <a:gd name="adj" fmla="val 10345"/>
            </a:avLst>
          </a:prstGeom>
          <a:solidFill>
            <a:srgbClr val="26807B"/>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07" name="Shape 37">
            <a:extLst>
              <a:ext uri="{FF2B5EF4-FFF2-40B4-BE49-F238E27FC236}">
                <a16:creationId xmlns:a16="http://schemas.microsoft.com/office/drawing/2014/main" id="{91CDC1B9-4CD6-D2C7-F356-8BC7C819F9D7}"/>
              </a:ext>
            </a:extLst>
          </p:cNvPr>
          <p:cNvSpPr/>
          <p:nvPr/>
        </p:nvSpPr>
        <p:spPr>
          <a:xfrm>
            <a:off x="11198684" y="1298618"/>
            <a:ext cx="341376" cy="341376"/>
          </a:xfrm>
          <a:prstGeom prst="ellipse">
            <a:avLst/>
          </a:prstGeom>
          <a:solidFill>
            <a:srgbClr val="009193"/>
          </a:solidFill>
          <a:ln w="25400">
            <a:solidFill>
              <a:srgbClr val="FFFFFF"/>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08" name="Text 38">
            <a:extLst>
              <a:ext uri="{FF2B5EF4-FFF2-40B4-BE49-F238E27FC236}">
                <a16:creationId xmlns:a16="http://schemas.microsoft.com/office/drawing/2014/main" id="{08FAF9AC-DDDF-4258-9229-EA0E77A6FA6F}"/>
              </a:ext>
            </a:extLst>
          </p:cNvPr>
          <p:cNvSpPr/>
          <p:nvPr/>
        </p:nvSpPr>
        <p:spPr>
          <a:xfrm>
            <a:off x="11239364" y="1339297"/>
            <a:ext cx="255119" cy="255119"/>
          </a:xfrm>
          <a:prstGeom prst="rect">
            <a:avLst/>
          </a:prstGeom>
          <a:noFill/>
          <a:ln/>
        </p:spPr>
        <p:txBody>
          <a:bodyPr wrap="square" rtlCol="0" anchor="ctr"/>
          <a:lstStyle/>
          <a:p>
            <a:pPr algn="ctr" defTabSz="1219170">
              <a:buClrTx/>
            </a:pPr>
            <a:r>
              <a:rPr lang="es-ES_tradnl" sz="1600" b="1" kern="1200" dirty="0">
                <a:solidFill>
                  <a:srgbClr val="FFFFFF"/>
                </a:solidFill>
                <a:latin typeface="Calibri" panose="020F0502020204030204" pitchFamily="34" charset="0"/>
                <a:ea typeface="Arial" pitchFamily="34" charset="-122"/>
                <a:cs typeface="Calibri" panose="020F0502020204030204" pitchFamily="34" charset="0"/>
              </a:rPr>
              <a:t>3</a:t>
            </a:r>
            <a:endParaRPr lang="es-ES_tradnl" sz="1600" kern="1200" dirty="0">
              <a:solidFill>
                <a:prstClr val="black"/>
              </a:solidFill>
              <a:latin typeface="Calibri" panose="020F0502020204030204" pitchFamily="34" charset="0"/>
              <a:ea typeface="+mn-ea"/>
              <a:cs typeface="Calibri" panose="020F0502020204030204" pitchFamily="34" charset="0"/>
            </a:endParaRPr>
          </a:p>
        </p:txBody>
      </p:sp>
      <p:sp>
        <p:nvSpPr>
          <p:cNvPr id="309" name="Text 39">
            <a:extLst>
              <a:ext uri="{FF2B5EF4-FFF2-40B4-BE49-F238E27FC236}">
                <a16:creationId xmlns:a16="http://schemas.microsoft.com/office/drawing/2014/main" id="{8A99E6B4-177A-6972-90F5-8EAEA64A9056}"/>
              </a:ext>
            </a:extLst>
          </p:cNvPr>
          <p:cNvSpPr/>
          <p:nvPr/>
        </p:nvSpPr>
        <p:spPr>
          <a:xfrm>
            <a:off x="11810111" y="1340210"/>
            <a:ext cx="4092448" cy="341376"/>
          </a:xfrm>
          <a:prstGeom prst="rect">
            <a:avLst/>
          </a:prstGeom>
          <a:noFill/>
          <a:ln/>
        </p:spPr>
        <p:txBody>
          <a:bodyPr wrap="square" rtlCol="0" anchor="ctr"/>
          <a:lstStyle/>
          <a:p>
            <a:pPr defTabSz="1219170">
              <a:buClrTx/>
            </a:pPr>
            <a:r>
              <a:rPr lang="es-ES_tradnl" b="1" kern="1200" dirty="0">
                <a:solidFill>
                  <a:srgbClr val="FFFFFF"/>
                </a:solidFill>
                <a:latin typeface="Calibri" panose="020F0502020204030204" pitchFamily="34" charset="0"/>
                <a:ea typeface="Arial" pitchFamily="34" charset="-122"/>
                <a:cs typeface="Calibri" panose="020F0502020204030204" pitchFamily="34" charset="0"/>
              </a:rPr>
              <a:t>PD ORIGEN A 12 MESES</a:t>
            </a:r>
            <a:endParaRPr lang="es-ES_tradnl" kern="1200" dirty="0">
              <a:solidFill>
                <a:prstClr val="black"/>
              </a:solidFill>
              <a:latin typeface="Calibri" panose="020F0502020204030204" pitchFamily="34" charset="0"/>
              <a:ea typeface="+mn-ea"/>
              <a:cs typeface="Calibri" panose="020F0502020204030204" pitchFamily="34" charset="0"/>
            </a:endParaRPr>
          </a:p>
        </p:txBody>
      </p:sp>
      <p:sp>
        <p:nvSpPr>
          <p:cNvPr id="310" name="Text 40">
            <a:extLst>
              <a:ext uri="{FF2B5EF4-FFF2-40B4-BE49-F238E27FC236}">
                <a16:creationId xmlns:a16="http://schemas.microsoft.com/office/drawing/2014/main" id="{C733E596-30FE-AF3B-231E-2DCF4E81CD6E}"/>
              </a:ext>
            </a:extLst>
          </p:cNvPr>
          <p:cNvSpPr/>
          <p:nvPr/>
        </p:nvSpPr>
        <p:spPr>
          <a:xfrm>
            <a:off x="11115167" y="2230226"/>
            <a:ext cx="4799584" cy="1341120"/>
          </a:xfrm>
          <a:prstGeom prst="rect">
            <a:avLst/>
          </a:prstGeom>
          <a:noFill/>
          <a:ln/>
        </p:spPr>
        <p:txBody>
          <a:bodyPr wrap="square" rtlCol="0" anchor="t"/>
          <a:lstStyle/>
          <a:p>
            <a:pPr defTabSz="1219170">
              <a:buClrTx/>
            </a:pPr>
            <a:endParaRPr lang="es-ES_tradnl" kern="1200" dirty="0">
              <a:solidFill>
                <a:prstClr val="black"/>
              </a:solidFill>
              <a:latin typeface="Calibri" panose="020F0502020204030204" pitchFamily="34" charset="0"/>
              <a:ea typeface="+mn-ea"/>
              <a:cs typeface="Calibri" panose="020F0502020204030204" pitchFamily="34" charset="0"/>
            </a:endParaRPr>
          </a:p>
        </p:txBody>
      </p:sp>
      <p:sp>
        <p:nvSpPr>
          <p:cNvPr id="311" name="Shape 41">
            <a:extLst>
              <a:ext uri="{FF2B5EF4-FFF2-40B4-BE49-F238E27FC236}">
                <a16:creationId xmlns:a16="http://schemas.microsoft.com/office/drawing/2014/main" id="{E61916A9-BC98-670E-B94B-C9AA98503F2A}"/>
              </a:ext>
            </a:extLst>
          </p:cNvPr>
          <p:cNvSpPr/>
          <p:nvPr/>
        </p:nvSpPr>
        <p:spPr>
          <a:xfrm>
            <a:off x="11907647" y="3222960"/>
            <a:ext cx="3214624" cy="677569"/>
          </a:xfrm>
          <a:prstGeom prst="roundRect">
            <a:avLst>
              <a:gd name="adj" fmla="val 11111"/>
            </a:avLst>
          </a:prstGeom>
          <a:solidFill>
            <a:srgbClr val="2E6CA4"/>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12" name="Text 42">
            <a:extLst>
              <a:ext uri="{FF2B5EF4-FFF2-40B4-BE49-F238E27FC236}">
                <a16:creationId xmlns:a16="http://schemas.microsoft.com/office/drawing/2014/main" id="{BAB339EA-C614-196C-CD12-7D6B5054B74B}"/>
              </a:ext>
            </a:extLst>
          </p:cNvPr>
          <p:cNvSpPr/>
          <p:nvPr/>
        </p:nvSpPr>
        <p:spPr>
          <a:xfrm>
            <a:off x="12407519" y="3571346"/>
            <a:ext cx="2178304" cy="236483"/>
          </a:xfrm>
          <a:prstGeom prst="rect">
            <a:avLst/>
          </a:prstGeom>
          <a:noFill/>
          <a:ln/>
        </p:spPr>
        <p:txBody>
          <a:bodyPr wrap="square" rtlCol="0" anchor="ctr"/>
          <a:lstStyle/>
          <a:p>
            <a:pPr algn="ctr" defTabSz="1219170">
              <a:buClrTx/>
            </a:pPr>
            <a:endParaRPr lang="es-ES_tradnl" kern="1200" dirty="0">
              <a:solidFill>
                <a:prstClr val="black"/>
              </a:solidFill>
              <a:latin typeface="Calibri" panose="020F0502020204030204" pitchFamily="34" charset="0"/>
              <a:ea typeface="+mn-ea"/>
              <a:cs typeface="Calibri" panose="020F0502020204030204" pitchFamily="34" charset="0"/>
            </a:endParaRPr>
          </a:p>
        </p:txBody>
      </p:sp>
      <p:sp>
        <p:nvSpPr>
          <p:cNvPr id="313" name="Shape 43">
            <a:extLst>
              <a:ext uri="{FF2B5EF4-FFF2-40B4-BE49-F238E27FC236}">
                <a16:creationId xmlns:a16="http://schemas.microsoft.com/office/drawing/2014/main" id="{3759627C-6F2B-6C8A-D722-6335A65151A1}"/>
              </a:ext>
            </a:extLst>
          </p:cNvPr>
          <p:cNvSpPr/>
          <p:nvPr/>
        </p:nvSpPr>
        <p:spPr>
          <a:xfrm>
            <a:off x="211455" y="4388210"/>
            <a:ext cx="9936480" cy="3194304"/>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14" name="Shape 44">
            <a:extLst>
              <a:ext uri="{FF2B5EF4-FFF2-40B4-BE49-F238E27FC236}">
                <a16:creationId xmlns:a16="http://schemas.microsoft.com/office/drawing/2014/main" id="{9AF9D564-8A6A-D8BA-7E07-7EB13DFBD61C}"/>
              </a:ext>
            </a:extLst>
          </p:cNvPr>
          <p:cNvSpPr/>
          <p:nvPr/>
        </p:nvSpPr>
        <p:spPr>
          <a:xfrm>
            <a:off x="211455" y="4388210"/>
            <a:ext cx="9936480" cy="365760"/>
          </a:xfrm>
          <a:prstGeom prst="roundRect">
            <a:avLst>
              <a:gd name="adj" fmla="val 10345"/>
            </a:avLst>
          </a:prstGeom>
          <a:solidFill>
            <a:srgbClr val="26807B"/>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15" name="Text 48">
            <a:extLst>
              <a:ext uri="{FF2B5EF4-FFF2-40B4-BE49-F238E27FC236}">
                <a16:creationId xmlns:a16="http://schemas.microsoft.com/office/drawing/2014/main" id="{D28F5711-F3D6-3F61-7F15-04B5063BBBB7}"/>
              </a:ext>
            </a:extLst>
          </p:cNvPr>
          <p:cNvSpPr/>
          <p:nvPr/>
        </p:nvSpPr>
        <p:spPr>
          <a:xfrm>
            <a:off x="1089279" y="4388210"/>
            <a:ext cx="8863584" cy="304800"/>
          </a:xfrm>
          <a:prstGeom prst="rect">
            <a:avLst/>
          </a:prstGeom>
          <a:noFill/>
          <a:ln/>
        </p:spPr>
        <p:txBody>
          <a:bodyPr wrap="square" rtlCol="0" anchor="ctr"/>
          <a:lstStyle/>
          <a:p>
            <a:pPr defTabSz="1219170">
              <a:buClrTx/>
            </a:pPr>
            <a:r>
              <a:rPr lang="es-ES_tradnl" b="1" kern="1200" dirty="0">
                <a:solidFill>
                  <a:srgbClr val="FFFFFF"/>
                </a:solidFill>
                <a:latin typeface="Calibri" panose="020F0502020204030204" pitchFamily="34" charset="0"/>
                <a:ea typeface="Arial" pitchFamily="34" charset="-122"/>
                <a:cs typeface="Calibri" panose="020F0502020204030204" pitchFamily="34" charset="0"/>
              </a:rPr>
              <a:t>PD LIFETIME: DESCOMPOSICIÓN TEMPORAL DE LA PD ORIGEN A 12 MESES</a:t>
            </a:r>
            <a:endParaRPr lang="es-ES_tradnl" kern="1200" dirty="0">
              <a:solidFill>
                <a:prstClr val="black"/>
              </a:solidFill>
              <a:latin typeface="Calibri" panose="020F0502020204030204" pitchFamily="34" charset="0"/>
              <a:ea typeface="+mn-ea"/>
              <a:cs typeface="Calibri" panose="020F0502020204030204" pitchFamily="34" charset="0"/>
            </a:endParaRPr>
          </a:p>
        </p:txBody>
      </p:sp>
      <p:sp>
        <p:nvSpPr>
          <p:cNvPr id="316" name="Text 49">
            <a:extLst>
              <a:ext uri="{FF2B5EF4-FFF2-40B4-BE49-F238E27FC236}">
                <a16:creationId xmlns:a16="http://schemas.microsoft.com/office/drawing/2014/main" id="{91B7C42B-12FA-1821-40B4-B3B6F3039623}"/>
              </a:ext>
            </a:extLst>
          </p:cNvPr>
          <p:cNvSpPr/>
          <p:nvPr/>
        </p:nvSpPr>
        <p:spPr>
          <a:xfrm>
            <a:off x="394335" y="5217266"/>
            <a:ext cx="3048000" cy="2316480"/>
          </a:xfrm>
          <a:prstGeom prst="rect">
            <a:avLst/>
          </a:prstGeom>
          <a:noFill/>
          <a:ln/>
        </p:spPr>
        <p:txBody>
          <a:bodyPr wrap="square" rtlCol="0" anchor="t"/>
          <a:lstStyle/>
          <a:p>
            <a:pPr defTabSz="1219170">
              <a:buClrTx/>
            </a:pPr>
            <a:endParaRPr lang="es-ES_tradnl" sz="1267" kern="1200" dirty="0">
              <a:solidFill>
                <a:prstClr val="black"/>
              </a:solidFill>
              <a:latin typeface="Calibri" panose="020F0502020204030204" pitchFamily="34" charset="0"/>
              <a:ea typeface="+mn-ea"/>
              <a:cs typeface="Calibri" panose="020F0502020204030204" pitchFamily="34" charset="0"/>
            </a:endParaRPr>
          </a:p>
        </p:txBody>
      </p:sp>
      <p:graphicFrame>
        <p:nvGraphicFramePr>
          <p:cNvPr id="317" name="Chart 0">
            <a:extLst>
              <a:ext uri="{FF2B5EF4-FFF2-40B4-BE49-F238E27FC236}">
                <a16:creationId xmlns:a16="http://schemas.microsoft.com/office/drawing/2014/main" id="{5294C2AE-5624-4BA0-24B7-C504F3FDEFE3}"/>
              </a:ext>
            </a:extLst>
          </p:cNvPr>
          <p:cNvGraphicFramePr/>
          <p:nvPr>
            <p:extLst>
              <p:ext uri="{D42A27DB-BD31-4B8C-83A1-F6EECF244321}">
                <p14:modId xmlns:p14="http://schemas.microsoft.com/office/powerpoint/2010/main" val="1501351762"/>
              </p:ext>
            </p:extLst>
          </p:nvPr>
        </p:nvGraphicFramePr>
        <p:xfrm>
          <a:off x="3856863" y="4823167"/>
          <a:ext cx="6047232" cy="2710579"/>
        </p:xfrm>
        <a:graphic>
          <a:graphicData uri="http://schemas.openxmlformats.org/drawingml/2006/chart">
            <c:chart xmlns:c="http://schemas.openxmlformats.org/drawingml/2006/chart" xmlns:r="http://schemas.openxmlformats.org/officeDocument/2006/relationships" r:id="rId2"/>
          </a:graphicData>
        </a:graphic>
      </p:graphicFrame>
      <p:sp>
        <p:nvSpPr>
          <p:cNvPr id="318" name="Shape 50">
            <a:extLst>
              <a:ext uri="{FF2B5EF4-FFF2-40B4-BE49-F238E27FC236}">
                <a16:creationId xmlns:a16="http://schemas.microsoft.com/office/drawing/2014/main" id="{13282CD4-BF7D-396E-64C3-465534FADDF3}"/>
              </a:ext>
            </a:extLst>
          </p:cNvPr>
          <p:cNvSpPr/>
          <p:nvPr/>
        </p:nvSpPr>
        <p:spPr>
          <a:xfrm>
            <a:off x="8071231" y="5985362"/>
            <a:ext cx="1686560" cy="585216"/>
          </a:xfrm>
          <a:prstGeom prst="roundRect">
            <a:avLst>
              <a:gd name="adj" fmla="val 10417"/>
            </a:avLst>
          </a:prstGeom>
          <a:solidFill>
            <a:srgbClr val="FFFFFF"/>
          </a:solidFill>
          <a:ln w="3175">
            <a:solidFill>
              <a:srgbClr val="C7D2DC"/>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19" name="Text 51">
            <a:extLst>
              <a:ext uri="{FF2B5EF4-FFF2-40B4-BE49-F238E27FC236}">
                <a16:creationId xmlns:a16="http://schemas.microsoft.com/office/drawing/2014/main" id="{F97E8D74-6C81-E3F0-4959-F75CE8D3DB09}"/>
              </a:ext>
            </a:extLst>
          </p:cNvPr>
          <p:cNvSpPr/>
          <p:nvPr/>
        </p:nvSpPr>
        <p:spPr>
          <a:xfrm>
            <a:off x="8103743" y="6019907"/>
            <a:ext cx="1621536" cy="512064"/>
          </a:xfrm>
          <a:prstGeom prst="rect">
            <a:avLst/>
          </a:prstGeom>
          <a:noFill/>
          <a:ln/>
        </p:spPr>
        <p:txBody>
          <a:bodyPr wrap="square" rtlCol="0" anchor="ctr"/>
          <a:lstStyle/>
          <a:p>
            <a:pPr defTabSz="1219170">
              <a:buClrTx/>
            </a:pPr>
            <a:r>
              <a:rPr lang="es-ES_tradnl" sz="1040" kern="1200" dirty="0">
                <a:solidFill>
                  <a:srgbClr val="1F2A37"/>
                </a:solidFill>
                <a:latin typeface="Calibri" panose="020F0502020204030204" pitchFamily="34" charset="0"/>
                <a:ea typeface="Arial" pitchFamily="34" charset="-122"/>
                <a:cs typeface="Calibri" panose="020F0502020204030204" pitchFamily="34" charset="0"/>
              </a:rPr>
              <a:t>En 12m, la PD acumulada coincide con la PD Origen </a:t>
            </a:r>
            <a:r>
              <a:rPr lang="es-ES_tradnl" sz="1040" kern="1200" dirty="0">
                <a:solidFill>
                  <a:srgbClr val="2E6CA4"/>
                </a:solidFill>
                <a:latin typeface="Calibri" panose="020F0502020204030204" pitchFamily="34" charset="0"/>
                <a:ea typeface="Arial" pitchFamily="34" charset="-122"/>
                <a:cs typeface="Calibri" panose="020F0502020204030204" pitchFamily="34" charset="0"/>
              </a:rPr>
              <a:t>a 12 meses</a:t>
            </a:r>
            <a:r>
              <a:rPr lang="es-ES_tradnl" sz="1040" kern="1200" dirty="0">
                <a:solidFill>
                  <a:srgbClr val="1F2A37"/>
                </a:solidFill>
                <a:latin typeface="Calibri" panose="020F0502020204030204" pitchFamily="34" charset="0"/>
                <a:ea typeface="Arial" pitchFamily="34" charset="-122"/>
                <a:cs typeface="Calibri" panose="020F0502020204030204" pitchFamily="34" charset="0"/>
              </a:rPr>
              <a:t>.</a:t>
            </a:r>
            <a:endParaRPr lang="es-ES_tradnl" sz="1040" kern="1200" dirty="0">
              <a:solidFill>
                <a:prstClr val="black"/>
              </a:solidFill>
              <a:latin typeface="Calibri" panose="020F0502020204030204" pitchFamily="34" charset="0"/>
              <a:ea typeface="+mn-ea"/>
              <a:cs typeface="Calibri" panose="020F0502020204030204" pitchFamily="34" charset="0"/>
            </a:endParaRPr>
          </a:p>
        </p:txBody>
      </p:sp>
      <p:sp>
        <p:nvSpPr>
          <p:cNvPr id="320" name="Shape 52">
            <a:extLst>
              <a:ext uri="{FF2B5EF4-FFF2-40B4-BE49-F238E27FC236}">
                <a16:creationId xmlns:a16="http://schemas.microsoft.com/office/drawing/2014/main" id="{680345BB-E916-52BB-C789-A553E3280522}"/>
              </a:ext>
            </a:extLst>
          </p:cNvPr>
          <p:cNvSpPr/>
          <p:nvPr/>
        </p:nvSpPr>
        <p:spPr>
          <a:xfrm>
            <a:off x="10343007" y="4384146"/>
            <a:ext cx="5754624" cy="3198368"/>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21" name="Text 53">
            <a:extLst>
              <a:ext uri="{FF2B5EF4-FFF2-40B4-BE49-F238E27FC236}">
                <a16:creationId xmlns:a16="http://schemas.microsoft.com/office/drawing/2014/main" id="{E2222ACF-D7AA-F5D8-C057-F305D8E36F10}"/>
              </a:ext>
            </a:extLst>
          </p:cNvPr>
          <p:cNvSpPr/>
          <p:nvPr/>
        </p:nvSpPr>
        <p:spPr>
          <a:xfrm>
            <a:off x="10562463" y="4558898"/>
            <a:ext cx="5315712" cy="365760"/>
          </a:xfrm>
          <a:prstGeom prst="rect">
            <a:avLst/>
          </a:prstGeom>
          <a:noFill/>
          <a:ln/>
        </p:spPr>
        <p:txBody>
          <a:bodyPr wrap="square" rtlCol="0" anchor="ctr"/>
          <a:lstStyle/>
          <a:p>
            <a:pPr algn="ctr" defTabSz="1219170">
              <a:buClrTx/>
            </a:pPr>
            <a:r>
              <a:rPr lang="es-ES_tradnl" sz="1667" b="1" kern="1200" dirty="0">
                <a:solidFill>
                  <a:srgbClr val="2E9E9E"/>
                </a:solidFill>
                <a:latin typeface="Calibri" panose="020F0502020204030204" pitchFamily="34" charset="0"/>
                <a:ea typeface="Arial" pitchFamily="34" charset="-122"/>
                <a:cs typeface="Calibri" panose="020F0502020204030204" pitchFamily="34" charset="0"/>
              </a:rPr>
              <a:t>¿Qué significa?</a:t>
            </a:r>
            <a:endParaRPr lang="es-ES_tradnl" sz="1667" kern="1200" dirty="0">
              <a:solidFill>
                <a:prstClr val="black"/>
              </a:solidFill>
              <a:latin typeface="Calibri" panose="020F0502020204030204" pitchFamily="34" charset="0"/>
              <a:ea typeface="+mn-ea"/>
              <a:cs typeface="Calibri" panose="020F0502020204030204" pitchFamily="34" charset="0"/>
            </a:endParaRPr>
          </a:p>
        </p:txBody>
      </p:sp>
      <p:sp>
        <p:nvSpPr>
          <p:cNvPr id="322" name="Text 54">
            <a:extLst>
              <a:ext uri="{FF2B5EF4-FFF2-40B4-BE49-F238E27FC236}">
                <a16:creationId xmlns:a16="http://schemas.microsoft.com/office/drawing/2014/main" id="{9F253FE8-BAA7-8929-9287-59E6437E0F52}"/>
              </a:ext>
            </a:extLst>
          </p:cNvPr>
          <p:cNvSpPr/>
          <p:nvPr/>
        </p:nvSpPr>
        <p:spPr>
          <a:xfrm>
            <a:off x="10562463" y="4997810"/>
            <a:ext cx="5315712" cy="1097280"/>
          </a:xfrm>
          <a:prstGeom prst="rect">
            <a:avLst/>
          </a:prstGeom>
          <a:noFill/>
          <a:ln/>
        </p:spPr>
        <p:txBody>
          <a:bodyPr wrap="square" rtlCol="0" anchor="t"/>
          <a:lstStyle/>
          <a:p>
            <a:pPr defTabSz="1219170">
              <a:buClrTx/>
            </a:pPr>
            <a:endParaRPr lang="es-ES_tradnl" sz="1267" kern="1200" dirty="0">
              <a:solidFill>
                <a:prstClr val="black"/>
              </a:solidFill>
              <a:latin typeface="Calibri" panose="020F0502020204030204" pitchFamily="34" charset="0"/>
              <a:ea typeface="+mn-ea"/>
              <a:cs typeface="Calibri" panose="020F0502020204030204" pitchFamily="34" charset="0"/>
            </a:endParaRPr>
          </a:p>
        </p:txBody>
      </p:sp>
      <p:sp>
        <p:nvSpPr>
          <p:cNvPr id="323" name="Text 55">
            <a:extLst>
              <a:ext uri="{FF2B5EF4-FFF2-40B4-BE49-F238E27FC236}">
                <a16:creationId xmlns:a16="http://schemas.microsoft.com/office/drawing/2014/main" id="{9971216B-CB7A-7562-AAF8-30799D1317BF}"/>
              </a:ext>
            </a:extLst>
          </p:cNvPr>
          <p:cNvSpPr/>
          <p:nvPr/>
        </p:nvSpPr>
        <p:spPr>
          <a:xfrm>
            <a:off x="10562463" y="6119474"/>
            <a:ext cx="5315712" cy="304800"/>
          </a:xfrm>
          <a:prstGeom prst="rect">
            <a:avLst/>
          </a:prstGeom>
          <a:noFill/>
          <a:ln/>
        </p:spPr>
        <p:txBody>
          <a:bodyPr wrap="square" rtlCol="0" anchor="ctr"/>
          <a:lstStyle/>
          <a:p>
            <a:pPr defTabSz="1219170">
              <a:buClrTx/>
            </a:pPr>
            <a:r>
              <a:rPr lang="es-ES_tradnl" sz="1333" b="1" kern="1200" dirty="0">
                <a:solidFill>
                  <a:srgbClr val="009193"/>
                </a:solidFill>
                <a:latin typeface="Calibri" panose="020F0502020204030204" pitchFamily="34" charset="0"/>
                <a:ea typeface="Arial" pitchFamily="34" charset="-122"/>
                <a:cs typeface="Calibri" panose="020F0502020204030204" pitchFamily="34" charset="0"/>
              </a:rPr>
              <a:t>Ejemplo:</a:t>
            </a:r>
            <a:endParaRPr lang="es-ES_tradnl" sz="1333" kern="1200" dirty="0">
              <a:solidFill>
                <a:srgbClr val="009193"/>
              </a:solidFill>
              <a:latin typeface="Calibri" panose="020F0502020204030204" pitchFamily="34" charset="0"/>
              <a:ea typeface="+mn-ea"/>
              <a:cs typeface="Calibri" panose="020F0502020204030204" pitchFamily="34" charset="0"/>
            </a:endParaRPr>
          </a:p>
        </p:txBody>
      </p:sp>
      <p:sp>
        <p:nvSpPr>
          <p:cNvPr id="324" name="Text 56">
            <a:extLst>
              <a:ext uri="{FF2B5EF4-FFF2-40B4-BE49-F238E27FC236}">
                <a16:creationId xmlns:a16="http://schemas.microsoft.com/office/drawing/2014/main" id="{F677EC0D-B6C3-994D-8AA9-7AADE3953C5D}"/>
              </a:ext>
            </a:extLst>
          </p:cNvPr>
          <p:cNvSpPr/>
          <p:nvPr/>
        </p:nvSpPr>
        <p:spPr>
          <a:xfrm>
            <a:off x="10562463" y="6436466"/>
            <a:ext cx="5315712" cy="1158240"/>
          </a:xfrm>
          <a:prstGeom prst="rect">
            <a:avLst/>
          </a:prstGeom>
          <a:noFill/>
          <a:ln/>
        </p:spPr>
        <p:txBody>
          <a:bodyPr wrap="square" rtlCol="0" anchor="t"/>
          <a:lstStyle/>
          <a:p>
            <a:pPr defTabSz="1219170">
              <a:lnSpc>
                <a:spcPct val="115000"/>
              </a:lnSpc>
              <a:buClrTx/>
            </a:pPr>
            <a:endParaRPr lang="es-ES_tradnl" sz="1200" kern="1200" dirty="0">
              <a:solidFill>
                <a:prstClr val="black"/>
              </a:solidFill>
              <a:latin typeface="Calibri" panose="020F0502020204030204" pitchFamily="34" charset="0"/>
              <a:ea typeface="+mn-ea"/>
              <a:cs typeface="Calibri" panose="020F0502020204030204" pitchFamily="34" charset="0"/>
            </a:endParaRPr>
          </a:p>
        </p:txBody>
      </p:sp>
      <p:sp>
        <p:nvSpPr>
          <p:cNvPr id="325" name="Shape 57">
            <a:extLst>
              <a:ext uri="{FF2B5EF4-FFF2-40B4-BE49-F238E27FC236}">
                <a16:creationId xmlns:a16="http://schemas.microsoft.com/office/drawing/2014/main" id="{990DAABB-D797-56CC-B075-7DB128D15FDD}"/>
              </a:ext>
            </a:extLst>
          </p:cNvPr>
          <p:cNvSpPr/>
          <p:nvPr/>
        </p:nvSpPr>
        <p:spPr>
          <a:xfrm>
            <a:off x="211455" y="7728818"/>
            <a:ext cx="5165344" cy="1389888"/>
          </a:xfrm>
          <a:prstGeom prst="roundRect">
            <a:avLst>
              <a:gd name="adj" fmla="val 5263"/>
            </a:avLst>
          </a:prstGeom>
          <a:solidFill>
            <a:srgbClr val="009193">
              <a:alpha val="25098"/>
            </a:srgbClr>
          </a:solidFill>
          <a:ln w="9525">
            <a:solidFill>
              <a:srgbClr val="CFE6D4"/>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26" name="Text 60">
            <a:extLst>
              <a:ext uri="{FF2B5EF4-FFF2-40B4-BE49-F238E27FC236}">
                <a16:creationId xmlns:a16="http://schemas.microsoft.com/office/drawing/2014/main" id="{F788DDFD-8D79-F27F-6D9B-8537E056113F}"/>
              </a:ext>
            </a:extLst>
          </p:cNvPr>
          <p:cNvSpPr/>
          <p:nvPr/>
        </p:nvSpPr>
        <p:spPr>
          <a:xfrm>
            <a:off x="1016127" y="7850738"/>
            <a:ext cx="4189984" cy="341376"/>
          </a:xfrm>
          <a:prstGeom prst="rect">
            <a:avLst/>
          </a:prstGeom>
          <a:noFill/>
          <a:ln/>
        </p:spPr>
        <p:txBody>
          <a:bodyPr wrap="square" rtlCol="0" anchor="ctr"/>
          <a:lstStyle/>
          <a:p>
            <a:pPr defTabSz="1219170">
              <a:buClrTx/>
            </a:pPr>
            <a:r>
              <a:rPr lang="es-ES_tradnl" b="1" kern="1200" dirty="0">
                <a:solidFill>
                  <a:srgbClr val="009193"/>
                </a:solidFill>
                <a:latin typeface="Calibri" panose="020F0502020204030204" pitchFamily="34" charset="0"/>
                <a:ea typeface="Arial" pitchFamily="34" charset="-122"/>
                <a:cs typeface="Calibri" panose="020F0502020204030204" pitchFamily="34" charset="0"/>
              </a:rPr>
              <a:t>CONSISTENCIA HISTÓRICA</a:t>
            </a:r>
            <a:endParaRPr lang="es-ES_tradnl" kern="1200" dirty="0">
              <a:solidFill>
                <a:srgbClr val="009193"/>
              </a:solidFill>
              <a:latin typeface="Calibri" panose="020F0502020204030204" pitchFamily="34" charset="0"/>
              <a:ea typeface="+mn-ea"/>
              <a:cs typeface="Calibri" panose="020F0502020204030204" pitchFamily="34" charset="0"/>
            </a:endParaRPr>
          </a:p>
        </p:txBody>
      </p:sp>
      <p:sp>
        <p:nvSpPr>
          <p:cNvPr id="327" name="Text 61">
            <a:extLst>
              <a:ext uri="{FF2B5EF4-FFF2-40B4-BE49-F238E27FC236}">
                <a16:creationId xmlns:a16="http://schemas.microsoft.com/office/drawing/2014/main" id="{64A178E6-357C-C2B2-507C-0E92FC6A5DDC}"/>
              </a:ext>
            </a:extLst>
          </p:cNvPr>
          <p:cNvSpPr/>
          <p:nvPr/>
        </p:nvSpPr>
        <p:spPr>
          <a:xfrm>
            <a:off x="394335" y="8240882"/>
            <a:ext cx="4799584" cy="792480"/>
          </a:xfrm>
          <a:prstGeom prst="rect">
            <a:avLst/>
          </a:prstGeom>
          <a:noFill/>
          <a:ln/>
        </p:spPr>
        <p:txBody>
          <a:bodyPr wrap="square" rtlCol="0" anchor="t"/>
          <a:lstStyle/>
          <a:p>
            <a:pPr defTabSz="1219170">
              <a:lnSpc>
                <a:spcPct val="102000"/>
              </a:lnSpc>
              <a:buClrTx/>
            </a:pPr>
            <a:endParaRPr lang="es-ES_tradnl" sz="1333" kern="1200" dirty="0">
              <a:solidFill>
                <a:prstClr val="black"/>
              </a:solidFill>
              <a:latin typeface="Calibri" panose="020F0502020204030204" pitchFamily="34" charset="0"/>
              <a:ea typeface="+mn-ea"/>
              <a:cs typeface="Calibri" panose="020F0502020204030204" pitchFamily="34" charset="0"/>
            </a:endParaRPr>
          </a:p>
        </p:txBody>
      </p:sp>
      <p:sp>
        <p:nvSpPr>
          <p:cNvPr id="328" name="Shape 62">
            <a:extLst>
              <a:ext uri="{FF2B5EF4-FFF2-40B4-BE49-F238E27FC236}">
                <a16:creationId xmlns:a16="http://schemas.microsoft.com/office/drawing/2014/main" id="{DED3BDEB-87CB-BD69-D23B-65A4CAA2C921}"/>
              </a:ext>
            </a:extLst>
          </p:cNvPr>
          <p:cNvSpPr/>
          <p:nvPr/>
        </p:nvSpPr>
        <p:spPr>
          <a:xfrm>
            <a:off x="5571871" y="7728818"/>
            <a:ext cx="5165344" cy="1389888"/>
          </a:xfrm>
          <a:prstGeom prst="roundRect">
            <a:avLst>
              <a:gd name="adj" fmla="val 5263"/>
            </a:avLst>
          </a:prstGeom>
          <a:solidFill>
            <a:srgbClr val="009193">
              <a:alpha val="25098"/>
            </a:srgbClr>
          </a:solidFill>
          <a:ln w="9525">
            <a:solidFill>
              <a:srgbClr val="CFE6D4"/>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29" name="Text 63">
            <a:extLst>
              <a:ext uri="{FF2B5EF4-FFF2-40B4-BE49-F238E27FC236}">
                <a16:creationId xmlns:a16="http://schemas.microsoft.com/office/drawing/2014/main" id="{BC0195D8-6B7C-ACE2-6E15-98A80CC761FD}"/>
              </a:ext>
            </a:extLst>
          </p:cNvPr>
          <p:cNvSpPr/>
          <p:nvPr/>
        </p:nvSpPr>
        <p:spPr>
          <a:xfrm>
            <a:off x="6195258" y="7850738"/>
            <a:ext cx="3908508" cy="341376"/>
          </a:xfrm>
          <a:prstGeom prst="rect">
            <a:avLst/>
          </a:prstGeom>
          <a:noFill/>
          <a:ln/>
        </p:spPr>
        <p:txBody>
          <a:bodyPr wrap="square" rtlCol="0" anchor="ctr"/>
          <a:lstStyle/>
          <a:p>
            <a:pPr defTabSz="1219170">
              <a:buClrTx/>
            </a:pPr>
            <a:r>
              <a:rPr lang="es-ES_tradnl" b="1" kern="1200" dirty="0">
                <a:solidFill>
                  <a:srgbClr val="009193"/>
                </a:solidFill>
                <a:latin typeface="Calibri" panose="020F0502020204030204" pitchFamily="34" charset="0"/>
                <a:ea typeface="Arial" pitchFamily="34" charset="-122"/>
                <a:cs typeface="Calibri" panose="020F0502020204030204" pitchFamily="34" charset="0"/>
              </a:rPr>
              <a:t>CONCLUSIÓN CLAVE</a:t>
            </a:r>
            <a:endParaRPr lang="es-ES_tradnl" kern="1200" dirty="0">
              <a:solidFill>
                <a:srgbClr val="009193"/>
              </a:solidFill>
              <a:latin typeface="Calibri" panose="020F0502020204030204" pitchFamily="34" charset="0"/>
              <a:ea typeface="+mn-ea"/>
              <a:cs typeface="Calibri" panose="020F0502020204030204" pitchFamily="34" charset="0"/>
            </a:endParaRPr>
          </a:p>
        </p:txBody>
      </p:sp>
      <p:sp>
        <p:nvSpPr>
          <p:cNvPr id="330" name="Text 64">
            <a:extLst>
              <a:ext uri="{FF2B5EF4-FFF2-40B4-BE49-F238E27FC236}">
                <a16:creationId xmlns:a16="http://schemas.microsoft.com/office/drawing/2014/main" id="{04CB855E-4035-871F-7F27-7727000B1C9E}"/>
              </a:ext>
            </a:extLst>
          </p:cNvPr>
          <p:cNvSpPr/>
          <p:nvPr/>
        </p:nvSpPr>
        <p:spPr>
          <a:xfrm>
            <a:off x="6179644" y="8240882"/>
            <a:ext cx="4374691" cy="792480"/>
          </a:xfrm>
          <a:prstGeom prst="rect">
            <a:avLst/>
          </a:prstGeom>
          <a:noFill/>
          <a:ln/>
        </p:spPr>
        <p:txBody>
          <a:bodyPr wrap="square" rtlCol="0" anchor="t"/>
          <a:lstStyle/>
          <a:p>
            <a:pPr defTabSz="1219170">
              <a:buClrTx/>
            </a:pPr>
            <a:r>
              <a:rPr lang="es-ES_tradnl" sz="1333" kern="1200" dirty="0">
                <a:solidFill>
                  <a:srgbClr val="1F2A37"/>
                </a:solidFill>
                <a:latin typeface="Calibri" panose="020F0502020204030204" pitchFamily="34" charset="0"/>
                <a:ea typeface="Arial" pitchFamily="34" charset="-122"/>
                <a:cs typeface="Calibri" panose="020F0502020204030204" pitchFamily="34" charset="0"/>
              </a:rPr>
              <a:t>Como la PD Lifetime es una descomposición temporal de la PD Origen a 12 meses, y esta ya captura la mora temprana, </a:t>
            </a:r>
            <a:r>
              <a:rPr lang="es-ES_tradnl" sz="1333" b="1" kern="1200" dirty="0">
                <a:solidFill>
                  <a:srgbClr val="2E8B4F"/>
                </a:solidFill>
                <a:latin typeface="Calibri" panose="020F0502020204030204" pitchFamily="34" charset="0"/>
                <a:ea typeface="Arial" pitchFamily="34" charset="-122"/>
                <a:cs typeface="Calibri" panose="020F0502020204030204" pitchFamily="34" charset="0"/>
              </a:rPr>
              <a:t>NO se requieren ajustes adicionales a las PD Lifetime.</a:t>
            </a:r>
            <a:endParaRPr lang="es-ES_tradnl" sz="1333" kern="1200" dirty="0">
              <a:solidFill>
                <a:prstClr val="black"/>
              </a:solidFill>
              <a:latin typeface="Calibri" panose="020F0502020204030204" pitchFamily="34" charset="0"/>
              <a:ea typeface="+mn-ea"/>
              <a:cs typeface="Calibri" panose="020F0502020204030204" pitchFamily="34" charset="0"/>
            </a:endParaRPr>
          </a:p>
        </p:txBody>
      </p:sp>
      <p:sp>
        <p:nvSpPr>
          <p:cNvPr id="331" name="Shape 65">
            <a:extLst>
              <a:ext uri="{FF2B5EF4-FFF2-40B4-BE49-F238E27FC236}">
                <a16:creationId xmlns:a16="http://schemas.microsoft.com/office/drawing/2014/main" id="{DFDE3285-3AD9-17FA-A3DE-C748D22AF3F3}"/>
              </a:ext>
            </a:extLst>
          </p:cNvPr>
          <p:cNvSpPr/>
          <p:nvPr/>
        </p:nvSpPr>
        <p:spPr>
          <a:xfrm>
            <a:off x="10932287" y="7728818"/>
            <a:ext cx="5165344" cy="1389888"/>
          </a:xfrm>
          <a:prstGeom prst="roundRect">
            <a:avLst>
              <a:gd name="adj" fmla="val 5263"/>
            </a:avLst>
          </a:prstGeom>
          <a:solidFill>
            <a:srgbClr val="2E6CA4">
              <a:alpha val="25098"/>
            </a:srgbClr>
          </a:solidFill>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32" name="Text 66">
            <a:extLst>
              <a:ext uri="{FF2B5EF4-FFF2-40B4-BE49-F238E27FC236}">
                <a16:creationId xmlns:a16="http://schemas.microsoft.com/office/drawing/2014/main" id="{4D4E06BF-CEEC-CFC0-A1CB-095E95CC5CE2}"/>
              </a:ext>
            </a:extLst>
          </p:cNvPr>
          <p:cNvSpPr/>
          <p:nvPr/>
        </p:nvSpPr>
        <p:spPr>
          <a:xfrm>
            <a:off x="11907647" y="7826354"/>
            <a:ext cx="4007104" cy="268224"/>
          </a:xfrm>
          <a:prstGeom prst="rect">
            <a:avLst/>
          </a:prstGeom>
          <a:noFill/>
          <a:ln/>
        </p:spPr>
        <p:txBody>
          <a:bodyPr wrap="square" rtlCol="0" anchor="ctr"/>
          <a:lstStyle/>
          <a:p>
            <a:pPr defTabSz="1219170">
              <a:buClrTx/>
            </a:pPr>
            <a:r>
              <a:rPr lang="es-ES_tradnl" sz="1333" b="1" kern="1200" dirty="0">
                <a:solidFill>
                  <a:prstClr val="black"/>
                </a:solidFill>
                <a:latin typeface="Calibri" panose="020F0502020204030204" pitchFamily="34" charset="0"/>
                <a:ea typeface="Arial" pitchFamily="34" charset="-122"/>
                <a:cs typeface="Calibri" panose="020F0502020204030204" pitchFamily="34" charset="0"/>
              </a:rPr>
              <a:t>EN RESUMEN</a:t>
            </a:r>
            <a:endParaRPr lang="es-ES_tradnl" sz="1333" kern="1200" dirty="0">
              <a:solidFill>
                <a:prstClr val="black"/>
              </a:solidFill>
              <a:latin typeface="Calibri" panose="020F0502020204030204" pitchFamily="34" charset="0"/>
              <a:ea typeface="+mn-ea"/>
              <a:cs typeface="Calibri" panose="020F0502020204030204" pitchFamily="34" charset="0"/>
            </a:endParaRPr>
          </a:p>
        </p:txBody>
      </p:sp>
      <p:sp>
        <p:nvSpPr>
          <p:cNvPr id="333" name="Text 67">
            <a:extLst>
              <a:ext uri="{FF2B5EF4-FFF2-40B4-BE49-F238E27FC236}">
                <a16:creationId xmlns:a16="http://schemas.microsoft.com/office/drawing/2014/main" id="{B42FE60E-D4ED-E7C0-1A28-8CCAA8FC1793}"/>
              </a:ext>
            </a:extLst>
          </p:cNvPr>
          <p:cNvSpPr/>
          <p:nvPr/>
        </p:nvSpPr>
        <p:spPr>
          <a:xfrm>
            <a:off x="11115167" y="8094578"/>
            <a:ext cx="4799584" cy="975360"/>
          </a:xfrm>
          <a:prstGeom prst="rect">
            <a:avLst/>
          </a:prstGeom>
          <a:noFill/>
          <a:ln>
            <a:noFill/>
          </a:ln>
        </p:spPr>
        <p:txBody>
          <a:bodyPr wrap="square" rtlCol="0" anchor="t"/>
          <a:lstStyle/>
          <a:p>
            <a:pPr defTabSz="1219170">
              <a:buClrTx/>
            </a:pPr>
            <a:endParaRPr lang="es-ES_tradnl" sz="1013" kern="1200" dirty="0">
              <a:solidFill>
                <a:srgbClr val="009193"/>
              </a:solidFill>
              <a:latin typeface="Calibri" panose="020F0502020204030204" pitchFamily="34" charset="0"/>
              <a:ea typeface="+mn-ea"/>
              <a:cs typeface="Calibri" panose="020F0502020204030204" pitchFamily="34" charset="0"/>
            </a:endParaRPr>
          </a:p>
        </p:txBody>
      </p:sp>
      <p:grpSp>
        <p:nvGrpSpPr>
          <p:cNvPr id="334" name="Group 333">
            <a:extLst>
              <a:ext uri="{FF2B5EF4-FFF2-40B4-BE49-F238E27FC236}">
                <a16:creationId xmlns:a16="http://schemas.microsoft.com/office/drawing/2014/main" id="{E346EB23-F229-AB02-4EC5-C8C5C8EB1EF3}"/>
              </a:ext>
            </a:extLst>
          </p:cNvPr>
          <p:cNvGrpSpPr/>
          <p:nvPr/>
        </p:nvGrpSpPr>
        <p:grpSpPr>
          <a:xfrm>
            <a:off x="437174" y="4397213"/>
            <a:ext cx="341376" cy="341376"/>
            <a:chOff x="306449" y="3207152"/>
            <a:chExt cx="256032" cy="256032"/>
          </a:xfrm>
        </p:grpSpPr>
        <p:sp>
          <p:nvSpPr>
            <p:cNvPr id="335" name="Shape 37">
              <a:extLst>
                <a:ext uri="{FF2B5EF4-FFF2-40B4-BE49-F238E27FC236}">
                  <a16:creationId xmlns:a16="http://schemas.microsoft.com/office/drawing/2014/main" id="{3061508B-7F58-EB46-2187-2BD0BFD896EF}"/>
                </a:ext>
              </a:extLst>
            </p:cNvPr>
            <p:cNvSpPr/>
            <p:nvPr/>
          </p:nvSpPr>
          <p:spPr>
            <a:xfrm>
              <a:off x="306449" y="3207152"/>
              <a:ext cx="256032" cy="256032"/>
            </a:xfrm>
            <a:prstGeom prst="ellipse">
              <a:avLst/>
            </a:prstGeom>
            <a:solidFill>
              <a:srgbClr val="009193"/>
            </a:solidFill>
            <a:ln w="25400">
              <a:solidFill>
                <a:srgbClr val="FFFFFF"/>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36" name="Text 38">
              <a:extLst>
                <a:ext uri="{FF2B5EF4-FFF2-40B4-BE49-F238E27FC236}">
                  <a16:creationId xmlns:a16="http://schemas.microsoft.com/office/drawing/2014/main" id="{6D4C1FA2-18AF-4D65-CD86-9C4624596692}"/>
                </a:ext>
              </a:extLst>
            </p:cNvPr>
            <p:cNvSpPr/>
            <p:nvPr/>
          </p:nvSpPr>
          <p:spPr>
            <a:xfrm>
              <a:off x="336958" y="3237661"/>
              <a:ext cx="191339" cy="191339"/>
            </a:xfrm>
            <a:prstGeom prst="rect">
              <a:avLst/>
            </a:prstGeom>
            <a:noFill/>
            <a:ln/>
          </p:spPr>
          <p:txBody>
            <a:bodyPr wrap="square" rtlCol="0" anchor="ctr"/>
            <a:lstStyle/>
            <a:p>
              <a:pPr algn="ctr" defTabSz="1219170">
                <a:buClrTx/>
              </a:pPr>
              <a:r>
                <a:rPr lang="es-ES_tradnl" sz="1600" b="1" kern="1200" dirty="0">
                  <a:solidFill>
                    <a:srgbClr val="FFFFFF"/>
                  </a:solidFill>
                  <a:latin typeface="Calibri" panose="020F0502020204030204" pitchFamily="34" charset="0"/>
                  <a:ea typeface="+mn-ea"/>
                  <a:cs typeface="Calibri" panose="020F0502020204030204" pitchFamily="34" charset="0"/>
                </a:rPr>
                <a:t>4</a:t>
              </a:r>
              <a:endParaRPr lang="es-ES_tradnl" sz="1600" kern="1200" dirty="0">
                <a:solidFill>
                  <a:prstClr val="black"/>
                </a:solidFill>
                <a:latin typeface="Calibri" panose="020F0502020204030204" pitchFamily="34" charset="0"/>
                <a:ea typeface="+mn-ea"/>
                <a:cs typeface="Calibri" panose="020F0502020204030204" pitchFamily="34" charset="0"/>
              </a:endParaRPr>
            </a:p>
          </p:txBody>
        </p:sp>
      </p:grpSp>
      <p:grpSp>
        <p:nvGrpSpPr>
          <p:cNvPr id="337" name="Group 336">
            <a:extLst>
              <a:ext uri="{FF2B5EF4-FFF2-40B4-BE49-F238E27FC236}">
                <a16:creationId xmlns:a16="http://schemas.microsoft.com/office/drawing/2014/main" id="{47C2183C-D92C-0218-0397-A82FF0205190}"/>
              </a:ext>
            </a:extLst>
          </p:cNvPr>
          <p:cNvGrpSpPr/>
          <p:nvPr/>
        </p:nvGrpSpPr>
        <p:grpSpPr>
          <a:xfrm>
            <a:off x="432274" y="7764254"/>
            <a:ext cx="341376" cy="341376"/>
            <a:chOff x="306449" y="3207152"/>
            <a:chExt cx="256032" cy="256032"/>
          </a:xfrm>
        </p:grpSpPr>
        <p:sp>
          <p:nvSpPr>
            <p:cNvPr id="338" name="Shape 37">
              <a:extLst>
                <a:ext uri="{FF2B5EF4-FFF2-40B4-BE49-F238E27FC236}">
                  <a16:creationId xmlns:a16="http://schemas.microsoft.com/office/drawing/2014/main" id="{A77CCA9F-3DCC-0393-6DCD-0EF30D303CCB}"/>
                </a:ext>
              </a:extLst>
            </p:cNvPr>
            <p:cNvSpPr/>
            <p:nvPr/>
          </p:nvSpPr>
          <p:spPr>
            <a:xfrm>
              <a:off x="306449" y="3207152"/>
              <a:ext cx="256032" cy="256032"/>
            </a:xfrm>
            <a:prstGeom prst="ellipse">
              <a:avLst/>
            </a:prstGeom>
            <a:solidFill>
              <a:srgbClr val="009193"/>
            </a:solidFill>
            <a:ln w="25400">
              <a:solidFill>
                <a:srgbClr val="FFFFFF"/>
              </a:solidFill>
              <a:prstDash val="solid"/>
            </a:ln>
          </p:spPr>
          <p:txBody>
            <a:bodyPr/>
            <a:lstStyle/>
            <a:p>
              <a:pPr defTabSz="1219170">
                <a:buClrTx/>
              </a:pP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39" name="Text 38">
              <a:extLst>
                <a:ext uri="{FF2B5EF4-FFF2-40B4-BE49-F238E27FC236}">
                  <a16:creationId xmlns:a16="http://schemas.microsoft.com/office/drawing/2014/main" id="{3FC75969-D3CB-C8DB-4B6F-FF51D8A6D653}"/>
                </a:ext>
              </a:extLst>
            </p:cNvPr>
            <p:cNvSpPr/>
            <p:nvPr/>
          </p:nvSpPr>
          <p:spPr>
            <a:xfrm>
              <a:off x="336958" y="3237661"/>
              <a:ext cx="191339" cy="191339"/>
            </a:xfrm>
            <a:prstGeom prst="rect">
              <a:avLst/>
            </a:prstGeom>
            <a:noFill/>
            <a:ln/>
          </p:spPr>
          <p:txBody>
            <a:bodyPr wrap="square" rtlCol="0" anchor="ctr"/>
            <a:lstStyle/>
            <a:p>
              <a:pPr algn="ctr" defTabSz="1219170">
                <a:buClrTx/>
              </a:pPr>
              <a:r>
                <a:rPr lang="es-ES_tradnl" sz="1600" b="1" kern="1200" dirty="0">
                  <a:solidFill>
                    <a:srgbClr val="FFFFFF"/>
                  </a:solidFill>
                  <a:latin typeface="Calibri" panose="020F0502020204030204" pitchFamily="34" charset="0"/>
                  <a:ea typeface="+mn-ea"/>
                  <a:cs typeface="Calibri" panose="020F0502020204030204" pitchFamily="34" charset="0"/>
                </a:rPr>
                <a:t>5</a:t>
              </a:r>
              <a:endParaRPr lang="es-ES_tradnl" sz="1600" kern="1200" dirty="0">
                <a:solidFill>
                  <a:prstClr val="black"/>
                </a:solidFill>
                <a:latin typeface="Calibri" panose="020F0502020204030204" pitchFamily="34" charset="0"/>
                <a:ea typeface="+mn-ea"/>
                <a:cs typeface="Calibri" panose="020F0502020204030204" pitchFamily="34" charset="0"/>
              </a:endParaRPr>
            </a:p>
          </p:txBody>
        </p:sp>
      </p:grpSp>
      <p:sp>
        <p:nvSpPr>
          <p:cNvPr id="340" name="TextBox 339">
            <a:extLst>
              <a:ext uri="{FF2B5EF4-FFF2-40B4-BE49-F238E27FC236}">
                <a16:creationId xmlns:a16="http://schemas.microsoft.com/office/drawing/2014/main" id="{DD88980D-C960-1F88-B54D-ECB34AD49954}"/>
              </a:ext>
            </a:extLst>
          </p:cNvPr>
          <p:cNvSpPr txBox="1"/>
          <p:nvPr/>
        </p:nvSpPr>
        <p:spPr>
          <a:xfrm>
            <a:off x="1147258" y="2080204"/>
            <a:ext cx="4092448" cy="461665"/>
          </a:xfrm>
          <a:prstGeom prst="rect">
            <a:avLst/>
          </a:prstGeom>
          <a:noFill/>
        </p:spPr>
        <p:txBody>
          <a:bodyPr wrap="square">
            <a:spAutoFit/>
          </a:bodyPr>
          <a:lstStyle/>
          <a:p>
            <a:pPr defTabSz="1219170">
              <a:buClrTx/>
            </a:pPr>
            <a:r>
              <a:rPr lang="es-ES_tradnl" sz="1200" kern="1200" dirty="0">
                <a:solidFill>
                  <a:srgbClr val="1F2A37"/>
                </a:solidFill>
                <a:latin typeface="Calibri" panose="020F0502020204030204" pitchFamily="34" charset="0"/>
                <a:ea typeface="Arial" pitchFamily="34" charset="-122"/>
                <a:cs typeface="Calibri" panose="020F0502020204030204" pitchFamily="34" charset="0"/>
              </a:rPr>
              <a:t>Ingresan al dataset de entrenamiento solo créditos con desarrollos completos de 12 meses o más.</a:t>
            </a:r>
            <a:endParaRPr lang="es-ES_tradnl" sz="2400" kern="1200" dirty="0">
              <a:solidFill>
                <a:prstClr val="black"/>
              </a:solidFill>
              <a:latin typeface="Calibri" panose="020F0502020204030204" pitchFamily="34" charset="0"/>
              <a:ea typeface="+mn-ea"/>
              <a:cs typeface="Calibri" panose="020F0502020204030204" pitchFamily="34" charset="0"/>
            </a:endParaRPr>
          </a:p>
        </p:txBody>
      </p:sp>
      <p:sp>
        <p:nvSpPr>
          <p:cNvPr id="341" name="TextBox 340">
            <a:extLst>
              <a:ext uri="{FF2B5EF4-FFF2-40B4-BE49-F238E27FC236}">
                <a16:creationId xmlns:a16="http://schemas.microsoft.com/office/drawing/2014/main" id="{824C6BE6-D4FE-28A5-5A1A-B75E59D8D089}"/>
              </a:ext>
            </a:extLst>
          </p:cNvPr>
          <p:cNvSpPr txBox="1"/>
          <p:nvPr/>
        </p:nvSpPr>
        <p:spPr>
          <a:xfrm>
            <a:off x="1089279" y="1731391"/>
            <a:ext cx="2187771" cy="318100"/>
          </a:xfrm>
          <a:prstGeom prst="rect">
            <a:avLst/>
          </a:prstGeom>
          <a:noFill/>
        </p:spPr>
        <p:txBody>
          <a:bodyPr wrap="square">
            <a:spAutoFit/>
          </a:bodyPr>
          <a:lstStyle/>
          <a:p>
            <a:pPr defTabSz="1219170">
              <a:buClrTx/>
            </a:pPr>
            <a:r>
              <a:rPr lang="es-ES_tradnl" sz="1467" b="1" kern="1200" dirty="0">
                <a:solidFill>
                  <a:srgbClr val="12294A"/>
                </a:solidFill>
                <a:latin typeface="Calibri" panose="020F0502020204030204" pitchFamily="34" charset="0"/>
                <a:ea typeface="Arial" pitchFamily="34" charset="-122"/>
                <a:cs typeface="Calibri" panose="020F0502020204030204" pitchFamily="34" charset="0"/>
              </a:rPr>
              <a:t>Datos desde 202301</a:t>
            </a:r>
            <a:endParaRPr lang="es-ES_tradnl" sz="1467" kern="1200" dirty="0">
              <a:solidFill>
                <a:prstClr val="black"/>
              </a:solidFill>
              <a:latin typeface="Calibri" panose="020F0502020204030204" pitchFamily="34" charset="0"/>
              <a:ea typeface="+mn-ea"/>
              <a:cs typeface="Calibri" panose="020F0502020204030204" pitchFamily="34" charset="0"/>
            </a:endParaRPr>
          </a:p>
        </p:txBody>
      </p:sp>
      <p:pic>
        <p:nvPicPr>
          <p:cNvPr id="342" name="Picture 341" descr="Database management ">
            <a:extLst>
              <a:ext uri="{FF2B5EF4-FFF2-40B4-BE49-F238E27FC236}">
                <a16:creationId xmlns:a16="http://schemas.microsoft.com/office/drawing/2014/main" id="{534A124E-977D-9375-8FDD-A57D8C32B664}"/>
              </a:ext>
            </a:extLst>
          </p:cNvPr>
          <p:cNvPicPr>
            <a:picLocks noChangeAspect="1"/>
          </p:cNvPicPr>
          <p:nvPr/>
        </p:nvPicPr>
        <p:blipFill>
          <a:blip r:embed="rId3">
            <a:duotone>
              <a:srgbClr val="5B9BD5">
                <a:shade val="45000"/>
                <a:satMod val="135000"/>
              </a:srgbClr>
              <a:prstClr val="white"/>
            </a:duotone>
          </a:blip>
          <a:stretch>
            <a:fillRect/>
          </a:stretch>
        </p:blipFill>
        <p:spPr>
          <a:xfrm>
            <a:off x="495935" y="1953874"/>
            <a:ext cx="520192" cy="520192"/>
          </a:xfrm>
          <a:prstGeom prst="rect">
            <a:avLst/>
          </a:prstGeom>
        </p:spPr>
      </p:pic>
      <p:sp>
        <p:nvSpPr>
          <p:cNvPr id="343" name="Text 10">
            <a:extLst>
              <a:ext uri="{FF2B5EF4-FFF2-40B4-BE49-F238E27FC236}">
                <a16:creationId xmlns:a16="http://schemas.microsoft.com/office/drawing/2014/main" id="{E170DA7C-CC69-A666-68EF-D3F70A85D669}"/>
              </a:ext>
            </a:extLst>
          </p:cNvPr>
          <p:cNvSpPr/>
          <p:nvPr/>
        </p:nvSpPr>
        <p:spPr>
          <a:xfrm>
            <a:off x="4186611" y="2985086"/>
            <a:ext cx="1092653" cy="316992"/>
          </a:xfrm>
          <a:prstGeom prst="rect">
            <a:avLst/>
          </a:prstGeom>
          <a:noFill/>
          <a:ln/>
        </p:spPr>
        <p:txBody>
          <a:bodyPr wrap="square" rtlCol="0" anchor="t"/>
          <a:lstStyle/>
          <a:p>
            <a:pPr defTabSz="1219170">
              <a:buClrTx/>
            </a:pPr>
            <a:endParaRPr lang="es-ES_tradnl" sz="1333" kern="1200" dirty="0">
              <a:solidFill>
                <a:prstClr val="black"/>
              </a:solidFill>
              <a:latin typeface="Calibri" panose="020F0502020204030204" pitchFamily="34" charset="0"/>
              <a:ea typeface="+mn-ea"/>
              <a:cs typeface="Calibri" panose="020F0502020204030204" pitchFamily="34" charset="0"/>
            </a:endParaRPr>
          </a:p>
        </p:txBody>
      </p:sp>
      <p:sp>
        <p:nvSpPr>
          <p:cNvPr id="344" name="TextBox 343">
            <a:extLst>
              <a:ext uri="{FF2B5EF4-FFF2-40B4-BE49-F238E27FC236}">
                <a16:creationId xmlns:a16="http://schemas.microsoft.com/office/drawing/2014/main" id="{DBE8C8F6-02BB-CFBA-DAC1-245008399EC5}"/>
              </a:ext>
            </a:extLst>
          </p:cNvPr>
          <p:cNvSpPr txBox="1"/>
          <p:nvPr/>
        </p:nvSpPr>
        <p:spPr>
          <a:xfrm>
            <a:off x="4023484" y="2963679"/>
            <a:ext cx="1377087" cy="276999"/>
          </a:xfrm>
          <a:prstGeom prst="rect">
            <a:avLst/>
          </a:prstGeom>
          <a:noFill/>
        </p:spPr>
        <p:txBody>
          <a:bodyPr wrap="square">
            <a:spAutoFit/>
          </a:bodyPr>
          <a:lstStyle/>
          <a:p>
            <a:pPr defTabSz="1219170">
              <a:buClrTx/>
            </a:pPr>
            <a:r>
              <a:rPr lang="es-ES_tradnl" sz="1200" b="1" kern="1200" dirty="0">
                <a:solidFill>
                  <a:srgbClr val="009193"/>
                </a:solidFill>
                <a:latin typeface="Calibri" panose="020F0502020204030204" pitchFamily="34" charset="0"/>
                <a:ea typeface="Arial" pitchFamily="34" charset="-122"/>
                <a:cs typeface="Calibri" panose="020F0502020204030204" pitchFamily="34" charset="0"/>
              </a:rPr>
              <a:t>Ingresa al dataset</a:t>
            </a:r>
            <a:endParaRPr lang="es-ES_tradnl" sz="1200" kern="1200" dirty="0">
              <a:solidFill>
                <a:srgbClr val="009193"/>
              </a:solidFill>
              <a:latin typeface="Calibri" panose="020F0502020204030204" pitchFamily="34" charset="0"/>
              <a:ea typeface="+mn-ea"/>
              <a:cs typeface="Calibri" panose="020F0502020204030204" pitchFamily="34" charset="0"/>
            </a:endParaRPr>
          </a:p>
        </p:txBody>
      </p:sp>
      <p:sp>
        <p:nvSpPr>
          <p:cNvPr id="345" name="TextBox 344">
            <a:extLst>
              <a:ext uri="{FF2B5EF4-FFF2-40B4-BE49-F238E27FC236}">
                <a16:creationId xmlns:a16="http://schemas.microsoft.com/office/drawing/2014/main" id="{5F5E9FF2-9125-D6BA-D3A4-278B395188F8}"/>
              </a:ext>
            </a:extLst>
          </p:cNvPr>
          <p:cNvSpPr txBox="1"/>
          <p:nvPr/>
        </p:nvSpPr>
        <p:spPr>
          <a:xfrm>
            <a:off x="367919" y="2807020"/>
            <a:ext cx="1387856" cy="451342"/>
          </a:xfrm>
          <a:prstGeom prst="rect">
            <a:avLst/>
          </a:prstGeom>
          <a:noFill/>
        </p:spPr>
        <p:txBody>
          <a:bodyPr wrap="square">
            <a:spAutoFit/>
          </a:bodyPr>
          <a:lstStyle/>
          <a:p>
            <a:pPr defTabSz="1219170">
              <a:buClrTx/>
            </a:pPr>
            <a:r>
              <a:rPr lang="es-ES_tradnl" sz="1200" b="1" kern="1200" dirty="0">
                <a:solidFill>
                  <a:srgbClr val="2E8B4F"/>
                </a:solidFill>
                <a:latin typeface="Calibri" panose="020F0502020204030204" pitchFamily="34" charset="0"/>
                <a:ea typeface="Arial" pitchFamily="34" charset="-122"/>
                <a:cs typeface="Calibri" panose="020F0502020204030204" pitchFamily="34" charset="0"/>
              </a:rPr>
              <a:t>✓  </a:t>
            </a:r>
            <a:r>
              <a:rPr lang="es-ES_tradnl" sz="1133" kern="1200" dirty="0">
                <a:solidFill>
                  <a:srgbClr val="1F2A37"/>
                </a:solidFill>
                <a:latin typeface="Calibri" panose="020F0502020204030204" pitchFamily="34" charset="0"/>
                <a:ea typeface="Arial" pitchFamily="34" charset="-122"/>
                <a:cs typeface="Calibri" panose="020F0502020204030204" pitchFamily="34" charset="0"/>
              </a:rPr>
              <a:t>Desarrollo 12 meses o más</a:t>
            </a:r>
            <a:endParaRPr lang="es-ES_tradnl" sz="1200" kern="1200" dirty="0">
              <a:solidFill>
                <a:prstClr val="black"/>
              </a:solidFill>
              <a:latin typeface="Calibri" panose="020F0502020204030204" pitchFamily="34" charset="0"/>
              <a:ea typeface="+mn-ea"/>
              <a:cs typeface="Calibri" panose="020F0502020204030204" pitchFamily="34" charset="0"/>
            </a:endParaRPr>
          </a:p>
        </p:txBody>
      </p:sp>
      <p:sp>
        <p:nvSpPr>
          <p:cNvPr id="346" name="TextBox 345">
            <a:extLst>
              <a:ext uri="{FF2B5EF4-FFF2-40B4-BE49-F238E27FC236}">
                <a16:creationId xmlns:a16="http://schemas.microsoft.com/office/drawing/2014/main" id="{2315A198-F1C3-D501-25A8-598DE6768581}"/>
              </a:ext>
            </a:extLst>
          </p:cNvPr>
          <p:cNvSpPr txBox="1"/>
          <p:nvPr/>
        </p:nvSpPr>
        <p:spPr>
          <a:xfrm>
            <a:off x="3216100" y="3213969"/>
            <a:ext cx="2149120" cy="461665"/>
          </a:xfrm>
          <a:prstGeom prst="rect">
            <a:avLst/>
          </a:prstGeom>
          <a:noFill/>
        </p:spPr>
        <p:txBody>
          <a:bodyPr wrap="square">
            <a:spAutoFit/>
          </a:bodyPr>
          <a:lstStyle/>
          <a:p>
            <a:pPr defTabSz="1219170">
              <a:buClrTx/>
            </a:pPr>
            <a:r>
              <a:rPr lang="es-ES_tradnl" sz="1200" b="1" kern="1200" dirty="0">
                <a:solidFill>
                  <a:srgbClr val="C0392B"/>
                </a:solidFill>
                <a:latin typeface="Calibri" panose="020F0502020204030204" pitchFamily="34" charset="0"/>
                <a:ea typeface="Arial" pitchFamily="34" charset="-122"/>
                <a:cs typeface="Calibri" panose="020F0502020204030204" pitchFamily="34" charset="0"/>
              </a:rPr>
              <a:t>No ingresa </a:t>
            </a:r>
          </a:p>
          <a:p>
            <a:pPr defTabSz="1219170">
              <a:buClrTx/>
            </a:pPr>
            <a:r>
              <a:rPr lang="es-ES_tradnl" sz="1200" kern="1200" dirty="0">
                <a:solidFill>
                  <a:prstClr val="black"/>
                </a:solidFill>
                <a:latin typeface="Calibri" panose="020F0502020204030204" pitchFamily="34" charset="0"/>
                <a:ea typeface="Arial" pitchFamily="34" charset="-122"/>
                <a:cs typeface="Calibri" panose="020F0502020204030204" pitchFamily="34" charset="0"/>
              </a:rPr>
              <a:t>(no tiene 12 meses completos)</a:t>
            </a:r>
            <a:endParaRPr lang="es-ES_tradnl" sz="1200" kern="1200" dirty="0">
              <a:solidFill>
                <a:prstClr val="black"/>
              </a:solidFill>
              <a:latin typeface="Calibri" panose="020F0502020204030204" pitchFamily="34" charset="0"/>
              <a:ea typeface="+mn-ea"/>
              <a:cs typeface="Calibri" panose="020F0502020204030204" pitchFamily="34" charset="0"/>
            </a:endParaRPr>
          </a:p>
        </p:txBody>
      </p:sp>
      <p:sp>
        <p:nvSpPr>
          <p:cNvPr id="347" name="TextBox 346">
            <a:extLst>
              <a:ext uri="{FF2B5EF4-FFF2-40B4-BE49-F238E27FC236}">
                <a16:creationId xmlns:a16="http://schemas.microsoft.com/office/drawing/2014/main" id="{F8F6749C-5112-630B-389E-3B0A2F613414}"/>
              </a:ext>
            </a:extLst>
          </p:cNvPr>
          <p:cNvSpPr txBox="1"/>
          <p:nvPr/>
        </p:nvSpPr>
        <p:spPr>
          <a:xfrm>
            <a:off x="1396147" y="3744357"/>
            <a:ext cx="2985355" cy="433067"/>
          </a:xfrm>
          <a:prstGeom prst="rect">
            <a:avLst/>
          </a:prstGeom>
          <a:noFill/>
        </p:spPr>
        <p:txBody>
          <a:bodyPr wrap="square">
            <a:spAutoFit/>
          </a:bodyPr>
          <a:lstStyle/>
          <a:p>
            <a:pPr defTabSz="1219170">
              <a:buClrTx/>
            </a:pPr>
            <a:r>
              <a:rPr lang="es-ES_tradnl" sz="1107" kern="1200" dirty="0">
                <a:solidFill>
                  <a:srgbClr val="12294A"/>
                </a:solidFill>
                <a:latin typeface="Calibri" panose="020F0502020204030204" pitchFamily="34" charset="0"/>
                <a:ea typeface="Arial" pitchFamily="34" charset="-122"/>
                <a:cs typeface="Calibri" panose="020F0502020204030204" pitchFamily="34" charset="0"/>
              </a:rPr>
              <a:t>Base histórica utilizada para el entrenamiento: </a:t>
            </a:r>
          </a:p>
          <a:p>
            <a:pPr defTabSz="1219170">
              <a:buClrTx/>
            </a:pPr>
            <a:r>
              <a:rPr lang="es-ES_tradnl" sz="1107" kern="1200" dirty="0">
                <a:solidFill>
                  <a:srgbClr val="12294A"/>
                </a:solidFill>
                <a:latin typeface="Calibri" panose="020F0502020204030204" pitchFamily="34" charset="0"/>
                <a:ea typeface="Arial" pitchFamily="34" charset="-122"/>
                <a:cs typeface="Calibri" panose="020F0502020204030204" pitchFamily="34" charset="0"/>
              </a:rPr>
              <a:t>desde 202301 en adelante.</a:t>
            </a:r>
            <a:endParaRPr lang="es-ES_tradnl" sz="1107" kern="1200" dirty="0">
              <a:solidFill>
                <a:prstClr val="black"/>
              </a:solidFill>
              <a:latin typeface="Calibri" panose="020F0502020204030204" pitchFamily="34" charset="0"/>
              <a:ea typeface="+mn-ea"/>
              <a:cs typeface="Calibri" panose="020F0502020204030204" pitchFamily="34" charset="0"/>
            </a:endParaRPr>
          </a:p>
        </p:txBody>
      </p:sp>
      <p:cxnSp>
        <p:nvCxnSpPr>
          <p:cNvPr id="348" name="Straight Arrow Connector 347">
            <a:extLst>
              <a:ext uri="{FF2B5EF4-FFF2-40B4-BE49-F238E27FC236}">
                <a16:creationId xmlns:a16="http://schemas.microsoft.com/office/drawing/2014/main" id="{D864688B-9E86-7971-D34D-DD02CC95A285}"/>
              </a:ext>
            </a:extLst>
          </p:cNvPr>
          <p:cNvCxnSpPr>
            <a:cxnSpLocks/>
          </p:cNvCxnSpPr>
          <p:nvPr/>
        </p:nvCxnSpPr>
        <p:spPr>
          <a:xfrm>
            <a:off x="2024290" y="3167257"/>
            <a:ext cx="2068285" cy="0"/>
          </a:xfrm>
          <a:prstGeom prst="straightConnector1">
            <a:avLst/>
          </a:prstGeom>
          <a:noFill/>
          <a:ln w="12700" cap="flat" cmpd="sng" algn="ctr">
            <a:solidFill>
              <a:srgbClr val="009193"/>
            </a:solidFill>
            <a:prstDash val="solid"/>
            <a:miter lim="800000"/>
            <a:tailEnd type="triangle"/>
          </a:ln>
          <a:effectLst/>
        </p:spPr>
      </p:cxnSp>
      <p:sp>
        <p:nvSpPr>
          <p:cNvPr id="349" name="Oval 348">
            <a:extLst>
              <a:ext uri="{FF2B5EF4-FFF2-40B4-BE49-F238E27FC236}">
                <a16:creationId xmlns:a16="http://schemas.microsoft.com/office/drawing/2014/main" id="{1611C9A4-0455-E979-125C-D627109E28A0}"/>
              </a:ext>
            </a:extLst>
          </p:cNvPr>
          <p:cNvSpPr/>
          <p:nvPr/>
        </p:nvSpPr>
        <p:spPr>
          <a:xfrm>
            <a:off x="2024290" y="3130681"/>
            <a:ext cx="73152" cy="73152"/>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0" name="Oval 349">
            <a:extLst>
              <a:ext uri="{FF2B5EF4-FFF2-40B4-BE49-F238E27FC236}">
                <a16:creationId xmlns:a16="http://schemas.microsoft.com/office/drawing/2014/main" id="{997205B4-D35E-A743-1A33-957D40E58B45}"/>
              </a:ext>
            </a:extLst>
          </p:cNvPr>
          <p:cNvSpPr/>
          <p:nvPr/>
        </p:nvSpPr>
        <p:spPr>
          <a:xfrm>
            <a:off x="2237557" y="3136779"/>
            <a:ext cx="60959" cy="60959"/>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1" name="Oval 350">
            <a:extLst>
              <a:ext uri="{FF2B5EF4-FFF2-40B4-BE49-F238E27FC236}">
                <a16:creationId xmlns:a16="http://schemas.microsoft.com/office/drawing/2014/main" id="{E45FA356-681F-A8F2-1FD1-80F3A16D40EA}"/>
              </a:ext>
            </a:extLst>
          </p:cNvPr>
          <p:cNvSpPr/>
          <p:nvPr/>
        </p:nvSpPr>
        <p:spPr>
          <a:xfrm>
            <a:off x="2438630" y="3130681"/>
            <a:ext cx="73152" cy="73152"/>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2" name="Oval 351">
            <a:extLst>
              <a:ext uri="{FF2B5EF4-FFF2-40B4-BE49-F238E27FC236}">
                <a16:creationId xmlns:a16="http://schemas.microsoft.com/office/drawing/2014/main" id="{66127533-318D-5099-D185-84585364A31E}"/>
              </a:ext>
            </a:extLst>
          </p:cNvPr>
          <p:cNvSpPr/>
          <p:nvPr/>
        </p:nvSpPr>
        <p:spPr>
          <a:xfrm>
            <a:off x="2651897" y="3136779"/>
            <a:ext cx="60959" cy="60959"/>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3" name="Oval 352">
            <a:extLst>
              <a:ext uri="{FF2B5EF4-FFF2-40B4-BE49-F238E27FC236}">
                <a16:creationId xmlns:a16="http://schemas.microsoft.com/office/drawing/2014/main" id="{8B4F5FFF-3984-3B1D-1C4C-B1A249B313F5}"/>
              </a:ext>
            </a:extLst>
          </p:cNvPr>
          <p:cNvSpPr/>
          <p:nvPr/>
        </p:nvSpPr>
        <p:spPr>
          <a:xfrm>
            <a:off x="2852970" y="3130681"/>
            <a:ext cx="73152" cy="73152"/>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4" name="Oval 353">
            <a:extLst>
              <a:ext uri="{FF2B5EF4-FFF2-40B4-BE49-F238E27FC236}">
                <a16:creationId xmlns:a16="http://schemas.microsoft.com/office/drawing/2014/main" id="{4F0AE748-E1D6-B2D1-25B3-C3A2E7ACA031}"/>
              </a:ext>
            </a:extLst>
          </p:cNvPr>
          <p:cNvSpPr/>
          <p:nvPr/>
        </p:nvSpPr>
        <p:spPr>
          <a:xfrm>
            <a:off x="3066237" y="3136779"/>
            <a:ext cx="60959" cy="60959"/>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5" name="Oval 354">
            <a:extLst>
              <a:ext uri="{FF2B5EF4-FFF2-40B4-BE49-F238E27FC236}">
                <a16:creationId xmlns:a16="http://schemas.microsoft.com/office/drawing/2014/main" id="{99F1F911-4817-2DD0-381B-8C73C711042D}"/>
              </a:ext>
            </a:extLst>
          </p:cNvPr>
          <p:cNvSpPr/>
          <p:nvPr/>
        </p:nvSpPr>
        <p:spPr>
          <a:xfrm>
            <a:off x="3267310" y="3130681"/>
            <a:ext cx="73152" cy="73152"/>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6" name="Oval 355">
            <a:extLst>
              <a:ext uri="{FF2B5EF4-FFF2-40B4-BE49-F238E27FC236}">
                <a16:creationId xmlns:a16="http://schemas.microsoft.com/office/drawing/2014/main" id="{0C0F3BEE-8462-381E-3A94-BA3A75B75DEF}"/>
              </a:ext>
            </a:extLst>
          </p:cNvPr>
          <p:cNvSpPr/>
          <p:nvPr/>
        </p:nvSpPr>
        <p:spPr>
          <a:xfrm>
            <a:off x="3480577" y="3136779"/>
            <a:ext cx="60959" cy="60959"/>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7" name="Oval 356">
            <a:extLst>
              <a:ext uri="{FF2B5EF4-FFF2-40B4-BE49-F238E27FC236}">
                <a16:creationId xmlns:a16="http://schemas.microsoft.com/office/drawing/2014/main" id="{D1C2E534-0DFB-FD8E-A0B2-A4EF2371609B}"/>
              </a:ext>
            </a:extLst>
          </p:cNvPr>
          <p:cNvSpPr/>
          <p:nvPr/>
        </p:nvSpPr>
        <p:spPr>
          <a:xfrm>
            <a:off x="3681650" y="3130681"/>
            <a:ext cx="73152" cy="73152"/>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8" name="Oval 357">
            <a:extLst>
              <a:ext uri="{FF2B5EF4-FFF2-40B4-BE49-F238E27FC236}">
                <a16:creationId xmlns:a16="http://schemas.microsoft.com/office/drawing/2014/main" id="{5C487BC2-F6E7-2E63-0F38-CC7DFF0A65D9}"/>
              </a:ext>
            </a:extLst>
          </p:cNvPr>
          <p:cNvSpPr/>
          <p:nvPr/>
        </p:nvSpPr>
        <p:spPr>
          <a:xfrm>
            <a:off x="3894916" y="3136779"/>
            <a:ext cx="60959" cy="60959"/>
          </a:xfrm>
          <a:prstGeom prst="ellipse">
            <a:avLst/>
          </a:prstGeom>
          <a:solidFill>
            <a:srgbClr val="009193"/>
          </a:solidFill>
          <a:ln w="12700" cap="flat" cmpd="sng" algn="ctr">
            <a:solidFill>
              <a:srgbClr val="009193"/>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59" name="Straight Connector 358">
            <a:extLst>
              <a:ext uri="{FF2B5EF4-FFF2-40B4-BE49-F238E27FC236}">
                <a16:creationId xmlns:a16="http://schemas.microsoft.com/office/drawing/2014/main" id="{5B1A3093-8DD2-5ADE-70B4-9A807A74A6E7}"/>
              </a:ext>
            </a:extLst>
          </p:cNvPr>
          <p:cNvCxnSpPr>
            <a:cxnSpLocks/>
          </p:cNvCxnSpPr>
          <p:nvPr/>
        </p:nvCxnSpPr>
        <p:spPr>
          <a:xfrm>
            <a:off x="2056106" y="2950712"/>
            <a:ext cx="0" cy="212956"/>
          </a:xfrm>
          <a:prstGeom prst="line">
            <a:avLst/>
          </a:prstGeom>
          <a:noFill/>
          <a:ln w="6350" cap="flat" cmpd="sng" algn="ctr">
            <a:solidFill>
              <a:srgbClr val="009193"/>
            </a:solidFill>
            <a:prstDash val="sysDash"/>
            <a:miter lim="800000"/>
          </a:ln>
          <a:effectLst/>
        </p:spPr>
      </p:cxnSp>
      <p:sp>
        <p:nvSpPr>
          <p:cNvPr id="360" name="TextBox 359">
            <a:extLst>
              <a:ext uri="{FF2B5EF4-FFF2-40B4-BE49-F238E27FC236}">
                <a16:creationId xmlns:a16="http://schemas.microsoft.com/office/drawing/2014/main" id="{17E61C4D-AB17-C0AA-E869-7D1FB3AC7FFF}"/>
              </a:ext>
            </a:extLst>
          </p:cNvPr>
          <p:cNvSpPr txBox="1"/>
          <p:nvPr/>
        </p:nvSpPr>
        <p:spPr>
          <a:xfrm>
            <a:off x="1759606" y="2715062"/>
            <a:ext cx="679024" cy="256545"/>
          </a:xfrm>
          <a:prstGeom prst="rect">
            <a:avLst/>
          </a:prstGeom>
          <a:noFill/>
        </p:spPr>
        <p:txBody>
          <a:bodyPr wrap="square">
            <a:spAutoFit/>
          </a:bodyPr>
          <a:lstStyle/>
          <a:p>
            <a:pPr defTabSz="1219170">
              <a:buClrTx/>
            </a:pPr>
            <a:r>
              <a:rPr lang="es-ES_tradnl" sz="1067" b="1" kern="1200" dirty="0">
                <a:solidFill>
                  <a:srgbClr val="009193"/>
                </a:solidFill>
                <a:latin typeface="Calibri" panose="020F0502020204030204" pitchFamily="34" charset="0"/>
                <a:ea typeface="Arial" pitchFamily="34" charset="-122"/>
                <a:cs typeface="Calibri" panose="020F0502020204030204" pitchFamily="34" charset="0"/>
              </a:rPr>
              <a:t>202301</a:t>
            </a:r>
            <a:endParaRPr lang="es-ES_tradnl" sz="1067" kern="1200" dirty="0">
              <a:solidFill>
                <a:srgbClr val="009193"/>
              </a:solidFill>
              <a:latin typeface="Calibri" panose="020F0502020204030204" pitchFamily="34" charset="0"/>
              <a:ea typeface="+mn-ea"/>
              <a:cs typeface="Calibri" panose="020F0502020204030204" pitchFamily="34" charset="0"/>
            </a:endParaRPr>
          </a:p>
        </p:txBody>
      </p:sp>
      <p:sp>
        <p:nvSpPr>
          <p:cNvPr id="361" name="Right Brace 360">
            <a:extLst>
              <a:ext uri="{FF2B5EF4-FFF2-40B4-BE49-F238E27FC236}">
                <a16:creationId xmlns:a16="http://schemas.microsoft.com/office/drawing/2014/main" id="{CDD86DE1-4A30-364F-78F5-2055A3F323F2}"/>
              </a:ext>
            </a:extLst>
          </p:cNvPr>
          <p:cNvSpPr/>
          <p:nvPr/>
        </p:nvSpPr>
        <p:spPr>
          <a:xfrm rot="16200000">
            <a:off x="3093814" y="2286580"/>
            <a:ext cx="215052" cy="1452269"/>
          </a:xfrm>
          <a:prstGeom prst="rightBrace">
            <a:avLst/>
          </a:prstGeom>
          <a:noFill/>
          <a:ln w="6350" cap="flat" cmpd="sng" algn="ctr">
            <a:solidFill>
              <a:srgbClr val="009193"/>
            </a:solidFill>
            <a:prstDash val="sysDash"/>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2" name="TextBox 361">
            <a:extLst>
              <a:ext uri="{FF2B5EF4-FFF2-40B4-BE49-F238E27FC236}">
                <a16:creationId xmlns:a16="http://schemas.microsoft.com/office/drawing/2014/main" id="{7ED73656-113A-F229-9D3A-2E35448AEE4C}"/>
              </a:ext>
            </a:extLst>
          </p:cNvPr>
          <p:cNvSpPr txBox="1"/>
          <p:nvPr/>
        </p:nvSpPr>
        <p:spPr>
          <a:xfrm>
            <a:off x="2833946" y="2698159"/>
            <a:ext cx="789927" cy="256545"/>
          </a:xfrm>
          <a:prstGeom prst="rect">
            <a:avLst/>
          </a:prstGeom>
          <a:noFill/>
        </p:spPr>
        <p:txBody>
          <a:bodyPr wrap="square">
            <a:spAutoFit/>
          </a:bodyPr>
          <a:lstStyle/>
          <a:p>
            <a:pPr defTabSz="1219170">
              <a:buClrTx/>
            </a:pPr>
            <a:r>
              <a:rPr lang="es-ES_tradnl" sz="1067" b="1" kern="1200" dirty="0">
                <a:solidFill>
                  <a:srgbClr val="009193"/>
                </a:solidFill>
                <a:latin typeface="Calibri" panose="020F0502020204030204" pitchFamily="34" charset="0"/>
                <a:ea typeface="Arial" pitchFamily="34" charset="-122"/>
                <a:cs typeface="Calibri" panose="020F0502020204030204" pitchFamily="34" charset="0"/>
              </a:rPr>
              <a:t>12 meses</a:t>
            </a:r>
            <a:endParaRPr lang="es-ES_tradnl" sz="1067" kern="1200" dirty="0">
              <a:solidFill>
                <a:srgbClr val="009193"/>
              </a:solidFill>
              <a:latin typeface="Calibri" panose="020F0502020204030204" pitchFamily="34" charset="0"/>
              <a:ea typeface="+mn-ea"/>
              <a:cs typeface="Calibri" panose="020F0502020204030204" pitchFamily="34" charset="0"/>
            </a:endParaRPr>
          </a:p>
        </p:txBody>
      </p:sp>
      <p:cxnSp>
        <p:nvCxnSpPr>
          <p:cNvPr id="363" name="Straight Arrow Connector 362">
            <a:extLst>
              <a:ext uri="{FF2B5EF4-FFF2-40B4-BE49-F238E27FC236}">
                <a16:creationId xmlns:a16="http://schemas.microsoft.com/office/drawing/2014/main" id="{85CC76E9-BC7E-C247-12D4-02428C806880}"/>
              </a:ext>
            </a:extLst>
          </p:cNvPr>
          <p:cNvCxnSpPr>
            <a:cxnSpLocks/>
          </p:cNvCxnSpPr>
          <p:nvPr/>
        </p:nvCxnSpPr>
        <p:spPr>
          <a:xfrm>
            <a:off x="2020057" y="3500629"/>
            <a:ext cx="1115447" cy="0"/>
          </a:xfrm>
          <a:prstGeom prst="straightConnector1">
            <a:avLst/>
          </a:prstGeom>
          <a:noFill/>
          <a:ln w="12700" cap="flat" cmpd="sng" algn="ctr">
            <a:solidFill>
              <a:srgbClr val="C00000"/>
            </a:solidFill>
            <a:prstDash val="solid"/>
            <a:miter lim="800000"/>
            <a:tailEnd type="triangle"/>
          </a:ln>
          <a:effectLst/>
        </p:spPr>
      </p:cxnSp>
      <p:sp>
        <p:nvSpPr>
          <p:cNvPr id="364" name="Oval 363">
            <a:extLst>
              <a:ext uri="{FF2B5EF4-FFF2-40B4-BE49-F238E27FC236}">
                <a16:creationId xmlns:a16="http://schemas.microsoft.com/office/drawing/2014/main" id="{C12A6D94-A62F-7D6C-0E6C-5B2B325FED8F}"/>
              </a:ext>
            </a:extLst>
          </p:cNvPr>
          <p:cNvSpPr/>
          <p:nvPr/>
        </p:nvSpPr>
        <p:spPr>
          <a:xfrm>
            <a:off x="2020056" y="3464053"/>
            <a:ext cx="73152" cy="73152"/>
          </a:xfrm>
          <a:prstGeom prst="ellipse">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5" name="Oval 364">
            <a:extLst>
              <a:ext uri="{FF2B5EF4-FFF2-40B4-BE49-F238E27FC236}">
                <a16:creationId xmlns:a16="http://schemas.microsoft.com/office/drawing/2014/main" id="{AD8E40E2-4633-F0C6-A5BE-FAC160569800}"/>
              </a:ext>
            </a:extLst>
          </p:cNvPr>
          <p:cNvSpPr/>
          <p:nvPr/>
        </p:nvSpPr>
        <p:spPr>
          <a:xfrm>
            <a:off x="2233324" y="3470151"/>
            <a:ext cx="60959" cy="60959"/>
          </a:xfrm>
          <a:prstGeom prst="ellipse">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6" name="Oval 365">
            <a:extLst>
              <a:ext uri="{FF2B5EF4-FFF2-40B4-BE49-F238E27FC236}">
                <a16:creationId xmlns:a16="http://schemas.microsoft.com/office/drawing/2014/main" id="{BD8D0D08-2D26-34AC-9C17-54E57EB46520}"/>
              </a:ext>
            </a:extLst>
          </p:cNvPr>
          <p:cNvSpPr/>
          <p:nvPr/>
        </p:nvSpPr>
        <p:spPr>
          <a:xfrm>
            <a:off x="2434396" y="3464053"/>
            <a:ext cx="73152" cy="73152"/>
          </a:xfrm>
          <a:prstGeom prst="ellipse">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7" name="Oval 366">
            <a:extLst>
              <a:ext uri="{FF2B5EF4-FFF2-40B4-BE49-F238E27FC236}">
                <a16:creationId xmlns:a16="http://schemas.microsoft.com/office/drawing/2014/main" id="{3F9CDC35-E7E6-D147-D6D6-8D9CB76B21C3}"/>
              </a:ext>
            </a:extLst>
          </p:cNvPr>
          <p:cNvSpPr/>
          <p:nvPr/>
        </p:nvSpPr>
        <p:spPr>
          <a:xfrm>
            <a:off x="2647664" y="3470151"/>
            <a:ext cx="60959" cy="60959"/>
          </a:xfrm>
          <a:prstGeom prst="ellipse">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68" name="Straight Arrow Connector 367">
            <a:extLst>
              <a:ext uri="{FF2B5EF4-FFF2-40B4-BE49-F238E27FC236}">
                <a16:creationId xmlns:a16="http://schemas.microsoft.com/office/drawing/2014/main" id="{661A3081-2FCB-516B-3561-0BBC18EAA698}"/>
              </a:ext>
            </a:extLst>
          </p:cNvPr>
          <p:cNvCxnSpPr>
            <a:cxnSpLocks/>
          </p:cNvCxnSpPr>
          <p:nvPr/>
        </p:nvCxnSpPr>
        <p:spPr>
          <a:xfrm>
            <a:off x="2712855" y="3499274"/>
            <a:ext cx="422995" cy="0"/>
          </a:xfrm>
          <a:prstGeom prst="straightConnector1">
            <a:avLst/>
          </a:prstGeom>
          <a:noFill/>
          <a:ln w="12700" cap="flat" cmpd="sng" algn="ctr">
            <a:solidFill>
              <a:sysClr val="windowText" lastClr="000000"/>
            </a:solidFill>
            <a:prstDash val="solid"/>
            <a:miter lim="800000"/>
            <a:tailEnd type="triangle"/>
          </a:ln>
          <a:effectLst/>
        </p:spPr>
      </p:cxnSp>
      <p:pic>
        <p:nvPicPr>
          <p:cNvPr id="369" name="Picture 368" descr="Settings ">
            <a:extLst>
              <a:ext uri="{FF2B5EF4-FFF2-40B4-BE49-F238E27FC236}">
                <a16:creationId xmlns:a16="http://schemas.microsoft.com/office/drawing/2014/main" id="{02AF65D5-90C0-A874-97B5-2F996BB12B0D}"/>
              </a:ext>
            </a:extLst>
          </p:cNvPr>
          <p:cNvPicPr>
            <a:picLocks noChangeAspect="1"/>
          </p:cNvPicPr>
          <p:nvPr/>
        </p:nvPicPr>
        <p:blipFill>
          <a:blip r:embed="rId4">
            <a:duotone>
              <a:srgbClr val="5B9BD5">
                <a:shade val="45000"/>
                <a:satMod val="135000"/>
              </a:srgbClr>
              <a:prstClr val="white"/>
            </a:duotone>
          </a:blip>
          <a:stretch>
            <a:fillRect/>
          </a:stretch>
        </p:blipFill>
        <p:spPr>
          <a:xfrm>
            <a:off x="5776662" y="1810682"/>
            <a:ext cx="539637" cy="539637"/>
          </a:xfrm>
          <a:prstGeom prst="rect">
            <a:avLst/>
          </a:prstGeom>
        </p:spPr>
      </p:pic>
      <p:sp>
        <p:nvSpPr>
          <p:cNvPr id="370" name="TextBox 369">
            <a:extLst>
              <a:ext uri="{FF2B5EF4-FFF2-40B4-BE49-F238E27FC236}">
                <a16:creationId xmlns:a16="http://schemas.microsoft.com/office/drawing/2014/main" id="{48B1F81B-F788-E308-3901-1C13C18C02DF}"/>
              </a:ext>
            </a:extLst>
          </p:cNvPr>
          <p:cNvSpPr txBox="1"/>
          <p:nvPr/>
        </p:nvSpPr>
        <p:spPr>
          <a:xfrm>
            <a:off x="6541388" y="1774107"/>
            <a:ext cx="4049523" cy="482312"/>
          </a:xfrm>
          <a:prstGeom prst="rect">
            <a:avLst/>
          </a:prstGeom>
          <a:noFill/>
        </p:spPr>
        <p:txBody>
          <a:bodyPr wrap="square">
            <a:spAutoFit/>
          </a:bodyPr>
          <a:lstStyle/>
          <a:p>
            <a:pPr defTabSz="1219170">
              <a:buClrTx/>
            </a:pPr>
            <a:r>
              <a:rPr lang="es-ES_tradnl" sz="1267" kern="1200" dirty="0">
                <a:solidFill>
                  <a:srgbClr val="1F2A37"/>
                </a:solidFill>
                <a:latin typeface="Calibri" panose="020F0502020204030204" pitchFamily="34" charset="0"/>
                <a:ea typeface="Arial" pitchFamily="34" charset="-122"/>
                <a:cs typeface="Calibri" panose="020F0502020204030204" pitchFamily="34" charset="0"/>
              </a:rPr>
              <a:t>IBK calibra los modelos de PD Origen utilizando </a:t>
            </a:r>
            <a:r>
              <a:rPr lang="es-ES_tradnl" sz="1267" b="1" kern="1200" dirty="0">
                <a:solidFill>
                  <a:srgbClr val="009193"/>
                </a:solidFill>
                <a:latin typeface="Calibri" panose="020F0502020204030204" pitchFamily="34" charset="0"/>
                <a:ea typeface="Arial" pitchFamily="34" charset="-122"/>
                <a:cs typeface="Calibri" panose="020F0502020204030204" pitchFamily="34" charset="0"/>
              </a:rPr>
              <a:t>default temprano (desde 6 a 12 meses).</a:t>
            </a:r>
            <a:endParaRPr lang="es-ES_tradnl" sz="1267" kern="1200" dirty="0">
              <a:solidFill>
                <a:srgbClr val="009193"/>
              </a:solidFill>
              <a:latin typeface="Calibri" panose="020F0502020204030204" pitchFamily="34" charset="0"/>
              <a:ea typeface="+mn-ea"/>
              <a:cs typeface="Calibri" panose="020F0502020204030204" pitchFamily="34" charset="0"/>
            </a:endParaRPr>
          </a:p>
        </p:txBody>
      </p:sp>
      <p:sp>
        <p:nvSpPr>
          <p:cNvPr id="371" name="Right Brace 370">
            <a:extLst>
              <a:ext uri="{FF2B5EF4-FFF2-40B4-BE49-F238E27FC236}">
                <a16:creationId xmlns:a16="http://schemas.microsoft.com/office/drawing/2014/main" id="{C9C2FCD2-EB27-53E9-BEAA-CED4A2ABB4EA}"/>
              </a:ext>
            </a:extLst>
          </p:cNvPr>
          <p:cNvSpPr/>
          <p:nvPr/>
        </p:nvSpPr>
        <p:spPr>
          <a:xfrm rot="5400000">
            <a:off x="9434078" y="2154054"/>
            <a:ext cx="220136" cy="1703384"/>
          </a:xfrm>
          <a:prstGeom prst="rightBrace">
            <a:avLst/>
          </a:prstGeom>
          <a:noFill/>
          <a:ln w="6350" cap="flat" cmpd="sng" algn="ctr">
            <a:solidFill>
              <a:srgbClr val="009193"/>
            </a:solidFill>
            <a:prstDash val="sysDash"/>
            <a:miter lim="800000"/>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TextBox 371">
            <a:extLst>
              <a:ext uri="{FF2B5EF4-FFF2-40B4-BE49-F238E27FC236}">
                <a16:creationId xmlns:a16="http://schemas.microsoft.com/office/drawing/2014/main" id="{9B4B5482-591E-5557-B4EF-0584F5F279D1}"/>
              </a:ext>
            </a:extLst>
          </p:cNvPr>
          <p:cNvSpPr txBox="1"/>
          <p:nvPr/>
        </p:nvSpPr>
        <p:spPr>
          <a:xfrm>
            <a:off x="8586791" y="3002138"/>
            <a:ext cx="1882201" cy="441018"/>
          </a:xfrm>
          <a:prstGeom prst="rect">
            <a:avLst/>
          </a:prstGeom>
          <a:noFill/>
        </p:spPr>
        <p:txBody>
          <a:bodyPr wrap="square">
            <a:spAutoFit/>
          </a:bodyPr>
          <a:lstStyle/>
          <a:p>
            <a:pPr algn="ctr" defTabSz="1219170">
              <a:buClrTx/>
            </a:pPr>
            <a:r>
              <a:rPr lang="es-ES_tradnl" sz="1133" b="1" kern="1200" dirty="0">
                <a:solidFill>
                  <a:srgbClr val="009193"/>
                </a:solidFill>
                <a:latin typeface="Calibri" panose="020F0502020204030204" pitchFamily="34" charset="0"/>
                <a:ea typeface="Arial" pitchFamily="34" charset="-122"/>
                <a:cs typeface="Calibri" panose="020F0502020204030204" pitchFamily="34" charset="0"/>
              </a:rPr>
              <a:t>Mora temprana capturada en la calibración</a:t>
            </a:r>
            <a:endParaRPr lang="es-ES_tradnl" sz="1133" kern="1200" dirty="0">
              <a:solidFill>
                <a:srgbClr val="009193"/>
              </a:solidFill>
              <a:latin typeface="Calibri" panose="020F0502020204030204" pitchFamily="34" charset="0"/>
              <a:ea typeface="+mn-ea"/>
              <a:cs typeface="Calibri" panose="020F0502020204030204" pitchFamily="34" charset="0"/>
            </a:endParaRPr>
          </a:p>
        </p:txBody>
      </p:sp>
      <p:sp>
        <p:nvSpPr>
          <p:cNvPr id="373" name="TextBox 372">
            <a:extLst>
              <a:ext uri="{FF2B5EF4-FFF2-40B4-BE49-F238E27FC236}">
                <a16:creationId xmlns:a16="http://schemas.microsoft.com/office/drawing/2014/main" id="{D0FDCAE3-4970-9478-35F4-54EB192FC6DC}"/>
              </a:ext>
            </a:extLst>
          </p:cNvPr>
          <p:cNvSpPr txBox="1"/>
          <p:nvPr/>
        </p:nvSpPr>
        <p:spPr>
          <a:xfrm>
            <a:off x="6917056" y="3523228"/>
            <a:ext cx="2865120" cy="622286"/>
          </a:xfrm>
          <a:prstGeom prst="rect">
            <a:avLst/>
          </a:prstGeom>
          <a:noFill/>
        </p:spPr>
        <p:txBody>
          <a:bodyPr wrap="square">
            <a:spAutoFit/>
          </a:bodyPr>
          <a:lstStyle/>
          <a:p>
            <a:pPr defTabSz="1219170">
              <a:lnSpc>
                <a:spcPct val="102000"/>
              </a:lnSpc>
              <a:buClrTx/>
            </a:pPr>
            <a:r>
              <a:rPr lang="es-ES_tradnl" sz="1200" b="1" kern="1200" dirty="0">
                <a:solidFill>
                  <a:srgbClr val="2E6CA4"/>
                </a:solidFill>
                <a:latin typeface="Calibri" panose="020F0502020204030204" pitchFamily="34" charset="0"/>
                <a:ea typeface="Arial" pitchFamily="34" charset="-122"/>
                <a:cs typeface="Calibri" panose="020F0502020204030204" pitchFamily="34" charset="0"/>
              </a:rPr>
              <a:t>Resultado: PD Origen a 12 meses</a:t>
            </a:r>
            <a:r>
              <a:rPr lang="es-ES_tradnl" sz="1200" b="1" kern="1200" dirty="0">
                <a:solidFill>
                  <a:srgbClr val="12294A"/>
                </a:solidFill>
                <a:latin typeface="Calibri" panose="020F0502020204030204" pitchFamily="34" charset="0"/>
                <a:ea typeface="Arial" pitchFamily="34" charset="-122"/>
                <a:cs typeface="Calibri" panose="020F0502020204030204" pitchFamily="34" charset="0"/>
              </a:rPr>
              <a:t>
</a:t>
            </a:r>
            <a:r>
              <a:rPr lang="es-ES_tradnl" sz="1107" kern="1200" dirty="0">
                <a:solidFill>
                  <a:srgbClr val="1F2A37"/>
                </a:solidFill>
                <a:latin typeface="Calibri" panose="020F0502020204030204" pitchFamily="34" charset="0"/>
                <a:ea typeface="Arial" pitchFamily="34" charset="-122"/>
                <a:cs typeface="Calibri" panose="020F0502020204030204" pitchFamily="34" charset="0"/>
              </a:rPr>
              <a:t>= Probabilidad de que el crédito haga default </a:t>
            </a:r>
          </a:p>
          <a:p>
            <a:pPr defTabSz="1219170">
              <a:lnSpc>
                <a:spcPct val="102000"/>
              </a:lnSpc>
              <a:buClrTx/>
            </a:pPr>
            <a:r>
              <a:rPr lang="es-ES_tradnl" sz="1107" kern="1200" dirty="0">
                <a:solidFill>
                  <a:srgbClr val="1F2A37"/>
                </a:solidFill>
                <a:latin typeface="Calibri" panose="020F0502020204030204" pitchFamily="34" charset="0"/>
                <a:ea typeface="Arial" pitchFamily="34" charset="-122"/>
                <a:cs typeface="Calibri" panose="020F0502020204030204" pitchFamily="34" charset="0"/>
              </a:rPr>
              <a:t>en los próximos 12 meses desde el origen.</a:t>
            </a:r>
            <a:endParaRPr lang="es-ES_tradnl" sz="1200" kern="1200" dirty="0">
              <a:solidFill>
                <a:prstClr val="black"/>
              </a:solidFill>
              <a:latin typeface="Calibri" panose="020F0502020204030204" pitchFamily="34" charset="0"/>
              <a:ea typeface="+mn-ea"/>
              <a:cs typeface="Calibri" panose="020F0502020204030204" pitchFamily="34" charset="0"/>
            </a:endParaRPr>
          </a:p>
        </p:txBody>
      </p:sp>
      <p:pic>
        <p:nvPicPr>
          <p:cNvPr id="374" name="Picture 373" descr="Liability ">
            <a:extLst>
              <a:ext uri="{FF2B5EF4-FFF2-40B4-BE49-F238E27FC236}">
                <a16:creationId xmlns:a16="http://schemas.microsoft.com/office/drawing/2014/main" id="{23138817-70A1-DD06-57AE-C79C97930045}"/>
              </a:ext>
            </a:extLst>
          </p:cNvPr>
          <p:cNvPicPr>
            <a:picLocks noChangeAspect="1"/>
          </p:cNvPicPr>
          <p:nvPr/>
        </p:nvPicPr>
        <p:blipFill>
          <a:blip r:embed="rId5">
            <a:duotone>
              <a:srgbClr val="5B9BD5">
                <a:shade val="45000"/>
                <a:satMod val="135000"/>
              </a:srgbClr>
              <a:prstClr val="white"/>
            </a:duotone>
          </a:blip>
          <a:stretch>
            <a:fillRect/>
          </a:stretch>
        </p:blipFill>
        <p:spPr>
          <a:xfrm>
            <a:off x="5941950" y="3593817"/>
            <a:ext cx="483621" cy="483621"/>
          </a:xfrm>
          <a:prstGeom prst="rect">
            <a:avLst/>
          </a:prstGeom>
        </p:spPr>
      </p:pic>
      <p:sp>
        <p:nvSpPr>
          <p:cNvPr id="375" name="TextBox 374">
            <a:extLst>
              <a:ext uri="{FF2B5EF4-FFF2-40B4-BE49-F238E27FC236}">
                <a16:creationId xmlns:a16="http://schemas.microsoft.com/office/drawing/2014/main" id="{AF8AEFD7-3D9D-DB17-428D-1A09ACCC6F39}"/>
              </a:ext>
            </a:extLst>
          </p:cNvPr>
          <p:cNvSpPr txBox="1"/>
          <p:nvPr/>
        </p:nvSpPr>
        <p:spPr>
          <a:xfrm>
            <a:off x="12831639" y="1924030"/>
            <a:ext cx="3101401" cy="954107"/>
          </a:xfrm>
          <a:prstGeom prst="rect">
            <a:avLst/>
          </a:prstGeom>
          <a:noFill/>
        </p:spPr>
        <p:txBody>
          <a:bodyPr wrap="square">
            <a:spAutoFit/>
          </a:bodyPr>
          <a:lstStyle/>
          <a:p>
            <a:pPr defTabSz="1219170">
              <a:buClrTx/>
            </a:pPr>
            <a:r>
              <a:rPr lang="es-ES_tradnl" kern="1200" dirty="0">
                <a:solidFill>
                  <a:srgbClr val="1F2A37"/>
                </a:solidFill>
                <a:latin typeface="Calibri" panose="020F0502020204030204" pitchFamily="34" charset="0"/>
                <a:ea typeface="Arial" pitchFamily="34" charset="-122"/>
                <a:cs typeface="Calibri" panose="020F0502020204030204" pitchFamily="34" charset="0"/>
              </a:rPr>
              <a:t>Esta PD a 12 meses </a:t>
            </a:r>
            <a:r>
              <a:rPr lang="es-ES_tradnl" b="1" kern="1200" dirty="0">
                <a:solidFill>
                  <a:srgbClr val="2E8B4F"/>
                </a:solidFill>
                <a:latin typeface="Calibri" panose="020F0502020204030204" pitchFamily="34" charset="0"/>
                <a:ea typeface="Arial" pitchFamily="34" charset="-122"/>
                <a:cs typeface="Calibri" panose="020F0502020204030204" pitchFamily="34" charset="0"/>
              </a:rPr>
              <a:t>ya incorpora la mora temprana</a:t>
            </a:r>
            <a:r>
              <a:rPr lang="es-ES_tradnl" kern="1200" dirty="0">
                <a:solidFill>
                  <a:srgbClr val="1F2A37"/>
                </a:solidFill>
                <a:latin typeface="Calibri" panose="020F0502020204030204" pitchFamily="34" charset="0"/>
                <a:ea typeface="Arial" pitchFamily="34" charset="-122"/>
                <a:cs typeface="Calibri" panose="020F0502020204030204" pitchFamily="34" charset="0"/>
              </a:rPr>
              <a:t> en su nivel de riesgo, por la calibración realizada con default temprano.</a:t>
            </a:r>
            <a:endParaRPr lang="es-ES_tradnl" kern="1200" dirty="0">
              <a:solidFill>
                <a:prstClr val="black"/>
              </a:solidFill>
              <a:latin typeface="Calibri" panose="020F0502020204030204" pitchFamily="34" charset="0"/>
              <a:ea typeface="+mn-ea"/>
              <a:cs typeface="Calibri" panose="020F0502020204030204" pitchFamily="34" charset="0"/>
            </a:endParaRPr>
          </a:p>
        </p:txBody>
      </p:sp>
      <p:pic>
        <p:nvPicPr>
          <p:cNvPr id="376" name="Picture 375" descr="Shield ">
            <a:extLst>
              <a:ext uri="{FF2B5EF4-FFF2-40B4-BE49-F238E27FC236}">
                <a16:creationId xmlns:a16="http://schemas.microsoft.com/office/drawing/2014/main" id="{20535CA2-5871-CD4E-8215-DF078FCED7B8}"/>
              </a:ext>
            </a:extLst>
          </p:cNvPr>
          <p:cNvPicPr>
            <a:picLocks noChangeAspect="1"/>
          </p:cNvPicPr>
          <p:nvPr/>
        </p:nvPicPr>
        <p:blipFill>
          <a:blip r:embed="rId6">
            <a:duotone>
              <a:srgbClr val="5B9BD5">
                <a:shade val="45000"/>
                <a:satMod val="135000"/>
              </a:srgbClr>
              <a:prstClr val="white"/>
            </a:duotone>
          </a:blip>
          <a:stretch>
            <a:fillRect/>
          </a:stretch>
        </p:blipFill>
        <p:spPr>
          <a:xfrm>
            <a:off x="11407857" y="1943218"/>
            <a:ext cx="992317" cy="992317"/>
          </a:xfrm>
          <a:prstGeom prst="rect">
            <a:avLst/>
          </a:prstGeom>
        </p:spPr>
      </p:pic>
      <p:sp>
        <p:nvSpPr>
          <p:cNvPr id="377" name="TextBox 376">
            <a:extLst>
              <a:ext uri="{FF2B5EF4-FFF2-40B4-BE49-F238E27FC236}">
                <a16:creationId xmlns:a16="http://schemas.microsoft.com/office/drawing/2014/main" id="{9864AD69-17B9-AE8E-D311-BF0CE6A3CB2E}"/>
              </a:ext>
            </a:extLst>
          </p:cNvPr>
          <p:cNvSpPr txBox="1"/>
          <p:nvPr/>
        </p:nvSpPr>
        <p:spPr>
          <a:xfrm>
            <a:off x="12065492" y="3243573"/>
            <a:ext cx="2853579" cy="523220"/>
          </a:xfrm>
          <a:prstGeom prst="rect">
            <a:avLst/>
          </a:prstGeom>
          <a:noFill/>
        </p:spPr>
        <p:txBody>
          <a:bodyPr wrap="square">
            <a:spAutoFit/>
          </a:bodyPr>
          <a:lstStyle/>
          <a:p>
            <a:pPr algn="ctr" defTabSz="1219170">
              <a:buClrTx/>
            </a:pPr>
            <a:r>
              <a:rPr lang="es-ES_tradnl" b="1" kern="1200" dirty="0">
                <a:solidFill>
                  <a:srgbClr val="FFFFFF"/>
                </a:solidFill>
                <a:latin typeface="Calibri" panose="020F0502020204030204" pitchFamily="34" charset="0"/>
                <a:ea typeface="Arial" pitchFamily="34" charset="-122"/>
                <a:cs typeface="Calibri" panose="020F0502020204030204" pitchFamily="34" charset="0"/>
              </a:rPr>
              <a:t>Es el insumo base para la PD Lifetime.</a:t>
            </a:r>
            <a:endParaRPr lang="es-ES_tradnl" kern="1200" dirty="0">
              <a:solidFill>
                <a:prstClr val="black"/>
              </a:solidFill>
              <a:latin typeface="Calibri" panose="020F0502020204030204" pitchFamily="34" charset="0"/>
              <a:ea typeface="+mn-ea"/>
              <a:cs typeface="Calibri" panose="020F0502020204030204" pitchFamily="34" charset="0"/>
            </a:endParaRPr>
          </a:p>
        </p:txBody>
      </p:sp>
      <p:sp>
        <p:nvSpPr>
          <p:cNvPr id="378" name="TextBox 377">
            <a:extLst>
              <a:ext uri="{FF2B5EF4-FFF2-40B4-BE49-F238E27FC236}">
                <a16:creationId xmlns:a16="http://schemas.microsoft.com/office/drawing/2014/main" id="{34E15A2B-BB00-8416-70BF-D22DAAF92915}"/>
              </a:ext>
            </a:extLst>
          </p:cNvPr>
          <p:cNvSpPr txBox="1"/>
          <p:nvPr/>
        </p:nvSpPr>
        <p:spPr>
          <a:xfrm>
            <a:off x="605094" y="5144115"/>
            <a:ext cx="2247876" cy="1117935"/>
          </a:xfrm>
          <a:prstGeom prst="rect">
            <a:avLst/>
          </a:prstGeom>
          <a:noFill/>
        </p:spPr>
        <p:txBody>
          <a:bodyPr wrap="square">
            <a:spAutoFit/>
          </a:bodyPr>
          <a:lstStyle/>
          <a:p>
            <a:pPr defTabSz="1219170">
              <a:buClrTx/>
            </a:pPr>
            <a:r>
              <a:rPr lang="es-ES_tradnl" sz="1333" kern="1200" dirty="0">
                <a:solidFill>
                  <a:srgbClr val="1F2A37"/>
                </a:solidFill>
                <a:latin typeface="Calibri" panose="020F0502020204030204" pitchFamily="34" charset="0"/>
                <a:ea typeface="Arial" pitchFamily="34" charset="-122"/>
                <a:cs typeface="Calibri" panose="020F0502020204030204" pitchFamily="34" charset="0"/>
              </a:rPr>
              <a:t>La PD Lifetime descompone la PD Origen a 12 meses en probabilidades temporales acumuladas por horizonte: </a:t>
            </a:r>
            <a:r>
              <a:rPr lang="es-ES_tradnl" sz="1333" b="1" kern="1200" dirty="0">
                <a:solidFill>
                  <a:srgbClr val="009193"/>
                </a:solidFill>
                <a:latin typeface="Calibri" panose="020F0502020204030204" pitchFamily="34" charset="0"/>
                <a:ea typeface="Arial" pitchFamily="34" charset="-122"/>
                <a:cs typeface="Calibri" panose="020F0502020204030204" pitchFamily="34" charset="0"/>
              </a:rPr>
              <a:t>3m, 4m, …, 12m.</a:t>
            </a:r>
            <a:endParaRPr lang="es-ES_tradnl" sz="1333" b="1" kern="1200" dirty="0">
              <a:solidFill>
                <a:srgbClr val="009193"/>
              </a:solidFill>
              <a:latin typeface="Calibri" panose="020F0502020204030204" pitchFamily="34" charset="0"/>
              <a:ea typeface="+mn-ea"/>
              <a:cs typeface="Calibri" panose="020F0502020204030204" pitchFamily="34" charset="0"/>
            </a:endParaRPr>
          </a:p>
        </p:txBody>
      </p:sp>
      <p:pic>
        <p:nvPicPr>
          <p:cNvPr id="379" name="Picture 378" descr="Jigsaw ">
            <a:extLst>
              <a:ext uri="{FF2B5EF4-FFF2-40B4-BE49-F238E27FC236}">
                <a16:creationId xmlns:a16="http://schemas.microsoft.com/office/drawing/2014/main" id="{181625CE-E415-1B03-145F-6CB73A4FBDD2}"/>
              </a:ext>
            </a:extLst>
          </p:cNvPr>
          <p:cNvPicPr>
            <a:picLocks noChangeAspect="1"/>
          </p:cNvPicPr>
          <p:nvPr/>
        </p:nvPicPr>
        <p:blipFill>
          <a:blip r:embed="rId7">
            <a:duotone>
              <a:srgbClr val="5B9BD5">
                <a:shade val="45000"/>
                <a:satMod val="135000"/>
              </a:srgbClr>
              <a:prstClr val="white"/>
            </a:duotone>
          </a:blip>
          <a:stretch>
            <a:fillRect/>
          </a:stretch>
        </p:blipFill>
        <p:spPr>
          <a:xfrm>
            <a:off x="1061848" y="6408480"/>
            <a:ext cx="843001" cy="843001"/>
          </a:xfrm>
          <a:prstGeom prst="rect">
            <a:avLst/>
          </a:prstGeom>
        </p:spPr>
      </p:pic>
      <p:cxnSp>
        <p:nvCxnSpPr>
          <p:cNvPr id="380" name="Straight Arrow Connector 379">
            <a:extLst>
              <a:ext uri="{FF2B5EF4-FFF2-40B4-BE49-F238E27FC236}">
                <a16:creationId xmlns:a16="http://schemas.microsoft.com/office/drawing/2014/main" id="{9FF52233-2001-78E3-E1BF-7871562C2F76}"/>
              </a:ext>
            </a:extLst>
          </p:cNvPr>
          <p:cNvCxnSpPr/>
          <p:nvPr/>
        </p:nvCxnSpPr>
        <p:spPr>
          <a:xfrm flipV="1">
            <a:off x="8845029" y="5434538"/>
            <a:ext cx="582305" cy="495869"/>
          </a:xfrm>
          <a:prstGeom prst="straightConnector1">
            <a:avLst/>
          </a:prstGeom>
          <a:noFill/>
          <a:ln w="28575" cap="flat" cmpd="sng" algn="ctr">
            <a:solidFill>
              <a:srgbClr val="009193"/>
            </a:solidFill>
            <a:prstDash val="sysDash"/>
            <a:miter lim="800000"/>
            <a:tailEnd type="triangle"/>
          </a:ln>
          <a:effectLst/>
        </p:spPr>
      </p:cxnSp>
      <p:sp>
        <p:nvSpPr>
          <p:cNvPr id="381" name="TextBox 380">
            <a:extLst>
              <a:ext uri="{FF2B5EF4-FFF2-40B4-BE49-F238E27FC236}">
                <a16:creationId xmlns:a16="http://schemas.microsoft.com/office/drawing/2014/main" id="{0F0BA8EB-8D54-7C89-0457-561AD174D6B5}"/>
              </a:ext>
            </a:extLst>
          </p:cNvPr>
          <p:cNvSpPr txBox="1"/>
          <p:nvPr/>
        </p:nvSpPr>
        <p:spPr>
          <a:xfrm>
            <a:off x="1161161" y="8384153"/>
            <a:ext cx="3859063" cy="503599"/>
          </a:xfrm>
          <a:prstGeom prst="rect">
            <a:avLst/>
          </a:prstGeom>
          <a:noFill/>
        </p:spPr>
        <p:txBody>
          <a:bodyPr wrap="square">
            <a:spAutoFit/>
          </a:bodyPr>
          <a:lstStyle/>
          <a:p>
            <a:pPr defTabSz="1219170">
              <a:lnSpc>
                <a:spcPct val="102000"/>
              </a:lnSpc>
              <a:buClrTx/>
            </a:pPr>
            <a:r>
              <a:rPr lang="es-ES_tradnl" sz="1333" kern="1200" dirty="0">
                <a:solidFill>
                  <a:srgbClr val="1F2A37"/>
                </a:solidFill>
                <a:latin typeface="Calibri" panose="020F0502020204030204" pitchFamily="34" charset="0"/>
                <a:ea typeface="Arial" pitchFamily="34" charset="-122"/>
                <a:cs typeface="Calibri" panose="020F0502020204030204" pitchFamily="34" charset="0"/>
              </a:rPr>
              <a:t>La PD Lifetime utiliza la misma profundidad histórica que el modelo de PD Origen: desde 202301.</a:t>
            </a:r>
            <a:endParaRPr lang="es-ES_tradnl" sz="1333" kern="1200" dirty="0">
              <a:solidFill>
                <a:prstClr val="black"/>
              </a:solidFill>
              <a:latin typeface="Calibri" panose="020F0502020204030204" pitchFamily="34" charset="0"/>
              <a:ea typeface="+mn-ea"/>
              <a:cs typeface="Calibri" panose="020F0502020204030204" pitchFamily="34" charset="0"/>
            </a:endParaRPr>
          </a:p>
        </p:txBody>
      </p:sp>
      <p:sp>
        <p:nvSpPr>
          <p:cNvPr id="382" name="TextBox 381">
            <a:extLst>
              <a:ext uri="{FF2B5EF4-FFF2-40B4-BE49-F238E27FC236}">
                <a16:creationId xmlns:a16="http://schemas.microsoft.com/office/drawing/2014/main" id="{7D65EDFB-5BCB-3897-A95F-BB94C90DC959}"/>
              </a:ext>
            </a:extLst>
          </p:cNvPr>
          <p:cNvSpPr txBox="1"/>
          <p:nvPr/>
        </p:nvSpPr>
        <p:spPr>
          <a:xfrm>
            <a:off x="12480671" y="5126858"/>
            <a:ext cx="2641600" cy="912814"/>
          </a:xfrm>
          <a:prstGeom prst="rect">
            <a:avLst/>
          </a:prstGeom>
          <a:noFill/>
        </p:spPr>
        <p:txBody>
          <a:bodyPr wrap="square">
            <a:spAutoFit/>
          </a:bodyPr>
          <a:lstStyle/>
          <a:p>
            <a:pPr defTabSz="1219170">
              <a:buClrTx/>
            </a:pPr>
            <a:r>
              <a:rPr lang="es-ES_tradnl" sz="1333" kern="1200" dirty="0">
                <a:solidFill>
                  <a:srgbClr val="1F2A37"/>
                </a:solidFill>
                <a:latin typeface="Calibri" panose="020F0502020204030204" pitchFamily="34" charset="0"/>
                <a:ea typeface="Arial" pitchFamily="34" charset="-122"/>
                <a:cs typeface="Calibri" panose="020F0502020204030204" pitchFamily="34" charset="0"/>
              </a:rPr>
              <a:t>La PD de 12 meses (</a:t>
            </a:r>
            <a:r>
              <a:rPr lang="es-ES_tradnl" sz="1333" kern="1200" dirty="0" err="1">
                <a:solidFill>
                  <a:srgbClr val="1F2A37"/>
                </a:solidFill>
                <a:latin typeface="Calibri" panose="020F0502020204030204" pitchFamily="34" charset="0"/>
                <a:ea typeface="Arial" pitchFamily="34" charset="-122"/>
                <a:cs typeface="Calibri" panose="020F0502020204030204" pitchFamily="34" charset="0"/>
              </a:rPr>
              <a:t>origenación</a:t>
            </a:r>
            <a:r>
              <a:rPr lang="es-ES_tradnl" sz="1333" kern="1200" dirty="0">
                <a:solidFill>
                  <a:srgbClr val="1F2A37"/>
                </a:solidFill>
                <a:latin typeface="Calibri" panose="020F0502020204030204" pitchFamily="34" charset="0"/>
                <a:ea typeface="Arial" pitchFamily="34" charset="-122"/>
                <a:cs typeface="Calibri" panose="020F0502020204030204" pitchFamily="34" charset="0"/>
              </a:rPr>
              <a:t>) se descompone en la probabilidad de que el crédito haga default en el mes 3, 4, …, 12.</a:t>
            </a:r>
            <a:endParaRPr lang="es-ES_tradnl" sz="1333" kern="1200" dirty="0">
              <a:solidFill>
                <a:prstClr val="black"/>
              </a:solidFill>
              <a:latin typeface="Calibri" panose="020F0502020204030204" pitchFamily="34" charset="0"/>
              <a:ea typeface="+mn-ea"/>
              <a:cs typeface="Calibri" panose="020F0502020204030204" pitchFamily="34" charset="0"/>
            </a:endParaRPr>
          </a:p>
        </p:txBody>
      </p:sp>
      <p:pic>
        <p:nvPicPr>
          <p:cNvPr id="383" name="Picture 382" descr="Schedule ">
            <a:extLst>
              <a:ext uri="{FF2B5EF4-FFF2-40B4-BE49-F238E27FC236}">
                <a16:creationId xmlns:a16="http://schemas.microsoft.com/office/drawing/2014/main" id="{E9F5B0AE-CDA4-2B1B-9786-45391F57CE54}"/>
              </a:ext>
            </a:extLst>
          </p:cNvPr>
          <p:cNvPicPr>
            <a:picLocks noChangeAspect="1"/>
          </p:cNvPicPr>
          <p:nvPr/>
        </p:nvPicPr>
        <p:blipFill>
          <a:blip r:embed="rId8">
            <a:duotone>
              <a:srgbClr val="5B9BD5">
                <a:shade val="45000"/>
                <a:satMod val="135000"/>
              </a:srgbClr>
              <a:prstClr val="white"/>
            </a:duotone>
          </a:blip>
          <a:stretch>
            <a:fillRect/>
          </a:stretch>
        </p:blipFill>
        <p:spPr>
          <a:xfrm>
            <a:off x="10932287" y="5146274"/>
            <a:ext cx="811360" cy="811360"/>
          </a:xfrm>
          <a:prstGeom prst="rect">
            <a:avLst/>
          </a:prstGeom>
        </p:spPr>
      </p:pic>
      <p:pic>
        <p:nvPicPr>
          <p:cNvPr id="384" name="Picture 383" descr="línea de tiempo ">
            <a:extLst>
              <a:ext uri="{FF2B5EF4-FFF2-40B4-BE49-F238E27FC236}">
                <a16:creationId xmlns:a16="http://schemas.microsoft.com/office/drawing/2014/main" id="{617C2557-0A56-D45B-C714-C80CE7D0D871}"/>
              </a:ext>
            </a:extLst>
          </p:cNvPr>
          <p:cNvPicPr>
            <a:picLocks noChangeAspect="1"/>
          </p:cNvPicPr>
          <p:nvPr/>
        </p:nvPicPr>
        <p:blipFill>
          <a:blip r:embed="rId9">
            <a:duotone>
              <a:srgbClr val="5B9BD5">
                <a:shade val="45000"/>
                <a:satMod val="135000"/>
              </a:srgbClr>
              <a:prstClr val="white"/>
            </a:duotone>
          </a:blip>
          <a:stretch>
            <a:fillRect/>
          </a:stretch>
        </p:blipFill>
        <p:spPr>
          <a:xfrm>
            <a:off x="547155" y="3665835"/>
            <a:ext cx="551689" cy="551689"/>
          </a:xfrm>
          <a:prstGeom prst="rect">
            <a:avLst/>
          </a:prstGeom>
        </p:spPr>
      </p:pic>
      <p:sp>
        <p:nvSpPr>
          <p:cNvPr id="385" name="TextBox 384">
            <a:extLst>
              <a:ext uri="{FF2B5EF4-FFF2-40B4-BE49-F238E27FC236}">
                <a16:creationId xmlns:a16="http://schemas.microsoft.com/office/drawing/2014/main" id="{B838551D-E773-5F4B-557D-5F24206E5AA0}"/>
              </a:ext>
            </a:extLst>
          </p:cNvPr>
          <p:cNvSpPr txBox="1"/>
          <p:nvPr/>
        </p:nvSpPr>
        <p:spPr>
          <a:xfrm>
            <a:off x="12045204" y="6424982"/>
            <a:ext cx="3453075" cy="929293"/>
          </a:xfrm>
          <a:prstGeom prst="rect">
            <a:avLst/>
          </a:prstGeom>
          <a:noFill/>
        </p:spPr>
        <p:txBody>
          <a:bodyPr wrap="square">
            <a:spAutoFit/>
          </a:bodyPr>
          <a:lstStyle/>
          <a:p>
            <a:pPr defTabSz="1219170">
              <a:lnSpc>
                <a:spcPct val="115000"/>
              </a:lnSpc>
              <a:buClrTx/>
            </a:pPr>
            <a:r>
              <a:rPr lang="es-ES_tradnl" sz="1200" b="1" kern="1200" dirty="0">
                <a:solidFill>
                  <a:srgbClr val="12294A"/>
                </a:solidFill>
                <a:latin typeface="Calibri" panose="020F0502020204030204" pitchFamily="34" charset="0"/>
                <a:ea typeface="Arial" pitchFamily="34" charset="-122"/>
                <a:cs typeface="Calibri" panose="020F0502020204030204" pitchFamily="34" charset="0"/>
              </a:rPr>
              <a:t>•  PD 3m</a:t>
            </a:r>
            <a:r>
              <a:rPr lang="es-ES_tradnl" sz="1200" kern="1200" dirty="0">
                <a:solidFill>
                  <a:srgbClr val="1F2A37"/>
                </a:solidFill>
                <a:latin typeface="Calibri" panose="020F0502020204030204" pitchFamily="34" charset="0"/>
                <a:ea typeface="Arial" pitchFamily="34" charset="-122"/>
                <a:cs typeface="Calibri" panose="020F0502020204030204" pitchFamily="34" charset="0"/>
              </a:rPr>
              <a:t>  → </a:t>
            </a:r>
            <a:r>
              <a:rPr lang="es-ES_tradnl" sz="1200" kern="1200" dirty="0" err="1">
                <a:solidFill>
                  <a:srgbClr val="1F2A37"/>
                </a:solidFill>
                <a:latin typeface="Calibri" panose="020F0502020204030204" pitchFamily="34" charset="0"/>
                <a:ea typeface="Arial" pitchFamily="34" charset="-122"/>
                <a:cs typeface="Calibri" panose="020F0502020204030204" pitchFamily="34" charset="0"/>
              </a:rPr>
              <a:t>prob</a:t>
            </a:r>
            <a:r>
              <a:rPr lang="es-ES_tradnl" sz="1200" kern="1200" dirty="0">
                <a:solidFill>
                  <a:srgbClr val="1F2A37"/>
                </a:solidFill>
                <a:latin typeface="Calibri" panose="020F0502020204030204" pitchFamily="34" charset="0"/>
                <a:ea typeface="Arial" pitchFamily="34" charset="-122"/>
                <a:cs typeface="Calibri" panose="020F0502020204030204" pitchFamily="34" charset="0"/>
              </a:rPr>
              <a:t>. de default en el mes 3
</a:t>
            </a:r>
            <a:r>
              <a:rPr lang="es-ES_tradnl" sz="1200" b="1" kern="1200" dirty="0">
                <a:solidFill>
                  <a:srgbClr val="12294A"/>
                </a:solidFill>
                <a:latin typeface="Calibri" panose="020F0502020204030204" pitchFamily="34" charset="0"/>
                <a:ea typeface="Arial" pitchFamily="34" charset="-122"/>
                <a:cs typeface="Calibri" panose="020F0502020204030204" pitchFamily="34" charset="0"/>
              </a:rPr>
              <a:t>•  PD 6m</a:t>
            </a:r>
            <a:r>
              <a:rPr lang="es-ES_tradnl" sz="1200" kern="1200" dirty="0">
                <a:solidFill>
                  <a:srgbClr val="1F2A37"/>
                </a:solidFill>
                <a:latin typeface="Calibri" panose="020F0502020204030204" pitchFamily="34" charset="0"/>
                <a:ea typeface="Arial" pitchFamily="34" charset="-122"/>
                <a:cs typeface="Calibri" panose="020F0502020204030204" pitchFamily="34" charset="0"/>
              </a:rPr>
              <a:t>  → </a:t>
            </a:r>
            <a:r>
              <a:rPr lang="es-ES_tradnl" sz="1200" kern="1200" dirty="0" err="1">
                <a:solidFill>
                  <a:srgbClr val="1F2A37"/>
                </a:solidFill>
                <a:latin typeface="Calibri" panose="020F0502020204030204" pitchFamily="34" charset="0"/>
                <a:ea typeface="Arial" pitchFamily="34" charset="-122"/>
                <a:cs typeface="Calibri" panose="020F0502020204030204" pitchFamily="34" charset="0"/>
              </a:rPr>
              <a:t>prob</a:t>
            </a:r>
            <a:r>
              <a:rPr lang="es-ES_tradnl" sz="1200" kern="1200" dirty="0">
                <a:solidFill>
                  <a:srgbClr val="1F2A37"/>
                </a:solidFill>
                <a:latin typeface="Calibri" panose="020F0502020204030204" pitchFamily="34" charset="0"/>
                <a:ea typeface="Arial" pitchFamily="34" charset="-122"/>
                <a:cs typeface="Calibri" panose="020F0502020204030204" pitchFamily="34" charset="0"/>
              </a:rPr>
              <a:t>. de default hasta el mes 6
•  …
</a:t>
            </a:r>
            <a:r>
              <a:rPr lang="es-ES_tradnl" sz="1200" b="1" kern="1200" dirty="0">
                <a:solidFill>
                  <a:srgbClr val="12294A"/>
                </a:solidFill>
                <a:latin typeface="Calibri" panose="020F0502020204030204" pitchFamily="34" charset="0"/>
                <a:ea typeface="Arial" pitchFamily="34" charset="-122"/>
                <a:cs typeface="Calibri" panose="020F0502020204030204" pitchFamily="34" charset="0"/>
              </a:rPr>
              <a:t>•  PD 12m</a:t>
            </a:r>
            <a:r>
              <a:rPr lang="es-ES_tradnl" sz="1200" kern="1200" dirty="0">
                <a:solidFill>
                  <a:srgbClr val="1F2A37"/>
                </a:solidFill>
                <a:latin typeface="Calibri" panose="020F0502020204030204" pitchFamily="34" charset="0"/>
                <a:ea typeface="Arial" pitchFamily="34" charset="-122"/>
                <a:cs typeface="Calibri" panose="020F0502020204030204" pitchFamily="34" charset="0"/>
              </a:rPr>
              <a:t>  → </a:t>
            </a:r>
            <a:r>
              <a:rPr lang="es-ES_tradnl" sz="1200" kern="1200" dirty="0" err="1">
                <a:solidFill>
                  <a:srgbClr val="1F2A37"/>
                </a:solidFill>
                <a:latin typeface="Calibri" panose="020F0502020204030204" pitchFamily="34" charset="0"/>
                <a:ea typeface="Arial" pitchFamily="34" charset="-122"/>
                <a:cs typeface="Calibri" panose="020F0502020204030204" pitchFamily="34" charset="0"/>
              </a:rPr>
              <a:t>prob</a:t>
            </a:r>
            <a:r>
              <a:rPr lang="es-ES_tradnl" sz="1200" kern="1200" dirty="0">
                <a:solidFill>
                  <a:srgbClr val="1F2A37"/>
                </a:solidFill>
                <a:latin typeface="Calibri" panose="020F0502020204030204" pitchFamily="34" charset="0"/>
                <a:ea typeface="Arial" pitchFamily="34" charset="-122"/>
                <a:cs typeface="Calibri" panose="020F0502020204030204" pitchFamily="34" charset="0"/>
              </a:rPr>
              <a:t>. de default hasta el mes 12</a:t>
            </a:r>
            <a:endParaRPr lang="es-ES_tradnl" sz="1200" kern="1200" dirty="0">
              <a:solidFill>
                <a:prstClr val="black"/>
              </a:solidFill>
              <a:latin typeface="Calibri" panose="020F0502020204030204" pitchFamily="34" charset="0"/>
              <a:ea typeface="+mn-ea"/>
              <a:cs typeface="Calibri" panose="020F0502020204030204" pitchFamily="34" charset="0"/>
            </a:endParaRPr>
          </a:p>
        </p:txBody>
      </p:sp>
      <p:sp>
        <p:nvSpPr>
          <p:cNvPr id="386" name="TextBox 385">
            <a:extLst>
              <a:ext uri="{FF2B5EF4-FFF2-40B4-BE49-F238E27FC236}">
                <a16:creationId xmlns:a16="http://schemas.microsoft.com/office/drawing/2014/main" id="{C36BDC59-1DF9-AE32-647B-51881F4B526C}"/>
              </a:ext>
            </a:extLst>
          </p:cNvPr>
          <p:cNvSpPr txBox="1"/>
          <p:nvPr/>
        </p:nvSpPr>
        <p:spPr>
          <a:xfrm>
            <a:off x="11810584" y="8118633"/>
            <a:ext cx="3926236" cy="912814"/>
          </a:xfrm>
          <a:prstGeom prst="rect">
            <a:avLst/>
          </a:prstGeom>
          <a:noFill/>
        </p:spPr>
        <p:txBody>
          <a:bodyPr wrap="square">
            <a:spAutoFit/>
          </a:bodyPr>
          <a:lstStyle/>
          <a:p>
            <a:pPr defTabSz="1219170">
              <a:buClrTx/>
            </a:pPr>
            <a:r>
              <a:rPr lang="es-ES_tradnl" sz="1333" kern="1200" dirty="0">
                <a:solidFill>
                  <a:prstClr val="black"/>
                </a:solidFill>
                <a:latin typeface="Calibri" panose="020F0502020204030204" pitchFamily="34" charset="0"/>
                <a:ea typeface="Arial" pitchFamily="34" charset="-122"/>
                <a:cs typeface="Calibri" panose="020F0502020204030204" pitchFamily="34" charset="0"/>
              </a:rPr>
              <a:t>1. Mora temprana se captura en la PD Origen.</a:t>
            </a:r>
            <a:endParaRPr lang="es-ES_tradnl" sz="1333" kern="1200" dirty="0">
              <a:solidFill>
                <a:prstClr val="black"/>
              </a:solidFill>
              <a:latin typeface="Calibri" panose="020F0502020204030204" pitchFamily="34" charset="0"/>
              <a:ea typeface="+mn-ea"/>
              <a:cs typeface="Calibri" panose="020F0502020204030204" pitchFamily="34" charset="0"/>
            </a:endParaRPr>
          </a:p>
          <a:p>
            <a:pPr defTabSz="1219170">
              <a:buClrTx/>
            </a:pPr>
            <a:r>
              <a:rPr lang="es-ES_tradnl" sz="1333" kern="1200" dirty="0">
                <a:solidFill>
                  <a:prstClr val="black"/>
                </a:solidFill>
                <a:latin typeface="Calibri" panose="020F0502020204030204" pitchFamily="34" charset="0"/>
                <a:ea typeface="Arial" pitchFamily="34" charset="-122"/>
                <a:cs typeface="Calibri" panose="020F0502020204030204" pitchFamily="34" charset="0"/>
              </a:rPr>
              <a:t>2. PD Lifetime solo descompone esa PD a 12 meses.</a:t>
            </a:r>
            <a:endParaRPr lang="es-ES_tradnl" sz="1333" kern="1200" dirty="0">
              <a:solidFill>
                <a:prstClr val="black"/>
              </a:solidFill>
              <a:latin typeface="Calibri" panose="020F0502020204030204" pitchFamily="34" charset="0"/>
              <a:ea typeface="+mn-ea"/>
              <a:cs typeface="Calibri" panose="020F0502020204030204" pitchFamily="34" charset="0"/>
            </a:endParaRPr>
          </a:p>
          <a:p>
            <a:pPr defTabSz="1219170">
              <a:buClrTx/>
            </a:pPr>
            <a:r>
              <a:rPr lang="es-ES_tradnl" sz="1333" kern="1200" dirty="0">
                <a:solidFill>
                  <a:prstClr val="black"/>
                </a:solidFill>
                <a:latin typeface="Calibri" panose="020F0502020204030204" pitchFamily="34" charset="0"/>
                <a:ea typeface="Arial" pitchFamily="34" charset="-122"/>
                <a:cs typeface="Calibri" panose="020F0502020204030204" pitchFamily="34" charset="0"/>
              </a:rPr>
              <a:t>3. Misma base histórica (desde 202301).</a:t>
            </a:r>
            <a:endParaRPr lang="es-ES_tradnl" sz="1333" kern="1200" dirty="0">
              <a:solidFill>
                <a:prstClr val="black"/>
              </a:solidFill>
              <a:latin typeface="Calibri" panose="020F0502020204030204" pitchFamily="34" charset="0"/>
              <a:ea typeface="+mn-ea"/>
              <a:cs typeface="Calibri" panose="020F0502020204030204" pitchFamily="34" charset="0"/>
            </a:endParaRPr>
          </a:p>
          <a:p>
            <a:pPr defTabSz="1219170">
              <a:buClrTx/>
            </a:pPr>
            <a:r>
              <a:rPr lang="es-ES_tradnl" sz="1333" kern="1200" dirty="0">
                <a:solidFill>
                  <a:prstClr val="black"/>
                </a:solidFill>
                <a:latin typeface="Calibri" panose="020F0502020204030204" pitchFamily="34" charset="0"/>
                <a:ea typeface="Arial" pitchFamily="34" charset="-122"/>
                <a:cs typeface="Calibri" panose="020F0502020204030204" pitchFamily="34" charset="0"/>
              </a:rPr>
              <a:t>4. No se requieren ajustes adicionales.</a:t>
            </a:r>
            <a:endParaRPr lang="es-ES_tradnl" sz="1333" kern="1200" dirty="0">
              <a:solidFill>
                <a:prstClr val="black"/>
              </a:solidFill>
              <a:latin typeface="Calibri" panose="020F0502020204030204" pitchFamily="34" charset="0"/>
              <a:ea typeface="+mn-ea"/>
              <a:cs typeface="Calibri" panose="020F0502020204030204" pitchFamily="34" charset="0"/>
            </a:endParaRPr>
          </a:p>
        </p:txBody>
      </p:sp>
      <p:pic>
        <p:nvPicPr>
          <p:cNvPr id="387" name="Picture 386" descr="resumen">
            <a:extLst>
              <a:ext uri="{FF2B5EF4-FFF2-40B4-BE49-F238E27FC236}">
                <a16:creationId xmlns:a16="http://schemas.microsoft.com/office/drawing/2014/main" id="{EB75282D-9DEF-CD7B-6BC8-1A1C325D8985}"/>
              </a:ext>
            </a:extLst>
          </p:cNvPr>
          <p:cNvPicPr>
            <a:picLocks noChangeAspect="1"/>
          </p:cNvPicPr>
          <p:nvPr/>
        </p:nvPicPr>
        <p:blipFill>
          <a:blip r:embed="rId10">
            <a:duotone>
              <a:srgbClr val="5B9BD5">
                <a:shade val="45000"/>
                <a:satMod val="135000"/>
              </a:srgbClr>
              <a:prstClr val="white"/>
            </a:duotone>
          </a:blip>
          <a:stretch>
            <a:fillRect/>
          </a:stretch>
        </p:blipFill>
        <p:spPr>
          <a:xfrm>
            <a:off x="11088082" y="8045810"/>
            <a:ext cx="812800" cy="812800"/>
          </a:xfrm>
          <a:prstGeom prst="rect">
            <a:avLst/>
          </a:prstGeom>
        </p:spPr>
      </p:pic>
      <p:pic>
        <p:nvPicPr>
          <p:cNvPr id="388" name="Picture 387" descr="historia ">
            <a:extLst>
              <a:ext uri="{FF2B5EF4-FFF2-40B4-BE49-F238E27FC236}">
                <a16:creationId xmlns:a16="http://schemas.microsoft.com/office/drawing/2014/main" id="{4E938CD3-67D2-C522-3C37-DBF049950DD8}"/>
              </a:ext>
            </a:extLst>
          </p:cNvPr>
          <p:cNvPicPr>
            <a:picLocks noChangeAspect="1"/>
          </p:cNvPicPr>
          <p:nvPr/>
        </p:nvPicPr>
        <p:blipFill>
          <a:blip r:embed="rId11">
            <a:duotone>
              <a:srgbClr val="5B9BD5">
                <a:shade val="45000"/>
                <a:satMod val="135000"/>
              </a:srgbClr>
              <a:prstClr val="white"/>
            </a:duotone>
          </a:blip>
          <a:stretch>
            <a:fillRect/>
          </a:stretch>
        </p:blipFill>
        <p:spPr>
          <a:xfrm>
            <a:off x="404279" y="8360850"/>
            <a:ext cx="611848" cy="611848"/>
          </a:xfrm>
          <a:prstGeom prst="rect">
            <a:avLst/>
          </a:prstGeom>
        </p:spPr>
      </p:pic>
      <p:pic>
        <p:nvPicPr>
          <p:cNvPr id="389" name="Picture 388" descr="idea ">
            <a:extLst>
              <a:ext uri="{FF2B5EF4-FFF2-40B4-BE49-F238E27FC236}">
                <a16:creationId xmlns:a16="http://schemas.microsoft.com/office/drawing/2014/main" id="{B75B36FF-61C9-3A56-BFD8-A4847BF3A714}"/>
              </a:ext>
            </a:extLst>
          </p:cNvPr>
          <p:cNvPicPr>
            <a:picLocks noChangeAspect="1"/>
          </p:cNvPicPr>
          <p:nvPr/>
        </p:nvPicPr>
        <p:blipFill>
          <a:blip r:embed="rId12">
            <a:duotone>
              <a:srgbClr val="5B9BD5">
                <a:shade val="45000"/>
                <a:satMod val="135000"/>
              </a:srgbClr>
              <a:prstClr val="white"/>
            </a:duotone>
          </a:blip>
          <a:stretch>
            <a:fillRect/>
          </a:stretch>
        </p:blipFill>
        <p:spPr>
          <a:xfrm>
            <a:off x="5586007" y="8277458"/>
            <a:ext cx="753960" cy="753960"/>
          </a:xfrm>
          <a:prstGeom prst="rect">
            <a:avLst/>
          </a:prstGeom>
        </p:spPr>
      </p:pic>
    </p:spTree>
    <p:extLst>
      <p:ext uri="{BB962C8B-B14F-4D97-AF65-F5344CB8AC3E}">
        <p14:creationId xmlns:p14="http://schemas.microsoft.com/office/powerpoint/2010/main" val="1465487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9C0E-C0F6-1174-6242-ECB61D10C4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87C9E47-DDD2-AE1C-8484-E4B3169210AC}"/>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7FAA7738-2A26-7AD5-396C-B47421E66B76}"/>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PD </a:t>
            </a:r>
            <a:r>
              <a:rPr lang="es-ES_tradnl" sz="3200" b="1" kern="1200" noProof="0" dirty="0" err="1">
                <a:solidFill>
                  <a:srgbClr val="13807B"/>
                </a:solidFill>
                <a:latin typeface="Poppins"/>
                <a:ea typeface="Poppins"/>
                <a:cs typeface="Poppins"/>
                <a:sym typeface="Poppins"/>
              </a:rPr>
              <a:t>Lifetime</a:t>
            </a:r>
            <a:endParaRPr lang="es-ES_tradnl" sz="3200" b="1" kern="1200" noProof="0" dirty="0">
              <a:solidFill>
                <a:srgbClr val="13807B"/>
              </a:solidFill>
              <a:latin typeface="Poppins"/>
              <a:ea typeface="Poppins"/>
              <a:cs typeface="Poppins"/>
              <a:sym typeface="Poppins"/>
            </a:endParaRPr>
          </a:p>
        </p:txBody>
      </p:sp>
      <p:cxnSp>
        <p:nvCxnSpPr>
          <p:cNvPr id="8" name="Connector 3">
            <a:extLst>
              <a:ext uri="{FF2B5EF4-FFF2-40B4-BE49-F238E27FC236}">
                <a16:creationId xmlns:a16="http://schemas.microsoft.com/office/drawing/2014/main" id="{AB9B8054-D186-9DA4-3405-996DD71DBD09}"/>
              </a:ext>
            </a:extLst>
          </p:cNvPr>
          <p:cNvCxnSpPr/>
          <p:nvPr/>
        </p:nvCxnSpPr>
        <p:spPr>
          <a:xfrm>
            <a:off x="658368" y="115519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6D43387-540F-24AE-717C-B8D9C17FDD41}"/>
              </a:ext>
            </a:extLst>
          </p:cNvPr>
          <p:cNvSpPr/>
          <p:nvPr/>
        </p:nvSpPr>
        <p:spPr>
          <a:xfrm>
            <a:off x="658368" y="1383792"/>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11" name="Connector 7">
            <a:extLst>
              <a:ext uri="{FF2B5EF4-FFF2-40B4-BE49-F238E27FC236}">
                <a16:creationId xmlns:a16="http://schemas.microsoft.com/office/drawing/2014/main" id="{1C9D65FA-EA69-CD49-543A-CE87175D3C2E}"/>
              </a:ext>
            </a:extLst>
          </p:cNvPr>
          <p:cNvCxnSpPr/>
          <p:nvPr/>
        </p:nvCxnSpPr>
        <p:spPr>
          <a:xfrm>
            <a:off x="658368" y="1383792"/>
            <a:ext cx="0" cy="475488"/>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5E8D986-6F85-86C6-A300-49F216D9A24F}"/>
              </a:ext>
            </a:extLst>
          </p:cNvPr>
          <p:cNvSpPr txBox="1"/>
          <p:nvPr/>
        </p:nvSpPr>
        <p:spPr>
          <a:xfrm>
            <a:off x="822959" y="1415584"/>
            <a:ext cx="14610100" cy="411908"/>
          </a:xfrm>
          <a:prstGeom prst="rect">
            <a:avLst/>
          </a:prstGeom>
          <a:noFill/>
        </p:spPr>
        <p:txBody>
          <a:bodyPr wrap="square" lIns="0" tIns="0" rIns="0" bIns="0" anchor="ctr">
            <a:spAutoFit/>
          </a:bodyPr>
          <a:lstStyle/>
          <a:p>
            <a:pPr algn="l">
              <a:lnSpc>
                <a:spcPct val="112000"/>
              </a:lnSpc>
              <a:spcAft>
                <a:spcPts val="200"/>
              </a:spcAft>
            </a:pPr>
            <a:r>
              <a:rPr lang="es-ES_tradnl" sz="1200" b="1" i="0" noProof="0" dirty="0">
                <a:solidFill>
                  <a:srgbClr val="13807B"/>
                </a:solidFill>
                <a:latin typeface="Calibri" panose="020F0502020204030204" pitchFamily="34" charset="0"/>
                <a:cs typeface="Calibri" panose="020F0502020204030204" pitchFamily="34" charset="0"/>
              </a:rPr>
              <a:t>Nuestro objetivo</a:t>
            </a:r>
          </a:p>
          <a:p>
            <a:pPr algn="l">
              <a:lnSpc>
                <a:spcPct val="112000"/>
              </a:lnSpc>
              <a:spcAft>
                <a:spcPts val="200"/>
              </a:spcAft>
            </a:pPr>
            <a:r>
              <a:rPr lang="es-ES_tradnl" sz="1100" b="0" i="0" noProof="0" dirty="0">
                <a:solidFill>
                  <a:srgbClr val="3E5553"/>
                </a:solidFill>
                <a:latin typeface="Calibri" panose="020F0502020204030204" pitchFamily="34" charset="0"/>
                <a:cs typeface="Calibri" panose="020F0502020204030204" pitchFamily="34" charset="0"/>
              </a:rPr>
              <a:t>Estimar la probabilidad acumulada de que un cliente entre en default (&gt; 90 días mora → estado vigente) en cualquier mes de su vida de crédito.</a:t>
            </a:r>
          </a:p>
        </p:txBody>
      </p:sp>
      <p:sp>
        <p:nvSpPr>
          <p:cNvPr id="13" name="Rectangle 12">
            <a:extLst>
              <a:ext uri="{FF2B5EF4-FFF2-40B4-BE49-F238E27FC236}">
                <a16:creationId xmlns:a16="http://schemas.microsoft.com/office/drawing/2014/main" id="{718C61D3-776E-10A9-89D4-56BC3101FBEC}"/>
              </a:ext>
            </a:extLst>
          </p:cNvPr>
          <p:cNvSpPr/>
          <p:nvPr/>
        </p:nvSpPr>
        <p:spPr>
          <a:xfrm>
            <a:off x="658368" y="2042160"/>
            <a:ext cx="2856183" cy="559612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A7096BAD-8B53-EB90-3FB6-4757F72BF082}"/>
              </a:ext>
            </a:extLst>
          </p:cNvPr>
          <p:cNvSpPr/>
          <p:nvPr/>
        </p:nvSpPr>
        <p:spPr>
          <a:xfrm>
            <a:off x="658368" y="2042160"/>
            <a:ext cx="285618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C4198C75-0AFA-46DE-7812-DDDC2D235798}"/>
              </a:ext>
            </a:extLst>
          </p:cNvPr>
          <p:cNvSpPr/>
          <p:nvPr/>
        </p:nvSpPr>
        <p:spPr>
          <a:xfrm>
            <a:off x="822959" y="2225040"/>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1</a:t>
            </a:r>
          </a:p>
        </p:txBody>
      </p:sp>
      <p:sp>
        <p:nvSpPr>
          <p:cNvPr id="16" name="TextBox 15">
            <a:extLst>
              <a:ext uri="{FF2B5EF4-FFF2-40B4-BE49-F238E27FC236}">
                <a16:creationId xmlns:a16="http://schemas.microsoft.com/office/drawing/2014/main" id="{D4A293E4-9B31-76D0-D1AF-280C734AD5C4}"/>
              </a:ext>
            </a:extLst>
          </p:cNvPr>
          <p:cNvSpPr txBox="1"/>
          <p:nvPr/>
        </p:nvSpPr>
        <p:spPr>
          <a:xfrm>
            <a:off x="1207007" y="2252472"/>
            <a:ext cx="2142951" cy="215444"/>
          </a:xfrm>
          <a:prstGeom prst="rect">
            <a:avLst/>
          </a:prstGeom>
          <a:noFill/>
        </p:spPr>
        <p:txBody>
          <a:bodyPr wrap="square" lIns="0" tIns="0" rIns="0" bIns="0" anchor="t">
            <a:spAutoFit/>
          </a:bodyPr>
          <a:lstStyle/>
          <a:p>
            <a:pPr algn="l">
              <a:lnSpc>
                <a:spcPct val="100000"/>
              </a:lnSpc>
            </a:pPr>
            <a:r>
              <a:rPr lang="es-ES_tradnl" b="1" i="0" noProof="0" dirty="0">
                <a:solidFill>
                  <a:srgbClr val="0B2E2C"/>
                </a:solidFill>
                <a:latin typeface="Calibri" panose="020F0502020204030204" pitchFamily="34" charset="0"/>
                <a:cs typeface="Calibri" panose="020F0502020204030204" pitchFamily="34" charset="0"/>
              </a:rPr>
              <a:t>Target temporales</a:t>
            </a:r>
          </a:p>
        </p:txBody>
      </p:sp>
      <p:sp>
        <p:nvSpPr>
          <p:cNvPr id="17" name="TextBox 16">
            <a:extLst>
              <a:ext uri="{FF2B5EF4-FFF2-40B4-BE49-F238E27FC236}">
                <a16:creationId xmlns:a16="http://schemas.microsoft.com/office/drawing/2014/main" id="{8B943B26-F67D-FE4A-E9B5-26066204ABDC}"/>
              </a:ext>
            </a:extLst>
          </p:cNvPr>
          <p:cNvSpPr txBox="1"/>
          <p:nvPr/>
        </p:nvSpPr>
        <p:spPr>
          <a:xfrm>
            <a:off x="822959" y="2700528"/>
            <a:ext cx="2526999" cy="392672"/>
          </a:xfrm>
          <a:prstGeom prst="rect">
            <a:avLst/>
          </a:prstGeom>
          <a:noFill/>
        </p:spPr>
        <p:txBody>
          <a:bodyPr wrap="square" lIns="0" tIns="0" rIns="0" bIns="0" anchor="t">
            <a:spAutoFit/>
          </a:bodyPr>
          <a:lstStyle/>
          <a:p>
            <a:pPr algn="l">
              <a:lnSpc>
                <a:spcPct val="120000"/>
              </a:lnSpc>
            </a:pPr>
            <a:r>
              <a:rPr lang="es-ES_tradnl" sz="1100" b="0" i="0" noProof="0" dirty="0">
                <a:solidFill>
                  <a:srgbClr val="6E7E7D"/>
                </a:solidFill>
                <a:latin typeface="Calibri" panose="020F0502020204030204" pitchFamily="34" charset="0"/>
                <a:cs typeface="Calibri" panose="020F0502020204030204" pitchFamily="34" charset="0"/>
              </a:rPr>
              <a:t>Descomposición del target en ventanas temporales acumuladas</a:t>
            </a:r>
          </a:p>
        </p:txBody>
      </p:sp>
      <p:sp>
        <p:nvSpPr>
          <p:cNvPr id="18" name="Rectangle 17">
            <a:extLst>
              <a:ext uri="{FF2B5EF4-FFF2-40B4-BE49-F238E27FC236}">
                <a16:creationId xmlns:a16="http://schemas.microsoft.com/office/drawing/2014/main" id="{902A9E7E-2D8B-D289-B314-14E1314B9806}"/>
              </a:ext>
            </a:extLst>
          </p:cNvPr>
          <p:cNvSpPr/>
          <p:nvPr/>
        </p:nvSpPr>
        <p:spPr>
          <a:xfrm>
            <a:off x="822959" y="3267456"/>
            <a:ext cx="2526999" cy="36576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3E659A87-D9D2-4847-788A-E00B1B400232}"/>
              </a:ext>
            </a:extLst>
          </p:cNvPr>
          <p:cNvSpPr txBox="1"/>
          <p:nvPr/>
        </p:nvSpPr>
        <p:spPr>
          <a:xfrm>
            <a:off x="914399" y="3358896"/>
            <a:ext cx="1010799"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Horizonte</a:t>
            </a:r>
          </a:p>
        </p:txBody>
      </p:sp>
      <p:sp>
        <p:nvSpPr>
          <p:cNvPr id="20" name="TextBox 19">
            <a:extLst>
              <a:ext uri="{FF2B5EF4-FFF2-40B4-BE49-F238E27FC236}">
                <a16:creationId xmlns:a16="http://schemas.microsoft.com/office/drawing/2014/main" id="{ECFAE2A3-8E46-5509-AC5D-43228D8CADF7}"/>
              </a:ext>
            </a:extLst>
          </p:cNvPr>
          <p:cNvSpPr txBox="1"/>
          <p:nvPr/>
        </p:nvSpPr>
        <p:spPr>
          <a:xfrm>
            <a:off x="1884299" y="3358896"/>
            <a:ext cx="1415119"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FFFFFF"/>
                </a:solidFill>
                <a:latin typeface="Calibri" panose="020F0502020204030204" pitchFamily="34" charset="0"/>
                <a:cs typeface="Calibri" panose="020F0502020204030204" pitchFamily="34" charset="0"/>
              </a:rPr>
              <a:t>Target acumulado</a:t>
            </a:r>
          </a:p>
        </p:txBody>
      </p:sp>
      <p:sp>
        <p:nvSpPr>
          <p:cNvPr id="21" name="Rectangle 20">
            <a:extLst>
              <a:ext uri="{FF2B5EF4-FFF2-40B4-BE49-F238E27FC236}">
                <a16:creationId xmlns:a16="http://schemas.microsoft.com/office/drawing/2014/main" id="{655F2166-7723-A2AA-3E29-57884152387F}"/>
              </a:ext>
            </a:extLst>
          </p:cNvPr>
          <p:cNvSpPr/>
          <p:nvPr/>
        </p:nvSpPr>
        <p:spPr>
          <a:xfrm>
            <a:off x="822959" y="3669792"/>
            <a:ext cx="2526999"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A1B40ADE-5782-CE4A-B5FE-E85F0C67D1D6}"/>
              </a:ext>
            </a:extLst>
          </p:cNvPr>
          <p:cNvSpPr txBox="1"/>
          <p:nvPr/>
        </p:nvSpPr>
        <p:spPr>
          <a:xfrm>
            <a:off x="914399" y="3761232"/>
            <a:ext cx="1010799"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0C514E"/>
                </a:solidFill>
                <a:latin typeface="Calibri" panose="020F0502020204030204" pitchFamily="34" charset="0"/>
                <a:cs typeface="Calibri" panose="020F0502020204030204" pitchFamily="34" charset="0"/>
              </a:rPr>
              <a:t>90_12</a:t>
            </a:r>
          </a:p>
        </p:txBody>
      </p:sp>
      <p:sp>
        <p:nvSpPr>
          <p:cNvPr id="23" name="TextBox 22">
            <a:extLst>
              <a:ext uri="{FF2B5EF4-FFF2-40B4-BE49-F238E27FC236}">
                <a16:creationId xmlns:a16="http://schemas.microsoft.com/office/drawing/2014/main" id="{A0E95A19-8A98-18D5-184C-CF336A1138CF}"/>
              </a:ext>
            </a:extLst>
          </p:cNvPr>
          <p:cNvSpPr txBox="1"/>
          <p:nvPr/>
        </p:nvSpPr>
        <p:spPr>
          <a:xfrm>
            <a:off x="1884299" y="3761232"/>
            <a:ext cx="1415119"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6E7E7D"/>
                </a:solidFill>
                <a:latin typeface="Calibri" panose="020F0502020204030204" pitchFamily="34" charset="0"/>
                <a:cs typeface="Calibri" panose="020F0502020204030204" pitchFamily="34" charset="0"/>
              </a:rPr>
              <a:t>Default +90 en 12m</a:t>
            </a:r>
          </a:p>
        </p:txBody>
      </p:sp>
      <p:sp>
        <p:nvSpPr>
          <p:cNvPr id="24" name="Rectangle 23">
            <a:extLst>
              <a:ext uri="{FF2B5EF4-FFF2-40B4-BE49-F238E27FC236}">
                <a16:creationId xmlns:a16="http://schemas.microsoft.com/office/drawing/2014/main" id="{001BF58F-4628-D5DB-4067-ABFEF760386A}"/>
              </a:ext>
            </a:extLst>
          </p:cNvPr>
          <p:cNvSpPr/>
          <p:nvPr/>
        </p:nvSpPr>
        <p:spPr>
          <a:xfrm>
            <a:off x="822959" y="4072128"/>
            <a:ext cx="2526999" cy="36576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9BA56176-E37A-6D7F-D395-01170F637CA3}"/>
              </a:ext>
            </a:extLst>
          </p:cNvPr>
          <p:cNvSpPr txBox="1"/>
          <p:nvPr/>
        </p:nvSpPr>
        <p:spPr>
          <a:xfrm>
            <a:off x="914399" y="4163568"/>
            <a:ext cx="1010799"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0C514E"/>
                </a:solidFill>
                <a:latin typeface="Calibri" panose="020F0502020204030204" pitchFamily="34" charset="0"/>
                <a:cs typeface="Calibri" panose="020F0502020204030204" pitchFamily="34" charset="0"/>
              </a:rPr>
              <a:t>90_11</a:t>
            </a:r>
          </a:p>
        </p:txBody>
      </p:sp>
      <p:sp>
        <p:nvSpPr>
          <p:cNvPr id="26" name="TextBox 25">
            <a:extLst>
              <a:ext uri="{FF2B5EF4-FFF2-40B4-BE49-F238E27FC236}">
                <a16:creationId xmlns:a16="http://schemas.microsoft.com/office/drawing/2014/main" id="{CB79C5F0-8307-96E4-D408-C61D00F7CEA8}"/>
              </a:ext>
            </a:extLst>
          </p:cNvPr>
          <p:cNvSpPr txBox="1"/>
          <p:nvPr/>
        </p:nvSpPr>
        <p:spPr>
          <a:xfrm>
            <a:off x="1884299" y="4163568"/>
            <a:ext cx="1415119"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6E7E7D"/>
                </a:solidFill>
                <a:latin typeface="Calibri" panose="020F0502020204030204" pitchFamily="34" charset="0"/>
                <a:cs typeface="Calibri" panose="020F0502020204030204" pitchFamily="34" charset="0"/>
              </a:rPr>
              <a:t>Default +90 en 11m</a:t>
            </a:r>
          </a:p>
        </p:txBody>
      </p:sp>
      <p:sp>
        <p:nvSpPr>
          <p:cNvPr id="27" name="Rectangle 26">
            <a:extLst>
              <a:ext uri="{FF2B5EF4-FFF2-40B4-BE49-F238E27FC236}">
                <a16:creationId xmlns:a16="http://schemas.microsoft.com/office/drawing/2014/main" id="{D5D966F9-A597-CB6D-B26A-096A25C62A4C}"/>
              </a:ext>
            </a:extLst>
          </p:cNvPr>
          <p:cNvSpPr/>
          <p:nvPr/>
        </p:nvSpPr>
        <p:spPr>
          <a:xfrm>
            <a:off x="822959" y="4474464"/>
            <a:ext cx="2526999"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7723674F-4A7C-F829-4FB3-76340D28E768}"/>
              </a:ext>
            </a:extLst>
          </p:cNvPr>
          <p:cNvSpPr txBox="1"/>
          <p:nvPr/>
        </p:nvSpPr>
        <p:spPr>
          <a:xfrm>
            <a:off x="914399" y="4565904"/>
            <a:ext cx="1010799"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0C514E"/>
                </a:solidFill>
                <a:latin typeface="Calibri" panose="020F0502020204030204" pitchFamily="34" charset="0"/>
                <a:cs typeface="Calibri" panose="020F0502020204030204" pitchFamily="34" charset="0"/>
              </a:rPr>
              <a:t>90_10</a:t>
            </a:r>
          </a:p>
        </p:txBody>
      </p:sp>
      <p:sp>
        <p:nvSpPr>
          <p:cNvPr id="29" name="TextBox 28">
            <a:extLst>
              <a:ext uri="{FF2B5EF4-FFF2-40B4-BE49-F238E27FC236}">
                <a16:creationId xmlns:a16="http://schemas.microsoft.com/office/drawing/2014/main" id="{C36C57A6-6E7A-1849-2C33-779048FF1687}"/>
              </a:ext>
            </a:extLst>
          </p:cNvPr>
          <p:cNvSpPr txBox="1"/>
          <p:nvPr/>
        </p:nvSpPr>
        <p:spPr>
          <a:xfrm>
            <a:off x="1884299" y="4565904"/>
            <a:ext cx="1415119"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6E7E7D"/>
                </a:solidFill>
                <a:latin typeface="Calibri" panose="020F0502020204030204" pitchFamily="34" charset="0"/>
                <a:cs typeface="Calibri" panose="020F0502020204030204" pitchFamily="34" charset="0"/>
              </a:rPr>
              <a:t>Default +90 en 10m</a:t>
            </a:r>
          </a:p>
        </p:txBody>
      </p:sp>
      <p:sp>
        <p:nvSpPr>
          <p:cNvPr id="30" name="Rectangle 29">
            <a:extLst>
              <a:ext uri="{FF2B5EF4-FFF2-40B4-BE49-F238E27FC236}">
                <a16:creationId xmlns:a16="http://schemas.microsoft.com/office/drawing/2014/main" id="{D72A80F3-6030-89AD-8838-63F43849DB21}"/>
              </a:ext>
            </a:extLst>
          </p:cNvPr>
          <p:cNvSpPr/>
          <p:nvPr/>
        </p:nvSpPr>
        <p:spPr>
          <a:xfrm>
            <a:off x="822959" y="4876800"/>
            <a:ext cx="2526999" cy="36576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A81F281D-7463-D94D-91FF-832C8C8F7487}"/>
              </a:ext>
            </a:extLst>
          </p:cNvPr>
          <p:cNvSpPr txBox="1"/>
          <p:nvPr/>
        </p:nvSpPr>
        <p:spPr>
          <a:xfrm>
            <a:off x="914399" y="4968240"/>
            <a:ext cx="1010799"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0C514E"/>
                </a:solidFill>
                <a:latin typeface="Calibri" panose="020F0502020204030204" pitchFamily="34" charset="0"/>
                <a:cs typeface="Calibri" panose="020F0502020204030204" pitchFamily="34" charset="0"/>
              </a:rPr>
              <a:t>…</a:t>
            </a:r>
          </a:p>
        </p:txBody>
      </p:sp>
      <p:sp>
        <p:nvSpPr>
          <p:cNvPr id="32" name="TextBox 31">
            <a:extLst>
              <a:ext uri="{FF2B5EF4-FFF2-40B4-BE49-F238E27FC236}">
                <a16:creationId xmlns:a16="http://schemas.microsoft.com/office/drawing/2014/main" id="{79F07E1E-FC90-26DE-78EE-F417D6AF5DD7}"/>
              </a:ext>
            </a:extLst>
          </p:cNvPr>
          <p:cNvSpPr txBox="1"/>
          <p:nvPr/>
        </p:nvSpPr>
        <p:spPr>
          <a:xfrm>
            <a:off x="1884299" y="4968240"/>
            <a:ext cx="1415119"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6E7E7D"/>
                </a:solidFill>
                <a:latin typeface="Calibri" panose="020F0502020204030204" pitchFamily="34" charset="0"/>
                <a:cs typeface="Calibri" panose="020F0502020204030204" pitchFamily="34" charset="0"/>
              </a:rPr>
              <a:t>…</a:t>
            </a:r>
          </a:p>
        </p:txBody>
      </p:sp>
      <p:sp>
        <p:nvSpPr>
          <p:cNvPr id="33" name="Rectangle 32">
            <a:extLst>
              <a:ext uri="{FF2B5EF4-FFF2-40B4-BE49-F238E27FC236}">
                <a16:creationId xmlns:a16="http://schemas.microsoft.com/office/drawing/2014/main" id="{B1A9789D-87C3-C87D-647D-EB4D6EFBA7BC}"/>
              </a:ext>
            </a:extLst>
          </p:cNvPr>
          <p:cNvSpPr/>
          <p:nvPr/>
        </p:nvSpPr>
        <p:spPr>
          <a:xfrm>
            <a:off x="822959" y="5279136"/>
            <a:ext cx="2526999"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2032ACD-232D-2290-40AF-38C1083051A1}"/>
              </a:ext>
            </a:extLst>
          </p:cNvPr>
          <p:cNvSpPr txBox="1"/>
          <p:nvPr/>
        </p:nvSpPr>
        <p:spPr>
          <a:xfrm>
            <a:off x="914399" y="5370576"/>
            <a:ext cx="1010799"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0C514E"/>
                </a:solidFill>
                <a:latin typeface="Calibri" panose="020F0502020204030204" pitchFamily="34" charset="0"/>
                <a:cs typeface="Calibri" panose="020F0502020204030204" pitchFamily="34" charset="0"/>
              </a:rPr>
              <a:t>90_03</a:t>
            </a:r>
          </a:p>
        </p:txBody>
      </p:sp>
      <p:sp>
        <p:nvSpPr>
          <p:cNvPr id="35" name="TextBox 34">
            <a:extLst>
              <a:ext uri="{FF2B5EF4-FFF2-40B4-BE49-F238E27FC236}">
                <a16:creationId xmlns:a16="http://schemas.microsoft.com/office/drawing/2014/main" id="{46FFA0FE-8F14-9359-A292-BCF893E62DCE}"/>
              </a:ext>
            </a:extLst>
          </p:cNvPr>
          <p:cNvSpPr txBox="1"/>
          <p:nvPr/>
        </p:nvSpPr>
        <p:spPr>
          <a:xfrm>
            <a:off x="1884299" y="5370576"/>
            <a:ext cx="1415119"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6E7E7D"/>
                </a:solidFill>
                <a:latin typeface="Calibri" panose="020F0502020204030204" pitchFamily="34" charset="0"/>
                <a:cs typeface="Calibri" panose="020F0502020204030204" pitchFamily="34" charset="0"/>
              </a:rPr>
              <a:t>Default +90 en 3m</a:t>
            </a:r>
          </a:p>
        </p:txBody>
      </p:sp>
      <p:sp>
        <p:nvSpPr>
          <p:cNvPr id="36" name="Rectangle 35">
            <a:extLst>
              <a:ext uri="{FF2B5EF4-FFF2-40B4-BE49-F238E27FC236}">
                <a16:creationId xmlns:a16="http://schemas.microsoft.com/office/drawing/2014/main" id="{9625ABAA-B28A-7198-167C-2FE5EC46E963}"/>
              </a:ext>
            </a:extLst>
          </p:cNvPr>
          <p:cNvSpPr/>
          <p:nvPr/>
        </p:nvSpPr>
        <p:spPr>
          <a:xfrm>
            <a:off x="822959" y="5900928"/>
            <a:ext cx="2526999" cy="91440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37" name="Connector 33">
            <a:extLst>
              <a:ext uri="{FF2B5EF4-FFF2-40B4-BE49-F238E27FC236}">
                <a16:creationId xmlns:a16="http://schemas.microsoft.com/office/drawing/2014/main" id="{9147869D-142C-CA29-5D71-07AAE28EB1D8}"/>
              </a:ext>
            </a:extLst>
          </p:cNvPr>
          <p:cNvCxnSpPr/>
          <p:nvPr/>
        </p:nvCxnSpPr>
        <p:spPr>
          <a:xfrm>
            <a:off x="822959" y="5900928"/>
            <a:ext cx="0" cy="914400"/>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2571A494-FE8D-1D68-9411-1B6564AA1BCD}"/>
              </a:ext>
            </a:extLst>
          </p:cNvPr>
          <p:cNvSpPr txBox="1"/>
          <p:nvPr/>
        </p:nvSpPr>
        <p:spPr>
          <a:xfrm>
            <a:off x="987551" y="6182022"/>
            <a:ext cx="2197815" cy="352212"/>
          </a:xfrm>
          <a:prstGeom prst="rect">
            <a:avLst/>
          </a:prstGeom>
          <a:noFill/>
        </p:spPr>
        <p:txBody>
          <a:bodyPr wrap="square" lIns="0" tIns="0" rIns="0" bIns="0" anchor="ctr">
            <a:spAutoFit/>
          </a:bodyPr>
          <a:lstStyle/>
          <a:p>
            <a:pPr algn="l">
              <a:lnSpc>
                <a:spcPct val="112000"/>
              </a:lnSpc>
              <a:spcAft>
                <a:spcPts val="200"/>
              </a:spcAft>
            </a:pPr>
            <a:r>
              <a:rPr lang="es-ES_tradnl" sz="1050" b="0" i="0" noProof="0" dirty="0">
                <a:solidFill>
                  <a:srgbClr val="3E5553"/>
                </a:solidFill>
                <a:latin typeface="Calibri" panose="020F0502020204030204" pitchFamily="34" charset="0"/>
                <a:cs typeface="Calibri" panose="020F0502020204030204" pitchFamily="34" charset="0"/>
              </a:rPr>
              <a:t>Se generan 10 targets acumulados: 90_12, 90_11, …, 90_03</a:t>
            </a:r>
          </a:p>
        </p:txBody>
      </p:sp>
      <p:cxnSp>
        <p:nvCxnSpPr>
          <p:cNvPr id="39" name="Connector 35">
            <a:extLst>
              <a:ext uri="{FF2B5EF4-FFF2-40B4-BE49-F238E27FC236}">
                <a16:creationId xmlns:a16="http://schemas.microsoft.com/office/drawing/2014/main" id="{5DD5DEF9-2F1E-0E8D-E044-43D9082A8E07}"/>
              </a:ext>
            </a:extLst>
          </p:cNvPr>
          <p:cNvCxnSpPr/>
          <p:nvPr/>
        </p:nvCxnSpPr>
        <p:spPr>
          <a:xfrm>
            <a:off x="3532839" y="4840224"/>
            <a:ext cx="128016" cy="0"/>
          </a:xfrm>
          <a:prstGeom prst="line">
            <a:avLst/>
          </a:prstGeom>
          <a:ln w="1587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13DFCAFA-1EF3-0B0C-B4D6-E3CA35761C85}"/>
              </a:ext>
            </a:extLst>
          </p:cNvPr>
          <p:cNvSpPr/>
          <p:nvPr/>
        </p:nvSpPr>
        <p:spPr>
          <a:xfrm>
            <a:off x="3679143" y="2042160"/>
            <a:ext cx="2856183" cy="559612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41" name="Rectangle 40">
            <a:extLst>
              <a:ext uri="{FF2B5EF4-FFF2-40B4-BE49-F238E27FC236}">
                <a16:creationId xmlns:a16="http://schemas.microsoft.com/office/drawing/2014/main" id="{567650F6-D7AA-B7FF-DF39-DA29D891F6A6}"/>
              </a:ext>
            </a:extLst>
          </p:cNvPr>
          <p:cNvSpPr/>
          <p:nvPr/>
        </p:nvSpPr>
        <p:spPr>
          <a:xfrm>
            <a:off x="3679143" y="2042160"/>
            <a:ext cx="285618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42" name="Rectangle 41">
            <a:extLst>
              <a:ext uri="{FF2B5EF4-FFF2-40B4-BE49-F238E27FC236}">
                <a16:creationId xmlns:a16="http://schemas.microsoft.com/office/drawing/2014/main" id="{4F002F23-835B-DF55-7D4B-4AAD2E646193}"/>
              </a:ext>
            </a:extLst>
          </p:cNvPr>
          <p:cNvSpPr/>
          <p:nvPr/>
        </p:nvSpPr>
        <p:spPr>
          <a:xfrm>
            <a:off x="3843735" y="2225040"/>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2</a:t>
            </a:r>
          </a:p>
        </p:txBody>
      </p:sp>
      <p:sp>
        <p:nvSpPr>
          <p:cNvPr id="43" name="TextBox 42">
            <a:extLst>
              <a:ext uri="{FF2B5EF4-FFF2-40B4-BE49-F238E27FC236}">
                <a16:creationId xmlns:a16="http://schemas.microsoft.com/office/drawing/2014/main" id="{9EC66B68-1E54-B515-4153-6A0712C2FE58}"/>
              </a:ext>
            </a:extLst>
          </p:cNvPr>
          <p:cNvSpPr txBox="1"/>
          <p:nvPr/>
        </p:nvSpPr>
        <p:spPr>
          <a:xfrm>
            <a:off x="4227783" y="2252472"/>
            <a:ext cx="2142951" cy="215444"/>
          </a:xfrm>
          <a:prstGeom prst="rect">
            <a:avLst/>
          </a:prstGeom>
          <a:noFill/>
        </p:spPr>
        <p:txBody>
          <a:bodyPr wrap="square" lIns="0" tIns="0" rIns="0" bIns="0" anchor="t">
            <a:spAutoFit/>
          </a:bodyPr>
          <a:lstStyle/>
          <a:p>
            <a:pPr algn="l">
              <a:lnSpc>
                <a:spcPct val="100000"/>
              </a:lnSpc>
            </a:pPr>
            <a:r>
              <a:rPr lang="es-ES_tradnl" b="1" i="0" noProof="0" dirty="0">
                <a:solidFill>
                  <a:srgbClr val="0B2E2C"/>
                </a:solidFill>
                <a:latin typeface="Calibri" panose="020F0502020204030204" pitchFamily="34" charset="0"/>
                <a:cs typeface="Calibri" panose="020F0502020204030204" pitchFamily="34" charset="0"/>
              </a:rPr>
              <a:t>Modelos </a:t>
            </a:r>
            <a:r>
              <a:rPr lang="es-ES_tradnl" b="1" i="0" noProof="0" dirty="0" err="1">
                <a:solidFill>
                  <a:srgbClr val="0B2E2C"/>
                </a:solidFill>
                <a:latin typeface="Calibri" panose="020F0502020204030204" pitchFamily="34" charset="0"/>
                <a:cs typeface="Calibri" panose="020F0502020204030204" pitchFamily="34" charset="0"/>
              </a:rPr>
              <a:t>logit</a:t>
            </a:r>
            <a:r>
              <a:rPr lang="es-ES_tradnl" b="1" i="0" noProof="0" dirty="0">
                <a:solidFill>
                  <a:srgbClr val="0B2E2C"/>
                </a:solidFill>
                <a:latin typeface="Calibri" panose="020F0502020204030204" pitchFamily="34" charset="0"/>
                <a:cs typeface="Calibri" panose="020F0502020204030204" pitchFamily="34" charset="0"/>
              </a:rPr>
              <a:t> temporales</a:t>
            </a:r>
          </a:p>
        </p:txBody>
      </p:sp>
      <p:sp>
        <p:nvSpPr>
          <p:cNvPr id="44" name="TextBox 43">
            <a:extLst>
              <a:ext uri="{FF2B5EF4-FFF2-40B4-BE49-F238E27FC236}">
                <a16:creationId xmlns:a16="http://schemas.microsoft.com/office/drawing/2014/main" id="{D6B9914A-2EC4-D618-FAFD-9DE5FD9B0FF2}"/>
              </a:ext>
            </a:extLst>
          </p:cNvPr>
          <p:cNvSpPr txBox="1"/>
          <p:nvPr/>
        </p:nvSpPr>
        <p:spPr>
          <a:xfrm>
            <a:off x="3843735" y="2700528"/>
            <a:ext cx="2526999" cy="392672"/>
          </a:xfrm>
          <a:prstGeom prst="rect">
            <a:avLst/>
          </a:prstGeom>
          <a:noFill/>
        </p:spPr>
        <p:txBody>
          <a:bodyPr wrap="square" lIns="0" tIns="0" rIns="0" bIns="0" anchor="t">
            <a:spAutoFit/>
          </a:bodyPr>
          <a:lstStyle/>
          <a:p>
            <a:pPr algn="l">
              <a:lnSpc>
                <a:spcPct val="120000"/>
              </a:lnSpc>
            </a:pPr>
            <a:r>
              <a:rPr lang="es-ES_tradnl" sz="1100" b="0" i="0" noProof="0" dirty="0">
                <a:solidFill>
                  <a:srgbClr val="6E7E7D"/>
                </a:solidFill>
                <a:latin typeface="Calibri" panose="020F0502020204030204" pitchFamily="34" charset="0"/>
                <a:cs typeface="Calibri" panose="020F0502020204030204" pitchFamily="34" charset="0"/>
              </a:rPr>
              <a:t>Se regresa un modelo </a:t>
            </a:r>
            <a:r>
              <a:rPr lang="es-ES_tradnl" sz="1100" b="0" i="0" noProof="0" dirty="0" err="1">
                <a:solidFill>
                  <a:srgbClr val="6E7E7D"/>
                </a:solidFill>
                <a:latin typeface="Calibri" panose="020F0502020204030204" pitchFamily="34" charset="0"/>
                <a:cs typeface="Calibri" panose="020F0502020204030204" pitchFamily="34" charset="0"/>
              </a:rPr>
              <a:t>logit</a:t>
            </a:r>
            <a:r>
              <a:rPr lang="es-ES_tradnl" sz="1100" b="0" i="0" noProof="0" dirty="0">
                <a:solidFill>
                  <a:srgbClr val="6E7E7D"/>
                </a:solidFill>
                <a:latin typeface="Calibri" panose="020F0502020204030204" pitchFamily="34" charset="0"/>
                <a:cs typeface="Calibri" panose="020F0502020204030204" pitchFamily="34" charset="0"/>
              </a:rPr>
              <a:t> por cada ventana (k = 3 … 12)</a:t>
            </a:r>
          </a:p>
        </p:txBody>
      </p:sp>
      <p:sp>
        <p:nvSpPr>
          <p:cNvPr id="45" name="Rectangle 44">
            <a:extLst>
              <a:ext uri="{FF2B5EF4-FFF2-40B4-BE49-F238E27FC236}">
                <a16:creationId xmlns:a16="http://schemas.microsoft.com/office/drawing/2014/main" id="{DF1FBE64-9526-20F2-7AC7-ACF310B5801B}"/>
              </a:ext>
            </a:extLst>
          </p:cNvPr>
          <p:cNvSpPr/>
          <p:nvPr/>
        </p:nvSpPr>
        <p:spPr>
          <a:xfrm>
            <a:off x="3843735" y="3267456"/>
            <a:ext cx="2526999" cy="84124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25000"/>
              </a:lnSpc>
            </a:pPr>
            <a:r>
              <a:rPr lang="es-ES_tradnl" sz="1100" b="1" i="0" noProof="0" dirty="0">
                <a:solidFill>
                  <a:srgbClr val="0C514E"/>
                </a:solidFill>
                <a:latin typeface="Calibri" panose="020F0502020204030204" pitchFamily="34" charset="0"/>
                <a:cs typeface="Calibri" panose="020F0502020204030204" pitchFamily="34" charset="0"/>
              </a:rPr>
              <a:t>PD(</a:t>
            </a:r>
            <a:r>
              <a:rPr lang="es-ES_tradnl" sz="1100" b="1" i="0" noProof="0" dirty="0" err="1">
                <a:solidFill>
                  <a:srgbClr val="0C514E"/>
                </a:solidFill>
                <a:latin typeface="Calibri" panose="020F0502020204030204" pitchFamily="34" charset="0"/>
                <a:cs typeface="Calibri" panose="020F0502020204030204" pitchFamily="34" charset="0"/>
              </a:rPr>
              <a:t>oper</a:t>
            </a:r>
            <a:r>
              <a:rPr lang="es-ES_tradnl" sz="1100" b="1" i="0" noProof="0" dirty="0">
                <a:solidFill>
                  <a:srgbClr val="0C514E"/>
                </a:solidFill>
                <a:latin typeface="Calibri" panose="020F0502020204030204" pitchFamily="34" charset="0"/>
                <a:cs typeface="Calibri" panose="020F0502020204030204" pitchFamily="34" charset="0"/>
              </a:rPr>
              <a:t>, 9012)</a:t>
            </a:r>
            <a:r>
              <a:rPr lang="es-ES_tradnl" sz="1100" b="1" i="0" noProof="0" dirty="0" err="1">
                <a:solidFill>
                  <a:srgbClr val="0C514E"/>
                </a:solidFill>
                <a:latin typeface="Calibri" panose="020F0502020204030204" pitchFamily="34" charset="0"/>
                <a:cs typeface="Calibri" panose="020F0502020204030204" pitchFamily="34" charset="0"/>
              </a:rPr>
              <a:t>logit</a:t>
            </a:r>
            <a:r>
              <a:rPr lang="es-ES_tradnl" sz="1100" b="1" i="0" noProof="0" dirty="0">
                <a:solidFill>
                  <a:srgbClr val="0C514E"/>
                </a:solidFill>
                <a:latin typeface="Calibri" panose="020F0502020204030204" pitchFamily="34" charset="0"/>
                <a:cs typeface="Calibri" panose="020F0502020204030204" pitchFamily="34" charset="0"/>
              </a:rPr>
              <a:t> =</a:t>
            </a:r>
          </a:p>
          <a:p>
            <a:pPr algn="ctr">
              <a:lnSpc>
                <a:spcPct val="125000"/>
              </a:lnSpc>
            </a:pPr>
            <a:r>
              <a:rPr lang="es-ES_tradnl" sz="1100" b="1" i="0" noProof="0" dirty="0" err="1">
                <a:solidFill>
                  <a:srgbClr val="0C514E"/>
                </a:solidFill>
                <a:latin typeface="Calibri" panose="020F0502020204030204" pitchFamily="34" charset="0"/>
                <a:cs typeface="Calibri" panose="020F0502020204030204" pitchFamily="34" charset="0"/>
              </a:rPr>
              <a:t>ln</a:t>
            </a:r>
            <a:r>
              <a:rPr lang="es-ES_tradnl" sz="1100" b="1" i="0" noProof="0" dirty="0">
                <a:solidFill>
                  <a:srgbClr val="0C514E"/>
                </a:solidFill>
                <a:latin typeface="Calibri" panose="020F0502020204030204" pitchFamily="34" charset="0"/>
                <a:cs typeface="Calibri" panose="020F0502020204030204" pitchFamily="34" charset="0"/>
              </a:rPr>
              <a:t> [ PD / (1 − PD) ]</a:t>
            </a:r>
          </a:p>
        </p:txBody>
      </p:sp>
      <p:sp>
        <p:nvSpPr>
          <p:cNvPr id="46" name="Rectangle 45">
            <a:extLst>
              <a:ext uri="{FF2B5EF4-FFF2-40B4-BE49-F238E27FC236}">
                <a16:creationId xmlns:a16="http://schemas.microsoft.com/office/drawing/2014/main" id="{A768C590-B1F6-D09A-7DDF-C3733509CE9E}"/>
              </a:ext>
            </a:extLst>
          </p:cNvPr>
          <p:cNvSpPr/>
          <p:nvPr/>
        </p:nvSpPr>
        <p:spPr>
          <a:xfrm>
            <a:off x="3843735" y="4236719"/>
            <a:ext cx="2526999" cy="84124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i="0" noProof="0" dirty="0">
                <a:solidFill>
                  <a:srgbClr val="0C514E"/>
                </a:solidFill>
                <a:latin typeface="Calibri" panose="020F0502020204030204" pitchFamily="34" charset="0"/>
                <a:cs typeface="Calibri" panose="020F0502020204030204" pitchFamily="34" charset="0"/>
              </a:rPr>
              <a:t>PD(k) = 1 / (1 + e^−(α+β·z))</a:t>
            </a:r>
          </a:p>
        </p:txBody>
      </p:sp>
      <p:sp>
        <p:nvSpPr>
          <p:cNvPr id="47" name="TextBox 46">
            <a:extLst>
              <a:ext uri="{FF2B5EF4-FFF2-40B4-BE49-F238E27FC236}">
                <a16:creationId xmlns:a16="http://schemas.microsoft.com/office/drawing/2014/main" id="{C839ADC2-05A6-3A5C-B834-E2E126E5284A}"/>
              </a:ext>
            </a:extLst>
          </p:cNvPr>
          <p:cNvSpPr txBox="1"/>
          <p:nvPr/>
        </p:nvSpPr>
        <p:spPr>
          <a:xfrm>
            <a:off x="3843735" y="5279135"/>
            <a:ext cx="2526999" cy="780727"/>
          </a:xfrm>
          <a:prstGeom prst="rect">
            <a:avLst/>
          </a:prstGeom>
          <a:noFill/>
        </p:spPr>
        <p:txBody>
          <a:bodyPr wrap="square" lIns="0" tIns="0" rIns="0" bIns="0" anchor="t">
            <a:spAutoFit/>
          </a:bodyPr>
          <a:lstStyle/>
          <a:p>
            <a:pPr marL="128016" indent="-128016" algn="l">
              <a:lnSpc>
                <a:spcPct val="128000"/>
              </a:lnSpc>
              <a:spcAft>
                <a:spcPts val="800"/>
              </a:spcAft>
              <a:buClr>
                <a:srgbClr val="13807B"/>
              </a:buClr>
              <a:buFont typeface="Arial"/>
              <a:buChar char="•"/>
            </a:pPr>
            <a:r>
              <a:rPr lang="es-ES_tradnl" sz="1000" b="0" i="0" noProof="0" dirty="0">
                <a:solidFill>
                  <a:srgbClr val="6E7E7D"/>
                </a:solidFill>
                <a:latin typeface="Calibri" panose="020F0502020204030204" pitchFamily="34" charset="0"/>
                <a:cs typeface="Calibri" panose="020F0502020204030204" pitchFamily="34" charset="0"/>
              </a:rPr>
              <a:t>Estima 10 modelos temporales</a:t>
            </a:r>
          </a:p>
          <a:p>
            <a:pPr marL="128016" indent="-128016" algn="l">
              <a:lnSpc>
                <a:spcPct val="128000"/>
              </a:lnSpc>
              <a:spcAft>
                <a:spcPts val="800"/>
              </a:spcAft>
              <a:buClr>
                <a:srgbClr val="13807B"/>
              </a:buClr>
              <a:buFont typeface="Arial"/>
              <a:buChar char="•"/>
            </a:pPr>
            <a:r>
              <a:rPr lang="es-ES_tradnl" sz="1000" b="0" i="0" noProof="0" dirty="0">
                <a:solidFill>
                  <a:srgbClr val="6E7E7D"/>
                </a:solidFill>
                <a:latin typeface="Calibri" panose="020F0502020204030204" pitchFamily="34" charset="0"/>
                <a:cs typeface="Calibri" panose="020F0502020204030204" pitchFamily="34" charset="0"/>
              </a:rPr>
              <a:t>Para k = 12 se garantiza α=0 y β=1</a:t>
            </a:r>
          </a:p>
          <a:p>
            <a:pPr marL="128016" indent="-128016" algn="l">
              <a:lnSpc>
                <a:spcPct val="128000"/>
              </a:lnSpc>
              <a:spcAft>
                <a:spcPts val="800"/>
              </a:spcAft>
              <a:buClr>
                <a:srgbClr val="13807B"/>
              </a:buClr>
              <a:buFont typeface="Arial"/>
              <a:buChar char="•"/>
            </a:pPr>
            <a:r>
              <a:rPr lang="es-ES_tradnl" sz="1000" b="0" i="0" noProof="0" dirty="0">
                <a:solidFill>
                  <a:srgbClr val="6E7E7D"/>
                </a:solidFill>
                <a:latin typeface="Calibri" panose="020F0502020204030204" pitchFamily="34" charset="0"/>
                <a:cs typeface="Calibri" panose="020F0502020204030204" pitchFamily="34" charset="0"/>
              </a:rPr>
              <a:t>Es decir, PD(12) = PD de </a:t>
            </a:r>
            <a:r>
              <a:rPr lang="es-ES_tradnl" sz="1000" b="0" i="0" noProof="0" dirty="0" err="1">
                <a:solidFill>
                  <a:srgbClr val="6E7E7D"/>
                </a:solidFill>
                <a:latin typeface="Calibri" panose="020F0502020204030204" pitchFamily="34" charset="0"/>
                <a:cs typeface="Calibri" panose="020F0502020204030204" pitchFamily="34" charset="0"/>
              </a:rPr>
              <a:t>originación</a:t>
            </a:r>
            <a:endParaRPr lang="es-ES_tradnl" sz="1000" b="0" i="0" noProof="0" dirty="0">
              <a:solidFill>
                <a:srgbClr val="6E7E7D"/>
              </a:solidFill>
              <a:latin typeface="Calibri" panose="020F0502020204030204" pitchFamily="34" charset="0"/>
              <a:cs typeface="Calibri" panose="020F0502020204030204" pitchFamily="34" charset="0"/>
            </a:endParaRPr>
          </a:p>
        </p:txBody>
      </p:sp>
      <p:cxnSp>
        <p:nvCxnSpPr>
          <p:cNvPr id="48" name="Connector 44">
            <a:extLst>
              <a:ext uri="{FF2B5EF4-FFF2-40B4-BE49-F238E27FC236}">
                <a16:creationId xmlns:a16="http://schemas.microsoft.com/office/drawing/2014/main" id="{F584F1CB-49FF-C5A7-71A9-1BFE0932A95F}"/>
              </a:ext>
            </a:extLst>
          </p:cNvPr>
          <p:cNvCxnSpPr/>
          <p:nvPr/>
        </p:nvCxnSpPr>
        <p:spPr>
          <a:xfrm>
            <a:off x="6553614" y="4840224"/>
            <a:ext cx="128016" cy="0"/>
          </a:xfrm>
          <a:prstGeom prst="line">
            <a:avLst/>
          </a:prstGeom>
          <a:ln w="1587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13957477-7B6E-0999-3A49-DE2162D0C206}"/>
              </a:ext>
            </a:extLst>
          </p:cNvPr>
          <p:cNvSpPr/>
          <p:nvPr/>
        </p:nvSpPr>
        <p:spPr>
          <a:xfrm>
            <a:off x="6699918" y="2042160"/>
            <a:ext cx="2856183" cy="559612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AFB839C7-05F1-47DA-AA96-11D149DB5A4B}"/>
              </a:ext>
            </a:extLst>
          </p:cNvPr>
          <p:cNvSpPr/>
          <p:nvPr/>
        </p:nvSpPr>
        <p:spPr>
          <a:xfrm>
            <a:off x="6699918" y="2042160"/>
            <a:ext cx="285618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51" name="Rectangle 50">
            <a:extLst>
              <a:ext uri="{FF2B5EF4-FFF2-40B4-BE49-F238E27FC236}">
                <a16:creationId xmlns:a16="http://schemas.microsoft.com/office/drawing/2014/main" id="{3C5CD474-EEA5-B02B-D32E-1E90C4080EB9}"/>
              </a:ext>
            </a:extLst>
          </p:cNvPr>
          <p:cNvSpPr/>
          <p:nvPr/>
        </p:nvSpPr>
        <p:spPr>
          <a:xfrm>
            <a:off x="6864510" y="2225040"/>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3</a:t>
            </a:r>
          </a:p>
        </p:txBody>
      </p:sp>
      <p:sp>
        <p:nvSpPr>
          <p:cNvPr id="52" name="TextBox 51">
            <a:extLst>
              <a:ext uri="{FF2B5EF4-FFF2-40B4-BE49-F238E27FC236}">
                <a16:creationId xmlns:a16="http://schemas.microsoft.com/office/drawing/2014/main" id="{960178CB-CEBF-5ECA-4ACF-B8D460A15F79}"/>
              </a:ext>
            </a:extLst>
          </p:cNvPr>
          <p:cNvSpPr txBox="1"/>
          <p:nvPr/>
        </p:nvSpPr>
        <p:spPr>
          <a:xfrm>
            <a:off x="7248558" y="2252472"/>
            <a:ext cx="2142951" cy="215444"/>
          </a:xfrm>
          <a:prstGeom prst="rect">
            <a:avLst/>
          </a:prstGeom>
          <a:noFill/>
        </p:spPr>
        <p:txBody>
          <a:bodyPr wrap="square" lIns="0" tIns="0" rIns="0" bIns="0" anchor="t">
            <a:spAutoFit/>
          </a:bodyPr>
          <a:lstStyle/>
          <a:p>
            <a:pPr algn="l">
              <a:lnSpc>
                <a:spcPct val="100000"/>
              </a:lnSpc>
            </a:pPr>
            <a:r>
              <a:rPr lang="es-ES_tradnl" b="1" i="0" noProof="0" dirty="0">
                <a:solidFill>
                  <a:srgbClr val="0B2E2C"/>
                </a:solidFill>
                <a:latin typeface="Calibri" panose="020F0502020204030204" pitchFamily="34" charset="0"/>
                <a:cs typeface="Calibri" panose="020F0502020204030204" pitchFamily="34" charset="0"/>
              </a:rPr>
              <a:t>Coeficientes estimados</a:t>
            </a:r>
          </a:p>
        </p:txBody>
      </p:sp>
      <p:sp>
        <p:nvSpPr>
          <p:cNvPr id="53" name="TextBox 52">
            <a:extLst>
              <a:ext uri="{FF2B5EF4-FFF2-40B4-BE49-F238E27FC236}">
                <a16:creationId xmlns:a16="http://schemas.microsoft.com/office/drawing/2014/main" id="{7BE33A8D-AD62-454D-C909-69AAE9423BB1}"/>
              </a:ext>
            </a:extLst>
          </p:cNvPr>
          <p:cNvSpPr txBox="1"/>
          <p:nvPr/>
        </p:nvSpPr>
        <p:spPr>
          <a:xfrm>
            <a:off x="6864510" y="2700528"/>
            <a:ext cx="2526999" cy="392672"/>
          </a:xfrm>
          <a:prstGeom prst="rect">
            <a:avLst/>
          </a:prstGeom>
          <a:noFill/>
        </p:spPr>
        <p:txBody>
          <a:bodyPr wrap="square" lIns="0" tIns="0" rIns="0" bIns="0" anchor="t">
            <a:spAutoFit/>
          </a:bodyPr>
          <a:lstStyle/>
          <a:p>
            <a:pPr algn="l">
              <a:lnSpc>
                <a:spcPct val="120000"/>
              </a:lnSpc>
            </a:pPr>
            <a:r>
              <a:rPr lang="es-ES_tradnl" sz="1100" b="0" i="0" noProof="0" dirty="0">
                <a:solidFill>
                  <a:srgbClr val="6E7E7D"/>
                </a:solidFill>
                <a:latin typeface="Calibri" panose="020F0502020204030204" pitchFamily="34" charset="0"/>
                <a:cs typeface="Calibri" panose="020F0502020204030204" pitchFamily="34" charset="0"/>
              </a:rPr>
              <a:t>Coeficientes α y β estimados en los modelos de 3 a 12 meses</a:t>
            </a:r>
          </a:p>
        </p:txBody>
      </p:sp>
      <p:sp>
        <p:nvSpPr>
          <p:cNvPr id="54" name="Rectangle 53">
            <a:extLst>
              <a:ext uri="{FF2B5EF4-FFF2-40B4-BE49-F238E27FC236}">
                <a16:creationId xmlns:a16="http://schemas.microsoft.com/office/drawing/2014/main" id="{54030683-37B5-EB89-88E2-07F1449010D0}"/>
              </a:ext>
            </a:extLst>
          </p:cNvPr>
          <p:cNvSpPr/>
          <p:nvPr/>
        </p:nvSpPr>
        <p:spPr>
          <a:xfrm>
            <a:off x="6864510" y="3267456"/>
            <a:ext cx="2526999" cy="31089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55" name="TextBox 54">
            <a:extLst>
              <a:ext uri="{FF2B5EF4-FFF2-40B4-BE49-F238E27FC236}">
                <a16:creationId xmlns:a16="http://schemas.microsoft.com/office/drawing/2014/main" id="{2C40D675-3304-FC25-D013-379D3F5D266B}"/>
              </a:ext>
            </a:extLst>
          </p:cNvPr>
          <p:cNvSpPr txBox="1"/>
          <p:nvPr/>
        </p:nvSpPr>
        <p:spPr>
          <a:xfrm>
            <a:off x="6864510" y="3331463"/>
            <a:ext cx="842333"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k</a:t>
            </a:r>
          </a:p>
        </p:txBody>
      </p:sp>
      <p:sp>
        <p:nvSpPr>
          <p:cNvPr id="56" name="TextBox 55">
            <a:extLst>
              <a:ext uri="{FF2B5EF4-FFF2-40B4-BE49-F238E27FC236}">
                <a16:creationId xmlns:a16="http://schemas.microsoft.com/office/drawing/2014/main" id="{3DFBE44D-CE45-9A6C-31F0-88C48A6EEABE}"/>
              </a:ext>
            </a:extLst>
          </p:cNvPr>
          <p:cNvSpPr txBox="1"/>
          <p:nvPr/>
        </p:nvSpPr>
        <p:spPr>
          <a:xfrm>
            <a:off x="7706843" y="3331463"/>
            <a:ext cx="842333"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α(k)</a:t>
            </a:r>
          </a:p>
        </p:txBody>
      </p:sp>
      <p:sp>
        <p:nvSpPr>
          <p:cNvPr id="57" name="TextBox 56">
            <a:extLst>
              <a:ext uri="{FF2B5EF4-FFF2-40B4-BE49-F238E27FC236}">
                <a16:creationId xmlns:a16="http://schemas.microsoft.com/office/drawing/2014/main" id="{B6ED9513-ABFC-4D21-65AB-EE79ACF2C443}"/>
              </a:ext>
            </a:extLst>
          </p:cNvPr>
          <p:cNvSpPr txBox="1"/>
          <p:nvPr/>
        </p:nvSpPr>
        <p:spPr>
          <a:xfrm>
            <a:off x="8549176" y="3331463"/>
            <a:ext cx="842333"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β(k)</a:t>
            </a:r>
          </a:p>
        </p:txBody>
      </p:sp>
      <p:sp>
        <p:nvSpPr>
          <p:cNvPr id="58" name="Rectangle 57">
            <a:extLst>
              <a:ext uri="{FF2B5EF4-FFF2-40B4-BE49-F238E27FC236}">
                <a16:creationId xmlns:a16="http://schemas.microsoft.com/office/drawing/2014/main" id="{D7BFC7E2-3484-B1C4-B940-BA4CB310C269}"/>
              </a:ext>
            </a:extLst>
          </p:cNvPr>
          <p:cNvSpPr/>
          <p:nvPr/>
        </p:nvSpPr>
        <p:spPr>
          <a:xfrm>
            <a:off x="6864510" y="3614928"/>
            <a:ext cx="2526999" cy="329184"/>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59" name="TextBox 58">
            <a:extLst>
              <a:ext uri="{FF2B5EF4-FFF2-40B4-BE49-F238E27FC236}">
                <a16:creationId xmlns:a16="http://schemas.microsoft.com/office/drawing/2014/main" id="{47FE34CB-46F5-1031-61ED-5A415167CC7B}"/>
              </a:ext>
            </a:extLst>
          </p:cNvPr>
          <p:cNvSpPr txBox="1"/>
          <p:nvPr/>
        </p:nvSpPr>
        <p:spPr>
          <a:xfrm>
            <a:off x="6864510" y="3688080"/>
            <a:ext cx="842333"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0C514E"/>
                </a:solidFill>
                <a:latin typeface="Calibri" panose="020F0502020204030204" pitchFamily="34" charset="0"/>
                <a:cs typeface="Calibri" panose="020F0502020204030204" pitchFamily="34" charset="0"/>
              </a:rPr>
              <a:t>3</a:t>
            </a:r>
          </a:p>
        </p:txBody>
      </p:sp>
      <p:sp>
        <p:nvSpPr>
          <p:cNvPr id="60" name="TextBox 59">
            <a:extLst>
              <a:ext uri="{FF2B5EF4-FFF2-40B4-BE49-F238E27FC236}">
                <a16:creationId xmlns:a16="http://schemas.microsoft.com/office/drawing/2014/main" id="{A40C55CB-A54B-3483-7C34-779C5177225A}"/>
              </a:ext>
            </a:extLst>
          </p:cNvPr>
          <p:cNvSpPr txBox="1"/>
          <p:nvPr/>
        </p:nvSpPr>
        <p:spPr>
          <a:xfrm>
            <a:off x="7706843" y="3688080"/>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−3.12</a:t>
            </a:r>
          </a:p>
        </p:txBody>
      </p:sp>
      <p:sp>
        <p:nvSpPr>
          <p:cNvPr id="61" name="TextBox 60">
            <a:extLst>
              <a:ext uri="{FF2B5EF4-FFF2-40B4-BE49-F238E27FC236}">
                <a16:creationId xmlns:a16="http://schemas.microsoft.com/office/drawing/2014/main" id="{4E7089B2-C5B4-4724-5875-1DD99E51BD69}"/>
              </a:ext>
            </a:extLst>
          </p:cNvPr>
          <p:cNvSpPr txBox="1"/>
          <p:nvPr/>
        </p:nvSpPr>
        <p:spPr>
          <a:xfrm>
            <a:off x="8549176" y="3688080"/>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0.81</a:t>
            </a:r>
          </a:p>
        </p:txBody>
      </p:sp>
      <p:sp>
        <p:nvSpPr>
          <p:cNvPr id="62" name="TextBox 61">
            <a:extLst>
              <a:ext uri="{FF2B5EF4-FFF2-40B4-BE49-F238E27FC236}">
                <a16:creationId xmlns:a16="http://schemas.microsoft.com/office/drawing/2014/main" id="{32CBBF08-6FF9-D488-D81D-796239636BD8}"/>
              </a:ext>
            </a:extLst>
          </p:cNvPr>
          <p:cNvSpPr txBox="1"/>
          <p:nvPr/>
        </p:nvSpPr>
        <p:spPr>
          <a:xfrm>
            <a:off x="6864510" y="4035552"/>
            <a:ext cx="842333"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0C514E"/>
                </a:solidFill>
                <a:latin typeface="Calibri" panose="020F0502020204030204" pitchFamily="34" charset="0"/>
                <a:cs typeface="Calibri" panose="020F0502020204030204" pitchFamily="34" charset="0"/>
              </a:rPr>
              <a:t>4</a:t>
            </a:r>
          </a:p>
        </p:txBody>
      </p:sp>
      <p:sp>
        <p:nvSpPr>
          <p:cNvPr id="63" name="TextBox 62">
            <a:extLst>
              <a:ext uri="{FF2B5EF4-FFF2-40B4-BE49-F238E27FC236}">
                <a16:creationId xmlns:a16="http://schemas.microsoft.com/office/drawing/2014/main" id="{CA194D54-B7F3-570D-0571-ABBE0352E346}"/>
              </a:ext>
            </a:extLst>
          </p:cNvPr>
          <p:cNvSpPr txBox="1"/>
          <p:nvPr/>
        </p:nvSpPr>
        <p:spPr>
          <a:xfrm>
            <a:off x="7706843" y="4035552"/>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−1.84</a:t>
            </a:r>
          </a:p>
        </p:txBody>
      </p:sp>
      <p:sp>
        <p:nvSpPr>
          <p:cNvPr id="128" name="TextBox 127">
            <a:extLst>
              <a:ext uri="{FF2B5EF4-FFF2-40B4-BE49-F238E27FC236}">
                <a16:creationId xmlns:a16="http://schemas.microsoft.com/office/drawing/2014/main" id="{E5D6DA44-466A-2EFF-14A9-76D413387342}"/>
              </a:ext>
            </a:extLst>
          </p:cNvPr>
          <p:cNvSpPr txBox="1"/>
          <p:nvPr/>
        </p:nvSpPr>
        <p:spPr>
          <a:xfrm>
            <a:off x="8549176" y="4035552"/>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0.85</a:t>
            </a:r>
          </a:p>
        </p:txBody>
      </p:sp>
      <p:sp>
        <p:nvSpPr>
          <p:cNvPr id="129" name="Rectangle 128">
            <a:extLst>
              <a:ext uri="{FF2B5EF4-FFF2-40B4-BE49-F238E27FC236}">
                <a16:creationId xmlns:a16="http://schemas.microsoft.com/office/drawing/2014/main" id="{85B24E53-8536-0EFB-C9C9-122C9FDB735F}"/>
              </a:ext>
            </a:extLst>
          </p:cNvPr>
          <p:cNvSpPr/>
          <p:nvPr/>
        </p:nvSpPr>
        <p:spPr>
          <a:xfrm>
            <a:off x="6864510" y="4309872"/>
            <a:ext cx="2526999" cy="329184"/>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30" name="TextBox 129">
            <a:extLst>
              <a:ext uri="{FF2B5EF4-FFF2-40B4-BE49-F238E27FC236}">
                <a16:creationId xmlns:a16="http://schemas.microsoft.com/office/drawing/2014/main" id="{47335D27-74EF-5247-86F7-8447A4DAA832}"/>
              </a:ext>
            </a:extLst>
          </p:cNvPr>
          <p:cNvSpPr txBox="1"/>
          <p:nvPr/>
        </p:nvSpPr>
        <p:spPr>
          <a:xfrm>
            <a:off x="6864510" y="4383024"/>
            <a:ext cx="842333"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0C514E"/>
                </a:solidFill>
                <a:latin typeface="Calibri" panose="020F0502020204030204" pitchFamily="34" charset="0"/>
                <a:cs typeface="Calibri" panose="020F0502020204030204" pitchFamily="34" charset="0"/>
              </a:rPr>
              <a:t>5</a:t>
            </a:r>
          </a:p>
        </p:txBody>
      </p:sp>
      <p:sp>
        <p:nvSpPr>
          <p:cNvPr id="131" name="TextBox 130">
            <a:extLst>
              <a:ext uri="{FF2B5EF4-FFF2-40B4-BE49-F238E27FC236}">
                <a16:creationId xmlns:a16="http://schemas.microsoft.com/office/drawing/2014/main" id="{E78BE03D-D889-69D0-9432-EF26E8221E18}"/>
              </a:ext>
            </a:extLst>
          </p:cNvPr>
          <p:cNvSpPr txBox="1"/>
          <p:nvPr/>
        </p:nvSpPr>
        <p:spPr>
          <a:xfrm>
            <a:off x="7706843" y="4383024"/>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−1.32</a:t>
            </a:r>
          </a:p>
        </p:txBody>
      </p:sp>
      <p:sp>
        <p:nvSpPr>
          <p:cNvPr id="132" name="TextBox 131">
            <a:extLst>
              <a:ext uri="{FF2B5EF4-FFF2-40B4-BE49-F238E27FC236}">
                <a16:creationId xmlns:a16="http://schemas.microsoft.com/office/drawing/2014/main" id="{04A8637E-B92C-3046-BCC7-FB37406F378A}"/>
              </a:ext>
            </a:extLst>
          </p:cNvPr>
          <p:cNvSpPr txBox="1"/>
          <p:nvPr/>
        </p:nvSpPr>
        <p:spPr>
          <a:xfrm>
            <a:off x="8549176" y="4383024"/>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0.88</a:t>
            </a:r>
          </a:p>
        </p:txBody>
      </p:sp>
      <p:sp>
        <p:nvSpPr>
          <p:cNvPr id="133" name="TextBox 132">
            <a:extLst>
              <a:ext uri="{FF2B5EF4-FFF2-40B4-BE49-F238E27FC236}">
                <a16:creationId xmlns:a16="http://schemas.microsoft.com/office/drawing/2014/main" id="{1607C943-B434-5061-B663-34D46EF1FBBA}"/>
              </a:ext>
            </a:extLst>
          </p:cNvPr>
          <p:cNvSpPr txBox="1"/>
          <p:nvPr/>
        </p:nvSpPr>
        <p:spPr>
          <a:xfrm>
            <a:off x="6864510" y="4730496"/>
            <a:ext cx="842333"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0C514E"/>
                </a:solidFill>
                <a:latin typeface="Calibri" panose="020F0502020204030204" pitchFamily="34" charset="0"/>
                <a:cs typeface="Calibri" panose="020F0502020204030204" pitchFamily="34" charset="0"/>
              </a:rPr>
              <a:t>…</a:t>
            </a:r>
          </a:p>
        </p:txBody>
      </p:sp>
      <p:sp>
        <p:nvSpPr>
          <p:cNvPr id="134" name="TextBox 133">
            <a:extLst>
              <a:ext uri="{FF2B5EF4-FFF2-40B4-BE49-F238E27FC236}">
                <a16:creationId xmlns:a16="http://schemas.microsoft.com/office/drawing/2014/main" id="{FE5CFDB3-20DE-21FF-27CD-392C0E764AE2}"/>
              </a:ext>
            </a:extLst>
          </p:cNvPr>
          <p:cNvSpPr txBox="1"/>
          <p:nvPr/>
        </p:nvSpPr>
        <p:spPr>
          <a:xfrm>
            <a:off x="7706843" y="4730496"/>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a:t>
            </a:r>
          </a:p>
        </p:txBody>
      </p:sp>
      <p:sp>
        <p:nvSpPr>
          <p:cNvPr id="135" name="TextBox 134">
            <a:extLst>
              <a:ext uri="{FF2B5EF4-FFF2-40B4-BE49-F238E27FC236}">
                <a16:creationId xmlns:a16="http://schemas.microsoft.com/office/drawing/2014/main" id="{2C669869-F0B5-755D-4057-80B601A859F8}"/>
              </a:ext>
            </a:extLst>
          </p:cNvPr>
          <p:cNvSpPr txBox="1"/>
          <p:nvPr/>
        </p:nvSpPr>
        <p:spPr>
          <a:xfrm>
            <a:off x="8549176" y="4730496"/>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a:t>
            </a:r>
          </a:p>
        </p:txBody>
      </p:sp>
      <p:sp>
        <p:nvSpPr>
          <p:cNvPr id="136" name="Rectangle 135">
            <a:extLst>
              <a:ext uri="{FF2B5EF4-FFF2-40B4-BE49-F238E27FC236}">
                <a16:creationId xmlns:a16="http://schemas.microsoft.com/office/drawing/2014/main" id="{CE7927A6-95B0-6E41-F414-68E785EE9937}"/>
              </a:ext>
            </a:extLst>
          </p:cNvPr>
          <p:cNvSpPr/>
          <p:nvPr/>
        </p:nvSpPr>
        <p:spPr>
          <a:xfrm>
            <a:off x="6864510" y="5004815"/>
            <a:ext cx="2526999" cy="329184"/>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37" name="TextBox 136">
            <a:extLst>
              <a:ext uri="{FF2B5EF4-FFF2-40B4-BE49-F238E27FC236}">
                <a16:creationId xmlns:a16="http://schemas.microsoft.com/office/drawing/2014/main" id="{AF55E349-57BD-7175-9435-72CB8742FA50}"/>
              </a:ext>
            </a:extLst>
          </p:cNvPr>
          <p:cNvSpPr txBox="1"/>
          <p:nvPr/>
        </p:nvSpPr>
        <p:spPr>
          <a:xfrm>
            <a:off x="6864510" y="5077967"/>
            <a:ext cx="842333"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0C514E"/>
                </a:solidFill>
                <a:latin typeface="Calibri" panose="020F0502020204030204" pitchFamily="34" charset="0"/>
                <a:cs typeface="Calibri" panose="020F0502020204030204" pitchFamily="34" charset="0"/>
              </a:rPr>
              <a:t>12</a:t>
            </a:r>
          </a:p>
        </p:txBody>
      </p:sp>
      <p:sp>
        <p:nvSpPr>
          <p:cNvPr id="138" name="TextBox 137">
            <a:extLst>
              <a:ext uri="{FF2B5EF4-FFF2-40B4-BE49-F238E27FC236}">
                <a16:creationId xmlns:a16="http://schemas.microsoft.com/office/drawing/2014/main" id="{7A4A9B87-EA86-DBD0-ECBB-10500CF9556A}"/>
              </a:ext>
            </a:extLst>
          </p:cNvPr>
          <p:cNvSpPr txBox="1"/>
          <p:nvPr/>
        </p:nvSpPr>
        <p:spPr>
          <a:xfrm>
            <a:off x="7706843" y="5077967"/>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0.00</a:t>
            </a:r>
          </a:p>
        </p:txBody>
      </p:sp>
      <p:sp>
        <p:nvSpPr>
          <p:cNvPr id="139" name="TextBox 138">
            <a:extLst>
              <a:ext uri="{FF2B5EF4-FFF2-40B4-BE49-F238E27FC236}">
                <a16:creationId xmlns:a16="http://schemas.microsoft.com/office/drawing/2014/main" id="{2954960B-4F8C-03DC-F7CF-4B2AD55CE2F0}"/>
              </a:ext>
            </a:extLst>
          </p:cNvPr>
          <p:cNvSpPr txBox="1"/>
          <p:nvPr/>
        </p:nvSpPr>
        <p:spPr>
          <a:xfrm>
            <a:off x="8549176" y="5077967"/>
            <a:ext cx="842333"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1.00</a:t>
            </a:r>
          </a:p>
        </p:txBody>
      </p:sp>
      <p:sp>
        <p:nvSpPr>
          <p:cNvPr id="140" name="Rectangle 139">
            <a:extLst>
              <a:ext uri="{FF2B5EF4-FFF2-40B4-BE49-F238E27FC236}">
                <a16:creationId xmlns:a16="http://schemas.microsoft.com/office/drawing/2014/main" id="{5C1AA9FC-D99A-0850-FC5D-D528A0B3BA61}"/>
              </a:ext>
            </a:extLst>
          </p:cNvPr>
          <p:cNvSpPr/>
          <p:nvPr/>
        </p:nvSpPr>
        <p:spPr>
          <a:xfrm>
            <a:off x="6864510" y="5590031"/>
            <a:ext cx="2526999" cy="100584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141" name="Connector 73">
            <a:extLst>
              <a:ext uri="{FF2B5EF4-FFF2-40B4-BE49-F238E27FC236}">
                <a16:creationId xmlns:a16="http://schemas.microsoft.com/office/drawing/2014/main" id="{7146FB97-2DC8-8332-5FDF-F4271BAA66F1}"/>
              </a:ext>
            </a:extLst>
          </p:cNvPr>
          <p:cNvCxnSpPr/>
          <p:nvPr/>
        </p:nvCxnSpPr>
        <p:spPr>
          <a:xfrm>
            <a:off x="6864510" y="5590031"/>
            <a:ext cx="0" cy="1005840"/>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42" name="TextBox 141">
            <a:extLst>
              <a:ext uri="{FF2B5EF4-FFF2-40B4-BE49-F238E27FC236}">
                <a16:creationId xmlns:a16="http://schemas.microsoft.com/office/drawing/2014/main" id="{6D699F10-29E7-F035-60C4-4998279219CA}"/>
              </a:ext>
            </a:extLst>
          </p:cNvPr>
          <p:cNvSpPr txBox="1"/>
          <p:nvPr/>
        </p:nvSpPr>
        <p:spPr>
          <a:xfrm>
            <a:off x="7029102" y="5916845"/>
            <a:ext cx="2197815" cy="352212"/>
          </a:xfrm>
          <a:prstGeom prst="rect">
            <a:avLst/>
          </a:prstGeom>
          <a:noFill/>
        </p:spPr>
        <p:txBody>
          <a:bodyPr wrap="square" lIns="0" tIns="0" rIns="0" bIns="0" anchor="ctr">
            <a:spAutoFit/>
          </a:bodyPr>
          <a:lstStyle/>
          <a:p>
            <a:pPr algn="l">
              <a:lnSpc>
                <a:spcPct val="112000"/>
              </a:lnSpc>
              <a:spcAft>
                <a:spcPts val="200"/>
              </a:spcAft>
            </a:pPr>
            <a:r>
              <a:rPr lang="es-ES_tradnl" sz="1050" b="0" i="0" noProof="0" dirty="0">
                <a:solidFill>
                  <a:srgbClr val="3E5553"/>
                </a:solidFill>
                <a:latin typeface="Calibri" panose="020F0502020204030204" pitchFamily="34" charset="0"/>
                <a:cs typeface="Calibri" panose="020F0502020204030204" pitchFamily="34" charset="0"/>
              </a:rPr>
              <a:t>En k = 12 los coeficientes anclan la curva a la PD </a:t>
            </a:r>
            <a:r>
              <a:rPr lang="es-ES_tradnl" sz="1050" b="0" i="0" noProof="0" dirty="0" err="1">
                <a:solidFill>
                  <a:srgbClr val="3E5553"/>
                </a:solidFill>
                <a:latin typeface="Calibri" panose="020F0502020204030204" pitchFamily="34" charset="0"/>
                <a:cs typeface="Calibri" panose="020F0502020204030204" pitchFamily="34" charset="0"/>
              </a:rPr>
              <a:t>Applicant</a:t>
            </a:r>
            <a:r>
              <a:rPr lang="es-ES_tradnl" sz="1050" b="0" i="0" noProof="0" dirty="0">
                <a:solidFill>
                  <a:srgbClr val="3E5553"/>
                </a:solidFill>
                <a:latin typeface="Calibri" panose="020F0502020204030204" pitchFamily="34" charset="0"/>
                <a:cs typeface="Calibri" panose="020F0502020204030204" pitchFamily="34" charset="0"/>
              </a:rPr>
              <a:t>.</a:t>
            </a:r>
          </a:p>
        </p:txBody>
      </p:sp>
      <p:cxnSp>
        <p:nvCxnSpPr>
          <p:cNvPr id="143" name="Connector 75">
            <a:extLst>
              <a:ext uri="{FF2B5EF4-FFF2-40B4-BE49-F238E27FC236}">
                <a16:creationId xmlns:a16="http://schemas.microsoft.com/office/drawing/2014/main" id="{0C9ED1AC-ABE7-0D2C-6FED-85C186B5A6C6}"/>
              </a:ext>
            </a:extLst>
          </p:cNvPr>
          <p:cNvCxnSpPr/>
          <p:nvPr/>
        </p:nvCxnSpPr>
        <p:spPr>
          <a:xfrm>
            <a:off x="9574389" y="4840224"/>
            <a:ext cx="128016" cy="0"/>
          </a:xfrm>
          <a:prstGeom prst="line">
            <a:avLst/>
          </a:prstGeom>
          <a:ln w="1587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4" name="Rectangle 143">
            <a:extLst>
              <a:ext uri="{FF2B5EF4-FFF2-40B4-BE49-F238E27FC236}">
                <a16:creationId xmlns:a16="http://schemas.microsoft.com/office/drawing/2014/main" id="{689686CE-E22B-50E3-37F8-E04A11CD95CB}"/>
              </a:ext>
            </a:extLst>
          </p:cNvPr>
          <p:cNvSpPr/>
          <p:nvPr/>
        </p:nvSpPr>
        <p:spPr>
          <a:xfrm>
            <a:off x="9720693" y="2042160"/>
            <a:ext cx="2856183" cy="559612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45" name="Rectangle 144">
            <a:extLst>
              <a:ext uri="{FF2B5EF4-FFF2-40B4-BE49-F238E27FC236}">
                <a16:creationId xmlns:a16="http://schemas.microsoft.com/office/drawing/2014/main" id="{9E20358E-16E7-A2E9-2E09-7E0101B81592}"/>
              </a:ext>
            </a:extLst>
          </p:cNvPr>
          <p:cNvSpPr/>
          <p:nvPr/>
        </p:nvSpPr>
        <p:spPr>
          <a:xfrm>
            <a:off x="9720693" y="2042160"/>
            <a:ext cx="285618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46" name="Rectangle 145">
            <a:extLst>
              <a:ext uri="{FF2B5EF4-FFF2-40B4-BE49-F238E27FC236}">
                <a16:creationId xmlns:a16="http://schemas.microsoft.com/office/drawing/2014/main" id="{0037BC13-8070-4EDF-74CB-F48D8903C1BC}"/>
              </a:ext>
            </a:extLst>
          </p:cNvPr>
          <p:cNvSpPr/>
          <p:nvPr/>
        </p:nvSpPr>
        <p:spPr>
          <a:xfrm>
            <a:off x="9885285" y="2225040"/>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4</a:t>
            </a:r>
          </a:p>
        </p:txBody>
      </p:sp>
      <p:sp>
        <p:nvSpPr>
          <p:cNvPr id="147" name="TextBox 146">
            <a:extLst>
              <a:ext uri="{FF2B5EF4-FFF2-40B4-BE49-F238E27FC236}">
                <a16:creationId xmlns:a16="http://schemas.microsoft.com/office/drawing/2014/main" id="{2E6B1410-011A-10BF-12A7-A4A4237AC58E}"/>
              </a:ext>
            </a:extLst>
          </p:cNvPr>
          <p:cNvSpPr txBox="1"/>
          <p:nvPr/>
        </p:nvSpPr>
        <p:spPr>
          <a:xfrm>
            <a:off x="10269333" y="2252472"/>
            <a:ext cx="2142951" cy="215444"/>
          </a:xfrm>
          <a:prstGeom prst="rect">
            <a:avLst/>
          </a:prstGeom>
          <a:noFill/>
        </p:spPr>
        <p:txBody>
          <a:bodyPr wrap="square" lIns="0" tIns="0" rIns="0" bIns="0" anchor="t">
            <a:spAutoFit/>
          </a:bodyPr>
          <a:lstStyle/>
          <a:p>
            <a:pPr algn="l">
              <a:lnSpc>
                <a:spcPct val="100000"/>
              </a:lnSpc>
            </a:pPr>
            <a:r>
              <a:rPr lang="es-ES_tradnl" b="1" i="0" noProof="0" dirty="0">
                <a:solidFill>
                  <a:srgbClr val="0B2E2C"/>
                </a:solidFill>
                <a:latin typeface="Calibri" panose="020F0502020204030204" pitchFamily="34" charset="0"/>
                <a:cs typeface="Calibri" panose="020F0502020204030204" pitchFamily="34" charset="0"/>
              </a:rPr>
              <a:t>Ajuste de curvas </a:t>
            </a:r>
            <a:r>
              <a:rPr lang="es-ES_tradnl" b="1" i="0" noProof="0" dirty="0" err="1">
                <a:solidFill>
                  <a:srgbClr val="0B2E2C"/>
                </a:solidFill>
                <a:latin typeface="Calibri" panose="020F0502020204030204" pitchFamily="34" charset="0"/>
                <a:cs typeface="Calibri" panose="020F0502020204030204" pitchFamily="34" charset="0"/>
              </a:rPr>
              <a:t>Gompertz</a:t>
            </a:r>
            <a:endParaRPr lang="es-ES_tradnl" b="1" i="0" noProof="0" dirty="0">
              <a:solidFill>
                <a:srgbClr val="0B2E2C"/>
              </a:solidFill>
              <a:latin typeface="Calibri" panose="020F0502020204030204" pitchFamily="34" charset="0"/>
              <a:cs typeface="Calibri" panose="020F0502020204030204" pitchFamily="34" charset="0"/>
            </a:endParaRPr>
          </a:p>
        </p:txBody>
      </p:sp>
      <p:sp>
        <p:nvSpPr>
          <p:cNvPr id="148" name="TextBox 147">
            <a:extLst>
              <a:ext uri="{FF2B5EF4-FFF2-40B4-BE49-F238E27FC236}">
                <a16:creationId xmlns:a16="http://schemas.microsoft.com/office/drawing/2014/main" id="{AD0695B3-E690-4D99-F71B-5FFBC7812C71}"/>
              </a:ext>
            </a:extLst>
          </p:cNvPr>
          <p:cNvSpPr txBox="1"/>
          <p:nvPr/>
        </p:nvSpPr>
        <p:spPr>
          <a:xfrm>
            <a:off x="9885285" y="2700528"/>
            <a:ext cx="2526999" cy="392672"/>
          </a:xfrm>
          <a:prstGeom prst="rect">
            <a:avLst/>
          </a:prstGeom>
          <a:noFill/>
        </p:spPr>
        <p:txBody>
          <a:bodyPr wrap="square" lIns="0" tIns="0" rIns="0" bIns="0" anchor="t">
            <a:spAutoFit/>
          </a:bodyPr>
          <a:lstStyle/>
          <a:p>
            <a:pPr algn="l">
              <a:lnSpc>
                <a:spcPct val="120000"/>
              </a:lnSpc>
            </a:pPr>
            <a:r>
              <a:rPr lang="es-ES_tradnl" sz="1100" b="0" i="0" noProof="0" dirty="0">
                <a:solidFill>
                  <a:srgbClr val="6E7E7D"/>
                </a:solidFill>
                <a:latin typeface="Calibri" panose="020F0502020204030204" pitchFamily="34" charset="0"/>
                <a:cs typeface="Calibri" panose="020F0502020204030204" pitchFamily="34" charset="0"/>
              </a:rPr>
              <a:t>Se ajustan funciones </a:t>
            </a:r>
            <a:r>
              <a:rPr lang="es-ES_tradnl" sz="1100" b="0" i="0" noProof="0" dirty="0" err="1">
                <a:solidFill>
                  <a:srgbClr val="6E7E7D"/>
                </a:solidFill>
                <a:latin typeface="Calibri" panose="020F0502020204030204" pitchFamily="34" charset="0"/>
                <a:cs typeface="Calibri" panose="020F0502020204030204" pitchFamily="34" charset="0"/>
              </a:rPr>
              <a:t>Gompertz</a:t>
            </a:r>
            <a:r>
              <a:rPr lang="es-ES_tradnl" sz="1100" b="0" i="0" noProof="0" dirty="0">
                <a:solidFill>
                  <a:srgbClr val="6E7E7D"/>
                </a:solidFill>
                <a:latin typeface="Calibri" panose="020F0502020204030204" pitchFamily="34" charset="0"/>
                <a:cs typeface="Calibri" panose="020F0502020204030204" pitchFamily="34" charset="0"/>
              </a:rPr>
              <a:t> crecientes a α(k) y β(k)</a:t>
            </a:r>
          </a:p>
        </p:txBody>
      </p:sp>
      <p:pic>
        <p:nvPicPr>
          <p:cNvPr id="149" name="Picture 148" descr="alpha.png">
            <a:extLst>
              <a:ext uri="{FF2B5EF4-FFF2-40B4-BE49-F238E27FC236}">
                <a16:creationId xmlns:a16="http://schemas.microsoft.com/office/drawing/2014/main" id="{39BAC471-7CF6-28C0-6450-BCCB34D75E3E}"/>
              </a:ext>
            </a:extLst>
          </p:cNvPr>
          <p:cNvPicPr>
            <a:picLocks noChangeAspect="1"/>
          </p:cNvPicPr>
          <p:nvPr/>
        </p:nvPicPr>
        <p:blipFill>
          <a:blip r:embed="rId2"/>
          <a:stretch>
            <a:fillRect/>
          </a:stretch>
        </p:blipFill>
        <p:spPr>
          <a:xfrm>
            <a:off x="9885285" y="3267456"/>
            <a:ext cx="2526999" cy="1612051"/>
          </a:xfrm>
          <a:prstGeom prst="rect">
            <a:avLst/>
          </a:prstGeom>
        </p:spPr>
      </p:pic>
      <p:pic>
        <p:nvPicPr>
          <p:cNvPr id="150" name="Picture 149" descr="beta.png">
            <a:extLst>
              <a:ext uri="{FF2B5EF4-FFF2-40B4-BE49-F238E27FC236}">
                <a16:creationId xmlns:a16="http://schemas.microsoft.com/office/drawing/2014/main" id="{087361ED-8C66-D5EC-02CF-E89C3746E1DF}"/>
              </a:ext>
            </a:extLst>
          </p:cNvPr>
          <p:cNvPicPr>
            <a:picLocks noChangeAspect="1"/>
          </p:cNvPicPr>
          <p:nvPr/>
        </p:nvPicPr>
        <p:blipFill>
          <a:blip r:embed="rId3"/>
          <a:stretch>
            <a:fillRect/>
          </a:stretch>
        </p:blipFill>
        <p:spPr>
          <a:xfrm>
            <a:off x="9885285" y="4895087"/>
            <a:ext cx="2526999" cy="1612051"/>
          </a:xfrm>
          <a:prstGeom prst="rect">
            <a:avLst/>
          </a:prstGeom>
        </p:spPr>
      </p:pic>
      <p:sp>
        <p:nvSpPr>
          <p:cNvPr id="189" name="Rectangle 188">
            <a:extLst>
              <a:ext uri="{FF2B5EF4-FFF2-40B4-BE49-F238E27FC236}">
                <a16:creationId xmlns:a16="http://schemas.microsoft.com/office/drawing/2014/main" id="{E08B92EA-6AB1-4715-E245-4E429E98DE2C}"/>
              </a:ext>
            </a:extLst>
          </p:cNvPr>
          <p:cNvSpPr/>
          <p:nvPr/>
        </p:nvSpPr>
        <p:spPr>
          <a:xfrm>
            <a:off x="9885285" y="6705600"/>
            <a:ext cx="2526999"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20000"/>
              </a:lnSpc>
            </a:pPr>
            <a:r>
              <a:rPr lang="es-ES_tradnl" sz="1100" b="1" i="0" noProof="0" dirty="0">
                <a:solidFill>
                  <a:srgbClr val="0C514E"/>
                </a:solidFill>
                <a:latin typeface="Calibri" panose="020F0502020204030204" pitchFamily="34" charset="0"/>
                <a:cs typeface="Calibri" panose="020F0502020204030204" pitchFamily="34" charset="0"/>
              </a:rPr>
              <a:t>g(k) = A · e^(−B·e^(−</a:t>
            </a:r>
            <a:r>
              <a:rPr lang="es-ES_tradnl" sz="1100" b="1" i="0" noProof="0" dirty="0" err="1">
                <a:solidFill>
                  <a:srgbClr val="0C514E"/>
                </a:solidFill>
                <a:latin typeface="Calibri" panose="020F0502020204030204" pitchFamily="34" charset="0"/>
                <a:cs typeface="Calibri" panose="020F0502020204030204" pitchFamily="34" charset="0"/>
              </a:rPr>
              <a:t>C·k</a:t>
            </a:r>
            <a:r>
              <a:rPr lang="es-ES_tradnl" sz="1100" b="1" i="0" noProof="0" dirty="0">
                <a:solidFill>
                  <a:srgbClr val="0C514E"/>
                </a:solidFill>
                <a:latin typeface="Calibri" panose="020F0502020204030204" pitchFamily="34" charset="0"/>
                <a:cs typeface="Calibri" panose="020F0502020204030204" pitchFamily="34" charset="0"/>
              </a:rPr>
              <a:t>)),</a:t>
            </a:r>
          </a:p>
          <a:p>
            <a:pPr algn="ctr">
              <a:lnSpc>
                <a:spcPct val="120000"/>
              </a:lnSpc>
            </a:pPr>
            <a:r>
              <a:rPr lang="es-ES_tradnl" sz="1100" b="1" i="0" noProof="0" dirty="0">
                <a:solidFill>
                  <a:srgbClr val="0C514E"/>
                </a:solidFill>
                <a:latin typeface="Calibri" panose="020F0502020204030204" pitchFamily="34" charset="0"/>
                <a:cs typeface="Calibri" panose="020F0502020204030204" pitchFamily="34" charset="0"/>
              </a:rPr>
              <a:t>A, B, C &gt; 0</a:t>
            </a:r>
          </a:p>
        </p:txBody>
      </p:sp>
      <p:cxnSp>
        <p:nvCxnSpPr>
          <p:cNvPr id="190" name="Connector 84">
            <a:extLst>
              <a:ext uri="{FF2B5EF4-FFF2-40B4-BE49-F238E27FC236}">
                <a16:creationId xmlns:a16="http://schemas.microsoft.com/office/drawing/2014/main" id="{DE4A81FE-A594-C956-15B0-72767E91CF43}"/>
              </a:ext>
            </a:extLst>
          </p:cNvPr>
          <p:cNvCxnSpPr/>
          <p:nvPr/>
        </p:nvCxnSpPr>
        <p:spPr>
          <a:xfrm>
            <a:off x="12595165" y="4840224"/>
            <a:ext cx="128016" cy="0"/>
          </a:xfrm>
          <a:prstGeom prst="line">
            <a:avLst/>
          </a:prstGeom>
          <a:ln w="1587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Rectangle 190">
            <a:extLst>
              <a:ext uri="{FF2B5EF4-FFF2-40B4-BE49-F238E27FC236}">
                <a16:creationId xmlns:a16="http://schemas.microsoft.com/office/drawing/2014/main" id="{53BB09E0-3E23-6F04-B593-860F8F9AB2E5}"/>
              </a:ext>
            </a:extLst>
          </p:cNvPr>
          <p:cNvSpPr/>
          <p:nvPr/>
        </p:nvSpPr>
        <p:spPr>
          <a:xfrm>
            <a:off x="12741469" y="2042160"/>
            <a:ext cx="2856183" cy="559612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92" name="Rectangle 191">
            <a:extLst>
              <a:ext uri="{FF2B5EF4-FFF2-40B4-BE49-F238E27FC236}">
                <a16:creationId xmlns:a16="http://schemas.microsoft.com/office/drawing/2014/main" id="{BD0B2E7F-FAE2-7FB6-013C-8C5C499D7F0C}"/>
              </a:ext>
            </a:extLst>
          </p:cNvPr>
          <p:cNvSpPr/>
          <p:nvPr/>
        </p:nvSpPr>
        <p:spPr>
          <a:xfrm>
            <a:off x="12741469" y="2042160"/>
            <a:ext cx="2856183"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93" name="Rectangle 192">
            <a:extLst>
              <a:ext uri="{FF2B5EF4-FFF2-40B4-BE49-F238E27FC236}">
                <a16:creationId xmlns:a16="http://schemas.microsoft.com/office/drawing/2014/main" id="{68C36F7C-0693-707F-C7C6-BDA30D5B86CD}"/>
              </a:ext>
            </a:extLst>
          </p:cNvPr>
          <p:cNvSpPr/>
          <p:nvPr/>
        </p:nvSpPr>
        <p:spPr>
          <a:xfrm>
            <a:off x="12906061" y="2225040"/>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5</a:t>
            </a:r>
          </a:p>
        </p:txBody>
      </p:sp>
      <p:sp>
        <p:nvSpPr>
          <p:cNvPr id="194" name="TextBox 193">
            <a:extLst>
              <a:ext uri="{FF2B5EF4-FFF2-40B4-BE49-F238E27FC236}">
                <a16:creationId xmlns:a16="http://schemas.microsoft.com/office/drawing/2014/main" id="{B6E22CD4-8EB2-8450-9A84-C8EE021B0FA7}"/>
              </a:ext>
            </a:extLst>
          </p:cNvPr>
          <p:cNvSpPr txBox="1"/>
          <p:nvPr/>
        </p:nvSpPr>
        <p:spPr>
          <a:xfrm>
            <a:off x="13290109" y="2252472"/>
            <a:ext cx="2142951" cy="430887"/>
          </a:xfrm>
          <a:prstGeom prst="rect">
            <a:avLst/>
          </a:prstGeom>
          <a:noFill/>
        </p:spPr>
        <p:txBody>
          <a:bodyPr wrap="square" lIns="0" tIns="0" rIns="0" bIns="0" anchor="t">
            <a:spAutoFit/>
          </a:bodyPr>
          <a:lstStyle/>
          <a:p>
            <a:pPr algn="l">
              <a:lnSpc>
                <a:spcPct val="100000"/>
              </a:lnSpc>
            </a:pPr>
            <a:r>
              <a:rPr lang="es-ES_tradnl" b="1" i="0" noProof="0" dirty="0">
                <a:solidFill>
                  <a:srgbClr val="0B2E2C"/>
                </a:solidFill>
                <a:latin typeface="Calibri" panose="020F0502020204030204" pitchFamily="34" charset="0"/>
                <a:cs typeface="Calibri" panose="020F0502020204030204" pitchFamily="34" charset="0"/>
              </a:rPr>
              <a:t>Extensión más allá de 12 meses</a:t>
            </a:r>
          </a:p>
        </p:txBody>
      </p:sp>
      <p:sp>
        <p:nvSpPr>
          <p:cNvPr id="195" name="TextBox 194">
            <a:extLst>
              <a:ext uri="{FF2B5EF4-FFF2-40B4-BE49-F238E27FC236}">
                <a16:creationId xmlns:a16="http://schemas.microsoft.com/office/drawing/2014/main" id="{730AE6F5-6700-B914-62A0-47BAA369FEB0}"/>
              </a:ext>
            </a:extLst>
          </p:cNvPr>
          <p:cNvSpPr txBox="1"/>
          <p:nvPr/>
        </p:nvSpPr>
        <p:spPr>
          <a:xfrm>
            <a:off x="12906061" y="2700528"/>
            <a:ext cx="2526999" cy="392672"/>
          </a:xfrm>
          <a:prstGeom prst="rect">
            <a:avLst/>
          </a:prstGeom>
          <a:noFill/>
        </p:spPr>
        <p:txBody>
          <a:bodyPr wrap="square" lIns="0" tIns="0" rIns="0" bIns="0" anchor="t">
            <a:spAutoFit/>
          </a:bodyPr>
          <a:lstStyle/>
          <a:p>
            <a:pPr algn="l">
              <a:lnSpc>
                <a:spcPct val="120000"/>
              </a:lnSpc>
            </a:pPr>
            <a:r>
              <a:rPr lang="es-ES_tradnl" sz="1100" b="0" i="0" noProof="0" dirty="0">
                <a:solidFill>
                  <a:srgbClr val="6E7E7D"/>
                </a:solidFill>
                <a:latin typeface="Calibri" panose="020F0502020204030204" pitchFamily="34" charset="0"/>
                <a:cs typeface="Calibri" panose="020F0502020204030204" pitchFamily="34" charset="0"/>
              </a:rPr>
              <a:t>PD </a:t>
            </a:r>
            <a:r>
              <a:rPr lang="es-ES_tradnl" sz="1100" b="0" i="0" noProof="0" dirty="0" err="1">
                <a:solidFill>
                  <a:srgbClr val="6E7E7D"/>
                </a:solidFill>
                <a:latin typeface="Calibri" panose="020F0502020204030204" pitchFamily="34" charset="0"/>
                <a:cs typeface="Calibri" panose="020F0502020204030204" pitchFamily="34" charset="0"/>
              </a:rPr>
              <a:t>lifetime</a:t>
            </a:r>
            <a:r>
              <a:rPr lang="es-ES_tradnl" sz="1100" b="0" i="0" noProof="0" dirty="0">
                <a:solidFill>
                  <a:srgbClr val="6E7E7D"/>
                </a:solidFill>
                <a:latin typeface="Calibri" panose="020F0502020204030204" pitchFamily="34" charset="0"/>
                <a:cs typeface="Calibri" panose="020F0502020204030204" pitchFamily="34" charset="0"/>
              </a:rPr>
              <a:t> acumulada a nivel operación, hasta 60 meses</a:t>
            </a:r>
          </a:p>
        </p:txBody>
      </p:sp>
      <p:pic>
        <p:nvPicPr>
          <p:cNvPr id="196" name="Picture 195" descr="pd.png">
            <a:extLst>
              <a:ext uri="{FF2B5EF4-FFF2-40B4-BE49-F238E27FC236}">
                <a16:creationId xmlns:a16="http://schemas.microsoft.com/office/drawing/2014/main" id="{9BE7AB2F-27DD-467B-8D6E-061811F60210}"/>
              </a:ext>
            </a:extLst>
          </p:cNvPr>
          <p:cNvPicPr>
            <a:picLocks noChangeAspect="1"/>
          </p:cNvPicPr>
          <p:nvPr/>
        </p:nvPicPr>
        <p:blipFill>
          <a:blip r:embed="rId4"/>
          <a:stretch>
            <a:fillRect/>
          </a:stretch>
        </p:blipFill>
        <p:spPr>
          <a:xfrm>
            <a:off x="12906061" y="3267456"/>
            <a:ext cx="2526999" cy="1286242"/>
          </a:xfrm>
          <a:prstGeom prst="rect">
            <a:avLst/>
          </a:prstGeom>
        </p:spPr>
      </p:pic>
      <p:sp>
        <p:nvSpPr>
          <p:cNvPr id="197" name="TextBox 196">
            <a:extLst>
              <a:ext uri="{FF2B5EF4-FFF2-40B4-BE49-F238E27FC236}">
                <a16:creationId xmlns:a16="http://schemas.microsoft.com/office/drawing/2014/main" id="{7B88626F-031A-E6C8-35B0-59C4BAB39C69}"/>
              </a:ext>
            </a:extLst>
          </p:cNvPr>
          <p:cNvSpPr txBox="1"/>
          <p:nvPr/>
        </p:nvSpPr>
        <p:spPr>
          <a:xfrm>
            <a:off x="12906061" y="4803648"/>
            <a:ext cx="2526999" cy="1101840"/>
          </a:xfrm>
          <a:prstGeom prst="rect">
            <a:avLst/>
          </a:prstGeom>
          <a:noFill/>
        </p:spPr>
        <p:txBody>
          <a:bodyPr wrap="square" lIns="0" tIns="0" rIns="0" bIns="0" anchor="t">
            <a:spAutoFit/>
          </a:bodyPr>
          <a:lstStyle/>
          <a:p>
            <a:pPr algn="l">
              <a:lnSpc>
                <a:spcPct val="130000"/>
              </a:lnSpc>
              <a:spcAft>
                <a:spcPts val="800"/>
              </a:spcAft>
            </a:pPr>
            <a:r>
              <a:rPr lang="es-ES_tradnl" sz="1050" b="1" i="0" noProof="0" dirty="0">
                <a:solidFill>
                  <a:srgbClr val="0B2E2C"/>
                </a:solidFill>
                <a:latin typeface="Calibri" panose="020F0502020204030204" pitchFamily="34" charset="0"/>
                <a:cs typeface="Calibri" panose="020F0502020204030204" pitchFamily="34" charset="0"/>
              </a:rPr>
              <a:t>Asegura:</a:t>
            </a:r>
          </a:p>
          <a:p>
            <a:pPr marL="128016" indent="-128016" algn="l">
              <a:lnSpc>
                <a:spcPct val="130000"/>
              </a:lnSpc>
              <a:spcAft>
                <a:spcPts val="800"/>
              </a:spcAft>
              <a:buClr>
                <a:srgbClr val="13807B"/>
              </a:buClr>
              <a:buFont typeface="Arial"/>
              <a:buChar char="•"/>
            </a:pPr>
            <a:r>
              <a:rPr lang="es-ES_tradnl" sz="1000" b="0" i="0" noProof="0" dirty="0">
                <a:solidFill>
                  <a:srgbClr val="6E7E7D"/>
                </a:solidFill>
                <a:latin typeface="Calibri" panose="020F0502020204030204" pitchFamily="34" charset="0"/>
                <a:cs typeface="Calibri" panose="020F0502020204030204" pitchFamily="34" charset="0"/>
              </a:rPr>
              <a:t>Monotonía creciente</a:t>
            </a:r>
          </a:p>
          <a:p>
            <a:pPr marL="128016" indent="-128016" algn="l">
              <a:lnSpc>
                <a:spcPct val="130000"/>
              </a:lnSpc>
              <a:spcAft>
                <a:spcPts val="800"/>
              </a:spcAft>
              <a:buClr>
                <a:srgbClr val="13807B"/>
              </a:buClr>
              <a:buFont typeface="Arial"/>
              <a:buChar char="•"/>
            </a:pPr>
            <a:r>
              <a:rPr lang="es-ES_tradnl" sz="1000" b="0" i="0" noProof="0" dirty="0">
                <a:solidFill>
                  <a:srgbClr val="6E7E7D"/>
                </a:solidFill>
                <a:latin typeface="Calibri" panose="020F0502020204030204" pitchFamily="34" charset="0"/>
                <a:cs typeface="Calibri" panose="020F0502020204030204" pitchFamily="34" charset="0"/>
              </a:rPr>
              <a:t>0 ≤ PD ≤ 1</a:t>
            </a:r>
          </a:p>
          <a:p>
            <a:pPr marL="128016" indent="-128016" algn="l">
              <a:lnSpc>
                <a:spcPct val="130000"/>
              </a:lnSpc>
              <a:spcAft>
                <a:spcPts val="800"/>
              </a:spcAft>
              <a:buClr>
                <a:srgbClr val="13807B"/>
              </a:buClr>
              <a:buFont typeface="Arial"/>
              <a:buChar char="•"/>
            </a:pPr>
            <a:r>
              <a:rPr lang="es-ES_tradnl" sz="1000" b="0" i="0" noProof="0" dirty="0">
                <a:solidFill>
                  <a:srgbClr val="6E7E7D"/>
                </a:solidFill>
                <a:latin typeface="Calibri" panose="020F0502020204030204" pitchFamily="34" charset="0"/>
                <a:cs typeface="Calibri" panose="020F0502020204030204" pitchFamily="34" charset="0"/>
              </a:rPr>
              <a:t>Coherencia con PD(</a:t>
            </a:r>
            <a:r>
              <a:rPr lang="es-ES_tradnl" sz="1000" b="0" i="0" noProof="0" dirty="0" err="1">
                <a:solidFill>
                  <a:srgbClr val="6E7E7D"/>
                </a:solidFill>
                <a:latin typeface="Calibri" panose="020F0502020204030204" pitchFamily="34" charset="0"/>
                <a:cs typeface="Calibri" panose="020F0502020204030204" pitchFamily="34" charset="0"/>
              </a:rPr>
              <a:t>oper</a:t>
            </a:r>
            <a:r>
              <a:rPr lang="es-ES_tradnl" sz="1000" b="0" i="0" noProof="0" dirty="0">
                <a:solidFill>
                  <a:srgbClr val="6E7E7D"/>
                </a:solidFill>
                <a:latin typeface="Calibri" panose="020F0502020204030204" pitchFamily="34" charset="0"/>
                <a:cs typeface="Calibri" panose="020F0502020204030204" pitchFamily="34" charset="0"/>
              </a:rPr>
              <a:t>, 9012)</a:t>
            </a:r>
          </a:p>
        </p:txBody>
      </p:sp>
      <p:sp>
        <p:nvSpPr>
          <p:cNvPr id="198" name="Rectangle 197">
            <a:extLst>
              <a:ext uri="{FF2B5EF4-FFF2-40B4-BE49-F238E27FC236}">
                <a16:creationId xmlns:a16="http://schemas.microsoft.com/office/drawing/2014/main" id="{B4C653F6-9B9D-41FD-8961-B96356ECEF8C}"/>
              </a:ext>
            </a:extLst>
          </p:cNvPr>
          <p:cNvSpPr/>
          <p:nvPr/>
        </p:nvSpPr>
        <p:spPr>
          <a:xfrm>
            <a:off x="658368" y="785774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199" name="Connector 93">
            <a:extLst>
              <a:ext uri="{FF2B5EF4-FFF2-40B4-BE49-F238E27FC236}">
                <a16:creationId xmlns:a16="http://schemas.microsoft.com/office/drawing/2014/main" id="{B14F36EF-8E40-8D4B-D242-B95723A0281D}"/>
              </a:ext>
            </a:extLst>
          </p:cNvPr>
          <p:cNvCxnSpPr/>
          <p:nvPr/>
        </p:nvCxnSpPr>
        <p:spPr>
          <a:xfrm>
            <a:off x="658368" y="785774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200" name="TextBox 199">
            <a:extLst>
              <a:ext uri="{FF2B5EF4-FFF2-40B4-BE49-F238E27FC236}">
                <a16:creationId xmlns:a16="http://schemas.microsoft.com/office/drawing/2014/main" id="{AD0A8ECF-6F00-03C8-B687-55CAFA3FD1C9}"/>
              </a:ext>
            </a:extLst>
          </p:cNvPr>
          <p:cNvSpPr txBox="1"/>
          <p:nvPr/>
        </p:nvSpPr>
        <p:spPr>
          <a:xfrm>
            <a:off x="896112" y="8024637"/>
            <a:ext cx="14482084" cy="233141"/>
          </a:xfrm>
          <a:prstGeom prst="rect">
            <a:avLst/>
          </a:prstGeom>
          <a:noFill/>
        </p:spPr>
        <p:txBody>
          <a:bodyPr wrap="square" lIns="0" tIns="0" rIns="0" bIns="0" anchor="ctr">
            <a:spAutoFit/>
          </a:bodyPr>
          <a:lstStyle/>
          <a:p>
            <a:pPr algn="l">
              <a:lnSpc>
                <a:spcPct val="115000"/>
              </a:lnSpc>
              <a:spcAft>
                <a:spcPts val="400"/>
              </a:spcAft>
            </a:pPr>
            <a:r>
              <a:rPr lang="es-ES_tradnl" b="1" i="0" noProof="0" dirty="0">
                <a:solidFill>
                  <a:srgbClr val="0C514E"/>
                </a:solidFill>
                <a:latin typeface="Calibri" panose="020F0502020204030204" pitchFamily="34" charset="0"/>
                <a:cs typeface="Calibri" panose="020F0502020204030204" pitchFamily="34" charset="0"/>
              </a:rPr>
              <a:t>Sin extensión </a:t>
            </a:r>
            <a:r>
              <a:rPr lang="es-ES_tradnl" b="1" i="0" noProof="0" dirty="0" err="1">
                <a:solidFill>
                  <a:srgbClr val="0C514E"/>
                </a:solidFill>
                <a:latin typeface="Calibri" panose="020F0502020204030204" pitchFamily="34" charset="0"/>
                <a:cs typeface="Calibri" panose="020F0502020204030204" pitchFamily="34" charset="0"/>
              </a:rPr>
              <a:t>lifetime</a:t>
            </a:r>
            <a:r>
              <a:rPr lang="es-ES_tradnl" b="1" i="0" noProof="0" dirty="0">
                <a:solidFill>
                  <a:srgbClr val="0C514E"/>
                </a:solidFill>
                <a:latin typeface="Calibri" panose="020F0502020204030204" pitchFamily="34" charset="0"/>
                <a:cs typeface="Calibri" panose="020F0502020204030204" pitchFamily="34" charset="0"/>
              </a:rPr>
              <a:t>, un crédito a 36 meses se </a:t>
            </a:r>
            <a:r>
              <a:rPr lang="es-ES_tradnl" b="1" i="0" noProof="0" dirty="0" err="1">
                <a:solidFill>
                  <a:srgbClr val="0C514E"/>
                </a:solidFill>
                <a:latin typeface="Calibri" panose="020F0502020204030204" pitchFamily="34" charset="0"/>
                <a:cs typeface="Calibri" panose="020F0502020204030204" pitchFamily="34" charset="0"/>
              </a:rPr>
              <a:t>pricearía</a:t>
            </a:r>
            <a:r>
              <a:rPr lang="es-ES_tradnl" b="1" i="0" noProof="0" dirty="0">
                <a:solidFill>
                  <a:srgbClr val="0C514E"/>
                </a:solidFill>
                <a:latin typeface="Calibri" panose="020F0502020204030204" pitchFamily="34" charset="0"/>
                <a:cs typeface="Calibri" panose="020F0502020204030204" pitchFamily="34" charset="0"/>
              </a:rPr>
              <a:t> con el riesgo de sus primeros 12: la curva </a:t>
            </a:r>
            <a:r>
              <a:rPr lang="es-ES_tradnl" b="1" i="0" noProof="0" dirty="0" err="1">
                <a:solidFill>
                  <a:srgbClr val="0C514E"/>
                </a:solidFill>
                <a:latin typeface="Calibri" panose="020F0502020204030204" pitchFamily="34" charset="0"/>
                <a:cs typeface="Calibri" panose="020F0502020204030204" pitchFamily="34" charset="0"/>
              </a:rPr>
              <a:t>Gompertz</a:t>
            </a:r>
            <a:r>
              <a:rPr lang="es-ES_tradnl" b="1" i="0" noProof="0" dirty="0">
                <a:solidFill>
                  <a:srgbClr val="0C514E"/>
                </a:solidFill>
                <a:latin typeface="Calibri" panose="020F0502020204030204" pitchFamily="34" charset="0"/>
                <a:cs typeface="Calibri" panose="020F0502020204030204" pitchFamily="34" charset="0"/>
              </a:rPr>
              <a:t> cierra esa brecha.</a:t>
            </a:r>
          </a:p>
        </p:txBody>
      </p:sp>
    </p:spTree>
    <p:extLst>
      <p:ext uri="{BB962C8B-B14F-4D97-AF65-F5344CB8AC3E}">
        <p14:creationId xmlns:p14="http://schemas.microsoft.com/office/powerpoint/2010/main" val="623081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6EB63E7F-F1E1-F1A5-7733-12DAD89DFECA}"/>
            </a:ext>
          </a:extLst>
        </p:cNvPr>
        <p:cNvGrpSpPr/>
        <p:nvPr/>
      </p:nvGrpSpPr>
      <p:grpSpPr>
        <a:xfrm>
          <a:off x="0" y="0"/>
          <a:ext cx="0" cy="0"/>
          <a:chOff x="0" y="0"/>
          <a:chExt cx="0" cy="0"/>
        </a:xfrm>
      </p:grpSpPr>
      <p:sp>
        <p:nvSpPr>
          <p:cNvPr id="53" name="Google Shape;53;g3d1edd8623c_1_0">
            <a:extLst>
              <a:ext uri="{FF2B5EF4-FFF2-40B4-BE49-F238E27FC236}">
                <a16:creationId xmlns:a16="http://schemas.microsoft.com/office/drawing/2014/main" id="{D3316F52-1114-2620-8C67-F20C52B9C7D8}"/>
              </a:ext>
            </a:extLst>
          </p:cNvPr>
          <p:cNvSpPr txBox="1">
            <a:spLocks noGrp="1"/>
          </p:cNvSpPr>
          <p:nvPr>
            <p:ph type="title"/>
          </p:nvPr>
        </p:nvSpPr>
        <p:spPr>
          <a:xfrm>
            <a:off x="431800" y="2614300"/>
            <a:ext cx="8737500" cy="4073400"/>
          </a:xfrm>
          <a:prstGeom prst="rect">
            <a:avLst/>
          </a:prstGeom>
          <a:noFill/>
          <a:ln>
            <a:noFill/>
          </a:ln>
        </p:spPr>
        <p:txBody>
          <a:bodyPr spcFirstLastPara="1" wrap="square" lIns="91425" tIns="45700" rIns="91425" bIns="45700" anchor="ctr" anchorCtr="0">
            <a:normAutofit/>
          </a:bodyPr>
          <a:lstStyle/>
          <a:p>
            <a:pPr lvl="0"/>
            <a:r>
              <a:rPr lang="es-ES_tradnl" sz="4700" noProof="0" dirty="0"/>
              <a:t>Pricing 360°: </a:t>
            </a:r>
            <a:r>
              <a:rPr lang="es-ES_tradnl" sz="4700" noProof="0" dirty="0" err="1"/>
              <a:t>Checkpoint</a:t>
            </a:r>
            <a:r>
              <a:rPr lang="es-ES_tradnl" sz="4700" noProof="0" dirty="0"/>
              <a:t> Modelos  </a:t>
            </a:r>
          </a:p>
          <a:p>
            <a:pPr marL="0" lvl="0" indent="0" algn="l" rtl="0">
              <a:lnSpc>
                <a:spcPct val="100000"/>
              </a:lnSpc>
              <a:spcBef>
                <a:spcPts val="0"/>
              </a:spcBef>
              <a:spcAft>
                <a:spcPts val="0"/>
              </a:spcAft>
              <a:buSzPts val="4400"/>
              <a:buNone/>
            </a:pPr>
            <a:r>
              <a:rPr lang="es-ES_tradnl" b="0" noProof="0" dirty="0"/>
              <a:t>LGD </a:t>
            </a:r>
            <a:r>
              <a:rPr lang="es-ES_tradnl" b="0" noProof="0" dirty="0" err="1"/>
              <a:t>Lifetime</a:t>
            </a:r>
            <a:endParaRPr lang="es-ES_tradnl" b="0" noProof="0" dirty="0"/>
          </a:p>
        </p:txBody>
      </p:sp>
      <p:sp>
        <p:nvSpPr>
          <p:cNvPr id="54" name="Google Shape;54;g3d1edd8623c_1_0">
            <a:extLst>
              <a:ext uri="{FF2B5EF4-FFF2-40B4-BE49-F238E27FC236}">
                <a16:creationId xmlns:a16="http://schemas.microsoft.com/office/drawing/2014/main" id="{46E3FD88-2FEA-D98F-0774-B416CBABEECD}"/>
              </a:ext>
            </a:extLst>
          </p:cNvPr>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cxnSp>
        <p:nvCxnSpPr>
          <p:cNvPr id="55" name="Google Shape;55;g3d1edd8623c_1_0">
            <a:extLst>
              <a:ext uri="{FF2B5EF4-FFF2-40B4-BE49-F238E27FC236}">
                <a16:creationId xmlns:a16="http://schemas.microsoft.com/office/drawing/2014/main" id="{D926F48B-0D19-7054-C81A-043E8268D8D4}"/>
              </a:ext>
            </a:extLst>
          </p:cNvPr>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56" name="Google Shape;56;g3d1edd8623c_1_0">
            <a:extLst>
              <a:ext uri="{FF2B5EF4-FFF2-40B4-BE49-F238E27FC236}">
                <a16:creationId xmlns:a16="http://schemas.microsoft.com/office/drawing/2014/main" id="{BBE007DB-0365-5862-25E6-C69FC12554B5}"/>
              </a:ext>
            </a:extLst>
          </p:cNvPr>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pic>
        <p:nvPicPr>
          <p:cNvPr id="57" name="Google Shape;57;g3d1edd8623c_1_0">
            <a:extLst>
              <a:ext uri="{FF2B5EF4-FFF2-40B4-BE49-F238E27FC236}">
                <a16:creationId xmlns:a16="http://schemas.microsoft.com/office/drawing/2014/main" id="{35E339AF-61D3-AF97-CAE5-3B810F433E32}"/>
              </a:ext>
            </a:extLst>
          </p:cNvPr>
          <p:cNvPicPr preferRelativeResize="0"/>
          <p:nvPr/>
        </p:nvPicPr>
        <p:blipFill rotWithShape="1">
          <a:blip r:embed="rId3">
            <a:alphaModFix/>
          </a:blip>
          <a:srcRect/>
          <a:stretch/>
        </p:blipFill>
        <p:spPr>
          <a:xfrm>
            <a:off x="15168189" y="223789"/>
            <a:ext cx="792749" cy="375950"/>
          </a:xfrm>
          <a:prstGeom prst="rect">
            <a:avLst/>
          </a:prstGeom>
          <a:noFill/>
          <a:ln>
            <a:noFill/>
          </a:ln>
        </p:spPr>
      </p:pic>
    </p:spTree>
    <p:extLst>
      <p:ext uri="{BB962C8B-B14F-4D97-AF65-F5344CB8AC3E}">
        <p14:creationId xmlns:p14="http://schemas.microsoft.com/office/powerpoint/2010/main" val="2868554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5CA6C-253E-FB05-411C-73E26EBD15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267F1CC-17BF-FE79-8686-2F66BE0CE3CC}"/>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AF5F6CA5-27D8-1571-29CA-86E6D7B4E2C6}"/>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LGD </a:t>
            </a:r>
            <a:r>
              <a:rPr lang="es-ES_tradnl" sz="3200" b="1" kern="1200" noProof="0" dirty="0" err="1">
                <a:solidFill>
                  <a:srgbClr val="13807B"/>
                </a:solidFill>
                <a:latin typeface="Poppins"/>
                <a:ea typeface="Poppins"/>
                <a:cs typeface="Poppins"/>
                <a:sym typeface="Poppins"/>
              </a:rPr>
              <a:t>Lifetime</a:t>
            </a:r>
            <a:endParaRPr lang="es-ES_tradnl" sz="3200" b="1" kern="1200" noProof="0" dirty="0">
              <a:solidFill>
                <a:srgbClr val="13807B"/>
              </a:solidFill>
              <a:latin typeface="Poppins"/>
              <a:ea typeface="Poppins"/>
              <a:cs typeface="Poppins"/>
              <a:sym typeface="Poppins"/>
            </a:endParaRPr>
          </a:p>
        </p:txBody>
      </p:sp>
      <p:cxnSp>
        <p:nvCxnSpPr>
          <p:cNvPr id="2" name="Connector 3">
            <a:extLst>
              <a:ext uri="{FF2B5EF4-FFF2-40B4-BE49-F238E27FC236}">
                <a16:creationId xmlns:a16="http://schemas.microsoft.com/office/drawing/2014/main" id="{0057A93F-4565-37F8-D596-4FB96F097F1C}"/>
              </a:ext>
            </a:extLst>
          </p:cNvPr>
          <p:cNvCxnSpPr/>
          <p:nvPr/>
        </p:nvCxnSpPr>
        <p:spPr>
          <a:xfrm>
            <a:off x="637586" y="123277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cxnSp>
        <p:nvCxnSpPr>
          <p:cNvPr id="7" name="Connector 3">
            <a:extLst>
              <a:ext uri="{FF2B5EF4-FFF2-40B4-BE49-F238E27FC236}">
                <a16:creationId xmlns:a16="http://schemas.microsoft.com/office/drawing/2014/main" id="{9821AAAC-B75D-8E49-8E7E-BEE1765ECD5A}"/>
              </a:ext>
            </a:extLst>
          </p:cNvPr>
          <p:cNvCxnSpPr/>
          <p:nvPr/>
        </p:nvCxnSpPr>
        <p:spPr>
          <a:xfrm>
            <a:off x="637586" y="154127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78D11A8-ECF1-66F5-04D6-C703D3274B34}"/>
              </a:ext>
            </a:extLst>
          </p:cNvPr>
          <p:cNvSpPr/>
          <p:nvPr/>
        </p:nvSpPr>
        <p:spPr>
          <a:xfrm>
            <a:off x="637586" y="1769872"/>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9" name="Connector 7">
            <a:extLst>
              <a:ext uri="{FF2B5EF4-FFF2-40B4-BE49-F238E27FC236}">
                <a16:creationId xmlns:a16="http://schemas.microsoft.com/office/drawing/2014/main" id="{CA5EF4BE-6E14-2B8D-8D4D-33B644BEC937}"/>
              </a:ext>
            </a:extLst>
          </p:cNvPr>
          <p:cNvCxnSpPr/>
          <p:nvPr/>
        </p:nvCxnSpPr>
        <p:spPr>
          <a:xfrm>
            <a:off x="637586" y="1769872"/>
            <a:ext cx="0" cy="475488"/>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4939D9E-8C08-D5EF-7C80-93FA2A84F69E}"/>
              </a:ext>
            </a:extLst>
          </p:cNvPr>
          <p:cNvSpPr txBox="1"/>
          <p:nvPr/>
        </p:nvSpPr>
        <p:spPr>
          <a:xfrm>
            <a:off x="802177" y="1801664"/>
            <a:ext cx="14610100" cy="411908"/>
          </a:xfrm>
          <a:prstGeom prst="rect">
            <a:avLst/>
          </a:prstGeom>
          <a:noFill/>
        </p:spPr>
        <p:txBody>
          <a:bodyPr wrap="square" lIns="0" tIns="0" rIns="0" bIns="0" anchor="ctr">
            <a:spAutoFit/>
          </a:bodyPr>
          <a:lstStyle/>
          <a:p>
            <a:pPr algn="l">
              <a:lnSpc>
                <a:spcPct val="112000"/>
              </a:lnSpc>
              <a:spcAft>
                <a:spcPts val="200"/>
              </a:spcAft>
            </a:pPr>
            <a:r>
              <a:rPr lang="es-ES_tradnl" sz="1200" b="1" i="0" noProof="0" dirty="0">
                <a:solidFill>
                  <a:srgbClr val="13807B"/>
                </a:solidFill>
                <a:latin typeface="Calibri" panose="020F0502020204030204" pitchFamily="34" charset="0"/>
                <a:cs typeface="Calibri" panose="020F0502020204030204" pitchFamily="34" charset="0"/>
              </a:rPr>
              <a:t>Nuestro objetivo</a:t>
            </a:r>
          </a:p>
          <a:p>
            <a:pPr algn="l">
              <a:lnSpc>
                <a:spcPct val="112000"/>
              </a:lnSpc>
              <a:spcAft>
                <a:spcPts val="200"/>
              </a:spcAft>
            </a:pPr>
            <a:r>
              <a:rPr lang="es-ES_tradnl" sz="1100" b="0" i="0" noProof="0" dirty="0">
                <a:solidFill>
                  <a:srgbClr val="3E5553"/>
                </a:solidFill>
                <a:latin typeface="Calibri" panose="020F0502020204030204" pitchFamily="34" charset="0"/>
                <a:cs typeface="Calibri" panose="020F0502020204030204" pitchFamily="34" charset="0"/>
              </a:rPr>
              <a:t>Estimar la LGD de una operación en cada punto de su vida (maduración), usando información disponible en </a:t>
            </a:r>
            <a:r>
              <a:rPr lang="es-ES_tradnl" sz="1100" b="0" i="0" noProof="0" dirty="0" err="1">
                <a:solidFill>
                  <a:srgbClr val="3E5553"/>
                </a:solidFill>
                <a:latin typeface="Calibri" panose="020F0502020204030204" pitchFamily="34" charset="0"/>
                <a:cs typeface="Calibri" panose="020F0502020204030204" pitchFamily="34" charset="0"/>
              </a:rPr>
              <a:t>originación</a:t>
            </a:r>
            <a:r>
              <a:rPr lang="es-ES_tradnl" sz="1100" b="0" i="0" noProof="0" dirty="0">
                <a:solidFill>
                  <a:srgbClr val="3E5553"/>
                </a:solidFill>
                <a:latin typeface="Calibri" panose="020F0502020204030204" pitchFamily="34" charset="0"/>
                <a:cs typeface="Calibri" panose="020F0502020204030204" pitchFamily="34" charset="0"/>
              </a:rPr>
              <a:t>.</a:t>
            </a:r>
          </a:p>
        </p:txBody>
      </p:sp>
      <p:sp>
        <p:nvSpPr>
          <p:cNvPr id="11" name="Rectangle 10">
            <a:extLst>
              <a:ext uri="{FF2B5EF4-FFF2-40B4-BE49-F238E27FC236}">
                <a16:creationId xmlns:a16="http://schemas.microsoft.com/office/drawing/2014/main" id="{65FAC89C-FA81-E545-C5EE-F3EED9D53D2A}"/>
              </a:ext>
            </a:extLst>
          </p:cNvPr>
          <p:cNvSpPr/>
          <p:nvPr/>
        </p:nvSpPr>
        <p:spPr>
          <a:xfrm>
            <a:off x="637586" y="2446528"/>
            <a:ext cx="3931920" cy="2331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8A1A6569-6DE4-5B70-5F0D-1CD64DFA1275}"/>
              </a:ext>
            </a:extLst>
          </p:cNvPr>
          <p:cNvSpPr/>
          <p:nvPr/>
        </p:nvSpPr>
        <p:spPr>
          <a:xfrm>
            <a:off x="637586" y="2446528"/>
            <a:ext cx="3931920" cy="32918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i="0" noProof="0" dirty="0">
                <a:solidFill>
                  <a:srgbClr val="FFFFFF"/>
                </a:solidFill>
                <a:latin typeface="Calibri" panose="020F0502020204030204" pitchFamily="34" charset="0"/>
                <a:cs typeface="Calibri" panose="020F0502020204030204" pitchFamily="34" charset="0"/>
              </a:rPr>
              <a:t>INPUT · nueva operación en </a:t>
            </a:r>
            <a:r>
              <a:rPr lang="es-ES_tradnl" sz="1100" b="1" i="0" noProof="0" dirty="0" err="1">
                <a:solidFill>
                  <a:srgbClr val="FFFFFF"/>
                </a:solidFill>
                <a:latin typeface="Calibri" panose="020F0502020204030204" pitchFamily="34" charset="0"/>
                <a:cs typeface="Calibri" panose="020F0502020204030204" pitchFamily="34" charset="0"/>
              </a:rPr>
              <a:t>originación</a:t>
            </a:r>
            <a:endParaRPr lang="es-ES_tradnl" sz="1100" b="1" i="0" noProof="0" dirty="0">
              <a:solidFill>
                <a:srgbClr val="FFFFFF"/>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D5DADAB7-B9CB-5882-EF1C-8DB1291D6CDC}"/>
              </a:ext>
            </a:extLst>
          </p:cNvPr>
          <p:cNvSpPr txBox="1"/>
          <p:nvPr/>
        </p:nvSpPr>
        <p:spPr>
          <a:xfrm>
            <a:off x="911906" y="2922016"/>
            <a:ext cx="3383279" cy="1653594"/>
          </a:xfrm>
          <a:prstGeom prst="rect">
            <a:avLst/>
          </a:prstGeom>
          <a:noFill/>
        </p:spPr>
        <p:txBody>
          <a:bodyPr wrap="square" lIns="0" tIns="0" rIns="0" bIns="0" anchor="t">
            <a:spAutoFit/>
          </a:bodyPr>
          <a:lstStyle/>
          <a:p>
            <a:pPr marL="128016" indent="-128016" algn="l">
              <a:lnSpc>
                <a:spcPct val="128000"/>
              </a:lnSpc>
              <a:spcAft>
                <a:spcPts val="200"/>
              </a:spcAft>
              <a:buClr>
                <a:srgbClr val="445A6E"/>
              </a:buClr>
              <a:buFont typeface="Arial"/>
              <a:buChar char="•"/>
            </a:pPr>
            <a:r>
              <a:rPr lang="es-ES_tradnl" sz="1100" b="0" i="0" noProof="0" dirty="0">
                <a:solidFill>
                  <a:srgbClr val="3E5553"/>
                </a:solidFill>
                <a:latin typeface="Calibri" panose="020F0502020204030204" pitchFamily="34" charset="0"/>
                <a:cs typeface="Calibri" panose="020F0502020204030204" pitchFamily="34" charset="0"/>
              </a:rPr>
              <a:t>Deuda en SSFF = 20k</a:t>
            </a:r>
          </a:p>
          <a:p>
            <a:pPr marL="128016" indent="-128016" algn="l">
              <a:lnSpc>
                <a:spcPct val="128000"/>
              </a:lnSpc>
              <a:spcAft>
                <a:spcPts val="200"/>
              </a:spcAft>
              <a:buClr>
                <a:srgbClr val="445A6E"/>
              </a:buClr>
              <a:buFont typeface="Arial"/>
              <a:buChar char="•"/>
            </a:pPr>
            <a:r>
              <a:rPr lang="es-ES_tradnl" sz="1100" b="0" i="0" noProof="0" dirty="0">
                <a:solidFill>
                  <a:srgbClr val="3E5553"/>
                </a:solidFill>
                <a:latin typeface="Calibri" panose="020F0502020204030204" pitchFamily="34" charset="0"/>
                <a:cs typeface="Calibri" panose="020F0502020204030204" pitchFamily="34" charset="0"/>
              </a:rPr>
              <a:t>Plazo = 36 meses</a:t>
            </a:r>
          </a:p>
          <a:p>
            <a:pPr marL="128016" indent="-128016" algn="l">
              <a:lnSpc>
                <a:spcPct val="128000"/>
              </a:lnSpc>
              <a:spcAft>
                <a:spcPts val="200"/>
              </a:spcAft>
              <a:buClr>
                <a:srgbClr val="445A6E"/>
              </a:buClr>
              <a:buFont typeface="Arial"/>
              <a:buChar char="•"/>
            </a:pPr>
            <a:r>
              <a:rPr lang="es-ES_tradnl" sz="1100" b="0" i="0" noProof="0" dirty="0">
                <a:solidFill>
                  <a:srgbClr val="3E5553"/>
                </a:solidFill>
                <a:latin typeface="Calibri" panose="020F0502020204030204" pitchFamily="34" charset="0"/>
                <a:cs typeface="Calibri" panose="020F0502020204030204" pitchFamily="34" charset="0"/>
              </a:rPr>
              <a:t>Garantía = Sí</a:t>
            </a:r>
          </a:p>
          <a:p>
            <a:pPr marL="128016" indent="-128016" algn="l">
              <a:lnSpc>
                <a:spcPct val="128000"/>
              </a:lnSpc>
              <a:spcAft>
                <a:spcPts val="200"/>
              </a:spcAft>
              <a:buClr>
                <a:srgbClr val="445A6E"/>
              </a:buClr>
              <a:buFont typeface="Arial"/>
              <a:buChar char="•"/>
            </a:pPr>
            <a:r>
              <a:rPr lang="es-ES_tradnl" sz="1100" b="0" i="0" noProof="0" dirty="0">
                <a:solidFill>
                  <a:srgbClr val="3E5553"/>
                </a:solidFill>
                <a:latin typeface="Calibri" panose="020F0502020204030204" pitchFamily="34" charset="0"/>
                <a:cs typeface="Calibri" panose="020F0502020204030204" pitchFamily="34" charset="0"/>
              </a:rPr>
              <a:t>Producto = Capital de trabajo</a:t>
            </a:r>
          </a:p>
          <a:p>
            <a:pPr marL="128016" indent="-128016" algn="l">
              <a:lnSpc>
                <a:spcPct val="128000"/>
              </a:lnSpc>
              <a:spcAft>
                <a:spcPts val="200"/>
              </a:spcAft>
              <a:buClr>
                <a:srgbClr val="445A6E"/>
              </a:buClr>
              <a:buFont typeface="Arial"/>
              <a:buChar char="•"/>
            </a:pPr>
            <a:r>
              <a:rPr lang="es-ES_tradnl" sz="1100" b="0" i="0" noProof="0" dirty="0">
                <a:solidFill>
                  <a:srgbClr val="3E5553"/>
                </a:solidFill>
                <a:latin typeface="Calibri" panose="020F0502020204030204" pitchFamily="34" charset="0"/>
                <a:cs typeface="Calibri" panose="020F0502020204030204" pitchFamily="34" charset="0"/>
              </a:rPr>
              <a:t>Seguro desgravamen = Sí</a:t>
            </a:r>
          </a:p>
          <a:p>
            <a:pPr marL="128016" indent="-128016" algn="l">
              <a:lnSpc>
                <a:spcPct val="128000"/>
              </a:lnSpc>
              <a:spcAft>
                <a:spcPts val="200"/>
              </a:spcAft>
              <a:buClr>
                <a:srgbClr val="445A6E"/>
              </a:buClr>
              <a:buFont typeface="Arial"/>
              <a:buChar char="•"/>
            </a:pPr>
            <a:r>
              <a:rPr lang="es-ES_tradnl" sz="1100" b="0" i="0" noProof="0" dirty="0" err="1">
                <a:solidFill>
                  <a:srgbClr val="3E5553"/>
                </a:solidFill>
                <a:latin typeface="Calibri" panose="020F0502020204030204" pitchFamily="34" charset="0"/>
                <a:cs typeface="Calibri" panose="020F0502020204030204" pitchFamily="34" charset="0"/>
              </a:rPr>
              <a:t>Mto</a:t>
            </a:r>
            <a:r>
              <a:rPr lang="es-ES_tradnl" sz="1100" b="0" i="0" noProof="0" dirty="0">
                <a:solidFill>
                  <a:srgbClr val="3E5553"/>
                </a:solidFill>
                <a:latin typeface="Calibri" panose="020F0502020204030204" pitchFamily="34" charset="0"/>
                <a:cs typeface="Calibri" panose="020F0502020204030204" pitchFamily="34" charset="0"/>
              </a:rPr>
              <a:t>. pasivos en IBK = 2k</a:t>
            </a:r>
          </a:p>
          <a:p>
            <a:pPr marL="128016" indent="-128016" algn="l">
              <a:lnSpc>
                <a:spcPct val="128000"/>
              </a:lnSpc>
              <a:spcAft>
                <a:spcPts val="200"/>
              </a:spcAft>
              <a:buClr>
                <a:srgbClr val="445A6E"/>
              </a:buClr>
              <a:buFont typeface="Arial"/>
              <a:buChar char="•"/>
            </a:pPr>
            <a:r>
              <a:rPr lang="es-ES_tradnl" sz="1100" b="0" i="0" noProof="0" dirty="0">
                <a:solidFill>
                  <a:srgbClr val="3E5553"/>
                </a:solidFill>
                <a:latin typeface="Calibri" panose="020F0502020204030204" pitchFamily="34" charset="0"/>
                <a:cs typeface="Calibri" panose="020F0502020204030204" pitchFamily="34" charset="0"/>
              </a:rPr>
              <a:t>Etc.</a:t>
            </a:r>
          </a:p>
        </p:txBody>
      </p:sp>
      <p:cxnSp>
        <p:nvCxnSpPr>
          <p:cNvPr id="14" name="Connector 12">
            <a:extLst>
              <a:ext uri="{FF2B5EF4-FFF2-40B4-BE49-F238E27FC236}">
                <a16:creationId xmlns:a16="http://schemas.microsoft.com/office/drawing/2014/main" id="{03BB5372-5256-2A0C-408F-4D34DA3B1192}"/>
              </a:ext>
            </a:extLst>
          </p:cNvPr>
          <p:cNvCxnSpPr/>
          <p:nvPr/>
        </p:nvCxnSpPr>
        <p:spPr>
          <a:xfrm>
            <a:off x="4697521" y="3612388"/>
            <a:ext cx="402337"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25595E43-8F3F-AB77-69AC-F84FC188F0C7}"/>
              </a:ext>
            </a:extLst>
          </p:cNvPr>
          <p:cNvSpPr/>
          <p:nvPr/>
        </p:nvSpPr>
        <p:spPr>
          <a:xfrm>
            <a:off x="5227873" y="2446528"/>
            <a:ext cx="2834640" cy="23317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66788187-2A39-2261-1E9E-E8CB2D9FD698}"/>
              </a:ext>
            </a:extLst>
          </p:cNvPr>
          <p:cNvSpPr txBox="1"/>
          <p:nvPr/>
        </p:nvSpPr>
        <p:spPr>
          <a:xfrm>
            <a:off x="5227873" y="2830576"/>
            <a:ext cx="2834640" cy="246221"/>
          </a:xfrm>
          <a:prstGeom prst="rect">
            <a:avLst/>
          </a:prstGeom>
          <a:noFill/>
        </p:spPr>
        <p:txBody>
          <a:bodyPr wrap="square" lIns="0" tIns="0" rIns="0" bIns="0" anchor="t">
            <a:spAutoFit/>
          </a:bodyPr>
          <a:lstStyle/>
          <a:p>
            <a:pPr algn="ctr">
              <a:lnSpc>
                <a:spcPct val="100000"/>
              </a:lnSpc>
            </a:pPr>
            <a:r>
              <a:rPr lang="es-ES_tradnl" sz="1600" b="1" i="0" noProof="0" dirty="0">
                <a:solidFill>
                  <a:srgbClr val="FFFFFF"/>
                </a:solidFill>
                <a:latin typeface="Calibri" panose="020F0502020204030204" pitchFamily="34" charset="0"/>
                <a:cs typeface="Calibri" panose="020F0502020204030204" pitchFamily="34" charset="0"/>
              </a:rPr>
              <a:t>MODELO LGD</a:t>
            </a:r>
          </a:p>
        </p:txBody>
      </p:sp>
      <p:sp>
        <p:nvSpPr>
          <p:cNvPr id="17" name="TextBox 16">
            <a:extLst>
              <a:ext uri="{FF2B5EF4-FFF2-40B4-BE49-F238E27FC236}">
                <a16:creationId xmlns:a16="http://schemas.microsoft.com/office/drawing/2014/main" id="{E8202E74-5A73-BCF2-AC6C-320147DFB1EF}"/>
              </a:ext>
            </a:extLst>
          </p:cNvPr>
          <p:cNvSpPr txBox="1"/>
          <p:nvPr/>
        </p:nvSpPr>
        <p:spPr>
          <a:xfrm>
            <a:off x="5227873" y="3123184"/>
            <a:ext cx="2834640"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2F9E98"/>
                </a:solidFill>
                <a:latin typeface="Calibri" panose="020F0502020204030204" pitchFamily="34" charset="0"/>
                <a:cs typeface="Calibri" panose="020F0502020204030204" pitchFamily="34" charset="0"/>
              </a:rPr>
              <a:t>entrenado sobre LGD </a:t>
            </a:r>
            <a:r>
              <a:rPr lang="es-ES_tradnl" sz="1050" b="0" i="0" noProof="0" dirty="0" err="1">
                <a:solidFill>
                  <a:srgbClr val="2F9E98"/>
                </a:solidFill>
                <a:latin typeface="Calibri" panose="020F0502020204030204" pitchFamily="34" charset="0"/>
                <a:cs typeface="Calibri" panose="020F0502020204030204" pitchFamily="34" charset="0"/>
              </a:rPr>
              <a:t>Workout</a:t>
            </a:r>
            <a:endParaRPr lang="es-ES_tradnl" sz="1050" b="0" i="0" noProof="0" dirty="0">
              <a:solidFill>
                <a:srgbClr val="2F9E98"/>
              </a:solidFill>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462F15B4-B7D6-4703-B0D8-6D536EF39E86}"/>
              </a:ext>
            </a:extLst>
          </p:cNvPr>
          <p:cNvSpPr/>
          <p:nvPr/>
        </p:nvSpPr>
        <p:spPr>
          <a:xfrm>
            <a:off x="5429041" y="3452368"/>
            <a:ext cx="2432304" cy="56692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20000"/>
              </a:lnSpc>
            </a:pPr>
            <a:r>
              <a:rPr lang="es-ES_tradnl" sz="1050" b="1" i="0" noProof="0" dirty="0">
                <a:solidFill>
                  <a:srgbClr val="FFFFFF"/>
                </a:solidFill>
                <a:latin typeface="Calibri" panose="020F0502020204030204" pitchFamily="34" charset="0"/>
                <a:cs typeface="Calibri" panose="020F0502020204030204" pitchFamily="34" charset="0"/>
              </a:rPr>
              <a:t>LGD </a:t>
            </a:r>
            <a:r>
              <a:rPr lang="es-ES_tradnl" sz="1050" b="1" i="0" noProof="0" dirty="0" err="1">
                <a:solidFill>
                  <a:srgbClr val="FFFFFF"/>
                </a:solidFill>
                <a:latin typeface="Calibri" panose="020F0502020204030204" pitchFamily="34" charset="0"/>
                <a:cs typeface="Calibri" panose="020F0502020204030204" pitchFamily="34" charset="0"/>
              </a:rPr>
              <a:t>Workout</a:t>
            </a:r>
            <a:r>
              <a:rPr lang="es-ES_tradnl" sz="1050" b="1" i="0" noProof="0" dirty="0">
                <a:solidFill>
                  <a:srgbClr val="FFFFFF"/>
                </a:solidFill>
                <a:latin typeface="Calibri" panose="020F0502020204030204" pitchFamily="34" charset="0"/>
                <a:cs typeface="Calibri" panose="020F0502020204030204" pitchFamily="34" charset="0"/>
              </a:rPr>
              <a:t> =</a:t>
            </a:r>
          </a:p>
          <a:p>
            <a:pPr algn="ctr">
              <a:lnSpc>
                <a:spcPct val="120000"/>
              </a:lnSpc>
            </a:pPr>
            <a:r>
              <a:rPr lang="es-ES_tradnl" sz="1050" b="1" i="0" noProof="0" dirty="0">
                <a:solidFill>
                  <a:srgbClr val="FFFFFF"/>
                </a:solidFill>
                <a:latin typeface="Calibri" panose="020F0502020204030204" pitchFamily="34" charset="0"/>
                <a:cs typeface="Calibri" panose="020F0502020204030204" pitchFamily="34" charset="0"/>
              </a:rPr>
              <a:t>f (maduración, drivers de </a:t>
            </a:r>
            <a:r>
              <a:rPr lang="es-ES_tradnl" sz="1050" b="1" i="0" noProof="0" dirty="0" err="1">
                <a:solidFill>
                  <a:srgbClr val="FFFFFF"/>
                </a:solidFill>
                <a:latin typeface="Calibri" panose="020F0502020204030204" pitchFamily="34" charset="0"/>
                <a:cs typeface="Calibri" panose="020F0502020204030204" pitchFamily="34" charset="0"/>
              </a:rPr>
              <a:t>originación</a:t>
            </a:r>
            <a:r>
              <a:rPr lang="es-ES_tradnl" sz="1050" b="1" i="0" noProof="0" dirty="0">
                <a:solidFill>
                  <a:srgbClr val="FFFFFF"/>
                </a:solidFill>
                <a:latin typeface="Calibri" panose="020F0502020204030204" pitchFamily="34" charset="0"/>
                <a:cs typeface="Calibri" panose="020F0502020204030204" pitchFamily="34" charset="0"/>
              </a:rPr>
              <a:t>) + </a:t>
            </a:r>
            <a:r>
              <a:rPr lang="es-ES_tradnl" sz="1050" b="1" i="0" noProof="0" dirty="0" err="1">
                <a:solidFill>
                  <a:srgbClr val="FFFFFF"/>
                </a:solidFill>
                <a:latin typeface="Calibri" panose="020F0502020204030204" pitchFamily="34" charset="0"/>
                <a:cs typeface="Calibri" panose="020F0502020204030204" pitchFamily="34" charset="0"/>
              </a:rPr>
              <a:t>ε</a:t>
            </a:r>
            <a:endParaRPr lang="es-ES_tradnl" sz="1050" b="1" i="0" noProof="0" dirty="0">
              <a:solidFill>
                <a:srgbClr val="FFFFFF"/>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6735B22F-093B-5C73-75DB-505C502C70A4}"/>
              </a:ext>
            </a:extLst>
          </p:cNvPr>
          <p:cNvSpPr txBox="1"/>
          <p:nvPr/>
        </p:nvSpPr>
        <p:spPr>
          <a:xfrm>
            <a:off x="5429041" y="4147312"/>
            <a:ext cx="2432304" cy="178575"/>
          </a:xfrm>
          <a:prstGeom prst="rect">
            <a:avLst/>
          </a:prstGeom>
          <a:noFill/>
        </p:spPr>
        <p:txBody>
          <a:bodyPr wrap="square" lIns="0" tIns="0" rIns="0" bIns="0" anchor="t">
            <a:spAutoFit/>
          </a:bodyPr>
          <a:lstStyle/>
          <a:p>
            <a:pPr algn="ctr">
              <a:lnSpc>
                <a:spcPct val="118000"/>
              </a:lnSpc>
            </a:pPr>
            <a:r>
              <a:rPr lang="es-ES_tradnl" sz="1050" b="0" i="0" noProof="0" dirty="0">
                <a:solidFill>
                  <a:srgbClr val="9EC8C6"/>
                </a:solidFill>
                <a:latin typeface="Calibri" panose="020F0502020204030204" pitchFamily="34" charset="0"/>
                <a:cs typeface="Calibri" panose="020F0502020204030204" pitchFamily="34" charset="0"/>
              </a:rPr>
              <a:t>Se evalúa para k = 3, 4, 5 … 36 meses</a:t>
            </a:r>
          </a:p>
        </p:txBody>
      </p:sp>
      <p:cxnSp>
        <p:nvCxnSpPr>
          <p:cNvPr id="20" name="Connector 18">
            <a:extLst>
              <a:ext uri="{FF2B5EF4-FFF2-40B4-BE49-F238E27FC236}">
                <a16:creationId xmlns:a16="http://schemas.microsoft.com/office/drawing/2014/main" id="{B4B2C1B1-96C8-A458-AB2C-EF4346D798A6}"/>
              </a:ext>
            </a:extLst>
          </p:cNvPr>
          <p:cNvCxnSpPr/>
          <p:nvPr/>
        </p:nvCxnSpPr>
        <p:spPr>
          <a:xfrm>
            <a:off x="8190530" y="3612388"/>
            <a:ext cx="402336"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FAC9E1E8-D3E6-6184-F29C-5E6EC46B72D6}"/>
              </a:ext>
            </a:extLst>
          </p:cNvPr>
          <p:cNvSpPr/>
          <p:nvPr/>
        </p:nvSpPr>
        <p:spPr>
          <a:xfrm>
            <a:off x="8720882" y="2446528"/>
            <a:ext cx="6855988" cy="2331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BDE851C5-D30C-37DD-01E8-80B7D79EE940}"/>
              </a:ext>
            </a:extLst>
          </p:cNvPr>
          <p:cNvSpPr/>
          <p:nvPr/>
        </p:nvSpPr>
        <p:spPr>
          <a:xfrm>
            <a:off x="8720882" y="2446528"/>
            <a:ext cx="6855988"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i="0" noProof="0" dirty="0">
                <a:solidFill>
                  <a:srgbClr val="FFFFFF"/>
                </a:solidFill>
                <a:latin typeface="Calibri" panose="020F0502020204030204" pitchFamily="34" charset="0"/>
                <a:cs typeface="Calibri" panose="020F0502020204030204" pitchFamily="34" charset="0"/>
              </a:rPr>
              <a:t>OUTPUT · curva LGD </a:t>
            </a:r>
            <a:r>
              <a:rPr lang="es-ES_tradnl" sz="1100" b="1" i="0" noProof="0" dirty="0" err="1">
                <a:solidFill>
                  <a:srgbClr val="FFFFFF"/>
                </a:solidFill>
                <a:latin typeface="Calibri" panose="020F0502020204030204" pitchFamily="34" charset="0"/>
                <a:cs typeface="Calibri" panose="020F0502020204030204" pitchFamily="34" charset="0"/>
              </a:rPr>
              <a:t>lifetime</a:t>
            </a:r>
            <a:r>
              <a:rPr lang="es-ES_tradnl" sz="1100" b="1" i="0" noProof="0" dirty="0">
                <a:solidFill>
                  <a:srgbClr val="FFFFFF"/>
                </a:solidFill>
                <a:latin typeface="Calibri" panose="020F0502020204030204" pitchFamily="34" charset="0"/>
                <a:cs typeface="Calibri" panose="020F0502020204030204" pitchFamily="34" charset="0"/>
              </a:rPr>
              <a:t> (con costos)</a:t>
            </a:r>
          </a:p>
        </p:txBody>
      </p:sp>
      <p:pic>
        <p:nvPicPr>
          <p:cNvPr id="23" name="Picture 22" descr="lgd.png">
            <a:extLst>
              <a:ext uri="{FF2B5EF4-FFF2-40B4-BE49-F238E27FC236}">
                <a16:creationId xmlns:a16="http://schemas.microsoft.com/office/drawing/2014/main" id="{AE430C58-944A-7BE7-1BAA-842816573C97}"/>
              </a:ext>
            </a:extLst>
          </p:cNvPr>
          <p:cNvPicPr>
            <a:picLocks noChangeAspect="1"/>
          </p:cNvPicPr>
          <p:nvPr/>
        </p:nvPicPr>
        <p:blipFill>
          <a:blip r:embed="rId2"/>
          <a:stretch>
            <a:fillRect/>
          </a:stretch>
        </p:blipFill>
        <p:spPr>
          <a:xfrm>
            <a:off x="9832318" y="2776686"/>
            <a:ext cx="4633116" cy="1944254"/>
          </a:xfrm>
          <a:prstGeom prst="rect">
            <a:avLst/>
          </a:prstGeom>
        </p:spPr>
      </p:pic>
      <p:sp>
        <p:nvSpPr>
          <p:cNvPr id="24" name="TextBox 23">
            <a:extLst>
              <a:ext uri="{FF2B5EF4-FFF2-40B4-BE49-F238E27FC236}">
                <a16:creationId xmlns:a16="http://schemas.microsoft.com/office/drawing/2014/main" id="{16F2DD08-3906-3553-CE4B-DC27F1FD0114}"/>
              </a:ext>
            </a:extLst>
          </p:cNvPr>
          <p:cNvSpPr txBox="1"/>
          <p:nvPr/>
        </p:nvSpPr>
        <p:spPr>
          <a:xfrm>
            <a:off x="637586" y="5089144"/>
            <a:ext cx="14939284" cy="246221"/>
          </a:xfrm>
          <a:prstGeom prst="rect">
            <a:avLst/>
          </a:prstGeom>
          <a:noFill/>
        </p:spPr>
        <p:txBody>
          <a:bodyPr wrap="square" lIns="0" tIns="0" rIns="0" bIns="0" anchor="t">
            <a:spAutoFit/>
          </a:bodyPr>
          <a:lstStyle/>
          <a:p>
            <a:pPr algn="l">
              <a:lnSpc>
                <a:spcPct val="100000"/>
              </a:lnSpc>
            </a:pPr>
            <a:r>
              <a:rPr lang="es-ES_tradnl" sz="1600" b="1" i="0" noProof="0" dirty="0">
                <a:solidFill>
                  <a:srgbClr val="0B2E2C"/>
                </a:solidFill>
                <a:latin typeface="Calibri" panose="020F0502020204030204" pitchFamily="34" charset="0"/>
                <a:cs typeface="Calibri" panose="020F0502020204030204" pitchFamily="34" charset="0"/>
              </a:rPr>
              <a:t>Cómo se lee la curva</a:t>
            </a:r>
          </a:p>
        </p:txBody>
      </p:sp>
      <p:cxnSp>
        <p:nvCxnSpPr>
          <p:cNvPr id="25" name="Connector 23">
            <a:extLst>
              <a:ext uri="{FF2B5EF4-FFF2-40B4-BE49-F238E27FC236}">
                <a16:creationId xmlns:a16="http://schemas.microsoft.com/office/drawing/2014/main" id="{510792D2-C6D8-EC0D-3222-976D2F3E01DF}"/>
              </a:ext>
            </a:extLst>
          </p:cNvPr>
          <p:cNvCxnSpPr/>
          <p:nvPr/>
        </p:nvCxnSpPr>
        <p:spPr>
          <a:xfrm>
            <a:off x="637586" y="538175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CD73644D-6608-E7B8-0430-4DF47A1F2233}"/>
              </a:ext>
            </a:extLst>
          </p:cNvPr>
          <p:cNvSpPr/>
          <p:nvPr/>
        </p:nvSpPr>
        <p:spPr>
          <a:xfrm>
            <a:off x="637586" y="5491480"/>
            <a:ext cx="3597661" cy="12984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9D5CA5A7-0256-A1EE-4771-7C3FDE71813C}"/>
              </a:ext>
            </a:extLst>
          </p:cNvPr>
          <p:cNvSpPr/>
          <p:nvPr/>
        </p:nvSpPr>
        <p:spPr>
          <a:xfrm>
            <a:off x="637586" y="5491480"/>
            <a:ext cx="41148" cy="129844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0F7F2681-466A-FBD8-3FF9-0991904AD967}"/>
              </a:ext>
            </a:extLst>
          </p:cNvPr>
          <p:cNvSpPr txBox="1"/>
          <p:nvPr/>
        </p:nvSpPr>
        <p:spPr>
          <a:xfrm>
            <a:off x="838754" y="5619496"/>
            <a:ext cx="3231901" cy="179408"/>
          </a:xfrm>
          <a:prstGeom prst="rect">
            <a:avLst/>
          </a:prstGeom>
          <a:noFill/>
        </p:spPr>
        <p:txBody>
          <a:bodyPr wrap="square" lIns="0" tIns="0" rIns="0" bIns="0" anchor="t">
            <a:spAutoFit/>
          </a:bodyPr>
          <a:lstStyle/>
          <a:p>
            <a:pPr algn="l">
              <a:lnSpc>
                <a:spcPct val="112000"/>
              </a:lnSpc>
            </a:pPr>
            <a:r>
              <a:rPr lang="es-ES_tradnl" sz="1100" b="1" i="0" noProof="0" dirty="0">
                <a:solidFill>
                  <a:srgbClr val="13807B"/>
                </a:solidFill>
                <a:latin typeface="Calibri" panose="020F0502020204030204" pitchFamily="34" charset="0"/>
                <a:cs typeface="Calibri" panose="020F0502020204030204" pitchFamily="34" charset="0"/>
              </a:rPr>
              <a:t>La LGD cae con la maduración</a:t>
            </a:r>
          </a:p>
        </p:txBody>
      </p:sp>
      <p:sp>
        <p:nvSpPr>
          <p:cNvPr id="29" name="TextBox 28">
            <a:extLst>
              <a:ext uri="{FF2B5EF4-FFF2-40B4-BE49-F238E27FC236}">
                <a16:creationId xmlns:a16="http://schemas.microsoft.com/office/drawing/2014/main" id="{C6F8A963-B777-E43E-1332-E1020C556CE2}"/>
              </a:ext>
            </a:extLst>
          </p:cNvPr>
          <p:cNvSpPr txBox="1"/>
          <p:nvPr/>
        </p:nvSpPr>
        <p:spPr>
          <a:xfrm>
            <a:off x="838754" y="6058408"/>
            <a:ext cx="3231901" cy="568745"/>
          </a:xfrm>
          <a:prstGeom prst="rect">
            <a:avLst/>
          </a:prstGeom>
          <a:noFill/>
        </p:spPr>
        <p:txBody>
          <a:bodyPr wrap="square" lIns="0" tIns="0" rIns="0" bIns="0" anchor="t">
            <a:spAutoFit/>
          </a:bodyPr>
          <a:lstStyle/>
          <a:p>
            <a:pPr algn="l">
              <a:lnSpc>
                <a:spcPct val="120000"/>
              </a:lnSpc>
            </a:pPr>
            <a:r>
              <a:rPr lang="es-ES_tradnl" sz="1050" b="0" i="0" noProof="0" dirty="0">
                <a:solidFill>
                  <a:srgbClr val="6E7E7D"/>
                </a:solidFill>
                <a:latin typeface="Calibri" panose="020F0502020204030204" pitchFamily="34" charset="0"/>
                <a:cs typeface="Calibri" panose="020F0502020204030204" pitchFamily="34" charset="0"/>
              </a:rPr>
              <a:t>A mayor tiempo de vida, mayor amortización acumulada y mayor cobertura relativa de la garantía: la severidad esperada baja.</a:t>
            </a:r>
          </a:p>
        </p:txBody>
      </p:sp>
      <p:sp>
        <p:nvSpPr>
          <p:cNvPr id="30" name="Rectangle 29">
            <a:extLst>
              <a:ext uri="{FF2B5EF4-FFF2-40B4-BE49-F238E27FC236}">
                <a16:creationId xmlns:a16="http://schemas.microsoft.com/office/drawing/2014/main" id="{EBC3D698-9BC5-ABF1-86DD-87DC2786B000}"/>
              </a:ext>
            </a:extLst>
          </p:cNvPr>
          <p:cNvSpPr/>
          <p:nvPr/>
        </p:nvSpPr>
        <p:spPr>
          <a:xfrm>
            <a:off x="4418127" y="5491480"/>
            <a:ext cx="3597661" cy="12984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7726007B-4A67-9B85-E7F0-FD4C02D16312}"/>
              </a:ext>
            </a:extLst>
          </p:cNvPr>
          <p:cNvSpPr/>
          <p:nvPr/>
        </p:nvSpPr>
        <p:spPr>
          <a:xfrm>
            <a:off x="4418127" y="5491480"/>
            <a:ext cx="41148" cy="1298448"/>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4E11860-568D-1671-6336-DB0DC4049E3B}"/>
              </a:ext>
            </a:extLst>
          </p:cNvPr>
          <p:cNvSpPr txBox="1"/>
          <p:nvPr/>
        </p:nvSpPr>
        <p:spPr>
          <a:xfrm>
            <a:off x="4619295" y="5619496"/>
            <a:ext cx="3231901" cy="179408"/>
          </a:xfrm>
          <a:prstGeom prst="rect">
            <a:avLst/>
          </a:prstGeom>
          <a:noFill/>
        </p:spPr>
        <p:txBody>
          <a:bodyPr wrap="square" lIns="0" tIns="0" rIns="0" bIns="0" anchor="t">
            <a:spAutoFit/>
          </a:bodyPr>
          <a:lstStyle/>
          <a:p>
            <a:pPr algn="l">
              <a:lnSpc>
                <a:spcPct val="112000"/>
              </a:lnSpc>
            </a:pPr>
            <a:r>
              <a:rPr lang="es-ES_tradnl" sz="1100" b="1" i="0" noProof="0" dirty="0">
                <a:solidFill>
                  <a:srgbClr val="C87A0B"/>
                </a:solidFill>
                <a:latin typeface="Calibri" panose="020F0502020204030204" pitchFamily="34" charset="0"/>
                <a:cs typeface="Calibri" panose="020F0502020204030204" pitchFamily="34" charset="0"/>
              </a:rPr>
              <a:t>Es LGD condicional, no probabilidad</a:t>
            </a:r>
          </a:p>
        </p:txBody>
      </p:sp>
      <p:sp>
        <p:nvSpPr>
          <p:cNvPr id="33" name="TextBox 32">
            <a:extLst>
              <a:ext uri="{FF2B5EF4-FFF2-40B4-BE49-F238E27FC236}">
                <a16:creationId xmlns:a16="http://schemas.microsoft.com/office/drawing/2014/main" id="{58678821-8A52-6985-189A-890718626FBC}"/>
              </a:ext>
            </a:extLst>
          </p:cNvPr>
          <p:cNvSpPr txBox="1"/>
          <p:nvPr/>
        </p:nvSpPr>
        <p:spPr>
          <a:xfrm>
            <a:off x="4619295" y="6058408"/>
            <a:ext cx="3231901" cy="374846"/>
          </a:xfrm>
          <a:prstGeom prst="rect">
            <a:avLst/>
          </a:prstGeom>
          <a:noFill/>
        </p:spPr>
        <p:txBody>
          <a:bodyPr wrap="square" lIns="0" tIns="0" rIns="0" bIns="0" anchor="t">
            <a:spAutoFit/>
          </a:bodyPr>
          <a:lstStyle/>
          <a:p>
            <a:pPr algn="l">
              <a:lnSpc>
                <a:spcPct val="120000"/>
              </a:lnSpc>
            </a:pPr>
            <a:r>
              <a:rPr lang="es-ES_tradnl" sz="1050" b="0" i="0" noProof="0" dirty="0">
                <a:solidFill>
                  <a:srgbClr val="6E7E7D"/>
                </a:solidFill>
                <a:latin typeface="Calibri" panose="020F0502020204030204" pitchFamily="34" charset="0"/>
                <a:cs typeface="Calibri" panose="020F0502020204030204" pitchFamily="34" charset="0"/>
              </a:rPr>
              <a:t>No dice cuándo caerá el cliente en default; dice cuánto se pierde si cae en ese mes.</a:t>
            </a:r>
          </a:p>
        </p:txBody>
      </p:sp>
      <p:sp>
        <p:nvSpPr>
          <p:cNvPr id="34" name="Rectangle 33">
            <a:extLst>
              <a:ext uri="{FF2B5EF4-FFF2-40B4-BE49-F238E27FC236}">
                <a16:creationId xmlns:a16="http://schemas.microsoft.com/office/drawing/2014/main" id="{DDD4E71A-2FB5-06AE-4B91-1EF4A0A9DBE6}"/>
              </a:ext>
            </a:extLst>
          </p:cNvPr>
          <p:cNvSpPr/>
          <p:nvPr/>
        </p:nvSpPr>
        <p:spPr>
          <a:xfrm>
            <a:off x="8198668" y="5491480"/>
            <a:ext cx="3597661" cy="12984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35" name="Rectangle 34">
            <a:extLst>
              <a:ext uri="{FF2B5EF4-FFF2-40B4-BE49-F238E27FC236}">
                <a16:creationId xmlns:a16="http://schemas.microsoft.com/office/drawing/2014/main" id="{2C6F5C10-3820-54F7-76DC-7565003BC30F}"/>
              </a:ext>
            </a:extLst>
          </p:cNvPr>
          <p:cNvSpPr/>
          <p:nvPr/>
        </p:nvSpPr>
        <p:spPr>
          <a:xfrm>
            <a:off x="8198668" y="5491480"/>
            <a:ext cx="41148" cy="129844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F3E85803-74B1-D383-E2BE-FC33B5609789}"/>
              </a:ext>
            </a:extLst>
          </p:cNvPr>
          <p:cNvSpPr txBox="1"/>
          <p:nvPr/>
        </p:nvSpPr>
        <p:spPr>
          <a:xfrm>
            <a:off x="8399836" y="5619496"/>
            <a:ext cx="3231901" cy="179408"/>
          </a:xfrm>
          <a:prstGeom prst="rect">
            <a:avLst/>
          </a:prstGeom>
          <a:noFill/>
        </p:spPr>
        <p:txBody>
          <a:bodyPr wrap="square" lIns="0" tIns="0" rIns="0" bIns="0" anchor="t">
            <a:spAutoFit/>
          </a:bodyPr>
          <a:lstStyle/>
          <a:p>
            <a:pPr algn="l">
              <a:lnSpc>
                <a:spcPct val="112000"/>
              </a:lnSpc>
            </a:pPr>
            <a:r>
              <a:rPr lang="es-ES_tradnl" sz="1100" b="1" i="0" noProof="0" dirty="0">
                <a:solidFill>
                  <a:srgbClr val="445A6E"/>
                </a:solidFill>
                <a:latin typeface="Calibri" panose="020F0502020204030204" pitchFamily="34" charset="0"/>
                <a:cs typeface="Calibri" panose="020F0502020204030204" pitchFamily="34" charset="0"/>
              </a:rPr>
              <a:t>Incluye costos de recuperación</a:t>
            </a:r>
          </a:p>
        </p:txBody>
      </p:sp>
      <p:sp>
        <p:nvSpPr>
          <p:cNvPr id="37" name="TextBox 36">
            <a:extLst>
              <a:ext uri="{FF2B5EF4-FFF2-40B4-BE49-F238E27FC236}">
                <a16:creationId xmlns:a16="http://schemas.microsoft.com/office/drawing/2014/main" id="{EAB50907-B334-A3E7-35A7-7AE6EE90ED55}"/>
              </a:ext>
            </a:extLst>
          </p:cNvPr>
          <p:cNvSpPr txBox="1"/>
          <p:nvPr/>
        </p:nvSpPr>
        <p:spPr>
          <a:xfrm>
            <a:off x="8399836" y="6058408"/>
            <a:ext cx="3231901" cy="374846"/>
          </a:xfrm>
          <a:prstGeom prst="rect">
            <a:avLst/>
          </a:prstGeom>
          <a:noFill/>
        </p:spPr>
        <p:txBody>
          <a:bodyPr wrap="square" lIns="0" tIns="0" rIns="0" bIns="0" anchor="t">
            <a:spAutoFit/>
          </a:bodyPr>
          <a:lstStyle/>
          <a:p>
            <a:pPr algn="l">
              <a:lnSpc>
                <a:spcPct val="120000"/>
              </a:lnSpc>
            </a:pPr>
            <a:r>
              <a:rPr lang="es-ES_tradnl" sz="1050" b="0" i="0" noProof="0" dirty="0">
                <a:solidFill>
                  <a:srgbClr val="6E7E7D"/>
                </a:solidFill>
                <a:latin typeface="Calibri" panose="020F0502020204030204" pitchFamily="34" charset="0"/>
                <a:cs typeface="Calibri" panose="020F0502020204030204" pitchFamily="34" charset="0"/>
              </a:rPr>
              <a:t>La curva es LGD con costos, es decir la severidad económica y no sólo la contable.</a:t>
            </a:r>
          </a:p>
        </p:txBody>
      </p:sp>
      <p:sp>
        <p:nvSpPr>
          <p:cNvPr id="38" name="Rectangle 37">
            <a:extLst>
              <a:ext uri="{FF2B5EF4-FFF2-40B4-BE49-F238E27FC236}">
                <a16:creationId xmlns:a16="http://schemas.microsoft.com/office/drawing/2014/main" id="{47FF6CF8-B95A-C00B-57C9-32C843546D56}"/>
              </a:ext>
            </a:extLst>
          </p:cNvPr>
          <p:cNvSpPr/>
          <p:nvPr/>
        </p:nvSpPr>
        <p:spPr>
          <a:xfrm>
            <a:off x="11979209" y="5491480"/>
            <a:ext cx="3597661" cy="12984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27B0BF20-F527-5873-C711-C8592D7A91FE}"/>
              </a:ext>
            </a:extLst>
          </p:cNvPr>
          <p:cNvSpPr/>
          <p:nvPr/>
        </p:nvSpPr>
        <p:spPr>
          <a:xfrm>
            <a:off x="11979209" y="5491480"/>
            <a:ext cx="41148" cy="1298448"/>
          </a:xfrm>
          <a:prstGeom prst="rect">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F7E3590C-F15F-2487-2A68-482223D26631}"/>
              </a:ext>
            </a:extLst>
          </p:cNvPr>
          <p:cNvSpPr txBox="1"/>
          <p:nvPr/>
        </p:nvSpPr>
        <p:spPr>
          <a:xfrm>
            <a:off x="12180377" y="5619496"/>
            <a:ext cx="3231901" cy="179408"/>
          </a:xfrm>
          <a:prstGeom prst="rect">
            <a:avLst/>
          </a:prstGeom>
          <a:noFill/>
        </p:spPr>
        <p:txBody>
          <a:bodyPr wrap="square" lIns="0" tIns="0" rIns="0" bIns="0" anchor="t">
            <a:spAutoFit/>
          </a:bodyPr>
          <a:lstStyle/>
          <a:p>
            <a:pPr algn="l">
              <a:lnSpc>
                <a:spcPct val="112000"/>
              </a:lnSpc>
            </a:pPr>
            <a:r>
              <a:rPr lang="es-ES_tradnl" sz="1100" b="1" i="0" noProof="0" dirty="0">
                <a:solidFill>
                  <a:srgbClr val="C04B4B"/>
                </a:solidFill>
                <a:latin typeface="Calibri" panose="020F0502020204030204" pitchFamily="34" charset="0"/>
                <a:cs typeface="Calibri" panose="020F0502020204030204" pitchFamily="34" charset="0"/>
              </a:rPr>
              <a:t>Alimenta la pérdida esperada</a:t>
            </a:r>
          </a:p>
        </p:txBody>
      </p:sp>
      <p:sp>
        <p:nvSpPr>
          <p:cNvPr id="41" name="TextBox 40">
            <a:extLst>
              <a:ext uri="{FF2B5EF4-FFF2-40B4-BE49-F238E27FC236}">
                <a16:creationId xmlns:a16="http://schemas.microsoft.com/office/drawing/2014/main" id="{6FCA8D1D-F518-4D31-2707-E20614A54BE0}"/>
              </a:ext>
            </a:extLst>
          </p:cNvPr>
          <p:cNvSpPr txBox="1"/>
          <p:nvPr/>
        </p:nvSpPr>
        <p:spPr>
          <a:xfrm>
            <a:off x="12180377" y="6058408"/>
            <a:ext cx="3231901" cy="180947"/>
          </a:xfrm>
          <a:prstGeom prst="rect">
            <a:avLst/>
          </a:prstGeom>
          <a:noFill/>
        </p:spPr>
        <p:txBody>
          <a:bodyPr wrap="square" lIns="0" tIns="0" rIns="0" bIns="0" anchor="t">
            <a:spAutoFit/>
          </a:bodyPr>
          <a:lstStyle/>
          <a:p>
            <a:pPr algn="l">
              <a:lnSpc>
                <a:spcPct val="120000"/>
              </a:lnSpc>
            </a:pPr>
            <a:r>
              <a:rPr lang="es-ES_tradnl" sz="1050" b="0" i="0" noProof="0" dirty="0">
                <a:solidFill>
                  <a:srgbClr val="6E7E7D"/>
                </a:solidFill>
                <a:latin typeface="Calibri" panose="020F0502020204030204" pitchFamily="34" charset="0"/>
                <a:cs typeface="Calibri" panose="020F0502020204030204" pitchFamily="34" charset="0"/>
              </a:rPr>
              <a:t>Se integra con PD y EAD mes a mes dentro del motor PLV.</a:t>
            </a:r>
          </a:p>
        </p:txBody>
      </p:sp>
      <p:sp>
        <p:nvSpPr>
          <p:cNvPr id="42" name="Rectangle 41">
            <a:extLst>
              <a:ext uri="{FF2B5EF4-FFF2-40B4-BE49-F238E27FC236}">
                <a16:creationId xmlns:a16="http://schemas.microsoft.com/office/drawing/2014/main" id="{C92E2E7A-E796-8F8F-04D0-1DBA61A7EBB4}"/>
              </a:ext>
            </a:extLst>
          </p:cNvPr>
          <p:cNvSpPr/>
          <p:nvPr/>
        </p:nvSpPr>
        <p:spPr>
          <a:xfrm>
            <a:off x="637586" y="6936232"/>
            <a:ext cx="14939284" cy="566928"/>
          </a:xfrm>
          <a:prstGeom prst="rect">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43" name="Connector 41">
            <a:extLst>
              <a:ext uri="{FF2B5EF4-FFF2-40B4-BE49-F238E27FC236}">
                <a16:creationId xmlns:a16="http://schemas.microsoft.com/office/drawing/2014/main" id="{F5F93098-9D9B-B426-DA66-B0B2DBEF1F99}"/>
              </a:ext>
            </a:extLst>
          </p:cNvPr>
          <p:cNvCxnSpPr/>
          <p:nvPr/>
        </p:nvCxnSpPr>
        <p:spPr>
          <a:xfrm>
            <a:off x="637586" y="6936232"/>
            <a:ext cx="0" cy="566927"/>
          </a:xfrm>
          <a:prstGeom prst="line">
            <a:avLst/>
          </a:prstGeom>
          <a:ln w="31750">
            <a:solidFill>
              <a:srgbClr val="C04B4B"/>
            </a:solidFill>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54F4BF55-F74E-CAEA-E419-9AD14ED9DD76}"/>
              </a:ext>
            </a:extLst>
          </p:cNvPr>
          <p:cNvSpPr txBox="1"/>
          <p:nvPr/>
        </p:nvSpPr>
        <p:spPr>
          <a:xfrm>
            <a:off x="802177" y="6988352"/>
            <a:ext cx="14610100" cy="462691"/>
          </a:xfrm>
          <a:prstGeom prst="rect">
            <a:avLst/>
          </a:prstGeom>
          <a:noFill/>
        </p:spPr>
        <p:txBody>
          <a:bodyPr wrap="square" lIns="0" tIns="0" rIns="0" bIns="0" anchor="ctr">
            <a:spAutoFit/>
          </a:bodyPr>
          <a:lstStyle/>
          <a:p>
            <a:pPr algn="l">
              <a:lnSpc>
                <a:spcPct val="112000"/>
              </a:lnSpc>
              <a:spcAft>
                <a:spcPts val="200"/>
              </a:spcAft>
            </a:pPr>
            <a:r>
              <a:rPr lang="es-ES_tradnl" b="1" i="0" noProof="0" dirty="0">
                <a:solidFill>
                  <a:srgbClr val="C04B4B"/>
                </a:solidFill>
                <a:latin typeface="Calibri" panose="020F0502020204030204" pitchFamily="34" charset="0"/>
                <a:cs typeface="Calibri" panose="020F0502020204030204" pitchFamily="34" charset="0"/>
              </a:rPr>
              <a:t>Nota clave</a:t>
            </a:r>
          </a:p>
          <a:p>
            <a:pPr algn="l">
              <a:lnSpc>
                <a:spcPct val="112000"/>
              </a:lnSpc>
              <a:spcAft>
                <a:spcPts val="200"/>
              </a:spcAft>
            </a:pPr>
            <a:r>
              <a:rPr lang="es-ES_tradnl" sz="1200" b="0" i="0" noProof="0" dirty="0">
                <a:solidFill>
                  <a:srgbClr val="3E5553"/>
                </a:solidFill>
                <a:latin typeface="Calibri" panose="020F0502020204030204" pitchFamily="34" charset="0"/>
                <a:cs typeface="Calibri" panose="020F0502020204030204" pitchFamily="34" charset="0"/>
              </a:rPr>
              <a:t>La LGD </a:t>
            </a:r>
            <a:r>
              <a:rPr lang="es-ES_tradnl" sz="1200" b="0" i="0" noProof="0" dirty="0" err="1">
                <a:solidFill>
                  <a:srgbClr val="3E5553"/>
                </a:solidFill>
                <a:latin typeface="Calibri" panose="020F0502020204030204" pitchFamily="34" charset="0"/>
                <a:cs typeface="Calibri" panose="020F0502020204030204" pitchFamily="34" charset="0"/>
              </a:rPr>
              <a:t>lifetime</a:t>
            </a:r>
            <a:r>
              <a:rPr lang="es-ES_tradnl" sz="1200" b="0" i="0" noProof="0" dirty="0">
                <a:solidFill>
                  <a:srgbClr val="3E5553"/>
                </a:solidFill>
                <a:latin typeface="Calibri" panose="020F0502020204030204" pitchFamily="34" charset="0"/>
                <a:cs typeface="Calibri" panose="020F0502020204030204" pitchFamily="34" charset="0"/>
              </a:rPr>
              <a:t> no predice qué mes entrará el cliente en default, sino cuál sería la severidad esperada de la pérdida si el default ocurre en cada mes de vida del crédito.</a:t>
            </a:r>
          </a:p>
        </p:txBody>
      </p:sp>
      <p:sp>
        <p:nvSpPr>
          <p:cNvPr id="45" name="Rectangle 44">
            <a:extLst>
              <a:ext uri="{FF2B5EF4-FFF2-40B4-BE49-F238E27FC236}">
                <a16:creationId xmlns:a16="http://schemas.microsoft.com/office/drawing/2014/main" id="{07702D06-DFDC-8866-94D2-53AA23C65433}"/>
              </a:ext>
            </a:extLst>
          </p:cNvPr>
          <p:cNvSpPr/>
          <p:nvPr/>
        </p:nvSpPr>
        <p:spPr>
          <a:xfrm>
            <a:off x="637586" y="761390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46" name="Connector 44">
            <a:extLst>
              <a:ext uri="{FF2B5EF4-FFF2-40B4-BE49-F238E27FC236}">
                <a16:creationId xmlns:a16="http://schemas.microsoft.com/office/drawing/2014/main" id="{B737ED66-8C2D-1638-94E9-BBCE7AAB1598}"/>
              </a:ext>
            </a:extLst>
          </p:cNvPr>
          <p:cNvCxnSpPr/>
          <p:nvPr/>
        </p:nvCxnSpPr>
        <p:spPr>
          <a:xfrm>
            <a:off x="637586" y="761390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3C61ADA-8D66-F2E1-C4F1-73A653623B3E}"/>
              </a:ext>
            </a:extLst>
          </p:cNvPr>
          <p:cNvSpPr txBox="1"/>
          <p:nvPr/>
        </p:nvSpPr>
        <p:spPr>
          <a:xfrm>
            <a:off x="875330" y="7780797"/>
            <a:ext cx="14482084" cy="233141"/>
          </a:xfrm>
          <a:prstGeom prst="rect">
            <a:avLst/>
          </a:prstGeom>
          <a:noFill/>
        </p:spPr>
        <p:txBody>
          <a:bodyPr wrap="square" lIns="0" tIns="0" rIns="0" bIns="0" anchor="ctr">
            <a:spAutoFit/>
          </a:bodyPr>
          <a:lstStyle/>
          <a:p>
            <a:pPr algn="l">
              <a:lnSpc>
                <a:spcPct val="115000"/>
              </a:lnSpc>
              <a:spcAft>
                <a:spcPts val="400"/>
              </a:spcAft>
            </a:pPr>
            <a:r>
              <a:rPr lang="es-ES_tradnl" b="1" i="0" noProof="0" dirty="0">
                <a:solidFill>
                  <a:srgbClr val="0C514E"/>
                </a:solidFill>
                <a:latin typeface="Calibri" panose="020F0502020204030204" pitchFamily="34" charset="0"/>
                <a:cs typeface="Calibri" panose="020F0502020204030204" pitchFamily="34" charset="0"/>
              </a:rPr>
              <a:t>Una LGD única de </a:t>
            </a:r>
            <a:r>
              <a:rPr lang="es-ES_tradnl" b="1" i="0" noProof="0" dirty="0" err="1">
                <a:solidFill>
                  <a:srgbClr val="0C514E"/>
                </a:solidFill>
                <a:latin typeface="Calibri" panose="020F0502020204030204" pitchFamily="34" charset="0"/>
                <a:cs typeface="Calibri" panose="020F0502020204030204" pitchFamily="34" charset="0"/>
              </a:rPr>
              <a:t>originación</a:t>
            </a:r>
            <a:r>
              <a:rPr lang="es-ES_tradnl" b="1" i="0" noProof="0" dirty="0">
                <a:solidFill>
                  <a:srgbClr val="0C514E"/>
                </a:solidFill>
                <a:latin typeface="Calibri" panose="020F0502020204030204" pitchFamily="34" charset="0"/>
                <a:cs typeface="Calibri" panose="020F0502020204030204" pitchFamily="34" charset="0"/>
              </a:rPr>
              <a:t> sobreestima la pérdida en la segunda mitad del crédito; la curva libera margen justamente ahí.</a:t>
            </a:r>
          </a:p>
        </p:txBody>
      </p:sp>
    </p:spTree>
    <p:extLst>
      <p:ext uri="{BB962C8B-B14F-4D97-AF65-F5344CB8AC3E}">
        <p14:creationId xmlns:p14="http://schemas.microsoft.com/office/powerpoint/2010/main" val="2136879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5A7E3E00-61BB-C540-A97F-12ECF0FBA432}"/>
            </a:ext>
          </a:extLst>
        </p:cNvPr>
        <p:cNvGrpSpPr/>
        <p:nvPr/>
      </p:nvGrpSpPr>
      <p:grpSpPr>
        <a:xfrm>
          <a:off x="0" y="0"/>
          <a:ext cx="0" cy="0"/>
          <a:chOff x="0" y="0"/>
          <a:chExt cx="0" cy="0"/>
        </a:xfrm>
      </p:grpSpPr>
      <p:sp>
        <p:nvSpPr>
          <p:cNvPr id="53" name="Google Shape;53;g3d1edd8623c_1_0">
            <a:extLst>
              <a:ext uri="{FF2B5EF4-FFF2-40B4-BE49-F238E27FC236}">
                <a16:creationId xmlns:a16="http://schemas.microsoft.com/office/drawing/2014/main" id="{F30B5606-BD40-56B5-C905-763D938C72C0}"/>
              </a:ext>
            </a:extLst>
          </p:cNvPr>
          <p:cNvSpPr txBox="1">
            <a:spLocks noGrp="1"/>
          </p:cNvSpPr>
          <p:nvPr>
            <p:ph type="title"/>
          </p:nvPr>
        </p:nvSpPr>
        <p:spPr>
          <a:xfrm>
            <a:off x="431800" y="2614300"/>
            <a:ext cx="8737500" cy="4073400"/>
          </a:xfrm>
          <a:prstGeom prst="rect">
            <a:avLst/>
          </a:prstGeom>
          <a:noFill/>
          <a:ln>
            <a:noFill/>
          </a:ln>
        </p:spPr>
        <p:txBody>
          <a:bodyPr spcFirstLastPara="1" wrap="square" lIns="91425" tIns="45700" rIns="91425" bIns="45700" anchor="ctr" anchorCtr="0">
            <a:normAutofit/>
          </a:bodyPr>
          <a:lstStyle/>
          <a:p>
            <a:pPr lvl="0"/>
            <a:r>
              <a:rPr lang="es-ES_tradnl" sz="4700" noProof="0" dirty="0"/>
              <a:t>Pricing 360°: </a:t>
            </a:r>
            <a:r>
              <a:rPr lang="es-ES_tradnl" sz="4700" noProof="0" dirty="0" err="1"/>
              <a:t>Checkpoint</a:t>
            </a:r>
            <a:r>
              <a:rPr lang="es-ES_tradnl" sz="4700" noProof="0" dirty="0"/>
              <a:t> Modelos  </a:t>
            </a:r>
          </a:p>
          <a:p>
            <a:pPr marL="0" lvl="0" indent="0" algn="l" rtl="0">
              <a:lnSpc>
                <a:spcPct val="100000"/>
              </a:lnSpc>
              <a:spcBef>
                <a:spcPts val="0"/>
              </a:spcBef>
              <a:spcAft>
                <a:spcPts val="0"/>
              </a:spcAft>
              <a:buSzPts val="4400"/>
              <a:buNone/>
            </a:pPr>
            <a:r>
              <a:rPr lang="es-ES_tradnl" b="0" noProof="0" dirty="0"/>
              <a:t>Prepagos </a:t>
            </a:r>
            <a:r>
              <a:rPr lang="es-ES_tradnl" b="0" noProof="0" dirty="0" err="1"/>
              <a:t>Lifetime</a:t>
            </a:r>
            <a:endParaRPr lang="es-ES_tradnl" b="0" noProof="0" dirty="0">
              <a:highlight>
                <a:srgbClr val="FFFF00"/>
              </a:highlight>
            </a:endParaRPr>
          </a:p>
        </p:txBody>
      </p:sp>
      <p:sp>
        <p:nvSpPr>
          <p:cNvPr id="54" name="Google Shape;54;g3d1edd8623c_1_0">
            <a:extLst>
              <a:ext uri="{FF2B5EF4-FFF2-40B4-BE49-F238E27FC236}">
                <a16:creationId xmlns:a16="http://schemas.microsoft.com/office/drawing/2014/main" id="{A0EB0BEB-A072-3E52-5824-536E67534734}"/>
              </a:ext>
            </a:extLst>
          </p:cNvPr>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cxnSp>
        <p:nvCxnSpPr>
          <p:cNvPr id="55" name="Google Shape;55;g3d1edd8623c_1_0">
            <a:extLst>
              <a:ext uri="{FF2B5EF4-FFF2-40B4-BE49-F238E27FC236}">
                <a16:creationId xmlns:a16="http://schemas.microsoft.com/office/drawing/2014/main" id="{295239F0-84FA-7CF9-2969-3389BFCBFDA2}"/>
              </a:ext>
            </a:extLst>
          </p:cNvPr>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56" name="Google Shape;56;g3d1edd8623c_1_0">
            <a:extLst>
              <a:ext uri="{FF2B5EF4-FFF2-40B4-BE49-F238E27FC236}">
                <a16:creationId xmlns:a16="http://schemas.microsoft.com/office/drawing/2014/main" id="{6A4AF408-7D65-A0A7-47CD-E96B18644FDA}"/>
              </a:ext>
            </a:extLst>
          </p:cNvPr>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pic>
        <p:nvPicPr>
          <p:cNvPr id="57" name="Google Shape;57;g3d1edd8623c_1_0">
            <a:extLst>
              <a:ext uri="{FF2B5EF4-FFF2-40B4-BE49-F238E27FC236}">
                <a16:creationId xmlns:a16="http://schemas.microsoft.com/office/drawing/2014/main" id="{4C0BCD33-A323-1C1A-FE3B-91E0679A5142}"/>
              </a:ext>
            </a:extLst>
          </p:cNvPr>
          <p:cNvPicPr preferRelativeResize="0"/>
          <p:nvPr/>
        </p:nvPicPr>
        <p:blipFill rotWithShape="1">
          <a:blip r:embed="rId3">
            <a:alphaModFix/>
          </a:blip>
          <a:srcRect/>
          <a:stretch/>
        </p:blipFill>
        <p:spPr>
          <a:xfrm>
            <a:off x="15168189" y="223789"/>
            <a:ext cx="792749" cy="375950"/>
          </a:xfrm>
          <a:prstGeom prst="rect">
            <a:avLst/>
          </a:prstGeom>
          <a:noFill/>
          <a:ln>
            <a:noFill/>
          </a:ln>
        </p:spPr>
      </p:pic>
    </p:spTree>
    <p:extLst>
      <p:ext uri="{BB962C8B-B14F-4D97-AF65-F5344CB8AC3E}">
        <p14:creationId xmlns:p14="http://schemas.microsoft.com/office/powerpoint/2010/main" val="3950544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782DA-6CE9-2D12-DF81-272CA148864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B0BE454-0BD8-94EA-63DC-58C51A8FE847}"/>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36615D1C-DF9E-49F6-5CAF-5F5D512FF0DA}"/>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Prepagos </a:t>
            </a:r>
            <a:r>
              <a:rPr lang="es-ES_tradnl" sz="3200" b="1" kern="1200" noProof="0" dirty="0" err="1">
                <a:solidFill>
                  <a:srgbClr val="13807B"/>
                </a:solidFill>
                <a:latin typeface="Poppins"/>
                <a:ea typeface="Poppins"/>
                <a:cs typeface="Poppins"/>
                <a:sym typeface="Poppins"/>
              </a:rPr>
              <a:t>Lifetime</a:t>
            </a:r>
            <a:endParaRPr lang="es-ES_tradnl" sz="3200" b="1" kern="1200" noProof="0" dirty="0">
              <a:solidFill>
                <a:srgbClr val="13807B"/>
              </a:solidFill>
              <a:latin typeface="Poppins"/>
              <a:ea typeface="Poppins"/>
              <a:cs typeface="Poppins"/>
              <a:sym typeface="Poppins"/>
            </a:endParaRPr>
          </a:p>
        </p:txBody>
      </p:sp>
      <p:cxnSp>
        <p:nvCxnSpPr>
          <p:cNvPr id="2" name="Connector 3">
            <a:extLst>
              <a:ext uri="{FF2B5EF4-FFF2-40B4-BE49-F238E27FC236}">
                <a16:creationId xmlns:a16="http://schemas.microsoft.com/office/drawing/2014/main" id="{3E130CA2-4225-1CA9-6505-EA958D51E488}"/>
              </a:ext>
            </a:extLst>
          </p:cNvPr>
          <p:cNvCxnSpPr/>
          <p:nvPr/>
        </p:nvCxnSpPr>
        <p:spPr>
          <a:xfrm>
            <a:off x="637586" y="123277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EC3E828F-38DC-CC6F-F20D-BFEB7BD75882}"/>
              </a:ext>
            </a:extLst>
          </p:cNvPr>
          <p:cNvSpPr/>
          <p:nvPr/>
        </p:nvSpPr>
        <p:spPr>
          <a:xfrm>
            <a:off x="658368" y="1627632"/>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cxnSp>
        <p:nvCxnSpPr>
          <p:cNvPr id="6" name="Connector 8">
            <a:extLst>
              <a:ext uri="{FF2B5EF4-FFF2-40B4-BE49-F238E27FC236}">
                <a16:creationId xmlns:a16="http://schemas.microsoft.com/office/drawing/2014/main" id="{70F2788C-3539-5D7B-1E3C-3134E23E862D}"/>
              </a:ext>
            </a:extLst>
          </p:cNvPr>
          <p:cNvCxnSpPr/>
          <p:nvPr/>
        </p:nvCxnSpPr>
        <p:spPr>
          <a:xfrm>
            <a:off x="658368" y="1627632"/>
            <a:ext cx="0" cy="475488"/>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10712166-56DE-1F64-5BD0-7C0E17A7BE6B}"/>
              </a:ext>
            </a:extLst>
          </p:cNvPr>
          <p:cNvSpPr txBox="1"/>
          <p:nvPr/>
        </p:nvSpPr>
        <p:spPr>
          <a:xfrm>
            <a:off x="822959" y="1661957"/>
            <a:ext cx="14610100" cy="406843"/>
          </a:xfrm>
          <a:prstGeom prst="rect">
            <a:avLst/>
          </a:prstGeom>
          <a:noFill/>
        </p:spPr>
        <p:txBody>
          <a:bodyPr wrap="square" lIns="0" tIns="0" rIns="0" bIns="0" anchor="ctr">
            <a:spAutoFit/>
          </a:bodyPr>
          <a:lstStyle/>
          <a:p>
            <a:pPr algn="l">
              <a:lnSpc>
                <a:spcPct val="112000"/>
              </a:lnSpc>
              <a:spcAft>
                <a:spcPts val="200"/>
              </a:spcAft>
            </a:pPr>
            <a:r>
              <a:rPr lang="es-ES_tradnl" sz="1200" b="1" i="0" noProof="0" dirty="0">
                <a:solidFill>
                  <a:srgbClr val="13807B"/>
                </a:solidFill>
                <a:latin typeface="Arial"/>
              </a:rPr>
              <a:t>Nuestro objetivo</a:t>
            </a:r>
          </a:p>
          <a:p>
            <a:pPr algn="l">
              <a:lnSpc>
                <a:spcPct val="112000"/>
              </a:lnSpc>
              <a:spcAft>
                <a:spcPts val="200"/>
              </a:spcAft>
            </a:pPr>
            <a:r>
              <a:rPr lang="es-ES_tradnl" sz="1100" b="0" i="0" noProof="0" dirty="0">
                <a:solidFill>
                  <a:srgbClr val="3E5553"/>
                </a:solidFill>
                <a:latin typeface="Arial"/>
              </a:rPr>
              <a:t>Estimar el monto de prepago de cada operación en cada punto de maduración del crédito, utilizando la información disponible al momento de la </a:t>
            </a:r>
            <a:r>
              <a:rPr lang="es-ES_tradnl" sz="1100" b="0" i="0" noProof="0" dirty="0" err="1">
                <a:solidFill>
                  <a:srgbClr val="3E5553"/>
                </a:solidFill>
                <a:latin typeface="Arial"/>
              </a:rPr>
              <a:t>originación</a:t>
            </a:r>
            <a:r>
              <a:rPr lang="es-ES_tradnl" sz="1100" b="0" i="0" noProof="0" dirty="0">
                <a:solidFill>
                  <a:srgbClr val="3E5553"/>
                </a:solidFill>
                <a:latin typeface="Arial"/>
              </a:rPr>
              <a:t>.</a:t>
            </a:r>
          </a:p>
        </p:txBody>
      </p:sp>
      <p:sp>
        <p:nvSpPr>
          <p:cNvPr id="49" name="Rectangle 48">
            <a:extLst>
              <a:ext uri="{FF2B5EF4-FFF2-40B4-BE49-F238E27FC236}">
                <a16:creationId xmlns:a16="http://schemas.microsoft.com/office/drawing/2014/main" id="{7C7643F4-6E37-FC60-99AA-75A047D104A3}"/>
              </a:ext>
            </a:extLst>
          </p:cNvPr>
          <p:cNvSpPr/>
          <p:nvPr/>
        </p:nvSpPr>
        <p:spPr>
          <a:xfrm>
            <a:off x="658368" y="2286000"/>
            <a:ext cx="5394960" cy="2103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50" name="Rectangle 49">
            <a:extLst>
              <a:ext uri="{FF2B5EF4-FFF2-40B4-BE49-F238E27FC236}">
                <a16:creationId xmlns:a16="http://schemas.microsoft.com/office/drawing/2014/main" id="{BAB9C978-32C9-6102-57D1-5FBFC0E36850}"/>
              </a:ext>
            </a:extLst>
          </p:cNvPr>
          <p:cNvSpPr/>
          <p:nvPr/>
        </p:nvSpPr>
        <p:spPr>
          <a:xfrm>
            <a:off x="658368" y="2286000"/>
            <a:ext cx="5394960"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i="0" noProof="0" dirty="0">
                <a:solidFill>
                  <a:srgbClr val="FFFFFF"/>
                </a:solidFill>
                <a:latin typeface="Arial"/>
              </a:rPr>
              <a:t>¿QUÉ ES UN PREPAGO?</a:t>
            </a:r>
          </a:p>
        </p:txBody>
      </p:sp>
      <p:sp>
        <p:nvSpPr>
          <p:cNvPr id="51" name="TextBox 50">
            <a:extLst>
              <a:ext uri="{FF2B5EF4-FFF2-40B4-BE49-F238E27FC236}">
                <a16:creationId xmlns:a16="http://schemas.microsoft.com/office/drawing/2014/main" id="{654C5579-2B5F-3A5E-F968-7C62DAE131DD}"/>
              </a:ext>
            </a:extLst>
          </p:cNvPr>
          <p:cNvSpPr txBox="1"/>
          <p:nvPr/>
        </p:nvSpPr>
        <p:spPr>
          <a:xfrm>
            <a:off x="896112" y="2761488"/>
            <a:ext cx="4919472" cy="674928"/>
          </a:xfrm>
          <a:prstGeom prst="rect">
            <a:avLst/>
          </a:prstGeom>
          <a:noFill/>
        </p:spPr>
        <p:txBody>
          <a:bodyPr wrap="square" lIns="0" tIns="0" rIns="0" bIns="0" anchor="t">
            <a:spAutoFit/>
          </a:bodyPr>
          <a:lstStyle/>
          <a:p>
            <a:pPr algn="l">
              <a:lnSpc>
                <a:spcPct val="126000"/>
              </a:lnSpc>
            </a:pPr>
            <a:r>
              <a:rPr lang="es-ES_tradnl" sz="1200" b="0" i="0" noProof="0" dirty="0">
                <a:solidFill>
                  <a:srgbClr val="3E5553"/>
                </a:solidFill>
                <a:latin typeface="Arial"/>
              </a:rPr>
              <a:t>Es un pago adicional a la cuota programada que reduce anticipadamente el saldo pendiente del crédito, sin cancelar totalmente la deuda.</a:t>
            </a:r>
          </a:p>
        </p:txBody>
      </p:sp>
      <p:sp>
        <p:nvSpPr>
          <p:cNvPr id="52" name="Rectangle 51">
            <a:extLst>
              <a:ext uri="{FF2B5EF4-FFF2-40B4-BE49-F238E27FC236}">
                <a16:creationId xmlns:a16="http://schemas.microsoft.com/office/drawing/2014/main" id="{D03126E3-3486-647C-CC4B-04F11E2A77CE}"/>
              </a:ext>
            </a:extLst>
          </p:cNvPr>
          <p:cNvSpPr/>
          <p:nvPr/>
        </p:nvSpPr>
        <p:spPr>
          <a:xfrm>
            <a:off x="896112" y="3639312"/>
            <a:ext cx="4919472" cy="54864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53" name="TextBox 52">
            <a:extLst>
              <a:ext uri="{FF2B5EF4-FFF2-40B4-BE49-F238E27FC236}">
                <a16:creationId xmlns:a16="http://schemas.microsoft.com/office/drawing/2014/main" id="{46472D73-2535-500E-6A99-99D1433A72FF}"/>
              </a:ext>
            </a:extLst>
          </p:cNvPr>
          <p:cNvSpPr txBox="1"/>
          <p:nvPr/>
        </p:nvSpPr>
        <p:spPr>
          <a:xfrm>
            <a:off x="1060704" y="3731923"/>
            <a:ext cx="4590288" cy="381708"/>
          </a:xfrm>
          <a:prstGeom prst="rect">
            <a:avLst/>
          </a:prstGeom>
          <a:noFill/>
        </p:spPr>
        <p:txBody>
          <a:bodyPr wrap="square" lIns="0" tIns="0" rIns="0" bIns="0" anchor="ctr">
            <a:spAutoFit/>
          </a:bodyPr>
          <a:lstStyle/>
          <a:p>
            <a:pPr algn="l">
              <a:lnSpc>
                <a:spcPct val="118000"/>
              </a:lnSpc>
              <a:spcAft>
                <a:spcPts val="400"/>
              </a:spcAft>
            </a:pPr>
            <a:r>
              <a:rPr lang="es-ES_tradnl" sz="1100" b="1" i="0" noProof="0" dirty="0">
                <a:solidFill>
                  <a:srgbClr val="0C514E"/>
                </a:solidFill>
                <a:latin typeface="Arial"/>
              </a:rPr>
              <a:t>Respondemos:  </a:t>
            </a:r>
            <a:r>
              <a:rPr lang="es-ES_tradnl" sz="1100" b="0" i="1" noProof="0" dirty="0">
                <a:solidFill>
                  <a:srgbClr val="3E5553"/>
                </a:solidFill>
                <a:latin typeface="Arial"/>
              </a:rPr>
              <a:t>¿cuánto del crédito se espera que el cliente prepague acumuladamente hasta la maduración t?</a:t>
            </a:r>
          </a:p>
        </p:txBody>
      </p:sp>
      <p:sp>
        <p:nvSpPr>
          <p:cNvPr id="54" name="Rectangle 53">
            <a:extLst>
              <a:ext uri="{FF2B5EF4-FFF2-40B4-BE49-F238E27FC236}">
                <a16:creationId xmlns:a16="http://schemas.microsoft.com/office/drawing/2014/main" id="{223B28C0-9089-58B8-6F0A-72A6CB8EFA8B}"/>
              </a:ext>
            </a:extLst>
          </p:cNvPr>
          <p:cNvSpPr/>
          <p:nvPr/>
        </p:nvSpPr>
        <p:spPr>
          <a:xfrm>
            <a:off x="6510528" y="2286000"/>
            <a:ext cx="9087124" cy="2103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55" name="Rectangle 54">
            <a:extLst>
              <a:ext uri="{FF2B5EF4-FFF2-40B4-BE49-F238E27FC236}">
                <a16:creationId xmlns:a16="http://schemas.microsoft.com/office/drawing/2014/main" id="{B07D18E9-441E-E56F-FF65-19424D216E3A}"/>
              </a:ext>
            </a:extLst>
          </p:cNvPr>
          <p:cNvSpPr/>
          <p:nvPr/>
        </p:nvSpPr>
        <p:spPr>
          <a:xfrm>
            <a:off x="6510528" y="2286000"/>
            <a:ext cx="9087124" cy="32918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i="0" noProof="0" dirty="0">
                <a:solidFill>
                  <a:srgbClr val="FFFFFF"/>
                </a:solidFill>
                <a:latin typeface="Arial"/>
              </a:rPr>
              <a:t>INSUMOS</a:t>
            </a:r>
          </a:p>
        </p:txBody>
      </p:sp>
      <p:sp>
        <p:nvSpPr>
          <p:cNvPr id="56" name="Rectangle 55">
            <a:extLst>
              <a:ext uri="{FF2B5EF4-FFF2-40B4-BE49-F238E27FC236}">
                <a16:creationId xmlns:a16="http://schemas.microsoft.com/office/drawing/2014/main" id="{306780B6-44CB-3DD1-E377-749F7603785C}"/>
              </a:ext>
            </a:extLst>
          </p:cNvPr>
          <p:cNvSpPr/>
          <p:nvPr/>
        </p:nvSpPr>
        <p:spPr>
          <a:xfrm>
            <a:off x="6729984" y="2779776"/>
            <a:ext cx="8648212" cy="69494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57" name="Rectangle 56">
            <a:extLst>
              <a:ext uri="{FF2B5EF4-FFF2-40B4-BE49-F238E27FC236}">
                <a16:creationId xmlns:a16="http://schemas.microsoft.com/office/drawing/2014/main" id="{FA496EE6-BB85-92D6-F82B-E2D89C5317E0}"/>
              </a:ext>
            </a:extLst>
          </p:cNvPr>
          <p:cNvSpPr/>
          <p:nvPr/>
        </p:nvSpPr>
        <p:spPr>
          <a:xfrm>
            <a:off x="6729984" y="2779776"/>
            <a:ext cx="45720" cy="69494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58" name="TextBox 57">
            <a:extLst>
              <a:ext uri="{FF2B5EF4-FFF2-40B4-BE49-F238E27FC236}">
                <a16:creationId xmlns:a16="http://schemas.microsoft.com/office/drawing/2014/main" id="{F76ABB00-3472-7B46-01FD-921B0E48B480}"/>
              </a:ext>
            </a:extLst>
          </p:cNvPr>
          <p:cNvSpPr txBox="1"/>
          <p:nvPr/>
        </p:nvSpPr>
        <p:spPr>
          <a:xfrm>
            <a:off x="6912864" y="2871216"/>
            <a:ext cx="8300740" cy="169277"/>
          </a:xfrm>
          <a:prstGeom prst="rect">
            <a:avLst/>
          </a:prstGeom>
          <a:noFill/>
        </p:spPr>
        <p:txBody>
          <a:bodyPr wrap="square" lIns="0" tIns="0" rIns="0" bIns="0" anchor="t">
            <a:spAutoFit/>
          </a:bodyPr>
          <a:lstStyle/>
          <a:p>
            <a:pPr algn="l">
              <a:lnSpc>
                <a:spcPct val="100000"/>
              </a:lnSpc>
            </a:pPr>
            <a:r>
              <a:rPr lang="es-ES_tradnl" sz="1100" b="1" i="0" noProof="0" dirty="0" err="1">
                <a:solidFill>
                  <a:srgbClr val="445A6E"/>
                </a:solidFill>
                <a:latin typeface="Arial"/>
              </a:rPr>
              <a:t>Originación</a:t>
            </a:r>
            <a:endParaRPr lang="es-ES_tradnl" sz="1100" b="1" i="0" noProof="0" dirty="0">
              <a:solidFill>
                <a:srgbClr val="445A6E"/>
              </a:solidFill>
              <a:latin typeface="Arial"/>
            </a:endParaRPr>
          </a:p>
        </p:txBody>
      </p:sp>
      <p:sp>
        <p:nvSpPr>
          <p:cNvPr id="59" name="TextBox 58">
            <a:extLst>
              <a:ext uri="{FF2B5EF4-FFF2-40B4-BE49-F238E27FC236}">
                <a16:creationId xmlns:a16="http://schemas.microsoft.com/office/drawing/2014/main" id="{73EC8271-7EAC-F14D-8A80-9E423F6501FC}"/>
              </a:ext>
            </a:extLst>
          </p:cNvPr>
          <p:cNvSpPr txBox="1"/>
          <p:nvPr/>
        </p:nvSpPr>
        <p:spPr>
          <a:xfrm>
            <a:off x="6912864" y="3099816"/>
            <a:ext cx="8300740" cy="171265"/>
          </a:xfrm>
          <a:prstGeom prst="rect">
            <a:avLst/>
          </a:prstGeom>
          <a:noFill/>
        </p:spPr>
        <p:txBody>
          <a:bodyPr wrap="square" lIns="0" tIns="0" rIns="0" bIns="0" anchor="t">
            <a:spAutoFit/>
          </a:bodyPr>
          <a:lstStyle/>
          <a:p>
            <a:pPr algn="l">
              <a:lnSpc>
                <a:spcPct val="116000"/>
              </a:lnSpc>
            </a:pPr>
            <a:r>
              <a:rPr lang="es-ES_tradnl" sz="1050" b="0" i="0" noProof="0" dirty="0">
                <a:solidFill>
                  <a:srgbClr val="6E7E7D"/>
                </a:solidFill>
                <a:latin typeface="Arial"/>
              </a:rPr>
              <a:t>Información de cada operación: cliente, producto, información interna IBK, RCC, entre otros (2022-01 a 2026-05).</a:t>
            </a:r>
          </a:p>
        </p:txBody>
      </p:sp>
      <p:sp>
        <p:nvSpPr>
          <p:cNvPr id="60" name="Rectangle 59">
            <a:extLst>
              <a:ext uri="{FF2B5EF4-FFF2-40B4-BE49-F238E27FC236}">
                <a16:creationId xmlns:a16="http://schemas.microsoft.com/office/drawing/2014/main" id="{ED6093CC-0A4A-30D9-519C-B9E1F4861930}"/>
              </a:ext>
            </a:extLst>
          </p:cNvPr>
          <p:cNvSpPr/>
          <p:nvPr/>
        </p:nvSpPr>
        <p:spPr>
          <a:xfrm>
            <a:off x="6729984" y="3566160"/>
            <a:ext cx="8648212" cy="69494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61" name="Rectangle 60">
            <a:extLst>
              <a:ext uri="{FF2B5EF4-FFF2-40B4-BE49-F238E27FC236}">
                <a16:creationId xmlns:a16="http://schemas.microsoft.com/office/drawing/2014/main" id="{461A2FB1-E0AE-3786-5979-2F373EFBEEB9}"/>
              </a:ext>
            </a:extLst>
          </p:cNvPr>
          <p:cNvSpPr/>
          <p:nvPr/>
        </p:nvSpPr>
        <p:spPr>
          <a:xfrm>
            <a:off x="6729984" y="3566160"/>
            <a:ext cx="45720" cy="69494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62" name="TextBox 61">
            <a:extLst>
              <a:ext uri="{FF2B5EF4-FFF2-40B4-BE49-F238E27FC236}">
                <a16:creationId xmlns:a16="http://schemas.microsoft.com/office/drawing/2014/main" id="{AD66B4E8-18E4-539E-26A7-A5A67A19A31D}"/>
              </a:ext>
            </a:extLst>
          </p:cNvPr>
          <p:cNvSpPr txBox="1"/>
          <p:nvPr/>
        </p:nvSpPr>
        <p:spPr>
          <a:xfrm>
            <a:off x="6912864" y="3657600"/>
            <a:ext cx="8300740" cy="169277"/>
          </a:xfrm>
          <a:prstGeom prst="rect">
            <a:avLst/>
          </a:prstGeom>
          <a:noFill/>
        </p:spPr>
        <p:txBody>
          <a:bodyPr wrap="square" lIns="0" tIns="0" rIns="0" bIns="0" anchor="t">
            <a:spAutoFit/>
          </a:bodyPr>
          <a:lstStyle/>
          <a:p>
            <a:pPr algn="l">
              <a:lnSpc>
                <a:spcPct val="100000"/>
              </a:lnSpc>
            </a:pPr>
            <a:r>
              <a:rPr lang="es-ES_tradnl" sz="1100" b="1" i="0" noProof="0" dirty="0">
                <a:solidFill>
                  <a:srgbClr val="445A6E"/>
                </a:solidFill>
                <a:latin typeface="Arial"/>
              </a:rPr>
              <a:t>Histórico de pagos</a:t>
            </a:r>
          </a:p>
        </p:txBody>
      </p:sp>
      <p:sp>
        <p:nvSpPr>
          <p:cNvPr id="63" name="TextBox 62">
            <a:extLst>
              <a:ext uri="{FF2B5EF4-FFF2-40B4-BE49-F238E27FC236}">
                <a16:creationId xmlns:a16="http://schemas.microsoft.com/office/drawing/2014/main" id="{8619029C-3691-F1EC-F8A2-24B8CD880312}"/>
              </a:ext>
            </a:extLst>
          </p:cNvPr>
          <p:cNvSpPr txBox="1"/>
          <p:nvPr/>
        </p:nvSpPr>
        <p:spPr>
          <a:xfrm>
            <a:off x="6912864" y="3886200"/>
            <a:ext cx="8300740" cy="171265"/>
          </a:xfrm>
          <a:prstGeom prst="rect">
            <a:avLst/>
          </a:prstGeom>
          <a:noFill/>
        </p:spPr>
        <p:txBody>
          <a:bodyPr wrap="square" lIns="0" tIns="0" rIns="0" bIns="0" anchor="t">
            <a:spAutoFit/>
          </a:bodyPr>
          <a:lstStyle/>
          <a:p>
            <a:pPr algn="l">
              <a:lnSpc>
                <a:spcPct val="116000"/>
              </a:lnSpc>
            </a:pPr>
            <a:r>
              <a:rPr lang="es-ES_tradnl" sz="1050" b="0" i="0" noProof="0" dirty="0">
                <a:solidFill>
                  <a:srgbClr val="6E7E7D"/>
                </a:solidFill>
                <a:latin typeface="Arial"/>
              </a:rPr>
              <a:t>Comportamiento de pago de cada operación hasta 2026-06.</a:t>
            </a:r>
          </a:p>
        </p:txBody>
      </p:sp>
      <p:sp>
        <p:nvSpPr>
          <p:cNvPr id="64" name="TextBox 63">
            <a:extLst>
              <a:ext uri="{FF2B5EF4-FFF2-40B4-BE49-F238E27FC236}">
                <a16:creationId xmlns:a16="http://schemas.microsoft.com/office/drawing/2014/main" id="{F225663B-DAC9-0811-38B3-ECE2DB2B753A}"/>
              </a:ext>
            </a:extLst>
          </p:cNvPr>
          <p:cNvSpPr txBox="1"/>
          <p:nvPr/>
        </p:nvSpPr>
        <p:spPr>
          <a:xfrm>
            <a:off x="658368" y="4681728"/>
            <a:ext cx="9144000" cy="246221"/>
          </a:xfrm>
          <a:prstGeom prst="rect">
            <a:avLst/>
          </a:prstGeom>
          <a:noFill/>
        </p:spPr>
        <p:txBody>
          <a:bodyPr wrap="square" lIns="0" tIns="0" rIns="0" bIns="0" anchor="t">
            <a:spAutoFit/>
          </a:bodyPr>
          <a:lstStyle/>
          <a:p>
            <a:pPr algn="l">
              <a:lnSpc>
                <a:spcPct val="100000"/>
              </a:lnSpc>
            </a:pPr>
            <a:r>
              <a:rPr lang="es-ES_tradnl" sz="1600" b="1" i="0" noProof="0" dirty="0">
                <a:solidFill>
                  <a:srgbClr val="0B2E2C"/>
                </a:solidFill>
                <a:latin typeface="Arial"/>
              </a:rPr>
              <a:t>Cómo se ve en la base de pagos  ·  un crédito, cuota a cuota</a:t>
            </a:r>
          </a:p>
        </p:txBody>
      </p:sp>
      <p:sp>
        <p:nvSpPr>
          <p:cNvPr id="65" name="Rectangle 64">
            <a:extLst>
              <a:ext uri="{FF2B5EF4-FFF2-40B4-BE49-F238E27FC236}">
                <a16:creationId xmlns:a16="http://schemas.microsoft.com/office/drawing/2014/main" id="{7843B311-7921-E544-E652-987833E4ACE1}"/>
              </a:ext>
            </a:extLst>
          </p:cNvPr>
          <p:cNvSpPr/>
          <p:nvPr/>
        </p:nvSpPr>
        <p:spPr>
          <a:xfrm>
            <a:off x="14573524" y="4681728"/>
            <a:ext cx="914400"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lang="es-ES_tradnl" sz="1000" b="1" i="0" noProof="0" dirty="0">
                <a:solidFill>
                  <a:srgbClr val="FFFFFF"/>
                </a:solidFill>
                <a:latin typeface="Arial"/>
              </a:rPr>
              <a:t>ILUSTRATIVO</a:t>
            </a:r>
          </a:p>
        </p:txBody>
      </p:sp>
      <p:cxnSp>
        <p:nvCxnSpPr>
          <p:cNvPr id="66" name="Connector 27">
            <a:extLst>
              <a:ext uri="{FF2B5EF4-FFF2-40B4-BE49-F238E27FC236}">
                <a16:creationId xmlns:a16="http://schemas.microsoft.com/office/drawing/2014/main" id="{B802F331-B2C2-3945-E482-8C60ADC1A851}"/>
              </a:ext>
            </a:extLst>
          </p:cNvPr>
          <p:cNvCxnSpPr/>
          <p:nvPr/>
        </p:nvCxnSpPr>
        <p:spPr>
          <a:xfrm>
            <a:off x="658368" y="4974336"/>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0232C3F7-FFD2-4A8B-33D3-F12C7539B34B}"/>
              </a:ext>
            </a:extLst>
          </p:cNvPr>
          <p:cNvSpPr/>
          <p:nvPr/>
        </p:nvSpPr>
        <p:spPr>
          <a:xfrm>
            <a:off x="658368" y="5102352"/>
            <a:ext cx="14939284" cy="29260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68" name="TextBox 67">
            <a:extLst>
              <a:ext uri="{FF2B5EF4-FFF2-40B4-BE49-F238E27FC236}">
                <a16:creationId xmlns:a16="http://schemas.microsoft.com/office/drawing/2014/main" id="{89F21A17-DC6D-2BB1-086D-3D0F651BFD65}"/>
              </a:ext>
            </a:extLst>
          </p:cNvPr>
          <p:cNvSpPr txBox="1"/>
          <p:nvPr/>
        </p:nvSpPr>
        <p:spPr>
          <a:xfrm>
            <a:off x="658368"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Id crédito</a:t>
            </a:r>
          </a:p>
        </p:txBody>
      </p:sp>
      <p:sp>
        <p:nvSpPr>
          <p:cNvPr id="69" name="TextBox 68">
            <a:extLst>
              <a:ext uri="{FF2B5EF4-FFF2-40B4-BE49-F238E27FC236}">
                <a16:creationId xmlns:a16="http://schemas.microsoft.com/office/drawing/2014/main" id="{C7003455-255B-0AA3-D85C-10B413B45BDC}"/>
              </a:ext>
            </a:extLst>
          </p:cNvPr>
          <p:cNvSpPr txBox="1"/>
          <p:nvPr/>
        </p:nvSpPr>
        <p:spPr>
          <a:xfrm>
            <a:off x="2152296"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Maduración</a:t>
            </a:r>
          </a:p>
        </p:txBody>
      </p:sp>
      <p:sp>
        <p:nvSpPr>
          <p:cNvPr id="70" name="TextBox 69">
            <a:extLst>
              <a:ext uri="{FF2B5EF4-FFF2-40B4-BE49-F238E27FC236}">
                <a16:creationId xmlns:a16="http://schemas.microsoft.com/office/drawing/2014/main" id="{5A80AB57-248E-B41D-1340-5F1CD1DC2261}"/>
              </a:ext>
            </a:extLst>
          </p:cNvPr>
          <p:cNvSpPr txBox="1"/>
          <p:nvPr/>
        </p:nvSpPr>
        <p:spPr>
          <a:xfrm>
            <a:off x="3646224"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Desembolso</a:t>
            </a:r>
          </a:p>
        </p:txBody>
      </p:sp>
      <p:sp>
        <p:nvSpPr>
          <p:cNvPr id="71" name="TextBox 70">
            <a:extLst>
              <a:ext uri="{FF2B5EF4-FFF2-40B4-BE49-F238E27FC236}">
                <a16:creationId xmlns:a16="http://schemas.microsoft.com/office/drawing/2014/main" id="{FDE8C786-0976-3796-2BE8-842A23290F95}"/>
              </a:ext>
            </a:extLst>
          </p:cNvPr>
          <p:cNvSpPr txBox="1"/>
          <p:nvPr/>
        </p:nvSpPr>
        <p:spPr>
          <a:xfrm>
            <a:off x="5140153"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Saldo inicial</a:t>
            </a:r>
          </a:p>
        </p:txBody>
      </p:sp>
      <p:sp>
        <p:nvSpPr>
          <p:cNvPr id="72" name="TextBox 71">
            <a:extLst>
              <a:ext uri="{FF2B5EF4-FFF2-40B4-BE49-F238E27FC236}">
                <a16:creationId xmlns:a16="http://schemas.microsoft.com/office/drawing/2014/main" id="{AF85F4D2-47C0-A28C-83A3-C289632D8AD3}"/>
              </a:ext>
            </a:extLst>
          </p:cNvPr>
          <p:cNvSpPr txBox="1"/>
          <p:nvPr/>
        </p:nvSpPr>
        <p:spPr>
          <a:xfrm>
            <a:off x="6634081"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Cuota</a:t>
            </a:r>
          </a:p>
        </p:txBody>
      </p:sp>
      <p:sp>
        <p:nvSpPr>
          <p:cNvPr id="73" name="TextBox 72">
            <a:extLst>
              <a:ext uri="{FF2B5EF4-FFF2-40B4-BE49-F238E27FC236}">
                <a16:creationId xmlns:a16="http://schemas.microsoft.com/office/drawing/2014/main" id="{59ED477A-562C-2201-FAF1-CC729CDEBACE}"/>
              </a:ext>
            </a:extLst>
          </p:cNvPr>
          <p:cNvSpPr txBox="1"/>
          <p:nvPr/>
        </p:nvSpPr>
        <p:spPr>
          <a:xfrm>
            <a:off x="8128010"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Prepago</a:t>
            </a:r>
          </a:p>
        </p:txBody>
      </p:sp>
      <p:sp>
        <p:nvSpPr>
          <p:cNvPr id="74" name="TextBox 73">
            <a:extLst>
              <a:ext uri="{FF2B5EF4-FFF2-40B4-BE49-F238E27FC236}">
                <a16:creationId xmlns:a16="http://schemas.microsoft.com/office/drawing/2014/main" id="{17437290-2495-7311-F945-D727EC2BD83A}"/>
              </a:ext>
            </a:extLst>
          </p:cNvPr>
          <p:cNvSpPr txBox="1"/>
          <p:nvPr/>
        </p:nvSpPr>
        <p:spPr>
          <a:xfrm>
            <a:off x="9621938"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Saldo final</a:t>
            </a:r>
          </a:p>
        </p:txBody>
      </p:sp>
      <p:sp>
        <p:nvSpPr>
          <p:cNvPr id="75" name="TextBox 74">
            <a:extLst>
              <a:ext uri="{FF2B5EF4-FFF2-40B4-BE49-F238E27FC236}">
                <a16:creationId xmlns:a16="http://schemas.microsoft.com/office/drawing/2014/main" id="{59CFC912-74C6-D2DD-AACB-061FF8E65958}"/>
              </a:ext>
            </a:extLst>
          </p:cNvPr>
          <p:cNvSpPr txBox="1"/>
          <p:nvPr/>
        </p:nvSpPr>
        <p:spPr>
          <a:xfrm>
            <a:off x="11115867"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Flag prepago</a:t>
            </a:r>
          </a:p>
        </p:txBody>
      </p:sp>
      <p:sp>
        <p:nvSpPr>
          <p:cNvPr id="76" name="TextBox 75">
            <a:extLst>
              <a:ext uri="{FF2B5EF4-FFF2-40B4-BE49-F238E27FC236}">
                <a16:creationId xmlns:a16="http://schemas.microsoft.com/office/drawing/2014/main" id="{5C1D7882-4BFD-4729-3156-86FA1522EEDB}"/>
              </a:ext>
            </a:extLst>
          </p:cNvPr>
          <p:cNvSpPr txBox="1"/>
          <p:nvPr/>
        </p:nvSpPr>
        <p:spPr>
          <a:xfrm>
            <a:off x="12609795"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Prepago </a:t>
            </a:r>
            <a:r>
              <a:rPr lang="es-ES_tradnl" sz="1050" b="1" i="0" noProof="0" dirty="0" err="1">
                <a:solidFill>
                  <a:srgbClr val="FFFFFF"/>
                </a:solidFill>
                <a:latin typeface="Arial"/>
              </a:rPr>
              <a:t>acum</a:t>
            </a:r>
            <a:r>
              <a:rPr lang="es-ES_tradnl" sz="1050" b="1" i="0" noProof="0" dirty="0">
                <a:solidFill>
                  <a:srgbClr val="FFFFFF"/>
                </a:solidFill>
                <a:latin typeface="Arial"/>
              </a:rPr>
              <a:t>.</a:t>
            </a:r>
          </a:p>
        </p:txBody>
      </p:sp>
      <p:sp>
        <p:nvSpPr>
          <p:cNvPr id="77" name="TextBox 76">
            <a:extLst>
              <a:ext uri="{FF2B5EF4-FFF2-40B4-BE49-F238E27FC236}">
                <a16:creationId xmlns:a16="http://schemas.microsoft.com/office/drawing/2014/main" id="{6E7E4EC4-2D75-BFBE-234F-7E6EF5F436B1}"/>
              </a:ext>
            </a:extLst>
          </p:cNvPr>
          <p:cNvSpPr txBox="1"/>
          <p:nvPr/>
        </p:nvSpPr>
        <p:spPr>
          <a:xfrm>
            <a:off x="14103723" y="5157216"/>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FFFFFF"/>
                </a:solidFill>
                <a:latin typeface="Arial"/>
              </a:rPr>
              <a:t>% magnitud</a:t>
            </a:r>
          </a:p>
        </p:txBody>
      </p:sp>
      <p:sp>
        <p:nvSpPr>
          <p:cNvPr id="78" name="Rectangle 77">
            <a:extLst>
              <a:ext uri="{FF2B5EF4-FFF2-40B4-BE49-F238E27FC236}">
                <a16:creationId xmlns:a16="http://schemas.microsoft.com/office/drawing/2014/main" id="{3B854A7D-F84F-A36D-D08B-C0437C41E3C2}"/>
              </a:ext>
            </a:extLst>
          </p:cNvPr>
          <p:cNvSpPr/>
          <p:nvPr/>
        </p:nvSpPr>
        <p:spPr>
          <a:xfrm>
            <a:off x="658368" y="5431536"/>
            <a:ext cx="14939284" cy="292608"/>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79" name="TextBox 78">
            <a:extLst>
              <a:ext uri="{FF2B5EF4-FFF2-40B4-BE49-F238E27FC236}">
                <a16:creationId xmlns:a16="http://schemas.microsoft.com/office/drawing/2014/main" id="{65054F56-6590-40B4-6CFC-8CD3E152567F}"/>
              </a:ext>
            </a:extLst>
          </p:cNvPr>
          <p:cNvSpPr txBox="1"/>
          <p:nvPr/>
        </p:nvSpPr>
        <p:spPr>
          <a:xfrm>
            <a:off x="658368"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AAA001</a:t>
            </a:r>
          </a:p>
        </p:txBody>
      </p:sp>
      <p:sp>
        <p:nvSpPr>
          <p:cNvPr id="80" name="TextBox 79">
            <a:extLst>
              <a:ext uri="{FF2B5EF4-FFF2-40B4-BE49-F238E27FC236}">
                <a16:creationId xmlns:a16="http://schemas.microsoft.com/office/drawing/2014/main" id="{FE52470E-06CF-D5D8-D3D0-80D2B09EF076}"/>
              </a:ext>
            </a:extLst>
          </p:cNvPr>
          <p:cNvSpPr txBox="1"/>
          <p:nvPr/>
        </p:nvSpPr>
        <p:spPr>
          <a:xfrm>
            <a:off x="2152296"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1</a:t>
            </a:r>
          </a:p>
        </p:txBody>
      </p:sp>
      <p:sp>
        <p:nvSpPr>
          <p:cNvPr id="81" name="TextBox 80">
            <a:extLst>
              <a:ext uri="{FF2B5EF4-FFF2-40B4-BE49-F238E27FC236}">
                <a16:creationId xmlns:a16="http://schemas.microsoft.com/office/drawing/2014/main" id="{890EADDB-090D-2CC4-3507-A42A3FB90E75}"/>
              </a:ext>
            </a:extLst>
          </p:cNvPr>
          <p:cNvSpPr txBox="1"/>
          <p:nvPr/>
        </p:nvSpPr>
        <p:spPr>
          <a:xfrm>
            <a:off x="3646224"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10,000</a:t>
            </a:r>
          </a:p>
        </p:txBody>
      </p:sp>
      <p:sp>
        <p:nvSpPr>
          <p:cNvPr id="82" name="TextBox 81">
            <a:extLst>
              <a:ext uri="{FF2B5EF4-FFF2-40B4-BE49-F238E27FC236}">
                <a16:creationId xmlns:a16="http://schemas.microsoft.com/office/drawing/2014/main" id="{0EFDD2C7-7656-AEC2-DE00-8BE8437D7A66}"/>
              </a:ext>
            </a:extLst>
          </p:cNvPr>
          <p:cNvSpPr txBox="1"/>
          <p:nvPr/>
        </p:nvSpPr>
        <p:spPr>
          <a:xfrm>
            <a:off x="5140153"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10,000</a:t>
            </a:r>
          </a:p>
        </p:txBody>
      </p:sp>
      <p:sp>
        <p:nvSpPr>
          <p:cNvPr id="83" name="TextBox 82">
            <a:extLst>
              <a:ext uri="{FF2B5EF4-FFF2-40B4-BE49-F238E27FC236}">
                <a16:creationId xmlns:a16="http://schemas.microsoft.com/office/drawing/2014/main" id="{CB41AE2E-8693-0A98-4074-E88E75B183F0}"/>
              </a:ext>
            </a:extLst>
          </p:cNvPr>
          <p:cNvSpPr txBox="1"/>
          <p:nvPr/>
        </p:nvSpPr>
        <p:spPr>
          <a:xfrm>
            <a:off x="6634081"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200</a:t>
            </a:r>
          </a:p>
        </p:txBody>
      </p:sp>
      <p:sp>
        <p:nvSpPr>
          <p:cNvPr id="84" name="TextBox 83">
            <a:extLst>
              <a:ext uri="{FF2B5EF4-FFF2-40B4-BE49-F238E27FC236}">
                <a16:creationId xmlns:a16="http://schemas.microsoft.com/office/drawing/2014/main" id="{22F723FE-6232-68BE-4858-A769DA98B04C}"/>
              </a:ext>
            </a:extLst>
          </p:cNvPr>
          <p:cNvSpPr txBox="1"/>
          <p:nvPr/>
        </p:nvSpPr>
        <p:spPr>
          <a:xfrm>
            <a:off x="8128010"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t>
            </a:r>
          </a:p>
        </p:txBody>
      </p:sp>
      <p:sp>
        <p:nvSpPr>
          <p:cNvPr id="85" name="TextBox 84">
            <a:extLst>
              <a:ext uri="{FF2B5EF4-FFF2-40B4-BE49-F238E27FC236}">
                <a16:creationId xmlns:a16="http://schemas.microsoft.com/office/drawing/2014/main" id="{E3BD148F-C5AF-C6D9-D63C-D6C507D482CB}"/>
              </a:ext>
            </a:extLst>
          </p:cNvPr>
          <p:cNvSpPr txBox="1"/>
          <p:nvPr/>
        </p:nvSpPr>
        <p:spPr>
          <a:xfrm>
            <a:off x="9621938"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9,850</a:t>
            </a:r>
          </a:p>
        </p:txBody>
      </p:sp>
      <p:sp>
        <p:nvSpPr>
          <p:cNvPr id="86" name="TextBox 85">
            <a:extLst>
              <a:ext uri="{FF2B5EF4-FFF2-40B4-BE49-F238E27FC236}">
                <a16:creationId xmlns:a16="http://schemas.microsoft.com/office/drawing/2014/main" id="{900DE7F0-EA64-FD83-3704-6C161CA017B5}"/>
              </a:ext>
            </a:extLst>
          </p:cNvPr>
          <p:cNvSpPr txBox="1"/>
          <p:nvPr/>
        </p:nvSpPr>
        <p:spPr>
          <a:xfrm>
            <a:off x="11115867"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0</a:t>
            </a:r>
          </a:p>
        </p:txBody>
      </p:sp>
      <p:sp>
        <p:nvSpPr>
          <p:cNvPr id="87" name="TextBox 86">
            <a:extLst>
              <a:ext uri="{FF2B5EF4-FFF2-40B4-BE49-F238E27FC236}">
                <a16:creationId xmlns:a16="http://schemas.microsoft.com/office/drawing/2014/main" id="{5EA2018B-6F33-C15A-8452-7E7F87BDD094}"/>
              </a:ext>
            </a:extLst>
          </p:cNvPr>
          <p:cNvSpPr txBox="1"/>
          <p:nvPr/>
        </p:nvSpPr>
        <p:spPr>
          <a:xfrm>
            <a:off x="12609795"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t>
            </a:r>
          </a:p>
        </p:txBody>
      </p:sp>
      <p:sp>
        <p:nvSpPr>
          <p:cNvPr id="88" name="TextBox 87">
            <a:extLst>
              <a:ext uri="{FF2B5EF4-FFF2-40B4-BE49-F238E27FC236}">
                <a16:creationId xmlns:a16="http://schemas.microsoft.com/office/drawing/2014/main" id="{0247C832-365B-2575-C83B-6C8CFA30D1CF}"/>
              </a:ext>
            </a:extLst>
          </p:cNvPr>
          <p:cNvSpPr txBox="1"/>
          <p:nvPr/>
        </p:nvSpPr>
        <p:spPr>
          <a:xfrm>
            <a:off x="14103723" y="5481828"/>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0.0%</a:t>
            </a:r>
          </a:p>
        </p:txBody>
      </p:sp>
      <p:sp>
        <p:nvSpPr>
          <p:cNvPr id="89" name="TextBox 88">
            <a:extLst>
              <a:ext uri="{FF2B5EF4-FFF2-40B4-BE49-F238E27FC236}">
                <a16:creationId xmlns:a16="http://schemas.microsoft.com/office/drawing/2014/main" id="{88CF8AE9-7D36-3F60-F396-ED517663E8AF}"/>
              </a:ext>
            </a:extLst>
          </p:cNvPr>
          <p:cNvSpPr txBox="1"/>
          <p:nvPr/>
        </p:nvSpPr>
        <p:spPr>
          <a:xfrm>
            <a:off x="658368"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AAA001</a:t>
            </a:r>
          </a:p>
        </p:txBody>
      </p:sp>
      <p:sp>
        <p:nvSpPr>
          <p:cNvPr id="90" name="TextBox 89">
            <a:extLst>
              <a:ext uri="{FF2B5EF4-FFF2-40B4-BE49-F238E27FC236}">
                <a16:creationId xmlns:a16="http://schemas.microsoft.com/office/drawing/2014/main" id="{FE0E4A6B-7565-8C95-CF41-DFDF0C817083}"/>
              </a:ext>
            </a:extLst>
          </p:cNvPr>
          <p:cNvSpPr txBox="1"/>
          <p:nvPr/>
        </p:nvSpPr>
        <p:spPr>
          <a:xfrm>
            <a:off x="2152296"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2</a:t>
            </a:r>
          </a:p>
        </p:txBody>
      </p:sp>
      <p:sp>
        <p:nvSpPr>
          <p:cNvPr id="91" name="TextBox 90">
            <a:extLst>
              <a:ext uri="{FF2B5EF4-FFF2-40B4-BE49-F238E27FC236}">
                <a16:creationId xmlns:a16="http://schemas.microsoft.com/office/drawing/2014/main" id="{93930795-D6CE-85D8-FAFC-AB5C219B1D33}"/>
              </a:ext>
            </a:extLst>
          </p:cNvPr>
          <p:cNvSpPr txBox="1"/>
          <p:nvPr/>
        </p:nvSpPr>
        <p:spPr>
          <a:xfrm>
            <a:off x="3646224"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10,000</a:t>
            </a:r>
          </a:p>
        </p:txBody>
      </p:sp>
      <p:sp>
        <p:nvSpPr>
          <p:cNvPr id="92" name="TextBox 91">
            <a:extLst>
              <a:ext uri="{FF2B5EF4-FFF2-40B4-BE49-F238E27FC236}">
                <a16:creationId xmlns:a16="http://schemas.microsoft.com/office/drawing/2014/main" id="{724AB081-DA82-AF20-9B43-48BB66162D8A}"/>
              </a:ext>
            </a:extLst>
          </p:cNvPr>
          <p:cNvSpPr txBox="1"/>
          <p:nvPr/>
        </p:nvSpPr>
        <p:spPr>
          <a:xfrm>
            <a:off x="5140153"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9,850</a:t>
            </a:r>
          </a:p>
        </p:txBody>
      </p:sp>
      <p:sp>
        <p:nvSpPr>
          <p:cNvPr id="93" name="TextBox 92">
            <a:extLst>
              <a:ext uri="{FF2B5EF4-FFF2-40B4-BE49-F238E27FC236}">
                <a16:creationId xmlns:a16="http://schemas.microsoft.com/office/drawing/2014/main" id="{A1F99D44-1C4E-A8E8-D286-47CF274C567E}"/>
              </a:ext>
            </a:extLst>
          </p:cNvPr>
          <p:cNvSpPr txBox="1"/>
          <p:nvPr/>
        </p:nvSpPr>
        <p:spPr>
          <a:xfrm>
            <a:off x="6634081"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200</a:t>
            </a:r>
          </a:p>
        </p:txBody>
      </p:sp>
      <p:sp>
        <p:nvSpPr>
          <p:cNvPr id="94" name="TextBox 93">
            <a:extLst>
              <a:ext uri="{FF2B5EF4-FFF2-40B4-BE49-F238E27FC236}">
                <a16:creationId xmlns:a16="http://schemas.microsoft.com/office/drawing/2014/main" id="{C1D8A157-47C2-95C3-E307-F7E83F424B7E}"/>
              </a:ext>
            </a:extLst>
          </p:cNvPr>
          <p:cNvSpPr txBox="1"/>
          <p:nvPr/>
        </p:nvSpPr>
        <p:spPr>
          <a:xfrm>
            <a:off x="8128010"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t>
            </a:r>
          </a:p>
        </p:txBody>
      </p:sp>
      <p:sp>
        <p:nvSpPr>
          <p:cNvPr id="95" name="TextBox 94">
            <a:extLst>
              <a:ext uri="{FF2B5EF4-FFF2-40B4-BE49-F238E27FC236}">
                <a16:creationId xmlns:a16="http://schemas.microsoft.com/office/drawing/2014/main" id="{D1192915-3C24-34CC-C766-03D98C9AF9BD}"/>
              </a:ext>
            </a:extLst>
          </p:cNvPr>
          <p:cNvSpPr txBox="1"/>
          <p:nvPr/>
        </p:nvSpPr>
        <p:spPr>
          <a:xfrm>
            <a:off x="9621938"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9,698</a:t>
            </a:r>
          </a:p>
        </p:txBody>
      </p:sp>
      <p:sp>
        <p:nvSpPr>
          <p:cNvPr id="96" name="TextBox 95">
            <a:extLst>
              <a:ext uri="{FF2B5EF4-FFF2-40B4-BE49-F238E27FC236}">
                <a16:creationId xmlns:a16="http://schemas.microsoft.com/office/drawing/2014/main" id="{3F8CA346-1E7B-4FA2-C5F3-11C70F7ADDAA}"/>
              </a:ext>
            </a:extLst>
          </p:cNvPr>
          <p:cNvSpPr txBox="1"/>
          <p:nvPr/>
        </p:nvSpPr>
        <p:spPr>
          <a:xfrm>
            <a:off x="11115867"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0</a:t>
            </a:r>
          </a:p>
        </p:txBody>
      </p:sp>
      <p:sp>
        <p:nvSpPr>
          <p:cNvPr id="97" name="TextBox 96">
            <a:extLst>
              <a:ext uri="{FF2B5EF4-FFF2-40B4-BE49-F238E27FC236}">
                <a16:creationId xmlns:a16="http://schemas.microsoft.com/office/drawing/2014/main" id="{40EA3AEA-83FD-E7E8-FEC8-C32B912EE0C8}"/>
              </a:ext>
            </a:extLst>
          </p:cNvPr>
          <p:cNvSpPr txBox="1"/>
          <p:nvPr/>
        </p:nvSpPr>
        <p:spPr>
          <a:xfrm>
            <a:off x="12609795"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t>
            </a:r>
          </a:p>
        </p:txBody>
      </p:sp>
      <p:sp>
        <p:nvSpPr>
          <p:cNvPr id="98" name="TextBox 97">
            <a:extLst>
              <a:ext uri="{FF2B5EF4-FFF2-40B4-BE49-F238E27FC236}">
                <a16:creationId xmlns:a16="http://schemas.microsoft.com/office/drawing/2014/main" id="{D3482DF7-AE53-2D2F-FA4E-478F1C73453F}"/>
              </a:ext>
            </a:extLst>
          </p:cNvPr>
          <p:cNvSpPr txBox="1"/>
          <p:nvPr/>
        </p:nvSpPr>
        <p:spPr>
          <a:xfrm>
            <a:off x="14103723" y="5792724"/>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0.0%</a:t>
            </a:r>
          </a:p>
        </p:txBody>
      </p:sp>
      <p:sp>
        <p:nvSpPr>
          <p:cNvPr id="99" name="Rectangle 98">
            <a:extLst>
              <a:ext uri="{FF2B5EF4-FFF2-40B4-BE49-F238E27FC236}">
                <a16:creationId xmlns:a16="http://schemas.microsoft.com/office/drawing/2014/main" id="{66273A58-E366-983E-A33D-EF91258CD786}"/>
              </a:ext>
            </a:extLst>
          </p:cNvPr>
          <p:cNvSpPr/>
          <p:nvPr/>
        </p:nvSpPr>
        <p:spPr>
          <a:xfrm>
            <a:off x="658368" y="6053328"/>
            <a:ext cx="14939284" cy="292608"/>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100" name="TextBox 99">
            <a:extLst>
              <a:ext uri="{FF2B5EF4-FFF2-40B4-BE49-F238E27FC236}">
                <a16:creationId xmlns:a16="http://schemas.microsoft.com/office/drawing/2014/main" id="{0E564145-C516-8B01-4764-DD8F97417B0B}"/>
              </a:ext>
            </a:extLst>
          </p:cNvPr>
          <p:cNvSpPr txBox="1"/>
          <p:nvPr/>
        </p:nvSpPr>
        <p:spPr>
          <a:xfrm>
            <a:off x="658368" y="6103620"/>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AAA001</a:t>
            </a:r>
          </a:p>
        </p:txBody>
      </p:sp>
      <p:sp>
        <p:nvSpPr>
          <p:cNvPr id="101" name="TextBox 100">
            <a:extLst>
              <a:ext uri="{FF2B5EF4-FFF2-40B4-BE49-F238E27FC236}">
                <a16:creationId xmlns:a16="http://schemas.microsoft.com/office/drawing/2014/main" id="{39231984-E727-9CF6-E279-00324C0940F3}"/>
              </a:ext>
            </a:extLst>
          </p:cNvPr>
          <p:cNvSpPr txBox="1"/>
          <p:nvPr/>
        </p:nvSpPr>
        <p:spPr>
          <a:xfrm>
            <a:off x="2152296" y="6103620"/>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3</a:t>
            </a:r>
          </a:p>
        </p:txBody>
      </p:sp>
      <p:sp>
        <p:nvSpPr>
          <p:cNvPr id="102" name="TextBox 101">
            <a:extLst>
              <a:ext uri="{FF2B5EF4-FFF2-40B4-BE49-F238E27FC236}">
                <a16:creationId xmlns:a16="http://schemas.microsoft.com/office/drawing/2014/main" id="{F23983E2-9AC7-47A4-DF9F-9EAC33F46F99}"/>
              </a:ext>
            </a:extLst>
          </p:cNvPr>
          <p:cNvSpPr txBox="1"/>
          <p:nvPr/>
        </p:nvSpPr>
        <p:spPr>
          <a:xfrm>
            <a:off x="3646224" y="6103620"/>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10,000</a:t>
            </a:r>
          </a:p>
        </p:txBody>
      </p:sp>
      <p:sp>
        <p:nvSpPr>
          <p:cNvPr id="103" name="TextBox 102">
            <a:extLst>
              <a:ext uri="{FF2B5EF4-FFF2-40B4-BE49-F238E27FC236}">
                <a16:creationId xmlns:a16="http://schemas.microsoft.com/office/drawing/2014/main" id="{BFD892F3-C5DB-A645-B8DC-D6D2E45BDDBA}"/>
              </a:ext>
            </a:extLst>
          </p:cNvPr>
          <p:cNvSpPr txBox="1"/>
          <p:nvPr/>
        </p:nvSpPr>
        <p:spPr>
          <a:xfrm>
            <a:off x="5140153" y="6103620"/>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9,698</a:t>
            </a:r>
          </a:p>
        </p:txBody>
      </p:sp>
      <p:sp>
        <p:nvSpPr>
          <p:cNvPr id="104" name="TextBox 103">
            <a:extLst>
              <a:ext uri="{FF2B5EF4-FFF2-40B4-BE49-F238E27FC236}">
                <a16:creationId xmlns:a16="http://schemas.microsoft.com/office/drawing/2014/main" id="{5C25CC04-0D8C-F303-A089-E88422A313CC}"/>
              </a:ext>
            </a:extLst>
          </p:cNvPr>
          <p:cNvSpPr txBox="1"/>
          <p:nvPr/>
        </p:nvSpPr>
        <p:spPr>
          <a:xfrm>
            <a:off x="6634081" y="6103620"/>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200</a:t>
            </a:r>
          </a:p>
        </p:txBody>
      </p:sp>
      <p:sp>
        <p:nvSpPr>
          <p:cNvPr id="105" name="TextBox 104">
            <a:extLst>
              <a:ext uri="{FF2B5EF4-FFF2-40B4-BE49-F238E27FC236}">
                <a16:creationId xmlns:a16="http://schemas.microsoft.com/office/drawing/2014/main" id="{A35F63E2-F362-3301-138F-4200A8B26DDA}"/>
              </a:ext>
            </a:extLst>
          </p:cNvPr>
          <p:cNvSpPr txBox="1"/>
          <p:nvPr/>
        </p:nvSpPr>
        <p:spPr>
          <a:xfrm>
            <a:off x="8128010" y="6103620"/>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C87A0B"/>
                </a:solidFill>
                <a:latin typeface="Arial"/>
              </a:rPr>
              <a:t>50</a:t>
            </a:r>
          </a:p>
        </p:txBody>
      </p:sp>
      <p:sp>
        <p:nvSpPr>
          <p:cNvPr id="106" name="TextBox 105">
            <a:extLst>
              <a:ext uri="{FF2B5EF4-FFF2-40B4-BE49-F238E27FC236}">
                <a16:creationId xmlns:a16="http://schemas.microsoft.com/office/drawing/2014/main" id="{9C827F92-4BB0-DE8D-3970-DD6E9AF058FB}"/>
              </a:ext>
            </a:extLst>
          </p:cNvPr>
          <p:cNvSpPr txBox="1"/>
          <p:nvPr/>
        </p:nvSpPr>
        <p:spPr>
          <a:xfrm>
            <a:off x="9621938" y="6103620"/>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9,494</a:t>
            </a:r>
          </a:p>
        </p:txBody>
      </p:sp>
      <p:sp>
        <p:nvSpPr>
          <p:cNvPr id="107" name="TextBox 106">
            <a:extLst>
              <a:ext uri="{FF2B5EF4-FFF2-40B4-BE49-F238E27FC236}">
                <a16:creationId xmlns:a16="http://schemas.microsoft.com/office/drawing/2014/main" id="{5AF6477B-F87F-6D04-ED84-D619EFC9A2A7}"/>
              </a:ext>
            </a:extLst>
          </p:cNvPr>
          <p:cNvSpPr txBox="1"/>
          <p:nvPr/>
        </p:nvSpPr>
        <p:spPr>
          <a:xfrm>
            <a:off x="11115867" y="6103620"/>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C87A0B"/>
                </a:solidFill>
                <a:latin typeface="Arial"/>
              </a:rPr>
              <a:t>1</a:t>
            </a:r>
          </a:p>
        </p:txBody>
      </p:sp>
      <p:sp>
        <p:nvSpPr>
          <p:cNvPr id="108" name="TextBox 107">
            <a:extLst>
              <a:ext uri="{FF2B5EF4-FFF2-40B4-BE49-F238E27FC236}">
                <a16:creationId xmlns:a16="http://schemas.microsoft.com/office/drawing/2014/main" id="{5075BD94-8259-BEEB-2CE5-1C66141F9482}"/>
              </a:ext>
            </a:extLst>
          </p:cNvPr>
          <p:cNvSpPr txBox="1"/>
          <p:nvPr/>
        </p:nvSpPr>
        <p:spPr>
          <a:xfrm>
            <a:off x="12609795" y="6103620"/>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C87A0B"/>
                </a:solidFill>
                <a:latin typeface="Arial"/>
              </a:rPr>
              <a:t>50</a:t>
            </a:r>
          </a:p>
        </p:txBody>
      </p:sp>
      <p:sp>
        <p:nvSpPr>
          <p:cNvPr id="109" name="TextBox 108">
            <a:extLst>
              <a:ext uri="{FF2B5EF4-FFF2-40B4-BE49-F238E27FC236}">
                <a16:creationId xmlns:a16="http://schemas.microsoft.com/office/drawing/2014/main" id="{DFF17908-B390-E30C-6E4E-11765F628422}"/>
              </a:ext>
            </a:extLst>
          </p:cNvPr>
          <p:cNvSpPr txBox="1"/>
          <p:nvPr/>
        </p:nvSpPr>
        <p:spPr>
          <a:xfrm>
            <a:off x="14103723" y="6103620"/>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C87A0B"/>
                </a:solidFill>
                <a:latin typeface="Arial"/>
              </a:rPr>
              <a:t>0.5%</a:t>
            </a:r>
          </a:p>
        </p:txBody>
      </p:sp>
      <p:sp>
        <p:nvSpPr>
          <p:cNvPr id="110" name="TextBox 109">
            <a:extLst>
              <a:ext uri="{FF2B5EF4-FFF2-40B4-BE49-F238E27FC236}">
                <a16:creationId xmlns:a16="http://schemas.microsoft.com/office/drawing/2014/main" id="{41E48609-588C-41DD-C34A-2C936128693C}"/>
              </a:ext>
            </a:extLst>
          </p:cNvPr>
          <p:cNvSpPr txBox="1"/>
          <p:nvPr/>
        </p:nvSpPr>
        <p:spPr>
          <a:xfrm>
            <a:off x="658368"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AAA001</a:t>
            </a:r>
          </a:p>
        </p:txBody>
      </p:sp>
      <p:sp>
        <p:nvSpPr>
          <p:cNvPr id="111" name="TextBox 110">
            <a:extLst>
              <a:ext uri="{FF2B5EF4-FFF2-40B4-BE49-F238E27FC236}">
                <a16:creationId xmlns:a16="http://schemas.microsoft.com/office/drawing/2014/main" id="{2D98803D-7371-3AA3-7791-C520237A53FA}"/>
              </a:ext>
            </a:extLst>
          </p:cNvPr>
          <p:cNvSpPr txBox="1"/>
          <p:nvPr/>
        </p:nvSpPr>
        <p:spPr>
          <a:xfrm>
            <a:off x="2152296"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4</a:t>
            </a:r>
          </a:p>
        </p:txBody>
      </p:sp>
      <p:sp>
        <p:nvSpPr>
          <p:cNvPr id="112" name="TextBox 111">
            <a:extLst>
              <a:ext uri="{FF2B5EF4-FFF2-40B4-BE49-F238E27FC236}">
                <a16:creationId xmlns:a16="http://schemas.microsoft.com/office/drawing/2014/main" id="{CA69A39D-DA78-1030-D5BC-B1287C80C466}"/>
              </a:ext>
            </a:extLst>
          </p:cNvPr>
          <p:cNvSpPr txBox="1"/>
          <p:nvPr/>
        </p:nvSpPr>
        <p:spPr>
          <a:xfrm>
            <a:off x="3646224"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10,000</a:t>
            </a:r>
          </a:p>
        </p:txBody>
      </p:sp>
      <p:sp>
        <p:nvSpPr>
          <p:cNvPr id="113" name="TextBox 112">
            <a:extLst>
              <a:ext uri="{FF2B5EF4-FFF2-40B4-BE49-F238E27FC236}">
                <a16:creationId xmlns:a16="http://schemas.microsoft.com/office/drawing/2014/main" id="{FEDA3B92-115F-6CD3-AA8D-8F329573B18F}"/>
              </a:ext>
            </a:extLst>
          </p:cNvPr>
          <p:cNvSpPr txBox="1"/>
          <p:nvPr/>
        </p:nvSpPr>
        <p:spPr>
          <a:xfrm>
            <a:off x="5140153"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9,494</a:t>
            </a:r>
          </a:p>
        </p:txBody>
      </p:sp>
      <p:sp>
        <p:nvSpPr>
          <p:cNvPr id="114" name="TextBox 113">
            <a:extLst>
              <a:ext uri="{FF2B5EF4-FFF2-40B4-BE49-F238E27FC236}">
                <a16:creationId xmlns:a16="http://schemas.microsoft.com/office/drawing/2014/main" id="{5D6E7E2A-54A3-8123-1A89-DFECCFB378D6}"/>
              </a:ext>
            </a:extLst>
          </p:cNvPr>
          <p:cNvSpPr txBox="1"/>
          <p:nvPr/>
        </p:nvSpPr>
        <p:spPr>
          <a:xfrm>
            <a:off x="6634081"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180</a:t>
            </a:r>
          </a:p>
        </p:txBody>
      </p:sp>
      <p:sp>
        <p:nvSpPr>
          <p:cNvPr id="115" name="TextBox 114">
            <a:extLst>
              <a:ext uri="{FF2B5EF4-FFF2-40B4-BE49-F238E27FC236}">
                <a16:creationId xmlns:a16="http://schemas.microsoft.com/office/drawing/2014/main" id="{72F27FA5-12A4-B52A-8FAF-457E38727D72}"/>
              </a:ext>
            </a:extLst>
          </p:cNvPr>
          <p:cNvSpPr txBox="1"/>
          <p:nvPr/>
        </p:nvSpPr>
        <p:spPr>
          <a:xfrm>
            <a:off x="8128010"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t>
            </a:r>
          </a:p>
        </p:txBody>
      </p:sp>
      <p:sp>
        <p:nvSpPr>
          <p:cNvPr id="116" name="TextBox 115">
            <a:extLst>
              <a:ext uri="{FF2B5EF4-FFF2-40B4-BE49-F238E27FC236}">
                <a16:creationId xmlns:a16="http://schemas.microsoft.com/office/drawing/2014/main" id="{420AB800-1D8D-CBB2-1EEE-71DA47946526}"/>
              </a:ext>
            </a:extLst>
          </p:cNvPr>
          <p:cNvSpPr txBox="1"/>
          <p:nvPr/>
        </p:nvSpPr>
        <p:spPr>
          <a:xfrm>
            <a:off x="9621938"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9,358</a:t>
            </a:r>
          </a:p>
        </p:txBody>
      </p:sp>
      <p:sp>
        <p:nvSpPr>
          <p:cNvPr id="117" name="TextBox 116">
            <a:extLst>
              <a:ext uri="{FF2B5EF4-FFF2-40B4-BE49-F238E27FC236}">
                <a16:creationId xmlns:a16="http://schemas.microsoft.com/office/drawing/2014/main" id="{8C89076B-0037-67E8-8449-22037FEB2CC0}"/>
              </a:ext>
            </a:extLst>
          </p:cNvPr>
          <p:cNvSpPr txBox="1"/>
          <p:nvPr/>
        </p:nvSpPr>
        <p:spPr>
          <a:xfrm>
            <a:off x="11115867"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0</a:t>
            </a:r>
          </a:p>
        </p:txBody>
      </p:sp>
      <p:sp>
        <p:nvSpPr>
          <p:cNvPr id="118" name="TextBox 117">
            <a:extLst>
              <a:ext uri="{FF2B5EF4-FFF2-40B4-BE49-F238E27FC236}">
                <a16:creationId xmlns:a16="http://schemas.microsoft.com/office/drawing/2014/main" id="{786B36A3-62BC-6868-763B-80BDEC7B7DEB}"/>
              </a:ext>
            </a:extLst>
          </p:cNvPr>
          <p:cNvSpPr txBox="1"/>
          <p:nvPr/>
        </p:nvSpPr>
        <p:spPr>
          <a:xfrm>
            <a:off x="12609795"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50</a:t>
            </a:r>
          </a:p>
        </p:txBody>
      </p:sp>
      <p:sp>
        <p:nvSpPr>
          <p:cNvPr id="119" name="TextBox 118">
            <a:extLst>
              <a:ext uri="{FF2B5EF4-FFF2-40B4-BE49-F238E27FC236}">
                <a16:creationId xmlns:a16="http://schemas.microsoft.com/office/drawing/2014/main" id="{F84E1566-0715-FBF8-1AA5-ED0E38F41D23}"/>
              </a:ext>
            </a:extLst>
          </p:cNvPr>
          <p:cNvSpPr txBox="1"/>
          <p:nvPr/>
        </p:nvSpPr>
        <p:spPr>
          <a:xfrm>
            <a:off x="14103723" y="6414516"/>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0.5%</a:t>
            </a:r>
          </a:p>
        </p:txBody>
      </p:sp>
      <p:sp>
        <p:nvSpPr>
          <p:cNvPr id="120" name="Rectangle 119">
            <a:extLst>
              <a:ext uri="{FF2B5EF4-FFF2-40B4-BE49-F238E27FC236}">
                <a16:creationId xmlns:a16="http://schemas.microsoft.com/office/drawing/2014/main" id="{5AE6B329-C963-5DF8-4445-0CEA57590CA1}"/>
              </a:ext>
            </a:extLst>
          </p:cNvPr>
          <p:cNvSpPr/>
          <p:nvPr/>
        </p:nvSpPr>
        <p:spPr>
          <a:xfrm>
            <a:off x="658368" y="6675120"/>
            <a:ext cx="14939284" cy="292608"/>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121" name="TextBox 120">
            <a:extLst>
              <a:ext uri="{FF2B5EF4-FFF2-40B4-BE49-F238E27FC236}">
                <a16:creationId xmlns:a16="http://schemas.microsoft.com/office/drawing/2014/main" id="{10B54236-7DD2-D4BD-79A5-66B850FB5974}"/>
              </a:ext>
            </a:extLst>
          </p:cNvPr>
          <p:cNvSpPr txBox="1"/>
          <p:nvPr/>
        </p:nvSpPr>
        <p:spPr>
          <a:xfrm>
            <a:off x="658368" y="6725412"/>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AAA001</a:t>
            </a:r>
          </a:p>
        </p:txBody>
      </p:sp>
      <p:sp>
        <p:nvSpPr>
          <p:cNvPr id="122" name="TextBox 121">
            <a:extLst>
              <a:ext uri="{FF2B5EF4-FFF2-40B4-BE49-F238E27FC236}">
                <a16:creationId xmlns:a16="http://schemas.microsoft.com/office/drawing/2014/main" id="{AC9DC37B-75B4-43DC-58D2-8A0CD68F9668}"/>
              </a:ext>
            </a:extLst>
          </p:cNvPr>
          <p:cNvSpPr txBox="1"/>
          <p:nvPr/>
        </p:nvSpPr>
        <p:spPr>
          <a:xfrm>
            <a:off x="2152296" y="6725412"/>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5</a:t>
            </a:r>
          </a:p>
        </p:txBody>
      </p:sp>
      <p:sp>
        <p:nvSpPr>
          <p:cNvPr id="123" name="TextBox 122">
            <a:extLst>
              <a:ext uri="{FF2B5EF4-FFF2-40B4-BE49-F238E27FC236}">
                <a16:creationId xmlns:a16="http://schemas.microsoft.com/office/drawing/2014/main" id="{31E19BE4-3652-FF76-EE36-F65D61CB29E1}"/>
              </a:ext>
            </a:extLst>
          </p:cNvPr>
          <p:cNvSpPr txBox="1"/>
          <p:nvPr/>
        </p:nvSpPr>
        <p:spPr>
          <a:xfrm>
            <a:off x="3646224" y="6725412"/>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10,000</a:t>
            </a:r>
          </a:p>
        </p:txBody>
      </p:sp>
      <p:sp>
        <p:nvSpPr>
          <p:cNvPr id="124" name="TextBox 123">
            <a:extLst>
              <a:ext uri="{FF2B5EF4-FFF2-40B4-BE49-F238E27FC236}">
                <a16:creationId xmlns:a16="http://schemas.microsoft.com/office/drawing/2014/main" id="{8C1D8A8F-8234-FCC6-89DB-07155E9782FE}"/>
              </a:ext>
            </a:extLst>
          </p:cNvPr>
          <p:cNvSpPr txBox="1"/>
          <p:nvPr/>
        </p:nvSpPr>
        <p:spPr>
          <a:xfrm>
            <a:off x="5140153" y="6725412"/>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9,358</a:t>
            </a:r>
          </a:p>
        </p:txBody>
      </p:sp>
      <p:sp>
        <p:nvSpPr>
          <p:cNvPr id="125" name="TextBox 124">
            <a:extLst>
              <a:ext uri="{FF2B5EF4-FFF2-40B4-BE49-F238E27FC236}">
                <a16:creationId xmlns:a16="http://schemas.microsoft.com/office/drawing/2014/main" id="{9CA22088-7E03-00CB-C1B3-B75368869F88}"/>
              </a:ext>
            </a:extLst>
          </p:cNvPr>
          <p:cNvSpPr txBox="1"/>
          <p:nvPr/>
        </p:nvSpPr>
        <p:spPr>
          <a:xfrm>
            <a:off x="6634081" y="6725412"/>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200</a:t>
            </a:r>
          </a:p>
        </p:txBody>
      </p:sp>
      <p:sp>
        <p:nvSpPr>
          <p:cNvPr id="126" name="TextBox 125">
            <a:extLst>
              <a:ext uri="{FF2B5EF4-FFF2-40B4-BE49-F238E27FC236}">
                <a16:creationId xmlns:a16="http://schemas.microsoft.com/office/drawing/2014/main" id="{29FDCA62-7234-4B07-10EF-D805417324C2}"/>
              </a:ext>
            </a:extLst>
          </p:cNvPr>
          <p:cNvSpPr txBox="1"/>
          <p:nvPr/>
        </p:nvSpPr>
        <p:spPr>
          <a:xfrm>
            <a:off x="8128010" y="6725412"/>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C87A0B"/>
                </a:solidFill>
                <a:latin typeface="Arial"/>
              </a:rPr>
              <a:t>20</a:t>
            </a:r>
          </a:p>
        </p:txBody>
      </p:sp>
      <p:sp>
        <p:nvSpPr>
          <p:cNvPr id="127" name="TextBox 126">
            <a:extLst>
              <a:ext uri="{FF2B5EF4-FFF2-40B4-BE49-F238E27FC236}">
                <a16:creationId xmlns:a16="http://schemas.microsoft.com/office/drawing/2014/main" id="{E00D3E52-5824-8FDE-ABE6-A0B5C7F450A0}"/>
              </a:ext>
            </a:extLst>
          </p:cNvPr>
          <p:cNvSpPr txBox="1"/>
          <p:nvPr/>
        </p:nvSpPr>
        <p:spPr>
          <a:xfrm>
            <a:off x="9621938" y="6725412"/>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3E5553"/>
                </a:solidFill>
                <a:latin typeface="Arial"/>
              </a:rPr>
              <a:t>9,138</a:t>
            </a:r>
          </a:p>
        </p:txBody>
      </p:sp>
      <p:sp>
        <p:nvSpPr>
          <p:cNvPr id="128" name="TextBox 127">
            <a:extLst>
              <a:ext uri="{FF2B5EF4-FFF2-40B4-BE49-F238E27FC236}">
                <a16:creationId xmlns:a16="http://schemas.microsoft.com/office/drawing/2014/main" id="{5C256C70-97F2-980A-E9CB-8941494DE9A0}"/>
              </a:ext>
            </a:extLst>
          </p:cNvPr>
          <p:cNvSpPr txBox="1"/>
          <p:nvPr/>
        </p:nvSpPr>
        <p:spPr>
          <a:xfrm>
            <a:off x="11115867" y="6725412"/>
            <a:ext cx="1420776" cy="161583"/>
          </a:xfrm>
          <a:prstGeom prst="rect">
            <a:avLst/>
          </a:prstGeom>
          <a:noFill/>
        </p:spPr>
        <p:txBody>
          <a:bodyPr wrap="square" lIns="0" tIns="0" rIns="0" bIns="0" anchor="t">
            <a:spAutoFit/>
          </a:bodyPr>
          <a:lstStyle/>
          <a:p>
            <a:pPr algn="ctr">
              <a:lnSpc>
                <a:spcPct val="100000"/>
              </a:lnSpc>
            </a:pPr>
            <a:r>
              <a:rPr lang="es-ES_tradnl" sz="1050" b="1" i="0" noProof="0" dirty="0">
                <a:solidFill>
                  <a:srgbClr val="C87A0B"/>
                </a:solidFill>
                <a:latin typeface="Arial"/>
              </a:rPr>
              <a:t>1</a:t>
            </a:r>
          </a:p>
        </p:txBody>
      </p:sp>
      <p:sp>
        <p:nvSpPr>
          <p:cNvPr id="129" name="TextBox 128">
            <a:extLst>
              <a:ext uri="{FF2B5EF4-FFF2-40B4-BE49-F238E27FC236}">
                <a16:creationId xmlns:a16="http://schemas.microsoft.com/office/drawing/2014/main" id="{E7A1F865-E9E3-4E85-5DED-CB78130489A9}"/>
              </a:ext>
            </a:extLst>
          </p:cNvPr>
          <p:cNvSpPr txBox="1"/>
          <p:nvPr/>
        </p:nvSpPr>
        <p:spPr>
          <a:xfrm>
            <a:off x="12609795" y="6725412"/>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C87A0B"/>
                </a:solidFill>
                <a:latin typeface="Arial"/>
              </a:rPr>
              <a:t>70</a:t>
            </a:r>
          </a:p>
        </p:txBody>
      </p:sp>
      <p:sp>
        <p:nvSpPr>
          <p:cNvPr id="130" name="TextBox 129">
            <a:extLst>
              <a:ext uri="{FF2B5EF4-FFF2-40B4-BE49-F238E27FC236}">
                <a16:creationId xmlns:a16="http://schemas.microsoft.com/office/drawing/2014/main" id="{E1563EB9-24A2-F8F7-E46E-CA4455C1425D}"/>
              </a:ext>
            </a:extLst>
          </p:cNvPr>
          <p:cNvSpPr txBox="1"/>
          <p:nvPr/>
        </p:nvSpPr>
        <p:spPr>
          <a:xfrm>
            <a:off x="14103723" y="6725412"/>
            <a:ext cx="1420776" cy="161583"/>
          </a:xfrm>
          <a:prstGeom prst="rect">
            <a:avLst/>
          </a:prstGeom>
          <a:noFill/>
        </p:spPr>
        <p:txBody>
          <a:bodyPr wrap="square" lIns="0" tIns="0" rIns="0" bIns="0" anchor="t">
            <a:spAutoFit/>
          </a:bodyPr>
          <a:lstStyle/>
          <a:p>
            <a:pPr algn="ctr">
              <a:lnSpc>
                <a:spcPct val="100000"/>
              </a:lnSpc>
            </a:pPr>
            <a:r>
              <a:rPr lang="es-ES_tradnl" sz="1050" b="0" i="0" noProof="0" dirty="0">
                <a:solidFill>
                  <a:srgbClr val="C87A0B"/>
                </a:solidFill>
                <a:latin typeface="Arial"/>
              </a:rPr>
              <a:t>0.7%</a:t>
            </a:r>
          </a:p>
        </p:txBody>
      </p:sp>
      <p:sp>
        <p:nvSpPr>
          <p:cNvPr id="131" name="Rectangle 130">
            <a:extLst>
              <a:ext uri="{FF2B5EF4-FFF2-40B4-BE49-F238E27FC236}">
                <a16:creationId xmlns:a16="http://schemas.microsoft.com/office/drawing/2014/main" id="{72EA58CE-9468-55E6-EEE6-74CA665AB4E1}"/>
              </a:ext>
            </a:extLst>
          </p:cNvPr>
          <p:cNvSpPr/>
          <p:nvPr/>
        </p:nvSpPr>
        <p:spPr>
          <a:xfrm>
            <a:off x="658368" y="7187183"/>
            <a:ext cx="14939284" cy="54864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cxnSp>
        <p:nvCxnSpPr>
          <p:cNvPr id="132" name="Connector 93">
            <a:extLst>
              <a:ext uri="{FF2B5EF4-FFF2-40B4-BE49-F238E27FC236}">
                <a16:creationId xmlns:a16="http://schemas.microsoft.com/office/drawing/2014/main" id="{8C22C87D-DF60-190D-942B-CF3FF1801548}"/>
              </a:ext>
            </a:extLst>
          </p:cNvPr>
          <p:cNvCxnSpPr/>
          <p:nvPr/>
        </p:nvCxnSpPr>
        <p:spPr>
          <a:xfrm>
            <a:off x="658368" y="7187183"/>
            <a:ext cx="0" cy="548640"/>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CFE8A075-594C-92DD-FBD1-C23598DF479B}"/>
              </a:ext>
            </a:extLst>
          </p:cNvPr>
          <p:cNvSpPr txBox="1"/>
          <p:nvPr/>
        </p:nvSpPr>
        <p:spPr>
          <a:xfrm>
            <a:off x="822959" y="7258083"/>
            <a:ext cx="14610100" cy="406843"/>
          </a:xfrm>
          <a:prstGeom prst="rect">
            <a:avLst/>
          </a:prstGeom>
          <a:noFill/>
        </p:spPr>
        <p:txBody>
          <a:bodyPr wrap="square" lIns="0" tIns="0" rIns="0" bIns="0" anchor="ctr">
            <a:spAutoFit/>
          </a:bodyPr>
          <a:lstStyle/>
          <a:p>
            <a:pPr algn="l">
              <a:lnSpc>
                <a:spcPct val="112000"/>
              </a:lnSpc>
              <a:spcAft>
                <a:spcPts val="200"/>
              </a:spcAft>
            </a:pPr>
            <a:r>
              <a:rPr lang="es-ES_tradnl" sz="1200" b="1" i="0" noProof="0" dirty="0">
                <a:solidFill>
                  <a:srgbClr val="13807B"/>
                </a:solidFill>
                <a:latin typeface="Arial"/>
              </a:rPr>
              <a:t>Identificación del prepago</a:t>
            </a:r>
          </a:p>
          <a:p>
            <a:pPr algn="l">
              <a:lnSpc>
                <a:spcPct val="112000"/>
              </a:lnSpc>
              <a:spcAft>
                <a:spcPts val="200"/>
              </a:spcAft>
            </a:pPr>
            <a:r>
              <a:rPr lang="es-ES_tradnl" sz="1100" b="0" i="0" noProof="0" dirty="0">
                <a:solidFill>
                  <a:srgbClr val="3E5553"/>
                </a:solidFill>
                <a:latin typeface="Arial"/>
              </a:rPr>
              <a:t>En la base de pagos, un evento de prepago se identifica cuando la cuota registra el estado “Prepago” (</a:t>
            </a:r>
            <a:r>
              <a:rPr lang="es-ES_tradnl" sz="1100" b="0" i="0" noProof="0" dirty="0" err="1">
                <a:solidFill>
                  <a:srgbClr val="3E5553"/>
                </a:solidFill>
                <a:latin typeface="Arial"/>
              </a:rPr>
              <a:t>estado_cuota</a:t>
            </a:r>
            <a:r>
              <a:rPr lang="es-ES_tradnl" sz="1100" b="0" i="0" noProof="0" dirty="0">
                <a:solidFill>
                  <a:srgbClr val="3E5553"/>
                </a:solidFill>
                <a:latin typeface="Arial"/>
              </a:rPr>
              <a:t> = 'Prepago').</a:t>
            </a:r>
          </a:p>
        </p:txBody>
      </p:sp>
      <p:sp>
        <p:nvSpPr>
          <p:cNvPr id="134" name="Rectangle 133">
            <a:extLst>
              <a:ext uri="{FF2B5EF4-FFF2-40B4-BE49-F238E27FC236}">
                <a16:creationId xmlns:a16="http://schemas.microsoft.com/office/drawing/2014/main" id="{4175B654-1693-0F55-BB30-BE7E4CB398F0}"/>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cxnSp>
        <p:nvCxnSpPr>
          <p:cNvPr id="135" name="Connector 96">
            <a:extLst>
              <a:ext uri="{FF2B5EF4-FFF2-40B4-BE49-F238E27FC236}">
                <a16:creationId xmlns:a16="http://schemas.microsoft.com/office/drawing/2014/main" id="{6CD627B1-8F81-5B08-16C1-F6EBF054B4EE}"/>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36" name="TextBox 135">
            <a:extLst>
              <a:ext uri="{FF2B5EF4-FFF2-40B4-BE49-F238E27FC236}">
                <a16:creationId xmlns:a16="http://schemas.microsoft.com/office/drawing/2014/main" id="{8663360F-6A2C-97B1-B9C2-D555F6065B62}"/>
              </a:ext>
            </a:extLst>
          </p:cNvPr>
          <p:cNvSpPr txBox="1"/>
          <p:nvPr/>
        </p:nvSpPr>
        <p:spPr>
          <a:xfrm>
            <a:off x="896112" y="8271715"/>
            <a:ext cx="14482084" cy="226665"/>
          </a:xfrm>
          <a:prstGeom prst="rect">
            <a:avLst/>
          </a:prstGeom>
          <a:noFill/>
        </p:spPr>
        <p:txBody>
          <a:bodyPr wrap="square" lIns="0" tIns="0" rIns="0" bIns="0" anchor="ctr">
            <a:spAutoFit/>
          </a:bodyPr>
          <a:lstStyle/>
          <a:p>
            <a:pPr algn="l">
              <a:lnSpc>
                <a:spcPct val="115000"/>
              </a:lnSpc>
              <a:spcAft>
                <a:spcPts val="400"/>
              </a:spcAft>
            </a:pPr>
            <a:r>
              <a:rPr lang="es-ES_tradnl" b="1" i="0" noProof="0" dirty="0">
                <a:solidFill>
                  <a:srgbClr val="0C514E"/>
                </a:solidFill>
                <a:latin typeface="Arial"/>
              </a:rPr>
              <a:t>La misma base sirve para prepagos y </a:t>
            </a:r>
            <a:r>
              <a:rPr lang="es-ES_tradnl" b="1" i="0" noProof="0" dirty="0" err="1">
                <a:solidFill>
                  <a:srgbClr val="0C514E"/>
                </a:solidFill>
                <a:latin typeface="Arial"/>
              </a:rPr>
              <a:t>precancelaciones</a:t>
            </a:r>
            <a:r>
              <a:rPr lang="es-ES_tradnl" b="1" i="0" noProof="0" dirty="0">
                <a:solidFill>
                  <a:srgbClr val="0C514E"/>
                </a:solidFill>
                <a:latin typeface="Arial"/>
              </a:rPr>
              <a:t>: el prepago reduce saldo, la </a:t>
            </a:r>
            <a:r>
              <a:rPr lang="es-ES_tradnl" b="1" i="0" noProof="0" dirty="0" err="1">
                <a:solidFill>
                  <a:srgbClr val="0C514E"/>
                </a:solidFill>
                <a:latin typeface="Arial"/>
              </a:rPr>
              <a:t>precancelación</a:t>
            </a:r>
            <a:r>
              <a:rPr lang="es-ES_tradnl" b="1" i="0" noProof="0" dirty="0">
                <a:solidFill>
                  <a:srgbClr val="0C514E"/>
                </a:solidFill>
                <a:latin typeface="Arial"/>
              </a:rPr>
              <a:t> lo lleva a cero.</a:t>
            </a:r>
          </a:p>
        </p:txBody>
      </p:sp>
    </p:spTree>
    <p:extLst>
      <p:ext uri="{BB962C8B-B14F-4D97-AF65-F5344CB8AC3E}">
        <p14:creationId xmlns:p14="http://schemas.microsoft.com/office/powerpoint/2010/main" val="2710025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8FC96-7F0B-4876-A09B-D4469A6B0D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7C78E0F-1545-BCEC-7E6C-3041DB68F50F}"/>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E90106D3-D51A-00A2-59BE-85567093ABE9}"/>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fontScale="92500"/>
          </a:bodyPr>
          <a:lstStyle/>
          <a:p>
            <a:pPr defTabSz="1625519">
              <a:buSzPts val="4400"/>
              <a:defRPr/>
            </a:pPr>
            <a:r>
              <a:rPr lang="es-ES_tradnl" sz="3200" b="1" kern="1200" noProof="0" dirty="0">
                <a:solidFill>
                  <a:srgbClr val="13807B"/>
                </a:solidFill>
                <a:latin typeface="Poppins"/>
                <a:ea typeface="Poppins"/>
                <a:cs typeface="Poppins"/>
                <a:sym typeface="Poppins"/>
              </a:rPr>
              <a:t>Dos etapas evitan el sesgo de mirar sólo a quienes prepagaron: primero la probabilidad de prepago, luego su magnitud</a:t>
            </a:r>
          </a:p>
        </p:txBody>
      </p:sp>
      <p:cxnSp>
        <p:nvCxnSpPr>
          <p:cNvPr id="2" name="Connector 3">
            <a:extLst>
              <a:ext uri="{FF2B5EF4-FFF2-40B4-BE49-F238E27FC236}">
                <a16:creationId xmlns:a16="http://schemas.microsoft.com/office/drawing/2014/main" id="{3AF78E94-0E37-8583-4E99-0926B8315540}"/>
              </a:ext>
            </a:extLst>
          </p:cNvPr>
          <p:cNvCxnSpPr/>
          <p:nvPr/>
        </p:nvCxnSpPr>
        <p:spPr>
          <a:xfrm>
            <a:off x="637586" y="123277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27B4B67-98A8-09E4-9F21-9A72FE5CBC8E}"/>
              </a:ext>
            </a:extLst>
          </p:cNvPr>
          <p:cNvSpPr txBox="1"/>
          <p:nvPr/>
        </p:nvSpPr>
        <p:spPr>
          <a:xfrm>
            <a:off x="14683252" y="8686800"/>
            <a:ext cx="914400" cy="215444"/>
          </a:xfrm>
          <a:prstGeom prst="rect">
            <a:avLst/>
          </a:prstGeom>
          <a:noFill/>
        </p:spPr>
        <p:txBody>
          <a:bodyPr wrap="square" lIns="0" tIns="0" rIns="0" bIns="0" anchor="t">
            <a:spAutoFit/>
          </a:bodyPr>
          <a:lstStyle/>
          <a:p>
            <a:pPr algn="r">
              <a:lnSpc>
                <a:spcPct val="100000"/>
              </a:lnSpc>
            </a:pPr>
            <a:r>
              <a:rPr lang="es-ES_tradnl" b="0" i="0" noProof="0" dirty="0">
                <a:solidFill>
                  <a:srgbClr val="9AA8A7"/>
                </a:solidFill>
                <a:latin typeface="Arial"/>
              </a:rPr>
              <a:t>5</a:t>
            </a:r>
          </a:p>
        </p:txBody>
      </p:sp>
      <p:sp>
        <p:nvSpPr>
          <p:cNvPr id="8" name="Rectangle 7">
            <a:extLst>
              <a:ext uri="{FF2B5EF4-FFF2-40B4-BE49-F238E27FC236}">
                <a16:creationId xmlns:a16="http://schemas.microsoft.com/office/drawing/2014/main" id="{F0209C6F-1487-0309-9E85-04FE03F56AD6}"/>
              </a:ext>
            </a:extLst>
          </p:cNvPr>
          <p:cNvSpPr/>
          <p:nvPr/>
        </p:nvSpPr>
        <p:spPr>
          <a:xfrm>
            <a:off x="658368" y="1627632"/>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cxnSp>
        <p:nvCxnSpPr>
          <p:cNvPr id="9" name="Connector 8">
            <a:extLst>
              <a:ext uri="{FF2B5EF4-FFF2-40B4-BE49-F238E27FC236}">
                <a16:creationId xmlns:a16="http://schemas.microsoft.com/office/drawing/2014/main" id="{032A5816-3740-2C13-2167-0B58EDA876DA}"/>
              </a:ext>
            </a:extLst>
          </p:cNvPr>
          <p:cNvCxnSpPr/>
          <p:nvPr/>
        </p:nvCxnSpPr>
        <p:spPr>
          <a:xfrm>
            <a:off x="658368" y="1627632"/>
            <a:ext cx="0" cy="475488"/>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AB6DDFF6-BA79-A4E0-D653-81D1FDF152B9}"/>
              </a:ext>
            </a:extLst>
          </p:cNvPr>
          <p:cNvSpPr txBox="1"/>
          <p:nvPr/>
        </p:nvSpPr>
        <p:spPr>
          <a:xfrm>
            <a:off x="822959" y="1603736"/>
            <a:ext cx="14610100" cy="523285"/>
          </a:xfrm>
          <a:prstGeom prst="rect">
            <a:avLst/>
          </a:prstGeom>
          <a:noFill/>
        </p:spPr>
        <p:txBody>
          <a:bodyPr wrap="square" lIns="0" tIns="0" rIns="0" bIns="0" anchor="ctr">
            <a:spAutoFit/>
          </a:bodyPr>
          <a:lstStyle/>
          <a:p>
            <a:pPr algn="l">
              <a:lnSpc>
                <a:spcPct val="112000"/>
              </a:lnSpc>
              <a:spcAft>
                <a:spcPts val="200"/>
              </a:spcAft>
            </a:pPr>
            <a:r>
              <a:rPr lang="es-ES_tradnl" sz="1600" b="1" i="0" noProof="0" dirty="0">
                <a:solidFill>
                  <a:srgbClr val="13807B"/>
                </a:solidFill>
                <a:latin typeface="Arial"/>
              </a:rPr>
              <a:t>Enfoque</a:t>
            </a:r>
          </a:p>
          <a:p>
            <a:pPr algn="l">
              <a:lnSpc>
                <a:spcPct val="112000"/>
              </a:lnSpc>
              <a:spcAft>
                <a:spcPts val="200"/>
              </a:spcAft>
            </a:pPr>
            <a:r>
              <a:rPr lang="es-ES_tradnl" b="0" i="0" noProof="0" dirty="0">
                <a:solidFill>
                  <a:srgbClr val="3E5553"/>
                </a:solidFill>
                <a:latin typeface="Arial"/>
              </a:rPr>
              <a:t>La metodología se desarrolla en dos etapas: primero estima la probabilidad de prepago y luego la magnitud % del prepago.</a:t>
            </a:r>
          </a:p>
        </p:txBody>
      </p:sp>
      <p:sp>
        <p:nvSpPr>
          <p:cNvPr id="11" name="Rectangle 10">
            <a:extLst>
              <a:ext uri="{FF2B5EF4-FFF2-40B4-BE49-F238E27FC236}">
                <a16:creationId xmlns:a16="http://schemas.microsoft.com/office/drawing/2014/main" id="{536B5CF0-4915-B629-A4A7-9C05A3E8D6C5}"/>
              </a:ext>
            </a:extLst>
          </p:cNvPr>
          <p:cNvSpPr/>
          <p:nvPr/>
        </p:nvSpPr>
        <p:spPr>
          <a:xfrm>
            <a:off x="658368" y="2304288"/>
            <a:ext cx="3570229" cy="557784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12" name="Rectangle 11">
            <a:extLst>
              <a:ext uri="{FF2B5EF4-FFF2-40B4-BE49-F238E27FC236}">
                <a16:creationId xmlns:a16="http://schemas.microsoft.com/office/drawing/2014/main" id="{F1E588C3-7ACD-653F-019F-29CE0FE11740}"/>
              </a:ext>
            </a:extLst>
          </p:cNvPr>
          <p:cNvSpPr/>
          <p:nvPr/>
        </p:nvSpPr>
        <p:spPr>
          <a:xfrm>
            <a:off x="658368" y="2304288"/>
            <a:ext cx="3570229"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13" name="Rectangle 12">
            <a:extLst>
              <a:ext uri="{FF2B5EF4-FFF2-40B4-BE49-F238E27FC236}">
                <a16:creationId xmlns:a16="http://schemas.microsoft.com/office/drawing/2014/main" id="{B118D4D4-8E29-48E1-3CCA-B73E290061EF}"/>
              </a:ext>
            </a:extLst>
          </p:cNvPr>
          <p:cNvSpPr/>
          <p:nvPr/>
        </p:nvSpPr>
        <p:spPr>
          <a:xfrm>
            <a:off x="841247" y="2595216"/>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FFFFFF"/>
                </a:solidFill>
                <a:latin typeface="Arial"/>
              </a:rPr>
              <a:t>1</a:t>
            </a:r>
          </a:p>
        </p:txBody>
      </p:sp>
      <p:sp>
        <p:nvSpPr>
          <p:cNvPr id="14" name="TextBox 13">
            <a:extLst>
              <a:ext uri="{FF2B5EF4-FFF2-40B4-BE49-F238E27FC236}">
                <a16:creationId xmlns:a16="http://schemas.microsoft.com/office/drawing/2014/main" id="{25536F5E-D685-89E8-ECCD-A21034C10AC1}"/>
              </a:ext>
            </a:extLst>
          </p:cNvPr>
          <p:cNvSpPr txBox="1"/>
          <p:nvPr/>
        </p:nvSpPr>
        <p:spPr>
          <a:xfrm>
            <a:off x="1225295" y="2455377"/>
            <a:ext cx="2820421" cy="553998"/>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Arial"/>
              </a:rPr>
              <a:t>Horizonte óptimo de observación</a:t>
            </a:r>
          </a:p>
        </p:txBody>
      </p:sp>
      <p:sp>
        <p:nvSpPr>
          <p:cNvPr id="15" name="TextBox 14">
            <a:extLst>
              <a:ext uri="{FF2B5EF4-FFF2-40B4-BE49-F238E27FC236}">
                <a16:creationId xmlns:a16="http://schemas.microsoft.com/office/drawing/2014/main" id="{13F2D000-4A15-FCA5-5C45-25F46E2F27FF}"/>
              </a:ext>
            </a:extLst>
          </p:cNvPr>
          <p:cNvSpPr txBox="1"/>
          <p:nvPr/>
        </p:nvSpPr>
        <p:spPr>
          <a:xfrm>
            <a:off x="841247" y="3166375"/>
            <a:ext cx="3204469" cy="775469"/>
          </a:xfrm>
          <a:prstGeom prst="rect">
            <a:avLst/>
          </a:prstGeom>
          <a:noFill/>
        </p:spPr>
        <p:txBody>
          <a:bodyPr wrap="square" lIns="0" tIns="0" rIns="0" bIns="0" anchor="t">
            <a:spAutoFit/>
          </a:bodyPr>
          <a:lstStyle/>
          <a:p>
            <a:pPr algn="l">
              <a:lnSpc>
                <a:spcPct val="124000"/>
              </a:lnSpc>
            </a:pPr>
            <a:r>
              <a:rPr lang="es-ES_tradnl" b="0" i="0" noProof="0" dirty="0">
                <a:solidFill>
                  <a:srgbClr val="3E5553"/>
                </a:solidFill>
                <a:latin typeface="Arial"/>
              </a:rPr>
              <a:t>Se determina el horizonte para evaluar si un crédito realizará al menos un prepago (T prepago).</a:t>
            </a:r>
          </a:p>
        </p:txBody>
      </p:sp>
      <p:pic>
        <p:nvPicPr>
          <p:cNvPr id="16" name="Picture 15" descr="prep_rec.png">
            <a:extLst>
              <a:ext uri="{FF2B5EF4-FFF2-40B4-BE49-F238E27FC236}">
                <a16:creationId xmlns:a16="http://schemas.microsoft.com/office/drawing/2014/main" id="{CD5EEEDD-1DB9-3588-A00B-CB7104A7A602}"/>
              </a:ext>
            </a:extLst>
          </p:cNvPr>
          <p:cNvPicPr>
            <a:picLocks noChangeAspect="1"/>
          </p:cNvPicPr>
          <p:nvPr/>
        </p:nvPicPr>
        <p:blipFill>
          <a:blip r:embed="rId3"/>
          <a:stretch>
            <a:fillRect/>
          </a:stretch>
        </p:blipFill>
        <p:spPr>
          <a:xfrm>
            <a:off x="877824" y="4041648"/>
            <a:ext cx="3131317" cy="1779157"/>
          </a:xfrm>
          <a:prstGeom prst="rect">
            <a:avLst/>
          </a:prstGeom>
        </p:spPr>
      </p:pic>
      <p:sp>
        <p:nvSpPr>
          <p:cNvPr id="17" name="TextBox 16">
            <a:extLst>
              <a:ext uri="{FF2B5EF4-FFF2-40B4-BE49-F238E27FC236}">
                <a16:creationId xmlns:a16="http://schemas.microsoft.com/office/drawing/2014/main" id="{17B7AEEC-37D6-E87B-5076-FBAEBD15917A}"/>
              </a:ext>
            </a:extLst>
          </p:cNvPr>
          <p:cNvSpPr txBox="1"/>
          <p:nvPr/>
        </p:nvSpPr>
        <p:spPr>
          <a:xfrm>
            <a:off x="841247" y="6144768"/>
            <a:ext cx="3204469" cy="644407"/>
          </a:xfrm>
          <a:prstGeom prst="rect">
            <a:avLst/>
          </a:prstGeom>
          <a:noFill/>
        </p:spPr>
        <p:txBody>
          <a:bodyPr wrap="square" lIns="0" tIns="0" rIns="0" bIns="0" anchor="t">
            <a:spAutoFit/>
          </a:bodyPr>
          <a:lstStyle/>
          <a:p>
            <a:pPr algn="l">
              <a:lnSpc>
                <a:spcPct val="120000"/>
              </a:lnSpc>
            </a:pPr>
            <a:r>
              <a:rPr lang="es-ES_tradnl" sz="1200" b="0" i="0" noProof="0" dirty="0">
                <a:solidFill>
                  <a:srgbClr val="6E7E7D"/>
                </a:solidFill>
                <a:latin typeface="Arial"/>
              </a:rPr>
              <a:t>Se analiza el % acumulado de prepagos por mes de maduración, identificando el mes donde el incremento es marginal.</a:t>
            </a:r>
          </a:p>
        </p:txBody>
      </p:sp>
      <p:sp>
        <p:nvSpPr>
          <p:cNvPr id="18" name="Rectangle 17">
            <a:extLst>
              <a:ext uri="{FF2B5EF4-FFF2-40B4-BE49-F238E27FC236}">
                <a16:creationId xmlns:a16="http://schemas.microsoft.com/office/drawing/2014/main" id="{CBC8F89A-109B-8B74-3587-2BBF3511B3F7}"/>
              </a:ext>
            </a:extLst>
          </p:cNvPr>
          <p:cNvSpPr/>
          <p:nvPr/>
        </p:nvSpPr>
        <p:spPr>
          <a:xfrm>
            <a:off x="841247" y="6583679"/>
            <a:ext cx="3204469" cy="109728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19" name="TextBox 18">
            <a:extLst>
              <a:ext uri="{FF2B5EF4-FFF2-40B4-BE49-F238E27FC236}">
                <a16:creationId xmlns:a16="http://schemas.microsoft.com/office/drawing/2014/main" id="{4331246A-461E-1D8D-7D20-D829835A7005}"/>
              </a:ext>
            </a:extLst>
          </p:cNvPr>
          <p:cNvSpPr txBox="1"/>
          <p:nvPr/>
        </p:nvSpPr>
        <p:spPr>
          <a:xfrm>
            <a:off x="969264" y="6819260"/>
            <a:ext cx="2948437" cy="644407"/>
          </a:xfrm>
          <a:prstGeom prst="rect">
            <a:avLst/>
          </a:prstGeom>
          <a:noFill/>
        </p:spPr>
        <p:txBody>
          <a:bodyPr wrap="square" lIns="0" tIns="0" rIns="0" bIns="0" anchor="ctr">
            <a:spAutoFit/>
          </a:bodyPr>
          <a:lstStyle/>
          <a:p>
            <a:pPr algn="l">
              <a:lnSpc>
                <a:spcPct val="120000"/>
              </a:lnSpc>
              <a:spcAft>
                <a:spcPts val="400"/>
              </a:spcAft>
            </a:pPr>
            <a:r>
              <a:rPr lang="es-ES_tradnl" sz="1200" b="0" i="0" noProof="0" dirty="0">
                <a:solidFill>
                  <a:srgbClr val="6E7E7D"/>
                </a:solidFill>
                <a:latin typeface="Arial"/>
              </a:rPr>
              <a:t>Cada crédito aparece una sola vez, indicando si realizó o no al menos un prepago dentro del horizonte.</a:t>
            </a:r>
          </a:p>
        </p:txBody>
      </p:sp>
      <p:cxnSp>
        <p:nvCxnSpPr>
          <p:cNvPr id="20" name="Connector 19">
            <a:extLst>
              <a:ext uri="{FF2B5EF4-FFF2-40B4-BE49-F238E27FC236}">
                <a16:creationId xmlns:a16="http://schemas.microsoft.com/office/drawing/2014/main" id="{91B595C8-5A8B-9CFB-8662-0629A9C27E23}"/>
              </a:ext>
            </a:extLst>
          </p:cNvPr>
          <p:cNvCxnSpPr/>
          <p:nvPr/>
        </p:nvCxnSpPr>
        <p:spPr>
          <a:xfrm>
            <a:off x="4256029" y="5093208"/>
            <a:ext cx="164592" cy="0"/>
          </a:xfrm>
          <a:prstGeom prst="line">
            <a:avLst/>
          </a:prstGeom>
          <a:ln w="19050">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12C87E4A-8EB8-6671-12D1-0D6F6FA6D7CF}"/>
              </a:ext>
            </a:extLst>
          </p:cNvPr>
          <p:cNvSpPr/>
          <p:nvPr/>
        </p:nvSpPr>
        <p:spPr>
          <a:xfrm>
            <a:off x="4448053" y="2304288"/>
            <a:ext cx="3570229" cy="557784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22" name="Rectangle 21">
            <a:extLst>
              <a:ext uri="{FF2B5EF4-FFF2-40B4-BE49-F238E27FC236}">
                <a16:creationId xmlns:a16="http://schemas.microsoft.com/office/drawing/2014/main" id="{5685B8D6-2D1A-AEBC-02C5-557631DCD003}"/>
              </a:ext>
            </a:extLst>
          </p:cNvPr>
          <p:cNvSpPr/>
          <p:nvPr/>
        </p:nvSpPr>
        <p:spPr>
          <a:xfrm>
            <a:off x="4448053" y="2304288"/>
            <a:ext cx="3570229"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23" name="Rectangle 22">
            <a:extLst>
              <a:ext uri="{FF2B5EF4-FFF2-40B4-BE49-F238E27FC236}">
                <a16:creationId xmlns:a16="http://schemas.microsoft.com/office/drawing/2014/main" id="{270FD7D2-B6CD-0570-F1BA-9B219777E4AC}"/>
              </a:ext>
            </a:extLst>
          </p:cNvPr>
          <p:cNvSpPr/>
          <p:nvPr/>
        </p:nvSpPr>
        <p:spPr>
          <a:xfrm>
            <a:off x="4630933" y="2595216"/>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FFFFFF"/>
                </a:solidFill>
                <a:latin typeface="Arial"/>
              </a:rPr>
              <a:t>2</a:t>
            </a:r>
          </a:p>
        </p:txBody>
      </p:sp>
      <p:sp>
        <p:nvSpPr>
          <p:cNvPr id="24" name="TextBox 23">
            <a:extLst>
              <a:ext uri="{FF2B5EF4-FFF2-40B4-BE49-F238E27FC236}">
                <a16:creationId xmlns:a16="http://schemas.microsoft.com/office/drawing/2014/main" id="{37FC21AA-2C98-2B98-E147-7FC0D58A2870}"/>
              </a:ext>
            </a:extLst>
          </p:cNvPr>
          <p:cNvSpPr txBox="1"/>
          <p:nvPr/>
        </p:nvSpPr>
        <p:spPr>
          <a:xfrm>
            <a:off x="5014981" y="2455377"/>
            <a:ext cx="2820421" cy="553998"/>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Arial"/>
              </a:rPr>
              <a:t>Probabilidad acumulada de prepago</a:t>
            </a:r>
          </a:p>
        </p:txBody>
      </p:sp>
      <p:sp>
        <p:nvSpPr>
          <p:cNvPr id="25" name="TextBox 24">
            <a:extLst>
              <a:ext uri="{FF2B5EF4-FFF2-40B4-BE49-F238E27FC236}">
                <a16:creationId xmlns:a16="http://schemas.microsoft.com/office/drawing/2014/main" id="{9E0DFFF2-8C85-3688-DBF0-964D8A8AE01F}"/>
              </a:ext>
            </a:extLst>
          </p:cNvPr>
          <p:cNvSpPr txBox="1"/>
          <p:nvPr/>
        </p:nvSpPr>
        <p:spPr>
          <a:xfrm>
            <a:off x="4630933" y="3166375"/>
            <a:ext cx="3204469" cy="775469"/>
          </a:xfrm>
          <a:prstGeom prst="rect">
            <a:avLst/>
          </a:prstGeom>
          <a:noFill/>
        </p:spPr>
        <p:txBody>
          <a:bodyPr wrap="square" lIns="0" tIns="0" rIns="0" bIns="0" anchor="t">
            <a:spAutoFit/>
          </a:bodyPr>
          <a:lstStyle/>
          <a:p>
            <a:pPr algn="l">
              <a:lnSpc>
                <a:spcPct val="124000"/>
              </a:lnSpc>
            </a:pPr>
            <a:r>
              <a:rPr lang="es-ES_tradnl" b="0" i="0" noProof="0" dirty="0">
                <a:solidFill>
                  <a:srgbClr val="3E5553"/>
                </a:solidFill>
                <a:latin typeface="Arial"/>
              </a:rPr>
              <a:t>Se estima la probabilidad de que un crédito realice al menos un prepago dentro del horizonte definido.</a:t>
            </a:r>
          </a:p>
        </p:txBody>
      </p:sp>
      <p:sp>
        <p:nvSpPr>
          <p:cNvPr id="26" name="Rectangle 25">
            <a:extLst>
              <a:ext uri="{FF2B5EF4-FFF2-40B4-BE49-F238E27FC236}">
                <a16:creationId xmlns:a16="http://schemas.microsoft.com/office/drawing/2014/main" id="{6D28D02B-10CD-5373-EB14-A13634FCB6ED}"/>
              </a:ext>
            </a:extLst>
          </p:cNvPr>
          <p:cNvSpPr/>
          <p:nvPr/>
        </p:nvSpPr>
        <p:spPr>
          <a:xfrm>
            <a:off x="4630933" y="4315968"/>
            <a:ext cx="3204469" cy="84124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20000"/>
              </a:lnSpc>
            </a:pPr>
            <a:r>
              <a:rPr lang="es-ES_tradnl" b="1" i="0" noProof="0" dirty="0">
                <a:solidFill>
                  <a:srgbClr val="0C514E"/>
                </a:solidFill>
                <a:latin typeface="Arial"/>
              </a:rPr>
              <a:t>PP(T prepago)  =  1 / (1 + </a:t>
            </a:r>
            <a:r>
              <a:rPr lang="es-ES_tradnl" b="1" i="0" noProof="0" dirty="0" err="1">
                <a:solidFill>
                  <a:srgbClr val="0C514E"/>
                </a:solidFill>
                <a:latin typeface="Arial"/>
              </a:rPr>
              <a:t>exp</a:t>
            </a:r>
            <a:r>
              <a:rPr lang="es-ES_tradnl" b="1" i="0" noProof="0" dirty="0">
                <a:solidFill>
                  <a:srgbClr val="0C514E"/>
                </a:solidFill>
                <a:latin typeface="Arial"/>
              </a:rPr>
              <a:t>(−(β₀ + </a:t>
            </a:r>
            <a:r>
              <a:rPr lang="es-ES_tradnl" b="1" i="0" noProof="0" dirty="0" err="1">
                <a:solidFill>
                  <a:srgbClr val="0C514E"/>
                </a:solidFill>
                <a:latin typeface="Arial"/>
              </a:rPr>
              <a:t>Σ</a:t>
            </a:r>
            <a:r>
              <a:rPr lang="es-ES_tradnl" b="1" i="0" noProof="0" dirty="0">
                <a:solidFill>
                  <a:srgbClr val="0C514E"/>
                </a:solidFill>
                <a:latin typeface="Arial"/>
              </a:rPr>
              <a:t> βᵢ · Xᵢ)))</a:t>
            </a:r>
          </a:p>
        </p:txBody>
      </p:sp>
      <p:sp>
        <p:nvSpPr>
          <p:cNvPr id="27" name="Rectangle 26">
            <a:extLst>
              <a:ext uri="{FF2B5EF4-FFF2-40B4-BE49-F238E27FC236}">
                <a16:creationId xmlns:a16="http://schemas.microsoft.com/office/drawing/2014/main" id="{7BAE5B28-7FF8-DA27-CDCE-21C83F2B3E41}"/>
              </a:ext>
            </a:extLst>
          </p:cNvPr>
          <p:cNvSpPr/>
          <p:nvPr/>
        </p:nvSpPr>
        <p:spPr>
          <a:xfrm>
            <a:off x="4630933" y="6583679"/>
            <a:ext cx="3204469" cy="109728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28" name="TextBox 27">
            <a:extLst>
              <a:ext uri="{FF2B5EF4-FFF2-40B4-BE49-F238E27FC236}">
                <a16:creationId xmlns:a16="http://schemas.microsoft.com/office/drawing/2014/main" id="{CB22D9D4-D643-26BA-DEF2-3A314F5867BA}"/>
              </a:ext>
            </a:extLst>
          </p:cNvPr>
          <p:cNvSpPr txBox="1"/>
          <p:nvPr/>
        </p:nvSpPr>
        <p:spPr>
          <a:xfrm>
            <a:off x="4758949" y="6930060"/>
            <a:ext cx="2948437" cy="422808"/>
          </a:xfrm>
          <a:prstGeom prst="rect">
            <a:avLst/>
          </a:prstGeom>
          <a:noFill/>
        </p:spPr>
        <p:txBody>
          <a:bodyPr wrap="square" lIns="0" tIns="0" rIns="0" bIns="0" anchor="ctr">
            <a:spAutoFit/>
          </a:bodyPr>
          <a:lstStyle/>
          <a:p>
            <a:pPr algn="l">
              <a:lnSpc>
                <a:spcPct val="120000"/>
              </a:lnSpc>
              <a:spcAft>
                <a:spcPts val="400"/>
              </a:spcAft>
            </a:pPr>
            <a:r>
              <a:rPr lang="es-ES_tradnl" sz="1200" b="0" i="0" noProof="0" dirty="0">
                <a:solidFill>
                  <a:srgbClr val="6E7E7D"/>
                </a:solidFill>
                <a:latin typeface="Arial"/>
              </a:rPr>
              <a:t>Modelo logístico sobre las variables disponibles en </a:t>
            </a:r>
            <a:r>
              <a:rPr lang="es-ES_tradnl" sz="1200" b="0" i="0" noProof="0" dirty="0" err="1">
                <a:solidFill>
                  <a:srgbClr val="6E7E7D"/>
                </a:solidFill>
                <a:latin typeface="Arial"/>
              </a:rPr>
              <a:t>originación</a:t>
            </a:r>
            <a:r>
              <a:rPr lang="es-ES_tradnl" sz="1200" b="0" i="0" noProof="0" dirty="0">
                <a:solidFill>
                  <a:srgbClr val="6E7E7D"/>
                </a:solidFill>
                <a:latin typeface="Arial"/>
              </a:rPr>
              <a:t>.</a:t>
            </a:r>
          </a:p>
        </p:txBody>
      </p:sp>
      <p:cxnSp>
        <p:nvCxnSpPr>
          <p:cNvPr id="29" name="Connector 28">
            <a:extLst>
              <a:ext uri="{FF2B5EF4-FFF2-40B4-BE49-F238E27FC236}">
                <a16:creationId xmlns:a16="http://schemas.microsoft.com/office/drawing/2014/main" id="{F7E59673-2C14-D0F8-E280-CD001709D6B9}"/>
              </a:ext>
            </a:extLst>
          </p:cNvPr>
          <p:cNvCxnSpPr/>
          <p:nvPr/>
        </p:nvCxnSpPr>
        <p:spPr>
          <a:xfrm>
            <a:off x="8045714" y="5093208"/>
            <a:ext cx="164592" cy="0"/>
          </a:xfrm>
          <a:prstGeom prst="line">
            <a:avLst/>
          </a:prstGeom>
          <a:ln w="19050">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F6304C40-9325-8BA7-E6AB-CE46F5AC8451}"/>
              </a:ext>
            </a:extLst>
          </p:cNvPr>
          <p:cNvSpPr/>
          <p:nvPr/>
        </p:nvSpPr>
        <p:spPr>
          <a:xfrm>
            <a:off x="8237738" y="2304288"/>
            <a:ext cx="3570229" cy="557784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31" name="Rectangle 30">
            <a:extLst>
              <a:ext uri="{FF2B5EF4-FFF2-40B4-BE49-F238E27FC236}">
                <a16:creationId xmlns:a16="http://schemas.microsoft.com/office/drawing/2014/main" id="{4FBC9F87-A6A8-6AED-AB16-B1B4FCF798FA}"/>
              </a:ext>
            </a:extLst>
          </p:cNvPr>
          <p:cNvSpPr/>
          <p:nvPr/>
        </p:nvSpPr>
        <p:spPr>
          <a:xfrm>
            <a:off x="8237738" y="2304288"/>
            <a:ext cx="3570229" cy="36576"/>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32" name="Rectangle 31">
            <a:extLst>
              <a:ext uri="{FF2B5EF4-FFF2-40B4-BE49-F238E27FC236}">
                <a16:creationId xmlns:a16="http://schemas.microsoft.com/office/drawing/2014/main" id="{20A04239-A02D-7802-E2A7-262C3E575608}"/>
              </a:ext>
            </a:extLst>
          </p:cNvPr>
          <p:cNvSpPr/>
          <p:nvPr/>
        </p:nvSpPr>
        <p:spPr>
          <a:xfrm>
            <a:off x="8420618" y="2595216"/>
            <a:ext cx="274320" cy="2743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FFFFFF"/>
                </a:solidFill>
                <a:latin typeface="Arial"/>
              </a:rPr>
              <a:t>3</a:t>
            </a:r>
          </a:p>
        </p:txBody>
      </p:sp>
      <p:sp>
        <p:nvSpPr>
          <p:cNvPr id="33" name="TextBox 32">
            <a:extLst>
              <a:ext uri="{FF2B5EF4-FFF2-40B4-BE49-F238E27FC236}">
                <a16:creationId xmlns:a16="http://schemas.microsoft.com/office/drawing/2014/main" id="{E726D089-6E4C-C797-C673-3DAF0E06B49E}"/>
              </a:ext>
            </a:extLst>
          </p:cNvPr>
          <p:cNvSpPr txBox="1"/>
          <p:nvPr/>
        </p:nvSpPr>
        <p:spPr>
          <a:xfrm>
            <a:off x="8804666" y="2593877"/>
            <a:ext cx="2820421"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Arial"/>
              </a:rPr>
              <a:t>Magnitud % del prepago</a:t>
            </a:r>
          </a:p>
        </p:txBody>
      </p:sp>
      <p:sp>
        <p:nvSpPr>
          <p:cNvPr id="34" name="TextBox 33">
            <a:extLst>
              <a:ext uri="{FF2B5EF4-FFF2-40B4-BE49-F238E27FC236}">
                <a16:creationId xmlns:a16="http://schemas.microsoft.com/office/drawing/2014/main" id="{42D4412D-BE21-E177-D080-F355A03BF711}"/>
              </a:ext>
            </a:extLst>
          </p:cNvPr>
          <p:cNvSpPr txBox="1"/>
          <p:nvPr/>
        </p:nvSpPr>
        <p:spPr>
          <a:xfrm>
            <a:off x="8420618" y="3166375"/>
            <a:ext cx="3204469" cy="775469"/>
          </a:xfrm>
          <a:prstGeom prst="rect">
            <a:avLst/>
          </a:prstGeom>
          <a:noFill/>
        </p:spPr>
        <p:txBody>
          <a:bodyPr wrap="square" lIns="0" tIns="0" rIns="0" bIns="0" anchor="t">
            <a:spAutoFit/>
          </a:bodyPr>
          <a:lstStyle/>
          <a:p>
            <a:pPr algn="l">
              <a:lnSpc>
                <a:spcPct val="124000"/>
              </a:lnSpc>
            </a:pPr>
            <a:r>
              <a:rPr lang="es-ES_tradnl" b="0" i="0" noProof="0" dirty="0">
                <a:solidFill>
                  <a:srgbClr val="3E5553"/>
                </a:solidFill>
                <a:latin typeface="Arial"/>
              </a:rPr>
              <a:t>Se estima la magnitud acumulada como % del monto desembolsado que ha sido prepagado.</a:t>
            </a:r>
          </a:p>
        </p:txBody>
      </p:sp>
      <p:sp>
        <p:nvSpPr>
          <p:cNvPr id="35" name="Rectangle 34">
            <a:extLst>
              <a:ext uri="{FF2B5EF4-FFF2-40B4-BE49-F238E27FC236}">
                <a16:creationId xmlns:a16="http://schemas.microsoft.com/office/drawing/2014/main" id="{4F0A4273-94FF-3C31-1962-C9CC273B0832}"/>
              </a:ext>
            </a:extLst>
          </p:cNvPr>
          <p:cNvSpPr/>
          <p:nvPr/>
        </p:nvSpPr>
        <p:spPr>
          <a:xfrm>
            <a:off x="8420618" y="4315968"/>
            <a:ext cx="3204469" cy="841248"/>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20000"/>
              </a:lnSpc>
            </a:pPr>
            <a:r>
              <a:rPr lang="es-ES_tradnl" b="1" i="0" noProof="0" dirty="0">
                <a:solidFill>
                  <a:srgbClr val="C87A0B"/>
                </a:solidFill>
                <a:latin typeface="Arial"/>
              </a:rPr>
              <a:t>Mₜ  =  α₀ + </a:t>
            </a:r>
            <a:r>
              <a:rPr lang="es-ES_tradnl" b="1" i="0" noProof="0" dirty="0" err="1">
                <a:solidFill>
                  <a:srgbClr val="C87A0B"/>
                </a:solidFill>
                <a:latin typeface="Arial"/>
              </a:rPr>
              <a:t>γ</a:t>
            </a:r>
            <a:r>
              <a:rPr lang="es-ES_tradnl" b="1" i="0" noProof="0" dirty="0">
                <a:solidFill>
                  <a:srgbClr val="C87A0B"/>
                </a:solidFill>
                <a:latin typeface="Arial"/>
              </a:rPr>
              <a:t> · Mₜ₋₁ + </a:t>
            </a:r>
            <a:r>
              <a:rPr lang="es-ES_tradnl" b="1" i="0" noProof="0" dirty="0" err="1">
                <a:solidFill>
                  <a:srgbClr val="C87A0B"/>
                </a:solidFill>
                <a:latin typeface="Arial"/>
              </a:rPr>
              <a:t>Σ</a:t>
            </a:r>
            <a:r>
              <a:rPr lang="es-ES_tradnl" b="1" i="0" noProof="0" dirty="0">
                <a:solidFill>
                  <a:srgbClr val="C87A0B"/>
                </a:solidFill>
                <a:latin typeface="Arial"/>
              </a:rPr>
              <a:t> αᵢ · Xᵢ</a:t>
            </a:r>
          </a:p>
        </p:txBody>
      </p:sp>
      <p:sp>
        <p:nvSpPr>
          <p:cNvPr id="36" name="Rectangle 35">
            <a:extLst>
              <a:ext uri="{FF2B5EF4-FFF2-40B4-BE49-F238E27FC236}">
                <a16:creationId xmlns:a16="http://schemas.microsoft.com/office/drawing/2014/main" id="{FEFFD577-CC3D-13CD-9858-39E4BB3EE164}"/>
              </a:ext>
            </a:extLst>
          </p:cNvPr>
          <p:cNvSpPr/>
          <p:nvPr/>
        </p:nvSpPr>
        <p:spPr>
          <a:xfrm>
            <a:off x="8420618" y="6583679"/>
            <a:ext cx="3204469" cy="109728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37" name="TextBox 36">
            <a:extLst>
              <a:ext uri="{FF2B5EF4-FFF2-40B4-BE49-F238E27FC236}">
                <a16:creationId xmlns:a16="http://schemas.microsoft.com/office/drawing/2014/main" id="{8B9D5EC8-8A87-7F6A-479B-0B8639DEB912}"/>
              </a:ext>
            </a:extLst>
          </p:cNvPr>
          <p:cNvSpPr txBox="1"/>
          <p:nvPr/>
        </p:nvSpPr>
        <p:spPr>
          <a:xfrm>
            <a:off x="8548634" y="6597661"/>
            <a:ext cx="2948437" cy="1087605"/>
          </a:xfrm>
          <a:prstGeom prst="rect">
            <a:avLst/>
          </a:prstGeom>
          <a:noFill/>
        </p:spPr>
        <p:txBody>
          <a:bodyPr wrap="square" lIns="0" tIns="0" rIns="0" bIns="0" anchor="ctr">
            <a:spAutoFit/>
          </a:bodyPr>
          <a:lstStyle/>
          <a:p>
            <a:pPr algn="l">
              <a:lnSpc>
                <a:spcPct val="120000"/>
              </a:lnSpc>
              <a:spcAft>
                <a:spcPts val="400"/>
              </a:spcAft>
            </a:pPr>
            <a:r>
              <a:rPr lang="es-ES_tradnl" sz="1200" b="0" i="0" noProof="0" dirty="0">
                <a:solidFill>
                  <a:srgbClr val="6E7E7D"/>
                </a:solidFill>
                <a:latin typeface="Arial"/>
              </a:rPr>
              <a:t>Panel dinámico de efectos aleatorios, sólo clientes con al menos un prepago; la estimación inicia en la segunda maduración. Ingresan sólo las variables significativas.</a:t>
            </a:r>
          </a:p>
        </p:txBody>
      </p:sp>
      <p:cxnSp>
        <p:nvCxnSpPr>
          <p:cNvPr id="38" name="Connector 37">
            <a:extLst>
              <a:ext uri="{FF2B5EF4-FFF2-40B4-BE49-F238E27FC236}">
                <a16:creationId xmlns:a16="http://schemas.microsoft.com/office/drawing/2014/main" id="{2E2296AA-DBC9-C18E-3071-653D6562BD19}"/>
              </a:ext>
            </a:extLst>
          </p:cNvPr>
          <p:cNvCxnSpPr/>
          <p:nvPr/>
        </p:nvCxnSpPr>
        <p:spPr>
          <a:xfrm>
            <a:off x="11835399" y="5093208"/>
            <a:ext cx="164592" cy="0"/>
          </a:xfrm>
          <a:prstGeom prst="line">
            <a:avLst/>
          </a:prstGeom>
          <a:ln w="19050">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203821BF-3748-1599-56F7-C3228E18911C}"/>
              </a:ext>
            </a:extLst>
          </p:cNvPr>
          <p:cNvSpPr/>
          <p:nvPr/>
        </p:nvSpPr>
        <p:spPr>
          <a:xfrm>
            <a:off x="12027423" y="2304288"/>
            <a:ext cx="3570229" cy="557784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40" name="Rectangle 39">
            <a:extLst>
              <a:ext uri="{FF2B5EF4-FFF2-40B4-BE49-F238E27FC236}">
                <a16:creationId xmlns:a16="http://schemas.microsoft.com/office/drawing/2014/main" id="{ACA61A06-2B2B-5F75-4F31-A3D66910E02A}"/>
              </a:ext>
            </a:extLst>
          </p:cNvPr>
          <p:cNvSpPr/>
          <p:nvPr/>
        </p:nvSpPr>
        <p:spPr>
          <a:xfrm>
            <a:off x="12027423" y="2304288"/>
            <a:ext cx="3570229" cy="36576"/>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41" name="Rectangle 40">
            <a:extLst>
              <a:ext uri="{FF2B5EF4-FFF2-40B4-BE49-F238E27FC236}">
                <a16:creationId xmlns:a16="http://schemas.microsoft.com/office/drawing/2014/main" id="{613FA860-C668-DB26-8BCD-6EBA599D65DA}"/>
              </a:ext>
            </a:extLst>
          </p:cNvPr>
          <p:cNvSpPr/>
          <p:nvPr/>
        </p:nvSpPr>
        <p:spPr>
          <a:xfrm>
            <a:off x="12210303" y="2595216"/>
            <a:ext cx="274320" cy="2743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FFFFFF"/>
                </a:solidFill>
                <a:latin typeface="Arial"/>
              </a:rPr>
              <a:t>4</a:t>
            </a:r>
          </a:p>
        </p:txBody>
      </p:sp>
      <p:sp>
        <p:nvSpPr>
          <p:cNvPr id="42" name="TextBox 41">
            <a:extLst>
              <a:ext uri="{FF2B5EF4-FFF2-40B4-BE49-F238E27FC236}">
                <a16:creationId xmlns:a16="http://schemas.microsoft.com/office/drawing/2014/main" id="{FF7658DD-CDF5-FC4C-957E-EA7E7BD5BBDB}"/>
              </a:ext>
            </a:extLst>
          </p:cNvPr>
          <p:cNvSpPr txBox="1"/>
          <p:nvPr/>
        </p:nvSpPr>
        <p:spPr>
          <a:xfrm>
            <a:off x="12594351" y="2455377"/>
            <a:ext cx="2820421" cy="553998"/>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Arial"/>
              </a:rPr>
              <a:t>Magnitud en la primera maduración</a:t>
            </a:r>
          </a:p>
        </p:txBody>
      </p:sp>
      <p:sp>
        <p:nvSpPr>
          <p:cNvPr id="43" name="TextBox 42">
            <a:extLst>
              <a:ext uri="{FF2B5EF4-FFF2-40B4-BE49-F238E27FC236}">
                <a16:creationId xmlns:a16="http://schemas.microsoft.com/office/drawing/2014/main" id="{D7525100-2982-2C28-FFBB-5D081D871CB4}"/>
              </a:ext>
            </a:extLst>
          </p:cNvPr>
          <p:cNvSpPr txBox="1"/>
          <p:nvPr/>
        </p:nvSpPr>
        <p:spPr>
          <a:xfrm>
            <a:off x="12210303" y="3166375"/>
            <a:ext cx="3204469" cy="775469"/>
          </a:xfrm>
          <a:prstGeom prst="rect">
            <a:avLst/>
          </a:prstGeom>
          <a:noFill/>
        </p:spPr>
        <p:txBody>
          <a:bodyPr wrap="square" lIns="0" tIns="0" rIns="0" bIns="0" anchor="t">
            <a:spAutoFit/>
          </a:bodyPr>
          <a:lstStyle/>
          <a:p>
            <a:pPr algn="l">
              <a:lnSpc>
                <a:spcPct val="124000"/>
              </a:lnSpc>
            </a:pPr>
            <a:r>
              <a:rPr lang="es-ES_tradnl" b="0" i="0" noProof="0" dirty="0">
                <a:solidFill>
                  <a:srgbClr val="3E5553"/>
                </a:solidFill>
                <a:latin typeface="Arial"/>
              </a:rPr>
              <a:t>Se estima M₁ mediante un árbol de decisión y se usa como condición inicial de la proyección.</a:t>
            </a:r>
          </a:p>
        </p:txBody>
      </p:sp>
      <p:sp>
        <p:nvSpPr>
          <p:cNvPr id="44" name="Rectangle 43">
            <a:extLst>
              <a:ext uri="{FF2B5EF4-FFF2-40B4-BE49-F238E27FC236}">
                <a16:creationId xmlns:a16="http://schemas.microsoft.com/office/drawing/2014/main" id="{15612825-4460-BD15-4709-FF49B3AA396A}"/>
              </a:ext>
            </a:extLst>
          </p:cNvPr>
          <p:cNvSpPr/>
          <p:nvPr/>
        </p:nvSpPr>
        <p:spPr>
          <a:xfrm>
            <a:off x="13428489" y="4133087"/>
            <a:ext cx="768096" cy="2743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Arial"/>
              </a:rPr>
              <a:t>M₁</a:t>
            </a:r>
          </a:p>
        </p:txBody>
      </p:sp>
      <p:cxnSp>
        <p:nvCxnSpPr>
          <p:cNvPr id="45" name="Connector 44">
            <a:extLst>
              <a:ext uri="{FF2B5EF4-FFF2-40B4-BE49-F238E27FC236}">
                <a16:creationId xmlns:a16="http://schemas.microsoft.com/office/drawing/2014/main" id="{70355811-95EE-98D9-9EFF-C3BEE638E68F}"/>
              </a:ext>
            </a:extLst>
          </p:cNvPr>
          <p:cNvCxnSpPr/>
          <p:nvPr/>
        </p:nvCxnSpPr>
        <p:spPr>
          <a:xfrm flipH="1">
            <a:off x="12787107" y="4407407"/>
            <a:ext cx="1025430" cy="0"/>
          </a:xfrm>
          <a:prstGeom prst="line">
            <a:avLst/>
          </a:prstGeom>
          <a:ln>
            <a:solidFill>
              <a:srgbClr val="D5DFDE"/>
            </a:solidFill>
          </a:ln>
        </p:spPr>
        <p:style>
          <a:lnRef idx="2">
            <a:schemeClr val="accent1"/>
          </a:lnRef>
          <a:fillRef idx="0">
            <a:schemeClr val="accent1"/>
          </a:fillRef>
          <a:effectRef idx="1">
            <a:schemeClr val="accent1"/>
          </a:effectRef>
          <a:fontRef idx="minor">
            <a:schemeClr val="tx1"/>
          </a:fontRef>
        </p:style>
      </p:cxnSp>
      <p:cxnSp>
        <p:nvCxnSpPr>
          <p:cNvPr id="46" name="Connector 45">
            <a:extLst>
              <a:ext uri="{FF2B5EF4-FFF2-40B4-BE49-F238E27FC236}">
                <a16:creationId xmlns:a16="http://schemas.microsoft.com/office/drawing/2014/main" id="{926BA0AB-5B52-6D89-EEBB-D8BAACCA6196}"/>
              </a:ext>
            </a:extLst>
          </p:cNvPr>
          <p:cNvCxnSpPr/>
          <p:nvPr/>
        </p:nvCxnSpPr>
        <p:spPr>
          <a:xfrm>
            <a:off x="13812537" y="4407407"/>
            <a:ext cx="0" cy="0"/>
          </a:xfrm>
          <a:prstGeom prst="line">
            <a:avLst/>
          </a:prstGeom>
          <a:ln>
            <a:solidFill>
              <a:srgbClr val="D5DFDE"/>
            </a:solidFill>
          </a:ln>
        </p:spPr>
        <p:style>
          <a:lnRef idx="2">
            <a:schemeClr val="accent1"/>
          </a:lnRef>
          <a:fillRef idx="0">
            <a:schemeClr val="accent1"/>
          </a:fillRef>
          <a:effectRef idx="1">
            <a:schemeClr val="accent1"/>
          </a:effectRef>
          <a:fontRef idx="minor">
            <a:schemeClr val="tx1"/>
          </a:fontRef>
        </p:style>
      </p:cxnSp>
      <p:cxnSp>
        <p:nvCxnSpPr>
          <p:cNvPr id="47" name="Connector 46">
            <a:extLst>
              <a:ext uri="{FF2B5EF4-FFF2-40B4-BE49-F238E27FC236}">
                <a16:creationId xmlns:a16="http://schemas.microsoft.com/office/drawing/2014/main" id="{1EA9F4B7-9277-F9B6-642B-D40590290341}"/>
              </a:ext>
            </a:extLst>
          </p:cNvPr>
          <p:cNvCxnSpPr/>
          <p:nvPr/>
        </p:nvCxnSpPr>
        <p:spPr>
          <a:xfrm>
            <a:off x="13812537" y="4407407"/>
            <a:ext cx="1025430" cy="0"/>
          </a:xfrm>
          <a:prstGeom prst="line">
            <a:avLst/>
          </a:prstGeom>
          <a:ln>
            <a:solidFill>
              <a:srgbClr val="D5DFDE"/>
            </a:solidFill>
          </a:ln>
        </p:spPr>
        <p:style>
          <a:lnRef idx="2">
            <a:schemeClr val="accent1"/>
          </a:lnRef>
          <a:fillRef idx="0">
            <a:schemeClr val="accent1"/>
          </a:fillRef>
          <a:effectRef idx="1">
            <a:schemeClr val="accent1"/>
          </a:effectRef>
          <a:fontRef idx="minor">
            <a:schemeClr val="tx1"/>
          </a:fontRef>
        </p:style>
      </p:cxnSp>
      <p:cxnSp>
        <p:nvCxnSpPr>
          <p:cNvPr id="137" name="Connector 47">
            <a:extLst>
              <a:ext uri="{FF2B5EF4-FFF2-40B4-BE49-F238E27FC236}">
                <a16:creationId xmlns:a16="http://schemas.microsoft.com/office/drawing/2014/main" id="{CFB49849-0778-9F84-3A8F-5F045F6AADAC}"/>
              </a:ext>
            </a:extLst>
          </p:cNvPr>
          <p:cNvCxnSpPr/>
          <p:nvPr/>
        </p:nvCxnSpPr>
        <p:spPr>
          <a:xfrm flipH="1">
            <a:off x="12787107" y="4425696"/>
            <a:ext cx="1025430" cy="274320"/>
          </a:xfrm>
          <a:prstGeom prst="line">
            <a:avLst/>
          </a:prstGeom>
          <a:ln w="12700">
            <a:solidFill>
              <a:srgbClr val="9AA8A7"/>
            </a:solidFill>
          </a:ln>
        </p:spPr>
        <p:style>
          <a:lnRef idx="2">
            <a:schemeClr val="accent1"/>
          </a:lnRef>
          <a:fillRef idx="0">
            <a:schemeClr val="accent1"/>
          </a:fillRef>
          <a:effectRef idx="1">
            <a:schemeClr val="accent1"/>
          </a:effectRef>
          <a:fontRef idx="minor">
            <a:schemeClr val="tx1"/>
          </a:fontRef>
        </p:style>
      </p:cxnSp>
      <p:sp>
        <p:nvSpPr>
          <p:cNvPr id="138" name="Rectangle 137">
            <a:extLst>
              <a:ext uri="{FF2B5EF4-FFF2-40B4-BE49-F238E27FC236}">
                <a16:creationId xmlns:a16="http://schemas.microsoft.com/office/drawing/2014/main" id="{E757EE89-AC26-A79D-913A-DD40539F91ED}"/>
              </a:ext>
            </a:extLst>
          </p:cNvPr>
          <p:cNvSpPr/>
          <p:nvPr/>
        </p:nvSpPr>
        <p:spPr>
          <a:xfrm>
            <a:off x="12476211" y="4718303"/>
            <a:ext cx="621792" cy="237744"/>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0" i="0" noProof="0" dirty="0">
                <a:solidFill>
                  <a:srgbClr val="C87A0B"/>
                </a:solidFill>
                <a:latin typeface="Arial"/>
              </a:rPr>
              <a:t>nodo</a:t>
            </a:r>
          </a:p>
        </p:txBody>
      </p:sp>
      <p:cxnSp>
        <p:nvCxnSpPr>
          <p:cNvPr id="139" name="Connector 49">
            <a:extLst>
              <a:ext uri="{FF2B5EF4-FFF2-40B4-BE49-F238E27FC236}">
                <a16:creationId xmlns:a16="http://schemas.microsoft.com/office/drawing/2014/main" id="{241950C5-F0B2-71F8-E1A3-5171AE7D9179}"/>
              </a:ext>
            </a:extLst>
          </p:cNvPr>
          <p:cNvCxnSpPr/>
          <p:nvPr/>
        </p:nvCxnSpPr>
        <p:spPr>
          <a:xfrm>
            <a:off x="13812537" y="4425696"/>
            <a:ext cx="0" cy="274320"/>
          </a:xfrm>
          <a:prstGeom prst="line">
            <a:avLst/>
          </a:prstGeom>
          <a:ln w="12700">
            <a:solidFill>
              <a:srgbClr val="9AA8A7"/>
            </a:solidFill>
          </a:ln>
        </p:spPr>
        <p:style>
          <a:lnRef idx="2">
            <a:schemeClr val="accent1"/>
          </a:lnRef>
          <a:fillRef idx="0">
            <a:schemeClr val="accent1"/>
          </a:fillRef>
          <a:effectRef idx="1">
            <a:schemeClr val="accent1"/>
          </a:effectRef>
          <a:fontRef idx="minor">
            <a:schemeClr val="tx1"/>
          </a:fontRef>
        </p:style>
      </p:cxnSp>
      <p:sp>
        <p:nvSpPr>
          <p:cNvPr id="140" name="Rectangle 139">
            <a:extLst>
              <a:ext uri="{FF2B5EF4-FFF2-40B4-BE49-F238E27FC236}">
                <a16:creationId xmlns:a16="http://schemas.microsoft.com/office/drawing/2014/main" id="{58F2D793-7104-1DE0-1E8C-5145849ABC3D}"/>
              </a:ext>
            </a:extLst>
          </p:cNvPr>
          <p:cNvSpPr/>
          <p:nvPr/>
        </p:nvSpPr>
        <p:spPr>
          <a:xfrm>
            <a:off x="13501641" y="4718303"/>
            <a:ext cx="621792" cy="237744"/>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0" i="0" noProof="0" dirty="0">
                <a:solidFill>
                  <a:srgbClr val="C87A0B"/>
                </a:solidFill>
                <a:latin typeface="Arial"/>
              </a:rPr>
              <a:t>nodo</a:t>
            </a:r>
          </a:p>
        </p:txBody>
      </p:sp>
      <p:cxnSp>
        <p:nvCxnSpPr>
          <p:cNvPr id="141" name="Connector 51">
            <a:extLst>
              <a:ext uri="{FF2B5EF4-FFF2-40B4-BE49-F238E27FC236}">
                <a16:creationId xmlns:a16="http://schemas.microsoft.com/office/drawing/2014/main" id="{12C060FB-EF3A-7F8B-CCA9-B38D221053D0}"/>
              </a:ext>
            </a:extLst>
          </p:cNvPr>
          <p:cNvCxnSpPr/>
          <p:nvPr/>
        </p:nvCxnSpPr>
        <p:spPr>
          <a:xfrm>
            <a:off x="13812537" y="4425696"/>
            <a:ext cx="1025430" cy="274320"/>
          </a:xfrm>
          <a:prstGeom prst="line">
            <a:avLst/>
          </a:prstGeom>
          <a:ln w="12700">
            <a:solidFill>
              <a:srgbClr val="9AA8A7"/>
            </a:solidFill>
          </a:ln>
        </p:spPr>
        <p:style>
          <a:lnRef idx="2">
            <a:schemeClr val="accent1"/>
          </a:lnRef>
          <a:fillRef idx="0">
            <a:schemeClr val="accent1"/>
          </a:fillRef>
          <a:effectRef idx="1">
            <a:schemeClr val="accent1"/>
          </a:effectRef>
          <a:fontRef idx="minor">
            <a:schemeClr val="tx1"/>
          </a:fontRef>
        </p:style>
      </p:cxnSp>
      <p:sp>
        <p:nvSpPr>
          <p:cNvPr id="142" name="Rectangle 141">
            <a:extLst>
              <a:ext uri="{FF2B5EF4-FFF2-40B4-BE49-F238E27FC236}">
                <a16:creationId xmlns:a16="http://schemas.microsoft.com/office/drawing/2014/main" id="{F215B1D9-95EC-004E-9521-9CB935BAC39B}"/>
              </a:ext>
            </a:extLst>
          </p:cNvPr>
          <p:cNvSpPr/>
          <p:nvPr/>
        </p:nvSpPr>
        <p:spPr>
          <a:xfrm>
            <a:off x="14527071" y="4718303"/>
            <a:ext cx="621792" cy="237744"/>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0" i="0" noProof="0" dirty="0">
                <a:solidFill>
                  <a:srgbClr val="C87A0B"/>
                </a:solidFill>
                <a:latin typeface="Arial"/>
              </a:rPr>
              <a:t>nodo</a:t>
            </a:r>
          </a:p>
        </p:txBody>
      </p:sp>
      <p:cxnSp>
        <p:nvCxnSpPr>
          <p:cNvPr id="143" name="Connector 53">
            <a:extLst>
              <a:ext uri="{FF2B5EF4-FFF2-40B4-BE49-F238E27FC236}">
                <a16:creationId xmlns:a16="http://schemas.microsoft.com/office/drawing/2014/main" id="{A2649077-7C61-9A8E-7702-0CB398558380}"/>
              </a:ext>
            </a:extLst>
          </p:cNvPr>
          <p:cNvCxnSpPr/>
          <p:nvPr/>
        </p:nvCxnSpPr>
        <p:spPr>
          <a:xfrm flipH="1">
            <a:off x="13171643" y="4956048"/>
            <a:ext cx="640894" cy="256031"/>
          </a:xfrm>
          <a:prstGeom prst="line">
            <a:avLst/>
          </a:prstGeom>
          <a:ln w="12700">
            <a:solidFill>
              <a:srgbClr val="9AA8A7"/>
            </a:solidFill>
          </a:ln>
        </p:spPr>
        <p:style>
          <a:lnRef idx="2">
            <a:schemeClr val="accent1"/>
          </a:lnRef>
          <a:fillRef idx="0">
            <a:schemeClr val="accent1"/>
          </a:fillRef>
          <a:effectRef idx="1">
            <a:schemeClr val="accent1"/>
          </a:effectRef>
          <a:fontRef idx="minor">
            <a:schemeClr val="tx1"/>
          </a:fontRef>
        </p:style>
      </p:cxnSp>
      <p:sp>
        <p:nvSpPr>
          <p:cNvPr id="144" name="Rectangle 143">
            <a:extLst>
              <a:ext uri="{FF2B5EF4-FFF2-40B4-BE49-F238E27FC236}">
                <a16:creationId xmlns:a16="http://schemas.microsoft.com/office/drawing/2014/main" id="{115D0767-B169-BE9E-F08D-9978A6EEC521}"/>
              </a:ext>
            </a:extLst>
          </p:cNvPr>
          <p:cNvSpPr/>
          <p:nvPr/>
        </p:nvSpPr>
        <p:spPr>
          <a:xfrm>
            <a:off x="12860747" y="5230368"/>
            <a:ext cx="621792" cy="237744"/>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0" i="0" noProof="0" dirty="0">
                <a:solidFill>
                  <a:srgbClr val="6E7E7D"/>
                </a:solidFill>
                <a:latin typeface="Arial"/>
              </a:rPr>
              <a:t>hoja</a:t>
            </a:r>
          </a:p>
        </p:txBody>
      </p:sp>
      <p:cxnSp>
        <p:nvCxnSpPr>
          <p:cNvPr id="145" name="Connector 55">
            <a:extLst>
              <a:ext uri="{FF2B5EF4-FFF2-40B4-BE49-F238E27FC236}">
                <a16:creationId xmlns:a16="http://schemas.microsoft.com/office/drawing/2014/main" id="{B9F8071C-EE87-92DE-5724-79628A2B9D09}"/>
              </a:ext>
            </a:extLst>
          </p:cNvPr>
          <p:cNvCxnSpPr/>
          <p:nvPr/>
        </p:nvCxnSpPr>
        <p:spPr>
          <a:xfrm>
            <a:off x="13812537" y="4956048"/>
            <a:ext cx="640894" cy="256031"/>
          </a:xfrm>
          <a:prstGeom prst="line">
            <a:avLst/>
          </a:prstGeom>
          <a:ln w="12700">
            <a:solidFill>
              <a:srgbClr val="9AA8A7"/>
            </a:solidFill>
          </a:ln>
        </p:spPr>
        <p:style>
          <a:lnRef idx="2">
            <a:schemeClr val="accent1"/>
          </a:lnRef>
          <a:fillRef idx="0">
            <a:schemeClr val="accent1"/>
          </a:fillRef>
          <a:effectRef idx="1">
            <a:schemeClr val="accent1"/>
          </a:effectRef>
          <a:fontRef idx="minor">
            <a:schemeClr val="tx1"/>
          </a:fontRef>
        </p:style>
      </p:cxnSp>
      <p:sp>
        <p:nvSpPr>
          <p:cNvPr id="146" name="Rectangle 145">
            <a:extLst>
              <a:ext uri="{FF2B5EF4-FFF2-40B4-BE49-F238E27FC236}">
                <a16:creationId xmlns:a16="http://schemas.microsoft.com/office/drawing/2014/main" id="{70C67848-B829-9DED-2BFE-D96886DC158B}"/>
              </a:ext>
            </a:extLst>
          </p:cNvPr>
          <p:cNvSpPr/>
          <p:nvPr/>
        </p:nvSpPr>
        <p:spPr>
          <a:xfrm>
            <a:off x="14142535" y="5230368"/>
            <a:ext cx="621792" cy="237744"/>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0" i="0" noProof="0" dirty="0">
                <a:solidFill>
                  <a:srgbClr val="6E7E7D"/>
                </a:solidFill>
                <a:latin typeface="Arial"/>
              </a:rPr>
              <a:t>hoja</a:t>
            </a:r>
          </a:p>
        </p:txBody>
      </p:sp>
      <p:sp>
        <p:nvSpPr>
          <p:cNvPr id="147" name="TextBox 146">
            <a:extLst>
              <a:ext uri="{FF2B5EF4-FFF2-40B4-BE49-F238E27FC236}">
                <a16:creationId xmlns:a16="http://schemas.microsoft.com/office/drawing/2014/main" id="{D919A157-B3A3-292E-942B-B3A5A0094E0C}"/>
              </a:ext>
            </a:extLst>
          </p:cNvPr>
          <p:cNvSpPr txBox="1"/>
          <p:nvPr/>
        </p:nvSpPr>
        <p:spPr>
          <a:xfrm>
            <a:off x="12210303" y="5687568"/>
            <a:ext cx="3204469"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C87A0B"/>
                </a:solidFill>
                <a:latin typeface="Arial"/>
              </a:rPr>
              <a:t>M₁  =  árbol de decisión (X₁ … X₅)</a:t>
            </a:r>
          </a:p>
        </p:txBody>
      </p:sp>
      <p:sp>
        <p:nvSpPr>
          <p:cNvPr id="148" name="Rectangle 147">
            <a:extLst>
              <a:ext uri="{FF2B5EF4-FFF2-40B4-BE49-F238E27FC236}">
                <a16:creationId xmlns:a16="http://schemas.microsoft.com/office/drawing/2014/main" id="{5CD56C91-C287-2AD0-6D9D-BEE3A4FB935B}"/>
              </a:ext>
            </a:extLst>
          </p:cNvPr>
          <p:cNvSpPr/>
          <p:nvPr/>
        </p:nvSpPr>
        <p:spPr>
          <a:xfrm>
            <a:off x="12210303" y="6583679"/>
            <a:ext cx="3204469" cy="109728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149" name="TextBox 148">
            <a:extLst>
              <a:ext uri="{FF2B5EF4-FFF2-40B4-BE49-F238E27FC236}">
                <a16:creationId xmlns:a16="http://schemas.microsoft.com/office/drawing/2014/main" id="{6517BED9-1EE9-ADF5-A9E2-B3E43D2861C1}"/>
              </a:ext>
            </a:extLst>
          </p:cNvPr>
          <p:cNvSpPr txBox="1"/>
          <p:nvPr/>
        </p:nvSpPr>
        <p:spPr>
          <a:xfrm>
            <a:off x="12338319" y="6930060"/>
            <a:ext cx="2948437" cy="422808"/>
          </a:xfrm>
          <a:prstGeom prst="rect">
            <a:avLst/>
          </a:prstGeom>
          <a:noFill/>
        </p:spPr>
        <p:txBody>
          <a:bodyPr wrap="square" lIns="0" tIns="0" rIns="0" bIns="0" anchor="ctr">
            <a:spAutoFit/>
          </a:bodyPr>
          <a:lstStyle/>
          <a:p>
            <a:pPr algn="l">
              <a:lnSpc>
                <a:spcPct val="120000"/>
              </a:lnSpc>
              <a:spcAft>
                <a:spcPts val="400"/>
              </a:spcAft>
            </a:pPr>
            <a:r>
              <a:rPr lang="es-ES_tradnl" sz="1200" b="0" i="0" noProof="0" dirty="0">
                <a:solidFill>
                  <a:srgbClr val="6E7E7D"/>
                </a:solidFill>
                <a:latin typeface="Arial"/>
              </a:rPr>
              <a:t>El resultado alimenta la proyección recursiva de la lámina siguiente.</a:t>
            </a:r>
          </a:p>
        </p:txBody>
      </p:sp>
      <p:sp>
        <p:nvSpPr>
          <p:cNvPr id="150" name="Rectangle 149">
            <a:extLst>
              <a:ext uri="{FF2B5EF4-FFF2-40B4-BE49-F238E27FC236}">
                <a16:creationId xmlns:a16="http://schemas.microsoft.com/office/drawing/2014/main" id="{F0617DB3-8342-A507-A458-B2E0E4F041D9}"/>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cxnSp>
        <p:nvCxnSpPr>
          <p:cNvPr id="151" name="Connector 61">
            <a:extLst>
              <a:ext uri="{FF2B5EF4-FFF2-40B4-BE49-F238E27FC236}">
                <a16:creationId xmlns:a16="http://schemas.microsoft.com/office/drawing/2014/main" id="{1EE68F83-8DCE-B80F-C7F8-D079069EF766}"/>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52" name="TextBox 151">
            <a:extLst>
              <a:ext uri="{FF2B5EF4-FFF2-40B4-BE49-F238E27FC236}">
                <a16:creationId xmlns:a16="http://schemas.microsoft.com/office/drawing/2014/main" id="{1358C6FA-4352-454A-92A3-CDBAF7C5350B}"/>
              </a:ext>
            </a:extLst>
          </p:cNvPr>
          <p:cNvSpPr txBox="1"/>
          <p:nvPr/>
        </p:nvSpPr>
        <p:spPr>
          <a:xfrm>
            <a:off x="896112" y="8239335"/>
            <a:ext cx="14482084" cy="291426"/>
          </a:xfrm>
          <a:prstGeom prst="rect">
            <a:avLst/>
          </a:prstGeom>
          <a:noFill/>
        </p:spPr>
        <p:txBody>
          <a:bodyPr wrap="square" lIns="0" tIns="0" rIns="0" bIns="0" anchor="ctr">
            <a:spAutoFit/>
          </a:bodyPr>
          <a:lstStyle/>
          <a:p>
            <a:pPr algn="l">
              <a:lnSpc>
                <a:spcPct val="115000"/>
              </a:lnSpc>
              <a:spcAft>
                <a:spcPts val="400"/>
              </a:spcAft>
            </a:pPr>
            <a:r>
              <a:rPr lang="es-ES_tradnl" sz="1800" b="1" i="0" noProof="0" dirty="0">
                <a:solidFill>
                  <a:srgbClr val="0C514E"/>
                </a:solidFill>
                <a:latin typeface="Arial"/>
              </a:rPr>
              <a:t>Separar ocurrencia de magnitud replica la lógica de todo el programa: modelar el evento y, condicional a él, su tamaño.</a:t>
            </a:r>
          </a:p>
        </p:txBody>
      </p:sp>
    </p:spTree>
    <p:extLst>
      <p:ext uri="{BB962C8B-B14F-4D97-AF65-F5344CB8AC3E}">
        <p14:creationId xmlns:p14="http://schemas.microsoft.com/office/powerpoint/2010/main" val="3233135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7F209-119A-E032-6D8C-EF21280D50E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234E92-BFA8-BE9B-BFF4-2CA0F489B3AB}"/>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9F9065A4-4426-B7C1-29C8-B7169E609754}"/>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fontScale="92500"/>
          </a:bodyPr>
          <a:lstStyle/>
          <a:p>
            <a:pPr defTabSz="1625519">
              <a:buSzPts val="4400"/>
              <a:defRPr/>
            </a:pPr>
            <a:r>
              <a:rPr lang="es-ES_tradnl" sz="3200" b="1" kern="1200" noProof="0" dirty="0">
                <a:solidFill>
                  <a:srgbClr val="13807B"/>
                </a:solidFill>
                <a:latin typeface="Poppins"/>
                <a:ea typeface="Poppins"/>
                <a:cs typeface="Poppins"/>
                <a:sym typeface="Poppins"/>
              </a:rPr>
              <a:t>La magnitud estimada de cada mes alimenta la del siguiente: así se construye la curva completa de prepago esperado</a:t>
            </a:r>
          </a:p>
        </p:txBody>
      </p:sp>
      <p:cxnSp>
        <p:nvCxnSpPr>
          <p:cNvPr id="2" name="Connector 3">
            <a:extLst>
              <a:ext uri="{FF2B5EF4-FFF2-40B4-BE49-F238E27FC236}">
                <a16:creationId xmlns:a16="http://schemas.microsoft.com/office/drawing/2014/main" id="{6582B1E9-E230-4AA1-1B88-FE31D918339A}"/>
              </a:ext>
            </a:extLst>
          </p:cNvPr>
          <p:cNvCxnSpPr/>
          <p:nvPr/>
        </p:nvCxnSpPr>
        <p:spPr>
          <a:xfrm>
            <a:off x="637586" y="123277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04FD8915-3887-91BA-3E84-6F3BF15DB4C0}"/>
              </a:ext>
            </a:extLst>
          </p:cNvPr>
          <p:cNvSpPr/>
          <p:nvPr/>
        </p:nvSpPr>
        <p:spPr>
          <a:xfrm>
            <a:off x="658368" y="1664208"/>
            <a:ext cx="9418320" cy="544068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6" name="Rectangle 5">
            <a:extLst>
              <a:ext uri="{FF2B5EF4-FFF2-40B4-BE49-F238E27FC236}">
                <a16:creationId xmlns:a16="http://schemas.microsoft.com/office/drawing/2014/main" id="{A3F887A7-EE4C-4E7A-FEC2-F3F97A641FEA}"/>
              </a:ext>
            </a:extLst>
          </p:cNvPr>
          <p:cNvSpPr/>
          <p:nvPr/>
        </p:nvSpPr>
        <p:spPr>
          <a:xfrm>
            <a:off x="3264408" y="1956816"/>
            <a:ext cx="4206240" cy="40233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Arial"/>
              </a:rPr>
              <a:t>Variables disponibles en </a:t>
            </a:r>
            <a:r>
              <a:rPr lang="es-ES_tradnl" sz="1200" b="1" i="0" noProof="0" dirty="0" err="1">
                <a:solidFill>
                  <a:srgbClr val="FFFFFF"/>
                </a:solidFill>
                <a:latin typeface="Arial"/>
              </a:rPr>
              <a:t>originación</a:t>
            </a:r>
            <a:endParaRPr lang="es-ES_tradnl" sz="1200" b="1" i="0" noProof="0" dirty="0">
              <a:solidFill>
                <a:srgbClr val="FFFFFF"/>
              </a:solidFill>
              <a:latin typeface="Arial"/>
            </a:endParaRPr>
          </a:p>
        </p:txBody>
      </p:sp>
      <p:cxnSp>
        <p:nvCxnSpPr>
          <p:cNvPr id="48" name="Connector 9">
            <a:extLst>
              <a:ext uri="{FF2B5EF4-FFF2-40B4-BE49-F238E27FC236}">
                <a16:creationId xmlns:a16="http://schemas.microsoft.com/office/drawing/2014/main" id="{55E7D154-DE6A-2A84-81E1-CA480A587AA5}"/>
              </a:ext>
            </a:extLst>
          </p:cNvPr>
          <p:cNvCxnSpPr/>
          <p:nvPr/>
        </p:nvCxnSpPr>
        <p:spPr>
          <a:xfrm flipH="1">
            <a:off x="3058668" y="2377440"/>
            <a:ext cx="2308860" cy="256032"/>
          </a:xfrm>
          <a:prstGeom prst="line">
            <a:avLst/>
          </a:prstGeom>
          <a:ln w="15875">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9FBD3E17-12DC-5440-5882-CCA125BD9F27}"/>
              </a:ext>
            </a:extLst>
          </p:cNvPr>
          <p:cNvSpPr/>
          <p:nvPr/>
        </p:nvSpPr>
        <p:spPr>
          <a:xfrm>
            <a:off x="1024128" y="2670048"/>
            <a:ext cx="4069080" cy="56692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2000"/>
              </a:lnSpc>
            </a:pPr>
            <a:r>
              <a:rPr lang="es-ES_tradnl" b="1" i="0" noProof="0" dirty="0">
                <a:solidFill>
                  <a:srgbClr val="FFFFFF"/>
                </a:solidFill>
                <a:latin typeface="Arial"/>
              </a:rPr>
              <a:t>Probabilidad acumulada</a:t>
            </a:r>
          </a:p>
          <a:p>
            <a:pPr algn="ctr">
              <a:lnSpc>
                <a:spcPct val="112000"/>
              </a:lnSpc>
            </a:pPr>
            <a:r>
              <a:rPr lang="es-ES_tradnl" b="1" i="0" noProof="0" dirty="0">
                <a:solidFill>
                  <a:srgbClr val="FFFFFF"/>
                </a:solidFill>
                <a:latin typeface="Arial"/>
              </a:rPr>
              <a:t>de prepago</a:t>
            </a:r>
          </a:p>
        </p:txBody>
      </p:sp>
      <p:cxnSp>
        <p:nvCxnSpPr>
          <p:cNvPr id="50" name="Connector 11">
            <a:extLst>
              <a:ext uri="{FF2B5EF4-FFF2-40B4-BE49-F238E27FC236}">
                <a16:creationId xmlns:a16="http://schemas.microsoft.com/office/drawing/2014/main" id="{20C7AF55-314D-35D0-95A8-727BE3F44887}"/>
              </a:ext>
            </a:extLst>
          </p:cNvPr>
          <p:cNvCxnSpPr/>
          <p:nvPr/>
        </p:nvCxnSpPr>
        <p:spPr>
          <a:xfrm>
            <a:off x="5367528" y="2377440"/>
            <a:ext cx="2308860" cy="256032"/>
          </a:xfrm>
          <a:prstGeom prst="line">
            <a:avLst/>
          </a:prstGeom>
          <a:ln w="15875">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AE2437D5-A416-A785-0D75-97A65115E5BD}"/>
              </a:ext>
            </a:extLst>
          </p:cNvPr>
          <p:cNvSpPr/>
          <p:nvPr/>
        </p:nvSpPr>
        <p:spPr>
          <a:xfrm>
            <a:off x="5641848" y="2670048"/>
            <a:ext cx="4069080" cy="566928"/>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2000"/>
              </a:lnSpc>
            </a:pPr>
            <a:r>
              <a:rPr lang="es-ES_tradnl" b="1" i="0" noProof="0" dirty="0">
                <a:solidFill>
                  <a:srgbClr val="FFFFFF"/>
                </a:solidFill>
                <a:latin typeface="Arial"/>
              </a:rPr>
              <a:t>Magnitud acumulada</a:t>
            </a:r>
          </a:p>
          <a:p>
            <a:pPr algn="ctr">
              <a:lnSpc>
                <a:spcPct val="112000"/>
              </a:lnSpc>
            </a:pPr>
            <a:r>
              <a:rPr lang="es-ES_tradnl" b="1" i="0" noProof="0" dirty="0">
                <a:solidFill>
                  <a:srgbClr val="FFFFFF"/>
                </a:solidFill>
                <a:latin typeface="Arial"/>
              </a:rPr>
              <a:t>% de prepago</a:t>
            </a:r>
          </a:p>
        </p:txBody>
      </p:sp>
      <p:sp>
        <p:nvSpPr>
          <p:cNvPr id="52" name="TextBox 51">
            <a:extLst>
              <a:ext uri="{FF2B5EF4-FFF2-40B4-BE49-F238E27FC236}">
                <a16:creationId xmlns:a16="http://schemas.microsoft.com/office/drawing/2014/main" id="{CCCE71AD-BD73-9FCD-6F5C-84859B148AAF}"/>
              </a:ext>
            </a:extLst>
          </p:cNvPr>
          <p:cNvSpPr txBox="1"/>
          <p:nvPr/>
        </p:nvSpPr>
        <p:spPr>
          <a:xfrm>
            <a:off x="5641848" y="3511296"/>
            <a:ext cx="4069080"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0B2E2C"/>
                </a:solidFill>
                <a:latin typeface="Arial"/>
              </a:rPr>
              <a:t>Proyección recursiva por maduración</a:t>
            </a:r>
          </a:p>
        </p:txBody>
      </p:sp>
      <p:sp>
        <p:nvSpPr>
          <p:cNvPr id="53" name="Rectangle 52">
            <a:extLst>
              <a:ext uri="{FF2B5EF4-FFF2-40B4-BE49-F238E27FC236}">
                <a16:creationId xmlns:a16="http://schemas.microsoft.com/office/drawing/2014/main" id="{7FCBD855-C0E2-B476-BBDE-21D0BF76BC5A}"/>
              </a:ext>
            </a:extLst>
          </p:cNvPr>
          <p:cNvSpPr/>
          <p:nvPr/>
        </p:nvSpPr>
        <p:spPr>
          <a:xfrm>
            <a:off x="5637276" y="3822191"/>
            <a:ext cx="566928" cy="402336"/>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FFFFFF"/>
                </a:solidFill>
                <a:latin typeface="Arial"/>
              </a:rPr>
              <a:t>M₁</a:t>
            </a:r>
          </a:p>
        </p:txBody>
      </p:sp>
      <p:cxnSp>
        <p:nvCxnSpPr>
          <p:cNvPr id="54" name="Connector 15">
            <a:extLst>
              <a:ext uri="{FF2B5EF4-FFF2-40B4-BE49-F238E27FC236}">
                <a16:creationId xmlns:a16="http://schemas.microsoft.com/office/drawing/2014/main" id="{9E03F067-0EB3-232B-EF8C-1A87E586D0C6}"/>
              </a:ext>
            </a:extLst>
          </p:cNvPr>
          <p:cNvCxnSpPr/>
          <p:nvPr/>
        </p:nvCxnSpPr>
        <p:spPr>
          <a:xfrm>
            <a:off x="6231636" y="4023360"/>
            <a:ext cx="256032" cy="0"/>
          </a:xfrm>
          <a:prstGeom prst="line">
            <a:avLst/>
          </a:prstGeom>
          <a:ln w="19050">
            <a:solidFill>
              <a:srgbClr val="C87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53E0A1F1-A2CF-EE76-7DFD-5D7D77019BFA}"/>
              </a:ext>
            </a:extLst>
          </p:cNvPr>
          <p:cNvSpPr/>
          <p:nvPr/>
        </p:nvSpPr>
        <p:spPr>
          <a:xfrm>
            <a:off x="6515100" y="3822191"/>
            <a:ext cx="566928" cy="402336"/>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C87A0B"/>
                </a:solidFill>
                <a:latin typeface="Arial"/>
              </a:rPr>
              <a:t>M₂</a:t>
            </a:r>
          </a:p>
        </p:txBody>
      </p:sp>
      <p:cxnSp>
        <p:nvCxnSpPr>
          <p:cNvPr id="56" name="Connector 17">
            <a:extLst>
              <a:ext uri="{FF2B5EF4-FFF2-40B4-BE49-F238E27FC236}">
                <a16:creationId xmlns:a16="http://schemas.microsoft.com/office/drawing/2014/main" id="{0B496412-35B3-65B0-5517-C62C161F9F88}"/>
              </a:ext>
            </a:extLst>
          </p:cNvPr>
          <p:cNvCxnSpPr/>
          <p:nvPr/>
        </p:nvCxnSpPr>
        <p:spPr>
          <a:xfrm>
            <a:off x="7109460" y="4023360"/>
            <a:ext cx="256032" cy="0"/>
          </a:xfrm>
          <a:prstGeom prst="line">
            <a:avLst/>
          </a:prstGeom>
          <a:ln w="19050">
            <a:solidFill>
              <a:srgbClr val="C87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EA3AF34E-69A7-B1B3-17C3-E1D083113ADD}"/>
              </a:ext>
            </a:extLst>
          </p:cNvPr>
          <p:cNvSpPr/>
          <p:nvPr/>
        </p:nvSpPr>
        <p:spPr>
          <a:xfrm>
            <a:off x="7392924" y="3822191"/>
            <a:ext cx="566928" cy="402336"/>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C87A0B"/>
                </a:solidFill>
                <a:latin typeface="Arial"/>
              </a:rPr>
              <a:t>M₃</a:t>
            </a:r>
          </a:p>
        </p:txBody>
      </p:sp>
      <p:cxnSp>
        <p:nvCxnSpPr>
          <p:cNvPr id="58" name="Connector 19">
            <a:extLst>
              <a:ext uri="{FF2B5EF4-FFF2-40B4-BE49-F238E27FC236}">
                <a16:creationId xmlns:a16="http://schemas.microsoft.com/office/drawing/2014/main" id="{2F38C16C-BA37-67D0-ED6A-0A04626B2C4F}"/>
              </a:ext>
            </a:extLst>
          </p:cNvPr>
          <p:cNvCxnSpPr/>
          <p:nvPr/>
        </p:nvCxnSpPr>
        <p:spPr>
          <a:xfrm>
            <a:off x="7987283" y="4023360"/>
            <a:ext cx="256033" cy="0"/>
          </a:xfrm>
          <a:prstGeom prst="line">
            <a:avLst/>
          </a:prstGeom>
          <a:ln w="19050">
            <a:solidFill>
              <a:srgbClr val="C87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10196843-85A8-B613-0E97-0D8C8CCDB432}"/>
              </a:ext>
            </a:extLst>
          </p:cNvPr>
          <p:cNvSpPr/>
          <p:nvPr/>
        </p:nvSpPr>
        <p:spPr>
          <a:xfrm>
            <a:off x="8270748" y="3822191"/>
            <a:ext cx="566928"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9AA8A7"/>
                </a:solidFill>
                <a:latin typeface="Arial"/>
              </a:rPr>
              <a:t>…</a:t>
            </a:r>
          </a:p>
        </p:txBody>
      </p:sp>
      <p:cxnSp>
        <p:nvCxnSpPr>
          <p:cNvPr id="60" name="Connector 21">
            <a:extLst>
              <a:ext uri="{FF2B5EF4-FFF2-40B4-BE49-F238E27FC236}">
                <a16:creationId xmlns:a16="http://schemas.microsoft.com/office/drawing/2014/main" id="{0CA389B8-7C1D-CD67-9EE3-150A6395299E}"/>
              </a:ext>
            </a:extLst>
          </p:cNvPr>
          <p:cNvCxnSpPr/>
          <p:nvPr/>
        </p:nvCxnSpPr>
        <p:spPr>
          <a:xfrm>
            <a:off x="8865108" y="4023360"/>
            <a:ext cx="256032" cy="0"/>
          </a:xfrm>
          <a:prstGeom prst="line">
            <a:avLst/>
          </a:prstGeom>
          <a:ln w="19050">
            <a:solidFill>
              <a:srgbClr val="C87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B8BCB45B-C6FB-4655-89A3-48ECE6508F07}"/>
              </a:ext>
            </a:extLst>
          </p:cNvPr>
          <p:cNvSpPr/>
          <p:nvPr/>
        </p:nvSpPr>
        <p:spPr>
          <a:xfrm>
            <a:off x="9148572" y="3822191"/>
            <a:ext cx="566928" cy="402336"/>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C87A0B"/>
                </a:solidFill>
                <a:latin typeface="Arial"/>
              </a:rPr>
              <a:t>Mₜ</a:t>
            </a:r>
          </a:p>
        </p:txBody>
      </p:sp>
      <p:sp>
        <p:nvSpPr>
          <p:cNvPr id="62" name="TextBox 61">
            <a:extLst>
              <a:ext uri="{FF2B5EF4-FFF2-40B4-BE49-F238E27FC236}">
                <a16:creationId xmlns:a16="http://schemas.microsoft.com/office/drawing/2014/main" id="{7553EE8C-8254-31FA-906C-9A506C7D4176}"/>
              </a:ext>
            </a:extLst>
          </p:cNvPr>
          <p:cNvSpPr txBox="1"/>
          <p:nvPr/>
        </p:nvSpPr>
        <p:spPr>
          <a:xfrm>
            <a:off x="5733288" y="4370831"/>
            <a:ext cx="3886200" cy="624017"/>
          </a:xfrm>
          <a:prstGeom prst="rect">
            <a:avLst/>
          </a:prstGeom>
          <a:noFill/>
        </p:spPr>
        <p:txBody>
          <a:bodyPr wrap="square" lIns="0" tIns="0" rIns="0" bIns="0" anchor="t">
            <a:spAutoFit/>
          </a:bodyPr>
          <a:lstStyle/>
          <a:p>
            <a:pPr algn="l">
              <a:lnSpc>
                <a:spcPct val="122000"/>
              </a:lnSpc>
              <a:spcAft>
                <a:spcPts val="400"/>
              </a:spcAft>
            </a:pPr>
            <a:r>
              <a:rPr lang="es-ES_tradnl" sz="1050" b="1" i="0" noProof="0" dirty="0">
                <a:solidFill>
                  <a:srgbClr val="C87A0B"/>
                </a:solidFill>
                <a:latin typeface="Arial"/>
              </a:rPr>
              <a:t>M₁: </a:t>
            </a:r>
            <a:r>
              <a:rPr lang="es-ES_tradnl" sz="1050" b="0" i="0" noProof="0" dirty="0">
                <a:solidFill>
                  <a:srgbClr val="6E7E7D"/>
                </a:solidFill>
                <a:latin typeface="Arial"/>
              </a:rPr>
              <a:t>estimación inicial mediante árbol de decisión.</a:t>
            </a:r>
          </a:p>
          <a:p>
            <a:pPr algn="l">
              <a:lnSpc>
                <a:spcPct val="122000"/>
              </a:lnSpc>
              <a:spcAft>
                <a:spcPts val="400"/>
              </a:spcAft>
            </a:pPr>
            <a:r>
              <a:rPr lang="es-ES_tradnl" sz="1050" b="1" i="0" noProof="0" dirty="0">
                <a:solidFill>
                  <a:srgbClr val="C87A0B"/>
                </a:solidFill>
                <a:latin typeface="Arial"/>
              </a:rPr>
              <a:t>M₂ … Mₜ: </a:t>
            </a:r>
            <a:r>
              <a:rPr lang="es-ES_tradnl" sz="1050" b="0" i="0" noProof="0" dirty="0">
                <a:solidFill>
                  <a:srgbClr val="6E7E7D"/>
                </a:solidFill>
                <a:latin typeface="Arial"/>
              </a:rPr>
              <a:t>la magnitud de cada período entra como insumo para proyectar la siguiente maduración.</a:t>
            </a:r>
          </a:p>
        </p:txBody>
      </p:sp>
      <p:cxnSp>
        <p:nvCxnSpPr>
          <p:cNvPr id="63" name="Connector 24">
            <a:extLst>
              <a:ext uri="{FF2B5EF4-FFF2-40B4-BE49-F238E27FC236}">
                <a16:creationId xmlns:a16="http://schemas.microsoft.com/office/drawing/2014/main" id="{52C63CA8-DC47-9F35-A21B-E6AECE2056AE}"/>
              </a:ext>
            </a:extLst>
          </p:cNvPr>
          <p:cNvCxnSpPr/>
          <p:nvPr/>
        </p:nvCxnSpPr>
        <p:spPr>
          <a:xfrm>
            <a:off x="3058668" y="3273552"/>
            <a:ext cx="0" cy="3218688"/>
          </a:xfrm>
          <a:prstGeom prst="line">
            <a:avLst/>
          </a:prstGeom>
          <a:ln w="15875">
            <a:solidFill>
              <a:srgbClr val="9AA8A7"/>
            </a:solidFill>
          </a:ln>
        </p:spPr>
        <p:style>
          <a:lnRef idx="2">
            <a:schemeClr val="accent1"/>
          </a:lnRef>
          <a:fillRef idx="0">
            <a:schemeClr val="accent1"/>
          </a:fillRef>
          <a:effectRef idx="1">
            <a:schemeClr val="accent1"/>
          </a:effectRef>
          <a:fontRef idx="minor">
            <a:schemeClr val="tx1"/>
          </a:fontRef>
        </p:style>
      </p:cxnSp>
      <p:cxnSp>
        <p:nvCxnSpPr>
          <p:cNvPr id="128" name="Connector 25">
            <a:extLst>
              <a:ext uri="{FF2B5EF4-FFF2-40B4-BE49-F238E27FC236}">
                <a16:creationId xmlns:a16="http://schemas.microsoft.com/office/drawing/2014/main" id="{0FED3ED1-C805-86C1-55B8-2A670FDAE81A}"/>
              </a:ext>
            </a:extLst>
          </p:cNvPr>
          <p:cNvCxnSpPr/>
          <p:nvPr/>
        </p:nvCxnSpPr>
        <p:spPr>
          <a:xfrm flipH="1">
            <a:off x="2953512" y="6492240"/>
            <a:ext cx="105156" cy="0"/>
          </a:xfrm>
          <a:prstGeom prst="line">
            <a:avLst/>
          </a:prstGeom>
          <a:ln w="15875">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9" name="Connector 26">
            <a:extLst>
              <a:ext uri="{FF2B5EF4-FFF2-40B4-BE49-F238E27FC236}">
                <a16:creationId xmlns:a16="http://schemas.microsoft.com/office/drawing/2014/main" id="{632B05C7-5782-78A0-CB8C-91BA21391774}"/>
              </a:ext>
            </a:extLst>
          </p:cNvPr>
          <p:cNvCxnSpPr/>
          <p:nvPr/>
        </p:nvCxnSpPr>
        <p:spPr>
          <a:xfrm>
            <a:off x="7676388" y="5248656"/>
            <a:ext cx="0" cy="1243584"/>
          </a:xfrm>
          <a:prstGeom prst="line">
            <a:avLst/>
          </a:prstGeom>
          <a:ln w="15875">
            <a:solidFill>
              <a:srgbClr val="9AA8A7"/>
            </a:solidFill>
          </a:ln>
        </p:spPr>
        <p:style>
          <a:lnRef idx="2">
            <a:schemeClr val="accent1"/>
          </a:lnRef>
          <a:fillRef idx="0">
            <a:schemeClr val="accent1"/>
          </a:fillRef>
          <a:effectRef idx="1">
            <a:schemeClr val="accent1"/>
          </a:effectRef>
          <a:fontRef idx="minor">
            <a:schemeClr val="tx1"/>
          </a:fontRef>
        </p:style>
      </p:cxnSp>
      <p:cxnSp>
        <p:nvCxnSpPr>
          <p:cNvPr id="130" name="Connector 27">
            <a:extLst>
              <a:ext uri="{FF2B5EF4-FFF2-40B4-BE49-F238E27FC236}">
                <a16:creationId xmlns:a16="http://schemas.microsoft.com/office/drawing/2014/main" id="{A894186B-5D01-AF16-8132-CB31654CE375}"/>
              </a:ext>
            </a:extLst>
          </p:cNvPr>
          <p:cNvCxnSpPr/>
          <p:nvPr/>
        </p:nvCxnSpPr>
        <p:spPr>
          <a:xfrm>
            <a:off x="7676388" y="6492240"/>
            <a:ext cx="105156" cy="0"/>
          </a:xfrm>
          <a:prstGeom prst="line">
            <a:avLst/>
          </a:prstGeom>
          <a:ln w="15875">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1" name="Rectangle 130">
            <a:extLst>
              <a:ext uri="{FF2B5EF4-FFF2-40B4-BE49-F238E27FC236}">
                <a16:creationId xmlns:a16="http://schemas.microsoft.com/office/drawing/2014/main" id="{F68BA393-4932-C352-3763-52F36F779FD0}"/>
              </a:ext>
            </a:extLst>
          </p:cNvPr>
          <p:cNvSpPr/>
          <p:nvPr/>
        </p:nvSpPr>
        <p:spPr>
          <a:xfrm>
            <a:off x="2990088" y="6190488"/>
            <a:ext cx="4754880" cy="603504"/>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5000"/>
              </a:lnSpc>
            </a:pPr>
            <a:r>
              <a:rPr lang="es-ES_tradnl" b="1" i="0" noProof="0" dirty="0">
                <a:solidFill>
                  <a:srgbClr val="FFFFFF"/>
                </a:solidFill>
                <a:latin typeface="Arial"/>
              </a:rPr>
              <a:t>Prepago esperado acumulado por maduración</a:t>
            </a:r>
          </a:p>
          <a:p>
            <a:pPr algn="ctr">
              <a:lnSpc>
                <a:spcPct val="115000"/>
              </a:lnSpc>
            </a:pPr>
            <a:r>
              <a:rPr lang="es-ES_tradnl" b="1" i="0" noProof="0" dirty="0">
                <a:solidFill>
                  <a:srgbClr val="FFFFFF"/>
                </a:solidFill>
                <a:latin typeface="Arial"/>
              </a:rPr>
              <a:t>= Probabilidad × Mₜ</a:t>
            </a:r>
          </a:p>
        </p:txBody>
      </p:sp>
      <p:sp>
        <p:nvSpPr>
          <p:cNvPr id="132" name="Rectangle 131">
            <a:extLst>
              <a:ext uri="{FF2B5EF4-FFF2-40B4-BE49-F238E27FC236}">
                <a16:creationId xmlns:a16="http://schemas.microsoft.com/office/drawing/2014/main" id="{D2CE6B49-05E1-4597-A50E-6E679028F9DC}"/>
              </a:ext>
            </a:extLst>
          </p:cNvPr>
          <p:cNvSpPr/>
          <p:nvPr/>
        </p:nvSpPr>
        <p:spPr>
          <a:xfrm>
            <a:off x="10533888" y="1664208"/>
            <a:ext cx="5063764" cy="544068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sp>
        <p:nvSpPr>
          <p:cNvPr id="133" name="Rectangle 132">
            <a:extLst>
              <a:ext uri="{FF2B5EF4-FFF2-40B4-BE49-F238E27FC236}">
                <a16:creationId xmlns:a16="http://schemas.microsoft.com/office/drawing/2014/main" id="{F6330BF9-D3EA-C170-01E8-C83CF645B2D7}"/>
              </a:ext>
            </a:extLst>
          </p:cNvPr>
          <p:cNvSpPr/>
          <p:nvPr/>
        </p:nvSpPr>
        <p:spPr>
          <a:xfrm>
            <a:off x="10533888" y="1664208"/>
            <a:ext cx="5063764"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i="0" noProof="0" dirty="0">
                <a:solidFill>
                  <a:srgbClr val="FFFFFF"/>
                </a:solidFill>
                <a:latin typeface="Arial"/>
              </a:rPr>
              <a:t>CURVA RESULTANTE</a:t>
            </a:r>
          </a:p>
        </p:txBody>
      </p:sp>
      <p:sp>
        <p:nvSpPr>
          <p:cNvPr id="134" name="Rectangle 133">
            <a:extLst>
              <a:ext uri="{FF2B5EF4-FFF2-40B4-BE49-F238E27FC236}">
                <a16:creationId xmlns:a16="http://schemas.microsoft.com/office/drawing/2014/main" id="{48219B90-2860-87CC-A832-C3F2C88E6BC9}"/>
              </a:ext>
            </a:extLst>
          </p:cNvPr>
          <p:cNvSpPr/>
          <p:nvPr/>
        </p:nvSpPr>
        <p:spPr>
          <a:xfrm>
            <a:off x="14536948" y="2084832"/>
            <a:ext cx="914400"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lang="es-ES_tradnl" sz="1000" b="1" i="0" noProof="0" dirty="0">
                <a:solidFill>
                  <a:srgbClr val="FFFFFF"/>
                </a:solidFill>
                <a:latin typeface="Arial"/>
              </a:rPr>
              <a:t>ILUSTRATIVO</a:t>
            </a:r>
          </a:p>
        </p:txBody>
      </p:sp>
      <p:pic>
        <p:nvPicPr>
          <p:cNvPr id="135" name="Picture 134" descr="prep_rec.png">
            <a:extLst>
              <a:ext uri="{FF2B5EF4-FFF2-40B4-BE49-F238E27FC236}">
                <a16:creationId xmlns:a16="http://schemas.microsoft.com/office/drawing/2014/main" id="{9CE3EC51-E0A7-5692-2DA9-42FB9E792351}"/>
              </a:ext>
            </a:extLst>
          </p:cNvPr>
          <p:cNvPicPr>
            <a:picLocks noChangeAspect="1"/>
          </p:cNvPicPr>
          <p:nvPr/>
        </p:nvPicPr>
        <p:blipFill>
          <a:blip r:embed="rId3"/>
          <a:stretch>
            <a:fillRect/>
          </a:stretch>
        </p:blipFill>
        <p:spPr>
          <a:xfrm>
            <a:off x="10808208" y="2487168"/>
            <a:ext cx="4515124" cy="2565411"/>
          </a:xfrm>
          <a:prstGeom prst="rect">
            <a:avLst/>
          </a:prstGeom>
        </p:spPr>
      </p:pic>
      <p:sp>
        <p:nvSpPr>
          <p:cNvPr id="136" name="Rectangle 135">
            <a:extLst>
              <a:ext uri="{FF2B5EF4-FFF2-40B4-BE49-F238E27FC236}">
                <a16:creationId xmlns:a16="http://schemas.microsoft.com/office/drawing/2014/main" id="{D7FE4E13-0D59-5C4A-2CF1-243C9BA40020}"/>
              </a:ext>
            </a:extLst>
          </p:cNvPr>
          <p:cNvSpPr/>
          <p:nvPr/>
        </p:nvSpPr>
        <p:spPr>
          <a:xfrm>
            <a:off x="10753344" y="5367528"/>
            <a:ext cx="4624852" cy="146304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p>
        </p:txBody>
      </p:sp>
      <p:cxnSp>
        <p:nvCxnSpPr>
          <p:cNvPr id="153" name="Connector 34">
            <a:extLst>
              <a:ext uri="{FF2B5EF4-FFF2-40B4-BE49-F238E27FC236}">
                <a16:creationId xmlns:a16="http://schemas.microsoft.com/office/drawing/2014/main" id="{992D7C34-DBA6-2862-0157-AF2D74D615D2}"/>
              </a:ext>
            </a:extLst>
          </p:cNvPr>
          <p:cNvCxnSpPr/>
          <p:nvPr/>
        </p:nvCxnSpPr>
        <p:spPr>
          <a:xfrm>
            <a:off x="10753344" y="5367528"/>
            <a:ext cx="0" cy="1463040"/>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54" name="TextBox 153">
            <a:extLst>
              <a:ext uri="{FF2B5EF4-FFF2-40B4-BE49-F238E27FC236}">
                <a16:creationId xmlns:a16="http://schemas.microsoft.com/office/drawing/2014/main" id="{C68D5C08-30F3-D78D-33A6-BDC85F2284F4}"/>
              </a:ext>
            </a:extLst>
          </p:cNvPr>
          <p:cNvSpPr txBox="1"/>
          <p:nvPr/>
        </p:nvSpPr>
        <p:spPr>
          <a:xfrm>
            <a:off x="10917936" y="5727281"/>
            <a:ext cx="4295668" cy="743537"/>
          </a:xfrm>
          <a:prstGeom prst="rect">
            <a:avLst/>
          </a:prstGeom>
          <a:noFill/>
        </p:spPr>
        <p:txBody>
          <a:bodyPr wrap="square" lIns="0" tIns="0" rIns="0" bIns="0" anchor="ctr">
            <a:spAutoFit/>
          </a:bodyPr>
          <a:lstStyle/>
          <a:p>
            <a:pPr algn="l">
              <a:lnSpc>
                <a:spcPct val="112000"/>
              </a:lnSpc>
              <a:spcAft>
                <a:spcPts val="200"/>
              </a:spcAft>
            </a:pPr>
            <a:r>
              <a:rPr lang="es-ES_tradnl" sz="1100" b="1" i="0" noProof="0" dirty="0">
                <a:solidFill>
                  <a:srgbClr val="13807B"/>
                </a:solidFill>
                <a:latin typeface="Arial"/>
              </a:rPr>
              <a:t>Nota</a:t>
            </a:r>
          </a:p>
          <a:p>
            <a:pPr algn="l">
              <a:lnSpc>
                <a:spcPct val="112000"/>
              </a:lnSpc>
              <a:spcAft>
                <a:spcPts val="200"/>
              </a:spcAft>
            </a:pPr>
            <a:r>
              <a:rPr lang="es-ES_tradnl" sz="1050" b="0" i="0" noProof="0" dirty="0">
                <a:solidFill>
                  <a:srgbClr val="3E5553"/>
                </a:solidFill>
                <a:latin typeface="Arial"/>
              </a:rPr>
              <a:t>Mediante la proyección recursiva se obtiene la evolución esperada del prepago acumulado para cada mes de maduración, desde la </a:t>
            </a:r>
            <a:r>
              <a:rPr lang="es-ES_tradnl" sz="1050" b="0" i="0" noProof="0" dirty="0" err="1">
                <a:solidFill>
                  <a:srgbClr val="3E5553"/>
                </a:solidFill>
                <a:latin typeface="Arial"/>
              </a:rPr>
              <a:t>originación</a:t>
            </a:r>
            <a:r>
              <a:rPr lang="es-ES_tradnl" sz="1050" b="0" i="0" noProof="0" dirty="0">
                <a:solidFill>
                  <a:srgbClr val="3E5553"/>
                </a:solidFill>
                <a:latin typeface="Arial"/>
              </a:rPr>
              <a:t> hasta el plazo definido.</a:t>
            </a:r>
          </a:p>
        </p:txBody>
      </p:sp>
      <p:sp>
        <p:nvSpPr>
          <p:cNvPr id="155" name="Rectangle 154">
            <a:extLst>
              <a:ext uri="{FF2B5EF4-FFF2-40B4-BE49-F238E27FC236}">
                <a16:creationId xmlns:a16="http://schemas.microsoft.com/office/drawing/2014/main" id="{819D5238-E4D6-CBB0-AF68-CB82F62949F9}"/>
              </a:ext>
            </a:extLst>
          </p:cNvPr>
          <p:cNvSpPr/>
          <p:nvPr/>
        </p:nvSpPr>
        <p:spPr>
          <a:xfrm>
            <a:off x="658368" y="7697867"/>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cxnSp>
        <p:nvCxnSpPr>
          <p:cNvPr id="156" name="Connector 37">
            <a:extLst>
              <a:ext uri="{FF2B5EF4-FFF2-40B4-BE49-F238E27FC236}">
                <a16:creationId xmlns:a16="http://schemas.microsoft.com/office/drawing/2014/main" id="{02601BB5-42E4-E49F-A09A-734A9B1DA610}"/>
              </a:ext>
            </a:extLst>
          </p:cNvPr>
          <p:cNvCxnSpPr/>
          <p:nvPr/>
        </p:nvCxnSpPr>
        <p:spPr>
          <a:xfrm>
            <a:off x="658368" y="7697867"/>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57" name="TextBox 156">
            <a:extLst>
              <a:ext uri="{FF2B5EF4-FFF2-40B4-BE49-F238E27FC236}">
                <a16:creationId xmlns:a16="http://schemas.microsoft.com/office/drawing/2014/main" id="{9DACFE3B-123D-8867-9206-9BA45B9134CB}"/>
              </a:ext>
            </a:extLst>
          </p:cNvPr>
          <p:cNvSpPr txBox="1"/>
          <p:nvPr/>
        </p:nvSpPr>
        <p:spPr>
          <a:xfrm>
            <a:off x="896112" y="7851809"/>
            <a:ext cx="14482084" cy="259045"/>
          </a:xfrm>
          <a:prstGeom prst="rect">
            <a:avLst/>
          </a:prstGeom>
          <a:noFill/>
        </p:spPr>
        <p:txBody>
          <a:bodyPr wrap="square" lIns="0" tIns="0" rIns="0" bIns="0" anchor="ctr">
            <a:spAutoFit/>
          </a:bodyPr>
          <a:lstStyle/>
          <a:p>
            <a:pPr algn="l">
              <a:lnSpc>
                <a:spcPct val="115000"/>
              </a:lnSpc>
              <a:spcAft>
                <a:spcPts val="400"/>
              </a:spcAft>
            </a:pPr>
            <a:r>
              <a:rPr lang="es-ES_tradnl" sz="1600" b="1" i="0" noProof="0" dirty="0">
                <a:solidFill>
                  <a:srgbClr val="0C514E"/>
                </a:solidFill>
                <a:latin typeface="Arial"/>
              </a:rPr>
              <a:t>Esta curva es el insumo directo del motor PLV: ajusta flujos, </a:t>
            </a:r>
            <a:r>
              <a:rPr lang="es-ES_tradnl" sz="1600" b="1" i="0" noProof="0" dirty="0" err="1">
                <a:solidFill>
                  <a:srgbClr val="0C514E"/>
                </a:solidFill>
                <a:latin typeface="Arial"/>
              </a:rPr>
              <a:t>duration</a:t>
            </a:r>
            <a:r>
              <a:rPr lang="es-ES_tradnl" sz="1600" b="1" i="0" noProof="0" dirty="0">
                <a:solidFill>
                  <a:srgbClr val="0C514E"/>
                </a:solidFill>
                <a:latin typeface="Arial"/>
              </a:rPr>
              <a:t> y exposición de cada crédito.</a:t>
            </a:r>
          </a:p>
        </p:txBody>
      </p:sp>
    </p:spTree>
    <p:extLst>
      <p:ext uri="{BB962C8B-B14F-4D97-AF65-F5344CB8AC3E}">
        <p14:creationId xmlns:p14="http://schemas.microsoft.com/office/powerpoint/2010/main" val="7833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5953CB77-B2A1-E074-5184-20687124CB9A}"/>
            </a:ext>
          </a:extLst>
        </p:cNvPr>
        <p:cNvGrpSpPr/>
        <p:nvPr/>
      </p:nvGrpSpPr>
      <p:grpSpPr>
        <a:xfrm>
          <a:off x="0" y="0"/>
          <a:ext cx="0" cy="0"/>
          <a:chOff x="0" y="0"/>
          <a:chExt cx="0" cy="0"/>
        </a:xfrm>
      </p:grpSpPr>
      <p:sp>
        <p:nvSpPr>
          <p:cNvPr id="53" name="Google Shape;53;g3d1edd8623c_1_0">
            <a:extLst>
              <a:ext uri="{FF2B5EF4-FFF2-40B4-BE49-F238E27FC236}">
                <a16:creationId xmlns:a16="http://schemas.microsoft.com/office/drawing/2014/main" id="{F8A4C4E1-D952-8914-FBE3-47E7B506A37D}"/>
              </a:ext>
            </a:extLst>
          </p:cNvPr>
          <p:cNvSpPr txBox="1">
            <a:spLocks noGrp="1"/>
          </p:cNvSpPr>
          <p:nvPr>
            <p:ph type="title"/>
          </p:nvPr>
        </p:nvSpPr>
        <p:spPr>
          <a:xfrm>
            <a:off x="431800" y="2614300"/>
            <a:ext cx="8737500" cy="4073400"/>
          </a:xfrm>
          <a:prstGeom prst="rect">
            <a:avLst/>
          </a:prstGeom>
          <a:noFill/>
          <a:ln>
            <a:noFill/>
          </a:ln>
        </p:spPr>
        <p:txBody>
          <a:bodyPr spcFirstLastPara="1" wrap="square" lIns="91425" tIns="45700" rIns="91425" bIns="45700" anchor="ctr" anchorCtr="0">
            <a:normAutofit/>
          </a:bodyPr>
          <a:lstStyle/>
          <a:p>
            <a:pPr lvl="0"/>
            <a:r>
              <a:rPr lang="es-ES_tradnl" sz="4700" noProof="0" dirty="0"/>
              <a:t>Pricing 360°: </a:t>
            </a:r>
            <a:r>
              <a:rPr lang="es-ES_tradnl" sz="4700" noProof="0" dirty="0" err="1"/>
              <a:t>Checkpoint</a:t>
            </a:r>
            <a:r>
              <a:rPr lang="es-ES_tradnl" sz="4700" noProof="0" dirty="0"/>
              <a:t> Modelos  </a:t>
            </a:r>
          </a:p>
          <a:p>
            <a:pPr marL="0" lvl="0" indent="0" algn="l" rtl="0">
              <a:lnSpc>
                <a:spcPct val="100000"/>
              </a:lnSpc>
              <a:spcBef>
                <a:spcPts val="0"/>
              </a:spcBef>
              <a:spcAft>
                <a:spcPts val="0"/>
              </a:spcAft>
              <a:buSzPts val="4400"/>
              <a:buNone/>
            </a:pPr>
            <a:r>
              <a:rPr lang="es-ES_tradnl" b="0" noProof="0" dirty="0" err="1"/>
              <a:t>Precancelaciones</a:t>
            </a:r>
            <a:r>
              <a:rPr lang="es-ES_tradnl" b="0" noProof="0" dirty="0"/>
              <a:t> </a:t>
            </a:r>
            <a:r>
              <a:rPr lang="es-ES_tradnl" b="0" noProof="0" dirty="0" err="1"/>
              <a:t>Lifetime</a:t>
            </a:r>
            <a:endParaRPr lang="es-ES_tradnl" b="0" noProof="0" dirty="0">
              <a:highlight>
                <a:srgbClr val="FFFF00"/>
              </a:highlight>
            </a:endParaRPr>
          </a:p>
        </p:txBody>
      </p:sp>
      <p:sp>
        <p:nvSpPr>
          <p:cNvPr id="54" name="Google Shape;54;g3d1edd8623c_1_0">
            <a:extLst>
              <a:ext uri="{FF2B5EF4-FFF2-40B4-BE49-F238E27FC236}">
                <a16:creationId xmlns:a16="http://schemas.microsoft.com/office/drawing/2014/main" id="{4A8C6725-6D97-2231-5CAF-93807F3DA0F5}"/>
              </a:ext>
            </a:extLst>
          </p:cNvPr>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cxnSp>
        <p:nvCxnSpPr>
          <p:cNvPr id="55" name="Google Shape;55;g3d1edd8623c_1_0">
            <a:extLst>
              <a:ext uri="{FF2B5EF4-FFF2-40B4-BE49-F238E27FC236}">
                <a16:creationId xmlns:a16="http://schemas.microsoft.com/office/drawing/2014/main" id="{BD2172A8-B87C-F1E8-3C29-792D28C33BE3}"/>
              </a:ext>
            </a:extLst>
          </p:cNvPr>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56" name="Google Shape;56;g3d1edd8623c_1_0">
            <a:extLst>
              <a:ext uri="{FF2B5EF4-FFF2-40B4-BE49-F238E27FC236}">
                <a16:creationId xmlns:a16="http://schemas.microsoft.com/office/drawing/2014/main" id="{354D49C8-90ED-33BA-12CA-AB9624DB1EAC}"/>
              </a:ext>
            </a:extLst>
          </p:cNvPr>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pic>
        <p:nvPicPr>
          <p:cNvPr id="57" name="Google Shape;57;g3d1edd8623c_1_0">
            <a:extLst>
              <a:ext uri="{FF2B5EF4-FFF2-40B4-BE49-F238E27FC236}">
                <a16:creationId xmlns:a16="http://schemas.microsoft.com/office/drawing/2014/main" id="{A26C317C-2EA7-197A-0570-E02925BF01E4}"/>
              </a:ext>
            </a:extLst>
          </p:cNvPr>
          <p:cNvPicPr preferRelativeResize="0"/>
          <p:nvPr/>
        </p:nvPicPr>
        <p:blipFill rotWithShape="1">
          <a:blip r:embed="rId3">
            <a:alphaModFix/>
          </a:blip>
          <a:srcRect/>
          <a:stretch/>
        </p:blipFill>
        <p:spPr>
          <a:xfrm>
            <a:off x="15168189" y="223789"/>
            <a:ext cx="792749" cy="375950"/>
          </a:xfrm>
          <a:prstGeom prst="rect">
            <a:avLst/>
          </a:prstGeom>
          <a:noFill/>
          <a:ln>
            <a:noFill/>
          </a:ln>
        </p:spPr>
      </p:pic>
    </p:spTree>
    <p:extLst>
      <p:ext uri="{BB962C8B-B14F-4D97-AF65-F5344CB8AC3E}">
        <p14:creationId xmlns:p14="http://schemas.microsoft.com/office/powerpoint/2010/main" val="1867943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1F310-CA80-1A0A-D29B-B876EC51967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EA82AC-6ACA-6B37-256C-787C5BAFDA7C}"/>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0E9A5080-1B84-6187-406F-25B05DCA4285}"/>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err="1">
                <a:solidFill>
                  <a:srgbClr val="13807B"/>
                </a:solidFill>
                <a:latin typeface="Poppins"/>
                <a:ea typeface="Poppins"/>
                <a:cs typeface="Poppins"/>
                <a:sym typeface="Poppins"/>
              </a:rPr>
              <a:t>Precancelaciones</a:t>
            </a:r>
            <a:r>
              <a:rPr lang="es-ES_tradnl" sz="3200" b="1" kern="1200" noProof="0" dirty="0">
                <a:solidFill>
                  <a:srgbClr val="13807B"/>
                </a:solidFill>
                <a:latin typeface="Poppins"/>
                <a:ea typeface="Poppins"/>
                <a:cs typeface="Poppins"/>
                <a:sym typeface="Poppins"/>
              </a:rPr>
              <a:t> </a:t>
            </a:r>
            <a:r>
              <a:rPr lang="es-ES_tradnl" sz="3200" b="1" kern="1200" noProof="0" dirty="0" err="1">
                <a:solidFill>
                  <a:srgbClr val="13807B"/>
                </a:solidFill>
                <a:latin typeface="Poppins"/>
                <a:ea typeface="Poppins"/>
                <a:cs typeface="Poppins"/>
                <a:sym typeface="Poppins"/>
              </a:rPr>
              <a:t>Lifetime</a:t>
            </a:r>
            <a:endParaRPr lang="es-ES_tradnl" sz="3200" b="1" kern="1200" noProof="0" dirty="0">
              <a:solidFill>
                <a:srgbClr val="13807B"/>
              </a:solidFill>
              <a:latin typeface="Poppins"/>
              <a:ea typeface="Poppins"/>
              <a:cs typeface="Poppins"/>
              <a:sym typeface="Poppins"/>
            </a:endParaRPr>
          </a:p>
        </p:txBody>
      </p:sp>
      <p:cxnSp>
        <p:nvCxnSpPr>
          <p:cNvPr id="7" name="Connector 3">
            <a:extLst>
              <a:ext uri="{FF2B5EF4-FFF2-40B4-BE49-F238E27FC236}">
                <a16:creationId xmlns:a16="http://schemas.microsoft.com/office/drawing/2014/main" id="{80DCB04C-B2A7-3BC8-5916-0967CB5149EE}"/>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9B7A9B30-C905-8636-7781-D682DBA993D2}"/>
              </a:ext>
            </a:extLst>
          </p:cNvPr>
          <p:cNvSpPr/>
          <p:nvPr/>
        </p:nvSpPr>
        <p:spPr>
          <a:xfrm>
            <a:off x="658368" y="1577706"/>
            <a:ext cx="14939284" cy="575341"/>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cxnSp>
        <p:nvCxnSpPr>
          <p:cNvPr id="10" name="Connector 8">
            <a:extLst>
              <a:ext uri="{FF2B5EF4-FFF2-40B4-BE49-F238E27FC236}">
                <a16:creationId xmlns:a16="http://schemas.microsoft.com/office/drawing/2014/main" id="{84F3C4D5-99B2-990A-0D5B-4C55ED10B193}"/>
              </a:ext>
            </a:extLst>
          </p:cNvPr>
          <p:cNvCxnSpPr/>
          <p:nvPr/>
        </p:nvCxnSpPr>
        <p:spPr>
          <a:xfrm>
            <a:off x="658368" y="1577706"/>
            <a:ext cx="0" cy="575341"/>
          </a:xfrm>
          <a:prstGeom prst="line">
            <a:avLst/>
          </a:prstGeom>
          <a:ln w="31750">
            <a:solidFill>
              <a:schemeClr val="bg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1916E32-2711-EA1C-DF4E-8F60F6FA97A9}"/>
              </a:ext>
            </a:extLst>
          </p:cNvPr>
          <p:cNvSpPr txBox="1"/>
          <p:nvPr/>
        </p:nvSpPr>
        <p:spPr>
          <a:xfrm>
            <a:off x="822959" y="1603736"/>
            <a:ext cx="14610100" cy="523285"/>
          </a:xfrm>
          <a:prstGeom prst="rect">
            <a:avLst/>
          </a:prstGeom>
          <a:noFill/>
        </p:spPr>
        <p:txBody>
          <a:bodyPr wrap="square" lIns="0" tIns="0" rIns="0" bIns="0" anchor="ctr">
            <a:spAutoFit/>
          </a:bodyPr>
          <a:lstStyle/>
          <a:p>
            <a:pPr algn="l">
              <a:lnSpc>
                <a:spcPct val="112000"/>
              </a:lnSpc>
              <a:spcAft>
                <a:spcPts val="200"/>
              </a:spcAft>
            </a:pPr>
            <a:r>
              <a:rPr lang="es-ES_tradnl" sz="1600" b="1" i="0" noProof="0" dirty="0">
                <a:latin typeface="Arial"/>
              </a:rPr>
              <a:t>Nuestro objetivo</a:t>
            </a:r>
          </a:p>
          <a:p>
            <a:pPr algn="l">
              <a:lnSpc>
                <a:spcPct val="112000"/>
              </a:lnSpc>
              <a:spcAft>
                <a:spcPts val="200"/>
              </a:spcAft>
            </a:pPr>
            <a:r>
              <a:rPr lang="es-ES_tradnl" b="0" i="0" noProof="0" dirty="0">
                <a:solidFill>
                  <a:srgbClr val="3E5553"/>
                </a:solidFill>
                <a:latin typeface="Arial"/>
              </a:rPr>
              <a:t>Estimar la probabilidad acumulada de cancelación anticipada de una operación en cada punto de maduración, usando información disponible en </a:t>
            </a:r>
            <a:r>
              <a:rPr lang="es-ES_tradnl" b="0" i="0" noProof="0" dirty="0" err="1">
                <a:solidFill>
                  <a:srgbClr val="3E5553"/>
                </a:solidFill>
                <a:latin typeface="Arial"/>
              </a:rPr>
              <a:t>originación</a:t>
            </a:r>
            <a:r>
              <a:rPr lang="es-ES_tradnl" b="0" i="0" noProof="0" dirty="0">
                <a:solidFill>
                  <a:srgbClr val="3E5553"/>
                </a:solidFill>
                <a:latin typeface="Arial"/>
              </a:rPr>
              <a:t>.</a:t>
            </a:r>
          </a:p>
        </p:txBody>
      </p:sp>
      <p:sp>
        <p:nvSpPr>
          <p:cNvPr id="12" name="Rectangle 11">
            <a:extLst>
              <a:ext uri="{FF2B5EF4-FFF2-40B4-BE49-F238E27FC236}">
                <a16:creationId xmlns:a16="http://schemas.microsoft.com/office/drawing/2014/main" id="{60A8C246-6D67-4F3F-07A5-9FD350A092F6}"/>
              </a:ext>
            </a:extLst>
          </p:cNvPr>
          <p:cNvSpPr/>
          <p:nvPr/>
        </p:nvSpPr>
        <p:spPr>
          <a:xfrm>
            <a:off x="658368" y="2286000"/>
            <a:ext cx="5394960" cy="2103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13" name="Rectangle 12">
            <a:extLst>
              <a:ext uri="{FF2B5EF4-FFF2-40B4-BE49-F238E27FC236}">
                <a16:creationId xmlns:a16="http://schemas.microsoft.com/office/drawing/2014/main" id="{65F0E236-95EA-307B-3B36-5FF939D6D082}"/>
              </a:ext>
            </a:extLst>
          </p:cNvPr>
          <p:cNvSpPr/>
          <p:nvPr/>
        </p:nvSpPr>
        <p:spPr>
          <a:xfrm>
            <a:off x="658368" y="2286000"/>
            <a:ext cx="53949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Arial"/>
              </a:rPr>
              <a:t>¿QUÉ ES UNA PRECANCELACIÓN?</a:t>
            </a:r>
          </a:p>
        </p:txBody>
      </p:sp>
      <p:sp>
        <p:nvSpPr>
          <p:cNvPr id="14" name="TextBox 13">
            <a:extLst>
              <a:ext uri="{FF2B5EF4-FFF2-40B4-BE49-F238E27FC236}">
                <a16:creationId xmlns:a16="http://schemas.microsoft.com/office/drawing/2014/main" id="{CADB183A-56C6-4AC2-57A4-60FE67C0D3D4}"/>
              </a:ext>
            </a:extLst>
          </p:cNvPr>
          <p:cNvSpPr txBox="1"/>
          <p:nvPr/>
        </p:nvSpPr>
        <p:spPr>
          <a:xfrm>
            <a:off x="896112" y="2676428"/>
            <a:ext cx="4919472" cy="899798"/>
          </a:xfrm>
          <a:prstGeom prst="rect">
            <a:avLst/>
          </a:prstGeom>
          <a:noFill/>
        </p:spPr>
        <p:txBody>
          <a:bodyPr wrap="square" lIns="0" tIns="0" rIns="0" bIns="0" anchor="t">
            <a:spAutoFit/>
          </a:bodyPr>
          <a:lstStyle/>
          <a:p>
            <a:pPr algn="l">
              <a:lnSpc>
                <a:spcPct val="126000"/>
              </a:lnSpc>
            </a:pPr>
            <a:r>
              <a:rPr lang="es-ES_tradnl" sz="1600" b="0" i="0" noProof="0" dirty="0">
                <a:solidFill>
                  <a:srgbClr val="3E5553"/>
                </a:solidFill>
                <a:latin typeface="Arial"/>
              </a:rPr>
              <a:t>Ocurre cuando el cliente cancela anticipadamente la totalidad del crédito antes de su vencimiento contractual.</a:t>
            </a:r>
          </a:p>
        </p:txBody>
      </p:sp>
      <p:sp>
        <p:nvSpPr>
          <p:cNvPr id="15" name="Rectangle 14">
            <a:extLst>
              <a:ext uri="{FF2B5EF4-FFF2-40B4-BE49-F238E27FC236}">
                <a16:creationId xmlns:a16="http://schemas.microsoft.com/office/drawing/2014/main" id="{40601203-DF3D-38B6-5396-79E72AEEBA79}"/>
              </a:ext>
            </a:extLst>
          </p:cNvPr>
          <p:cNvSpPr/>
          <p:nvPr/>
        </p:nvSpPr>
        <p:spPr>
          <a:xfrm>
            <a:off x="896112" y="3639312"/>
            <a:ext cx="4919472" cy="54864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16" name="TextBox 15">
            <a:extLst>
              <a:ext uri="{FF2B5EF4-FFF2-40B4-BE49-F238E27FC236}">
                <a16:creationId xmlns:a16="http://schemas.microsoft.com/office/drawing/2014/main" id="{E107F3EF-B335-738C-2FE4-BC010BF2F4F8}"/>
              </a:ext>
            </a:extLst>
          </p:cNvPr>
          <p:cNvSpPr txBox="1"/>
          <p:nvPr/>
        </p:nvSpPr>
        <p:spPr>
          <a:xfrm>
            <a:off x="1060704" y="3679890"/>
            <a:ext cx="4590288" cy="485774"/>
          </a:xfrm>
          <a:prstGeom prst="rect">
            <a:avLst/>
          </a:prstGeom>
          <a:noFill/>
        </p:spPr>
        <p:txBody>
          <a:bodyPr wrap="square" lIns="0" tIns="0" rIns="0" bIns="0" anchor="ctr">
            <a:spAutoFit/>
          </a:bodyPr>
          <a:lstStyle/>
          <a:p>
            <a:pPr algn="l">
              <a:lnSpc>
                <a:spcPct val="118000"/>
              </a:lnSpc>
              <a:spcAft>
                <a:spcPts val="400"/>
              </a:spcAft>
            </a:pPr>
            <a:r>
              <a:rPr lang="es-ES_tradnl" b="1" i="0" noProof="0" dirty="0">
                <a:solidFill>
                  <a:srgbClr val="C04B4B"/>
                </a:solidFill>
                <a:latin typeface="Arial"/>
              </a:rPr>
              <a:t>Respondemos:  </a:t>
            </a:r>
            <a:r>
              <a:rPr lang="es-ES_tradnl" b="0" i="1" noProof="0" dirty="0">
                <a:solidFill>
                  <a:srgbClr val="3E5553"/>
                </a:solidFill>
                <a:latin typeface="Arial"/>
              </a:rPr>
              <a:t>¿cuál es la probabilidad de que un crédito haya </a:t>
            </a:r>
            <a:r>
              <a:rPr lang="es-ES_tradnl" b="0" i="1" noProof="0" dirty="0" err="1">
                <a:solidFill>
                  <a:srgbClr val="3E5553"/>
                </a:solidFill>
                <a:latin typeface="Arial"/>
              </a:rPr>
              <a:t>precancelado</a:t>
            </a:r>
            <a:r>
              <a:rPr lang="es-ES_tradnl" b="0" i="1" noProof="0" dirty="0">
                <a:solidFill>
                  <a:srgbClr val="3E5553"/>
                </a:solidFill>
                <a:latin typeface="Arial"/>
              </a:rPr>
              <a:t> hasta la maduración t?</a:t>
            </a:r>
          </a:p>
        </p:txBody>
      </p:sp>
      <p:sp>
        <p:nvSpPr>
          <p:cNvPr id="17" name="Rectangle 16">
            <a:extLst>
              <a:ext uri="{FF2B5EF4-FFF2-40B4-BE49-F238E27FC236}">
                <a16:creationId xmlns:a16="http://schemas.microsoft.com/office/drawing/2014/main" id="{358CAE8C-4589-399E-6E78-CD9E4D67A1F9}"/>
              </a:ext>
            </a:extLst>
          </p:cNvPr>
          <p:cNvSpPr/>
          <p:nvPr/>
        </p:nvSpPr>
        <p:spPr>
          <a:xfrm>
            <a:off x="6510528" y="2286000"/>
            <a:ext cx="9087124" cy="2103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18" name="Rectangle 17">
            <a:extLst>
              <a:ext uri="{FF2B5EF4-FFF2-40B4-BE49-F238E27FC236}">
                <a16:creationId xmlns:a16="http://schemas.microsoft.com/office/drawing/2014/main" id="{9B1C98DE-2756-EAA1-2D6B-22B5BB221963}"/>
              </a:ext>
            </a:extLst>
          </p:cNvPr>
          <p:cNvSpPr/>
          <p:nvPr/>
        </p:nvSpPr>
        <p:spPr>
          <a:xfrm>
            <a:off x="6510528" y="2286000"/>
            <a:ext cx="9087124" cy="32918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Arial"/>
              </a:rPr>
              <a:t>INSUMOS</a:t>
            </a:r>
          </a:p>
        </p:txBody>
      </p:sp>
      <p:sp>
        <p:nvSpPr>
          <p:cNvPr id="19" name="Rectangle 18">
            <a:extLst>
              <a:ext uri="{FF2B5EF4-FFF2-40B4-BE49-F238E27FC236}">
                <a16:creationId xmlns:a16="http://schemas.microsoft.com/office/drawing/2014/main" id="{1F7EBF6A-34C7-FE70-16D8-A831BFB57651}"/>
              </a:ext>
            </a:extLst>
          </p:cNvPr>
          <p:cNvSpPr/>
          <p:nvPr/>
        </p:nvSpPr>
        <p:spPr>
          <a:xfrm>
            <a:off x="6729984" y="2779776"/>
            <a:ext cx="8648212" cy="69494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20" name="Rectangle 19">
            <a:extLst>
              <a:ext uri="{FF2B5EF4-FFF2-40B4-BE49-F238E27FC236}">
                <a16:creationId xmlns:a16="http://schemas.microsoft.com/office/drawing/2014/main" id="{C2515941-D9DD-A7C7-61A3-CA61D9502E5A}"/>
              </a:ext>
            </a:extLst>
          </p:cNvPr>
          <p:cNvSpPr/>
          <p:nvPr/>
        </p:nvSpPr>
        <p:spPr>
          <a:xfrm>
            <a:off x="6729984" y="2779776"/>
            <a:ext cx="45720" cy="69494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21" name="TextBox 20">
            <a:extLst>
              <a:ext uri="{FF2B5EF4-FFF2-40B4-BE49-F238E27FC236}">
                <a16:creationId xmlns:a16="http://schemas.microsoft.com/office/drawing/2014/main" id="{5E4144DB-A369-B6C2-F6E7-3BA36B912B9D}"/>
              </a:ext>
            </a:extLst>
          </p:cNvPr>
          <p:cNvSpPr txBox="1"/>
          <p:nvPr/>
        </p:nvSpPr>
        <p:spPr>
          <a:xfrm>
            <a:off x="6912864" y="2871216"/>
            <a:ext cx="8300740" cy="215444"/>
          </a:xfrm>
          <a:prstGeom prst="rect">
            <a:avLst/>
          </a:prstGeom>
          <a:noFill/>
        </p:spPr>
        <p:txBody>
          <a:bodyPr wrap="square" lIns="0" tIns="0" rIns="0" bIns="0" anchor="t">
            <a:spAutoFit/>
          </a:bodyPr>
          <a:lstStyle/>
          <a:p>
            <a:pPr algn="l">
              <a:lnSpc>
                <a:spcPct val="100000"/>
              </a:lnSpc>
            </a:pPr>
            <a:r>
              <a:rPr lang="es-ES_tradnl" b="1" i="0" noProof="0" dirty="0" err="1">
                <a:solidFill>
                  <a:srgbClr val="445A6E"/>
                </a:solidFill>
                <a:latin typeface="Arial"/>
              </a:rPr>
              <a:t>Originación</a:t>
            </a:r>
            <a:endParaRPr lang="es-ES_tradnl" b="1" i="0" noProof="0" dirty="0">
              <a:solidFill>
                <a:srgbClr val="445A6E"/>
              </a:solidFill>
              <a:latin typeface="Arial"/>
            </a:endParaRPr>
          </a:p>
        </p:txBody>
      </p:sp>
      <p:sp>
        <p:nvSpPr>
          <p:cNvPr id="22" name="TextBox 21">
            <a:extLst>
              <a:ext uri="{FF2B5EF4-FFF2-40B4-BE49-F238E27FC236}">
                <a16:creationId xmlns:a16="http://schemas.microsoft.com/office/drawing/2014/main" id="{EA9F0359-1AF5-CE35-2A9B-64362B51138B}"/>
              </a:ext>
            </a:extLst>
          </p:cNvPr>
          <p:cNvSpPr txBox="1"/>
          <p:nvPr/>
        </p:nvSpPr>
        <p:spPr>
          <a:xfrm>
            <a:off x="6912864" y="3099816"/>
            <a:ext cx="8300740" cy="195695"/>
          </a:xfrm>
          <a:prstGeom prst="rect">
            <a:avLst/>
          </a:prstGeom>
          <a:noFill/>
        </p:spPr>
        <p:txBody>
          <a:bodyPr wrap="square" lIns="0" tIns="0" rIns="0" bIns="0" anchor="t">
            <a:spAutoFit/>
          </a:bodyPr>
          <a:lstStyle/>
          <a:p>
            <a:pPr algn="l">
              <a:lnSpc>
                <a:spcPct val="116000"/>
              </a:lnSpc>
            </a:pPr>
            <a:r>
              <a:rPr lang="es-ES_tradnl" sz="1200" b="0" i="0" noProof="0" dirty="0">
                <a:solidFill>
                  <a:srgbClr val="6E7E7D"/>
                </a:solidFill>
                <a:latin typeface="Arial"/>
              </a:rPr>
              <a:t>Información de cada operación: cliente, producto, información interna IBK, RCC, entre otros (2022-01 a 2026-05).</a:t>
            </a:r>
          </a:p>
        </p:txBody>
      </p:sp>
      <p:sp>
        <p:nvSpPr>
          <p:cNvPr id="23" name="Rectangle 22">
            <a:extLst>
              <a:ext uri="{FF2B5EF4-FFF2-40B4-BE49-F238E27FC236}">
                <a16:creationId xmlns:a16="http://schemas.microsoft.com/office/drawing/2014/main" id="{2907B45A-7766-6411-B043-B4DDDC8FD8F2}"/>
              </a:ext>
            </a:extLst>
          </p:cNvPr>
          <p:cNvSpPr/>
          <p:nvPr/>
        </p:nvSpPr>
        <p:spPr>
          <a:xfrm>
            <a:off x="6729984" y="3566160"/>
            <a:ext cx="8648212" cy="69494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24" name="Rectangle 23">
            <a:extLst>
              <a:ext uri="{FF2B5EF4-FFF2-40B4-BE49-F238E27FC236}">
                <a16:creationId xmlns:a16="http://schemas.microsoft.com/office/drawing/2014/main" id="{8208CE7B-871B-0BEE-2725-D25D66366884}"/>
              </a:ext>
            </a:extLst>
          </p:cNvPr>
          <p:cNvSpPr/>
          <p:nvPr/>
        </p:nvSpPr>
        <p:spPr>
          <a:xfrm>
            <a:off x="6729984" y="3566160"/>
            <a:ext cx="45720" cy="69494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25" name="TextBox 24">
            <a:extLst>
              <a:ext uri="{FF2B5EF4-FFF2-40B4-BE49-F238E27FC236}">
                <a16:creationId xmlns:a16="http://schemas.microsoft.com/office/drawing/2014/main" id="{9D122FB6-7764-A506-8F88-60209EF15C9F}"/>
              </a:ext>
            </a:extLst>
          </p:cNvPr>
          <p:cNvSpPr txBox="1"/>
          <p:nvPr/>
        </p:nvSpPr>
        <p:spPr>
          <a:xfrm>
            <a:off x="6912864" y="3657600"/>
            <a:ext cx="8300740" cy="215444"/>
          </a:xfrm>
          <a:prstGeom prst="rect">
            <a:avLst/>
          </a:prstGeom>
          <a:noFill/>
        </p:spPr>
        <p:txBody>
          <a:bodyPr wrap="square" lIns="0" tIns="0" rIns="0" bIns="0" anchor="t">
            <a:spAutoFit/>
          </a:bodyPr>
          <a:lstStyle/>
          <a:p>
            <a:pPr algn="l">
              <a:lnSpc>
                <a:spcPct val="100000"/>
              </a:lnSpc>
            </a:pPr>
            <a:r>
              <a:rPr lang="es-ES_tradnl" b="1" i="0" noProof="0" dirty="0">
                <a:solidFill>
                  <a:srgbClr val="445A6E"/>
                </a:solidFill>
                <a:latin typeface="Arial"/>
              </a:rPr>
              <a:t>Histórico de pagos</a:t>
            </a:r>
          </a:p>
        </p:txBody>
      </p:sp>
      <p:sp>
        <p:nvSpPr>
          <p:cNvPr id="26" name="TextBox 25">
            <a:extLst>
              <a:ext uri="{FF2B5EF4-FFF2-40B4-BE49-F238E27FC236}">
                <a16:creationId xmlns:a16="http://schemas.microsoft.com/office/drawing/2014/main" id="{597A4663-074B-8DD7-FFC8-0EB7CF6BBFB4}"/>
              </a:ext>
            </a:extLst>
          </p:cNvPr>
          <p:cNvSpPr txBox="1"/>
          <p:nvPr/>
        </p:nvSpPr>
        <p:spPr>
          <a:xfrm>
            <a:off x="6912864" y="3886200"/>
            <a:ext cx="8300740" cy="195695"/>
          </a:xfrm>
          <a:prstGeom prst="rect">
            <a:avLst/>
          </a:prstGeom>
          <a:noFill/>
        </p:spPr>
        <p:txBody>
          <a:bodyPr wrap="square" lIns="0" tIns="0" rIns="0" bIns="0" anchor="t">
            <a:spAutoFit/>
          </a:bodyPr>
          <a:lstStyle/>
          <a:p>
            <a:pPr algn="l">
              <a:lnSpc>
                <a:spcPct val="116000"/>
              </a:lnSpc>
            </a:pPr>
            <a:r>
              <a:rPr lang="es-ES_tradnl" sz="1200" b="0" i="0" noProof="0" dirty="0">
                <a:solidFill>
                  <a:srgbClr val="6E7E7D"/>
                </a:solidFill>
                <a:latin typeface="Arial"/>
              </a:rPr>
              <a:t>Comportamiento de pago de cada operación hasta 2026-06.</a:t>
            </a:r>
          </a:p>
        </p:txBody>
      </p:sp>
      <p:sp>
        <p:nvSpPr>
          <p:cNvPr id="27" name="TextBox 26">
            <a:extLst>
              <a:ext uri="{FF2B5EF4-FFF2-40B4-BE49-F238E27FC236}">
                <a16:creationId xmlns:a16="http://schemas.microsoft.com/office/drawing/2014/main" id="{3D410904-FFC7-11FA-171C-7C9A00C5DB16}"/>
              </a:ext>
            </a:extLst>
          </p:cNvPr>
          <p:cNvSpPr txBox="1"/>
          <p:nvPr/>
        </p:nvSpPr>
        <p:spPr>
          <a:xfrm>
            <a:off x="658368" y="4681728"/>
            <a:ext cx="9144000"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0B2E2C"/>
                </a:solidFill>
                <a:latin typeface="Arial"/>
              </a:rPr>
              <a:t>El evento puede ocurrir en cualquier maduración del crédito</a:t>
            </a:r>
          </a:p>
        </p:txBody>
      </p:sp>
      <p:cxnSp>
        <p:nvCxnSpPr>
          <p:cNvPr id="28" name="Connector 26">
            <a:extLst>
              <a:ext uri="{FF2B5EF4-FFF2-40B4-BE49-F238E27FC236}">
                <a16:creationId xmlns:a16="http://schemas.microsoft.com/office/drawing/2014/main" id="{D74A182D-4371-37F3-3751-8E00DA4F1A1E}"/>
              </a:ext>
            </a:extLst>
          </p:cNvPr>
          <p:cNvCxnSpPr/>
          <p:nvPr/>
        </p:nvCxnSpPr>
        <p:spPr>
          <a:xfrm>
            <a:off x="658368" y="4974336"/>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cxnSp>
        <p:nvCxnSpPr>
          <p:cNvPr id="29" name="Connector 27">
            <a:extLst>
              <a:ext uri="{FF2B5EF4-FFF2-40B4-BE49-F238E27FC236}">
                <a16:creationId xmlns:a16="http://schemas.microsoft.com/office/drawing/2014/main" id="{B1525764-70DB-D4D0-F1A3-1951450F4CCC}"/>
              </a:ext>
            </a:extLst>
          </p:cNvPr>
          <p:cNvCxnSpPr/>
          <p:nvPr/>
        </p:nvCxnSpPr>
        <p:spPr>
          <a:xfrm>
            <a:off x="1024128" y="5614416"/>
            <a:ext cx="14207764" cy="0"/>
          </a:xfrm>
          <a:prstGeom prst="line">
            <a:avLst/>
          </a:prstGeom>
          <a:ln w="19050">
            <a:solidFill>
              <a:srgbClr val="D5DFDE"/>
            </a:solidFill>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639F7CBD-4858-69CC-D03F-04379FE67198}"/>
              </a:ext>
            </a:extLst>
          </p:cNvPr>
          <p:cNvSpPr/>
          <p:nvPr/>
        </p:nvSpPr>
        <p:spPr>
          <a:xfrm>
            <a:off x="955548" y="5545836"/>
            <a:ext cx="137160" cy="13716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31" name="TextBox 30">
            <a:extLst>
              <a:ext uri="{FF2B5EF4-FFF2-40B4-BE49-F238E27FC236}">
                <a16:creationId xmlns:a16="http://schemas.microsoft.com/office/drawing/2014/main" id="{EDF3D346-F581-636A-2354-05D7C779B53C}"/>
              </a:ext>
            </a:extLst>
          </p:cNvPr>
          <p:cNvSpPr txBox="1"/>
          <p:nvPr/>
        </p:nvSpPr>
        <p:spPr>
          <a:xfrm>
            <a:off x="246888" y="5815584"/>
            <a:ext cx="1554480"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6E7E7D"/>
                </a:solidFill>
                <a:latin typeface="Arial"/>
              </a:rPr>
              <a:t>Maduración 0</a:t>
            </a:r>
          </a:p>
        </p:txBody>
      </p:sp>
      <p:sp>
        <p:nvSpPr>
          <p:cNvPr id="32" name="Oval 31">
            <a:extLst>
              <a:ext uri="{FF2B5EF4-FFF2-40B4-BE49-F238E27FC236}">
                <a16:creationId xmlns:a16="http://schemas.microsoft.com/office/drawing/2014/main" id="{84465040-6F3F-6206-EF3D-373745102C55}"/>
              </a:ext>
            </a:extLst>
          </p:cNvPr>
          <p:cNvSpPr/>
          <p:nvPr/>
        </p:nvSpPr>
        <p:spPr>
          <a:xfrm>
            <a:off x="4507489" y="5545836"/>
            <a:ext cx="137160" cy="13716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33" name="TextBox 32">
            <a:extLst>
              <a:ext uri="{FF2B5EF4-FFF2-40B4-BE49-F238E27FC236}">
                <a16:creationId xmlns:a16="http://schemas.microsoft.com/office/drawing/2014/main" id="{1ADF5D51-EC2F-C93E-5BFA-34C991EFD8FA}"/>
              </a:ext>
            </a:extLst>
          </p:cNvPr>
          <p:cNvSpPr txBox="1"/>
          <p:nvPr/>
        </p:nvSpPr>
        <p:spPr>
          <a:xfrm>
            <a:off x="3798829" y="5815584"/>
            <a:ext cx="1554480"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6E7E7D"/>
                </a:solidFill>
                <a:latin typeface="Arial"/>
              </a:rPr>
              <a:t>Maduración 1</a:t>
            </a:r>
          </a:p>
        </p:txBody>
      </p:sp>
      <p:sp>
        <p:nvSpPr>
          <p:cNvPr id="34" name="Oval 33">
            <a:extLst>
              <a:ext uri="{FF2B5EF4-FFF2-40B4-BE49-F238E27FC236}">
                <a16:creationId xmlns:a16="http://schemas.microsoft.com/office/drawing/2014/main" id="{359D3CCB-EF2E-0845-0EDD-189680FB11D8}"/>
              </a:ext>
            </a:extLst>
          </p:cNvPr>
          <p:cNvSpPr/>
          <p:nvPr/>
        </p:nvSpPr>
        <p:spPr>
          <a:xfrm>
            <a:off x="8059430" y="5545836"/>
            <a:ext cx="137160" cy="13716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35" name="TextBox 34">
            <a:extLst>
              <a:ext uri="{FF2B5EF4-FFF2-40B4-BE49-F238E27FC236}">
                <a16:creationId xmlns:a16="http://schemas.microsoft.com/office/drawing/2014/main" id="{CFD06697-1A8C-6D83-0C9C-FD97BDF8A5B0}"/>
              </a:ext>
            </a:extLst>
          </p:cNvPr>
          <p:cNvSpPr txBox="1"/>
          <p:nvPr/>
        </p:nvSpPr>
        <p:spPr>
          <a:xfrm>
            <a:off x="7350770" y="5815584"/>
            <a:ext cx="1554480"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6E7E7D"/>
                </a:solidFill>
                <a:latin typeface="Arial"/>
              </a:rPr>
              <a:t>Maduración 2</a:t>
            </a:r>
          </a:p>
        </p:txBody>
      </p:sp>
      <p:sp>
        <p:nvSpPr>
          <p:cNvPr id="36" name="Oval 35">
            <a:extLst>
              <a:ext uri="{FF2B5EF4-FFF2-40B4-BE49-F238E27FC236}">
                <a16:creationId xmlns:a16="http://schemas.microsoft.com/office/drawing/2014/main" id="{EE8D0A06-50B3-3271-47F9-FA6E4F5CFE8D}"/>
              </a:ext>
            </a:extLst>
          </p:cNvPr>
          <p:cNvSpPr/>
          <p:nvPr/>
        </p:nvSpPr>
        <p:spPr>
          <a:xfrm>
            <a:off x="11611371" y="5545836"/>
            <a:ext cx="137160" cy="13716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37" name="TextBox 36">
            <a:extLst>
              <a:ext uri="{FF2B5EF4-FFF2-40B4-BE49-F238E27FC236}">
                <a16:creationId xmlns:a16="http://schemas.microsoft.com/office/drawing/2014/main" id="{536F6388-975D-4D22-751B-D663B8A3E82F}"/>
              </a:ext>
            </a:extLst>
          </p:cNvPr>
          <p:cNvSpPr txBox="1"/>
          <p:nvPr/>
        </p:nvSpPr>
        <p:spPr>
          <a:xfrm>
            <a:off x="10902711" y="5815584"/>
            <a:ext cx="1554480"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6E7E7D"/>
                </a:solidFill>
                <a:latin typeface="Arial"/>
              </a:rPr>
              <a:t>…</a:t>
            </a:r>
          </a:p>
        </p:txBody>
      </p:sp>
      <p:sp>
        <p:nvSpPr>
          <p:cNvPr id="38" name="Oval 37">
            <a:extLst>
              <a:ext uri="{FF2B5EF4-FFF2-40B4-BE49-F238E27FC236}">
                <a16:creationId xmlns:a16="http://schemas.microsoft.com/office/drawing/2014/main" id="{1F5686EA-21E2-5A7D-957D-0B16F69DE8AB}"/>
              </a:ext>
            </a:extLst>
          </p:cNvPr>
          <p:cNvSpPr/>
          <p:nvPr/>
        </p:nvSpPr>
        <p:spPr>
          <a:xfrm>
            <a:off x="15163312" y="5545836"/>
            <a:ext cx="137160" cy="13716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sp>
        <p:nvSpPr>
          <p:cNvPr id="39" name="TextBox 38">
            <a:extLst>
              <a:ext uri="{FF2B5EF4-FFF2-40B4-BE49-F238E27FC236}">
                <a16:creationId xmlns:a16="http://schemas.microsoft.com/office/drawing/2014/main" id="{4E69F1AE-9789-2756-BA1D-81D80A84DB77}"/>
              </a:ext>
            </a:extLst>
          </p:cNvPr>
          <p:cNvSpPr txBox="1"/>
          <p:nvPr/>
        </p:nvSpPr>
        <p:spPr>
          <a:xfrm>
            <a:off x="14454652" y="5815584"/>
            <a:ext cx="1554480" cy="184666"/>
          </a:xfrm>
          <a:prstGeom prst="rect">
            <a:avLst/>
          </a:prstGeom>
          <a:noFill/>
        </p:spPr>
        <p:txBody>
          <a:bodyPr wrap="square" lIns="0" tIns="0" rIns="0" bIns="0" anchor="t">
            <a:spAutoFit/>
          </a:bodyPr>
          <a:lstStyle/>
          <a:p>
            <a:pPr algn="ctr">
              <a:lnSpc>
                <a:spcPct val="100000"/>
              </a:lnSpc>
            </a:pPr>
            <a:r>
              <a:rPr lang="es-ES_tradnl" sz="1200" b="1" i="0" noProof="0" dirty="0">
                <a:latin typeface="Arial"/>
              </a:rPr>
              <a:t>Maduración t</a:t>
            </a:r>
          </a:p>
        </p:txBody>
      </p:sp>
      <p:sp>
        <p:nvSpPr>
          <p:cNvPr id="40" name="TextBox 39">
            <a:extLst>
              <a:ext uri="{FF2B5EF4-FFF2-40B4-BE49-F238E27FC236}">
                <a16:creationId xmlns:a16="http://schemas.microsoft.com/office/drawing/2014/main" id="{CB0FC67C-FED2-31BB-4EE0-0C457775CDCA}"/>
              </a:ext>
            </a:extLst>
          </p:cNvPr>
          <p:cNvSpPr txBox="1"/>
          <p:nvPr/>
        </p:nvSpPr>
        <p:spPr>
          <a:xfrm>
            <a:off x="13220212" y="5285232"/>
            <a:ext cx="2194560" cy="184666"/>
          </a:xfrm>
          <a:prstGeom prst="rect">
            <a:avLst/>
          </a:prstGeom>
          <a:noFill/>
        </p:spPr>
        <p:txBody>
          <a:bodyPr wrap="square" lIns="0" tIns="0" rIns="0" bIns="0" anchor="t">
            <a:spAutoFit/>
          </a:bodyPr>
          <a:lstStyle/>
          <a:p>
            <a:pPr algn="r">
              <a:lnSpc>
                <a:spcPct val="100000"/>
              </a:lnSpc>
            </a:pPr>
            <a:r>
              <a:rPr lang="es-ES_tradnl" sz="1200" b="1" i="0" noProof="0" dirty="0">
                <a:latin typeface="Arial"/>
              </a:rPr>
              <a:t>el crédito se liquida</a:t>
            </a:r>
          </a:p>
        </p:txBody>
      </p:sp>
      <p:sp>
        <p:nvSpPr>
          <p:cNvPr id="41" name="Rectangle 40">
            <a:extLst>
              <a:ext uri="{FF2B5EF4-FFF2-40B4-BE49-F238E27FC236}">
                <a16:creationId xmlns:a16="http://schemas.microsoft.com/office/drawing/2014/main" id="{FA3C7C39-0CC2-7585-DD40-1982E5CB7280}"/>
              </a:ext>
            </a:extLst>
          </p:cNvPr>
          <p:cNvSpPr/>
          <p:nvPr/>
        </p:nvSpPr>
        <p:spPr>
          <a:xfrm>
            <a:off x="658368" y="6254496"/>
            <a:ext cx="14939284" cy="60350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p>
        </p:txBody>
      </p:sp>
      <p:cxnSp>
        <p:nvCxnSpPr>
          <p:cNvPr id="42" name="Connector 40">
            <a:extLst>
              <a:ext uri="{FF2B5EF4-FFF2-40B4-BE49-F238E27FC236}">
                <a16:creationId xmlns:a16="http://schemas.microsoft.com/office/drawing/2014/main" id="{EBB1D2BC-23D1-B243-CF62-15C9CA34EFEA}"/>
              </a:ext>
            </a:extLst>
          </p:cNvPr>
          <p:cNvCxnSpPr/>
          <p:nvPr/>
        </p:nvCxnSpPr>
        <p:spPr>
          <a:xfrm>
            <a:off x="658368" y="6254496"/>
            <a:ext cx="0" cy="603504"/>
          </a:xfrm>
          <a:prstGeom prst="line">
            <a:avLst/>
          </a:prstGeom>
          <a:ln w="31750">
            <a:solidFill>
              <a:schemeClr val="bg2"/>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B1505BA5-53C4-2CF0-5BE2-45C11A4B2FFA}"/>
              </a:ext>
            </a:extLst>
          </p:cNvPr>
          <p:cNvSpPr txBox="1"/>
          <p:nvPr/>
        </p:nvSpPr>
        <p:spPr>
          <a:xfrm>
            <a:off x="822959" y="6294607"/>
            <a:ext cx="14610100" cy="523285"/>
          </a:xfrm>
          <a:prstGeom prst="rect">
            <a:avLst/>
          </a:prstGeom>
          <a:noFill/>
        </p:spPr>
        <p:txBody>
          <a:bodyPr wrap="square" lIns="0" tIns="0" rIns="0" bIns="0" anchor="ctr">
            <a:spAutoFit/>
          </a:bodyPr>
          <a:lstStyle/>
          <a:p>
            <a:pPr algn="l">
              <a:lnSpc>
                <a:spcPct val="112000"/>
              </a:lnSpc>
              <a:spcAft>
                <a:spcPts val="200"/>
              </a:spcAft>
            </a:pPr>
            <a:r>
              <a:rPr lang="es-ES_tradnl" sz="1600" b="1" i="0" noProof="0" dirty="0">
                <a:latin typeface="Arial"/>
              </a:rPr>
              <a:t>Identificación de la </a:t>
            </a:r>
            <a:r>
              <a:rPr lang="es-ES_tradnl" sz="1600" b="1" i="0" noProof="0" dirty="0" err="1">
                <a:latin typeface="Arial"/>
              </a:rPr>
              <a:t>precancelación</a:t>
            </a:r>
            <a:endParaRPr lang="es-ES_tradnl" sz="1600" b="1" i="0" noProof="0" dirty="0">
              <a:latin typeface="Arial"/>
            </a:endParaRPr>
          </a:p>
          <a:p>
            <a:pPr algn="l">
              <a:lnSpc>
                <a:spcPct val="112000"/>
              </a:lnSpc>
              <a:spcAft>
                <a:spcPts val="200"/>
              </a:spcAft>
            </a:pPr>
            <a:r>
              <a:rPr lang="es-ES_tradnl" b="0" i="0" noProof="0" dirty="0">
                <a:solidFill>
                  <a:srgbClr val="3E5553"/>
                </a:solidFill>
                <a:latin typeface="Arial"/>
              </a:rPr>
              <a:t>En la base de pagos, una </a:t>
            </a:r>
            <a:r>
              <a:rPr lang="es-ES_tradnl" b="0" i="0" noProof="0" dirty="0" err="1">
                <a:solidFill>
                  <a:srgbClr val="3E5553"/>
                </a:solidFill>
                <a:latin typeface="Arial"/>
              </a:rPr>
              <a:t>precancelación</a:t>
            </a:r>
            <a:r>
              <a:rPr lang="es-ES_tradnl" b="0" i="0" noProof="0" dirty="0">
                <a:solidFill>
                  <a:srgbClr val="3E5553"/>
                </a:solidFill>
                <a:latin typeface="Arial"/>
              </a:rPr>
              <a:t> se identifica cuando un pago se registra como Prepago (</a:t>
            </a:r>
            <a:r>
              <a:rPr lang="es-ES_tradnl" b="0" i="0" noProof="0" dirty="0" err="1">
                <a:solidFill>
                  <a:srgbClr val="3E5553"/>
                </a:solidFill>
                <a:latin typeface="Arial"/>
              </a:rPr>
              <a:t>estado_cuota</a:t>
            </a:r>
            <a:r>
              <a:rPr lang="es-ES_tradnl" b="0" i="0" noProof="0" dirty="0">
                <a:solidFill>
                  <a:srgbClr val="3E5553"/>
                </a:solidFill>
                <a:latin typeface="Arial"/>
              </a:rPr>
              <a:t> = 'Prepago') y dicho pago cancela totalmente la deuda (</a:t>
            </a:r>
            <a:r>
              <a:rPr lang="es-ES_tradnl" b="0" i="0" noProof="0" dirty="0" err="1">
                <a:solidFill>
                  <a:srgbClr val="3E5553"/>
                </a:solidFill>
                <a:latin typeface="Arial"/>
              </a:rPr>
              <a:t>saldo_final</a:t>
            </a:r>
            <a:r>
              <a:rPr lang="es-ES_tradnl" b="0" i="0" noProof="0" dirty="0">
                <a:solidFill>
                  <a:srgbClr val="3E5553"/>
                </a:solidFill>
                <a:latin typeface="Arial"/>
              </a:rPr>
              <a:t> = 0).</a:t>
            </a:r>
          </a:p>
        </p:txBody>
      </p:sp>
      <p:sp>
        <p:nvSpPr>
          <p:cNvPr id="44" name="Rectangle 43">
            <a:extLst>
              <a:ext uri="{FF2B5EF4-FFF2-40B4-BE49-F238E27FC236}">
                <a16:creationId xmlns:a16="http://schemas.microsoft.com/office/drawing/2014/main" id="{E219D393-BC45-3E78-7AE8-7326F0BD1597}"/>
              </a:ext>
            </a:extLst>
          </p:cNvPr>
          <p:cNvSpPr/>
          <p:nvPr/>
        </p:nvSpPr>
        <p:spPr>
          <a:xfrm>
            <a:off x="658368" y="7315199"/>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cxnSp>
        <p:nvCxnSpPr>
          <p:cNvPr id="45" name="Connector 43">
            <a:extLst>
              <a:ext uri="{FF2B5EF4-FFF2-40B4-BE49-F238E27FC236}">
                <a16:creationId xmlns:a16="http://schemas.microsoft.com/office/drawing/2014/main" id="{7FBFACE4-A132-565B-98B5-9A9A73F7A60B}"/>
              </a:ext>
            </a:extLst>
          </p:cNvPr>
          <p:cNvCxnSpPr/>
          <p:nvPr/>
        </p:nvCxnSpPr>
        <p:spPr>
          <a:xfrm>
            <a:off x="658368" y="7315199"/>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89D78819-015B-1C99-81AD-2051B7291991}"/>
              </a:ext>
            </a:extLst>
          </p:cNvPr>
          <p:cNvSpPr txBox="1"/>
          <p:nvPr/>
        </p:nvSpPr>
        <p:spPr>
          <a:xfrm>
            <a:off x="896112" y="7469141"/>
            <a:ext cx="14482084" cy="259045"/>
          </a:xfrm>
          <a:prstGeom prst="rect">
            <a:avLst/>
          </a:prstGeom>
          <a:noFill/>
        </p:spPr>
        <p:txBody>
          <a:bodyPr wrap="square" lIns="0" tIns="0" rIns="0" bIns="0" anchor="ctr">
            <a:spAutoFit/>
          </a:bodyPr>
          <a:lstStyle/>
          <a:p>
            <a:pPr algn="l">
              <a:lnSpc>
                <a:spcPct val="115000"/>
              </a:lnSpc>
              <a:spcAft>
                <a:spcPts val="400"/>
              </a:spcAft>
            </a:pPr>
            <a:r>
              <a:rPr lang="es-ES_tradnl" sz="1600" b="1" i="0" noProof="0" dirty="0">
                <a:solidFill>
                  <a:srgbClr val="0C514E"/>
                </a:solidFill>
                <a:latin typeface="Arial"/>
              </a:rPr>
              <a:t>Mismo evento base que el prepago, con una condición extra: el pago lleva el saldo a cero y extingue todos los flujos futuros.</a:t>
            </a:r>
          </a:p>
        </p:txBody>
      </p:sp>
    </p:spTree>
    <p:extLst>
      <p:ext uri="{BB962C8B-B14F-4D97-AF65-F5344CB8AC3E}">
        <p14:creationId xmlns:p14="http://schemas.microsoft.com/office/powerpoint/2010/main" val="186899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8464E-FD7D-F8BE-16A5-EB1CE4AED5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137AE1-150A-5027-2F1A-B0985F6932CA}"/>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9ABAA963-4E02-731E-F343-B2A770352E70}"/>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fontScale="85000" lnSpcReduction="10000"/>
          </a:bodyPr>
          <a:lstStyle/>
          <a:p>
            <a:pPr defTabSz="1625519">
              <a:buSzPts val="4400"/>
              <a:defRPr/>
            </a:pPr>
            <a:r>
              <a:rPr lang="es-ES_tradnl" sz="3200" b="1" kern="1200" noProof="0" dirty="0">
                <a:solidFill>
                  <a:srgbClr val="13807B"/>
                </a:solidFill>
                <a:latin typeface="Poppins"/>
                <a:ea typeface="Poppins"/>
                <a:cs typeface="Poppins"/>
                <a:sym typeface="Poppins"/>
              </a:rPr>
              <a:t>Un modelo de supervivencia estima el tiempo hasta la </a:t>
            </a:r>
            <a:r>
              <a:rPr lang="es-ES_tradnl" sz="3200" b="1" kern="1200" noProof="0" dirty="0" err="1">
                <a:solidFill>
                  <a:srgbClr val="13807B"/>
                </a:solidFill>
                <a:latin typeface="Poppins"/>
                <a:ea typeface="Poppins"/>
                <a:cs typeface="Poppins"/>
                <a:sym typeface="Poppins"/>
              </a:rPr>
              <a:t>precancelación</a:t>
            </a:r>
            <a:r>
              <a:rPr lang="es-ES_tradnl" sz="3200" b="1" kern="1200" noProof="0" dirty="0">
                <a:solidFill>
                  <a:srgbClr val="13807B"/>
                </a:solidFill>
                <a:latin typeface="Poppins"/>
                <a:ea typeface="Poppins"/>
                <a:cs typeface="Poppins"/>
                <a:sym typeface="Poppins"/>
              </a:rPr>
              <a:t> y entrega directamente la probabilidad acumulada por maduración</a:t>
            </a:r>
          </a:p>
        </p:txBody>
      </p:sp>
      <p:cxnSp>
        <p:nvCxnSpPr>
          <p:cNvPr id="7" name="Connector 3">
            <a:extLst>
              <a:ext uri="{FF2B5EF4-FFF2-40B4-BE49-F238E27FC236}">
                <a16:creationId xmlns:a16="http://schemas.microsoft.com/office/drawing/2014/main" id="{4C7E126F-CBE3-2956-F757-F4B4B2B5820D}"/>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702F805F-399E-67BF-794D-73B72040C837}"/>
              </a:ext>
            </a:extLst>
          </p:cNvPr>
          <p:cNvSpPr/>
          <p:nvPr/>
        </p:nvSpPr>
        <p:spPr>
          <a:xfrm>
            <a:off x="658368" y="1627632"/>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cxnSp>
        <p:nvCxnSpPr>
          <p:cNvPr id="3" name="Connector 8">
            <a:extLst>
              <a:ext uri="{FF2B5EF4-FFF2-40B4-BE49-F238E27FC236}">
                <a16:creationId xmlns:a16="http://schemas.microsoft.com/office/drawing/2014/main" id="{C8CE3F41-8FAC-5199-4656-AFD4B0C11AFD}"/>
              </a:ext>
            </a:extLst>
          </p:cNvPr>
          <p:cNvCxnSpPr/>
          <p:nvPr/>
        </p:nvCxnSpPr>
        <p:spPr>
          <a:xfrm>
            <a:off x="658368" y="1627632"/>
            <a:ext cx="0" cy="475488"/>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F3703DA-E86D-42EE-01F9-C66D9E16EC3D}"/>
              </a:ext>
            </a:extLst>
          </p:cNvPr>
          <p:cNvSpPr txBox="1"/>
          <p:nvPr/>
        </p:nvSpPr>
        <p:spPr>
          <a:xfrm>
            <a:off x="822959" y="1636822"/>
            <a:ext cx="14610100" cy="457113"/>
          </a:xfrm>
          <a:prstGeom prst="rect">
            <a:avLst/>
          </a:prstGeom>
          <a:noFill/>
        </p:spPr>
        <p:txBody>
          <a:bodyPr wrap="square" lIns="0" tIns="0" rIns="0" bIns="0" anchor="ctr">
            <a:spAutoFit/>
          </a:bodyPr>
          <a:lstStyle/>
          <a:p>
            <a:pPr algn="l">
              <a:lnSpc>
                <a:spcPct val="112000"/>
              </a:lnSpc>
              <a:spcAft>
                <a:spcPts val="200"/>
              </a:spcAft>
            </a:pPr>
            <a:r>
              <a:rPr lang="es-ES_tradnl" b="1" i="0" noProof="0" dirty="0">
                <a:solidFill>
                  <a:srgbClr val="13807B"/>
                </a:solidFill>
                <a:latin typeface="Arial"/>
              </a:rPr>
              <a:t>Enfoque</a:t>
            </a:r>
          </a:p>
          <a:p>
            <a:pPr algn="l">
              <a:lnSpc>
                <a:spcPct val="112000"/>
              </a:lnSpc>
              <a:spcAft>
                <a:spcPts val="200"/>
              </a:spcAft>
            </a:pPr>
            <a:r>
              <a:rPr lang="es-ES_tradnl" sz="1200" b="0" i="0" noProof="0" dirty="0">
                <a:solidFill>
                  <a:srgbClr val="3E5553"/>
                </a:solidFill>
                <a:latin typeface="Arial"/>
              </a:rPr>
              <a:t>Se modela mediante técnicas de supervivencia para estimar el tiempo hasta la </a:t>
            </a:r>
            <a:r>
              <a:rPr lang="es-ES_tradnl" sz="1200" b="0" i="0" noProof="0" dirty="0" err="1">
                <a:solidFill>
                  <a:srgbClr val="3E5553"/>
                </a:solidFill>
                <a:latin typeface="Arial"/>
              </a:rPr>
              <a:t>precancelación</a:t>
            </a:r>
            <a:r>
              <a:rPr lang="es-ES_tradnl" sz="1200" b="0" i="0" noProof="0" dirty="0">
                <a:solidFill>
                  <a:srgbClr val="3E5553"/>
                </a:solidFill>
                <a:latin typeface="Arial"/>
              </a:rPr>
              <a:t> a partir de la información de </a:t>
            </a:r>
            <a:r>
              <a:rPr lang="es-ES_tradnl" sz="1200" b="0" i="0" noProof="0" dirty="0" err="1">
                <a:solidFill>
                  <a:srgbClr val="3E5553"/>
                </a:solidFill>
                <a:latin typeface="Arial"/>
              </a:rPr>
              <a:t>originación</a:t>
            </a:r>
            <a:r>
              <a:rPr lang="es-ES_tradnl" sz="1200" b="0" i="0" noProof="0" dirty="0">
                <a:solidFill>
                  <a:srgbClr val="3E5553"/>
                </a:solidFill>
                <a:latin typeface="Arial"/>
              </a:rPr>
              <a:t> del crédito.</a:t>
            </a:r>
          </a:p>
        </p:txBody>
      </p:sp>
      <p:sp>
        <p:nvSpPr>
          <p:cNvPr id="8" name="Rectangle 7">
            <a:extLst>
              <a:ext uri="{FF2B5EF4-FFF2-40B4-BE49-F238E27FC236}">
                <a16:creationId xmlns:a16="http://schemas.microsoft.com/office/drawing/2014/main" id="{25A7651B-DC17-DA04-E4DE-C4CE86B0D210}"/>
              </a:ext>
            </a:extLst>
          </p:cNvPr>
          <p:cNvSpPr/>
          <p:nvPr/>
        </p:nvSpPr>
        <p:spPr>
          <a:xfrm>
            <a:off x="658368" y="2286000"/>
            <a:ext cx="5943600" cy="283464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47" name="Rectangle 46">
            <a:extLst>
              <a:ext uri="{FF2B5EF4-FFF2-40B4-BE49-F238E27FC236}">
                <a16:creationId xmlns:a16="http://schemas.microsoft.com/office/drawing/2014/main" id="{5DAB9F79-2A97-E14C-425E-EB35BC072D05}"/>
              </a:ext>
            </a:extLst>
          </p:cNvPr>
          <p:cNvSpPr/>
          <p:nvPr/>
        </p:nvSpPr>
        <p:spPr>
          <a:xfrm>
            <a:off x="658368" y="2286000"/>
            <a:ext cx="5943600" cy="32918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Arial"/>
              </a:rPr>
              <a:t>ESTRUCTURA DEL DATASET DE SUPERVIVENCIA</a:t>
            </a:r>
          </a:p>
        </p:txBody>
      </p:sp>
      <p:sp>
        <p:nvSpPr>
          <p:cNvPr id="48" name="Rectangle 47">
            <a:extLst>
              <a:ext uri="{FF2B5EF4-FFF2-40B4-BE49-F238E27FC236}">
                <a16:creationId xmlns:a16="http://schemas.microsoft.com/office/drawing/2014/main" id="{A2F51C14-C344-F061-7B65-B32B1A6E3737}"/>
              </a:ext>
            </a:extLst>
          </p:cNvPr>
          <p:cNvSpPr/>
          <p:nvPr/>
        </p:nvSpPr>
        <p:spPr>
          <a:xfrm>
            <a:off x="5035782" y="2703194"/>
            <a:ext cx="1328440"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lang="es-ES_tradnl" sz="1050" b="1" i="0" noProof="0" dirty="0">
                <a:solidFill>
                  <a:srgbClr val="FFFFFF"/>
                </a:solidFill>
                <a:latin typeface="Arial"/>
              </a:rPr>
              <a:t>ILUSTRATIVO</a:t>
            </a:r>
          </a:p>
        </p:txBody>
      </p:sp>
      <p:sp>
        <p:nvSpPr>
          <p:cNvPr id="49" name="Rectangle 48">
            <a:extLst>
              <a:ext uri="{FF2B5EF4-FFF2-40B4-BE49-F238E27FC236}">
                <a16:creationId xmlns:a16="http://schemas.microsoft.com/office/drawing/2014/main" id="{D974F77E-AE38-9F0E-E6DA-E9ADCDACECB8}"/>
              </a:ext>
            </a:extLst>
          </p:cNvPr>
          <p:cNvSpPr/>
          <p:nvPr/>
        </p:nvSpPr>
        <p:spPr>
          <a:xfrm>
            <a:off x="877824" y="2980944"/>
            <a:ext cx="5504688" cy="2743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50" name="TextBox 49">
            <a:extLst>
              <a:ext uri="{FF2B5EF4-FFF2-40B4-BE49-F238E27FC236}">
                <a16:creationId xmlns:a16="http://schemas.microsoft.com/office/drawing/2014/main" id="{E1C570D4-9F3F-27D5-F843-B230AD55CFDB}"/>
              </a:ext>
            </a:extLst>
          </p:cNvPr>
          <p:cNvSpPr txBox="1"/>
          <p:nvPr/>
        </p:nvSpPr>
        <p:spPr>
          <a:xfrm>
            <a:off x="877824" y="3026663"/>
            <a:ext cx="1541312" cy="169277"/>
          </a:xfrm>
          <a:prstGeom prst="rect">
            <a:avLst/>
          </a:prstGeom>
          <a:noFill/>
        </p:spPr>
        <p:txBody>
          <a:bodyPr wrap="square" lIns="0" tIns="0" rIns="0" bIns="0" anchor="t">
            <a:spAutoFit/>
          </a:bodyPr>
          <a:lstStyle/>
          <a:p>
            <a:pPr algn="ctr">
              <a:lnSpc>
                <a:spcPct val="100000"/>
              </a:lnSpc>
            </a:pPr>
            <a:r>
              <a:rPr lang="es-ES_tradnl" sz="1100" b="1" i="0" noProof="0" dirty="0" err="1">
                <a:solidFill>
                  <a:srgbClr val="FFFFFF"/>
                </a:solidFill>
                <a:latin typeface="Arial"/>
              </a:rPr>
              <a:t>id_crédito</a:t>
            </a:r>
            <a:endParaRPr lang="es-ES_tradnl" sz="1100" b="1" i="0" noProof="0" dirty="0">
              <a:solidFill>
                <a:srgbClr val="FFFFFF"/>
              </a:solidFill>
              <a:latin typeface="Arial"/>
            </a:endParaRPr>
          </a:p>
        </p:txBody>
      </p:sp>
      <p:sp>
        <p:nvSpPr>
          <p:cNvPr id="51" name="TextBox 50">
            <a:extLst>
              <a:ext uri="{FF2B5EF4-FFF2-40B4-BE49-F238E27FC236}">
                <a16:creationId xmlns:a16="http://schemas.microsoft.com/office/drawing/2014/main" id="{C0EB99F0-2727-1721-C3FA-DAE7C52EA92C}"/>
              </a:ext>
            </a:extLst>
          </p:cNvPr>
          <p:cNvSpPr txBox="1"/>
          <p:nvPr/>
        </p:nvSpPr>
        <p:spPr>
          <a:xfrm>
            <a:off x="2419136" y="3026663"/>
            <a:ext cx="1100937" cy="169277"/>
          </a:xfrm>
          <a:prstGeom prst="rect">
            <a:avLst/>
          </a:prstGeom>
          <a:noFill/>
        </p:spPr>
        <p:txBody>
          <a:bodyPr wrap="square" lIns="0" tIns="0" rIns="0" bIns="0" anchor="t">
            <a:spAutoFit/>
          </a:bodyPr>
          <a:lstStyle/>
          <a:p>
            <a:pPr algn="ctr">
              <a:lnSpc>
                <a:spcPct val="100000"/>
              </a:lnSpc>
            </a:pPr>
            <a:r>
              <a:rPr lang="es-ES_tradnl" sz="1100" b="1" i="0" noProof="0" dirty="0" err="1">
                <a:solidFill>
                  <a:srgbClr val="FFFFFF"/>
                </a:solidFill>
                <a:latin typeface="Arial"/>
              </a:rPr>
              <a:t>event</a:t>
            </a:r>
            <a:endParaRPr lang="es-ES_tradnl" sz="1100" b="1" i="0" noProof="0" dirty="0">
              <a:solidFill>
                <a:srgbClr val="FFFFFF"/>
              </a:solidFill>
              <a:latin typeface="Arial"/>
            </a:endParaRPr>
          </a:p>
        </p:txBody>
      </p:sp>
      <p:sp>
        <p:nvSpPr>
          <p:cNvPr id="52" name="TextBox 51">
            <a:extLst>
              <a:ext uri="{FF2B5EF4-FFF2-40B4-BE49-F238E27FC236}">
                <a16:creationId xmlns:a16="http://schemas.microsoft.com/office/drawing/2014/main" id="{DA73F397-40EE-A6DB-61E7-9BEA77E17E59}"/>
              </a:ext>
            </a:extLst>
          </p:cNvPr>
          <p:cNvSpPr txBox="1"/>
          <p:nvPr/>
        </p:nvSpPr>
        <p:spPr>
          <a:xfrm>
            <a:off x="3520074" y="3026663"/>
            <a:ext cx="1100937"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FFFFFF"/>
                </a:solidFill>
                <a:latin typeface="Arial"/>
              </a:rPr>
              <a:t>time</a:t>
            </a:r>
          </a:p>
        </p:txBody>
      </p:sp>
      <p:sp>
        <p:nvSpPr>
          <p:cNvPr id="53" name="TextBox 52">
            <a:extLst>
              <a:ext uri="{FF2B5EF4-FFF2-40B4-BE49-F238E27FC236}">
                <a16:creationId xmlns:a16="http://schemas.microsoft.com/office/drawing/2014/main" id="{F4B214D8-F624-39BE-FAA4-877D3E15C4CB}"/>
              </a:ext>
            </a:extLst>
          </p:cNvPr>
          <p:cNvSpPr txBox="1"/>
          <p:nvPr/>
        </p:nvSpPr>
        <p:spPr>
          <a:xfrm>
            <a:off x="4621011" y="3026663"/>
            <a:ext cx="1761500"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FFFFFF"/>
                </a:solidFill>
                <a:latin typeface="Arial"/>
              </a:rPr>
              <a:t>X₁ … Xₖ</a:t>
            </a:r>
          </a:p>
        </p:txBody>
      </p:sp>
      <p:sp>
        <p:nvSpPr>
          <p:cNvPr id="54" name="Rectangle 53">
            <a:extLst>
              <a:ext uri="{FF2B5EF4-FFF2-40B4-BE49-F238E27FC236}">
                <a16:creationId xmlns:a16="http://schemas.microsoft.com/office/drawing/2014/main" id="{2B7578D8-826C-FF6B-0482-5216ACBAAE03}"/>
              </a:ext>
            </a:extLst>
          </p:cNvPr>
          <p:cNvSpPr/>
          <p:nvPr/>
        </p:nvSpPr>
        <p:spPr>
          <a:xfrm>
            <a:off x="877824" y="3291839"/>
            <a:ext cx="5504688" cy="27432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55" name="TextBox 54">
            <a:extLst>
              <a:ext uri="{FF2B5EF4-FFF2-40B4-BE49-F238E27FC236}">
                <a16:creationId xmlns:a16="http://schemas.microsoft.com/office/drawing/2014/main" id="{35767E26-BEC6-DAD2-7DC6-2ECB3EBB33B9}"/>
              </a:ext>
            </a:extLst>
          </p:cNvPr>
          <p:cNvSpPr txBox="1"/>
          <p:nvPr/>
        </p:nvSpPr>
        <p:spPr>
          <a:xfrm>
            <a:off x="877824" y="3337559"/>
            <a:ext cx="1541312"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AA001</a:t>
            </a:r>
          </a:p>
        </p:txBody>
      </p:sp>
      <p:sp>
        <p:nvSpPr>
          <p:cNvPr id="56" name="TextBox 55">
            <a:extLst>
              <a:ext uri="{FF2B5EF4-FFF2-40B4-BE49-F238E27FC236}">
                <a16:creationId xmlns:a16="http://schemas.microsoft.com/office/drawing/2014/main" id="{255E2B07-28D3-51D2-130A-88E43CC16926}"/>
              </a:ext>
            </a:extLst>
          </p:cNvPr>
          <p:cNvSpPr txBox="1"/>
          <p:nvPr/>
        </p:nvSpPr>
        <p:spPr>
          <a:xfrm>
            <a:off x="2419136" y="3337559"/>
            <a:ext cx="1100937"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3E5553"/>
                </a:solidFill>
                <a:latin typeface="Arial"/>
              </a:rPr>
              <a:t>1</a:t>
            </a:r>
          </a:p>
        </p:txBody>
      </p:sp>
      <p:sp>
        <p:nvSpPr>
          <p:cNvPr id="57" name="TextBox 56">
            <a:extLst>
              <a:ext uri="{FF2B5EF4-FFF2-40B4-BE49-F238E27FC236}">
                <a16:creationId xmlns:a16="http://schemas.microsoft.com/office/drawing/2014/main" id="{553BEC9B-1C22-FABC-EE4F-8AA5EB6620DF}"/>
              </a:ext>
            </a:extLst>
          </p:cNvPr>
          <p:cNvSpPr txBox="1"/>
          <p:nvPr/>
        </p:nvSpPr>
        <p:spPr>
          <a:xfrm>
            <a:off x="3520074" y="3337559"/>
            <a:ext cx="1100937"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12</a:t>
            </a:r>
          </a:p>
        </p:txBody>
      </p:sp>
      <p:sp>
        <p:nvSpPr>
          <p:cNvPr id="58" name="TextBox 57">
            <a:extLst>
              <a:ext uri="{FF2B5EF4-FFF2-40B4-BE49-F238E27FC236}">
                <a16:creationId xmlns:a16="http://schemas.microsoft.com/office/drawing/2014/main" id="{26FFC9C0-64F5-51B4-E958-B4E7F66CB38C}"/>
              </a:ext>
            </a:extLst>
          </p:cNvPr>
          <p:cNvSpPr txBox="1"/>
          <p:nvPr/>
        </p:nvSpPr>
        <p:spPr>
          <a:xfrm>
            <a:off x="4621011" y="3337559"/>
            <a:ext cx="1761500"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a:t>
            </a:r>
          </a:p>
        </p:txBody>
      </p:sp>
      <p:sp>
        <p:nvSpPr>
          <p:cNvPr id="59" name="TextBox 58">
            <a:extLst>
              <a:ext uri="{FF2B5EF4-FFF2-40B4-BE49-F238E27FC236}">
                <a16:creationId xmlns:a16="http://schemas.microsoft.com/office/drawing/2014/main" id="{E716B51E-4E72-BF2C-9A41-5DDF825B2BD3}"/>
              </a:ext>
            </a:extLst>
          </p:cNvPr>
          <p:cNvSpPr txBox="1"/>
          <p:nvPr/>
        </p:nvSpPr>
        <p:spPr>
          <a:xfrm>
            <a:off x="877824" y="3630167"/>
            <a:ext cx="1541312"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AA002</a:t>
            </a:r>
          </a:p>
        </p:txBody>
      </p:sp>
      <p:sp>
        <p:nvSpPr>
          <p:cNvPr id="60" name="TextBox 59">
            <a:extLst>
              <a:ext uri="{FF2B5EF4-FFF2-40B4-BE49-F238E27FC236}">
                <a16:creationId xmlns:a16="http://schemas.microsoft.com/office/drawing/2014/main" id="{F3196D88-A748-09A7-37CA-52CFEF71BE2F}"/>
              </a:ext>
            </a:extLst>
          </p:cNvPr>
          <p:cNvSpPr txBox="1"/>
          <p:nvPr/>
        </p:nvSpPr>
        <p:spPr>
          <a:xfrm>
            <a:off x="2419136" y="3630167"/>
            <a:ext cx="1100937"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3E5553"/>
                </a:solidFill>
                <a:latin typeface="Arial"/>
              </a:rPr>
              <a:t>1</a:t>
            </a:r>
          </a:p>
        </p:txBody>
      </p:sp>
      <p:sp>
        <p:nvSpPr>
          <p:cNvPr id="61" name="TextBox 60">
            <a:extLst>
              <a:ext uri="{FF2B5EF4-FFF2-40B4-BE49-F238E27FC236}">
                <a16:creationId xmlns:a16="http://schemas.microsoft.com/office/drawing/2014/main" id="{108550E0-9A62-2C35-0E56-76B5D0BAE276}"/>
              </a:ext>
            </a:extLst>
          </p:cNvPr>
          <p:cNvSpPr txBox="1"/>
          <p:nvPr/>
        </p:nvSpPr>
        <p:spPr>
          <a:xfrm>
            <a:off x="3520074" y="3630167"/>
            <a:ext cx="1100937"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8</a:t>
            </a:r>
          </a:p>
        </p:txBody>
      </p:sp>
      <p:sp>
        <p:nvSpPr>
          <p:cNvPr id="62" name="TextBox 61">
            <a:extLst>
              <a:ext uri="{FF2B5EF4-FFF2-40B4-BE49-F238E27FC236}">
                <a16:creationId xmlns:a16="http://schemas.microsoft.com/office/drawing/2014/main" id="{5CE47F77-19C6-7692-6BAB-70D5EA56F7C4}"/>
              </a:ext>
            </a:extLst>
          </p:cNvPr>
          <p:cNvSpPr txBox="1"/>
          <p:nvPr/>
        </p:nvSpPr>
        <p:spPr>
          <a:xfrm>
            <a:off x="4621011" y="3630167"/>
            <a:ext cx="1761500"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a:t>
            </a:r>
          </a:p>
        </p:txBody>
      </p:sp>
      <p:sp>
        <p:nvSpPr>
          <p:cNvPr id="63" name="Rectangle 62">
            <a:extLst>
              <a:ext uri="{FF2B5EF4-FFF2-40B4-BE49-F238E27FC236}">
                <a16:creationId xmlns:a16="http://schemas.microsoft.com/office/drawing/2014/main" id="{5D5946D9-2894-E9FC-9C5A-49E191EF0976}"/>
              </a:ext>
            </a:extLst>
          </p:cNvPr>
          <p:cNvSpPr/>
          <p:nvPr/>
        </p:nvSpPr>
        <p:spPr>
          <a:xfrm>
            <a:off x="877824" y="3877055"/>
            <a:ext cx="5504688" cy="27432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64" name="TextBox 63">
            <a:extLst>
              <a:ext uri="{FF2B5EF4-FFF2-40B4-BE49-F238E27FC236}">
                <a16:creationId xmlns:a16="http://schemas.microsoft.com/office/drawing/2014/main" id="{36DEF057-115B-3C5B-0274-6F128782EC39}"/>
              </a:ext>
            </a:extLst>
          </p:cNvPr>
          <p:cNvSpPr txBox="1"/>
          <p:nvPr/>
        </p:nvSpPr>
        <p:spPr>
          <a:xfrm>
            <a:off x="877824" y="3922775"/>
            <a:ext cx="1541312"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AA003</a:t>
            </a:r>
          </a:p>
        </p:txBody>
      </p:sp>
      <p:sp>
        <p:nvSpPr>
          <p:cNvPr id="65" name="TextBox 64">
            <a:extLst>
              <a:ext uri="{FF2B5EF4-FFF2-40B4-BE49-F238E27FC236}">
                <a16:creationId xmlns:a16="http://schemas.microsoft.com/office/drawing/2014/main" id="{C83481A9-FCD4-DC81-197E-A714A6F25D5B}"/>
              </a:ext>
            </a:extLst>
          </p:cNvPr>
          <p:cNvSpPr txBox="1"/>
          <p:nvPr/>
        </p:nvSpPr>
        <p:spPr>
          <a:xfrm>
            <a:off x="2419136" y="3922775"/>
            <a:ext cx="1100937"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C87A0B"/>
                </a:solidFill>
                <a:latin typeface="Arial"/>
              </a:rPr>
              <a:t>0</a:t>
            </a:r>
          </a:p>
        </p:txBody>
      </p:sp>
      <p:sp>
        <p:nvSpPr>
          <p:cNvPr id="66" name="TextBox 65">
            <a:extLst>
              <a:ext uri="{FF2B5EF4-FFF2-40B4-BE49-F238E27FC236}">
                <a16:creationId xmlns:a16="http://schemas.microsoft.com/office/drawing/2014/main" id="{85C0CAAC-F7EE-E61D-3536-78657080B390}"/>
              </a:ext>
            </a:extLst>
          </p:cNvPr>
          <p:cNvSpPr txBox="1"/>
          <p:nvPr/>
        </p:nvSpPr>
        <p:spPr>
          <a:xfrm>
            <a:off x="3520074" y="3922775"/>
            <a:ext cx="1100937"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10</a:t>
            </a:r>
          </a:p>
        </p:txBody>
      </p:sp>
      <p:sp>
        <p:nvSpPr>
          <p:cNvPr id="67" name="TextBox 66">
            <a:extLst>
              <a:ext uri="{FF2B5EF4-FFF2-40B4-BE49-F238E27FC236}">
                <a16:creationId xmlns:a16="http://schemas.microsoft.com/office/drawing/2014/main" id="{CD677D90-AAA0-711B-CF25-0889B2664E25}"/>
              </a:ext>
            </a:extLst>
          </p:cNvPr>
          <p:cNvSpPr txBox="1"/>
          <p:nvPr/>
        </p:nvSpPr>
        <p:spPr>
          <a:xfrm>
            <a:off x="4621011" y="3922775"/>
            <a:ext cx="1761500"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a:t>
            </a:r>
          </a:p>
        </p:txBody>
      </p:sp>
      <p:sp>
        <p:nvSpPr>
          <p:cNvPr id="68" name="TextBox 67">
            <a:extLst>
              <a:ext uri="{FF2B5EF4-FFF2-40B4-BE49-F238E27FC236}">
                <a16:creationId xmlns:a16="http://schemas.microsoft.com/office/drawing/2014/main" id="{3A36CB1B-1641-0865-D87E-D758A91198E4}"/>
              </a:ext>
            </a:extLst>
          </p:cNvPr>
          <p:cNvSpPr txBox="1"/>
          <p:nvPr/>
        </p:nvSpPr>
        <p:spPr>
          <a:xfrm>
            <a:off x="877824" y="4215383"/>
            <a:ext cx="1541312"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AA004</a:t>
            </a:r>
          </a:p>
        </p:txBody>
      </p:sp>
      <p:sp>
        <p:nvSpPr>
          <p:cNvPr id="69" name="TextBox 68">
            <a:extLst>
              <a:ext uri="{FF2B5EF4-FFF2-40B4-BE49-F238E27FC236}">
                <a16:creationId xmlns:a16="http://schemas.microsoft.com/office/drawing/2014/main" id="{E645E8EA-E9DA-96EF-58B3-6AFA0F523C5C}"/>
              </a:ext>
            </a:extLst>
          </p:cNvPr>
          <p:cNvSpPr txBox="1"/>
          <p:nvPr/>
        </p:nvSpPr>
        <p:spPr>
          <a:xfrm>
            <a:off x="2419136" y="4215383"/>
            <a:ext cx="1100937"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3E5553"/>
                </a:solidFill>
                <a:latin typeface="Arial"/>
              </a:rPr>
              <a:t>1</a:t>
            </a:r>
          </a:p>
        </p:txBody>
      </p:sp>
      <p:sp>
        <p:nvSpPr>
          <p:cNvPr id="70" name="TextBox 69">
            <a:extLst>
              <a:ext uri="{FF2B5EF4-FFF2-40B4-BE49-F238E27FC236}">
                <a16:creationId xmlns:a16="http://schemas.microsoft.com/office/drawing/2014/main" id="{4A9E8A5C-A6A9-79FF-B959-47B560D51501}"/>
              </a:ext>
            </a:extLst>
          </p:cNvPr>
          <p:cNvSpPr txBox="1"/>
          <p:nvPr/>
        </p:nvSpPr>
        <p:spPr>
          <a:xfrm>
            <a:off x="3520074" y="4215383"/>
            <a:ext cx="1100937"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9</a:t>
            </a:r>
          </a:p>
        </p:txBody>
      </p:sp>
      <p:sp>
        <p:nvSpPr>
          <p:cNvPr id="71" name="TextBox 70">
            <a:extLst>
              <a:ext uri="{FF2B5EF4-FFF2-40B4-BE49-F238E27FC236}">
                <a16:creationId xmlns:a16="http://schemas.microsoft.com/office/drawing/2014/main" id="{5CF0B5B3-D7BC-5FB3-FD05-41F54262AD38}"/>
              </a:ext>
            </a:extLst>
          </p:cNvPr>
          <p:cNvSpPr txBox="1"/>
          <p:nvPr/>
        </p:nvSpPr>
        <p:spPr>
          <a:xfrm>
            <a:off x="4621011" y="4215383"/>
            <a:ext cx="1761500"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3E5553"/>
                </a:solidFill>
                <a:latin typeface="Arial"/>
              </a:rPr>
              <a:t>…</a:t>
            </a:r>
          </a:p>
        </p:txBody>
      </p:sp>
      <p:sp>
        <p:nvSpPr>
          <p:cNvPr id="72" name="TextBox 71">
            <a:extLst>
              <a:ext uri="{FF2B5EF4-FFF2-40B4-BE49-F238E27FC236}">
                <a16:creationId xmlns:a16="http://schemas.microsoft.com/office/drawing/2014/main" id="{E874F31E-77F1-891D-5AA7-0F881915A491}"/>
              </a:ext>
            </a:extLst>
          </p:cNvPr>
          <p:cNvSpPr txBox="1"/>
          <p:nvPr/>
        </p:nvSpPr>
        <p:spPr>
          <a:xfrm>
            <a:off x="877824" y="4553712"/>
            <a:ext cx="5504688" cy="590739"/>
          </a:xfrm>
          <a:prstGeom prst="rect">
            <a:avLst/>
          </a:prstGeom>
          <a:noFill/>
        </p:spPr>
        <p:txBody>
          <a:bodyPr wrap="square" lIns="0" tIns="0" rIns="0" bIns="0" anchor="t">
            <a:spAutoFit/>
          </a:bodyPr>
          <a:lstStyle/>
          <a:p>
            <a:pPr algn="l">
              <a:lnSpc>
                <a:spcPct val="120000"/>
              </a:lnSpc>
              <a:spcAft>
                <a:spcPts val="400"/>
              </a:spcAft>
            </a:pPr>
            <a:r>
              <a:rPr lang="es-ES_tradnl" sz="1100" b="1" i="0" noProof="0" dirty="0" err="1">
                <a:solidFill>
                  <a:srgbClr val="0C514E"/>
                </a:solidFill>
                <a:latin typeface="Arial"/>
              </a:rPr>
              <a:t>event</a:t>
            </a:r>
            <a:r>
              <a:rPr lang="es-ES_tradnl" sz="1100" b="1" i="0" noProof="0" dirty="0">
                <a:solidFill>
                  <a:srgbClr val="0C514E"/>
                </a:solidFill>
                <a:latin typeface="Arial"/>
              </a:rPr>
              <a:t> = 1 </a:t>
            </a:r>
            <a:r>
              <a:rPr lang="es-ES_tradnl" sz="1100" b="0" i="0" noProof="0" dirty="0">
                <a:solidFill>
                  <a:srgbClr val="6E7E7D"/>
                </a:solidFill>
                <a:latin typeface="Arial"/>
              </a:rPr>
              <a:t>ocurrió la </a:t>
            </a:r>
            <a:r>
              <a:rPr lang="es-ES_tradnl" sz="1100" b="0" i="0" noProof="0" dirty="0" err="1">
                <a:solidFill>
                  <a:srgbClr val="6E7E7D"/>
                </a:solidFill>
                <a:latin typeface="Arial"/>
              </a:rPr>
              <a:t>precancelación</a:t>
            </a:r>
            <a:r>
              <a:rPr lang="es-ES_tradnl" sz="1100" b="0" i="0" noProof="0" dirty="0">
                <a:solidFill>
                  <a:srgbClr val="6E7E7D"/>
                </a:solidFill>
                <a:latin typeface="Arial"/>
              </a:rPr>
              <a:t> · </a:t>
            </a:r>
            <a:r>
              <a:rPr lang="es-ES_tradnl" sz="1100" b="1" i="0" noProof="0" dirty="0" err="1">
                <a:solidFill>
                  <a:srgbClr val="C87A0B"/>
                </a:solidFill>
                <a:latin typeface="Arial"/>
              </a:rPr>
              <a:t>event</a:t>
            </a:r>
            <a:r>
              <a:rPr lang="es-ES_tradnl" sz="1100" b="1" i="0" noProof="0" dirty="0">
                <a:solidFill>
                  <a:srgbClr val="C87A0B"/>
                </a:solidFill>
                <a:latin typeface="Arial"/>
              </a:rPr>
              <a:t> = 0 </a:t>
            </a:r>
            <a:r>
              <a:rPr lang="es-ES_tradnl" sz="1100" b="0" i="0" noProof="0" dirty="0">
                <a:solidFill>
                  <a:srgbClr val="6E7E7D"/>
                </a:solidFill>
                <a:latin typeface="Arial"/>
              </a:rPr>
              <a:t>observación censurada: no hay evidencia del evento en la ventana disponible; no implica que no pueda </a:t>
            </a:r>
            <a:r>
              <a:rPr lang="es-ES_tradnl" sz="1100" b="0" i="0" noProof="0" dirty="0" err="1">
                <a:solidFill>
                  <a:srgbClr val="6E7E7D"/>
                </a:solidFill>
                <a:latin typeface="Arial"/>
              </a:rPr>
              <a:t>precancelar</a:t>
            </a:r>
            <a:r>
              <a:rPr lang="es-ES_tradnl" sz="1100" b="0" i="0" noProof="0" dirty="0">
                <a:solidFill>
                  <a:srgbClr val="6E7E7D"/>
                </a:solidFill>
                <a:latin typeface="Arial"/>
              </a:rPr>
              <a:t> después.</a:t>
            </a:r>
          </a:p>
        </p:txBody>
      </p:sp>
      <p:sp>
        <p:nvSpPr>
          <p:cNvPr id="73" name="Rectangle 72">
            <a:extLst>
              <a:ext uri="{FF2B5EF4-FFF2-40B4-BE49-F238E27FC236}">
                <a16:creationId xmlns:a16="http://schemas.microsoft.com/office/drawing/2014/main" id="{13B4B6BD-FAC4-95FF-5CAB-C54F03C24BF3}"/>
              </a:ext>
            </a:extLst>
          </p:cNvPr>
          <p:cNvSpPr/>
          <p:nvPr/>
        </p:nvSpPr>
        <p:spPr>
          <a:xfrm>
            <a:off x="7059168" y="2286000"/>
            <a:ext cx="8538484" cy="12649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74" name="Rectangle 73">
            <a:extLst>
              <a:ext uri="{FF2B5EF4-FFF2-40B4-BE49-F238E27FC236}">
                <a16:creationId xmlns:a16="http://schemas.microsoft.com/office/drawing/2014/main" id="{7E3C2542-E5D6-E10E-747C-8236EF12EE66}"/>
              </a:ext>
            </a:extLst>
          </p:cNvPr>
          <p:cNvSpPr/>
          <p:nvPr/>
        </p:nvSpPr>
        <p:spPr>
          <a:xfrm>
            <a:off x="7059168" y="2286000"/>
            <a:ext cx="41148" cy="12649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75" name="Rectangle 74">
            <a:extLst>
              <a:ext uri="{FF2B5EF4-FFF2-40B4-BE49-F238E27FC236}">
                <a16:creationId xmlns:a16="http://schemas.microsoft.com/office/drawing/2014/main" id="{CB6FB486-330C-049C-99EC-A48DB94B9498}"/>
              </a:ext>
            </a:extLst>
          </p:cNvPr>
          <p:cNvSpPr/>
          <p:nvPr/>
        </p:nvSpPr>
        <p:spPr>
          <a:xfrm>
            <a:off x="7260336" y="2414016"/>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FFFFFF"/>
                </a:solidFill>
                <a:latin typeface="Arial"/>
              </a:rPr>
              <a:t>1</a:t>
            </a:r>
          </a:p>
        </p:txBody>
      </p:sp>
      <p:sp>
        <p:nvSpPr>
          <p:cNvPr id="76" name="TextBox 75">
            <a:extLst>
              <a:ext uri="{FF2B5EF4-FFF2-40B4-BE49-F238E27FC236}">
                <a16:creationId xmlns:a16="http://schemas.microsoft.com/office/drawing/2014/main" id="{8D3DBFE6-B68B-BBD1-B4A7-00EA28A80FEA}"/>
              </a:ext>
            </a:extLst>
          </p:cNvPr>
          <p:cNvSpPr txBox="1"/>
          <p:nvPr/>
        </p:nvSpPr>
        <p:spPr>
          <a:xfrm>
            <a:off x="7644383" y="2441448"/>
            <a:ext cx="7752100" cy="246221"/>
          </a:xfrm>
          <a:prstGeom prst="rect">
            <a:avLst/>
          </a:prstGeom>
          <a:noFill/>
        </p:spPr>
        <p:txBody>
          <a:bodyPr wrap="square" lIns="0" tIns="0" rIns="0" bIns="0" anchor="t">
            <a:spAutoFit/>
          </a:bodyPr>
          <a:lstStyle/>
          <a:p>
            <a:pPr algn="l">
              <a:lnSpc>
                <a:spcPct val="100000"/>
              </a:lnSpc>
            </a:pPr>
            <a:r>
              <a:rPr lang="es-ES_tradnl" sz="1600" b="1" i="0" noProof="0" dirty="0">
                <a:solidFill>
                  <a:srgbClr val="0B2E2C"/>
                </a:solidFill>
                <a:latin typeface="Arial"/>
              </a:rPr>
              <a:t>Modelo de supervivencia (Cox PH)</a:t>
            </a:r>
          </a:p>
        </p:txBody>
      </p:sp>
      <p:sp>
        <p:nvSpPr>
          <p:cNvPr id="77" name="Rectangle 76">
            <a:extLst>
              <a:ext uri="{FF2B5EF4-FFF2-40B4-BE49-F238E27FC236}">
                <a16:creationId xmlns:a16="http://schemas.microsoft.com/office/drawing/2014/main" id="{1AA5B520-EA1B-3ECF-C3EC-F933B961A045}"/>
              </a:ext>
            </a:extLst>
          </p:cNvPr>
          <p:cNvSpPr/>
          <p:nvPr/>
        </p:nvSpPr>
        <p:spPr>
          <a:xfrm>
            <a:off x="7626096" y="2761488"/>
            <a:ext cx="7624084" cy="32918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0C514E"/>
                </a:solidFill>
                <a:latin typeface="Arial"/>
              </a:rPr>
              <a:t>h(</a:t>
            </a:r>
            <a:r>
              <a:rPr lang="es-ES_tradnl" sz="1200" b="1" i="0" noProof="0" dirty="0" err="1">
                <a:solidFill>
                  <a:srgbClr val="0C514E"/>
                </a:solidFill>
                <a:latin typeface="Arial"/>
              </a:rPr>
              <a:t>t|X</a:t>
            </a:r>
            <a:r>
              <a:rPr lang="es-ES_tradnl" sz="1200" b="1" i="0" noProof="0" dirty="0">
                <a:solidFill>
                  <a:srgbClr val="0C514E"/>
                </a:solidFill>
                <a:latin typeface="Arial"/>
              </a:rPr>
              <a:t>) = h₀(t) · </a:t>
            </a:r>
            <a:r>
              <a:rPr lang="es-ES_tradnl" sz="1200" b="1" i="0" noProof="0" dirty="0" err="1">
                <a:solidFill>
                  <a:srgbClr val="0C514E"/>
                </a:solidFill>
                <a:latin typeface="Arial"/>
              </a:rPr>
              <a:t>exp</a:t>
            </a:r>
            <a:r>
              <a:rPr lang="es-ES_tradnl" sz="1200" b="1" i="0" noProof="0" dirty="0">
                <a:solidFill>
                  <a:srgbClr val="0C514E"/>
                </a:solidFill>
                <a:latin typeface="Arial"/>
              </a:rPr>
              <a:t>(</a:t>
            </a:r>
            <a:r>
              <a:rPr lang="es-ES_tradnl" sz="1200" b="1" i="0" noProof="0" dirty="0" err="1">
                <a:solidFill>
                  <a:srgbClr val="0C514E"/>
                </a:solidFill>
                <a:latin typeface="Arial"/>
              </a:rPr>
              <a:t>Σ</a:t>
            </a:r>
            <a:r>
              <a:rPr lang="es-ES_tradnl" sz="1200" b="1" i="0" noProof="0" dirty="0">
                <a:solidFill>
                  <a:srgbClr val="0C514E"/>
                </a:solidFill>
                <a:latin typeface="Arial"/>
              </a:rPr>
              <a:t> βᵢ · Xᵢ)</a:t>
            </a:r>
          </a:p>
        </p:txBody>
      </p:sp>
      <p:sp>
        <p:nvSpPr>
          <p:cNvPr id="78" name="TextBox 77">
            <a:extLst>
              <a:ext uri="{FF2B5EF4-FFF2-40B4-BE49-F238E27FC236}">
                <a16:creationId xmlns:a16="http://schemas.microsoft.com/office/drawing/2014/main" id="{E52B75D9-0BD3-D24D-52D3-AE57AF86D242}"/>
              </a:ext>
            </a:extLst>
          </p:cNvPr>
          <p:cNvSpPr txBox="1"/>
          <p:nvPr/>
        </p:nvSpPr>
        <p:spPr>
          <a:xfrm>
            <a:off x="7626096" y="3145536"/>
            <a:ext cx="7624084" cy="186269"/>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Arial"/>
              </a:rPr>
              <a:t>h₀(t): riesgo base explicado por el paso del tiempo; los drivers de </a:t>
            </a:r>
            <a:r>
              <a:rPr lang="es-ES_tradnl" sz="1100" b="0" i="0" noProof="0" dirty="0" err="1">
                <a:solidFill>
                  <a:srgbClr val="6E7E7D"/>
                </a:solidFill>
                <a:latin typeface="Arial"/>
              </a:rPr>
              <a:t>originación</a:t>
            </a:r>
            <a:r>
              <a:rPr lang="es-ES_tradnl" sz="1100" b="0" i="0" noProof="0" dirty="0">
                <a:solidFill>
                  <a:srgbClr val="6E7E7D"/>
                </a:solidFill>
                <a:latin typeface="Arial"/>
              </a:rPr>
              <a:t> escalan ese riesgo.</a:t>
            </a:r>
          </a:p>
        </p:txBody>
      </p:sp>
      <p:sp>
        <p:nvSpPr>
          <p:cNvPr id="79" name="Rectangle 78">
            <a:extLst>
              <a:ext uri="{FF2B5EF4-FFF2-40B4-BE49-F238E27FC236}">
                <a16:creationId xmlns:a16="http://schemas.microsoft.com/office/drawing/2014/main" id="{79735FFB-2115-0E4D-584C-8CA8AC9DE716}"/>
              </a:ext>
            </a:extLst>
          </p:cNvPr>
          <p:cNvSpPr/>
          <p:nvPr/>
        </p:nvSpPr>
        <p:spPr>
          <a:xfrm>
            <a:off x="7059168" y="3660648"/>
            <a:ext cx="8538484" cy="12649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80" name="Rectangle 79">
            <a:extLst>
              <a:ext uri="{FF2B5EF4-FFF2-40B4-BE49-F238E27FC236}">
                <a16:creationId xmlns:a16="http://schemas.microsoft.com/office/drawing/2014/main" id="{03F0ADED-486F-616E-4B8A-E6B9DA54CBDF}"/>
              </a:ext>
            </a:extLst>
          </p:cNvPr>
          <p:cNvSpPr/>
          <p:nvPr/>
        </p:nvSpPr>
        <p:spPr>
          <a:xfrm>
            <a:off x="7059168" y="3660648"/>
            <a:ext cx="41148" cy="12649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81" name="Rectangle 80">
            <a:extLst>
              <a:ext uri="{FF2B5EF4-FFF2-40B4-BE49-F238E27FC236}">
                <a16:creationId xmlns:a16="http://schemas.microsoft.com/office/drawing/2014/main" id="{C0A1B6F7-2B8F-584B-8387-4251C4F79063}"/>
              </a:ext>
            </a:extLst>
          </p:cNvPr>
          <p:cNvSpPr/>
          <p:nvPr/>
        </p:nvSpPr>
        <p:spPr>
          <a:xfrm>
            <a:off x="7260336" y="3788664"/>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FFFFFF"/>
                </a:solidFill>
                <a:latin typeface="Arial"/>
              </a:rPr>
              <a:t>2</a:t>
            </a:r>
          </a:p>
        </p:txBody>
      </p:sp>
      <p:sp>
        <p:nvSpPr>
          <p:cNvPr id="82" name="TextBox 81">
            <a:extLst>
              <a:ext uri="{FF2B5EF4-FFF2-40B4-BE49-F238E27FC236}">
                <a16:creationId xmlns:a16="http://schemas.microsoft.com/office/drawing/2014/main" id="{87B9DB9A-AA33-732C-75E2-0B1A2AD5F3BA}"/>
              </a:ext>
            </a:extLst>
          </p:cNvPr>
          <p:cNvSpPr txBox="1"/>
          <p:nvPr/>
        </p:nvSpPr>
        <p:spPr>
          <a:xfrm>
            <a:off x="7644383" y="3816096"/>
            <a:ext cx="7752100" cy="246221"/>
          </a:xfrm>
          <a:prstGeom prst="rect">
            <a:avLst/>
          </a:prstGeom>
          <a:noFill/>
        </p:spPr>
        <p:txBody>
          <a:bodyPr wrap="square" lIns="0" tIns="0" rIns="0" bIns="0" anchor="t">
            <a:spAutoFit/>
          </a:bodyPr>
          <a:lstStyle/>
          <a:p>
            <a:pPr algn="l">
              <a:lnSpc>
                <a:spcPct val="100000"/>
              </a:lnSpc>
            </a:pPr>
            <a:r>
              <a:rPr lang="es-ES_tradnl" sz="1600" b="1" i="0" noProof="0" dirty="0">
                <a:solidFill>
                  <a:srgbClr val="0B2E2C"/>
                </a:solidFill>
                <a:latin typeface="Arial"/>
              </a:rPr>
              <a:t>Probabilidad de </a:t>
            </a:r>
            <a:r>
              <a:rPr lang="es-ES_tradnl" sz="1600" b="1" i="0" noProof="0" dirty="0" err="1">
                <a:solidFill>
                  <a:srgbClr val="0B2E2C"/>
                </a:solidFill>
                <a:latin typeface="Arial"/>
              </a:rPr>
              <a:t>precancelación</a:t>
            </a:r>
            <a:endParaRPr lang="es-ES_tradnl" sz="1600" b="1" i="0" noProof="0" dirty="0">
              <a:solidFill>
                <a:srgbClr val="0B2E2C"/>
              </a:solidFill>
              <a:latin typeface="Arial"/>
            </a:endParaRPr>
          </a:p>
        </p:txBody>
      </p:sp>
      <p:sp>
        <p:nvSpPr>
          <p:cNvPr id="83" name="Rectangle 82">
            <a:extLst>
              <a:ext uri="{FF2B5EF4-FFF2-40B4-BE49-F238E27FC236}">
                <a16:creationId xmlns:a16="http://schemas.microsoft.com/office/drawing/2014/main" id="{2336CBF0-8432-F3E4-53D9-CA3E110CE1F9}"/>
              </a:ext>
            </a:extLst>
          </p:cNvPr>
          <p:cNvSpPr/>
          <p:nvPr/>
        </p:nvSpPr>
        <p:spPr>
          <a:xfrm>
            <a:off x="7626096" y="4136136"/>
            <a:ext cx="7624084" cy="32918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0C514E"/>
                </a:solidFill>
                <a:latin typeface="Arial"/>
              </a:rPr>
              <a:t>P(T ≤ </a:t>
            </a:r>
            <a:r>
              <a:rPr lang="es-ES_tradnl" sz="1200" b="1" i="0" noProof="0" dirty="0" err="1">
                <a:solidFill>
                  <a:srgbClr val="0C514E"/>
                </a:solidFill>
                <a:latin typeface="Arial"/>
              </a:rPr>
              <a:t>t|X</a:t>
            </a:r>
            <a:r>
              <a:rPr lang="es-ES_tradnl" sz="1200" b="1" i="0" noProof="0" dirty="0">
                <a:solidFill>
                  <a:srgbClr val="0C514E"/>
                </a:solidFill>
                <a:latin typeface="Arial"/>
              </a:rPr>
              <a:t>) = 1 − </a:t>
            </a:r>
            <a:r>
              <a:rPr lang="es-ES_tradnl" sz="1200" b="1" i="0" noProof="0" dirty="0" err="1">
                <a:solidFill>
                  <a:srgbClr val="0C514E"/>
                </a:solidFill>
                <a:latin typeface="Arial"/>
              </a:rPr>
              <a:t>exp</a:t>
            </a:r>
            <a:r>
              <a:rPr lang="es-ES_tradnl" sz="1200" b="1" i="0" noProof="0" dirty="0">
                <a:solidFill>
                  <a:srgbClr val="0C514E"/>
                </a:solidFill>
                <a:latin typeface="Arial"/>
              </a:rPr>
              <a:t>(−H₀(t) · </a:t>
            </a:r>
            <a:r>
              <a:rPr lang="es-ES_tradnl" sz="1200" b="1" i="0" noProof="0" dirty="0" err="1">
                <a:solidFill>
                  <a:srgbClr val="0C514E"/>
                </a:solidFill>
                <a:latin typeface="Arial"/>
              </a:rPr>
              <a:t>exp</a:t>
            </a:r>
            <a:r>
              <a:rPr lang="es-ES_tradnl" sz="1200" b="1" i="0" noProof="0" dirty="0">
                <a:solidFill>
                  <a:srgbClr val="0C514E"/>
                </a:solidFill>
                <a:latin typeface="Arial"/>
              </a:rPr>
              <a:t>(</a:t>
            </a:r>
            <a:r>
              <a:rPr lang="es-ES_tradnl" sz="1200" b="1" i="0" noProof="0" dirty="0" err="1">
                <a:solidFill>
                  <a:srgbClr val="0C514E"/>
                </a:solidFill>
                <a:latin typeface="Arial"/>
              </a:rPr>
              <a:t>Σ</a:t>
            </a:r>
            <a:r>
              <a:rPr lang="es-ES_tradnl" sz="1200" b="1" i="0" noProof="0" dirty="0">
                <a:solidFill>
                  <a:srgbClr val="0C514E"/>
                </a:solidFill>
                <a:latin typeface="Arial"/>
              </a:rPr>
              <a:t> βᵢ · Xᵢ))</a:t>
            </a:r>
          </a:p>
        </p:txBody>
      </p:sp>
      <p:sp>
        <p:nvSpPr>
          <p:cNvPr id="84" name="TextBox 83">
            <a:extLst>
              <a:ext uri="{FF2B5EF4-FFF2-40B4-BE49-F238E27FC236}">
                <a16:creationId xmlns:a16="http://schemas.microsoft.com/office/drawing/2014/main" id="{FE665228-F776-9278-E71F-62CD15BA9BF1}"/>
              </a:ext>
            </a:extLst>
          </p:cNvPr>
          <p:cNvSpPr txBox="1"/>
          <p:nvPr/>
        </p:nvSpPr>
        <p:spPr>
          <a:xfrm>
            <a:off x="7626096" y="4520184"/>
            <a:ext cx="7624084" cy="186269"/>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Arial"/>
              </a:rPr>
              <a:t>H₀(t): </a:t>
            </a:r>
            <a:r>
              <a:rPr lang="es-ES_tradnl" sz="1100" b="0" i="0" noProof="0" dirty="0" err="1">
                <a:solidFill>
                  <a:srgbClr val="6E7E7D"/>
                </a:solidFill>
                <a:latin typeface="Arial"/>
              </a:rPr>
              <a:t>hazard</a:t>
            </a:r>
            <a:r>
              <a:rPr lang="es-ES_tradnl" sz="1100" b="0" i="0" noProof="0" dirty="0">
                <a:solidFill>
                  <a:srgbClr val="6E7E7D"/>
                </a:solidFill>
                <a:latin typeface="Arial"/>
              </a:rPr>
              <a:t> acumulado hasta t. Entrega la probabilidad acumulada por maduración.</a:t>
            </a:r>
          </a:p>
        </p:txBody>
      </p:sp>
      <p:sp>
        <p:nvSpPr>
          <p:cNvPr id="85" name="Rectangle 84">
            <a:extLst>
              <a:ext uri="{FF2B5EF4-FFF2-40B4-BE49-F238E27FC236}">
                <a16:creationId xmlns:a16="http://schemas.microsoft.com/office/drawing/2014/main" id="{6241FB09-0D43-6AA3-116A-31E961D29D91}"/>
              </a:ext>
            </a:extLst>
          </p:cNvPr>
          <p:cNvSpPr/>
          <p:nvPr/>
        </p:nvSpPr>
        <p:spPr>
          <a:xfrm>
            <a:off x="7059168" y="5035296"/>
            <a:ext cx="8538484" cy="12649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86" name="Rectangle 85">
            <a:extLst>
              <a:ext uri="{FF2B5EF4-FFF2-40B4-BE49-F238E27FC236}">
                <a16:creationId xmlns:a16="http://schemas.microsoft.com/office/drawing/2014/main" id="{9AFD2842-DBA6-CCA7-6ED9-02C158EC3812}"/>
              </a:ext>
            </a:extLst>
          </p:cNvPr>
          <p:cNvSpPr/>
          <p:nvPr/>
        </p:nvSpPr>
        <p:spPr>
          <a:xfrm>
            <a:off x="7059168" y="5035296"/>
            <a:ext cx="41148" cy="12649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87" name="Rectangle 86">
            <a:extLst>
              <a:ext uri="{FF2B5EF4-FFF2-40B4-BE49-F238E27FC236}">
                <a16:creationId xmlns:a16="http://schemas.microsoft.com/office/drawing/2014/main" id="{34E57604-A7A5-325D-41CD-5E7936D5AF5A}"/>
              </a:ext>
            </a:extLst>
          </p:cNvPr>
          <p:cNvSpPr/>
          <p:nvPr/>
        </p:nvSpPr>
        <p:spPr>
          <a:xfrm>
            <a:off x="7260336" y="5163312"/>
            <a:ext cx="274320" cy="2743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FFFFFF"/>
                </a:solidFill>
                <a:latin typeface="Arial"/>
              </a:rPr>
              <a:t>3</a:t>
            </a:r>
          </a:p>
        </p:txBody>
      </p:sp>
      <p:sp>
        <p:nvSpPr>
          <p:cNvPr id="88" name="TextBox 87">
            <a:extLst>
              <a:ext uri="{FF2B5EF4-FFF2-40B4-BE49-F238E27FC236}">
                <a16:creationId xmlns:a16="http://schemas.microsoft.com/office/drawing/2014/main" id="{A9AE54F1-0064-13FE-1912-EE621288A901}"/>
              </a:ext>
            </a:extLst>
          </p:cNvPr>
          <p:cNvSpPr txBox="1"/>
          <p:nvPr/>
        </p:nvSpPr>
        <p:spPr>
          <a:xfrm>
            <a:off x="7644383" y="5190744"/>
            <a:ext cx="7752100" cy="246221"/>
          </a:xfrm>
          <a:prstGeom prst="rect">
            <a:avLst/>
          </a:prstGeom>
          <a:noFill/>
        </p:spPr>
        <p:txBody>
          <a:bodyPr wrap="square" lIns="0" tIns="0" rIns="0" bIns="0" anchor="t">
            <a:spAutoFit/>
          </a:bodyPr>
          <a:lstStyle/>
          <a:p>
            <a:pPr algn="l">
              <a:lnSpc>
                <a:spcPct val="100000"/>
              </a:lnSpc>
            </a:pPr>
            <a:r>
              <a:rPr lang="es-ES_tradnl" sz="1600" b="1" i="0" noProof="0" dirty="0">
                <a:solidFill>
                  <a:srgbClr val="0B2E2C"/>
                </a:solidFill>
                <a:latin typeface="Arial"/>
              </a:rPr>
              <a:t>Suavizamiento del </a:t>
            </a:r>
            <a:r>
              <a:rPr lang="es-ES_tradnl" sz="1600" b="1" i="0" noProof="0" dirty="0" err="1">
                <a:solidFill>
                  <a:srgbClr val="0B2E2C"/>
                </a:solidFill>
                <a:latin typeface="Arial"/>
              </a:rPr>
              <a:t>hazard</a:t>
            </a:r>
            <a:endParaRPr lang="es-ES_tradnl" sz="1600" b="1" i="0" noProof="0" dirty="0">
              <a:solidFill>
                <a:srgbClr val="0B2E2C"/>
              </a:solidFill>
              <a:latin typeface="Arial"/>
            </a:endParaRPr>
          </a:p>
        </p:txBody>
      </p:sp>
      <p:sp>
        <p:nvSpPr>
          <p:cNvPr id="89" name="Rectangle 88">
            <a:extLst>
              <a:ext uri="{FF2B5EF4-FFF2-40B4-BE49-F238E27FC236}">
                <a16:creationId xmlns:a16="http://schemas.microsoft.com/office/drawing/2014/main" id="{2543459F-6857-C340-D9C2-2B19B909A9BA}"/>
              </a:ext>
            </a:extLst>
          </p:cNvPr>
          <p:cNvSpPr/>
          <p:nvPr/>
        </p:nvSpPr>
        <p:spPr>
          <a:xfrm>
            <a:off x="7626096" y="5510784"/>
            <a:ext cx="7624084" cy="329184"/>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C87A0B"/>
                </a:solidFill>
                <a:latin typeface="Arial"/>
              </a:rPr>
              <a:t>H₀(t) ≈ </a:t>
            </a:r>
            <a:r>
              <a:rPr lang="es-ES_tradnl" sz="1200" b="1" i="0" noProof="0" dirty="0" err="1">
                <a:solidFill>
                  <a:srgbClr val="C87A0B"/>
                </a:solidFill>
                <a:latin typeface="Arial"/>
              </a:rPr>
              <a:t>Gompertz</a:t>
            </a:r>
            <a:r>
              <a:rPr lang="es-ES_tradnl" sz="1200" b="1" i="0" noProof="0" dirty="0">
                <a:solidFill>
                  <a:srgbClr val="C87A0B"/>
                </a:solidFill>
                <a:latin typeface="Arial"/>
              </a:rPr>
              <a:t> o Weibull</a:t>
            </a:r>
          </a:p>
        </p:txBody>
      </p:sp>
      <p:sp>
        <p:nvSpPr>
          <p:cNvPr id="90" name="TextBox 89">
            <a:extLst>
              <a:ext uri="{FF2B5EF4-FFF2-40B4-BE49-F238E27FC236}">
                <a16:creationId xmlns:a16="http://schemas.microsoft.com/office/drawing/2014/main" id="{95B7840B-9ED8-4E64-3DD0-7A56A53520D6}"/>
              </a:ext>
            </a:extLst>
          </p:cNvPr>
          <p:cNvSpPr txBox="1"/>
          <p:nvPr/>
        </p:nvSpPr>
        <p:spPr>
          <a:xfrm>
            <a:off x="7626096" y="5894832"/>
            <a:ext cx="7624084" cy="181973"/>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Arial"/>
              </a:rPr>
              <a:t>Se ajusta dentro del rango histórico observado, reduciendo ruido y estabilizando la proyección de flujos.</a:t>
            </a:r>
          </a:p>
        </p:txBody>
      </p:sp>
      <p:sp>
        <p:nvSpPr>
          <p:cNvPr id="91" name="TextBox 90">
            <a:extLst>
              <a:ext uri="{FF2B5EF4-FFF2-40B4-BE49-F238E27FC236}">
                <a16:creationId xmlns:a16="http://schemas.microsoft.com/office/drawing/2014/main" id="{8303624E-FCB3-C231-D548-8EA977224CAA}"/>
              </a:ext>
            </a:extLst>
          </p:cNvPr>
          <p:cNvSpPr txBox="1"/>
          <p:nvPr/>
        </p:nvSpPr>
        <p:spPr>
          <a:xfrm>
            <a:off x="658368" y="5943600"/>
            <a:ext cx="9144000"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Arial"/>
              </a:rPr>
              <a:t>Resultado sobre datos</a:t>
            </a:r>
          </a:p>
        </p:txBody>
      </p:sp>
      <p:sp>
        <p:nvSpPr>
          <p:cNvPr id="92" name="Rectangle 91">
            <a:extLst>
              <a:ext uri="{FF2B5EF4-FFF2-40B4-BE49-F238E27FC236}">
                <a16:creationId xmlns:a16="http://schemas.microsoft.com/office/drawing/2014/main" id="{C348BDCC-9446-05A2-2219-28A76442B88A}"/>
              </a:ext>
            </a:extLst>
          </p:cNvPr>
          <p:cNvSpPr/>
          <p:nvPr/>
        </p:nvSpPr>
        <p:spPr>
          <a:xfrm>
            <a:off x="14154042" y="5885688"/>
            <a:ext cx="1096138" cy="227055"/>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lang="es-ES_tradnl" sz="1050" b="1" i="0" noProof="0" dirty="0">
                <a:solidFill>
                  <a:srgbClr val="FFFFFF"/>
                </a:solidFill>
                <a:latin typeface="Arial"/>
              </a:rPr>
              <a:t>ILUSTRATIVO</a:t>
            </a:r>
          </a:p>
        </p:txBody>
      </p:sp>
      <p:cxnSp>
        <p:nvCxnSpPr>
          <p:cNvPr id="93" name="Connector 57">
            <a:extLst>
              <a:ext uri="{FF2B5EF4-FFF2-40B4-BE49-F238E27FC236}">
                <a16:creationId xmlns:a16="http://schemas.microsoft.com/office/drawing/2014/main" id="{CEDE2C61-62F6-675F-DFF7-48486AA63FDB}"/>
              </a:ext>
            </a:extLst>
          </p:cNvPr>
          <p:cNvCxnSpPr/>
          <p:nvPr/>
        </p:nvCxnSpPr>
        <p:spPr>
          <a:xfrm>
            <a:off x="658368" y="623620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94" name="Rectangle 93">
            <a:extLst>
              <a:ext uri="{FF2B5EF4-FFF2-40B4-BE49-F238E27FC236}">
                <a16:creationId xmlns:a16="http://schemas.microsoft.com/office/drawing/2014/main" id="{8C213268-CD65-AB7F-CB8C-E03D5879728F}"/>
              </a:ext>
            </a:extLst>
          </p:cNvPr>
          <p:cNvSpPr/>
          <p:nvPr/>
        </p:nvSpPr>
        <p:spPr>
          <a:xfrm>
            <a:off x="658368" y="6345936"/>
            <a:ext cx="7241042" cy="239572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95" name="TextBox 94">
            <a:extLst>
              <a:ext uri="{FF2B5EF4-FFF2-40B4-BE49-F238E27FC236}">
                <a16:creationId xmlns:a16="http://schemas.microsoft.com/office/drawing/2014/main" id="{9B5E8D17-4622-D718-7C1C-2F301413C42F}"/>
              </a:ext>
            </a:extLst>
          </p:cNvPr>
          <p:cNvSpPr txBox="1"/>
          <p:nvPr/>
        </p:nvSpPr>
        <p:spPr>
          <a:xfrm>
            <a:off x="859536" y="6455664"/>
            <a:ext cx="6838706"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B2E2C"/>
                </a:solidFill>
                <a:latin typeface="Arial"/>
              </a:rPr>
              <a:t>Suavizamiento del </a:t>
            </a:r>
            <a:r>
              <a:rPr lang="es-ES_tradnl" sz="1200" b="1" i="0" noProof="0" dirty="0" err="1">
                <a:solidFill>
                  <a:srgbClr val="0B2E2C"/>
                </a:solidFill>
                <a:latin typeface="Arial"/>
              </a:rPr>
              <a:t>hazard</a:t>
            </a:r>
            <a:r>
              <a:rPr lang="es-ES_tradnl" sz="1200" b="1" i="0" noProof="0" dirty="0">
                <a:solidFill>
                  <a:srgbClr val="0B2E2C"/>
                </a:solidFill>
                <a:latin typeface="Arial"/>
              </a:rPr>
              <a:t> acumulado</a:t>
            </a:r>
          </a:p>
        </p:txBody>
      </p:sp>
      <p:pic>
        <p:nvPicPr>
          <p:cNvPr id="96" name="Picture 95" descr="precanc_hz.png">
            <a:extLst>
              <a:ext uri="{FF2B5EF4-FFF2-40B4-BE49-F238E27FC236}">
                <a16:creationId xmlns:a16="http://schemas.microsoft.com/office/drawing/2014/main" id="{543B5DA6-ACF9-2B0F-E39B-109DB0995F14}"/>
              </a:ext>
            </a:extLst>
          </p:cNvPr>
          <p:cNvPicPr>
            <a:picLocks noChangeAspect="1"/>
          </p:cNvPicPr>
          <p:nvPr/>
        </p:nvPicPr>
        <p:blipFill>
          <a:blip r:embed="rId3"/>
          <a:stretch>
            <a:fillRect/>
          </a:stretch>
        </p:blipFill>
        <p:spPr>
          <a:xfrm>
            <a:off x="1389888" y="6711696"/>
            <a:ext cx="3180283" cy="1691640"/>
          </a:xfrm>
          <a:prstGeom prst="rect">
            <a:avLst/>
          </a:prstGeom>
        </p:spPr>
      </p:pic>
      <p:sp>
        <p:nvSpPr>
          <p:cNvPr id="97" name="TextBox 96">
            <a:extLst>
              <a:ext uri="{FF2B5EF4-FFF2-40B4-BE49-F238E27FC236}">
                <a16:creationId xmlns:a16="http://schemas.microsoft.com/office/drawing/2014/main" id="{8B77561A-3994-0CC3-5381-920C5F8978FB}"/>
              </a:ext>
            </a:extLst>
          </p:cNvPr>
          <p:cNvSpPr txBox="1"/>
          <p:nvPr/>
        </p:nvSpPr>
        <p:spPr>
          <a:xfrm>
            <a:off x="859536" y="8467344"/>
            <a:ext cx="6838706"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9AA8A7"/>
                </a:solidFill>
                <a:latin typeface="Arial"/>
              </a:rPr>
              <a:t>El </a:t>
            </a:r>
            <a:r>
              <a:rPr lang="es-ES_tradnl" sz="1050" b="0" i="0" noProof="0" dirty="0" err="1">
                <a:solidFill>
                  <a:srgbClr val="9AA8A7"/>
                </a:solidFill>
                <a:latin typeface="Arial"/>
              </a:rPr>
              <a:t>hazard</a:t>
            </a:r>
            <a:r>
              <a:rPr lang="es-ES_tradnl" sz="1050" b="0" i="0" noProof="0" dirty="0">
                <a:solidFill>
                  <a:srgbClr val="9AA8A7"/>
                </a:solidFill>
                <a:latin typeface="Arial"/>
              </a:rPr>
              <a:t> base observado se ajusta con </a:t>
            </a:r>
            <a:r>
              <a:rPr lang="es-ES_tradnl" sz="1050" b="0" i="0" noProof="0" dirty="0" err="1">
                <a:solidFill>
                  <a:srgbClr val="9AA8A7"/>
                </a:solidFill>
                <a:latin typeface="Arial"/>
              </a:rPr>
              <a:t>Gompertz</a:t>
            </a:r>
            <a:r>
              <a:rPr lang="es-ES_tradnl" sz="1050" b="0" i="0" noProof="0" dirty="0">
                <a:solidFill>
                  <a:srgbClr val="9AA8A7"/>
                </a:solidFill>
                <a:latin typeface="Arial"/>
              </a:rPr>
              <a:t> / Weibull</a:t>
            </a:r>
          </a:p>
        </p:txBody>
      </p:sp>
      <p:sp>
        <p:nvSpPr>
          <p:cNvPr id="98" name="Rectangle 97">
            <a:extLst>
              <a:ext uri="{FF2B5EF4-FFF2-40B4-BE49-F238E27FC236}">
                <a16:creationId xmlns:a16="http://schemas.microsoft.com/office/drawing/2014/main" id="{F8286367-B4F0-4458-97C0-B18E077C096C}"/>
              </a:ext>
            </a:extLst>
          </p:cNvPr>
          <p:cNvSpPr/>
          <p:nvPr/>
        </p:nvSpPr>
        <p:spPr>
          <a:xfrm>
            <a:off x="8356610" y="6345936"/>
            <a:ext cx="7241042" cy="239572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sp>
        <p:nvSpPr>
          <p:cNvPr id="99" name="TextBox 98">
            <a:extLst>
              <a:ext uri="{FF2B5EF4-FFF2-40B4-BE49-F238E27FC236}">
                <a16:creationId xmlns:a16="http://schemas.microsoft.com/office/drawing/2014/main" id="{DBB97483-99D0-39A9-E198-C933AC313AC4}"/>
              </a:ext>
            </a:extLst>
          </p:cNvPr>
          <p:cNvSpPr txBox="1"/>
          <p:nvPr/>
        </p:nvSpPr>
        <p:spPr>
          <a:xfrm>
            <a:off x="8557778" y="6455664"/>
            <a:ext cx="6838706"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B2E2C"/>
                </a:solidFill>
                <a:latin typeface="Arial"/>
              </a:rPr>
              <a:t>Probabilidad acumulada de </a:t>
            </a:r>
            <a:r>
              <a:rPr lang="es-ES_tradnl" sz="1200" b="1" i="0" noProof="0" dirty="0" err="1">
                <a:solidFill>
                  <a:srgbClr val="0B2E2C"/>
                </a:solidFill>
                <a:latin typeface="Arial"/>
              </a:rPr>
              <a:t>precancelación</a:t>
            </a:r>
            <a:endParaRPr lang="es-ES_tradnl" sz="1200" b="1" i="0" noProof="0" dirty="0">
              <a:solidFill>
                <a:srgbClr val="0B2E2C"/>
              </a:solidFill>
              <a:latin typeface="Arial"/>
            </a:endParaRPr>
          </a:p>
        </p:txBody>
      </p:sp>
      <p:pic>
        <p:nvPicPr>
          <p:cNvPr id="100" name="Picture 99" descr="precanc_prob.png">
            <a:extLst>
              <a:ext uri="{FF2B5EF4-FFF2-40B4-BE49-F238E27FC236}">
                <a16:creationId xmlns:a16="http://schemas.microsoft.com/office/drawing/2014/main" id="{4D598E67-1749-37B3-5F9E-C9143BC5E57C}"/>
              </a:ext>
            </a:extLst>
          </p:cNvPr>
          <p:cNvPicPr>
            <a:picLocks noChangeAspect="1"/>
          </p:cNvPicPr>
          <p:nvPr/>
        </p:nvPicPr>
        <p:blipFill>
          <a:blip r:embed="rId4"/>
          <a:stretch>
            <a:fillRect/>
          </a:stretch>
        </p:blipFill>
        <p:spPr>
          <a:xfrm>
            <a:off x="9088130" y="6711696"/>
            <a:ext cx="3180283" cy="1691640"/>
          </a:xfrm>
          <a:prstGeom prst="rect">
            <a:avLst/>
          </a:prstGeom>
        </p:spPr>
      </p:pic>
      <p:sp>
        <p:nvSpPr>
          <p:cNvPr id="101" name="TextBox 100">
            <a:extLst>
              <a:ext uri="{FF2B5EF4-FFF2-40B4-BE49-F238E27FC236}">
                <a16:creationId xmlns:a16="http://schemas.microsoft.com/office/drawing/2014/main" id="{1FD981D1-0E54-8E12-2C3B-74C797CBCBE2}"/>
              </a:ext>
            </a:extLst>
          </p:cNvPr>
          <p:cNvSpPr txBox="1"/>
          <p:nvPr/>
        </p:nvSpPr>
        <p:spPr>
          <a:xfrm>
            <a:off x="8557778" y="8467344"/>
            <a:ext cx="6838706" cy="161583"/>
          </a:xfrm>
          <a:prstGeom prst="rect">
            <a:avLst/>
          </a:prstGeom>
          <a:noFill/>
        </p:spPr>
        <p:txBody>
          <a:bodyPr wrap="square" lIns="0" tIns="0" rIns="0" bIns="0" anchor="t">
            <a:spAutoFit/>
          </a:bodyPr>
          <a:lstStyle/>
          <a:p>
            <a:pPr algn="l">
              <a:lnSpc>
                <a:spcPct val="100000"/>
              </a:lnSpc>
            </a:pPr>
            <a:r>
              <a:rPr lang="es-ES_tradnl" sz="1050" b="0" i="0" noProof="0" dirty="0" err="1">
                <a:solidFill>
                  <a:srgbClr val="9AA8A7"/>
                </a:solidFill>
                <a:latin typeface="Arial"/>
              </a:rPr>
              <a:t>CoxPH</a:t>
            </a:r>
            <a:r>
              <a:rPr lang="es-ES_tradnl" sz="1050" b="0" i="0" noProof="0" dirty="0">
                <a:solidFill>
                  <a:srgbClr val="9AA8A7"/>
                </a:solidFill>
                <a:latin typeface="Arial"/>
              </a:rPr>
              <a:t> (Breslow) suavizada: curva final por maduración</a:t>
            </a:r>
          </a:p>
        </p:txBody>
      </p:sp>
      <p:sp>
        <p:nvSpPr>
          <p:cNvPr id="102" name="Rectangle 101">
            <a:extLst>
              <a:ext uri="{FF2B5EF4-FFF2-40B4-BE49-F238E27FC236}">
                <a16:creationId xmlns:a16="http://schemas.microsoft.com/office/drawing/2014/main" id="{50AB17B6-96B8-1461-AF81-2104D00F8DA1}"/>
              </a:ext>
            </a:extLst>
          </p:cNvPr>
          <p:cNvSpPr/>
          <p:nvPr/>
        </p:nvSpPr>
        <p:spPr>
          <a:xfrm>
            <a:off x="658368" y="8247888"/>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p>
        </p:txBody>
      </p:sp>
      <p:cxnSp>
        <p:nvCxnSpPr>
          <p:cNvPr id="103" name="Connector 67">
            <a:extLst>
              <a:ext uri="{FF2B5EF4-FFF2-40B4-BE49-F238E27FC236}">
                <a16:creationId xmlns:a16="http://schemas.microsoft.com/office/drawing/2014/main" id="{9BF04D90-095D-D860-E023-B0EE0DBC5046}"/>
              </a:ext>
            </a:extLst>
          </p:cNvPr>
          <p:cNvCxnSpPr/>
          <p:nvPr/>
        </p:nvCxnSpPr>
        <p:spPr>
          <a:xfrm>
            <a:off x="658368" y="8247888"/>
            <a:ext cx="0" cy="47548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B81C18E5-3F4A-1211-0401-4D31D0894BAC}"/>
              </a:ext>
            </a:extLst>
          </p:cNvPr>
          <p:cNvSpPr txBox="1"/>
          <p:nvPr/>
        </p:nvSpPr>
        <p:spPr>
          <a:xfrm>
            <a:off x="896112" y="8356110"/>
            <a:ext cx="14482084" cy="259045"/>
          </a:xfrm>
          <a:prstGeom prst="rect">
            <a:avLst/>
          </a:prstGeom>
          <a:noFill/>
        </p:spPr>
        <p:txBody>
          <a:bodyPr wrap="square" lIns="0" tIns="0" rIns="0" bIns="0" anchor="ctr">
            <a:spAutoFit/>
          </a:bodyPr>
          <a:lstStyle/>
          <a:p>
            <a:pPr algn="l">
              <a:lnSpc>
                <a:spcPct val="115000"/>
              </a:lnSpc>
              <a:spcAft>
                <a:spcPts val="400"/>
              </a:spcAft>
            </a:pPr>
            <a:r>
              <a:rPr lang="es-ES_tradnl" sz="1600" b="1" i="0" noProof="0" dirty="0">
                <a:solidFill>
                  <a:srgbClr val="0C514E"/>
                </a:solidFill>
                <a:latin typeface="Arial"/>
              </a:rPr>
              <a:t>Por la forma funcional del modelo, la probabilidad acumulada por maduración sale directo: no requiere una etapa adicional de agregación.</a:t>
            </a:r>
          </a:p>
        </p:txBody>
      </p:sp>
    </p:spTree>
    <p:extLst>
      <p:ext uri="{BB962C8B-B14F-4D97-AF65-F5344CB8AC3E}">
        <p14:creationId xmlns:p14="http://schemas.microsoft.com/office/powerpoint/2010/main" val="2281472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AC42EF77-1455-F4A7-1766-305C8F7B65E0}"/>
            </a:ext>
          </a:extLst>
        </p:cNvPr>
        <p:cNvGrpSpPr/>
        <p:nvPr/>
      </p:nvGrpSpPr>
      <p:grpSpPr>
        <a:xfrm>
          <a:off x="0" y="0"/>
          <a:ext cx="0" cy="0"/>
          <a:chOff x="0" y="0"/>
          <a:chExt cx="0" cy="0"/>
        </a:xfrm>
      </p:grpSpPr>
      <p:sp>
        <p:nvSpPr>
          <p:cNvPr id="53" name="Google Shape;53;g3d1edd8623c_1_0">
            <a:extLst>
              <a:ext uri="{FF2B5EF4-FFF2-40B4-BE49-F238E27FC236}">
                <a16:creationId xmlns:a16="http://schemas.microsoft.com/office/drawing/2014/main" id="{FE9B671E-5ADA-AC98-8087-8FF4D3D07C39}"/>
              </a:ext>
            </a:extLst>
          </p:cNvPr>
          <p:cNvSpPr txBox="1">
            <a:spLocks noGrp="1"/>
          </p:cNvSpPr>
          <p:nvPr>
            <p:ph type="title"/>
          </p:nvPr>
        </p:nvSpPr>
        <p:spPr>
          <a:xfrm>
            <a:off x="431800" y="2614300"/>
            <a:ext cx="8737500" cy="4073400"/>
          </a:xfrm>
          <a:prstGeom prst="rect">
            <a:avLst/>
          </a:prstGeom>
          <a:noFill/>
          <a:ln>
            <a:noFill/>
          </a:ln>
        </p:spPr>
        <p:txBody>
          <a:bodyPr spcFirstLastPara="1" wrap="square" lIns="91425" tIns="45700" rIns="91425" bIns="45700" anchor="ctr" anchorCtr="0">
            <a:normAutofit/>
          </a:bodyPr>
          <a:lstStyle/>
          <a:p>
            <a:pPr lvl="0"/>
            <a:r>
              <a:rPr lang="es-ES_tradnl" sz="4700" noProof="0" dirty="0"/>
              <a:t>Pricing 360°: </a:t>
            </a:r>
            <a:r>
              <a:rPr lang="es-ES_tradnl" sz="4700" noProof="0" dirty="0" err="1"/>
              <a:t>Checkpoint</a:t>
            </a:r>
            <a:r>
              <a:rPr lang="es-ES_tradnl" sz="4700" noProof="0" dirty="0"/>
              <a:t> Modelos  </a:t>
            </a:r>
          </a:p>
          <a:p>
            <a:pPr marL="0" lvl="0" indent="0" algn="l" rtl="0">
              <a:lnSpc>
                <a:spcPct val="100000"/>
              </a:lnSpc>
              <a:spcBef>
                <a:spcPts val="0"/>
              </a:spcBef>
              <a:spcAft>
                <a:spcPts val="0"/>
              </a:spcAft>
              <a:buSzPts val="4400"/>
              <a:buNone/>
            </a:pPr>
            <a:r>
              <a:rPr lang="es-ES_tradnl" b="0" noProof="0" dirty="0"/>
              <a:t>Costo de Fondeo</a:t>
            </a:r>
          </a:p>
        </p:txBody>
      </p:sp>
      <p:sp>
        <p:nvSpPr>
          <p:cNvPr id="54" name="Google Shape;54;g3d1edd8623c_1_0">
            <a:extLst>
              <a:ext uri="{FF2B5EF4-FFF2-40B4-BE49-F238E27FC236}">
                <a16:creationId xmlns:a16="http://schemas.microsoft.com/office/drawing/2014/main" id="{85400CDB-6867-F416-796E-8B8C89CB4526}"/>
              </a:ext>
            </a:extLst>
          </p:cNvPr>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cxnSp>
        <p:nvCxnSpPr>
          <p:cNvPr id="55" name="Google Shape;55;g3d1edd8623c_1_0">
            <a:extLst>
              <a:ext uri="{FF2B5EF4-FFF2-40B4-BE49-F238E27FC236}">
                <a16:creationId xmlns:a16="http://schemas.microsoft.com/office/drawing/2014/main" id="{80EF4ED6-65A3-2C6F-BFD3-F05E161A7237}"/>
              </a:ext>
            </a:extLst>
          </p:cNvPr>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56" name="Google Shape;56;g3d1edd8623c_1_0">
            <a:extLst>
              <a:ext uri="{FF2B5EF4-FFF2-40B4-BE49-F238E27FC236}">
                <a16:creationId xmlns:a16="http://schemas.microsoft.com/office/drawing/2014/main" id="{77E97AA2-FFF4-09C1-DBA9-3B8AFE2786C8}"/>
              </a:ext>
            </a:extLst>
          </p:cNvPr>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pic>
        <p:nvPicPr>
          <p:cNvPr id="57" name="Google Shape;57;g3d1edd8623c_1_0">
            <a:extLst>
              <a:ext uri="{FF2B5EF4-FFF2-40B4-BE49-F238E27FC236}">
                <a16:creationId xmlns:a16="http://schemas.microsoft.com/office/drawing/2014/main" id="{F6A4B1A7-7D7E-92B8-2A4F-F593BBF68304}"/>
              </a:ext>
            </a:extLst>
          </p:cNvPr>
          <p:cNvPicPr preferRelativeResize="0"/>
          <p:nvPr/>
        </p:nvPicPr>
        <p:blipFill rotWithShape="1">
          <a:blip r:embed="rId3">
            <a:alphaModFix/>
          </a:blip>
          <a:srcRect/>
          <a:stretch/>
        </p:blipFill>
        <p:spPr>
          <a:xfrm>
            <a:off x="15168189" y="223789"/>
            <a:ext cx="792749" cy="375950"/>
          </a:xfrm>
          <a:prstGeom prst="rect">
            <a:avLst/>
          </a:prstGeom>
          <a:noFill/>
          <a:ln>
            <a:noFill/>
          </a:ln>
        </p:spPr>
      </p:pic>
    </p:spTree>
    <p:extLst>
      <p:ext uri="{BB962C8B-B14F-4D97-AF65-F5344CB8AC3E}">
        <p14:creationId xmlns:p14="http://schemas.microsoft.com/office/powerpoint/2010/main" val="1733480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1D77B-0B00-9C92-9302-9EBDFB1E1A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ED2687-3460-E343-5B4E-47DA1062F14C}"/>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50E1FC64-792A-2D19-E8CA-AE8221F2CC8E}"/>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Costo de Fondeo</a:t>
            </a:r>
          </a:p>
        </p:txBody>
      </p:sp>
      <p:cxnSp>
        <p:nvCxnSpPr>
          <p:cNvPr id="2" name="Connector 3">
            <a:extLst>
              <a:ext uri="{FF2B5EF4-FFF2-40B4-BE49-F238E27FC236}">
                <a16:creationId xmlns:a16="http://schemas.microsoft.com/office/drawing/2014/main" id="{3EED7006-04C9-5713-6D01-11D6D240CEA2}"/>
              </a:ext>
            </a:extLst>
          </p:cNvPr>
          <p:cNvCxnSpPr/>
          <p:nvPr/>
        </p:nvCxnSpPr>
        <p:spPr>
          <a:xfrm>
            <a:off x="637586" y="123277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97D6BF70-2B63-8B63-125B-28BE58DE6393}"/>
              </a:ext>
            </a:extLst>
          </p:cNvPr>
          <p:cNvSpPr/>
          <p:nvPr/>
        </p:nvSpPr>
        <p:spPr>
          <a:xfrm>
            <a:off x="637586" y="1479666"/>
            <a:ext cx="4614001" cy="148132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51" name="Rectangle 150">
            <a:extLst>
              <a:ext uri="{FF2B5EF4-FFF2-40B4-BE49-F238E27FC236}">
                <a16:creationId xmlns:a16="http://schemas.microsoft.com/office/drawing/2014/main" id="{6CE53788-BB4C-A66C-57B5-F5D030F2B931}"/>
              </a:ext>
            </a:extLst>
          </p:cNvPr>
          <p:cNvSpPr/>
          <p:nvPr/>
        </p:nvSpPr>
        <p:spPr>
          <a:xfrm>
            <a:off x="838754" y="1662546"/>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1</a:t>
            </a:r>
          </a:p>
        </p:txBody>
      </p:sp>
      <p:sp>
        <p:nvSpPr>
          <p:cNvPr id="152" name="TextBox 151">
            <a:extLst>
              <a:ext uri="{FF2B5EF4-FFF2-40B4-BE49-F238E27FC236}">
                <a16:creationId xmlns:a16="http://schemas.microsoft.com/office/drawing/2014/main" id="{D3BD0A81-F671-2AD7-46FC-D4E5CAE5CD8E}"/>
              </a:ext>
            </a:extLst>
          </p:cNvPr>
          <p:cNvSpPr txBox="1"/>
          <p:nvPr/>
        </p:nvSpPr>
        <p:spPr>
          <a:xfrm>
            <a:off x="1222802" y="1689977"/>
            <a:ext cx="3827617" cy="215444"/>
          </a:xfrm>
          <a:prstGeom prst="rect">
            <a:avLst/>
          </a:prstGeom>
          <a:noFill/>
        </p:spPr>
        <p:txBody>
          <a:bodyPr wrap="square" lIns="0" tIns="0" rIns="0" bIns="0" anchor="t">
            <a:spAutoFit/>
          </a:bodyPr>
          <a:lstStyle/>
          <a:p>
            <a:pPr algn="l">
              <a:lnSpc>
                <a:spcPct val="100000"/>
              </a:lnSpc>
            </a:pPr>
            <a:r>
              <a:rPr lang="es-ES_tradnl" b="1" i="0" noProof="0" dirty="0">
                <a:solidFill>
                  <a:srgbClr val="0B2E2C"/>
                </a:solidFill>
                <a:latin typeface="Calibri" panose="020F0502020204030204" pitchFamily="34" charset="0"/>
                <a:cs typeface="Calibri" panose="020F0502020204030204" pitchFamily="34" charset="0"/>
              </a:rPr>
              <a:t>Curva de fondeo del Banco</a:t>
            </a:r>
          </a:p>
        </p:txBody>
      </p:sp>
      <p:sp>
        <p:nvSpPr>
          <p:cNvPr id="153" name="TextBox 152">
            <a:extLst>
              <a:ext uri="{FF2B5EF4-FFF2-40B4-BE49-F238E27FC236}">
                <a16:creationId xmlns:a16="http://schemas.microsoft.com/office/drawing/2014/main" id="{A0C0FB8F-B204-A757-F53A-C0AE7F6B74F2}"/>
              </a:ext>
            </a:extLst>
          </p:cNvPr>
          <p:cNvSpPr txBox="1"/>
          <p:nvPr/>
        </p:nvSpPr>
        <p:spPr>
          <a:xfrm>
            <a:off x="838754" y="2083170"/>
            <a:ext cx="4211665" cy="398635"/>
          </a:xfrm>
          <a:prstGeom prst="rect">
            <a:avLst/>
          </a:prstGeom>
          <a:noFill/>
        </p:spPr>
        <p:txBody>
          <a:bodyPr wrap="square" lIns="0" tIns="0" rIns="0" bIns="0" anchor="t">
            <a:spAutoFit/>
          </a:bodyPr>
          <a:lstStyle/>
          <a:p>
            <a:pPr algn="l">
              <a:lnSpc>
                <a:spcPct val="122000"/>
              </a:lnSpc>
            </a:pPr>
            <a:r>
              <a:rPr lang="es-ES_tradnl" sz="1100" b="0" i="0" noProof="0" dirty="0">
                <a:solidFill>
                  <a:srgbClr val="3E5553"/>
                </a:solidFill>
                <a:latin typeface="Calibri" panose="020F0502020204030204" pitchFamily="34" charset="0"/>
                <a:cs typeface="Calibri" panose="020F0502020204030204" pitchFamily="34" charset="0"/>
              </a:rPr>
              <a:t>Construida por el Banco a partir de tasas de mercado ajustadas por el riesgo inherente de la institución. Cubre duraciones de 0 a 15 años.</a:t>
            </a:r>
          </a:p>
        </p:txBody>
      </p:sp>
      <p:cxnSp>
        <p:nvCxnSpPr>
          <p:cNvPr id="154" name="Connector 10">
            <a:extLst>
              <a:ext uri="{FF2B5EF4-FFF2-40B4-BE49-F238E27FC236}">
                <a16:creationId xmlns:a16="http://schemas.microsoft.com/office/drawing/2014/main" id="{2331B655-DE55-54E4-5383-48BA77DC8B3D}"/>
              </a:ext>
            </a:extLst>
          </p:cNvPr>
          <p:cNvCxnSpPr/>
          <p:nvPr/>
        </p:nvCxnSpPr>
        <p:spPr>
          <a:xfrm>
            <a:off x="5343027" y="2220330"/>
            <a:ext cx="365760"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Rectangle 154">
            <a:extLst>
              <a:ext uri="{FF2B5EF4-FFF2-40B4-BE49-F238E27FC236}">
                <a16:creationId xmlns:a16="http://schemas.microsoft.com/office/drawing/2014/main" id="{3FECB48E-4F87-4E88-93A7-09683363B81E}"/>
              </a:ext>
            </a:extLst>
          </p:cNvPr>
          <p:cNvSpPr/>
          <p:nvPr/>
        </p:nvSpPr>
        <p:spPr>
          <a:xfrm>
            <a:off x="5800227" y="1479666"/>
            <a:ext cx="4614001" cy="148132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56" name="Rectangle 155">
            <a:extLst>
              <a:ext uri="{FF2B5EF4-FFF2-40B4-BE49-F238E27FC236}">
                <a16:creationId xmlns:a16="http://schemas.microsoft.com/office/drawing/2014/main" id="{E7F07788-BB33-A395-F14D-B4A522013234}"/>
              </a:ext>
            </a:extLst>
          </p:cNvPr>
          <p:cNvSpPr/>
          <p:nvPr/>
        </p:nvSpPr>
        <p:spPr>
          <a:xfrm>
            <a:off x="6001395" y="1662546"/>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2</a:t>
            </a:r>
          </a:p>
        </p:txBody>
      </p:sp>
      <p:sp>
        <p:nvSpPr>
          <p:cNvPr id="157" name="TextBox 156">
            <a:extLst>
              <a:ext uri="{FF2B5EF4-FFF2-40B4-BE49-F238E27FC236}">
                <a16:creationId xmlns:a16="http://schemas.microsoft.com/office/drawing/2014/main" id="{7843F31D-7E40-F613-E851-8D2D607EA9A0}"/>
              </a:ext>
            </a:extLst>
          </p:cNvPr>
          <p:cNvSpPr txBox="1"/>
          <p:nvPr/>
        </p:nvSpPr>
        <p:spPr>
          <a:xfrm>
            <a:off x="6385443" y="1689977"/>
            <a:ext cx="3827617" cy="215444"/>
          </a:xfrm>
          <a:prstGeom prst="rect">
            <a:avLst/>
          </a:prstGeom>
          <a:noFill/>
        </p:spPr>
        <p:txBody>
          <a:bodyPr wrap="square" lIns="0" tIns="0" rIns="0" bIns="0" anchor="t">
            <a:spAutoFit/>
          </a:bodyPr>
          <a:lstStyle/>
          <a:p>
            <a:pPr algn="l">
              <a:lnSpc>
                <a:spcPct val="100000"/>
              </a:lnSpc>
            </a:pPr>
            <a:r>
              <a:rPr lang="es-ES_tradnl" b="1" i="0" noProof="0" dirty="0" err="1">
                <a:solidFill>
                  <a:srgbClr val="0B2E2C"/>
                </a:solidFill>
                <a:latin typeface="Calibri" panose="020F0502020204030204" pitchFamily="34" charset="0"/>
                <a:cs typeface="Calibri" panose="020F0502020204030204" pitchFamily="34" charset="0"/>
              </a:rPr>
              <a:t>Duration</a:t>
            </a:r>
            <a:r>
              <a:rPr lang="es-ES_tradnl" b="1" i="0" noProof="0" dirty="0">
                <a:solidFill>
                  <a:srgbClr val="0B2E2C"/>
                </a:solidFill>
                <a:latin typeface="Calibri" panose="020F0502020204030204" pitchFamily="34" charset="0"/>
                <a:cs typeface="Calibri" panose="020F0502020204030204" pitchFamily="34" charset="0"/>
              </a:rPr>
              <a:t> del crédito</a:t>
            </a:r>
          </a:p>
        </p:txBody>
      </p:sp>
      <p:sp>
        <p:nvSpPr>
          <p:cNvPr id="158" name="TextBox 157">
            <a:extLst>
              <a:ext uri="{FF2B5EF4-FFF2-40B4-BE49-F238E27FC236}">
                <a16:creationId xmlns:a16="http://schemas.microsoft.com/office/drawing/2014/main" id="{D1D303D5-6E16-4A0D-4702-346CF8975B75}"/>
              </a:ext>
            </a:extLst>
          </p:cNvPr>
          <p:cNvSpPr txBox="1"/>
          <p:nvPr/>
        </p:nvSpPr>
        <p:spPr>
          <a:xfrm>
            <a:off x="6001395" y="2083170"/>
            <a:ext cx="4211665" cy="398635"/>
          </a:xfrm>
          <a:prstGeom prst="rect">
            <a:avLst/>
          </a:prstGeom>
          <a:noFill/>
        </p:spPr>
        <p:txBody>
          <a:bodyPr wrap="square" lIns="0" tIns="0" rIns="0" bIns="0" anchor="t">
            <a:spAutoFit/>
          </a:bodyPr>
          <a:lstStyle/>
          <a:p>
            <a:pPr algn="l">
              <a:lnSpc>
                <a:spcPct val="122000"/>
              </a:lnSpc>
            </a:pPr>
            <a:r>
              <a:rPr lang="es-ES_tradnl" sz="1100" b="0" i="0" noProof="0" dirty="0">
                <a:solidFill>
                  <a:srgbClr val="3E5553"/>
                </a:solidFill>
                <a:latin typeface="Calibri" panose="020F0502020204030204" pitchFamily="34" charset="0"/>
                <a:cs typeface="Calibri" panose="020F0502020204030204" pitchFamily="34" charset="0"/>
              </a:rPr>
              <a:t>El flujo del crédito determina la duración efectiva. No es el plazo contractual: prepagos y amortizaciones la acortan.</a:t>
            </a:r>
          </a:p>
        </p:txBody>
      </p:sp>
      <p:cxnSp>
        <p:nvCxnSpPr>
          <p:cNvPr id="159" name="Connector 15">
            <a:extLst>
              <a:ext uri="{FF2B5EF4-FFF2-40B4-BE49-F238E27FC236}">
                <a16:creationId xmlns:a16="http://schemas.microsoft.com/office/drawing/2014/main" id="{1C9FFB40-0BD7-BEC5-A206-F4F9591C533C}"/>
              </a:ext>
            </a:extLst>
          </p:cNvPr>
          <p:cNvCxnSpPr/>
          <p:nvPr/>
        </p:nvCxnSpPr>
        <p:spPr>
          <a:xfrm>
            <a:off x="10505668" y="2220330"/>
            <a:ext cx="365760"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 name="Rectangle 159">
            <a:extLst>
              <a:ext uri="{FF2B5EF4-FFF2-40B4-BE49-F238E27FC236}">
                <a16:creationId xmlns:a16="http://schemas.microsoft.com/office/drawing/2014/main" id="{7EFB1181-FAE2-FF6F-4A1D-C4DB7E7C0A71}"/>
              </a:ext>
            </a:extLst>
          </p:cNvPr>
          <p:cNvSpPr/>
          <p:nvPr/>
        </p:nvSpPr>
        <p:spPr>
          <a:xfrm>
            <a:off x="10962868" y="1479666"/>
            <a:ext cx="4614001" cy="148132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61" name="Rectangle 160">
            <a:extLst>
              <a:ext uri="{FF2B5EF4-FFF2-40B4-BE49-F238E27FC236}">
                <a16:creationId xmlns:a16="http://schemas.microsoft.com/office/drawing/2014/main" id="{73527DCD-E621-0025-AB46-A600B34A9472}"/>
              </a:ext>
            </a:extLst>
          </p:cNvPr>
          <p:cNvSpPr/>
          <p:nvPr/>
        </p:nvSpPr>
        <p:spPr>
          <a:xfrm>
            <a:off x="11164036" y="1662546"/>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3</a:t>
            </a:r>
          </a:p>
        </p:txBody>
      </p:sp>
      <p:sp>
        <p:nvSpPr>
          <p:cNvPr id="162" name="TextBox 161">
            <a:extLst>
              <a:ext uri="{FF2B5EF4-FFF2-40B4-BE49-F238E27FC236}">
                <a16:creationId xmlns:a16="http://schemas.microsoft.com/office/drawing/2014/main" id="{B440E177-2065-E2D0-5146-D4681BF1AE97}"/>
              </a:ext>
            </a:extLst>
          </p:cNvPr>
          <p:cNvSpPr txBox="1"/>
          <p:nvPr/>
        </p:nvSpPr>
        <p:spPr>
          <a:xfrm>
            <a:off x="11548084" y="1689977"/>
            <a:ext cx="3827617" cy="215444"/>
          </a:xfrm>
          <a:prstGeom prst="rect">
            <a:avLst/>
          </a:prstGeom>
          <a:noFill/>
        </p:spPr>
        <p:txBody>
          <a:bodyPr wrap="square" lIns="0" tIns="0" rIns="0" bIns="0" anchor="t">
            <a:spAutoFit/>
          </a:bodyPr>
          <a:lstStyle/>
          <a:p>
            <a:pPr algn="l">
              <a:lnSpc>
                <a:spcPct val="100000"/>
              </a:lnSpc>
            </a:pPr>
            <a:r>
              <a:rPr lang="es-ES_tradnl" b="1" i="0" noProof="0" dirty="0">
                <a:solidFill>
                  <a:srgbClr val="0B2E2C"/>
                </a:solidFill>
                <a:latin typeface="Calibri" panose="020F0502020204030204" pitchFamily="34" charset="0"/>
                <a:cs typeface="Calibri" panose="020F0502020204030204" pitchFamily="34" charset="0"/>
              </a:rPr>
              <a:t>TT activa aplicable</a:t>
            </a:r>
          </a:p>
        </p:txBody>
      </p:sp>
      <p:sp>
        <p:nvSpPr>
          <p:cNvPr id="163" name="TextBox 162">
            <a:extLst>
              <a:ext uri="{FF2B5EF4-FFF2-40B4-BE49-F238E27FC236}">
                <a16:creationId xmlns:a16="http://schemas.microsoft.com/office/drawing/2014/main" id="{660951A3-A98C-4C3B-15A2-D54EBB709882}"/>
              </a:ext>
            </a:extLst>
          </p:cNvPr>
          <p:cNvSpPr txBox="1"/>
          <p:nvPr/>
        </p:nvSpPr>
        <p:spPr>
          <a:xfrm>
            <a:off x="11164036" y="2083170"/>
            <a:ext cx="4211665" cy="398635"/>
          </a:xfrm>
          <a:prstGeom prst="rect">
            <a:avLst/>
          </a:prstGeom>
          <a:noFill/>
        </p:spPr>
        <p:txBody>
          <a:bodyPr wrap="square" lIns="0" tIns="0" rIns="0" bIns="0" anchor="t">
            <a:spAutoFit/>
          </a:bodyPr>
          <a:lstStyle/>
          <a:p>
            <a:pPr algn="l">
              <a:lnSpc>
                <a:spcPct val="122000"/>
              </a:lnSpc>
            </a:pPr>
            <a:r>
              <a:rPr lang="es-ES_tradnl" sz="1100" b="0" i="0" noProof="0" dirty="0">
                <a:solidFill>
                  <a:srgbClr val="3E5553"/>
                </a:solidFill>
                <a:latin typeface="Calibri" panose="020F0502020204030204" pitchFamily="34" charset="0"/>
                <a:cs typeface="Calibri" panose="020F0502020204030204" pitchFamily="34" charset="0"/>
              </a:rPr>
              <a:t>Se interpola la curva en esa </a:t>
            </a:r>
            <a:r>
              <a:rPr lang="es-ES_tradnl" sz="1100" b="0" i="0" noProof="0" dirty="0" err="1">
                <a:solidFill>
                  <a:srgbClr val="3E5553"/>
                </a:solidFill>
                <a:latin typeface="Calibri" panose="020F0502020204030204" pitchFamily="34" charset="0"/>
                <a:cs typeface="Calibri" panose="020F0502020204030204" pitchFamily="34" charset="0"/>
              </a:rPr>
              <a:t>duration</a:t>
            </a:r>
            <a:r>
              <a:rPr lang="es-ES_tradnl" sz="1100" b="0" i="0" noProof="0" dirty="0">
                <a:solidFill>
                  <a:srgbClr val="3E5553"/>
                </a:solidFill>
                <a:latin typeface="Calibri" panose="020F0502020204030204" pitchFamily="34" charset="0"/>
                <a:cs typeface="Calibri" panose="020F0502020204030204" pitchFamily="34" charset="0"/>
              </a:rPr>
              <a:t>. El resultado es el costo de fondeo que entra a la tasa activa mínima.</a:t>
            </a:r>
          </a:p>
        </p:txBody>
      </p:sp>
      <p:sp>
        <p:nvSpPr>
          <p:cNvPr id="164" name="TextBox 163">
            <a:extLst>
              <a:ext uri="{FF2B5EF4-FFF2-40B4-BE49-F238E27FC236}">
                <a16:creationId xmlns:a16="http://schemas.microsoft.com/office/drawing/2014/main" id="{837EF33A-CA92-6DB0-910C-CEB916F5EBD6}"/>
              </a:ext>
            </a:extLst>
          </p:cNvPr>
          <p:cNvSpPr txBox="1"/>
          <p:nvPr/>
        </p:nvSpPr>
        <p:spPr>
          <a:xfrm>
            <a:off x="637586" y="3235314"/>
            <a:ext cx="7315200" cy="246221"/>
          </a:xfrm>
          <a:prstGeom prst="rect">
            <a:avLst/>
          </a:prstGeom>
          <a:noFill/>
        </p:spPr>
        <p:txBody>
          <a:bodyPr wrap="square" lIns="0" tIns="0" rIns="0" bIns="0" anchor="t">
            <a:spAutoFit/>
          </a:bodyPr>
          <a:lstStyle/>
          <a:p>
            <a:pPr algn="l">
              <a:lnSpc>
                <a:spcPct val="100000"/>
              </a:lnSpc>
            </a:pPr>
            <a:r>
              <a:rPr lang="es-ES_tradnl" sz="1600" b="1" i="0" noProof="0" dirty="0">
                <a:solidFill>
                  <a:srgbClr val="0B2E2C"/>
                </a:solidFill>
                <a:latin typeface="Calibri" panose="020F0502020204030204" pitchFamily="34" charset="0"/>
                <a:cs typeface="Calibri" panose="020F0502020204030204" pitchFamily="34" charset="0"/>
              </a:rPr>
              <a:t>Curva de tasas de transferencia activa · PEN</a:t>
            </a:r>
          </a:p>
        </p:txBody>
      </p:sp>
      <p:cxnSp>
        <p:nvCxnSpPr>
          <p:cNvPr id="165" name="Connector 21">
            <a:extLst>
              <a:ext uri="{FF2B5EF4-FFF2-40B4-BE49-F238E27FC236}">
                <a16:creationId xmlns:a16="http://schemas.microsoft.com/office/drawing/2014/main" id="{2247B5D1-E8FE-B3CA-C95E-A016F266AC2B}"/>
              </a:ext>
            </a:extLst>
          </p:cNvPr>
          <p:cNvCxnSpPr/>
          <p:nvPr/>
        </p:nvCxnSpPr>
        <p:spPr>
          <a:xfrm>
            <a:off x="637586" y="352792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166" name="Picture 165" descr="tt.png">
            <a:extLst>
              <a:ext uri="{FF2B5EF4-FFF2-40B4-BE49-F238E27FC236}">
                <a16:creationId xmlns:a16="http://schemas.microsoft.com/office/drawing/2014/main" id="{C6B0139F-148A-DAC7-EB44-E52C14E98C23}"/>
              </a:ext>
            </a:extLst>
          </p:cNvPr>
          <p:cNvPicPr>
            <a:picLocks noChangeAspect="1"/>
          </p:cNvPicPr>
          <p:nvPr/>
        </p:nvPicPr>
        <p:blipFill>
          <a:blip r:embed="rId2"/>
          <a:stretch>
            <a:fillRect/>
          </a:stretch>
        </p:blipFill>
        <p:spPr>
          <a:xfrm>
            <a:off x="637586" y="3655937"/>
            <a:ext cx="10332720" cy="4377055"/>
          </a:xfrm>
          <a:prstGeom prst="rect">
            <a:avLst/>
          </a:prstGeom>
        </p:spPr>
      </p:pic>
      <p:sp>
        <p:nvSpPr>
          <p:cNvPr id="167" name="Rectangle 166">
            <a:extLst>
              <a:ext uri="{FF2B5EF4-FFF2-40B4-BE49-F238E27FC236}">
                <a16:creationId xmlns:a16="http://schemas.microsoft.com/office/drawing/2014/main" id="{845E9C8B-FE67-3687-EC79-FDA5E92E1D3D}"/>
              </a:ext>
            </a:extLst>
          </p:cNvPr>
          <p:cNvSpPr/>
          <p:nvPr/>
        </p:nvSpPr>
        <p:spPr>
          <a:xfrm>
            <a:off x="11381786" y="3710802"/>
            <a:ext cx="4195084" cy="8412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68" name="Rectangle 167">
            <a:extLst>
              <a:ext uri="{FF2B5EF4-FFF2-40B4-BE49-F238E27FC236}">
                <a16:creationId xmlns:a16="http://schemas.microsoft.com/office/drawing/2014/main" id="{43D69014-14CF-DA73-F9EC-6940151D4A77}"/>
              </a:ext>
            </a:extLst>
          </p:cNvPr>
          <p:cNvSpPr/>
          <p:nvPr/>
        </p:nvSpPr>
        <p:spPr>
          <a:xfrm>
            <a:off x="11381786" y="3710802"/>
            <a:ext cx="41148" cy="84124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69" name="TextBox 168">
            <a:extLst>
              <a:ext uri="{FF2B5EF4-FFF2-40B4-BE49-F238E27FC236}">
                <a16:creationId xmlns:a16="http://schemas.microsoft.com/office/drawing/2014/main" id="{B1476C15-A4FE-2095-E88F-77D3973F15B3}"/>
              </a:ext>
            </a:extLst>
          </p:cNvPr>
          <p:cNvSpPr txBox="1"/>
          <p:nvPr/>
        </p:nvSpPr>
        <p:spPr>
          <a:xfrm>
            <a:off x="11564666" y="3782430"/>
            <a:ext cx="3865900"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6E7E7D"/>
                </a:solidFill>
                <a:latin typeface="Calibri" panose="020F0502020204030204" pitchFamily="34" charset="0"/>
                <a:cs typeface="Calibri" panose="020F0502020204030204" pitchFamily="34" charset="0"/>
              </a:rPr>
              <a:t>DURACIÓN EFECTIVA</a:t>
            </a:r>
          </a:p>
        </p:txBody>
      </p:sp>
      <p:sp>
        <p:nvSpPr>
          <p:cNvPr id="170" name="TextBox 169">
            <a:extLst>
              <a:ext uri="{FF2B5EF4-FFF2-40B4-BE49-F238E27FC236}">
                <a16:creationId xmlns:a16="http://schemas.microsoft.com/office/drawing/2014/main" id="{5DE29946-B86E-0A60-F137-1ABB55CE8372}"/>
              </a:ext>
            </a:extLst>
          </p:cNvPr>
          <p:cNvSpPr txBox="1"/>
          <p:nvPr/>
        </p:nvSpPr>
        <p:spPr>
          <a:xfrm>
            <a:off x="11564666" y="3945498"/>
            <a:ext cx="3865900" cy="430887"/>
          </a:xfrm>
          <a:prstGeom prst="rect">
            <a:avLst/>
          </a:prstGeom>
          <a:noFill/>
        </p:spPr>
        <p:txBody>
          <a:bodyPr wrap="square" lIns="0" tIns="0" rIns="0" bIns="0" anchor="t">
            <a:spAutoFit/>
          </a:bodyPr>
          <a:lstStyle/>
          <a:p>
            <a:pPr algn="l">
              <a:lnSpc>
                <a:spcPct val="100000"/>
              </a:lnSpc>
            </a:pPr>
            <a:r>
              <a:rPr lang="es-ES_tradnl" sz="2800" b="1" i="0" noProof="0" dirty="0">
                <a:solidFill>
                  <a:srgbClr val="13807B"/>
                </a:solidFill>
                <a:latin typeface="Calibri" panose="020F0502020204030204" pitchFamily="34" charset="0"/>
                <a:cs typeface="Calibri" panose="020F0502020204030204" pitchFamily="34" charset="0"/>
              </a:rPr>
              <a:t>0.92</a:t>
            </a:r>
          </a:p>
        </p:txBody>
      </p:sp>
      <p:sp>
        <p:nvSpPr>
          <p:cNvPr id="171" name="TextBox 170">
            <a:extLst>
              <a:ext uri="{FF2B5EF4-FFF2-40B4-BE49-F238E27FC236}">
                <a16:creationId xmlns:a16="http://schemas.microsoft.com/office/drawing/2014/main" id="{EB5EF7FC-A59C-E857-0AC1-64D2F4A57921}"/>
              </a:ext>
            </a:extLst>
          </p:cNvPr>
          <p:cNvSpPr txBox="1"/>
          <p:nvPr/>
        </p:nvSpPr>
        <p:spPr>
          <a:xfrm>
            <a:off x="11564666" y="4277730"/>
            <a:ext cx="3865900"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6E7E7D"/>
                </a:solidFill>
                <a:latin typeface="Calibri" panose="020F0502020204030204" pitchFamily="34" charset="0"/>
                <a:cs typeface="Calibri" panose="020F0502020204030204" pitchFamily="34" charset="0"/>
              </a:rPr>
              <a:t>años (Dur. </a:t>
            </a:r>
            <a:r>
              <a:rPr lang="es-ES_tradnl" sz="1050" b="0" i="0" noProof="0" dirty="0" err="1">
                <a:solidFill>
                  <a:srgbClr val="6E7E7D"/>
                </a:solidFill>
                <a:latin typeface="Calibri" panose="020F0502020204030204" pitchFamily="34" charset="0"/>
                <a:cs typeface="Calibri" panose="020F0502020204030204" pitchFamily="34" charset="0"/>
              </a:rPr>
              <a:t>mín</a:t>
            </a:r>
            <a:r>
              <a:rPr lang="es-ES_tradnl" sz="1050" b="0" i="0" noProof="0" dirty="0">
                <a:solidFill>
                  <a:srgbClr val="6E7E7D"/>
                </a:solidFill>
                <a:latin typeface="Calibri" panose="020F0502020204030204" pitchFamily="34" charset="0"/>
                <a:cs typeface="Calibri" panose="020F0502020204030204" pitchFamily="34" charset="0"/>
              </a:rPr>
              <a:t> 0.92 · </a:t>
            </a:r>
            <a:r>
              <a:rPr lang="es-ES_tradnl" sz="1050" b="0" i="0" noProof="0" dirty="0" err="1">
                <a:solidFill>
                  <a:srgbClr val="6E7E7D"/>
                </a:solidFill>
                <a:latin typeface="Calibri" panose="020F0502020204030204" pitchFamily="34" charset="0"/>
                <a:cs typeface="Calibri" panose="020F0502020204030204" pitchFamily="34" charset="0"/>
              </a:rPr>
              <a:t>máx</a:t>
            </a:r>
            <a:r>
              <a:rPr lang="es-ES_tradnl" sz="1050" b="0" i="0" noProof="0" dirty="0">
                <a:solidFill>
                  <a:srgbClr val="6E7E7D"/>
                </a:solidFill>
                <a:latin typeface="Calibri" panose="020F0502020204030204" pitchFamily="34" charset="0"/>
                <a:cs typeface="Calibri" panose="020F0502020204030204" pitchFamily="34" charset="0"/>
              </a:rPr>
              <a:t> 1.01)</a:t>
            </a:r>
          </a:p>
        </p:txBody>
      </p:sp>
      <p:sp>
        <p:nvSpPr>
          <p:cNvPr id="172" name="Rectangle 171">
            <a:extLst>
              <a:ext uri="{FF2B5EF4-FFF2-40B4-BE49-F238E27FC236}">
                <a16:creationId xmlns:a16="http://schemas.microsoft.com/office/drawing/2014/main" id="{24B066D5-11F0-EF6A-5C6E-99727E413A46}"/>
              </a:ext>
            </a:extLst>
          </p:cNvPr>
          <p:cNvSpPr/>
          <p:nvPr/>
        </p:nvSpPr>
        <p:spPr>
          <a:xfrm>
            <a:off x="11381786" y="4680066"/>
            <a:ext cx="4195084" cy="8412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73" name="Rectangle 172">
            <a:extLst>
              <a:ext uri="{FF2B5EF4-FFF2-40B4-BE49-F238E27FC236}">
                <a16:creationId xmlns:a16="http://schemas.microsoft.com/office/drawing/2014/main" id="{17FF0972-5E34-59CF-2134-8604570E7CEC}"/>
              </a:ext>
            </a:extLst>
          </p:cNvPr>
          <p:cNvSpPr/>
          <p:nvPr/>
        </p:nvSpPr>
        <p:spPr>
          <a:xfrm>
            <a:off x="11381786" y="4680066"/>
            <a:ext cx="41148" cy="841248"/>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74" name="TextBox 173">
            <a:extLst>
              <a:ext uri="{FF2B5EF4-FFF2-40B4-BE49-F238E27FC236}">
                <a16:creationId xmlns:a16="http://schemas.microsoft.com/office/drawing/2014/main" id="{1B884420-360E-878B-447B-D724EECE923C}"/>
              </a:ext>
            </a:extLst>
          </p:cNvPr>
          <p:cNvSpPr txBox="1"/>
          <p:nvPr/>
        </p:nvSpPr>
        <p:spPr>
          <a:xfrm>
            <a:off x="11564666" y="4751694"/>
            <a:ext cx="3865900"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6E7E7D"/>
                </a:solidFill>
                <a:latin typeface="Calibri" panose="020F0502020204030204" pitchFamily="34" charset="0"/>
                <a:cs typeface="Calibri" panose="020F0502020204030204" pitchFamily="34" charset="0"/>
              </a:rPr>
              <a:t>TT APLICABLE</a:t>
            </a:r>
          </a:p>
        </p:txBody>
      </p:sp>
      <p:sp>
        <p:nvSpPr>
          <p:cNvPr id="175" name="TextBox 174">
            <a:extLst>
              <a:ext uri="{FF2B5EF4-FFF2-40B4-BE49-F238E27FC236}">
                <a16:creationId xmlns:a16="http://schemas.microsoft.com/office/drawing/2014/main" id="{0563BF68-82CA-EE71-C8F3-68124B8A1CBD}"/>
              </a:ext>
            </a:extLst>
          </p:cNvPr>
          <p:cNvSpPr txBox="1"/>
          <p:nvPr/>
        </p:nvSpPr>
        <p:spPr>
          <a:xfrm>
            <a:off x="11564666" y="4914762"/>
            <a:ext cx="3865900" cy="430887"/>
          </a:xfrm>
          <a:prstGeom prst="rect">
            <a:avLst/>
          </a:prstGeom>
          <a:noFill/>
        </p:spPr>
        <p:txBody>
          <a:bodyPr wrap="square" lIns="0" tIns="0" rIns="0" bIns="0" anchor="t">
            <a:spAutoFit/>
          </a:bodyPr>
          <a:lstStyle/>
          <a:p>
            <a:pPr algn="l">
              <a:lnSpc>
                <a:spcPct val="100000"/>
              </a:lnSpc>
            </a:pPr>
            <a:r>
              <a:rPr lang="es-ES_tradnl" sz="2800" b="1" i="0" noProof="0" dirty="0">
                <a:solidFill>
                  <a:srgbClr val="C87A0B"/>
                </a:solidFill>
                <a:latin typeface="Calibri" panose="020F0502020204030204" pitchFamily="34" charset="0"/>
                <a:cs typeface="Calibri" panose="020F0502020204030204" pitchFamily="34" charset="0"/>
              </a:rPr>
              <a:t>4.65%</a:t>
            </a:r>
          </a:p>
        </p:txBody>
      </p:sp>
      <p:sp>
        <p:nvSpPr>
          <p:cNvPr id="176" name="TextBox 175">
            <a:extLst>
              <a:ext uri="{FF2B5EF4-FFF2-40B4-BE49-F238E27FC236}">
                <a16:creationId xmlns:a16="http://schemas.microsoft.com/office/drawing/2014/main" id="{34380E1E-08DD-EAD6-AD2A-345FD2A02F67}"/>
              </a:ext>
            </a:extLst>
          </p:cNvPr>
          <p:cNvSpPr txBox="1"/>
          <p:nvPr/>
        </p:nvSpPr>
        <p:spPr>
          <a:xfrm>
            <a:off x="11564666" y="5246994"/>
            <a:ext cx="3865900"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6E7E7D"/>
                </a:solidFill>
                <a:latin typeface="Calibri" panose="020F0502020204030204" pitchFamily="34" charset="0"/>
                <a:cs typeface="Calibri" panose="020F0502020204030204" pitchFamily="34" charset="0"/>
              </a:rPr>
              <a:t>TT </a:t>
            </a:r>
            <a:r>
              <a:rPr lang="es-ES_tradnl" sz="1050" b="0" i="0" noProof="0" dirty="0" err="1">
                <a:solidFill>
                  <a:srgbClr val="6E7E7D"/>
                </a:solidFill>
                <a:latin typeface="Calibri" panose="020F0502020204030204" pitchFamily="34" charset="0"/>
                <a:cs typeface="Calibri" panose="020F0502020204030204" pitchFamily="34" charset="0"/>
              </a:rPr>
              <a:t>mín</a:t>
            </a:r>
            <a:r>
              <a:rPr lang="es-ES_tradnl" sz="1050" b="0" i="0" noProof="0" dirty="0">
                <a:solidFill>
                  <a:srgbClr val="6E7E7D"/>
                </a:solidFill>
                <a:latin typeface="Calibri" panose="020F0502020204030204" pitchFamily="34" charset="0"/>
                <a:cs typeface="Calibri" panose="020F0502020204030204" pitchFamily="34" charset="0"/>
              </a:rPr>
              <a:t> 4.6% · TT </a:t>
            </a:r>
            <a:r>
              <a:rPr lang="es-ES_tradnl" sz="1050" b="0" i="0" noProof="0" dirty="0" err="1">
                <a:solidFill>
                  <a:srgbClr val="6E7E7D"/>
                </a:solidFill>
                <a:latin typeface="Calibri" panose="020F0502020204030204" pitchFamily="34" charset="0"/>
                <a:cs typeface="Calibri" panose="020F0502020204030204" pitchFamily="34" charset="0"/>
              </a:rPr>
              <a:t>máx</a:t>
            </a:r>
            <a:r>
              <a:rPr lang="es-ES_tradnl" sz="1050" b="0" i="0" noProof="0" dirty="0">
                <a:solidFill>
                  <a:srgbClr val="6E7E7D"/>
                </a:solidFill>
                <a:latin typeface="Calibri" panose="020F0502020204030204" pitchFamily="34" charset="0"/>
                <a:cs typeface="Calibri" panose="020F0502020204030204" pitchFamily="34" charset="0"/>
              </a:rPr>
              <a:t> 5.5%</a:t>
            </a:r>
          </a:p>
        </p:txBody>
      </p:sp>
      <p:sp>
        <p:nvSpPr>
          <p:cNvPr id="177" name="Rectangle 176">
            <a:extLst>
              <a:ext uri="{FF2B5EF4-FFF2-40B4-BE49-F238E27FC236}">
                <a16:creationId xmlns:a16="http://schemas.microsoft.com/office/drawing/2014/main" id="{AD20F701-745A-B978-DA72-21ECAA7FC235}"/>
              </a:ext>
            </a:extLst>
          </p:cNvPr>
          <p:cNvSpPr/>
          <p:nvPr/>
        </p:nvSpPr>
        <p:spPr>
          <a:xfrm>
            <a:off x="11381786" y="5649330"/>
            <a:ext cx="4195084" cy="8412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78" name="Rectangle 177">
            <a:extLst>
              <a:ext uri="{FF2B5EF4-FFF2-40B4-BE49-F238E27FC236}">
                <a16:creationId xmlns:a16="http://schemas.microsoft.com/office/drawing/2014/main" id="{F44DD092-87EF-61DD-9B3E-4310768CE2D3}"/>
              </a:ext>
            </a:extLst>
          </p:cNvPr>
          <p:cNvSpPr/>
          <p:nvPr/>
        </p:nvSpPr>
        <p:spPr>
          <a:xfrm>
            <a:off x="11381786" y="5649330"/>
            <a:ext cx="41148" cy="84124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79" name="TextBox 178">
            <a:extLst>
              <a:ext uri="{FF2B5EF4-FFF2-40B4-BE49-F238E27FC236}">
                <a16:creationId xmlns:a16="http://schemas.microsoft.com/office/drawing/2014/main" id="{017C3765-E337-F884-49C0-1AA709DB3365}"/>
              </a:ext>
            </a:extLst>
          </p:cNvPr>
          <p:cNvSpPr txBox="1"/>
          <p:nvPr/>
        </p:nvSpPr>
        <p:spPr>
          <a:xfrm>
            <a:off x="11564666" y="5720958"/>
            <a:ext cx="3865900" cy="161583"/>
          </a:xfrm>
          <a:prstGeom prst="rect">
            <a:avLst/>
          </a:prstGeom>
          <a:noFill/>
        </p:spPr>
        <p:txBody>
          <a:bodyPr wrap="square" lIns="0" tIns="0" rIns="0" bIns="0" anchor="t">
            <a:spAutoFit/>
          </a:bodyPr>
          <a:lstStyle/>
          <a:p>
            <a:pPr algn="l">
              <a:lnSpc>
                <a:spcPct val="100000"/>
              </a:lnSpc>
            </a:pPr>
            <a:r>
              <a:rPr lang="es-ES_tradnl" sz="1050" b="1" i="0" noProof="0" dirty="0">
                <a:solidFill>
                  <a:srgbClr val="6E7E7D"/>
                </a:solidFill>
                <a:latin typeface="Calibri" panose="020F0502020204030204" pitchFamily="34" charset="0"/>
                <a:cs typeface="Calibri" panose="020F0502020204030204" pitchFamily="34" charset="0"/>
              </a:rPr>
              <a:t>RANGO DE LA CURVA</a:t>
            </a:r>
          </a:p>
        </p:txBody>
      </p:sp>
      <p:sp>
        <p:nvSpPr>
          <p:cNvPr id="180" name="TextBox 179">
            <a:extLst>
              <a:ext uri="{FF2B5EF4-FFF2-40B4-BE49-F238E27FC236}">
                <a16:creationId xmlns:a16="http://schemas.microsoft.com/office/drawing/2014/main" id="{C7B1655A-6C73-A72C-E8B0-0BAF2842F407}"/>
              </a:ext>
            </a:extLst>
          </p:cNvPr>
          <p:cNvSpPr txBox="1"/>
          <p:nvPr/>
        </p:nvSpPr>
        <p:spPr>
          <a:xfrm>
            <a:off x="11564666" y="5884026"/>
            <a:ext cx="3865900" cy="430887"/>
          </a:xfrm>
          <a:prstGeom prst="rect">
            <a:avLst/>
          </a:prstGeom>
          <a:noFill/>
        </p:spPr>
        <p:txBody>
          <a:bodyPr wrap="square" lIns="0" tIns="0" rIns="0" bIns="0" anchor="t">
            <a:spAutoFit/>
          </a:bodyPr>
          <a:lstStyle/>
          <a:p>
            <a:pPr algn="l">
              <a:lnSpc>
                <a:spcPct val="100000"/>
              </a:lnSpc>
            </a:pPr>
            <a:r>
              <a:rPr lang="es-ES_tradnl" sz="2800" b="1" i="0" noProof="0" dirty="0">
                <a:solidFill>
                  <a:srgbClr val="445A6E"/>
                </a:solidFill>
                <a:latin typeface="Calibri" panose="020F0502020204030204" pitchFamily="34" charset="0"/>
                <a:cs typeface="Calibri" panose="020F0502020204030204" pitchFamily="34" charset="0"/>
              </a:rPr>
              <a:t>0 – 15</a:t>
            </a:r>
          </a:p>
        </p:txBody>
      </p:sp>
      <p:sp>
        <p:nvSpPr>
          <p:cNvPr id="181" name="TextBox 180">
            <a:extLst>
              <a:ext uri="{FF2B5EF4-FFF2-40B4-BE49-F238E27FC236}">
                <a16:creationId xmlns:a16="http://schemas.microsoft.com/office/drawing/2014/main" id="{C89D5FFE-9C23-7CAE-B245-0721A7FDB731}"/>
              </a:ext>
            </a:extLst>
          </p:cNvPr>
          <p:cNvSpPr txBox="1"/>
          <p:nvPr/>
        </p:nvSpPr>
        <p:spPr>
          <a:xfrm>
            <a:off x="11564666" y="6216258"/>
            <a:ext cx="3865900"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6E7E7D"/>
                </a:solidFill>
                <a:latin typeface="Calibri" panose="020F0502020204030204" pitchFamily="34" charset="0"/>
                <a:cs typeface="Calibri" panose="020F0502020204030204" pitchFamily="34" charset="0"/>
              </a:rPr>
              <a:t>años de </a:t>
            </a:r>
            <a:r>
              <a:rPr lang="es-ES_tradnl" sz="1050" b="0" i="0" noProof="0" dirty="0" err="1">
                <a:solidFill>
                  <a:srgbClr val="6E7E7D"/>
                </a:solidFill>
                <a:latin typeface="Calibri" panose="020F0502020204030204" pitchFamily="34" charset="0"/>
                <a:cs typeface="Calibri" panose="020F0502020204030204" pitchFamily="34" charset="0"/>
              </a:rPr>
              <a:t>duration</a:t>
            </a:r>
            <a:r>
              <a:rPr lang="es-ES_tradnl" sz="1050" b="0" i="0" noProof="0" dirty="0">
                <a:solidFill>
                  <a:srgbClr val="6E7E7D"/>
                </a:solidFill>
                <a:latin typeface="Calibri" panose="020F0502020204030204" pitchFamily="34" charset="0"/>
                <a:cs typeface="Calibri" panose="020F0502020204030204" pitchFamily="34" charset="0"/>
              </a:rPr>
              <a:t> cubiertos</a:t>
            </a:r>
          </a:p>
        </p:txBody>
      </p:sp>
      <p:sp>
        <p:nvSpPr>
          <p:cNvPr id="182" name="Rectangle 181">
            <a:extLst>
              <a:ext uri="{FF2B5EF4-FFF2-40B4-BE49-F238E27FC236}">
                <a16:creationId xmlns:a16="http://schemas.microsoft.com/office/drawing/2014/main" id="{102AD7D9-D5F0-1070-A080-E49903A0B02F}"/>
              </a:ext>
            </a:extLst>
          </p:cNvPr>
          <p:cNvSpPr/>
          <p:nvPr/>
        </p:nvSpPr>
        <p:spPr>
          <a:xfrm>
            <a:off x="11381786" y="6691746"/>
            <a:ext cx="4195084" cy="1170432"/>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183" name="Connector 39">
            <a:extLst>
              <a:ext uri="{FF2B5EF4-FFF2-40B4-BE49-F238E27FC236}">
                <a16:creationId xmlns:a16="http://schemas.microsoft.com/office/drawing/2014/main" id="{96B46552-4B7D-6705-6CDA-D7E29D8B92F4}"/>
              </a:ext>
            </a:extLst>
          </p:cNvPr>
          <p:cNvCxnSpPr/>
          <p:nvPr/>
        </p:nvCxnSpPr>
        <p:spPr>
          <a:xfrm>
            <a:off x="11381786" y="6691746"/>
            <a:ext cx="0" cy="1170432"/>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84" name="TextBox 183">
            <a:extLst>
              <a:ext uri="{FF2B5EF4-FFF2-40B4-BE49-F238E27FC236}">
                <a16:creationId xmlns:a16="http://schemas.microsoft.com/office/drawing/2014/main" id="{F4917DDE-D87A-5676-0845-D2622B8D547F}"/>
              </a:ext>
            </a:extLst>
          </p:cNvPr>
          <p:cNvSpPr txBox="1"/>
          <p:nvPr/>
        </p:nvSpPr>
        <p:spPr>
          <a:xfrm>
            <a:off x="11546378" y="6984830"/>
            <a:ext cx="3865900" cy="584263"/>
          </a:xfrm>
          <a:prstGeom prst="rect">
            <a:avLst/>
          </a:prstGeom>
          <a:noFill/>
        </p:spPr>
        <p:txBody>
          <a:bodyPr wrap="square" lIns="0" tIns="0" rIns="0" bIns="0" anchor="ctr">
            <a:spAutoFit/>
          </a:bodyPr>
          <a:lstStyle/>
          <a:p>
            <a:pPr algn="l">
              <a:lnSpc>
                <a:spcPct val="112000"/>
              </a:lnSpc>
              <a:spcAft>
                <a:spcPts val="200"/>
              </a:spcAft>
            </a:pPr>
            <a:r>
              <a:rPr lang="es-ES_tradnl" sz="1100" b="1" i="0" noProof="0" dirty="0">
                <a:solidFill>
                  <a:srgbClr val="13807B"/>
                </a:solidFill>
                <a:latin typeface="Calibri" panose="020F0502020204030204" pitchFamily="34" charset="0"/>
                <a:cs typeface="Calibri" panose="020F0502020204030204" pitchFamily="34" charset="0"/>
              </a:rPr>
              <a:t>Cómo se usa</a:t>
            </a:r>
          </a:p>
          <a:p>
            <a:pPr algn="l">
              <a:lnSpc>
                <a:spcPct val="112000"/>
              </a:lnSpc>
              <a:spcAft>
                <a:spcPts val="200"/>
              </a:spcAft>
            </a:pPr>
            <a:r>
              <a:rPr lang="es-ES_tradnl" sz="1100" b="0" i="0" noProof="0" dirty="0">
                <a:solidFill>
                  <a:srgbClr val="3E5553"/>
                </a:solidFill>
                <a:latin typeface="Calibri" panose="020F0502020204030204" pitchFamily="34" charset="0"/>
                <a:cs typeface="Calibri" panose="020F0502020204030204" pitchFamily="34" charset="0"/>
              </a:rPr>
              <a:t>El valor resultante representa el costo de fondeo para la evaluación del otorgamiento del crédito.</a:t>
            </a:r>
          </a:p>
        </p:txBody>
      </p:sp>
      <p:sp>
        <p:nvSpPr>
          <p:cNvPr id="185" name="TextBox 184">
            <a:extLst>
              <a:ext uri="{FF2B5EF4-FFF2-40B4-BE49-F238E27FC236}">
                <a16:creationId xmlns:a16="http://schemas.microsoft.com/office/drawing/2014/main" id="{AF6C3C49-2D81-612B-2075-7DBA725D5DEC}"/>
              </a:ext>
            </a:extLst>
          </p:cNvPr>
          <p:cNvSpPr txBox="1"/>
          <p:nvPr/>
        </p:nvSpPr>
        <p:spPr>
          <a:xfrm>
            <a:off x="637586" y="7624434"/>
            <a:ext cx="5486400" cy="161583"/>
          </a:xfrm>
          <a:prstGeom prst="rect">
            <a:avLst/>
          </a:prstGeom>
          <a:noFill/>
        </p:spPr>
        <p:txBody>
          <a:bodyPr wrap="square" lIns="0" tIns="0" rIns="0" bIns="0" anchor="t">
            <a:spAutoFit/>
          </a:bodyPr>
          <a:lstStyle/>
          <a:p>
            <a:pPr algn="l">
              <a:lnSpc>
                <a:spcPct val="100000"/>
              </a:lnSpc>
            </a:pPr>
            <a:r>
              <a:rPr lang="es-ES_tradnl" sz="1050" b="0" i="0" noProof="0" dirty="0">
                <a:solidFill>
                  <a:srgbClr val="9AA8A7"/>
                </a:solidFill>
                <a:latin typeface="Calibri" panose="020F0502020204030204" pitchFamily="34" charset="0"/>
                <a:cs typeface="Calibri" panose="020F0502020204030204" pitchFamily="34" charset="0"/>
              </a:rPr>
              <a:t>Fuente: Interbank — curva FTP</a:t>
            </a:r>
          </a:p>
        </p:txBody>
      </p:sp>
      <p:sp>
        <p:nvSpPr>
          <p:cNvPr id="186" name="Rectangle 185">
            <a:extLst>
              <a:ext uri="{FF2B5EF4-FFF2-40B4-BE49-F238E27FC236}">
                <a16:creationId xmlns:a16="http://schemas.microsoft.com/office/drawing/2014/main" id="{04EB2595-FF89-DBBC-AD2B-0E8AF1E07A39}"/>
              </a:ext>
            </a:extLst>
          </p:cNvPr>
          <p:cNvSpPr/>
          <p:nvPr/>
        </p:nvSpPr>
        <p:spPr>
          <a:xfrm>
            <a:off x="637586" y="7935329"/>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187" name="Connector 43">
            <a:extLst>
              <a:ext uri="{FF2B5EF4-FFF2-40B4-BE49-F238E27FC236}">
                <a16:creationId xmlns:a16="http://schemas.microsoft.com/office/drawing/2014/main" id="{D331C666-47C9-6D02-5AEA-2F1B5C3F0AF1}"/>
              </a:ext>
            </a:extLst>
          </p:cNvPr>
          <p:cNvCxnSpPr/>
          <p:nvPr/>
        </p:nvCxnSpPr>
        <p:spPr>
          <a:xfrm>
            <a:off x="637586" y="7935329"/>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88" name="TextBox 187">
            <a:extLst>
              <a:ext uri="{FF2B5EF4-FFF2-40B4-BE49-F238E27FC236}">
                <a16:creationId xmlns:a16="http://schemas.microsoft.com/office/drawing/2014/main" id="{16884C19-E738-12F4-3639-E443231C548F}"/>
              </a:ext>
            </a:extLst>
          </p:cNvPr>
          <p:cNvSpPr txBox="1"/>
          <p:nvPr/>
        </p:nvSpPr>
        <p:spPr>
          <a:xfrm>
            <a:off x="875330" y="8102223"/>
            <a:ext cx="14482084" cy="233141"/>
          </a:xfrm>
          <a:prstGeom prst="rect">
            <a:avLst/>
          </a:prstGeom>
          <a:noFill/>
        </p:spPr>
        <p:txBody>
          <a:bodyPr wrap="square" lIns="0" tIns="0" rIns="0" bIns="0" anchor="ctr">
            <a:spAutoFit/>
          </a:bodyPr>
          <a:lstStyle/>
          <a:p>
            <a:pPr algn="l">
              <a:lnSpc>
                <a:spcPct val="115000"/>
              </a:lnSpc>
              <a:spcAft>
                <a:spcPts val="400"/>
              </a:spcAft>
            </a:pPr>
            <a:r>
              <a:rPr lang="es-ES_tradnl" b="1" i="0" noProof="0" dirty="0">
                <a:solidFill>
                  <a:srgbClr val="0C514E"/>
                </a:solidFill>
                <a:latin typeface="Calibri" panose="020F0502020204030204" pitchFamily="34" charset="0"/>
                <a:cs typeface="Calibri" panose="020F0502020204030204" pitchFamily="34" charset="0"/>
              </a:rPr>
              <a:t>Pasar de un costo de fondos por tramos de plazo a la curva FTP por </a:t>
            </a:r>
            <a:r>
              <a:rPr lang="es-ES_tradnl" b="1" i="0" noProof="0" dirty="0" err="1">
                <a:solidFill>
                  <a:srgbClr val="0C514E"/>
                </a:solidFill>
                <a:latin typeface="Calibri" panose="020F0502020204030204" pitchFamily="34" charset="0"/>
                <a:cs typeface="Calibri" panose="020F0502020204030204" pitchFamily="34" charset="0"/>
              </a:rPr>
              <a:t>duration</a:t>
            </a:r>
            <a:r>
              <a:rPr lang="es-ES_tradnl" b="1" i="0" noProof="0" dirty="0">
                <a:solidFill>
                  <a:srgbClr val="0C514E"/>
                </a:solidFill>
                <a:latin typeface="Calibri" panose="020F0502020204030204" pitchFamily="34" charset="0"/>
                <a:cs typeface="Calibri" panose="020F0502020204030204" pitchFamily="34" charset="0"/>
              </a:rPr>
              <a:t> corrige el margen en los créditos cortos y largos.</a:t>
            </a:r>
          </a:p>
        </p:txBody>
      </p:sp>
    </p:spTree>
    <p:extLst>
      <p:ext uri="{BB962C8B-B14F-4D97-AF65-F5344CB8AC3E}">
        <p14:creationId xmlns:p14="http://schemas.microsoft.com/office/powerpoint/2010/main" val="521364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B185A-B1E3-5CF1-A69B-6C7FFC853A5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007F33-7E85-AA2D-18DE-147C87BD0501}"/>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F7E2EE72-B581-C4D8-A591-234AA88B1B69}"/>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La curva se toma directamente del sistema del Banco: el pricing no usa un supuesto propio de fondeo</a:t>
            </a:r>
          </a:p>
        </p:txBody>
      </p:sp>
      <p:cxnSp>
        <p:nvCxnSpPr>
          <p:cNvPr id="7" name="Connector 3">
            <a:extLst>
              <a:ext uri="{FF2B5EF4-FFF2-40B4-BE49-F238E27FC236}">
                <a16:creationId xmlns:a16="http://schemas.microsoft.com/office/drawing/2014/main" id="{8768B539-7AA2-0916-C2ED-35090D12BC9F}"/>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C4466BC-5C1A-1253-1659-74C225A49B1E}"/>
              </a:ext>
            </a:extLst>
          </p:cNvPr>
          <p:cNvSpPr/>
          <p:nvPr/>
        </p:nvSpPr>
        <p:spPr>
          <a:xfrm>
            <a:off x="658368" y="1664208"/>
            <a:ext cx="8778240" cy="4160520"/>
          </a:xfrm>
          <a:prstGeom prst="rect">
            <a:avLst/>
          </a:prstGeom>
          <a:solidFill>
            <a:srgbClr val="F6F8F8"/>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B9E21162-488B-1846-D22A-C2433A584AEB}"/>
              </a:ext>
            </a:extLst>
          </p:cNvPr>
          <p:cNvSpPr txBox="1"/>
          <p:nvPr/>
        </p:nvSpPr>
        <p:spPr>
          <a:xfrm>
            <a:off x="877824" y="1828800"/>
            <a:ext cx="8339327"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6E7E7D"/>
                </a:solidFill>
                <a:latin typeface="Calibri" panose="020F0502020204030204" pitchFamily="34" charset="0"/>
                <a:cs typeface="Calibri" panose="020F0502020204030204" pitchFamily="34" charset="0"/>
              </a:rPr>
              <a:t>REPORTE DE TASAS DE FONDEO · INTERBANK</a:t>
            </a:r>
          </a:p>
        </p:txBody>
      </p:sp>
      <p:pic>
        <p:nvPicPr>
          <p:cNvPr id="10" name="Picture 9" descr="image57.png">
            <a:extLst>
              <a:ext uri="{FF2B5EF4-FFF2-40B4-BE49-F238E27FC236}">
                <a16:creationId xmlns:a16="http://schemas.microsoft.com/office/drawing/2014/main" id="{2B6A8AA9-0858-B636-D97F-E473868AC869}"/>
              </a:ext>
            </a:extLst>
          </p:cNvPr>
          <p:cNvPicPr>
            <a:picLocks noChangeAspect="1"/>
          </p:cNvPicPr>
          <p:nvPr/>
        </p:nvPicPr>
        <p:blipFill>
          <a:blip r:embed="rId2"/>
          <a:stretch>
            <a:fillRect/>
          </a:stretch>
        </p:blipFill>
        <p:spPr>
          <a:xfrm>
            <a:off x="932688" y="2139696"/>
            <a:ext cx="8229600" cy="3639845"/>
          </a:xfrm>
          <a:prstGeom prst="rect">
            <a:avLst/>
          </a:prstGeom>
        </p:spPr>
      </p:pic>
      <p:sp>
        <p:nvSpPr>
          <p:cNvPr id="11" name="TextBox 10">
            <a:extLst>
              <a:ext uri="{FF2B5EF4-FFF2-40B4-BE49-F238E27FC236}">
                <a16:creationId xmlns:a16="http://schemas.microsoft.com/office/drawing/2014/main" id="{773C4A2B-C5AA-BF65-75C3-E09D3364152A}"/>
              </a:ext>
            </a:extLst>
          </p:cNvPr>
          <p:cNvSpPr txBox="1"/>
          <p:nvPr/>
        </p:nvSpPr>
        <p:spPr>
          <a:xfrm>
            <a:off x="658368" y="5925312"/>
            <a:ext cx="8778240" cy="169277"/>
          </a:xfrm>
          <a:prstGeom prst="rect">
            <a:avLst/>
          </a:prstGeom>
          <a:noFill/>
        </p:spPr>
        <p:txBody>
          <a:bodyPr wrap="square" lIns="0" tIns="0" rIns="0" bIns="0" anchor="t">
            <a:spAutoFit/>
          </a:bodyPr>
          <a:lstStyle/>
          <a:p>
            <a:pPr algn="l">
              <a:lnSpc>
                <a:spcPct val="100000"/>
              </a:lnSpc>
            </a:pPr>
            <a:r>
              <a:rPr lang="es-ES_tradnl" sz="1100" b="1" i="0" noProof="0" dirty="0">
                <a:solidFill>
                  <a:srgbClr val="9AA8A7"/>
                </a:solidFill>
                <a:latin typeface="Calibri" panose="020F0502020204030204" pitchFamily="34" charset="0"/>
                <a:cs typeface="Calibri" panose="020F0502020204030204" pitchFamily="34" charset="0"/>
              </a:rPr>
              <a:t>Fuente: Interbank</a:t>
            </a:r>
          </a:p>
        </p:txBody>
      </p:sp>
      <p:sp>
        <p:nvSpPr>
          <p:cNvPr id="12" name="TextBox 11">
            <a:extLst>
              <a:ext uri="{FF2B5EF4-FFF2-40B4-BE49-F238E27FC236}">
                <a16:creationId xmlns:a16="http://schemas.microsoft.com/office/drawing/2014/main" id="{29B274EE-69F1-4772-B1E7-48C86968453D}"/>
              </a:ext>
            </a:extLst>
          </p:cNvPr>
          <p:cNvSpPr txBox="1"/>
          <p:nvPr/>
        </p:nvSpPr>
        <p:spPr>
          <a:xfrm>
            <a:off x="9939528" y="1664208"/>
            <a:ext cx="5658124"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Qué leemos de este reporte</a:t>
            </a:r>
          </a:p>
        </p:txBody>
      </p:sp>
      <p:cxnSp>
        <p:nvCxnSpPr>
          <p:cNvPr id="13" name="Connector 11">
            <a:extLst>
              <a:ext uri="{FF2B5EF4-FFF2-40B4-BE49-F238E27FC236}">
                <a16:creationId xmlns:a16="http://schemas.microsoft.com/office/drawing/2014/main" id="{B60D8100-5E5C-A94B-0AAA-6F1251AC3172}"/>
              </a:ext>
            </a:extLst>
          </p:cNvPr>
          <p:cNvCxnSpPr/>
          <p:nvPr/>
        </p:nvCxnSpPr>
        <p:spPr>
          <a:xfrm>
            <a:off x="9939528" y="1956816"/>
            <a:ext cx="565812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2343BE13-E374-F280-8B26-8717D71961E1}"/>
              </a:ext>
            </a:extLst>
          </p:cNvPr>
          <p:cNvSpPr/>
          <p:nvPr/>
        </p:nvSpPr>
        <p:spPr>
          <a:xfrm>
            <a:off x="9939528" y="2121408"/>
            <a:ext cx="5658124" cy="8412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FE123357-AD2A-4622-9AAB-6F47F66A6894}"/>
              </a:ext>
            </a:extLst>
          </p:cNvPr>
          <p:cNvSpPr/>
          <p:nvPr/>
        </p:nvSpPr>
        <p:spPr>
          <a:xfrm>
            <a:off x="9939528" y="2121408"/>
            <a:ext cx="41148" cy="84124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7F941EA5-3DEF-88BA-900E-D04C78DB8827}"/>
              </a:ext>
            </a:extLst>
          </p:cNvPr>
          <p:cNvSpPr txBox="1"/>
          <p:nvPr/>
        </p:nvSpPr>
        <p:spPr>
          <a:xfrm>
            <a:off x="10140696" y="2249424"/>
            <a:ext cx="5292364"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C514E"/>
                </a:solidFill>
                <a:latin typeface="Calibri" panose="020F0502020204030204" pitchFamily="34" charset="0"/>
                <a:cs typeface="Calibri" panose="020F0502020204030204" pitchFamily="34" charset="0"/>
              </a:rPr>
              <a:t>Tasas de fondeo genéricas</a:t>
            </a:r>
          </a:p>
        </p:txBody>
      </p:sp>
      <p:sp>
        <p:nvSpPr>
          <p:cNvPr id="17" name="TextBox 16">
            <a:extLst>
              <a:ext uri="{FF2B5EF4-FFF2-40B4-BE49-F238E27FC236}">
                <a16:creationId xmlns:a16="http://schemas.microsoft.com/office/drawing/2014/main" id="{E437B909-2DF2-7576-77DC-6F5EAA431859}"/>
              </a:ext>
            </a:extLst>
          </p:cNvPr>
          <p:cNvSpPr txBox="1"/>
          <p:nvPr/>
        </p:nvSpPr>
        <p:spPr>
          <a:xfrm>
            <a:off x="10140696" y="2505456"/>
            <a:ext cx="5292364" cy="187039"/>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Base de la curva, por año, mes, día y rango de duración.</a:t>
            </a:r>
          </a:p>
        </p:txBody>
      </p:sp>
      <p:sp>
        <p:nvSpPr>
          <p:cNvPr id="18" name="Rectangle 17">
            <a:extLst>
              <a:ext uri="{FF2B5EF4-FFF2-40B4-BE49-F238E27FC236}">
                <a16:creationId xmlns:a16="http://schemas.microsoft.com/office/drawing/2014/main" id="{A7F483F2-E718-051B-3A99-F78C91D11676}"/>
              </a:ext>
            </a:extLst>
          </p:cNvPr>
          <p:cNvSpPr/>
          <p:nvPr/>
        </p:nvSpPr>
        <p:spPr>
          <a:xfrm>
            <a:off x="9939528" y="3054096"/>
            <a:ext cx="5658124" cy="8412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A2ECB28-9F25-1F37-3526-73C63F1ACB9E}"/>
              </a:ext>
            </a:extLst>
          </p:cNvPr>
          <p:cNvSpPr/>
          <p:nvPr/>
        </p:nvSpPr>
        <p:spPr>
          <a:xfrm>
            <a:off x="9939528" y="3054096"/>
            <a:ext cx="41148" cy="84124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643A072-BC14-9BE5-A865-2E8D2D539E37}"/>
              </a:ext>
            </a:extLst>
          </p:cNvPr>
          <p:cNvSpPr txBox="1"/>
          <p:nvPr/>
        </p:nvSpPr>
        <p:spPr>
          <a:xfrm>
            <a:off x="10140696" y="3182112"/>
            <a:ext cx="5292364"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C514E"/>
                </a:solidFill>
                <a:latin typeface="Calibri" panose="020F0502020204030204" pitchFamily="34" charset="0"/>
                <a:cs typeface="Calibri" panose="020F0502020204030204" pitchFamily="34" charset="0"/>
              </a:rPr>
              <a:t>Tasas activas y pasivas</a:t>
            </a:r>
          </a:p>
        </p:txBody>
      </p:sp>
      <p:sp>
        <p:nvSpPr>
          <p:cNvPr id="21" name="TextBox 20">
            <a:extLst>
              <a:ext uri="{FF2B5EF4-FFF2-40B4-BE49-F238E27FC236}">
                <a16:creationId xmlns:a16="http://schemas.microsoft.com/office/drawing/2014/main" id="{DE472189-99E0-28BD-8752-E423280D56F2}"/>
              </a:ext>
            </a:extLst>
          </p:cNvPr>
          <p:cNvSpPr txBox="1"/>
          <p:nvPr/>
        </p:nvSpPr>
        <p:spPr>
          <a:xfrm>
            <a:off x="10140696" y="3438144"/>
            <a:ext cx="5292364" cy="187039"/>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Mínimo y máximo por tramo; se usa la activa en moneda nacional.</a:t>
            </a:r>
          </a:p>
        </p:txBody>
      </p:sp>
      <p:sp>
        <p:nvSpPr>
          <p:cNvPr id="22" name="Rectangle 21">
            <a:extLst>
              <a:ext uri="{FF2B5EF4-FFF2-40B4-BE49-F238E27FC236}">
                <a16:creationId xmlns:a16="http://schemas.microsoft.com/office/drawing/2014/main" id="{E093622C-B2C7-1164-0B9F-6FA8271D9AD4}"/>
              </a:ext>
            </a:extLst>
          </p:cNvPr>
          <p:cNvSpPr/>
          <p:nvPr/>
        </p:nvSpPr>
        <p:spPr>
          <a:xfrm>
            <a:off x="9939528" y="3986784"/>
            <a:ext cx="5658124" cy="8412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7056E5FF-F55A-BF98-1E68-9B270508B0B0}"/>
              </a:ext>
            </a:extLst>
          </p:cNvPr>
          <p:cNvSpPr/>
          <p:nvPr/>
        </p:nvSpPr>
        <p:spPr>
          <a:xfrm>
            <a:off x="9939528" y="3986784"/>
            <a:ext cx="41148" cy="84124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33F7148F-61BE-CF04-254C-6ACCDD347AF2}"/>
              </a:ext>
            </a:extLst>
          </p:cNvPr>
          <p:cNvSpPr txBox="1"/>
          <p:nvPr/>
        </p:nvSpPr>
        <p:spPr>
          <a:xfrm>
            <a:off x="10140696" y="4114800"/>
            <a:ext cx="5292364"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C514E"/>
                </a:solidFill>
                <a:latin typeface="Calibri" panose="020F0502020204030204" pitchFamily="34" charset="0"/>
                <a:cs typeface="Calibri" panose="020F0502020204030204" pitchFamily="34" charset="0"/>
              </a:rPr>
              <a:t>Ajuste por riesgo de la institución</a:t>
            </a:r>
          </a:p>
        </p:txBody>
      </p:sp>
      <p:sp>
        <p:nvSpPr>
          <p:cNvPr id="25" name="TextBox 24">
            <a:extLst>
              <a:ext uri="{FF2B5EF4-FFF2-40B4-BE49-F238E27FC236}">
                <a16:creationId xmlns:a16="http://schemas.microsoft.com/office/drawing/2014/main" id="{0D792AD4-DA7A-0042-C370-1E16BEB575E6}"/>
              </a:ext>
            </a:extLst>
          </p:cNvPr>
          <p:cNvSpPr txBox="1"/>
          <p:nvPr/>
        </p:nvSpPr>
        <p:spPr>
          <a:xfrm>
            <a:off x="10140696" y="4370832"/>
            <a:ext cx="5292364" cy="187039"/>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La curva ya incorpora el riesgo inherente del Banco.</a:t>
            </a:r>
          </a:p>
        </p:txBody>
      </p:sp>
      <p:sp>
        <p:nvSpPr>
          <p:cNvPr id="26" name="Rectangle 25">
            <a:extLst>
              <a:ext uri="{FF2B5EF4-FFF2-40B4-BE49-F238E27FC236}">
                <a16:creationId xmlns:a16="http://schemas.microsoft.com/office/drawing/2014/main" id="{0B55F6B3-2DBD-0FD3-195B-E0758212B8BC}"/>
              </a:ext>
            </a:extLst>
          </p:cNvPr>
          <p:cNvSpPr/>
          <p:nvPr/>
        </p:nvSpPr>
        <p:spPr>
          <a:xfrm>
            <a:off x="9939528" y="4919472"/>
            <a:ext cx="5658124" cy="84124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8161F1C1-369C-7C7E-8A97-8316C09744BC}"/>
              </a:ext>
            </a:extLst>
          </p:cNvPr>
          <p:cNvSpPr/>
          <p:nvPr/>
        </p:nvSpPr>
        <p:spPr>
          <a:xfrm>
            <a:off x="9939528" y="4919472"/>
            <a:ext cx="41148" cy="84124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96D0710F-DAD6-818B-1576-3AD64C82F98E}"/>
              </a:ext>
            </a:extLst>
          </p:cNvPr>
          <p:cNvSpPr txBox="1"/>
          <p:nvPr/>
        </p:nvSpPr>
        <p:spPr>
          <a:xfrm>
            <a:off x="10140696" y="5047488"/>
            <a:ext cx="5292364"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C514E"/>
                </a:solidFill>
                <a:latin typeface="Calibri" panose="020F0502020204030204" pitchFamily="34" charset="0"/>
                <a:cs typeface="Calibri" panose="020F0502020204030204" pitchFamily="34" charset="0"/>
              </a:rPr>
              <a:t>Horizonte 0 – 15 años</a:t>
            </a:r>
          </a:p>
        </p:txBody>
      </p:sp>
      <p:sp>
        <p:nvSpPr>
          <p:cNvPr id="29" name="TextBox 28">
            <a:extLst>
              <a:ext uri="{FF2B5EF4-FFF2-40B4-BE49-F238E27FC236}">
                <a16:creationId xmlns:a16="http://schemas.microsoft.com/office/drawing/2014/main" id="{7C5E4E21-7F5D-428E-A41D-DC7F80AEE03E}"/>
              </a:ext>
            </a:extLst>
          </p:cNvPr>
          <p:cNvSpPr txBox="1"/>
          <p:nvPr/>
        </p:nvSpPr>
        <p:spPr>
          <a:xfrm>
            <a:off x="10140696" y="5303520"/>
            <a:ext cx="5292364" cy="187039"/>
          </a:xfrm>
          <a:prstGeom prst="rect">
            <a:avLst/>
          </a:prstGeom>
          <a:noFill/>
        </p:spPr>
        <p:txBody>
          <a:bodyPr wrap="square" lIns="0" tIns="0" rIns="0" bIns="0" anchor="t">
            <a:spAutoFit/>
          </a:bodyPr>
          <a:lstStyle/>
          <a:p>
            <a:pPr algn="l">
              <a:lnSpc>
                <a:spcPct val="118000"/>
              </a:lnSpc>
            </a:pPr>
            <a:r>
              <a:rPr lang="es-ES_tradnl" sz="1100" b="0" i="0" noProof="0" dirty="0">
                <a:solidFill>
                  <a:srgbClr val="6E7E7D"/>
                </a:solidFill>
                <a:latin typeface="Calibri" panose="020F0502020204030204" pitchFamily="34" charset="0"/>
                <a:cs typeface="Calibri" panose="020F0502020204030204" pitchFamily="34" charset="0"/>
              </a:rPr>
              <a:t>Permite fondear créditos de cualquier </a:t>
            </a:r>
            <a:r>
              <a:rPr lang="es-ES_tradnl" sz="1100" b="0" i="0" noProof="0" dirty="0" err="1">
                <a:solidFill>
                  <a:srgbClr val="6E7E7D"/>
                </a:solidFill>
                <a:latin typeface="Calibri" panose="020F0502020204030204" pitchFamily="34" charset="0"/>
                <a:cs typeface="Calibri" panose="020F0502020204030204" pitchFamily="34" charset="0"/>
              </a:rPr>
              <a:t>duration</a:t>
            </a:r>
            <a:r>
              <a:rPr lang="es-ES_tradnl" sz="1100" b="0" i="0" noProof="0" dirty="0">
                <a:solidFill>
                  <a:srgbClr val="6E7E7D"/>
                </a:solidFill>
                <a:latin typeface="Calibri" panose="020F0502020204030204" pitchFamily="34" charset="0"/>
                <a:cs typeface="Calibri" panose="020F0502020204030204" pitchFamily="34" charset="0"/>
              </a:rPr>
              <a:t> sin extrapolar.</a:t>
            </a:r>
          </a:p>
        </p:txBody>
      </p:sp>
      <p:sp>
        <p:nvSpPr>
          <p:cNvPr id="30" name="Rectangle 29">
            <a:extLst>
              <a:ext uri="{FF2B5EF4-FFF2-40B4-BE49-F238E27FC236}">
                <a16:creationId xmlns:a16="http://schemas.microsoft.com/office/drawing/2014/main" id="{147784E1-037E-3C62-CF93-6C67DD8B4CD8}"/>
              </a:ext>
            </a:extLst>
          </p:cNvPr>
          <p:cNvSpPr/>
          <p:nvPr/>
        </p:nvSpPr>
        <p:spPr>
          <a:xfrm>
            <a:off x="658368" y="6053328"/>
            <a:ext cx="14939284" cy="146304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ES_tradnl" sz="2400" noProof="0">
                <a:latin typeface="Calibri" panose="020F0502020204030204" pitchFamily="34" charset="0"/>
                <a:cs typeface="Calibri" panose="020F0502020204030204" pitchFamily="34" charset="0"/>
              </a:rPr>
              <a:t> </a:t>
            </a:r>
            <a:endParaRPr lang="es-ES_tradnl" sz="2400" noProof="0" dirty="0">
              <a:latin typeface="Calibri" panose="020F0502020204030204" pitchFamily="34" charset="0"/>
              <a:cs typeface="Calibri" panose="020F0502020204030204" pitchFamily="34" charset="0"/>
            </a:endParaRPr>
          </a:p>
        </p:txBody>
      </p:sp>
      <p:cxnSp>
        <p:nvCxnSpPr>
          <p:cNvPr id="31" name="Connector 29">
            <a:extLst>
              <a:ext uri="{FF2B5EF4-FFF2-40B4-BE49-F238E27FC236}">
                <a16:creationId xmlns:a16="http://schemas.microsoft.com/office/drawing/2014/main" id="{B9C480EE-D50F-7903-0DFB-30600B8DCDED}"/>
              </a:ext>
            </a:extLst>
          </p:cNvPr>
          <p:cNvCxnSpPr/>
          <p:nvPr/>
        </p:nvCxnSpPr>
        <p:spPr>
          <a:xfrm>
            <a:off x="658368" y="6053328"/>
            <a:ext cx="0" cy="1463040"/>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187C9EA5-10BA-D8DD-E211-C1407C346CFD}"/>
              </a:ext>
            </a:extLst>
          </p:cNvPr>
          <p:cNvSpPr txBox="1"/>
          <p:nvPr/>
        </p:nvSpPr>
        <p:spPr>
          <a:xfrm>
            <a:off x="822959" y="6399327"/>
            <a:ext cx="14610100" cy="771045"/>
          </a:xfrm>
          <a:prstGeom prst="rect">
            <a:avLst/>
          </a:prstGeom>
          <a:noFill/>
        </p:spPr>
        <p:txBody>
          <a:bodyPr wrap="square" lIns="0" tIns="0" rIns="0" bIns="0" anchor="ctr">
            <a:spAutoFit/>
          </a:bodyPr>
          <a:lstStyle/>
          <a:p>
            <a:pPr algn="l">
              <a:lnSpc>
                <a:spcPct val="112000"/>
              </a:lnSpc>
              <a:spcAft>
                <a:spcPts val="200"/>
              </a:spcAft>
            </a:pPr>
            <a:r>
              <a:rPr lang="es-ES_tradnl" sz="1600" b="1" i="0" noProof="0" dirty="0">
                <a:solidFill>
                  <a:srgbClr val="13807B"/>
                </a:solidFill>
                <a:latin typeface="Calibri" panose="020F0502020204030204" pitchFamily="34" charset="0"/>
                <a:cs typeface="Calibri" panose="020F0502020204030204" pitchFamily="34" charset="0"/>
              </a:rPr>
              <a:t>Regla de aplicación</a:t>
            </a:r>
          </a:p>
          <a:p>
            <a:pPr algn="l">
              <a:lnSpc>
                <a:spcPct val="112000"/>
              </a:lnSpc>
              <a:spcAft>
                <a:spcPts val="200"/>
              </a:spcAft>
            </a:pPr>
            <a:r>
              <a:rPr lang="es-ES_tradnl" b="0" i="0" noProof="0" dirty="0">
                <a:solidFill>
                  <a:srgbClr val="3E5553"/>
                </a:solidFill>
                <a:latin typeface="Calibri" panose="020F0502020204030204" pitchFamily="34" charset="0"/>
                <a:cs typeface="Calibri" panose="020F0502020204030204" pitchFamily="34" charset="0"/>
              </a:rPr>
              <a:t>Una vez que se cuenta con la curva de tasas de transferencia activa en moneda nacional, la tasa a utilizar para el cálculo de la tasa activa mínima dependerá de la duración determinada previamente en el flujo del crédito. El valor resultante representa el costo de fondeo para la evaluación del otorgamiento del crédito.</a:t>
            </a:r>
          </a:p>
        </p:txBody>
      </p:sp>
      <p:sp>
        <p:nvSpPr>
          <p:cNvPr id="33" name="Rectangle 32">
            <a:extLst>
              <a:ext uri="{FF2B5EF4-FFF2-40B4-BE49-F238E27FC236}">
                <a16:creationId xmlns:a16="http://schemas.microsoft.com/office/drawing/2014/main" id="{CB8BA52C-7004-D86D-83B3-8F9C6E958EEA}"/>
              </a:ext>
            </a:extLst>
          </p:cNvPr>
          <p:cNvSpPr/>
          <p:nvPr/>
        </p:nvSpPr>
        <p:spPr>
          <a:xfrm>
            <a:off x="658368" y="7699247"/>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400" noProof="0" dirty="0">
              <a:latin typeface="Calibri" panose="020F0502020204030204" pitchFamily="34" charset="0"/>
              <a:cs typeface="Calibri" panose="020F0502020204030204" pitchFamily="34" charset="0"/>
            </a:endParaRPr>
          </a:p>
        </p:txBody>
      </p:sp>
      <p:cxnSp>
        <p:nvCxnSpPr>
          <p:cNvPr id="34" name="Connector 32">
            <a:extLst>
              <a:ext uri="{FF2B5EF4-FFF2-40B4-BE49-F238E27FC236}">
                <a16:creationId xmlns:a16="http://schemas.microsoft.com/office/drawing/2014/main" id="{85FC479D-E86B-1352-4CA7-7686C6A7B1F4}"/>
              </a:ext>
            </a:extLst>
          </p:cNvPr>
          <p:cNvCxnSpPr/>
          <p:nvPr/>
        </p:nvCxnSpPr>
        <p:spPr>
          <a:xfrm>
            <a:off x="658368" y="7699247"/>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38ABB345-6385-F42D-FF27-83691FF95EA3}"/>
              </a:ext>
            </a:extLst>
          </p:cNvPr>
          <p:cNvSpPr txBox="1"/>
          <p:nvPr/>
        </p:nvSpPr>
        <p:spPr>
          <a:xfrm>
            <a:off x="896112" y="7849438"/>
            <a:ext cx="14482084" cy="266548"/>
          </a:xfrm>
          <a:prstGeom prst="rect">
            <a:avLst/>
          </a:prstGeom>
          <a:noFill/>
        </p:spPr>
        <p:txBody>
          <a:bodyPr wrap="square" lIns="0" tIns="0" rIns="0" bIns="0" anchor="ctr">
            <a:spAutoFit/>
          </a:bodyPr>
          <a:lstStyle/>
          <a:p>
            <a:pPr algn="l">
              <a:lnSpc>
                <a:spcPct val="115000"/>
              </a:lnSpc>
              <a:spcAft>
                <a:spcPts val="400"/>
              </a:spcAft>
            </a:pPr>
            <a:r>
              <a:rPr lang="es-ES_tradnl" sz="1600" b="1" i="0" noProof="0" dirty="0">
                <a:solidFill>
                  <a:srgbClr val="0C514E"/>
                </a:solidFill>
                <a:latin typeface="Calibri" panose="020F0502020204030204" pitchFamily="34" charset="0"/>
                <a:cs typeface="Calibri" panose="020F0502020204030204" pitchFamily="34" charset="0"/>
              </a:rPr>
              <a:t>Al anclar el fondeo en la curva oficial del Banco, el debate de pricing se concentra en riesgo y margen, no en el costo del dinero.</a:t>
            </a:r>
          </a:p>
        </p:txBody>
      </p:sp>
    </p:spTree>
    <p:extLst>
      <p:ext uri="{BB962C8B-B14F-4D97-AF65-F5344CB8AC3E}">
        <p14:creationId xmlns:p14="http://schemas.microsoft.com/office/powerpoint/2010/main" val="884501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F6023437-DCE3-625A-221B-A76256E86E27}"/>
            </a:ext>
          </a:extLst>
        </p:cNvPr>
        <p:cNvGrpSpPr/>
        <p:nvPr/>
      </p:nvGrpSpPr>
      <p:grpSpPr>
        <a:xfrm>
          <a:off x="0" y="0"/>
          <a:ext cx="0" cy="0"/>
          <a:chOff x="0" y="0"/>
          <a:chExt cx="0" cy="0"/>
        </a:xfrm>
      </p:grpSpPr>
      <p:sp>
        <p:nvSpPr>
          <p:cNvPr id="53" name="Google Shape;53;g3d1edd8623c_1_0">
            <a:extLst>
              <a:ext uri="{FF2B5EF4-FFF2-40B4-BE49-F238E27FC236}">
                <a16:creationId xmlns:a16="http://schemas.microsoft.com/office/drawing/2014/main" id="{C990CBE6-E7EC-FC28-FB71-44E9163F77D3}"/>
              </a:ext>
            </a:extLst>
          </p:cNvPr>
          <p:cNvSpPr txBox="1">
            <a:spLocks noGrp="1"/>
          </p:cNvSpPr>
          <p:nvPr>
            <p:ph type="title"/>
          </p:nvPr>
        </p:nvSpPr>
        <p:spPr>
          <a:xfrm>
            <a:off x="431800" y="2614300"/>
            <a:ext cx="8737500" cy="4073400"/>
          </a:xfrm>
          <a:prstGeom prst="rect">
            <a:avLst/>
          </a:prstGeom>
          <a:noFill/>
          <a:ln>
            <a:noFill/>
          </a:ln>
        </p:spPr>
        <p:txBody>
          <a:bodyPr spcFirstLastPara="1" wrap="square" lIns="91425" tIns="45700" rIns="91425" bIns="45700" anchor="ctr" anchorCtr="0">
            <a:normAutofit/>
          </a:bodyPr>
          <a:lstStyle/>
          <a:p>
            <a:pPr lvl="0"/>
            <a:r>
              <a:rPr lang="es-ES_tradnl" sz="4700" noProof="0" dirty="0"/>
              <a:t>Pricing 360°: </a:t>
            </a:r>
            <a:r>
              <a:rPr lang="es-ES_tradnl" sz="4700" noProof="0" dirty="0" err="1"/>
              <a:t>Checkpoint</a:t>
            </a:r>
            <a:r>
              <a:rPr lang="es-ES_tradnl" sz="4700" noProof="0" dirty="0"/>
              <a:t> Modelos  </a:t>
            </a:r>
          </a:p>
          <a:p>
            <a:pPr marL="0" lvl="0" indent="0" algn="l" rtl="0">
              <a:lnSpc>
                <a:spcPct val="100000"/>
              </a:lnSpc>
              <a:spcBef>
                <a:spcPts val="0"/>
              </a:spcBef>
              <a:spcAft>
                <a:spcPts val="0"/>
              </a:spcAft>
              <a:buSzPts val="4400"/>
              <a:buNone/>
            </a:pPr>
            <a:r>
              <a:rPr lang="es-ES_tradnl" b="0" noProof="0" dirty="0"/>
              <a:t>Gastos Operativos</a:t>
            </a:r>
          </a:p>
        </p:txBody>
      </p:sp>
      <p:sp>
        <p:nvSpPr>
          <p:cNvPr id="54" name="Google Shape;54;g3d1edd8623c_1_0">
            <a:extLst>
              <a:ext uri="{FF2B5EF4-FFF2-40B4-BE49-F238E27FC236}">
                <a16:creationId xmlns:a16="http://schemas.microsoft.com/office/drawing/2014/main" id="{B7A52EC4-74B7-6CE8-2308-F87B3E42B252}"/>
              </a:ext>
            </a:extLst>
          </p:cNvPr>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cxnSp>
        <p:nvCxnSpPr>
          <p:cNvPr id="55" name="Google Shape;55;g3d1edd8623c_1_0">
            <a:extLst>
              <a:ext uri="{FF2B5EF4-FFF2-40B4-BE49-F238E27FC236}">
                <a16:creationId xmlns:a16="http://schemas.microsoft.com/office/drawing/2014/main" id="{85939C55-6DB7-5498-F1FB-1C740F68D2B9}"/>
              </a:ext>
            </a:extLst>
          </p:cNvPr>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56" name="Google Shape;56;g3d1edd8623c_1_0">
            <a:extLst>
              <a:ext uri="{FF2B5EF4-FFF2-40B4-BE49-F238E27FC236}">
                <a16:creationId xmlns:a16="http://schemas.microsoft.com/office/drawing/2014/main" id="{AE2631AD-A972-F4C3-9144-9E15E39A8D2A}"/>
              </a:ext>
            </a:extLst>
          </p:cNvPr>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pic>
        <p:nvPicPr>
          <p:cNvPr id="57" name="Google Shape;57;g3d1edd8623c_1_0">
            <a:extLst>
              <a:ext uri="{FF2B5EF4-FFF2-40B4-BE49-F238E27FC236}">
                <a16:creationId xmlns:a16="http://schemas.microsoft.com/office/drawing/2014/main" id="{E96A1E43-4B1F-DF09-9F3A-86E104108A9A}"/>
              </a:ext>
            </a:extLst>
          </p:cNvPr>
          <p:cNvPicPr preferRelativeResize="0"/>
          <p:nvPr/>
        </p:nvPicPr>
        <p:blipFill rotWithShape="1">
          <a:blip r:embed="rId3">
            <a:alphaModFix/>
          </a:blip>
          <a:srcRect/>
          <a:stretch/>
        </p:blipFill>
        <p:spPr>
          <a:xfrm>
            <a:off x="15168189" y="223789"/>
            <a:ext cx="792749" cy="375950"/>
          </a:xfrm>
          <a:prstGeom prst="rect">
            <a:avLst/>
          </a:prstGeom>
          <a:noFill/>
          <a:ln>
            <a:noFill/>
          </a:ln>
        </p:spPr>
      </p:pic>
    </p:spTree>
    <p:extLst>
      <p:ext uri="{BB962C8B-B14F-4D97-AF65-F5344CB8AC3E}">
        <p14:creationId xmlns:p14="http://schemas.microsoft.com/office/powerpoint/2010/main" val="212275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3DD29-4AE3-BEB8-7656-F9F0CC2C0C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773F44C-A071-E5ED-C331-9527162161F9}"/>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62C71151-31D1-4406-9C12-1DBC6EA489B3}"/>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Gastos Operativos</a:t>
            </a:r>
          </a:p>
        </p:txBody>
      </p:sp>
      <p:cxnSp>
        <p:nvCxnSpPr>
          <p:cNvPr id="8" name="Connector 3">
            <a:extLst>
              <a:ext uri="{FF2B5EF4-FFF2-40B4-BE49-F238E27FC236}">
                <a16:creationId xmlns:a16="http://schemas.microsoft.com/office/drawing/2014/main" id="{A0A7DBBC-996C-EF37-341C-EFEC88608650}"/>
              </a:ext>
            </a:extLst>
          </p:cNvPr>
          <p:cNvCxnSpPr/>
          <p:nvPr/>
        </p:nvCxnSpPr>
        <p:spPr>
          <a:xfrm>
            <a:off x="658368" y="115519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46F4062E-2EC4-C9C9-1B67-38CE78FC213B}"/>
              </a:ext>
            </a:extLst>
          </p:cNvPr>
          <p:cNvSpPr/>
          <p:nvPr/>
        </p:nvSpPr>
        <p:spPr>
          <a:xfrm>
            <a:off x="658368" y="1627632"/>
            <a:ext cx="4892040" cy="1298448"/>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3C9A196-9478-F242-4D84-58ECFA29F0B3}"/>
              </a:ext>
            </a:extLst>
          </p:cNvPr>
          <p:cNvSpPr txBox="1"/>
          <p:nvPr/>
        </p:nvSpPr>
        <p:spPr>
          <a:xfrm>
            <a:off x="658368" y="1355319"/>
            <a:ext cx="4379975" cy="215444"/>
          </a:xfrm>
          <a:prstGeom prst="rect">
            <a:avLst/>
          </a:prstGeom>
          <a:noFill/>
        </p:spPr>
        <p:txBody>
          <a:bodyPr wrap="square" lIns="0" tIns="0" rIns="0" bIns="0" anchor="t">
            <a:spAutoFit/>
          </a:bodyPr>
          <a:lstStyle/>
          <a:p>
            <a:pPr algn="l">
              <a:lnSpc>
                <a:spcPct val="100000"/>
              </a:lnSpc>
            </a:pPr>
            <a:r>
              <a:rPr lang="es-ES_tradnl" b="1" i="0" noProof="0" dirty="0">
                <a:latin typeface="Calibri" panose="020F0502020204030204" pitchFamily="34" charset="0"/>
                <a:cs typeface="Calibri" panose="020F0502020204030204" pitchFamily="34" charset="0"/>
              </a:rPr>
              <a:t>POR QUÉ ESTE MODELO</a:t>
            </a:r>
          </a:p>
        </p:txBody>
      </p:sp>
      <p:sp>
        <p:nvSpPr>
          <p:cNvPr id="10" name="TextBox 9">
            <a:extLst>
              <a:ext uri="{FF2B5EF4-FFF2-40B4-BE49-F238E27FC236}">
                <a16:creationId xmlns:a16="http://schemas.microsoft.com/office/drawing/2014/main" id="{03B72D43-1582-9C6B-8D8C-F3501007F215}"/>
              </a:ext>
            </a:extLst>
          </p:cNvPr>
          <p:cNvSpPr txBox="1"/>
          <p:nvPr/>
        </p:nvSpPr>
        <p:spPr>
          <a:xfrm>
            <a:off x="914400" y="1787128"/>
            <a:ext cx="4379975" cy="1107996"/>
          </a:xfrm>
          <a:prstGeom prst="rect">
            <a:avLst/>
          </a:prstGeom>
          <a:noFill/>
        </p:spPr>
        <p:txBody>
          <a:bodyPr wrap="square" lIns="0" tIns="0" rIns="0" bIns="0" anchor="t">
            <a:spAutoFit/>
          </a:bodyPr>
          <a:lstStyle/>
          <a:p>
            <a:pPr algn="l">
              <a:spcAft>
                <a:spcPts val="400"/>
              </a:spcAft>
            </a:pPr>
            <a:r>
              <a:rPr lang="es-ES_tradnl" sz="1800" b="0" i="0" noProof="0" dirty="0">
                <a:solidFill>
                  <a:srgbClr val="CBE3E2"/>
                </a:solidFill>
                <a:latin typeface="Calibri" panose="020F0502020204030204" pitchFamily="34" charset="0"/>
                <a:cs typeface="Calibri" panose="020F0502020204030204" pitchFamily="34" charset="0"/>
              </a:rPr>
              <a:t>Hoy el pricing carga un </a:t>
            </a:r>
            <a:r>
              <a:rPr lang="es-ES_tradnl" sz="1800" b="1" i="0" noProof="0" dirty="0">
                <a:solidFill>
                  <a:srgbClr val="FFFFFF"/>
                </a:solidFill>
                <a:latin typeface="Calibri" panose="020F0502020204030204" pitchFamily="34" charset="0"/>
                <a:cs typeface="Calibri" panose="020F0502020204030204" pitchFamily="34" charset="0"/>
              </a:rPr>
              <a:t>componente de gasto fijo</a:t>
            </a:r>
            <a:r>
              <a:rPr lang="es-ES_tradnl" sz="1800" b="0" i="0" noProof="0" dirty="0">
                <a:solidFill>
                  <a:srgbClr val="CBE3E2"/>
                </a:solidFill>
                <a:latin typeface="Calibri" panose="020F0502020204030204" pitchFamily="34" charset="0"/>
                <a:cs typeface="Calibri" panose="020F0502020204030204" pitchFamily="34" charset="0"/>
              </a:rPr>
              <a:t>. El modelo lo reemplaza por un costo calculado, abierto por producto, momento y canal.</a:t>
            </a:r>
          </a:p>
        </p:txBody>
      </p:sp>
      <p:sp>
        <p:nvSpPr>
          <p:cNvPr id="11" name="Rectangle 10">
            <a:extLst>
              <a:ext uri="{FF2B5EF4-FFF2-40B4-BE49-F238E27FC236}">
                <a16:creationId xmlns:a16="http://schemas.microsoft.com/office/drawing/2014/main" id="{C576FD43-D42D-3B13-793E-E70C627429E2}"/>
              </a:ext>
            </a:extLst>
          </p:cNvPr>
          <p:cNvSpPr/>
          <p:nvPr/>
        </p:nvSpPr>
        <p:spPr>
          <a:xfrm>
            <a:off x="6007607" y="1627632"/>
            <a:ext cx="9590044" cy="129844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877627CE-C80B-52D1-7029-F7C9D3F20AD6}"/>
              </a:ext>
            </a:extLst>
          </p:cNvPr>
          <p:cNvSpPr txBox="1"/>
          <p:nvPr/>
        </p:nvSpPr>
        <p:spPr>
          <a:xfrm>
            <a:off x="6281927" y="1828800"/>
            <a:ext cx="5486400"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0B2E2C"/>
                </a:solidFill>
                <a:latin typeface="Calibri" panose="020F0502020204030204" pitchFamily="34" charset="0"/>
                <a:cs typeface="Calibri" panose="020F0502020204030204" pitchFamily="34" charset="0"/>
              </a:rPr>
              <a:t>¿Es un gasto atribuido a…?</a:t>
            </a:r>
          </a:p>
        </p:txBody>
      </p:sp>
      <p:sp>
        <p:nvSpPr>
          <p:cNvPr id="13" name="Rectangle 12">
            <a:extLst>
              <a:ext uri="{FF2B5EF4-FFF2-40B4-BE49-F238E27FC236}">
                <a16:creationId xmlns:a16="http://schemas.microsoft.com/office/drawing/2014/main" id="{F1ADEEB4-30CD-22E4-C81F-D39E3FD7C229}"/>
              </a:ext>
            </a:extLst>
          </p:cNvPr>
          <p:cNvSpPr/>
          <p:nvPr/>
        </p:nvSpPr>
        <p:spPr>
          <a:xfrm>
            <a:off x="6281927" y="2194560"/>
            <a:ext cx="1874519" cy="42062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13807B"/>
                </a:solidFill>
                <a:latin typeface="Calibri" panose="020F0502020204030204" pitchFamily="34" charset="0"/>
                <a:cs typeface="Calibri" panose="020F0502020204030204" pitchFamily="34" charset="0"/>
              </a:rPr>
              <a:t>Colocación</a:t>
            </a:r>
          </a:p>
        </p:txBody>
      </p:sp>
      <p:sp>
        <p:nvSpPr>
          <p:cNvPr id="14" name="Rectangle 13">
            <a:extLst>
              <a:ext uri="{FF2B5EF4-FFF2-40B4-BE49-F238E27FC236}">
                <a16:creationId xmlns:a16="http://schemas.microsoft.com/office/drawing/2014/main" id="{FE7BF4EA-7D26-008F-53DA-1D10AC156B21}"/>
              </a:ext>
            </a:extLst>
          </p:cNvPr>
          <p:cNvSpPr/>
          <p:nvPr/>
        </p:nvSpPr>
        <p:spPr>
          <a:xfrm>
            <a:off x="6281927" y="2194560"/>
            <a:ext cx="1874519" cy="457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A7EF92AD-E803-11A6-418B-D088AE9A6953}"/>
              </a:ext>
            </a:extLst>
          </p:cNvPr>
          <p:cNvSpPr/>
          <p:nvPr/>
        </p:nvSpPr>
        <p:spPr>
          <a:xfrm>
            <a:off x="8302751" y="2194560"/>
            <a:ext cx="1874519" cy="42062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445A6E"/>
                </a:solidFill>
                <a:latin typeface="Calibri" panose="020F0502020204030204" pitchFamily="34" charset="0"/>
                <a:cs typeface="Calibri" panose="020F0502020204030204" pitchFamily="34" charset="0"/>
              </a:rPr>
              <a:t>Transaccional</a:t>
            </a:r>
          </a:p>
        </p:txBody>
      </p:sp>
      <p:sp>
        <p:nvSpPr>
          <p:cNvPr id="16" name="Rectangle 15">
            <a:extLst>
              <a:ext uri="{FF2B5EF4-FFF2-40B4-BE49-F238E27FC236}">
                <a16:creationId xmlns:a16="http://schemas.microsoft.com/office/drawing/2014/main" id="{79F33FBE-9C13-95B7-169F-D92DBAE0E153}"/>
              </a:ext>
            </a:extLst>
          </p:cNvPr>
          <p:cNvSpPr/>
          <p:nvPr/>
        </p:nvSpPr>
        <p:spPr>
          <a:xfrm>
            <a:off x="10323576" y="2194560"/>
            <a:ext cx="1874519" cy="420624"/>
          </a:xfrm>
          <a:prstGeom prst="rect">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600" b="1" i="0" noProof="0" dirty="0">
                <a:solidFill>
                  <a:srgbClr val="6E7E7D"/>
                </a:solidFill>
                <a:latin typeface="Calibri" panose="020F0502020204030204" pitchFamily="34" charset="0"/>
                <a:cs typeface="Calibri" panose="020F0502020204030204" pitchFamily="34" charset="0"/>
              </a:rPr>
              <a:t>Ambos</a:t>
            </a:r>
          </a:p>
        </p:txBody>
      </p:sp>
      <p:cxnSp>
        <p:nvCxnSpPr>
          <p:cNvPr id="17" name="Connector 15">
            <a:extLst>
              <a:ext uri="{FF2B5EF4-FFF2-40B4-BE49-F238E27FC236}">
                <a16:creationId xmlns:a16="http://schemas.microsoft.com/office/drawing/2014/main" id="{54FC6434-6D61-9497-EB05-9C60CC7F9DF8}"/>
              </a:ext>
            </a:extLst>
          </p:cNvPr>
          <p:cNvCxnSpPr/>
          <p:nvPr/>
        </p:nvCxnSpPr>
        <p:spPr>
          <a:xfrm>
            <a:off x="12435840" y="1865376"/>
            <a:ext cx="0" cy="82296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04D919A-3A1A-B418-A8A3-CC0B897B72E9}"/>
              </a:ext>
            </a:extLst>
          </p:cNvPr>
          <p:cNvSpPr txBox="1"/>
          <p:nvPr/>
        </p:nvSpPr>
        <p:spPr>
          <a:xfrm>
            <a:off x="12587083" y="1776985"/>
            <a:ext cx="2796052" cy="1032975"/>
          </a:xfrm>
          <a:prstGeom prst="rect">
            <a:avLst/>
          </a:prstGeom>
          <a:noFill/>
        </p:spPr>
        <p:txBody>
          <a:bodyPr wrap="square" lIns="0" tIns="0" rIns="0" bIns="0" anchor="t">
            <a:spAutoFit/>
          </a:bodyPr>
          <a:lstStyle/>
          <a:p>
            <a:pPr algn="l">
              <a:lnSpc>
                <a:spcPct val="122000"/>
              </a:lnSpc>
            </a:pPr>
            <a:r>
              <a:rPr lang="es-ES_tradnl" b="0" i="0" noProof="0" dirty="0">
                <a:solidFill>
                  <a:srgbClr val="6E7E7D"/>
                </a:solidFill>
                <a:latin typeface="Calibri" panose="020F0502020204030204" pitchFamily="34" charset="0"/>
                <a:cs typeface="Calibri" panose="020F0502020204030204" pitchFamily="34" charset="0"/>
              </a:rPr>
              <a:t>La clasificación se hace por unidad organizativa: cada área declara qué parte de su gasto atiende al crédito y qué parte al transaccional.</a:t>
            </a:r>
          </a:p>
        </p:txBody>
      </p:sp>
      <p:sp>
        <p:nvSpPr>
          <p:cNvPr id="19" name="TextBox 18">
            <a:extLst>
              <a:ext uri="{FF2B5EF4-FFF2-40B4-BE49-F238E27FC236}">
                <a16:creationId xmlns:a16="http://schemas.microsoft.com/office/drawing/2014/main" id="{8AE1412B-852C-4748-3A3F-04988599C7E1}"/>
              </a:ext>
            </a:extLst>
          </p:cNvPr>
          <p:cNvSpPr txBox="1"/>
          <p:nvPr/>
        </p:nvSpPr>
        <p:spPr>
          <a:xfrm>
            <a:off x="658368" y="3273552"/>
            <a:ext cx="8229600"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0B2E2C"/>
                </a:solidFill>
                <a:latin typeface="Calibri" panose="020F0502020204030204" pitchFamily="34" charset="0"/>
                <a:cs typeface="Calibri" panose="020F0502020204030204" pitchFamily="34" charset="0"/>
              </a:rPr>
              <a:t>Cómo se abre el gasto, nivel por nivel</a:t>
            </a:r>
          </a:p>
        </p:txBody>
      </p:sp>
      <p:cxnSp>
        <p:nvCxnSpPr>
          <p:cNvPr id="20" name="Connector 18">
            <a:extLst>
              <a:ext uri="{FF2B5EF4-FFF2-40B4-BE49-F238E27FC236}">
                <a16:creationId xmlns:a16="http://schemas.microsoft.com/office/drawing/2014/main" id="{999201C5-F365-CF0E-598F-C0CA2A568F3B}"/>
              </a:ext>
            </a:extLst>
          </p:cNvPr>
          <p:cNvCxnSpPr/>
          <p:nvPr/>
        </p:nvCxnSpPr>
        <p:spPr>
          <a:xfrm>
            <a:off x="658368" y="3566160"/>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E802730E-FF9F-CDED-64FF-E882FDC45458}"/>
              </a:ext>
            </a:extLst>
          </p:cNvPr>
          <p:cNvSpPr/>
          <p:nvPr/>
        </p:nvSpPr>
        <p:spPr>
          <a:xfrm>
            <a:off x="658368" y="3730752"/>
            <a:ext cx="2261280" cy="248716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74A329A0-E1AF-3806-5F0C-75D906F99512}"/>
              </a:ext>
            </a:extLst>
          </p:cNvPr>
          <p:cNvSpPr/>
          <p:nvPr/>
        </p:nvSpPr>
        <p:spPr>
          <a:xfrm>
            <a:off x="658368" y="3730752"/>
            <a:ext cx="2261280" cy="292608"/>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PRESUPUESTO</a:t>
            </a:r>
          </a:p>
        </p:txBody>
      </p:sp>
      <p:sp>
        <p:nvSpPr>
          <p:cNvPr id="23" name="Rectangle 22">
            <a:extLst>
              <a:ext uri="{FF2B5EF4-FFF2-40B4-BE49-F238E27FC236}">
                <a16:creationId xmlns:a16="http://schemas.microsoft.com/office/drawing/2014/main" id="{F2AE96E7-9E11-2D60-E73C-7CFAC6E35D1C}"/>
              </a:ext>
            </a:extLst>
          </p:cNvPr>
          <p:cNvSpPr/>
          <p:nvPr/>
        </p:nvSpPr>
        <p:spPr>
          <a:xfrm>
            <a:off x="822959" y="4818888"/>
            <a:ext cx="1932096" cy="60350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Gastos Banca Negocios</a:t>
            </a:r>
          </a:p>
        </p:txBody>
      </p:sp>
      <p:cxnSp>
        <p:nvCxnSpPr>
          <p:cNvPr id="24" name="Connector 22">
            <a:extLst>
              <a:ext uri="{FF2B5EF4-FFF2-40B4-BE49-F238E27FC236}">
                <a16:creationId xmlns:a16="http://schemas.microsoft.com/office/drawing/2014/main" id="{D11E76CC-5A19-68E0-1689-80526FDB46FF}"/>
              </a:ext>
            </a:extLst>
          </p:cNvPr>
          <p:cNvCxnSpPr/>
          <p:nvPr/>
        </p:nvCxnSpPr>
        <p:spPr>
          <a:xfrm>
            <a:off x="2956224" y="4974336"/>
            <a:ext cx="201168"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57A6F95E-3D16-B731-44A2-1D26172A3D54}"/>
              </a:ext>
            </a:extLst>
          </p:cNvPr>
          <p:cNvSpPr/>
          <p:nvPr/>
        </p:nvSpPr>
        <p:spPr>
          <a:xfrm>
            <a:off x="3193968" y="3730752"/>
            <a:ext cx="2261280" cy="248716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92027471-A156-ED04-E114-035CA24FCCCD}"/>
              </a:ext>
            </a:extLst>
          </p:cNvPr>
          <p:cNvSpPr/>
          <p:nvPr/>
        </p:nvSpPr>
        <p:spPr>
          <a:xfrm>
            <a:off x="3193968" y="3730752"/>
            <a:ext cx="2261280" cy="29260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BOLSA DE GASTO</a:t>
            </a:r>
          </a:p>
        </p:txBody>
      </p:sp>
      <p:sp>
        <p:nvSpPr>
          <p:cNvPr id="27" name="Rectangle 26">
            <a:extLst>
              <a:ext uri="{FF2B5EF4-FFF2-40B4-BE49-F238E27FC236}">
                <a16:creationId xmlns:a16="http://schemas.microsoft.com/office/drawing/2014/main" id="{8C63672D-98F2-8EDE-DFB4-8669A3589162}"/>
              </a:ext>
            </a:extLst>
          </p:cNvPr>
          <p:cNvSpPr/>
          <p:nvPr/>
        </p:nvSpPr>
        <p:spPr>
          <a:xfrm>
            <a:off x="3358560" y="4224528"/>
            <a:ext cx="1932096" cy="35204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Directos</a:t>
            </a:r>
          </a:p>
        </p:txBody>
      </p:sp>
      <p:sp>
        <p:nvSpPr>
          <p:cNvPr id="28" name="Rectangle 27">
            <a:extLst>
              <a:ext uri="{FF2B5EF4-FFF2-40B4-BE49-F238E27FC236}">
                <a16:creationId xmlns:a16="http://schemas.microsoft.com/office/drawing/2014/main" id="{C0F328D7-FCA8-EB92-4169-4836B69D3010}"/>
              </a:ext>
            </a:extLst>
          </p:cNvPr>
          <p:cNvSpPr/>
          <p:nvPr/>
        </p:nvSpPr>
        <p:spPr>
          <a:xfrm>
            <a:off x="3358560" y="4704588"/>
            <a:ext cx="1932096" cy="35204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Canales</a:t>
            </a:r>
          </a:p>
        </p:txBody>
      </p:sp>
      <p:sp>
        <p:nvSpPr>
          <p:cNvPr id="29" name="Rectangle 28">
            <a:extLst>
              <a:ext uri="{FF2B5EF4-FFF2-40B4-BE49-F238E27FC236}">
                <a16:creationId xmlns:a16="http://schemas.microsoft.com/office/drawing/2014/main" id="{1320A9CF-1D56-D573-FA3F-5808076D2868}"/>
              </a:ext>
            </a:extLst>
          </p:cNvPr>
          <p:cNvSpPr/>
          <p:nvPr/>
        </p:nvSpPr>
        <p:spPr>
          <a:xfrm>
            <a:off x="3358560" y="5184648"/>
            <a:ext cx="1932096" cy="35204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Indirectos</a:t>
            </a:r>
          </a:p>
        </p:txBody>
      </p:sp>
      <p:sp>
        <p:nvSpPr>
          <p:cNvPr id="30" name="Rectangle 29">
            <a:extLst>
              <a:ext uri="{FF2B5EF4-FFF2-40B4-BE49-F238E27FC236}">
                <a16:creationId xmlns:a16="http://schemas.microsoft.com/office/drawing/2014/main" id="{D2F64ADF-3EB0-5A11-FA95-35B4B7055EE1}"/>
              </a:ext>
            </a:extLst>
          </p:cNvPr>
          <p:cNvSpPr/>
          <p:nvPr/>
        </p:nvSpPr>
        <p:spPr>
          <a:xfrm>
            <a:off x="3358560" y="5664708"/>
            <a:ext cx="1932096" cy="35204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Cascadas</a:t>
            </a:r>
          </a:p>
        </p:txBody>
      </p:sp>
      <p:cxnSp>
        <p:nvCxnSpPr>
          <p:cNvPr id="31" name="Connector 29">
            <a:extLst>
              <a:ext uri="{FF2B5EF4-FFF2-40B4-BE49-F238E27FC236}">
                <a16:creationId xmlns:a16="http://schemas.microsoft.com/office/drawing/2014/main" id="{CEC6EC68-7DF5-CDD5-06A0-00E4581657C8}"/>
              </a:ext>
            </a:extLst>
          </p:cNvPr>
          <p:cNvCxnSpPr/>
          <p:nvPr/>
        </p:nvCxnSpPr>
        <p:spPr>
          <a:xfrm>
            <a:off x="5491825" y="4974336"/>
            <a:ext cx="201168"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A52E38EE-8B45-413A-F4FA-D986D37A014A}"/>
              </a:ext>
            </a:extLst>
          </p:cNvPr>
          <p:cNvSpPr/>
          <p:nvPr/>
        </p:nvSpPr>
        <p:spPr>
          <a:xfrm>
            <a:off x="5729569" y="3730752"/>
            <a:ext cx="2261280" cy="248716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1173D58C-4459-AFAF-5D39-23F25911E61B}"/>
              </a:ext>
            </a:extLst>
          </p:cNvPr>
          <p:cNvSpPr/>
          <p:nvPr/>
        </p:nvSpPr>
        <p:spPr>
          <a:xfrm>
            <a:off x="5729569" y="3730752"/>
            <a:ext cx="2261280" cy="29260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DESTINO</a:t>
            </a:r>
          </a:p>
        </p:txBody>
      </p:sp>
      <p:sp>
        <p:nvSpPr>
          <p:cNvPr id="34" name="Rectangle 33">
            <a:extLst>
              <a:ext uri="{FF2B5EF4-FFF2-40B4-BE49-F238E27FC236}">
                <a16:creationId xmlns:a16="http://schemas.microsoft.com/office/drawing/2014/main" id="{B00B319E-A909-D898-C585-E00D2B395B3F}"/>
              </a:ext>
            </a:extLst>
          </p:cNvPr>
          <p:cNvSpPr/>
          <p:nvPr/>
        </p:nvSpPr>
        <p:spPr>
          <a:xfrm>
            <a:off x="5894161" y="4453128"/>
            <a:ext cx="1932096" cy="60350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Colocación</a:t>
            </a:r>
          </a:p>
        </p:txBody>
      </p:sp>
      <p:sp>
        <p:nvSpPr>
          <p:cNvPr id="35" name="Rectangle 34">
            <a:extLst>
              <a:ext uri="{FF2B5EF4-FFF2-40B4-BE49-F238E27FC236}">
                <a16:creationId xmlns:a16="http://schemas.microsoft.com/office/drawing/2014/main" id="{E0D3827B-6D76-6FB9-A7C5-444826B534E2}"/>
              </a:ext>
            </a:extLst>
          </p:cNvPr>
          <p:cNvSpPr/>
          <p:nvPr/>
        </p:nvSpPr>
        <p:spPr>
          <a:xfrm>
            <a:off x="5894161" y="5184648"/>
            <a:ext cx="1932096" cy="603504"/>
          </a:xfrm>
          <a:prstGeom prst="rect">
            <a:avLst/>
          </a:prstGeom>
          <a:solidFill>
            <a:srgbClr val="EFF1F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9AA8A7"/>
                </a:solidFill>
                <a:latin typeface="Calibri" panose="020F0502020204030204" pitchFamily="34" charset="0"/>
                <a:cs typeface="Calibri" panose="020F0502020204030204" pitchFamily="34" charset="0"/>
              </a:rPr>
              <a:t>Transaccional</a:t>
            </a:r>
          </a:p>
        </p:txBody>
      </p:sp>
      <p:sp>
        <p:nvSpPr>
          <p:cNvPr id="36" name="TextBox 35">
            <a:extLst>
              <a:ext uri="{FF2B5EF4-FFF2-40B4-BE49-F238E27FC236}">
                <a16:creationId xmlns:a16="http://schemas.microsoft.com/office/drawing/2014/main" id="{D70734DF-C38A-2129-34EC-E407A4000704}"/>
              </a:ext>
            </a:extLst>
          </p:cNvPr>
          <p:cNvSpPr txBox="1"/>
          <p:nvPr/>
        </p:nvSpPr>
        <p:spPr>
          <a:xfrm>
            <a:off x="5894161" y="5806440"/>
            <a:ext cx="1932096"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9AA8A7"/>
                </a:solidFill>
                <a:latin typeface="Calibri" panose="020F0502020204030204" pitchFamily="34" charset="0"/>
                <a:cs typeface="Calibri" panose="020F0502020204030204" pitchFamily="34" charset="0"/>
              </a:rPr>
              <a:t>fuera del pricing de crédito</a:t>
            </a:r>
          </a:p>
        </p:txBody>
      </p:sp>
      <p:cxnSp>
        <p:nvCxnSpPr>
          <p:cNvPr id="37" name="Connector 35">
            <a:extLst>
              <a:ext uri="{FF2B5EF4-FFF2-40B4-BE49-F238E27FC236}">
                <a16:creationId xmlns:a16="http://schemas.microsoft.com/office/drawing/2014/main" id="{DA0F382D-E813-E2DD-E7DE-0A75A43F846C}"/>
              </a:ext>
            </a:extLst>
          </p:cNvPr>
          <p:cNvCxnSpPr/>
          <p:nvPr/>
        </p:nvCxnSpPr>
        <p:spPr>
          <a:xfrm>
            <a:off x="8027426" y="4974336"/>
            <a:ext cx="201168"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2BA8BB63-C239-AE28-538E-8597D21690FF}"/>
              </a:ext>
            </a:extLst>
          </p:cNvPr>
          <p:cNvSpPr/>
          <p:nvPr/>
        </p:nvSpPr>
        <p:spPr>
          <a:xfrm>
            <a:off x="8265170" y="3730752"/>
            <a:ext cx="2261280" cy="248716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404ABEDF-74B5-11A7-C6FC-D003C51711DD}"/>
              </a:ext>
            </a:extLst>
          </p:cNvPr>
          <p:cNvSpPr/>
          <p:nvPr/>
        </p:nvSpPr>
        <p:spPr>
          <a:xfrm>
            <a:off x="8265170" y="3730752"/>
            <a:ext cx="2261280" cy="29260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PRODUCTO</a:t>
            </a:r>
          </a:p>
        </p:txBody>
      </p:sp>
      <p:sp>
        <p:nvSpPr>
          <p:cNvPr id="40" name="Rectangle 39">
            <a:extLst>
              <a:ext uri="{FF2B5EF4-FFF2-40B4-BE49-F238E27FC236}">
                <a16:creationId xmlns:a16="http://schemas.microsoft.com/office/drawing/2014/main" id="{662252FC-E745-D07E-11AC-068F2BBFB9C2}"/>
              </a:ext>
            </a:extLst>
          </p:cNvPr>
          <p:cNvSpPr/>
          <p:nvPr/>
        </p:nvSpPr>
        <p:spPr>
          <a:xfrm>
            <a:off x="8429762" y="4453128"/>
            <a:ext cx="1932096" cy="60350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Pagaré</a:t>
            </a:r>
          </a:p>
        </p:txBody>
      </p:sp>
      <p:sp>
        <p:nvSpPr>
          <p:cNvPr id="41" name="Rectangle 40">
            <a:extLst>
              <a:ext uri="{FF2B5EF4-FFF2-40B4-BE49-F238E27FC236}">
                <a16:creationId xmlns:a16="http://schemas.microsoft.com/office/drawing/2014/main" id="{E366F16C-FE6B-00F5-940E-48342F58F148}"/>
              </a:ext>
            </a:extLst>
          </p:cNvPr>
          <p:cNvSpPr/>
          <p:nvPr/>
        </p:nvSpPr>
        <p:spPr>
          <a:xfrm>
            <a:off x="8429762" y="5184648"/>
            <a:ext cx="1932096" cy="60350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Financiamiento de ventas</a:t>
            </a:r>
          </a:p>
        </p:txBody>
      </p:sp>
      <p:cxnSp>
        <p:nvCxnSpPr>
          <p:cNvPr id="42" name="Connector 40">
            <a:extLst>
              <a:ext uri="{FF2B5EF4-FFF2-40B4-BE49-F238E27FC236}">
                <a16:creationId xmlns:a16="http://schemas.microsoft.com/office/drawing/2014/main" id="{38D0BBD0-CF09-9EFF-816C-F44E21E7FBE2}"/>
              </a:ext>
            </a:extLst>
          </p:cNvPr>
          <p:cNvCxnSpPr/>
          <p:nvPr/>
        </p:nvCxnSpPr>
        <p:spPr>
          <a:xfrm>
            <a:off x="10563026" y="4974336"/>
            <a:ext cx="201168"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2">
            <a:extLst>
              <a:ext uri="{FF2B5EF4-FFF2-40B4-BE49-F238E27FC236}">
                <a16:creationId xmlns:a16="http://schemas.microsoft.com/office/drawing/2014/main" id="{07303335-F6D9-ABA3-D670-61CB706D598F}"/>
              </a:ext>
            </a:extLst>
          </p:cNvPr>
          <p:cNvSpPr/>
          <p:nvPr/>
        </p:nvSpPr>
        <p:spPr>
          <a:xfrm>
            <a:off x="10800770" y="3730752"/>
            <a:ext cx="2261280" cy="248716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D86E39D2-335D-74C2-01A6-ABE96BF8956E}"/>
              </a:ext>
            </a:extLst>
          </p:cNvPr>
          <p:cNvSpPr/>
          <p:nvPr/>
        </p:nvSpPr>
        <p:spPr>
          <a:xfrm>
            <a:off x="10800770" y="3730752"/>
            <a:ext cx="2261280" cy="292608"/>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MOMENTO</a:t>
            </a:r>
          </a:p>
        </p:txBody>
      </p:sp>
      <p:sp>
        <p:nvSpPr>
          <p:cNvPr id="45" name="Rectangle 44">
            <a:extLst>
              <a:ext uri="{FF2B5EF4-FFF2-40B4-BE49-F238E27FC236}">
                <a16:creationId xmlns:a16="http://schemas.microsoft.com/office/drawing/2014/main" id="{7B5697ED-DAC1-79A8-3212-BF7DF31FBD1F}"/>
              </a:ext>
            </a:extLst>
          </p:cNvPr>
          <p:cNvSpPr/>
          <p:nvPr/>
        </p:nvSpPr>
        <p:spPr>
          <a:xfrm>
            <a:off x="10965362" y="4453128"/>
            <a:ext cx="1932096" cy="60350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Adquisición</a:t>
            </a:r>
          </a:p>
        </p:txBody>
      </p:sp>
      <p:sp>
        <p:nvSpPr>
          <p:cNvPr id="46" name="Rectangle 45">
            <a:extLst>
              <a:ext uri="{FF2B5EF4-FFF2-40B4-BE49-F238E27FC236}">
                <a16:creationId xmlns:a16="http://schemas.microsoft.com/office/drawing/2014/main" id="{87BD4D29-DA2E-C836-D004-4851D690D895}"/>
              </a:ext>
            </a:extLst>
          </p:cNvPr>
          <p:cNvSpPr/>
          <p:nvPr/>
        </p:nvSpPr>
        <p:spPr>
          <a:xfrm>
            <a:off x="10965362" y="5184648"/>
            <a:ext cx="1932096" cy="60350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Mantenimiento</a:t>
            </a:r>
          </a:p>
        </p:txBody>
      </p:sp>
      <p:cxnSp>
        <p:nvCxnSpPr>
          <p:cNvPr id="47" name="Connector 45">
            <a:extLst>
              <a:ext uri="{FF2B5EF4-FFF2-40B4-BE49-F238E27FC236}">
                <a16:creationId xmlns:a16="http://schemas.microsoft.com/office/drawing/2014/main" id="{9088175A-13C7-3E71-19E7-09C23B0D9916}"/>
              </a:ext>
            </a:extLst>
          </p:cNvPr>
          <p:cNvCxnSpPr/>
          <p:nvPr/>
        </p:nvCxnSpPr>
        <p:spPr>
          <a:xfrm>
            <a:off x="13098627" y="4974336"/>
            <a:ext cx="201168"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B0CBAA13-ECE8-F438-CEDC-08B81ABD85DA}"/>
              </a:ext>
            </a:extLst>
          </p:cNvPr>
          <p:cNvSpPr/>
          <p:nvPr/>
        </p:nvSpPr>
        <p:spPr>
          <a:xfrm>
            <a:off x="13336371" y="3730752"/>
            <a:ext cx="2261280" cy="248716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1674218F-89DC-EE3A-5D42-DB354A000350}"/>
              </a:ext>
            </a:extLst>
          </p:cNvPr>
          <p:cNvSpPr/>
          <p:nvPr/>
        </p:nvSpPr>
        <p:spPr>
          <a:xfrm>
            <a:off x="13336371" y="3730752"/>
            <a:ext cx="2261280" cy="29260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CANAL BN</a:t>
            </a:r>
          </a:p>
        </p:txBody>
      </p:sp>
      <p:sp>
        <p:nvSpPr>
          <p:cNvPr id="50" name="Rectangle 49">
            <a:extLst>
              <a:ext uri="{FF2B5EF4-FFF2-40B4-BE49-F238E27FC236}">
                <a16:creationId xmlns:a16="http://schemas.microsoft.com/office/drawing/2014/main" id="{C07316CF-545F-BFDA-01B0-3CC6ACC3831A}"/>
              </a:ext>
            </a:extLst>
          </p:cNvPr>
          <p:cNvSpPr/>
          <p:nvPr/>
        </p:nvSpPr>
        <p:spPr>
          <a:xfrm>
            <a:off x="13500963" y="4224528"/>
            <a:ext cx="1932096" cy="51206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Tiendas</a:t>
            </a:r>
          </a:p>
        </p:txBody>
      </p:sp>
      <p:sp>
        <p:nvSpPr>
          <p:cNvPr id="51" name="Rectangle 50">
            <a:extLst>
              <a:ext uri="{FF2B5EF4-FFF2-40B4-BE49-F238E27FC236}">
                <a16:creationId xmlns:a16="http://schemas.microsoft.com/office/drawing/2014/main" id="{E1A4A448-F6D9-7BA8-4717-A567E23FCCD1}"/>
              </a:ext>
            </a:extLst>
          </p:cNvPr>
          <p:cNvSpPr/>
          <p:nvPr/>
        </p:nvSpPr>
        <p:spPr>
          <a:xfrm>
            <a:off x="13500963" y="4864608"/>
            <a:ext cx="1932096" cy="51206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Virtuales</a:t>
            </a:r>
          </a:p>
        </p:txBody>
      </p:sp>
      <p:sp>
        <p:nvSpPr>
          <p:cNvPr id="52" name="Rectangle 51">
            <a:extLst>
              <a:ext uri="{FF2B5EF4-FFF2-40B4-BE49-F238E27FC236}">
                <a16:creationId xmlns:a16="http://schemas.microsoft.com/office/drawing/2014/main" id="{1FB01CA3-0287-71C1-D539-236955E00ADF}"/>
              </a:ext>
            </a:extLst>
          </p:cNvPr>
          <p:cNvSpPr/>
          <p:nvPr/>
        </p:nvSpPr>
        <p:spPr>
          <a:xfrm>
            <a:off x="13500963" y="5504688"/>
            <a:ext cx="1932096" cy="51206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b="1" i="0" noProof="0" dirty="0">
                <a:solidFill>
                  <a:srgbClr val="083A38"/>
                </a:solidFill>
                <a:latin typeface="Calibri" panose="020F0502020204030204" pitchFamily="34" charset="0"/>
                <a:cs typeface="Calibri" panose="020F0502020204030204" pitchFamily="34" charset="0"/>
              </a:rPr>
              <a:t>TLV</a:t>
            </a:r>
          </a:p>
        </p:txBody>
      </p:sp>
      <p:sp>
        <p:nvSpPr>
          <p:cNvPr id="53" name="TextBox 52">
            <a:extLst>
              <a:ext uri="{FF2B5EF4-FFF2-40B4-BE49-F238E27FC236}">
                <a16:creationId xmlns:a16="http://schemas.microsoft.com/office/drawing/2014/main" id="{AF7A84D2-38B5-83F1-34B1-6FBDE28702C4}"/>
              </a:ext>
            </a:extLst>
          </p:cNvPr>
          <p:cNvSpPr txBox="1"/>
          <p:nvPr/>
        </p:nvSpPr>
        <p:spPr>
          <a:xfrm>
            <a:off x="658368" y="6547104"/>
            <a:ext cx="8229600"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0B2E2C"/>
                </a:solidFill>
                <a:latin typeface="Calibri" panose="020F0502020204030204" pitchFamily="34" charset="0"/>
                <a:cs typeface="Calibri" panose="020F0502020204030204" pitchFamily="34" charset="0"/>
              </a:rPr>
              <a:t>Con qué driver se reparte cada nivel</a:t>
            </a:r>
          </a:p>
        </p:txBody>
      </p:sp>
      <p:sp>
        <p:nvSpPr>
          <p:cNvPr id="54" name="TextBox 53">
            <a:extLst>
              <a:ext uri="{FF2B5EF4-FFF2-40B4-BE49-F238E27FC236}">
                <a16:creationId xmlns:a16="http://schemas.microsoft.com/office/drawing/2014/main" id="{89D1EC43-2B26-EDB3-3653-71B4BA48AD1B}"/>
              </a:ext>
            </a:extLst>
          </p:cNvPr>
          <p:cNvSpPr txBox="1"/>
          <p:nvPr/>
        </p:nvSpPr>
        <p:spPr>
          <a:xfrm>
            <a:off x="9070848" y="6574536"/>
            <a:ext cx="6526804" cy="184666"/>
          </a:xfrm>
          <a:prstGeom prst="rect">
            <a:avLst/>
          </a:prstGeom>
          <a:noFill/>
        </p:spPr>
        <p:txBody>
          <a:bodyPr wrap="square" lIns="0" tIns="0" rIns="0" bIns="0" anchor="t">
            <a:spAutoFit/>
          </a:bodyPr>
          <a:lstStyle/>
          <a:p>
            <a:pPr algn="r">
              <a:lnSpc>
                <a:spcPct val="100000"/>
              </a:lnSpc>
            </a:pPr>
            <a:r>
              <a:rPr lang="es-ES_tradnl" sz="1200" b="0" i="0" noProof="0" dirty="0">
                <a:solidFill>
                  <a:srgbClr val="9AA8A7"/>
                </a:solidFill>
                <a:latin typeface="Calibri" panose="020F0502020204030204" pitchFamily="34" charset="0"/>
                <a:cs typeface="Calibri" panose="020F0502020204030204" pitchFamily="34" charset="0"/>
              </a:rPr>
              <a:t>Fuente: Modelo de Gastos Banca Negocios · jun-2026</a:t>
            </a:r>
          </a:p>
        </p:txBody>
      </p:sp>
      <p:cxnSp>
        <p:nvCxnSpPr>
          <p:cNvPr id="55" name="Connector 53">
            <a:extLst>
              <a:ext uri="{FF2B5EF4-FFF2-40B4-BE49-F238E27FC236}">
                <a16:creationId xmlns:a16="http://schemas.microsoft.com/office/drawing/2014/main" id="{97BE7876-3559-4A73-9A18-D1777855D060}"/>
              </a:ext>
            </a:extLst>
          </p:cNvPr>
          <p:cNvCxnSpPr/>
          <p:nvPr/>
        </p:nvCxnSpPr>
        <p:spPr>
          <a:xfrm>
            <a:off x="658368" y="683971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B7248B06-3F81-0E97-01DE-D968A97C5D39}"/>
              </a:ext>
            </a:extLst>
          </p:cNvPr>
          <p:cNvSpPr/>
          <p:nvPr/>
        </p:nvSpPr>
        <p:spPr>
          <a:xfrm>
            <a:off x="658368" y="6949440"/>
            <a:ext cx="3597661" cy="93268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5170AE65-3DF3-B9A8-BDFB-AA5CB641DDFF}"/>
              </a:ext>
            </a:extLst>
          </p:cNvPr>
          <p:cNvSpPr/>
          <p:nvPr/>
        </p:nvSpPr>
        <p:spPr>
          <a:xfrm>
            <a:off x="658368" y="6949440"/>
            <a:ext cx="41148" cy="93268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B586810B-1DA2-8A1F-ED7F-EDF9FAA2F4D5}"/>
              </a:ext>
            </a:extLst>
          </p:cNvPr>
          <p:cNvSpPr txBox="1"/>
          <p:nvPr/>
        </p:nvSpPr>
        <p:spPr>
          <a:xfrm>
            <a:off x="877824" y="7059168"/>
            <a:ext cx="3195325" cy="215444"/>
          </a:xfrm>
          <a:prstGeom prst="rect">
            <a:avLst/>
          </a:prstGeom>
          <a:noFill/>
        </p:spPr>
        <p:txBody>
          <a:bodyPr wrap="square" lIns="0" tIns="0" rIns="0" bIns="0" anchor="t">
            <a:spAutoFit/>
          </a:bodyPr>
          <a:lstStyle/>
          <a:p>
            <a:pPr algn="l">
              <a:lnSpc>
                <a:spcPct val="100000"/>
              </a:lnSpc>
            </a:pPr>
            <a:r>
              <a:rPr lang="es-ES_tradnl" b="1" i="0" noProof="0" dirty="0">
                <a:solidFill>
                  <a:srgbClr val="13807B"/>
                </a:solidFill>
                <a:latin typeface="Calibri" panose="020F0502020204030204" pitchFamily="34" charset="0"/>
                <a:cs typeface="Calibri" panose="020F0502020204030204" pitchFamily="34" charset="0"/>
              </a:rPr>
              <a:t>Bolsa de gasto → destino</a:t>
            </a:r>
          </a:p>
        </p:txBody>
      </p:sp>
      <p:sp>
        <p:nvSpPr>
          <p:cNvPr id="59" name="TextBox 58">
            <a:extLst>
              <a:ext uri="{FF2B5EF4-FFF2-40B4-BE49-F238E27FC236}">
                <a16:creationId xmlns:a16="http://schemas.microsoft.com/office/drawing/2014/main" id="{DD17DA10-327D-FC91-B9A5-0703F4C05AE1}"/>
              </a:ext>
            </a:extLst>
          </p:cNvPr>
          <p:cNvSpPr txBox="1"/>
          <p:nvPr/>
        </p:nvSpPr>
        <p:spPr>
          <a:xfrm>
            <a:off x="877824" y="7296912"/>
            <a:ext cx="3195325" cy="428387"/>
          </a:xfrm>
          <a:prstGeom prst="rect">
            <a:avLst/>
          </a:prstGeom>
          <a:noFill/>
        </p:spPr>
        <p:txBody>
          <a:bodyPr wrap="square" lIns="0" tIns="0" rIns="0" bIns="0" anchor="t">
            <a:spAutoFit/>
          </a:bodyPr>
          <a:lstStyle/>
          <a:p>
            <a:pPr algn="l">
              <a:lnSpc>
                <a:spcPct val="120000"/>
              </a:lnSpc>
            </a:pPr>
            <a:r>
              <a:rPr lang="es-ES_tradnl" sz="1200" b="0" i="0" noProof="0" dirty="0">
                <a:solidFill>
                  <a:srgbClr val="6E7E7D"/>
                </a:solidFill>
                <a:latin typeface="Calibri" panose="020F0502020204030204" pitchFamily="34" charset="0"/>
                <a:cs typeface="Calibri" panose="020F0502020204030204" pitchFamily="34" charset="0"/>
              </a:rPr>
              <a:t>% HC, dedicación, % tablero, % ingresos y tipo de operaciones</a:t>
            </a:r>
          </a:p>
        </p:txBody>
      </p:sp>
      <p:sp>
        <p:nvSpPr>
          <p:cNvPr id="60" name="Rectangle 59">
            <a:extLst>
              <a:ext uri="{FF2B5EF4-FFF2-40B4-BE49-F238E27FC236}">
                <a16:creationId xmlns:a16="http://schemas.microsoft.com/office/drawing/2014/main" id="{AA8566DD-74AB-5B65-2658-85A11FCECF37}"/>
              </a:ext>
            </a:extLst>
          </p:cNvPr>
          <p:cNvSpPr/>
          <p:nvPr/>
        </p:nvSpPr>
        <p:spPr>
          <a:xfrm>
            <a:off x="4438909" y="6949440"/>
            <a:ext cx="3597661" cy="93268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61" name="Rectangle 60">
            <a:extLst>
              <a:ext uri="{FF2B5EF4-FFF2-40B4-BE49-F238E27FC236}">
                <a16:creationId xmlns:a16="http://schemas.microsoft.com/office/drawing/2014/main" id="{0EA88DDC-80B6-190E-927D-30D59EBC4EB5}"/>
              </a:ext>
            </a:extLst>
          </p:cNvPr>
          <p:cNvSpPr/>
          <p:nvPr/>
        </p:nvSpPr>
        <p:spPr>
          <a:xfrm>
            <a:off x="4438909" y="6949440"/>
            <a:ext cx="41148" cy="93268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EC606FD7-8EED-EE34-53BF-85B5E3087212}"/>
              </a:ext>
            </a:extLst>
          </p:cNvPr>
          <p:cNvSpPr txBox="1"/>
          <p:nvPr/>
        </p:nvSpPr>
        <p:spPr>
          <a:xfrm>
            <a:off x="4658365" y="7059168"/>
            <a:ext cx="3195325" cy="215444"/>
          </a:xfrm>
          <a:prstGeom prst="rect">
            <a:avLst/>
          </a:prstGeom>
          <a:noFill/>
        </p:spPr>
        <p:txBody>
          <a:bodyPr wrap="square" lIns="0" tIns="0" rIns="0" bIns="0" anchor="t">
            <a:spAutoFit/>
          </a:bodyPr>
          <a:lstStyle/>
          <a:p>
            <a:pPr algn="l">
              <a:lnSpc>
                <a:spcPct val="100000"/>
              </a:lnSpc>
            </a:pPr>
            <a:r>
              <a:rPr lang="es-ES_tradnl" b="1" i="0" noProof="0" dirty="0">
                <a:solidFill>
                  <a:srgbClr val="13807B"/>
                </a:solidFill>
                <a:latin typeface="Calibri" panose="020F0502020204030204" pitchFamily="34" charset="0"/>
                <a:cs typeface="Calibri" panose="020F0502020204030204" pitchFamily="34" charset="0"/>
              </a:rPr>
              <a:t>Destino → producto</a:t>
            </a:r>
          </a:p>
        </p:txBody>
      </p:sp>
      <p:sp>
        <p:nvSpPr>
          <p:cNvPr id="63" name="TextBox 62">
            <a:extLst>
              <a:ext uri="{FF2B5EF4-FFF2-40B4-BE49-F238E27FC236}">
                <a16:creationId xmlns:a16="http://schemas.microsoft.com/office/drawing/2014/main" id="{81A77D10-9DE5-4B94-B7CE-706890BEA11A}"/>
              </a:ext>
            </a:extLst>
          </p:cNvPr>
          <p:cNvSpPr txBox="1"/>
          <p:nvPr/>
        </p:nvSpPr>
        <p:spPr>
          <a:xfrm>
            <a:off x="4658365" y="7296912"/>
            <a:ext cx="3195325" cy="206788"/>
          </a:xfrm>
          <a:prstGeom prst="rect">
            <a:avLst/>
          </a:prstGeom>
          <a:noFill/>
        </p:spPr>
        <p:txBody>
          <a:bodyPr wrap="square" lIns="0" tIns="0" rIns="0" bIns="0" anchor="t">
            <a:spAutoFit/>
          </a:bodyPr>
          <a:lstStyle/>
          <a:p>
            <a:pPr algn="l">
              <a:lnSpc>
                <a:spcPct val="120000"/>
              </a:lnSpc>
            </a:pPr>
            <a:r>
              <a:rPr lang="es-ES_tradnl" sz="1200" b="0" i="0" noProof="0" dirty="0">
                <a:solidFill>
                  <a:srgbClr val="6E7E7D"/>
                </a:solidFill>
                <a:latin typeface="Calibri" panose="020F0502020204030204" pitchFamily="34" charset="0"/>
                <a:cs typeface="Calibri" panose="020F0502020204030204" pitchFamily="34" charset="0"/>
              </a:rPr>
              <a:t>% de saldo promedio de cada producto</a:t>
            </a:r>
          </a:p>
        </p:txBody>
      </p:sp>
      <p:sp>
        <p:nvSpPr>
          <p:cNvPr id="128" name="Rectangle 127">
            <a:extLst>
              <a:ext uri="{FF2B5EF4-FFF2-40B4-BE49-F238E27FC236}">
                <a16:creationId xmlns:a16="http://schemas.microsoft.com/office/drawing/2014/main" id="{CE73CD3B-06CB-E593-6C23-D398E1AA2C03}"/>
              </a:ext>
            </a:extLst>
          </p:cNvPr>
          <p:cNvSpPr/>
          <p:nvPr/>
        </p:nvSpPr>
        <p:spPr>
          <a:xfrm>
            <a:off x="8219450" y="6949440"/>
            <a:ext cx="3597661" cy="93268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29" name="Rectangle 128">
            <a:extLst>
              <a:ext uri="{FF2B5EF4-FFF2-40B4-BE49-F238E27FC236}">
                <a16:creationId xmlns:a16="http://schemas.microsoft.com/office/drawing/2014/main" id="{A3E7E40F-031E-4891-3F24-C8881C11C003}"/>
              </a:ext>
            </a:extLst>
          </p:cNvPr>
          <p:cNvSpPr/>
          <p:nvPr/>
        </p:nvSpPr>
        <p:spPr>
          <a:xfrm>
            <a:off x="8219450" y="6949440"/>
            <a:ext cx="41148" cy="932688"/>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30" name="TextBox 129">
            <a:extLst>
              <a:ext uri="{FF2B5EF4-FFF2-40B4-BE49-F238E27FC236}">
                <a16:creationId xmlns:a16="http://schemas.microsoft.com/office/drawing/2014/main" id="{2B2C8147-3726-EE2F-B866-BD313EAAE47F}"/>
              </a:ext>
            </a:extLst>
          </p:cNvPr>
          <p:cNvSpPr txBox="1"/>
          <p:nvPr/>
        </p:nvSpPr>
        <p:spPr>
          <a:xfrm>
            <a:off x="8438906" y="7059168"/>
            <a:ext cx="3195325" cy="215444"/>
          </a:xfrm>
          <a:prstGeom prst="rect">
            <a:avLst/>
          </a:prstGeom>
          <a:noFill/>
        </p:spPr>
        <p:txBody>
          <a:bodyPr wrap="square" lIns="0" tIns="0" rIns="0" bIns="0" anchor="t">
            <a:spAutoFit/>
          </a:bodyPr>
          <a:lstStyle/>
          <a:p>
            <a:pPr algn="l">
              <a:lnSpc>
                <a:spcPct val="100000"/>
              </a:lnSpc>
            </a:pPr>
            <a:r>
              <a:rPr lang="es-ES_tradnl" b="1" i="0" noProof="0" dirty="0">
                <a:solidFill>
                  <a:srgbClr val="C87A0B"/>
                </a:solidFill>
                <a:latin typeface="Calibri" panose="020F0502020204030204" pitchFamily="34" charset="0"/>
                <a:cs typeface="Calibri" panose="020F0502020204030204" pitchFamily="34" charset="0"/>
              </a:rPr>
              <a:t>Producto → momento</a:t>
            </a:r>
          </a:p>
        </p:txBody>
      </p:sp>
      <p:sp>
        <p:nvSpPr>
          <p:cNvPr id="131" name="TextBox 130">
            <a:extLst>
              <a:ext uri="{FF2B5EF4-FFF2-40B4-BE49-F238E27FC236}">
                <a16:creationId xmlns:a16="http://schemas.microsoft.com/office/drawing/2014/main" id="{BACDF010-2A1B-C6C4-BC52-293622D37034}"/>
              </a:ext>
            </a:extLst>
          </p:cNvPr>
          <p:cNvSpPr txBox="1"/>
          <p:nvPr/>
        </p:nvSpPr>
        <p:spPr>
          <a:xfrm>
            <a:off x="8438906" y="7296912"/>
            <a:ext cx="3195325" cy="428451"/>
          </a:xfrm>
          <a:prstGeom prst="rect">
            <a:avLst/>
          </a:prstGeom>
          <a:noFill/>
        </p:spPr>
        <p:txBody>
          <a:bodyPr wrap="square" lIns="0" tIns="0" rIns="0" bIns="0" anchor="t">
            <a:spAutoFit/>
          </a:bodyPr>
          <a:lstStyle/>
          <a:p>
            <a:pPr algn="l">
              <a:lnSpc>
                <a:spcPct val="120000"/>
              </a:lnSpc>
            </a:pPr>
            <a:r>
              <a:rPr lang="es-ES_tradnl" sz="1200" b="0" i="0" noProof="0" dirty="0">
                <a:solidFill>
                  <a:srgbClr val="6E7E7D"/>
                </a:solidFill>
                <a:latin typeface="Calibri" panose="020F0502020204030204" pitchFamily="34" charset="0"/>
                <a:cs typeface="Calibri" panose="020F0502020204030204" pitchFamily="34" charset="0"/>
              </a:rPr>
              <a:t>% de operaciones nuevas sobre el total vigente + dedicación de los </a:t>
            </a:r>
            <a:r>
              <a:rPr lang="es-ES_tradnl" sz="1200" b="0" i="0" noProof="0" dirty="0" err="1">
                <a:solidFill>
                  <a:srgbClr val="6E7E7D"/>
                </a:solidFill>
                <a:latin typeface="Calibri" panose="020F0502020204030204" pitchFamily="34" charset="0"/>
                <a:cs typeface="Calibri" panose="020F0502020204030204" pitchFamily="34" charset="0"/>
              </a:rPr>
              <a:t>euqipos</a:t>
            </a:r>
            <a:r>
              <a:rPr lang="es-ES_tradnl" sz="1200" b="0" i="0" noProof="0" dirty="0">
                <a:solidFill>
                  <a:srgbClr val="6E7E7D"/>
                </a:solidFill>
                <a:latin typeface="Calibri" panose="020F0502020204030204" pitchFamily="34" charset="0"/>
                <a:cs typeface="Calibri" panose="020F0502020204030204" pitchFamily="34" charset="0"/>
              </a:rPr>
              <a:t> para este Driver</a:t>
            </a:r>
          </a:p>
        </p:txBody>
      </p:sp>
      <p:sp>
        <p:nvSpPr>
          <p:cNvPr id="132" name="Rectangle 131">
            <a:extLst>
              <a:ext uri="{FF2B5EF4-FFF2-40B4-BE49-F238E27FC236}">
                <a16:creationId xmlns:a16="http://schemas.microsoft.com/office/drawing/2014/main" id="{6F51545B-2DE8-8E92-A21B-89A43488D817}"/>
              </a:ext>
            </a:extLst>
          </p:cNvPr>
          <p:cNvSpPr/>
          <p:nvPr/>
        </p:nvSpPr>
        <p:spPr>
          <a:xfrm>
            <a:off x="11999991" y="6949440"/>
            <a:ext cx="3597661" cy="93268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33" name="Rectangle 132">
            <a:extLst>
              <a:ext uri="{FF2B5EF4-FFF2-40B4-BE49-F238E27FC236}">
                <a16:creationId xmlns:a16="http://schemas.microsoft.com/office/drawing/2014/main" id="{615A7921-2DB8-7C20-70D2-DEAB64D4A2E8}"/>
              </a:ext>
            </a:extLst>
          </p:cNvPr>
          <p:cNvSpPr/>
          <p:nvPr/>
        </p:nvSpPr>
        <p:spPr>
          <a:xfrm>
            <a:off x="11999991" y="6949440"/>
            <a:ext cx="41148" cy="93268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34" name="TextBox 133">
            <a:extLst>
              <a:ext uri="{FF2B5EF4-FFF2-40B4-BE49-F238E27FC236}">
                <a16:creationId xmlns:a16="http://schemas.microsoft.com/office/drawing/2014/main" id="{EF6B0D47-6E85-AF54-0D49-79EF00F99475}"/>
              </a:ext>
            </a:extLst>
          </p:cNvPr>
          <p:cNvSpPr txBox="1"/>
          <p:nvPr/>
        </p:nvSpPr>
        <p:spPr>
          <a:xfrm>
            <a:off x="12219447" y="7059168"/>
            <a:ext cx="3195325" cy="215444"/>
          </a:xfrm>
          <a:prstGeom prst="rect">
            <a:avLst/>
          </a:prstGeom>
          <a:noFill/>
        </p:spPr>
        <p:txBody>
          <a:bodyPr wrap="square" lIns="0" tIns="0" rIns="0" bIns="0" anchor="t">
            <a:spAutoFit/>
          </a:bodyPr>
          <a:lstStyle/>
          <a:p>
            <a:pPr algn="l">
              <a:lnSpc>
                <a:spcPct val="100000"/>
              </a:lnSpc>
            </a:pPr>
            <a:r>
              <a:rPr lang="es-ES_tradnl" b="1" i="0" noProof="0" dirty="0">
                <a:solidFill>
                  <a:srgbClr val="445A6E"/>
                </a:solidFill>
                <a:latin typeface="Calibri" panose="020F0502020204030204" pitchFamily="34" charset="0"/>
                <a:cs typeface="Calibri" panose="020F0502020204030204" pitchFamily="34" charset="0"/>
              </a:rPr>
              <a:t>Momento → canal</a:t>
            </a:r>
          </a:p>
        </p:txBody>
      </p:sp>
      <p:sp>
        <p:nvSpPr>
          <p:cNvPr id="135" name="TextBox 134">
            <a:extLst>
              <a:ext uri="{FF2B5EF4-FFF2-40B4-BE49-F238E27FC236}">
                <a16:creationId xmlns:a16="http://schemas.microsoft.com/office/drawing/2014/main" id="{6BB476ED-D3DF-8116-37EF-780D5B84A31B}"/>
              </a:ext>
            </a:extLst>
          </p:cNvPr>
          <p:cNvSpPr txBox="1"/>
          <p:nvPr/>
        </p:nvSpPr>
        <p:spPr>
          <a:xfrm>
            <a:off x="12219447" y="7296912"/>
            <a:ext cx="3195325" cy="205569"/>
          </a:xfrm>
          <a:prstGeom prst="rect">
            <a:avLst/>
          </a:prstGeom>
          <a:noFill/>
        </p:spPr>
        <p:txBody>
          <a:bodyPr wrap="square" lIns="0" tIns="0" rIns="0" bIns="0" anchor="t">
            <a:spAutoFit/>
          </a:bodyPr>
          <a:lstStyle/>
          <a:p>
            <a:pPr algn="l">
              <a:lnSpc>
                <a:spcPct val="120000"/>
              </a:lnSpc>
            </a:pPr>
            <a:r>
              <a:rPr lang="es-ES_tradnl" sz="1200" b="0" i="0" noProof="0" dirty="0" err="1">
                <a:solidFill>
                  <a:srgbClr val="6E7E7D"/>
                </a:solidFill>
                <a:latin typeface="Calibri" panose="020F0502020204030204" pitchFamily="34" charset="0"/>
                <a:cs typeface="Calibri" panose="020F0502020204030204" pitchFamily="34" charset="0"/>
              </a:rPr>
              <a:t>N°</a:t>
            </a:r>
            <a:r>
              <a:rPr lang="es-ES_tradnl" sz="1200" b="0" i="0" noProof="0" dirty="0">
                <a:solidFill>
                  <a:srgbClr val="6E7E7D"/>
                </a:solidFill>
                <a:latin typeface="Calibri" panose="020F0502020204030204" pitchFamily="34" charset="0"/>
                <a:cs typeface="Calibri" panose="020F0502020204030204" pitchFamily="34" charset="0"/>
              </a:rPr>
              <a:t> de clientes por producto en cada canal</a:t>
            </a:r>
          </a:p>
        </p:txBody>
      </p:sp>
      <p:sp>
        <p:nvSpPr>
          <p:cNvPr id="136" name="Rectangle 135">
            <a:extLst>
              <a:ext uri="{FF2B5EF4-FFF2-40B4-BE49-F238E27FC236}">
                <a16:creationId xmlns:a16="http://schemas.microsoft.com/office/drawing/2014/main" id="{66679BC4-DBDF-40DE-812E-9E2730490DFA}"/>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cxnSp>
        <p:nvCxnSpPr>
          <p:cNvPr id="137" name="Connector 71">
            <a:extLst>
              <a:ext uri="{FF2B5EF4-FFF2-40B4-BE49-F238E27FC236}">
                <a16:creationId xmlns:a16="http://schemas.microsoft.com/office/drawing/2014/main" id="{83E19EC8-EABB-171E-3E79-C5E00CB7DA3B}"/>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38" name="TextBox 137">
            <a:extLst>
              <a:ext uri="{FF2B5EF4-FFF2-40B4-BE49-F238E27FC236}">
                <a16:creationId xmlns:a16="http://schemas.microsoft.com/office/drawing/2014/main" id="{662F0977-1453-61A3-A903-13CE7AA850AB}"/>
              </a:ext>
            </a:extLst>
          </p:cNvPr>
          <p:cNvSpPr txBox="1"/>
          <p:nvPr/>
        </p:nvSpPr>
        <p:spPr>
          <a:xfrm>
            <a:off x="896112" y="8235135"/>
            <a:ext cx="14482084" cy="299826"/>
          </a:xfrm>
          <a:prstGeom prst="rect">
            <a:avLst/>
          </a:prstGeom>
          <a:noFill/>
        </p:spPr>
        <p:txBody>
          <a:bodyPr wrap="square" lIns="0" tIns="0" rIns="0" bIns="0" anchor="ctr">
            <a:spAutoFit/>
          </a:bodyPr>
          <a:lstStyle/>
          <a:p>
            <a:pPr algn="l">
              <a:lnSpc>
                <a:spcPct val="115000"/>
              </a:lnSpc>
              <a:spcAft>
                <a:spcPts val="400"/>
              </a:spcAft>
            </a:pPr>
            <a:r>
              <a:rPr lang="es-ES_tradnl" sz="1800" b="1" i="0" noProof="0" dirty="0">
                <a:solidFill>
                  <a:srgbClr val="0C514E"/>
                </a:solidFill>
                <a:latin typeface="Calibri" panose="020F0502020204030204" pitchFamily="34" charset="0"/>
                <a:cs typeface="Calibri" panose="020F0502020204030204" pitchFamily="34" charset="0"/>
              </a:rPr>
              <a:t>Un componente de gasto fijo no distingue entre atender una cuenta y colocar un crédito; esta apertura sí.</a:t>
            </a:r>
          </a:p>
        </p:txBody>
      </p:sp>
    </p:spTree>
    <p:extLst>
      <p:ext uri="{BB962C8B-B14F-4D97-AF65-F5344CB8AC3E}">
        <p14:creationId xmlns:p14="http://schemas.microsoft.com/office/powerpoint/2010/main" val="3786555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2B865C99-22A1-4EB8-6971-3DD19E803258}"/>
            </a:ext>
          </a:extLst>
        </p:cNvPr>
        <p:cNvGrpSpPr/>
        <p:nvPr/>
      </p:nvGrpSpPr>
      <p:grpSpPr>
        <a:xfrm>
          <a:off x="0" y="0"/>
          <a:ext cx="0" cy="0"/>
          <a:chOff x="0" y="0"/>
          <a:chExt cx="0" cy="0"/>
        </a:xfrm>
      </p:grpSpPr>
      <p:sp>
        <p:nvSpPr>
          <p:cNvPr id="53" name="Google Shape;53;g3d1edd8623c_1_0">
            <a:extLst>
              <a:ext uri="{FF2B5EF4-FFF2-40B4-BE49-F238E27FC236}">
                <a16:creationId xmlns:a16="http://schemas.microsoft.com/office/drawing/2014/main" id="{B433325E-8A19-64BA-5994-54AE893AB353}"/>
              </a:ext>
            </a:extLst>
          </p:cNvPr>
          <p:cNvSpPr txBox="1">
            <a:spLocks noGrp="1"/>
          </p:cNvSpPr>
          <p:nvPr>
            <p:ph type="title"/>
          </p:nvPr>
        </p:nvSpPr>
        <p:spPr>
          <a:xfrm>
            <a:off x="431800" y="2614300"/>
            <a:ext cx="8737500" cy="4073400"/>
          </a:xfrm>
          <a:prstGeom prst="rect">
            <a:avLst/>
          </a:prstGeom>
          <a:noFill/>
          <a:ln>
            <a:noFill/>
          </a:ln>
        </p:spPr>
        <p:txBody>
          <a:bodyPr spcFirstLastPara="1" wrap="square" lIns="91425" tIns="45700" rIns="91425" bIns="45700" anchor="ctr" anchorCtr="0">
            <a:normAutofit/>
          </a:bodyPr>
          <a:lstStyle/>
          <a:p>
            <a:pPr lvl="0"/>
            <a:r>
              <a:rPr lang="es-ES_tradnl" sz="4700" noProof="0" dirty="0"/>
              <a:t>Pricing 360°: </a:t>
            </a:r>
            <a:r>
              <a:rPr lang="es-ES_tradnl" sz="4700" noProof="0" dirty="0" err="1"/>
              <a:t>Checkpoint</a:t>
            </a:r>
            <a:r>
              <a:rPr lang="es-ES_tradnl" sz="4700" noProof="0" dirty="0"/>
              <a:t> Modelos  </a:t>
            </a:r>
          </a:p>
          <a:p>
            <a:pPr marL="0" lvl="0" indent="0" algn="l" rtl="0">
              <a:lnSpc>
                <a:spcPct val="100000"/>
              </a:lnSpc>
              <a:spcBef>
                <a:spcPts val="0"/>
              </a:spcBef>
              <a:spcAft>
                <a:spcPts val="0"/>
              </a:spcAft>
              <a:buSzPts val="4400"/>
              <a:buNone/>
            </a:pPr>
            <a:r>
              <a:rPr lang="es-ES_tradnl" b="0" noProof="0" dirty="0"/>
              <a:t>Beneficio de Capital</a:t>
            </a:r>
          </a:p>
        </p:txBody>
      </p:sp>
      <p:sp>
        <p:nvSpPr>
          <p:cNvPr id="54" name="Google Shape;54;g3d1edd8623c_1_0">
            <a:extLst>
              <a:ext uri="{FF2B5EF4-FFF2-40B4-BE49-F238E27FC236}">
                <a16:creationId xmlns:a16="http://schemas.microsoft.com/office/drawing/2014/main" id="{3D22D1C5-B9B2-5CC9-9D5D-C111E564A961}"/>
              </a:ext>
            </a:extLst>
          </p:cNvPr>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cxnSp>
        <p:nvCxnSpPr>
          <p:cNvPr id="55" name="Google Shape;55;g3d1edd8623c_1_0">
            <a:extLst>
              <a:ext uri="{FF2B5EF4-FFF2-40B4-BE49-F238E27FC236}">
                <a16:creationId xmlns:a16="http://schemas.microsoft.com/office/drawing/2014/main" id="{8E2E6087-58AE-D2D0-D691-38B2741ECE88}"/>
              </a:ext>
            </a:extLst>
          </p:cNvPr>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56" name="Google Shape;56;g3d1edd8623c_1_0">
            <a:extLst>
              <a:ext uri="{FF2B5EF4-FFF2-40B4-BE49-F238E27FC236}">
                <a16:creationId xmlns:a16="http://schemas.microsoft.com/office/drawing/2014/main" id="{2BBB2235-9FFE-3EF3-C9A4-CCA586B349C6}"/>
              </a:ext>
            </a:extLst>
          </p:cNvPr>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pic>
        <p:nvPicPr>
          <p:cNvPr id="57" name="Google Shape;57;g3d1edd8623c_1_0">
            <a:extLst>
              <a:ext uri="{FF2B5EF4-FFF2-40B4-BE49-F238E27FC236}">
                <a16:creationId xmlns:a16="http://schemas.microsoft.com/office/drawing/2014/main" id="{E43B8A31-2AB0-622F-D91B-8C29B0445495}"/>
              </a:ext>
            </a:extLst>
          </p:cNvPr>
          <p:cNvPicPr preferRelativeResize="0"/>
          <p:nvPr/>
        </p:nvPicPr>
        <p:blipFill rotWithShape="1">
          <a:blip r:embed="rId3">
            <a:alphaModFix/>
          </a:blip>
          <a:srcRect/>
          <a:stretch/>
        </p:blipFill>
        <p:spPr>
          <a:xfrm>
            <a:off x="15168189" y="223789"/>
            <a:ext cx="792749" cy="375950"/>
          </a:xfrm>
          <a:prstGeom prst="rect">
            <a:avLst/>
          </a:prstGeom>
          <a:noFill/>
          <a:ln>
            <a:noFill/>
          </a:ln>
        </p:spPr>
      </p:pic>
    </p:spTree>
    <p:extLst>
      <p:ext uri="{BB962C8B-B14F-4D97-AF65-F5344CB8AC3E}">
        <p14:creationId xmlns:p14="http://schemas.microsoft.com/office/powerpoint/2010/main" val="1201064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B93D3-4875-1482-5E9F-B9C2CEB04E1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795CA6-AB1F-8E7A-74CE-783BE15F8770}"/>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9B61E5A6-8174-54AB-B385-A9B445BB2F33}"/>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Costo de Capital Regulatorio</a:t>
            </a:r>
          </a:p>
        </p:txBody>
      </p:sp>
      <p:cxnSp>
        <p:nvCxnSpPr>
          <p:cNvPr id="8" name="Connector 3">
            <a:extLst>
              <a:ext uri="{FF2B5EF4-FFF2-40B4-BE49-F238E27FC236}">
                <a16:creationId xmlns:a16="http://schemas.microsoft.com/office/drawing/2014/main" id="{EEF51C09-B3C5-1609-C7F2-AA7164D2612B}"/>
              </a:ext>
            </a:extLst>
          </p:cNvPr>
          <p:cNvCxnSpPr/>
          <p:nvPr/>
        </p:nvCxnSpPr>
        <p:spPr>
          <a:xfrm>
            <a:off x="658368" y="115519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B99E58A1-0B79-5CC4-D84D-F26106F080AB}"/>
              </a:ext>
            </a:extLst>
          </p:cNvPr>
          <p:cNvSpPr txBox="1"/>
          <p:nvPr/>
        </p:nvSpPr>
        <p:spPr>
          <a:xfrm>
            <a:off x="14683252" y="8686800"/>
            <a:ext cx="914400" cy="169277"/>
          </a:xfrm>
          <a:prstGeom prst="rect">
            <a:avLst/>
          </a:prstGeom>
          <a:noFill/>
        </p:spPr>
        <p:txBody>
          <a:bodyPr wrap="square" lIns="0" tIns="0" rIns="0" bIns="0" anchor="t">
            <a:spAutoFit/>
          </a:bodyPr>
          <a:lstStyle/>
          <a:p>
            <a:pPr algn="r">
              <a:lnSpc>
                <a:spcPct val="100000"/>
              </a:lnSpc>
            </a:pPr>
            <a:r>
              <a:rPr sz="1100" b="0" i="0">
                <a:solidFill>
                  <a:srgbClr val="9AA8A7"/>
                </a:solidFill>
                <a:latin typeface="Arial"/>
              </a:rPr>
              <a:t>4</a:t>
            </a:r>
          </a:p>
        </p:txBody>
      </p:sp>
      <p:sp>
        <p:nvSpPr>
          <p:cNvPr id="22" name="Rectangle 21">
            <a:extLst>
              <a:ext uri="{FF2B5EF4-FFF2-40B4-BE49-F238E27FC236}">
                <a16:creationId xmlns:a16="http://schemas.microsoft.com/office/drawing/2014/main" id="{CF044AEA-09F1-B6A7-1205-EC49FB2A3759}"/>
              </a:ext>
            </a:extLst>
          </p:cNvPr>
          <p:cNvSpPr/>
          <p:nvPr/>
        </p:nvSpPr>
        <p:spPr>
          <a:xfrm>
            <a:off x="658368" y="1645920"/>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cxnSp>
        <p:nvCxnSpPr>
          <p:cNvPr id="23" name="Connector 7">
            <a:extLst>
              <a:ext uri="{FF2B5EF4-FFF2-40B4-BE49-F238E27FC236}">
                <a16:creationId xmlns:a16="http://schemas.microsoft.com/office/drawing/2014/main" id="{D8EC689A-F061-5BC2-3870-2A0E774E57C8}"/>
              </a:ext>
            </a:extLst>
          </p:cNvPr>
          <p:cNvCxnSpPr/>
          <p:nvPr/>
        </p:nvCxnSpPr>
        <p:spPr>
          <a:xfrm>
            <a:off x="658368" y="1645920"/>
            <a:ext cx="0" cy="475488"/>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91446A57-A0F7-5512-A492-BF36036BF436}"/>
              </a:ext>
            </a:extLst>
          </p:cNvPr>
          <p:cNvSpPr txBox="1"/>
          <p:nvPr/>
        </p:nvSpPr>
        <p:spPr>
          <a:xfrm>
            <a:off x="822959" y="1680245"/>
            <a:ext cx="14610100" cy="406843"/>
          </a:xfrm>
          <a:prstGeom prst="rect">
            <a:avLst/>
          </a:prstGeom>
          <a:noFill/>
        </p:spPr>
        <p:txBody>
          <a:bodyPr wrap="square" lIns="0" tIns="0" rIns="0" bIns="0" anchor="ctr">
            <a:spAutoFit/>
          </a:bodyPr>
          <a:lstStyle/>
          <a:p>
            <a:pPr algn="l">
              <a:lnSpc>
                <a:spcPct val="112000"/>
              </a:lnSpc>
              <a:spcAft>
                <a:spcPts val="200"/>
              </a:spcAft>
            </a:pPr>
            <a:r>
              <a:rPr sz="1200" b="1" i="0">
                <a:solidFill>
                  <a:srgbClr val="13807B"/>
                </a:solidFill>
                <a:latin typeface="Arial"/>
              </a:rPr>
              <a:t>Concepto</a:t>
            </a:r>
          </a:p>
          <a:p>
            <a:pPr algn="l">
              <a:lnSpc>
                <a:spcPct val="112000"/>
              </a:lnSpc>
              <a:spcAft>
                <a:spcPts val="200"/>
              </a:spcAft>
            </a:pPr>
            <a:r>
              <a:rPr sz="1100" b="0" i="0">
                <a:solidFill>
                  <a:srgbClr val="3E5553"/>
                </a:solidFill>
                <a:latin typeface="Arial"/>
              </a:rPr>
              <a:t>El capital regulatorio no representa un costo hundido; genera un rendimiento que debe incorporarse en el pricing.</a:t>
            </a:r>
          </a:p>
        </p:txBody>
      </p:sp>
      <p:sp>
        <p:nvSpPr>
          <p:cNvPr id="25" name="TextBox 24">
            <a:extLst>
              <a:ext uri="{FF2B5EF4-FFF2-40B4-BE49-F238E27FC236}">
                <a16:creationId xmlns:a16="http://schemas.microsoft.com/office/drawing/2014/main" id="{474222A6-5DF4-E163-0483-03A8D6AA8862}"/>
              </a:ext>
            </a:extLst>
          </p:cNvPr>
          <p:cNvSpPr txBox="1"/>
          <p:nvPr/>
        </p:nvSpPr>
        <p:spPr>
          <a:xfrm>
            <a:off x="658368" y="2322576"/>
            <a:ext cx="14939284" cy="246221"/>
          </a:xfrm>
          <a:prstGeom prst="rect">
            <a:avLst/>
          </a:prstGeom>
          <a:noFill/>
        </p:spPr>
        <p:txBody>
          <a:bodyPr wrap="square" lIns="0" tIns="0" rIns="0" bIns="0" anchor="t">
            <a:spAutoFit/>
          </a:bodyPr>
          <a:lstStyle/>
          <a:p>
            <a:pPr algn="l">
              <a:lnSpc>
                <a:spcPct val="100000"/>
              </a:lnSpc>
            </a:pPr>
            <a:r>
              <a:rPr sz="1600" b="1" i="0">
                <a:solidFill>
                  <a:srgbClr val="0B2E2C"/>
                </a:solidFill>
                <a:latin typeface="Arial"/>
              </a:rPr>
              <a:t>Cómo viaja el capital de un crédito</a:t>
            </a:r>
          </a:p>
        </p:txBody>
      </p:sp>
      <p:cxnSp>
        <p:nvCxnSpPr>
          <p:cNvPr id="26" name="Connector 10">
            <a:extLst>
              <a:ext uri="{FF2B5EF4-FFF2-40B4-BE49-F238E27FC236}">
                <a16:creationId xmlns:a16="http://schemas.microsoft.com/office/drawing/2014/main" id="{2ED3FC35-49C4-445E-56DA-71D523072992}"/>
              </a:ext>
            </a:extLst>
          </p:cNvPr>
          <p:cNvCxnSpPr/>
          <p:nvPr/>
        </p:nvCxnSpPr>
        <p:spPr>
          <a:xfrm>
            <a:off x="658368" y="2615184"/>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8C675C2C-0340-26FC-ABFD-C8D18D4A6738}"/>
              </a:ext>
            </a:extLst>
          </p:cNvPr>
          <p:cNvSpPr/>
          <p:nvPr/>
        </p:nvSpPr>
        <p:spPr>
          <a:xfrm>
            <a:off x="658368" y="2798064"/>
            <a:ext cx="2331720" cy="173736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28" name="TextBox 27">
            <a:extLst>
              <a:ext uri="{FF2B5EF4-FFF2-40B4-BE49-F238E27FC236}">
                <a16:creationId xmlns:a16="http://schemas.microsoft.com/office/drawing/2014/main" id="{DABA83E4-78B9-7766-E163-AE76CAAA8D43}"/>
              </a:ext>
            </a:extLst>
          </p:cNvPr>
          <p:cNvSpPr txBox="1"/>
          <p:nvPr/>
        </p:nvSpPr>
        <p:spPr>
          <a:xfrm>
            <a:off x="658368" y="3072384"/>
            <a:ext cx="2331720" cy="169277"/>
          </a:xfrm>
          <a:prstGeom prst="rect">
            <a:avLst/>
          </a:prstGeom>
          <a:noFill/>
        </p:spPr>
        <p:txBody>
          <a:bodyPr wrap="square" lIns="0" tIns="0" rIns="0" bIns="0" anchor="t">
            <a:spAutoFit/>
          </a:bodyPr>
          <a:lstStyle/>
          <a:p>
            <a:pPr algn="ctr">
              <a:lnSpc>
                <a:spcPct val="100000"/>
              </a:lnSpc>
            </a:pPr>
            <a:r>
              <a:rPr sz="1100" b="1" i="0">
                <a:solidFill>
                  <a:srgbClr val="2F9E98"/>
                </a:solidFill>
                <a:latin typeface="Arial"/>
              </a:rPr>
              <a:t>DESEMBOLSO</a:t>
            </a:r>
          </a:p>
        </p:txBody>
      </p:sp>
      <p:sp>
        <p:nvSpPr>
          <p:cNvPr id="29" name="TextBox 28">
            <a:extLst>
              <a:ext uri="{FF2B5EF4-FFF2-40B4-BE49-F238E27FC236}">
                <a16:creationId xmlns:a16="http://schemas.microsoft.com/office/drawing/2014/main" id="{D45C3F7B-413F-6EF6-D883-6D73962B44C6}"/>
              </a:ext>
            </a:extLst>
          </p:cNvPr>
          <p:cNvSpPr txBox="1"/>
          <p:nvPr/>
        </p:nvSpPr>
        <p:spPr>
          <a:xfrm>
            <a:off x="658368" y="3364992"/>
            <a:ext cx="2331720" cy="492443"/>
          </a:xfrm>
          <a:prstGeom prst="rect">
            <a:avLst/>
          </a:prstGeom>
          <a:noFill/>
        </p:spPr>
        <p:txBody>
          <a:bodyPr wrap="square" lIns="0" tIns="0" rIns="0" bIns="0" anchor="t">
            <a:spAutoFit/>
          </a:bodyPr>
          <a:lstStyle/>
          <a:p>
            <a:pPr algn="ctr">
              <a:lnSpc>
                <a:spcPct val="100000"/>
              </a:lnSpc>
            </a:pPr>
            <a:r>
              <a:rPr sz="3200" b="1" i="0">
                <a:solidFill>
                  <a:srgbClr val="FFFFFF"/>
                </a:solidFill>
                <a:latin typeface="Arial"/>
              </a:rPr>
              <a:t>S/ 100</a:t>
            </a:r>
          </a:p>
        </p:txBody>
      </p:sp>
      <p:sp>
        <p:nvSpPr>
          <p:cNvPr id="30" name="TextBox 29">
            <a:extLst>
              <a:ext uri="{FF2B5EF4-FFF2-40B4-BE49-F238E27FC236}">
                <a16:creationId xmlns:a16="http://schemas.microsoft.com/office/drawing/2014/main" id="{E2D94262-BFE2-D2E4-C600-BE3C59BD39EF}"/>
              </a:ext>
            </a:extLst>
          </p:cNvPr>
          <p:cNvSpPr txBox="1"/>
          <p:nvPr/>
        </p:nvSpPr>
        <p:spPr>
          <a:xfrm>
            <a:off x="658368" y="3858768"/>
            <a:ext cx="2331720" cy="161583"/>
          </a:xfrm>
          <a:prstGeom prst="rect">
            <a:avLst/>
          </a:prstGeom>
          <a:noFill/>
        </p:spPr>
        <p:txBody>
          <a:bodyPr wrap="square" lIns="0" tIns="0" rIns="0" bIns="0" anchor="t">
            <a:spAutoFit/>
          </a:bodyPr>
          <a:lstStyle/>
          <a:p>
            <a:pPr algn="ctr">
              <a:lnSpc>
                <a:spcPct val="100000"/>
              </a:lnSpc>
            </a:pPr>
            <a:r>
              <a:rPr sz="1050" b="0" i="0">
                <a:solidFill>
                  <a:srgbClr val="9EC8C6"/>
                </a:solidFill>
                <a:latin typeface="Arial"/>
              </a:rPr>
              <a:t>crédito colocado</a:t>
            </a:r>
          </a:p>
        </p:txBody>
      </p:sp>
      <p:cxnSp>
        <p:nvCxnSpPr>
          <p:cNvPr id="31" name="Connector 15">
            <a:extLst>
              <a:ext uri="{FF2B5EF4-FFF2-40B4-BE49-F238E27FC236}">
                <a16:creationId xmlns:a16="http://schemas.microsoft.com/office/drawing/2014/main" id="{22FA9234-C41B-AA95-2D7E-C4C884670DA3}"/>
              </a:ext>
            </a:extLst>
          </p:cNvPr>
          <p:cNvCxnSpPr/>
          <p:nvPr/>
        </p:nvCxnSpPr>
        <p:spPr>
          <a:xfrm>
            <a:off x="3099815" y="3666744"/>
            <a:ext cx="347472"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3296C0C4-0B81-AA71-3B17-3D2448063F47}"/>
              </a:ext>
            </a:extLst>
          </p:cNvPr>
          <p:cNvSpPr/>
          <p:nvPr/>
        </p:nvSpPr>
        <p:spPr>
          <a:xfrm>
            <a:off x="3557015" y="2798064"/>
            <a:ext cx="3017520" cy="78638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33" name="TextBox 32">
            <a:extLst>
              <a:ext uri="{FF2B5EF4-FFF2-40B4-BE49-F238E27FC236}">
                <a16:creationId xmlns:a16="http://schemas.microsoft.com/office/drawing/2014/main" id="{74C4BCBA-7E20-7502-24CD-A6684C3B5373}"/>
              </a:ext>
            </a:extLst>
          </p:cNvPr>
          <p:cNvSpPr txBox="1"/>
          <p:nvPr/>
        </p:nvSpPr>
        <p:spPr>
          <a:xfrm>
            <a:off x="3739896" y="2907792"/>
            <a:ext cx="2651760" cy="246221"/>
          </a:xfrm>
          <a:prstGeom prst="rect">
            <a:avLst/>
          </a:prstGeom>
          <a:noFill/>
        </p:spPr>
        <p:txBody>
          <a:bodyPr wrap="square" lIns="0" tIns="0" rIns="0" bIns="0" anchor="t">
            <a:spAutoFit/>
          </a:bodyPr>
          <a:lstStyle/>
          <a:p>
            <a:pPr algn="l">
              <a:lnSpc>
                <a:spcPct val="100000"/>
              </a:lnSpc>
            </a:pPr>
            <a:r>
              <a:rPr sz="1600" b="1" i="0">
                <a:solidFill>
                  <a:srgbClr val="0C514E"/>
                </a:solidFill>
                <a:latin typeface="Arial"/>
              </a:rPr>
              <a:t>Fondeo · 86%</a:t>
            </a:r>
          </a:p>
        </p:txBody>
      </p:sp>
      <p:sp>
        <p:nvSpPr>
          <p:cNvPr id="34" name="TextBox 33">
            <a:extLst>
              <a:ext uri="{FF2B5EF4-FFF2-40B4-BE49-F238E27FC236}">
                <a16:creationId xmlns:a16="http://schemas.microsoft.com/office/drawing/2014/main" id="{7DDE3391-50ED-1ED4-64D4-EA1E061F6B57}"/>
              </a:ext>
            </a:extLst>
          </p:cNvPr>
          <p:cNvSpPr txBox="1"/>
          <p:nvPr/>
        </p:nvSpPr>
        <p:spPr>
          <a:xfrm>
            <a:off x="3739896" y="3182112"/>
            <a:ext cx="2651760"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se financia en el mercado</a:t>
            </a:r>
          </a:p>
        </p:txBody>
      </p:sp>
      <p:sp>
        <p:nvSpPr>
          <p:cNvPr id="35" name="Rectangle 34">
            <a:extLst>
              <a:ext uri="{FF2B5EF4-FFF2-40B4-BE49-F238E27FC236}">
                <a16:creationId xmlns:a16="http://schemas.microsoft.com/office/drawing/2014/main" id="{3F88C67B-D767-C9DE-734B-5F897B4C9935}"/>
              </a:ext>
            </a:extLst>
          </p:cNvPr>
          <p:cNvSpPr/>
          <p:nvPr/>
        </p:nvSpPr>
        <p:spPr>
          <a:xfrm>
            <a:off x="3557015" y="3749039"/>
            <a:ext cx="3017520" cy="786384"/>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36" name="TextBox 35">
            <a:extLst>
              <a:ext uri="{FF2B5EF4-FFF2-40B4-BE49-F238E27FC236}">
                <a16:creationId xmlns:a16="http://schemas.microsoft.com/office/drawing/2014/main" id="{691BBE69-0F84-2B4B-C2D2-ADD314906AD4}"/>
              </a:ext>
            </a:extLst>
          </p:cNvPr>
          <p:cNvSpPr txBox="1"/>
          <p:nvPr/>
        </p:nvSpPr>
        <p:spPr>
          <a:xfrm>
            <a:off x="3739896" y="3858768"/>
            <a:ext cx="2651760" cy="246221"/>
          </a:xfrm>
          <a:prstGeom prst="rect">
            <a:avLst/>
          </a:prstGeom>
          <a:noFill/>
        </p:spPr>
        <p:txBody>
          <a:bodyPr wrap="square" lIns="0" tIns="0" rIns="0" bIns="0" anchor="t">
            <a:spAutoFit/>
          </a:bodyPr>
          <a:lstStyle/>
          <a:p>
            <a:pPr algn="l">
              <a:lnSpc>
                <a:spcPct val="100000"/>
              </a:lnSpc>
            </a:pPr>
            <a:r>
              <a:rPr sz="1600" b="1" i="0">
                <a:solidFill>
                  <a:srgbClr val="C87A0B"/>
                </a:solidFill>
                <a:latin typeface="Arial"/>
              </a:rPr>
              <a:t>Capital regulatorio · 14%</a:t>
            </a:r>
          </a:p>
        </p:txBody>
      </p:sp>
      <p:sp>
        <p:nvSpPr>
          <p:cNvPr id="37" name="TextBox 36">
            <a:extLst>
              <a:ext uri="{FF2B5EF4-FFF2-40B4-BE49-F238E27FC236}">
                <a16:creationId xmlns:a16="http://schemas.microsoft.com/office/drawing/2014/main" id="{C66C8456-C631-A9BF-2BD4-9338BE59F9F7}"/>
              </a:ext>
            </a:extLst>
          </p:cNvPr>
          <p:cNvSpPr txBox="1"/>
          <p:nvPr/>
        </p:nvSpPr>
        <p:spPr>
          <a:xfrm>
            <a:off x="3739896" y="4133087"/>
            <a:ext cx="2651760"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patrimonio efectivo inmovilizado</a:t>
            </a:r>
          </a:p>
        </p:txBody>
      </p:sp>
      <p:cxnSp>
        <p:nvCxnSpPr>
          <p:cNvPr id="38" name="Connector 22">
            <a:extLst>
              <a:ext uri="{FF2B5EF4-FFF2-40B4-BE49-F238E27FC236}">
                <a16:creationId xmlns:a16="http://schemas.microsoft.com/office/drawing/2014/main" id="{49311A0D-3BD3-3522-81FF-0F57CD3E1ADB}"/>
              </a:ext>
            </a:extLst>
          </p:cNvPr>
          <p:cNvCxnSpPr/>
          <p:nvPr/>
        </p:nvCxnSpPr>
        <p:spPr>
          <a:xfrm>
            <a:off x="6684264" y="4142232"/>
            <a:ext cx="347472" cy="0"/>
          </a:xfrm>
          <a:prstGeom prst="line">
            <a:avLst/>
          </a:prstGeom>
          <a:ln w="25400">
            <a:solidFill>
              <a:srgbClr val="C87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0D8673AD-62A7-1B49-9869-14DB25F27C36}"/>
              </a:ext>
            </a:extLst>
          </p:cNvPr>
          <p:cNvSpPr/>
          <p:nvPr/>
        </p:nvSpPr>
        <p:spPr>
          <a:xfrm>
            <a:off x="7141464" y="3749039"/>
            <a:ext cx="3017520" cy="786384"/>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0" name="TextBox 39">
            <a:extLst>
              <a:ext uri="{FF2B5EF4-FFF2-40B4-BE49-F238E27FC236}">
                <a16:creationId xmlns:a16="http://schemas.microsoft.com/office/drawing/2014/main" id="{EEF27A1F-77F9-92F5-9757-6F2006469F15}"/>
              </a:ext>
            </a:extLst>
          </p:cNvPr>
          <p:cNvSpPr txBox="1"/>
          <p:nvPr/>
        </p:nvSpPr>
        <p:spPr>
          <a:xfrm>
            <a:off x="7324344" y="3858768"/>
            <a:ext cx="2651760"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Activo libre de riesgo</a:t>
            </a:r>
          </a:p>
        </p:txBody>
      </p:sp>
      <p:sp>
        <p:nvSpPr>
          <p:cNvPr id="41" name="TextBox 40">
            <a:extLst>
              <a:ext uri="{FF2B5EF4-FFF2-40B4-BE49-F238E27FC236}">
                <a16:creationId xmlns:a16="http://schemas.microsoft.com/office/drawing/2014/main" id="{7D11045B-70CC-B8F1-8446-850AC11AB9D5}"/>
              </a:ext>
            </a:extLst>
          </p:cNvPr>
          <p:cNvSpPr txBox="1"/>
          <p:nvPr/>
        </p:nvSpPr>
        <p:spPr>
          <a:xfrm>
            <a:off x="7324344" y="4133087"/>
            <a:ext cx="2651760"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bonos soberanos / CD · rinde TLR</a:t>
            </a:r>
          </a:p>
        </p:txBody>
      </p:sp>
      <p:cxnSp>
        <p:nvCxnSpPr>
          <p:cNvPr id="42" name="Connector 26">
            <a:extLst>
              <a:ext uri="{FF2B5EF4-FFF2-40B4-BE49-F238E27FC236}">
                <a16:creationId xmlns:a16="http://schemas.microsoft.com/office/drawing/2014/main" id="{29E7BF6A-5E1B-B294-FE79-E17E66B6FB54}"/>
              </a:ext>
            </a:extLst>
          </p:cNvPr>
          <p:cNvCxnSpPr/>
          <p:nvPr/>
        </p:nvCxnSpPr>
        <p:spPr>
          <a:xfrm>
            <a:off x="10268711" y="4142232"/>
            <a:ext cx="347473"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2">
            <a:extLst>
              <a:ext uri="{FF2B5EF4-FFF2-40B4-BE49-F238E27FC236}">
                <a16:creationId xmlns:a16="http://schemas.microsoft.com/office/drawing/2014/main" id="{3A29F0F3-10C3-5D51-CB47-41CB25DA567F}"/>
              </a:ext>
            </a:extLst>
          </p:cNvPr>
          <p:cNvSpPr/>
          <p:nvPr/>
        </p:nvSpPr>
        <p:spPr>
          <a:xfrm>
            <a:off x="10725911" y="3438144"/>
            <a:ext cx="4871740" cy="109728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4" name="TextBox 43">
            <a:extLst>
              <a:ext uri="{FF2B5EF4-FFF2-40B4-BE49-F238E27FC236}">
                <a16:creationId xmlns:a16="http://schemas.microsoft.com/office/drawing/2014/main" id="{80E8CB0C-E1AD-48F9-C465-25632BE63297}"/>
              </a:ext>
            </a:extLst>
          </p:cNvPr>
          <p:cNvSpPr txBox="1"/>
          <p:nvPr/>
        </p:nvSpPr>
        <p:spPr>
          <a:xfrm>
            <a:off x="10945367" y="3602736"/>
            <a:ext cx="4432828" cy="215444"/>
          </a:xfrm>
          <a:prstGeom prst="rect">
            <a:avLst/>
          </a:prstGeom>
          <a:noFill/>
        </p:spPr>
        <p:txBody>
          <a:bodyPr wrap="square" lIns="0" tIns="0" rIns="0" bIns="0" anchor="t">
            <a:spAutoFit/>
          </a:bodyPr>
          <a:lstStyle/>
          <a:p>
            <a:pPr algn="l">
              <a:lnSpc>
                <a:spcPct val="100000"/>
              </a:lnSpc>
            </a:pPr>
            <a:r>
              <a:rPr b="1" i="0">
                <a:solidFill>
                  <a:srgbClr val="FFFFFF"/>
                </a:solidFill>
                <a:latin typeface="Arial"/>
              </a:rPr>
              <a:t>Componente de capital</a:t>
            </a:r>
          </a:p>
        </p:txBody>
      </p:sp>
      <p:sp>
        <p:nvSpPr>
          <p:cNvPr id="45" name="TextBox 44">
            <a:extLst>
              <a:ext uri="{FF2B5EF4-FFF2-40B4-BE49-F238E27FC236}">
                <a16:creationId xmlns:a16="http://schemas.microsoft.com/office/drawing/2014/main" id="{6BB57A16-F5E8-3B62-F389-45F6F27E4308}"/>
              </a:ext>
            </a:extLst>
          </p:cNvPr>
          <p:cNvSpPr txBox="1"/>
          <p:nvPr/>
        </p:nvSpPr>
        <p:spPr>
          <a:xfrm>
            <a:off x="10945367" y="3858768"/>
            <a:ext cx="4432828" cy="369973"/>
          </a:xfrm>
          <a:prstGeom prst="rect">
            <a:avLst/>
          </a:prstGeom>
          <a:noFill/>
        </p:spPr>
        <p:txBody>
          <a:bodyPr wrap="square" lIns="0" tIns="0" rIns="0" bIns="0" anchor="t">
            <a:spAutoFit/>
          </a:bodyPr>
          <a:lstStyle/>
          <a:p>
            <a:pPr algn="l">
              <a:lnSpc>
                <a:spcPct val="120000"/>
              </a:lnSpc>
            </a:pPr>
            <a:r>
              <a:rPr sz="1050" b="0" i="0">
                <a:solidFill>
                  <a:srgbClr val="C6E9E7"/>
                </a:solidFill>
                <a:latin typeface="Arial"/>
              </a:rPr>
              <a:t>El costo neto del capital (COK − TLR) se traslada a la tasa; el rendimiento libre de riesgo la reduce.</a:t>
            </a:r>
          </a:p>
        </p:txBody>
      </p:sp>
      <p:sp>
        <p:nvSpPr>
          <p:cNvPr id="46" name="Rectangle 45">
            <a:extLst>
              <a:ext uri="{FF2B5EF4-FFF2-40B4-BE49-F238E27FC236}">
                <a16:creationId xmlns:a16="http://schemas.microsoft.com/office/drawing/2014/main" id="{50350847-4E7E-6946-AD1A-D89CE4F1A027}"/>
              </a:ext>
            </a:extLst>
          </p:cNvPr>
          <p:cNvSpPr/>
          <p:nvPr/>
        </p:nvSpPr>
        <p:spPr>
          <a:xfrm>
            <a:off x="658368" y="5102352"/>
            <a:ext cx="5577840" cy="23317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7" name="TextBox 46">
            <a:extLst>
              <a:ext uri="{FF2B5EF4-FFF2-40B4-BE49-F238E27FC236}">
                <a16:creationId xmlns:a16="http://schemas.microsoft.com/office/drawing/2014/main" id="{1F95BBA9-3432-98BD-9E53-270A7DED4392}"/>
              </a:ext>
            </a:extLst>
          </p:cNvPr>
          <p:cNvSpPr txBox="1"/>
          <p:nvPr/>
        </p:nvSpPr>
        <p:spPr>
          <a:xfrm>
            <a:off x="932688" y="5303520"/>
            <a:ext cx="5029200" cy="169277"/>
          </a:xfrm>
          <a:prstGeom prst="rect">
            <a:avLst/>
          </a:prstGeom>
          <a:noFill/>
        </p:spPr>
        <p:txBody>
          <a:bodyPr wrap="square" lIns="0" tIns="0" rIns="0" bIns="0" anchor="t">
            <a:spAutoFit/>
          </a:bodyPr>
          <a:lstStyle/>
          <a:p>
            <a:pPr algn="l">
              <a:lnSpc>
                <a:spcPct val="100000"/>
              </a:lnSpc>
            </a:pPr>
            <a:r>
              <a:rPr sz="1100" b="1" i="0">
                <a:solidFill>
                  <a:srgbClr val="2F9E98"/>
                </a:solidFill>
                <a:latin typeface="Arial"/>
              </a:rPr>
              <a:t>CÓMO SE CALCULA</a:t>
            </a:r>
          </a:p>
        </p:txBody>
      </p:sp>
      <p:sp>
        <p:nvSpPr>
          <p:cNvPr id="48" name="Rectangle 47">
            <a:extLst>
              <a:ext uri="{FF2B5EF4-FFF2-40B4-BE49-F238E27FC236}">
                <a16:creationId xmlns:a16="http://schemas.microsoft.com/office/drawing/2014/main" id="{99FE9181-5C13-4317-B161-763A7186E936}"/>
              </a:ext>
            </a:extLst>
          </p:cNvPr>
          <p:cNvSpPr/>
          <p:nvPr/>
        </p:nvSpPr>
        <p:spPr>
          <a:xfrm>
            <a:off x="932688" y="5632704"/>
            <a:ext cx="5029200" cy="60350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800" b="1" i="0">
                <a:solidFill>
                  <a:srgbClr val="FFFFFF"/>
                </a:solidFill>
                <a:latin typeface="Arial"/>
              </a:rPr>
              <a:t>Componente de capital  =  (UL × APR) × (COK − TLR)</a:t>
            </a:r>
          </a:p>
        </p:txBody>
      </p:sp>
      <p:sp>
        <p:nvSpPr>
          <p:cNvPr id="49" name="TextBox 48">
            <a:extLst>
              <a:ext uri="{FF2B5EF4-FFF2-40B4-BE49-F238E27FC236}">
                <a16:creationId xmlns:a16="http://schemas.microsoft.com/office/drawing/2014/main" id="{4722FCDF-E4DC-6DCB-187B-D870E4FFA18E}"/>
              </a:ext>
            </a:extLst>
          </p:cNvPr>
          <p:cNvSpPr txBox="1"/>
          <p:nvPr/>
        </p:nvSpPr>
        <p:spPr>
          <a:xfrm>
            <a:off x="932688" y="6382512"/>
            <a:ext cx="658368" cy="169277"/>
          </a:xfrm>
          <a:prstGeom prst="rect">
            <a:avLst/>
          </a:prstGeom>
          <a:noFill/>
        </p:spPr>
        <p:txBody>
          <a:bodyPr wrap="square" lIns="0" tIns="0" rIns="0" bIns="0" anchor="t">
            <a:spAutoFit/>
          </a:bodyPr>
          <a:lstStyle/>
          <a:p>
            <a:pPr algn="l">
              <a:lnSpc>
                <a:spcPct val="100000"/>
              </a:lnSpc>
            </a:pPr>
            <a:r>
              <a:rPr sz="1100" b="1" i="0">
                <a:solidFill>
                  <a:srgbClr val="2F9E98"/>
                </a:solidFill>
                <a:latin typeface="Arial"/>
              </a:rPr>
              <a:t>UL</a:t>
            </a:r>
          </a:p>
        </p:txBody>
      </p:sp>
      <p:sp>
        <p:nvSpPr>
          <p:cNvPr id="50" name="TextBox 49">
            <a:extLst>
              <a:ext uri="{FF2B5EF4-FFF2-40B4-BE49-F238E27FC236}">
                <a16:creationId xmlns:a16="http://schemas.microsoft.com/office/drawing/2014/main" id="{35B4120E-E830-A0DA-87E6-7725839E1FF3}"/>
              </a:ext>
            </a:extLst>
          </p:cNvPr>
          <p:cNvSpPr txBox="1"/>
          <p:nvPr/>
        </p:nvSpPr>
        <p:spPr>
          <a:xfrm>
            <a:off x="1591056" y="6382512"/>
            <a:ext cx="1856232" cy="163956"/>
          </a:xfrm>
          <a:prstGeom prst="rect">
            <a:avLst/>
          </a:prstGeom>
          <a:noFill/>
        </p:spPr>
        <p:txBody>
          <a:bodyPr wrap="square" lIns="0" tIns="0" rIns="0" bIns="0" anchor="t">
            <a:spAutoFit/>
          </a:bodyPr>
          <a:lstStyle/>
          <a:p>
            <a:pPr algn="l">
              <a:lnSpc>
                <a:spcPct val="110000"/>
              </a:lnSpc>
            </a:pPr>
            <a:r>
              <a:rPr sz="1050" b="0" i="0">
                <a:solidFill>
                  <a:srgbClr val="9EC8C6"/>
                </a:solidFill>
                <a:latin typeface="Arial"/>
              </a:rPr>
              <a:t>capital requerido</a:t>
            </a:r>
          </a:p>
        </p:txBody>
      </p:sp>
      <p:sp>
        <p:nvSpPr>
          <p:cNvPr id="51" name="TextBox 50">
            <a:extLst>
              <a:ext uri="{FF2B5EF4-FFF2-40B4-BE49-F238E27FC236}">
                <a16:creationId xmlns:a16="http://schemas.microsoft.com/office/drawing/2014/main" id="{E1378228-D0D5-F969-45E1-37E45CBA5FB5}"/>
              </a:ext>
            </a:extLst>
          </p:cNvPr>
          <p:cNvSpPr txBox="1"/>
          <p:nvPr/>
        </p:nvSpPr>
        <p:spPr>
          <a:xfrm>
            <a:off x="3447288" y="6382512"/>
            <a:ext cx="658368" cy="169277"/>
          </a:xfrm>
          <a:prstGeom prst="rect">
            <a:avLst/>
          </a:prstGeom>
          <a:noFill/>
        </p:spPr>
        <p:txBody>
          <a:bodyPr wrap="square" lIns="0" tIns="0" rIns="0" bIns="0" anchor="t">
            <a:spAutoFit/>
          </a:bodyPr>
          <a:lstStyle/>
          <a:p>
            <a:pPr algn="l">
              <a:lnSpc>
                <a:spcPct val="100000"/>
              </a:lnSpc>
            </a:pPr>
            <a:r>
              <a:rPr sz="1100" b="1" i="0">
                <a:solidFill>
                  <a:srgbClr val="2F9E98"/>
                </a:solidFill>
                <a:latin typeface="Arial"/>
              </a:rPr>
              <a:t>APR</a:t>
            </a:r>
          </a:p>
        </p:txBody>
      </p:sp>
      <p:sp>
        <p:nvSpPr>
          <p:cNvPr id="52" name="TextBox 51">
            <a:extLst>
              <a:ext uri="{FF2B5EF4-FFF2-40B4-BE49-F238E27FC236}">
                <a16:creationId xmlns:a16="http://schemas.microsoft.com/office/drawing/2014/main" id="{01169ECC-6542-62B1-1902-9E43E91C5327}"/>
              </a:ext>
            </a:extLst>
          </p:cNvPr>
          <p:cNvSpPr txBox="1"/>
          <p:nvPr/>
        </p:nvSpPr>
        <p:spPr>
          <a:xfrm>
            <a:off x="4105656" y="6382512"/>
            <a:ext cx="1856232" cy="163956"/>
          </a:xfrm>
          <a:prstGeom prst="rect">
            <a:avLst/>
          </a:prstGeom>
          <a:noFill/>
        </p:spPr>
        <p:txBody>
          <a:bodyPr wrap="square" lIns="0" tIns="0" rIns="0" bIns="0" anchor="t">
            <a:spAutoFit/>
          </a:bodyPr>
          <a:lstStyle/>
          <a:p>
            <a:pPr algn="l">
              <a:lnSpc>
                <a:spcPct val="110000"/>
              </a:lnSpc>
            </a:pPr>
            <a:r>
              <a:rPr sz="1050" b="0" i="0">
                <a:solidFill>
                  <a:srgbClr val="9EC8C6"/>
                </a:solidFill>
                <a:latin typeface="Arial"/>
              </a:rPr>
              <a:t>activos ponderados por riesgo</a:t>
            </a:r>
          </a:p>
        </p:txBody>
      </p:sp>
      <p:sp>
        <p:nvSpPr>
          <p:cNvPr id="53" name="TextBox 52">
            <a:extLst>
              <a:ext uri="{FF2B5EF4-FFF2-40B4-BE49-F238E27FC236}">
                <a16:creationId xmlns:a16="http://schemas.microsoft.com/office/drawing/2014/main" id="{F53272EC-2ED9-9DB6-31CA-BBA535E6E988}"/>
              </a:ext>
            </a:extLst>
          </p:cNvPr>
          <p:cNvSpPr txBox="1"/>
          <p:nvPr/>
        </p:nvSpPr>
        <p:spPr>
          <a:xfrm>
            <a:off x="932688" y="6784848"/>
            <a:ext cx="658368" cy="169277"/>
          </a:xfrm>
          <a:prstGeom prst="rect">
            <a:avLst/>
          </a:prstGeom>
          <a:noFill/>
        </p:spPr>
        <p:txBody>
          <a:bodyPr wrap="square" lIns="0" tIns="0" rIns="0" bIns="0" anchor="t">
            <a:spAutoFit/>
          </a:bodyPr>
          <a:lstStyle/>
          <a:p>
            <a:pPr algn="l">
              <a:lnSpc>
                <a:spcPct val="100000"/>
              </a:lnSpc>
            </a:pPr>
            <a:r>
              <a:rPr sz="1100" b="1" i="0">
                <a:solidFill>
                  <a:srgbClr val="2F9E98"/>
                </a:solidFill>
                <a:latin typeface="Arial"/>
              </a:rPr>
              <a:t>COK</a:t>
            </a:r>
          </a:p>
        </p:txBody>
      </p:sp>
      <p:sp>
        <p:nvSpPr>
          <p:cNvPr id="54" name="TextBox 53">
            <a:extLst>
              <a:ext uri="{FF2B5EF4-FFF2-40B4-BE49-F238E27FC236}">
                <a16:creationId xmlns:a16="http://schemas.microsoft.com/office/drawing/2014/main" id="{62205716-9C91-A84F-6287-9FCA7E4AB92A}"/>
              </a:ext>
            </a:extLst>
          </p:cNvPr>
          <p:cNvSpPr txBox="1"/>
          <p:nvPr/>
        </p:nvSpPr>
        <p:spPr>
          <a:xfrm>
            <a:off x="1591056" y="6784848"/>
            <a:ext cx="1856232" cy="163956"/>
          </a:xfrm>
          <a:prstGeom prst="rect">
            <a:avLst/>
          </a:prstGeom>
          <a:noFill/>
        </p:spPr>
        <p:txBody>
          <a:bodyPr wrap="square" lIns="0" tIns="0" rIns="0" bIns="0" anchor="t">
            <a:spAutoFit/>
          </a:bodyPr>
          <a:lstStyle/>
          <a:p>
            <a:pPr algn="l">
              <a:lnSpc>
                <a:spcPct val="110000"/>
              </a:lnSpc>
            </a:pPr>
            <a:r>
              <a:rPr sz="1050" b="0" i="0">
                <a:solidFill>
                  <a:srgbClr val="9EC8C6"/>
                </a:solidFill>
                <a:latin typeface="Arial"/>
              </a:rPr>
              <a:t>costo de capital del banco</a:t>
            </a:r>
          </a:p>
        </p:txBody>
      </p:sp>
      <p:sp>
        <p:nvSpPr>
          <p:cNvPr id="55" name="TextBox 54">
            <a:extLst>
              <a:ext uri="{FF2B5EF4-FFF2-40B4-BE49-F238E27FC236}">
                <a16:creationId xmlns:a16="http://schemas.microsoft.com/office/drawing/2014/main" id="{474EBC87-D93F-DF80-D837-08BE6833E6EF}"/>
              </a:ext>
            </a:extLst>
          </p:cNvPr>
          <p:cNvSpPr txBox="1"/>
          <p:nvPr/>
        </p:nvSpPr>
        <p:spPr>
          <a:xfrm>
            <a:off x="3447288" y="6784848"/>
            <a:ext cx="658368" cy="169277"/>
          </a:xfrm>
          <a:prstGeom prst="rect">
            <a:avLst/>
          </a:prstGeom>
          <a:noFill/>
        </p:spPr>
        <p:txBody>
          <a:bodyPr wrap="square" lIns="0" tIns="0" rIns="0" bIns="0" anchor="t">
            <a:spAutoFit/>
          </a:bodyPr>
          <a:lstStyle/>
          <a:p>
            <a:pPr algn="l">
              <a:lnSpc>
                <a:spcPct val="100000"/>
              </a:lnSpc>
            </a:pPr>
            <a:r>
              <a:rPr sz="1100" b="1" i="0">
                <a:solidFill>
                  <a:srgbClr val="2F9E98"/>
                </a:solidFill>
                <a:latin typeface="Arial"/>
              </a:rPr>
              <a:t>TLR</a:t>
            </a:r>
          </a:p>
        </p:txBody>
      </p:sp>
      <p:sp>
        <p:nvSpPr>
          <p:cNvPr id="56" name="TextBox 55">
            <a:extLst>
              <a:ext uri="{FF2B5EF4-FFF2-40B4-BE49-F238E27FC236}">
                <a16:creationId xmlns:a16="http://schemas.microsoft.com/office/drawing/2014/main" id="{DDA4AEB5-700F-7EEA-462C-9BF93951D988}"/>
              </a:ext>
            </a:extLst>
          </p:cNvPr>
          <p:cNvSpPr txBox="1"/>
          <p:nvPr/>
        </p:nvSpPr>
        <p:spPr>
          <a:xfrm>
            <a:off x="4105656" y="6784848"/>
            <a:ext cx="1856232" cy="163956"/>
          </a:xfrm>
          <a:prstGeom prst="rect">
            <a:avLst/>
          </a:prstGeom>
          <a:noFill/>
        </p:spPr>
        <p:txBody>
          <a:bodyPr wrap="square" lIns="0" tIns="0" rIns="0" bIns="0" anchor="t">
            <a:spAutoFit/>
          </a:bodyPr>
          <a:lstStyle/>
          <a:p>
            <a:pPr algn="l">
              <a:lnSpc>
                <a:spcPct val="110000"/>
              </a:lnSpc>
            </a:pPr>
            <a:r>
              <a:rPr sz="1050" b="0" i="0">
                <a:solidFill>
                  <a:srgbClr val="9EC8C6"/>
                </a:solidFill>
                <a:latin typeface="Arial"/>
              </a:rPr>
              <a:t>tasa libre de riesgo</a:t>
            </a:r>
          </a:p>
        </p:txBody>
      </p:sp>
      <p:sp>
        <p:nvSpPr>
          <p:cNvPr id="57" name="Rectangle 56">
            <a:extLst>
              <a:ext uri="{FF2B5EF4-FFF2-40B4-BE49-F238E27FC236}">
                <a16:creationId xmlns:a16="http://schemas.microsoft.com/office/drawing/2014/main" id="{E4062AA2-BE1F-D16D-3353-AFB9B18BB8D9}"/>
              </a:ext>
            </a:extLst>
          </p:cNvPr>
          <p:cNvSpPr/>
          <p:nvPr/>
        </p:nvSpPr>
        <p:spPr>
          <a:xfrm>
            <a:off x="6693407" y="5102352"/>
            <a:ext cx="4937760" cy="2331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8" name="Rectangle 57">
            <a:extLst>
              <a:ext uri="{FF2B5EF4-FFF2-40B4-BE49-F238E27FC236}">
                <a16:creationId xmlns:a16="http://schemas.microsoft.com/office/drawing/2014/main" id="{F0CBEB96-3498-CD65-CA36-4663AEE32409}"/>
              </a:ext>
            </a:extLst>
          </p:cNvPr>
          <p:cNvSpPr/>
          <p:nvPr/>
        </p:nvSpPr>
        <p:spPr>
          <a:xfrm>
            <a:off x="6693407" y="5102352"/>
            <a:ext cx="4937760" cy="329184"/>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FFFFFF"/>
                </a:solidFill>
                <a:latin typeface="Arial"/>
              </a:rPr>
              <a:t>EJEMPLO ILUSTRATIVO</a:t>
            </a:r>
          </a:p>
        </p:txBody>
      </p:sp>
      <p:sp>
        <p:nvSpPr>
          <p:cNvPr id="59" name="TextBox 58">
            <a:extLst>
              <a:ext uri="{FF2B5EF4-FFF2-40B4-BE49-F238E27FC236}">
                <a16:creationId xmlns:a16="http://schemas.microsoft.com/office/drawing/2014/main" id="{41C5FBBF-121C-89C3-F5AB-D069156A207A}"/>
              </a:ext>
            </a:extLst>
          </p:cNvPr>
          <p:cNvSpPr txBox="1"/>
          <p:nvPr/>
        </p:nvSpPr>
        <p:spPr>
          <a:xfrm>
            <a:off x="6931151" y="5577840"/>
            <a:ext cx="3749040" cy="169277"/>
          </a:xfrm>
          <a:prstGeom prst="rect">
            <a:avLst/>
          </a:prstGeom>
          <a:noFill/>
        </p:spPr>
        <p:txBody>
          <a:bodyPr wrap="square" lIns="0" tIns="0" rIns="0" bIns="0" anchor="t">
            <a:spAutoFit/>
          </a:bodyPr>
          <a:lstStyle/>
          <a:p>
            <a:pPr algn="l">
              <a:lnSpc>
                <a:spcPct val="100000"/>
              </a:lnSpc>
            </a:pPr>
            <a:r>
              <a:rPr sz="1100" b="0" i="0">
                <a:solidFill>
                  <a:srgbClr val="3E5553"/>
                </a:solidFill>
                <a:latin typeface="Arial"/>
              </a:rPr>
              <a:t>Capital requerido (UL)</a:t>
            </a:r>
          </a:p>
        </p:txBody>
      </p:sp>
      <p:sp>
        <p:nvSpPr>
          <p:cNvPr id="60" name="TextBox 59">
            <a:extLst>
              <a:ext uri="{FF2B5EF4-FFF2-40B4-BE49-F238E27FC236}">
                <a16:creationId xmlns:a16="http://schemas.microsoft.com/office/drawing/2014/main" id="{381A6426-9F63-B791-B680-2AF2294E84D0}"/>
              </a:ext>
            </a:extLst>
          </p:cNvPr>
          <p:cNvSpPr txBox="1"/>
          <p:nvPr/>
        </p:nvSpPr>
        <p:spPr>
          <a:xfrm>
            <a:off x="10625328" y="5577840"/>
            <a:ext cx="768096" cy="169277"/>
          </a:xfrm>
          <a:prstGeom prst="rect">
            <a:avLst/>
          </a:prstGeom>
          <a:noFill/>
        </p:spPr>
        <p:txBody>
          <a:bodyPr wrap="square" lIns="0" tIns="0" rIns="0" bIns="0" anchor="t">
            <a:spAutoFit/>
          </a:bodyPr>
          <a:lstStyle/>
          <a:p>
            <a:pPr algn="r">
              <a:lnSpc>
                <a:spcPct val="100000"/>
              </a:lnSpc>
            </a:pPr>
            <a:r>
              <a:rPr sz="1100" b="1" i="0">
                <a:solidFill>
                  <a:srgbClr val="0B2E2C"/>
                </a:solidFill>
                <a:latin typeface="Arial"/>
              </a:rPr>
              <a:t>14%</a:t>
            </a:r>
          </a:p>
        </p:txBody>
      </p:sp>
      <p:sp>
        <p:nvSpPr>
          <p:cNvPr id="61" name="TextBox 60">
            <a:extLst>
              <a:ext uri="{FF2B5EF4-FFF2-40B4-BE49-F238E27FC236}">
                <a16:creationId xmlns:a16="http://schemas.microsoft.com/office/drawing/2014/main" id="{3ED2164B-7E1D-39D1-3EC6-782D60C10242}"/>
              </a:ext>
            </a:extLst>
          </p:cNvPr>
          <p:cNvSpPr txBox="1"/>
          <p:nvPr/>
        </p:nvSpPr>
        <p:spPr>
          <a:xfrm>
            <a:off x="6931151" y="5870448"/>
            <a:ext cx="3749040" cy="169277"/>
          </a:xfrm>
          <a:prstGeom prst="rect">
            <a:avLst/>
          </a:prstGeom>
          <a:noFill/>
        </p:spPr>
        <p:txBody>
          <a:bodyPr wrap="square" lIns="0" tIns="0" rIns="0" bIns="0" anchor="t">
            <a:spAutoFit/>
          </a:bodyPr>
          <a:lstStyle/>
          <a:p>
            <a:pPr algn="l">
              <a:lnSpc>
                <a:spcPct val="100000"/>
              </a:lnSpc>
            </a:pPr>
            <a:r>
              <a:rPr sz="1100" b="0" i="0">
                <a:solidFill>
                  <a:srgbClr val="3E5553"/>
                </a:solidFill>
                <a:latin typeface="Arial"/>
              </a:rPr>
              <a:t>APR</a:t>
            </a:r>
          </a:p>
        </p:txBody>
      </p:sp>
      <p:sp>
        <p:nvSpPr>
          <p:cNvPr id="62" name="TextBox 61">
            <a:extLst>
              <a:ext uri="{FF2B5EF4-FFF2-40B4-BE49-F238E27FC236}">
                <a16:creationId xmlns:a16="http://schemas.microsoft.com/office/drawing/2014/main" id="{88B335CE-969F-B749-CEE6-6F8647EF5E9C}"/>
              </a:ext>
            </a:extLst>
          </p:cNvPr>
          <p:cNvSpPr txBox="1"/>
          <p:nvPr/>
        </p:nvSpPr>
        <p:spPr>
          <a:xfrm>
            <a:off x="10625328" y="5870448"/>
            <a:ext cx="768096" cy="169277"/>
          </a:xfrm>
          <a:prstGeom prst="rect">
            <a:avLst/>
          </a:prstGeom>
          <a:noFill/>
        </p:spPr>
        <p:txBody>
          <a:bodyPr wrap="square" lIns="0" tIns="0" rIns="0" bIns="0" anchor="t">
            <a:spAutoFit/>
          </a:bodyPr>
          <a:lstStyle/>
          <a:p>
            <a:pPr algn="r">
              <a:lnSpc>
                <a:spcPct val="100000"/>
              </a:lnSpc>
            </a:pPr>
            <a:r>
              <a:rPr sz="1100" b="1" i="0">
                <a:solidFill>
                  <a:srgbClr val="0B2E2C"/>
                </a:solidFill>
                <a:latin typeface="Arial"/>
              </a:rPr>
              <a:t>90%</a:t>
            </a:r>
          </a:p>
        </p:txBody>
      </p:sp>
      <p:sp>
        <p:nvSpPr>
          <p:cNvPr id="63" name="TextBox 62">
            <a:extLst>
              <a:ext uri="{FF2B5EF4-FFF2-40B4-BE49-F238E27FC236}">
                <a16:creationId xmlns:a16="http://schemas.microsoft.com/office/drawing/2014/main" id="{48322536-DE5E-5ADA-5C30-206C538E7A70}"/>
              </a:ext>
            </a:extLst>
          </p:cNvPr>
          <p:cNvSpPr txBox="1"/>
          <p:nvPr/>
        </p:nvSpPr>
        <p:spPr>
          <a:xfrm>
            <a:off x="6931151" y="6163056"/>
            <a:ext cx="3749040" cy="169277"/>
          </a:xfrm>
          <a:prstGeom prst="rect">
            <a:avLst/>
          </a:prstGeom>
          <a:noFill/>
        </p:spPr>
        <p:txBody>
          <a:bodyPr wrap="square" lIns="0" tIns="0" rIns="0" bIns="0" anchor="t">
            <a:spAutoFit/>
          </a:bodyPr>
          <a:lstStyle/>
          <a:p>
            <a:pPr algn="l">
              <a:lnSpc>
                <a:spcPct val="100000"/>
              </a:lnSpc>
            </a:pPr>
            <a:r>
              <a:rPr sz="1100" b="0" i="0">
                <a:solidFill>
                  <a:srgbClr val="3E5553"/>
                </a:solidFill>
                <a:latin typeface="Arial"/>
              </a:rPr>
              <a:t>COK</a:t>
            </a:r>
          </a:p>
        </p:txBody>
      </p:sp>
      <p:sp>
        <p:nvSpPr>
          <p:cNvPr id="128" name="TextBox 127">
            <a:extLst>
              <a:ext uri="{FF2B5EF4-FFF2-40B4-BE49-F238E27FC236}">
                <a16:creationId xmlns:a16="http://schemas.microsoft.com/office/drawing/2014/main" id="{B05EF8FC-AD88-9B88-C3C6-011F08114884}"/>
              </a:ext>
            </a:extLst>
          </p:cNvPr>
          <p:cNvSpPr txBox="1"/>
          <p:nvPr/>
        </p:nvSpPr>
        <p:spPr>
          <a:xfrm>
            <a:off x="10625328" y="6163056"/>
            <a:ext cx="768096" cy="169277"/>
          </a:xfrm>
          <a:prstGeom prst="rect">
            <a:avLst/>
          </a:prstGeom>
          <a:noFill/>
        </p:spPr>
        <p:txBody>
          <a:bodyPr wrap="square" lIns="0" tIns="0" rIns="0" bIns="0" anchor="t">
            <a:spAutoFit/>
          </a:bodyPr>
          <a:lstStyle/>
          <a:p>
            <a:pPr algn="r">
              <a:lnSpc>
                <a:spcPct val="100000"/>
              </a:lnSpc>
            </a:pPr>
            <a:r>
              <a:rPr sz="1100" b="1" i="0">
                <a:solidFill>
                  <a:srgbClr val="0B2E2C"/>
                </a:solidFill>
                <a:latin typeface="Arial"/>
              </a:rPr>
              <a:t>13.50%</a:t>
            </a:r>
          </a:p>
        </p:txBody>
      </p:sp>
      <p:sp>
        <p:nvSpPr>
          <p:cNvPr id="129" name="TextBox 128">
            <a:extLst>
              <a:ext uri="{FF2B5EF4-FFF2-40B4-BE49-F238E27FC236}">
                <a16:creationId xmlns:a16="http://schemas.microsoft.com/office/drawing/2014/main" id="{A7F0028D-C384-3202-2BF5-50029482F3E3}"/>
              </a:ext>
            </a:extLst>
          </p:cNvPr>
          <p:cNvSpPr txBox="1"/>
          <p:nvPr/>
        </p:nvSpPr>
        <p:spPr>
          <a:xfrm>
            <a:off x="6931151" y="6455664"/>
            <a:ext cx="3749040" cy="169277"/>
          </a:xfrm>
          <a:prstGeom prst="rect">
            <a:avLst/>
          </a:prstGeom>
          <a:noFill/>
        </p:spPr>
        <p:txBody>
          <a:bodyPr wrap="square" lIns="0" tIns="0" rIns="0" bIns="0" anchor="t">
            <a:spAutoFit/>
          </a:bodyPr>
          <a:lstStyle/>
          <a:p>
            <a:pPr algn="l">
              <a:lnSpc>
                <a:spcPct val="100000"/>
              </a:lnSpc>
            </a:pPr>
            <a:r>
              <a:rPr sz="1100" b="0" i="0">
                <a:solidFill>
                  <a:srgbClr val="3E5553"/>
                </a:solidFill>
                <a:latin typeface="Arial"/>
              </a:rPr>
              <a:t>TLR</a:t>
            </a:r>
          </a:p>
        </p:txBody>
      </p:sp>
      <p:sp>
        <p:nvSpPr>
          <p:cNvPr id="130" name="TextBox 129">
            <a:extLst>
              <a:ext uri="{FF2B5EF4-FFF2-40B4-BE49-F238E27FC236}">
                <a16:creationId xmlns:a16="http://schemas.microsoft.com/office/drawing/2014/main" id="{6AA6E65E-33F5-6070-65AC-18D8CC84F8DE}"/>
              </a:ext>
            </a:extLst>
          </p:cNvPr>
          <p:cNvSpPr txBox="1"/>
          <p:nvPr/>
        </p:nvSpPr>
        <p:spPr>
          <a:xfrm>
            <a:off x="10625328" y="6455664"/>
            <a:ext cx="768096" cy="169277"/>
          </a:xfrm>
          <a:prstGeom prst="rect">
            <a:avLst/>
          </a:prstGeom>
          <a:noFill/>
        </p:spPr>
        <p:txBody>
          <a:bodyPr wrap="square" lIns="0" tIns="0" rIns="0" bIns="0" anchor="t">
            <a:spAutoFit/>
          </a:bodyPr>
          <a:lstStyle/>
          <a:p>
            <a:pPr algn="r">
              <a:lnSpc>
                <a:spcPct val="100000"/>
              </a:lnSpc>
            </a:pPr>
            <a:r>
              <a:rPr sz="1100" b="1" i="0">
                <a:solidFill>
                  <a:srgbClr val="0B2E2C"/>
                </a:solidFill>
                <a:latin typeface="Arial"/>
              </a:rPr>
              <a:t>4.04%</a:t>
            </a:r>
          </a:p>
        </p:txBody>
      </p:sp>
      <p:cxnSp>
        <p:nvCxnSpPr>
          <p:cNvPr id="131" name="Connector 51">
            <a:extLst>
              <a:ext uri="{FF2B5EF4-FFF2-40B4-BE49-F238E27FC236}">
                <a16:creationId xmlns:a16="http://schemas.microsoft.com/office/drawing/2014/main" id="{D1D4E118-45C9-FADA-9DD3-AB015B2F043F}"/>
              </a:ext>
            </a:extLst>
          </p:cNvPr>
          <p:cNvCxnSpPr/>
          <p:nvPr/>
        </p:nvCxnSpPr>
        <p:spPr>
          <a:xfrm>
            <a:off x="6931151" y="6766560"/>
            <a:ext cx="446227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32" name="Rectangle 131">
            <a:extLst>
              <a:ext uri="{FF2B5EF4-FFF2-40B4-BE49-F238E27FC236}">
                <a16:creationId xmlns:a16="http://schemas.microsoft.com/office/drawing/2014/main" id="{CA3E737A-5B0D-C2FC-D38E-D36D91CEAE40}"/>
              </a:ext>
            </a:extLst>
          </p:cNvPr>
          <p:cNvSpPr/>
          <p:nvPr/>
        </p:nvSpPr>
        <p:spPr>
          <a:xfrm>
            <a:off x="6931151" y="6876288"/>
            <a:ext cx="4462272" cy="475488"/>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600" b="1" i="0">
                <a:solidFill>
                  <a:srgbClr val="C87A0B"/>
                </a:solidFill>
                <a:latin typeface="Arial"/>
              </a:rPr>
              <a:t>(14% × 90%) × (13.5% − 4.04%)  =  1.19%</a:t>
            </a:r>
          </a:p>
        </p:txBody>
      </p:sp>
      <p:sp>
        <p:nvSpPr>
          <p:cNvPr id="133" name="TextBox 132">
            <a:extLst>
              <a:ext uri="{FF2B5EF4-FFF2-40B4-BE49-F238E27FC236}">
                <a16:creationId xmlns:a16="http://schemas.microsoft.com/office/drawing/2014/main" id="{AEFD2329-A6C3-C229-4A7D-126566DA45CB}"/>
              </a:ext>
            </a:extLst>
          </p:cNvPr>
          <p:cNvSpPr txBox="1"/>
          <p:nvPr/>
        </p:nvSpPr>
        <p:spPr>
          <a:xfrm>
            <a:off x="12088367" y="5084064"/>
            <a:ext cx="3509284" cy="246221"/>
          </a:xfrm>
          <a:prstGeom prst="rect">
            <a:avLst/>
          </a:prstGeom>
          <a:noFill/>
        </p:spPr>
        <p:txBody>
          <a:bodyPr wrap="square" lIns="0" tIns="0" rIns="0" bIns="0" anchor="t">
            <a:spAutoFit/>
          </a:bodyPr>
          <a:lstStyle/>
          <a:p>
            <a:pPr algn="l">
              <a:lnSpc>
                <a:spcPct val="100000"/>
              </a:lnSpc>
            </a:pPr>
            <a:r>
              <a:rPr sz="1600" b="1" i="0">
                <a:solidFill>
                  <a:srgbClr val="0B2E2C"/>
                </a:solidFill>
                <a:latin typeface="Arial"/>
              </a:rPr>
              <a:t>Por qué existe este componente</a:t>
            </a:r>
          </a:p>
        </p:txBody>
      </p:sp>
      <p:cxnSp>
        <p:nvCxnSpPr>
          <p:cNvPr id="134" name="Connector 54">
            <a:extLst>
              <a:ext uri="{FF2B5EF4-FFF2-40B4-BE49-F238E27FC236}">
                <a16:creationId xmlns:a16="http://schemas.microsoft.com/office/drawing/2014/main" id="{BEE26016-6FB5-FAB0-F36C-C4B9B80AB010}"/>
              </a:ext>
            </a:extLst>
          </p:cNvPr>
          <p:cNvCxnSpPr/>
          <p:nvPr/>
        </p:nvCxnSpPr>
        <p:spPr>
          <a:xfrm>
            <a:off x="12088367" y="5358384"/>
            <a:ext cx="3509285"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35" name="Rectangle 134">
            <a:extLst>
              <a:ext uri="{FF2B5EF4-FFF2-40B4-BE49-F238E27FC236}">
                <a16:creationId xmlns:a16="http://schemas.microsoft.com/office/drawing/2014/main" id="{D5272F07-EE28-D4C8-18A3-09375479E298}"/>
              </a:ext>
            </a:extLst>
          </p:cNvPr>
          <p:cNvSpPr/>
          <p:nvPr/>
        </p:nvSpPr>
        <p:spPr>
          <a:xfrm>
            <a:off x="12088367" y="5486400"/>
            <a:ext cx="3509284" cy="45720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36" name="Rectangle 135">
            <a:extLst>
              <a:ext uri="{FF2B5EF4-FFF2-40B4-BE49-F238E27FC236}">
                <a16:creationId xmlns:a16="http://schemas.microsoft.com/office/drawing/2014/main" id="{50CB0F8A-EE15-7D7F-425F-39616812D9E5}"/>
              </a:ext>
            </a:extLst>
          </p:cNvPr>
          <p:cNvSpPr/>
          <p:nvPr/>
        </p:nvSpPr>
        <p:spPr>
          <a:xfrm>
            <a:off x="12088367" y="5486400"/>
            <a:ext cx="36576" cy="4572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37" name="TextBox 136">
            <a:extLst>
              <a:ext uri="{FF2B5EF4-FFF2-40B4-BE49-F238E27FC236}">
                <a16:creationId xmlns:a16="http://schemas.microsoft.com/office/drawing/2014/main" id="{8C63B687-46DF-F757-C7CA-E6970C9B9233}"/>
              </a:ext>
            </a:extLst>
          </p:cNvPr>
          <p:cNvSpPr txBox="1"/>
          <p:nvPr/>
        </p:nvSpPr>
        <p:spPr>
          <a:xfrm>
            <a:off x="12252959" y="5550475"/>
            <a:ext cx="3180100" cy="347339"/>
          </a:xfrm>
          <a:prstGeom prst="rect">
            <a:avLst/>
          </a:prstGeom>
          <a:noFill/>
        </p:spPr>
        <p:txBody>
          <a:bodyPr wrap="square" lIns="0" tIns="0" rIns="0" bIns="0" anchor="ctr">
            <a:spAutoFit/>
          </a:bodyPr>
          <a:lstStyle/>
          <a:p>
            <a:pPr algn="l">
              <a:lnSpc>
                <a:spcPct val="112000"/>
              </a:lnSpc>
              <a:spcAft>
                <a:spcPts val="400"/>
              </a:spcAft>
            </a:pPr>
            <a:r>
              <a:rPr sz="1050" b="0" i="0">
                <a:solidFill>
                  <a:srgbClr val="3E5553"/>
                </a:solidFill>
                <a:latin typeface="Arial"/>
              </a:rPr>
              <a:t>Cumple el requerimiento regulatorio de patrimonio efectivo</a:t>
            </a:r>
          </a:p>
        </p:txBody>
      </p:sp>
      <p:sp>
        <p:nvSpPr>
          <p:cNvPr id="138" name="Rectangle 137">
            <a:extLst>
              <a:ext uri="{FF2B5EF4-FFF2-40B4-BE49-F238E27FC236}">
                <a16:creationId xmlns:a16="http://schemas.microsoft.com/office/drawing/2014/main" id="{B48F9F35-09DE-F44F-1D0A-E0454DA83595}"/>
              </a:ext>
            </a:extLst>
          </p:cNvPr>
          <p:cNvSpPr/>
          <p:nvPr/>
        </p:nvSpPr>
        <p:spPr>
          <a:xfrm>
            <a:off x="12088367" y="5998464"/>
            <a:ext cx="3509284" cy="45720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39" name="Rectangle 138">
            <a:extLst>
              <a:ext uri="{FF2B5EF4-FFF2-40B4-BE49-F238E27FC236}">
                <a16:creationId xmlns:a16="http://schemas.microsoft.com/office/drawing/2014/main" id="{2F2834DE-0FEF-BA28-0D6B-9C4CA0022BAD}"/>
              </a:ext>
            </a:extLst>
          </p:cNvPr>
          <p:cNvSpPr/>
          <p:nvPr/>
        </p:nvSpPr>
        <p:spPr>
          <a:xfrm>
            <a:off x="12088367" y="5998464"/>
            <a:ext cx="36576" cy="4572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40" name="TextBox 139">
            <a:extLst>
              <a:ext uri="{FF2B5EF4-FFF2-40B4-BE49-F238E27FC236}">
                <a16:creationId xmlns:a16="http://schemas.microsoft.com/office/drawing/2014/main" id="{6AFF6223-5BF9-22AA-75EC-FC0C21A236B6}"/>
              </a:ext>
            </a:extLst>
          </p:cNvPr>
          <p:cNvSpPr txBox="1"/>
          <p:nvPr/>
        </p:nvSpPr>
        <p:spPr>
          <a:xfrm>
            <a:off x="12252959" y="6062539"/>
            <a:ext cx="3180100" cy="347339"/>
          </a:xfrm>
          <a:prstGeom prst="rect">
            <a:avLst/>
          </a:prstGeom>
          <a:noFill/>
        </p:spPr>
        <p:txBody>
          <a:bodyPr wrap="square" lIns="0" tIns="0" rIns="0" bIns="0" anchor="ctr">
            <a:spAutoFit/>
          </a:bodyPr>
          <a:lstStyle/>
          <a:p>
            <a:pPr algn="l">
              <a:lnSpc>
                <a:spcPct val="112000"/>
              </a:lnSpc>
              <a:spcAft>
                <a:spcPts val="400"/>
              </a:spcAft>
            </a:pPr>
            <a:r>
              <a:rPr sz="1050" b="0" i="0">
                <a:solidFill>
                  <a:srgbClr val="3E5553"/>
                </a:solidFill>
                <a:latin typeface="Arial"/>
              </a:rPr>
              <a:t>Reconoce el costo de oportunidad del capital inmovilizado</a:t>
            </a:r>
          </a:p>
        </p:txBody>
      </p:sp>
      <p:sp>
        <p:nvSpPr>
          <p:cNvPr id="141" name="Rectangle 140">
            <a:extLst>
              <a:ext uri="{FF2B5EF4-FFF2-40B4-BE49-F238E27FC236}">
                <a16:creationId xmlns:a16="http://schemas.microsoft.com/office/drawing/2014/main" id="{E441AE45-FFBA-9659-93FC-752C63ACEA55}"/>
              </a:ext>
            </a:extLst>
          </p:cNvPr>
          <p:cNvSpPr/>
          <p:nvPr/>
        </p:nvSpPr>
        <p:spPr>
          <a:xfrm>
            <a:off x="12088367" y="6510528"/>
            <a:ext cx="3509284" cy="45720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42" name="Rectangle 141">
            <a:extLst>
              <a:ext uri="{FF2B5EF4-FFF2-40B4-BE49-F238E27FC236}">
                <a16:creationId xmlns:a16="http://schemas.microsoft.com/office/drawing/2014/main" id="{04FB67D7-07BE-0136-9A48-AC3DDE370D17}"/>
              </a:ext>
            </a:extLst>
          </p:cNvPr>
          <p:cNvSpPr/>
          <p:nvPr/>
        </p:nvSpPr>
        <p:spPr>
          <a:xfrm>
            <a:off x="12088367" y="6510528"/>
            <a:ext cx="36576" cy="4572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43" name="TextBox 142">
            <a:extLst>
              <a:ext uri="{FF2B5EF4-FFF2-40B4-BE49-F238E27FC236}">
                <a16:creationId xmlns:a16="http://schemas.microsoft.com/office/drawing/2014/main" id="{209F4A35-051C-482E-8574-8326602E6837}"/>
              </a:ext>
            </a:extLst>
          </p:cNvPr>
          <p:cNvSpPr txBox="1"/>
          <p:nvPr/>
        </p:nvSpPr>
        <p:spPr>
          <a:xfrm>
            <a:off x="12252959" y="6574602"/>
            <a:ext cx="3180100" cy="347339"/>
          </a:xfrm>
          <a:prstGeom prst="rect">
            <a:avLst/>
          </a:prstGeom>
          <a:noFill/>
        </p:spPr>
        <p:txBody>
          <a:bodyPr wrap="square" lIns="0" tIns="0" rIns="0" bIns="0" anchor="ctr">
            <a:spAutoFit/>
          </a:bodyPr>
          <a:lstStyle/>
          <a:p>
            <a:pPr algn="l">
              <a:lnSpc>
                <a:spcPct val="112000"/>
              </a:lnSpc>
              <a:spcAft>
                <a:spcPts val="400"/>
              </a:spcAft>
            </a:pPr>
            <a:r>
              <a:rPr sz="1050" b="0" i="0">
                <a:solidFill>
                  <a:srgbClr val="3E5553"/>
                </a:solidFill>
                <a:latin typeface="Arial"/>
              </a:rPr>
              <a:t>Descuenta el rendimiento de los activos libres de riesgo</a:t>
            </a:r>
          </a:p>
        </p:txBody>
      </p:sp>
      <p:sp>
        <p:nvSpPr>
          <p:cNvPr id="144" name="Rectangle 143">
            <a:extLst>
              <a:ext uri="{FF2B5EF4-FFF2-40B4-BE49-F238E27FC236}">
                <a16:creationId xmlns:a16="http://schemas.microsoft.com/office/drawing/2014/main" id="{ED06848A-6AF5-E022-2D9D-73A948B377DB}"/>
              </a:ext>
            </a:extLst>
          </p:cNvPr>
          <p:cNvSpPr/>
          <p:nvPr/>
        </p:nvSpPr>
        <p:spPr>
          <a:xfrm>
            <a:off x="12088367" y="7022592"/>
            <a:ext cx="3509284" cy="45720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45" name="Rectangle 144">
            <a:extLst>
              <a:ext uri="{FF2B5EF4-FFF2-40B4-BE49-F238E27FC236}">
                <a16:creationId xmlns:a16="http://schemas.microsoft.com/office/drawing/2014/main" id="{73D5C779-8CFB-9B7E-379B-2C2B5FD09CBA}"/>
              </a:ext>
            </a:extLst>
          </p:cNvPr>
          <p:cNvSpPr/>
          <p:nvPr/>
        </p:nvSpPr>
        <p:spPr>
          <a:xfrm>
            <a:off x="12088367" y="7022592"/>
            <a:ext cx="36576" cy="4572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46" name="TextBox 145">
            <a:extLst>
              <a:ext uri="{FF2B5EF4-FFF2-40B4-BE49-F238E27FC236}">
                <a16:creationId xmlns:a16="http://schemas.microsoft.com/office/drawing/2014/main" id="{40696DE1-DB7D-1942-B649-3A42AD8CDF50}"/>
              </a:ext>
            </a:extLst>
          </p:cNvPr>
          <p:cNvSpPr txBox="1"/>
          <p:nvPr/>
        </p:nvSpPr>
        <p:spPr>
          <a:xfrm>
            <a:off x="12252959" y="7086667"/>
            <a:ext cx="3180100" cy="347339"/>
          </a:xfrm>
          <a:prstGeom prst="rect">
            <a:avLst/>
          </a:prstGeom>
          <a:noFill/>
        </p:spPr>
        <p:txBody>
          <a:bodyPr wrap="square" lIns="0" tIns="0" rIns="0" bIns="0" anchor="ctr">
            <a:spAutoFit/>
          </a:bodyPr>
          <a:lstStyle/>
          <a:p>
            <a:pPr algn="l">
              <a:lnSpc>
                <a:spcPct val="112000"/>
              </a:lnSpc>
              <a:spcAft>
                <a:spcPts val="400"/>
              </a:spcAft>
            </a:pPr>
            <a:r>
              <a:rPr sz="1050" b="0" i="0">
                <a:solidFill>
                  <a:srgbClr val="3E5553"/>
                </a:solidFill>
                <a:latin typeface="Arial"/>
              </a:rPr>
              <a:t>Produce una tasa alineada al retorno económico esperado</a:t>
            </a:r>
          </a:p>
        </p:txBody>
      </p:sp>
      <p:sp>
        <p:nvSpPr>
          <p:cNvPr id="147" name="Rectangle 146">
            <a:extLst>
              <a:ext uri="{FF2B5EF4-FFF2-40B4-BE49-F238E27FC236}">
                <a16:creationId xmlns:a16="http://schemas.microsoft.com/office/drawing/2014/main" id="{7058C4BC-F1D6-EA96-1AD0-F260F229F7E9}"/>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cxnSp>
        <p:nvCxnSpPr>
          <p:cNvPr id="148" name="Connector 68">
            <a:extLst>
              <a:ext uri="{FF2B5EF4-FFF2-40B4-BE49-F238E27FC236}">
                <a16:creationId xmlns:a16="http://schemas.microsoft.com/office/drawing/2014/main" id="{E3456CCC-8251-ECC6-EF7F-944CF7423F02}"/>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4B2EC588-ACF9-47EF-C374-3C7576D66322}"/>
              </a:ext>
            </a:extLst>
          </p:cNvPr>
          <p:cNvSpPr txBox="1"/>
          <p:nvPr/>
        </p:nvSpPr>
        <p:spPr>
          <a:xfrm>
            <a:off x="896112" y="8271715"/>
            <a:ext cx="14482084" cy="226665"/>
          </a:xfrm>
          <a:prstGeom prst="rect">
            <a:avLst/>
          </a:prstGeom>
          <a:noFill/>
        </p:spPr>
        <p:txBody>
          <a:bodyPr wrap="square" lIns="0" tIns="0" rIns="0" bIns="0" anchor="ctr">
            <a:spAutoFit/>
          </a:bodyPr>
          <a:lstStyle/>
          <a:p>
            <a:pPr algn="l">
              <a:lnSpc>
                <a:spcPct val="115000"/>
              </a:lnSpc>
              <a:spcAft>
                <a:spcPts val="400"/>
              </a:spcAft>
            </a:pPr>
            <a:r>
              <a:rPr b="1" i="0">
                <a:solidFill>
                  <a:srgbClr val="0C514E"/>
                </a:solidFill>
                <a:latin typeface="Arial"/>
              </a:rPr>
              <a:t>Con este componente la tasa refleja el retorno económico real del crédito: ni castiga el capital dos veces ni lo regala.</a:t>
            </a:r>
          </a:p>
        </p:txBody>
      </p:sp>
    </p:spTree>
    <p:extLst>
      <p:ext uri="{BB962C8B-B14F-4D97-AF65-F5344CB8AC3E}">
        <p14:creationId xmlns:p14="http://schemas.microsoft.com/office/powerpoint/2010/main" val="3680626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DB0C4-E6EB-D474-23A9-228A4ED367A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94D886F-AA87-8961-43D9-B57B266D5A35}"/>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60A3A4A7-729D-002C-C45B-BAD9F098CC53}"/>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Beneficio de Capital</a:t>
            </a:r>
          </a:p>
        </p:txBody>
      </p:sp>
      <p:cxnSp>
        <p:nvCxnSpPr>
          <p:cNvPr id="8" name="Connector 3">
            <a:extLst>
              <a:ext uri="{FF2B5EF4-FFF2-40B4-BE49-F238E27FC236}">
                <a16:creationId xmlns:a16="http://schemas.microsoft.com/office/drawing/2014/main" id="{FBF57C13-F476-5BE5-EF86-580F3A1CBFCB}"/>
              </a:ext>
            </a:extLst>
          </p:cNvPr>
          <p:cNvCxnSpPr/>
          <p:nvPr/>
        </p:nvCxnSpPr>
        <p:spPr>
          <a:xfrm>
            <a:off x="658368" y="115519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cxnSp>
        <p:nvCxnSpPr>
          <p:cNvPr id="2" name="Connector 3">
            <a:extLst>
              <a:ext uri="{FF2B5EF4-FFF2-40B4-BE49-F238E27FC236}">
                <a16:creationId xmlns:a16="http://schemas.microsoft.com/office/drawing/2014/main" id="{C43BFFB7-4B66-CABE-4FAA-8D0237BA0E01}"/>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1B601DFA-6281-7A0D-5A1A-253156CD3386}"/>
              </a:ext>
            </a:extLst>
          </p:cNvPr>
          <p:cNvSpPr/>
          <p:nvPr/>
        </p:nvSpPr>
        <p:spPr>
          <a:xfrm>
            <a:off x="658368" y="1645920"/>
            <a:ext cx="14939284" cy="804672"/>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cxnSp>
        <p:nvCxnSpPr>
          <p:cNvPr id="151" name="Connector 8">
            <a:extLst>
              <a:ext uri="{FF2B5EF4-FFF2-40B4-BE49-F238E27FC236}">
                <a16:creationId xmlns:a16="http://schemas.microsoft.com/office/drawing/2014/main" id="{2700E53E-C07B-05FE-A3AA-D533C9F26665}"/>
              </a:ext>
            </a:extLst>
          </p:cNvPr>
          <p:cNvCxnSpPr/>
          <p:nvPr/>
        </p:nvCxnSpPr>
        <p:spPr>
          <a:xfrm>
            <a:off x="658368" y="1645920"/>
            <a:ext cx="0" cy="804672"/>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52" name="TextBox 151">
            <a:extLst>
              <a:ext uri="{FF2B5EF4-FFF2-40B4-BE49-F238E27FC236}">
                <a16:creationId xmlns:a16="http://schemas.microsoft.com/office/drawing/2014/main" id="{CE8F41E1-B1EC-F806-4A0B-8C9DC994A02E}"/>
              </a:ext>
            </a:extLst>
          </p:cNvPr>
          <p:cNvSpPr txBox="1"/>
          <p:nvPr/>
        </p:nvSpPr>
        <p:spPr>
          <a:xfrm>
            <a:off x="822959" y="1713487"/>
            <a:ext cx="14610100" cy="669542"/>
          </a:xfrm>
          <a:prstGeom prst="rect">
            <a:avLst/>
          </a:prstGeom>
          <a:noFill/>
        </p:spPr>
        <p:txBody>
          <a:bodyPr wrap="square" lIns="0" tIns="0" rIns="0" bIns="0" anchor="ctr">
            <a:spAutoFit/>
          </a:bodyPr>
          <a:lstStyle/>
          <a:p>
            <a:pPr algn="l">
              <a:lnSpc>
                <a:spcPct val="112000"/>
              </a:lnSpc>
              <a:spcAft>
                <a:spcPts val="200"/>
              </a:spcAft>
            </a:pPr>
            <a:r>
              <a:rPr lang="es-ES_tradnl" b="1" i="0" noProof="0" dirty="0">
                <a:solidFill>
                  <a:srgbClr val="13807B"/>
                </a:solidFill>
                <a:latin typeface="Calibri" panose="020F0502020204030204" pitchFamily="34" charset="0"/>
                <a:cs typeface="Calibri" panose="020F0502020204030204" pitchFamily="34" charset="0"/>
              </a:rPr>
              <a:t>Concepto</a:t>
            </a:r>
          </a:p>
          <a:p>
            <a:pPr algn="l">
              <a:lnSpc>
                <a:spcPct val="112000"/>
              </a:lnSpc>
              <a:spcAft>
                <a:spcPts val="200"/>
              </a:spcAft>
            </a:pPr>
            <a:r>
              <a:rPr lang="es-ES_tradnl" sz="1200" b="0" i="0" noProof="0" dirty="0">
                <a:solidFill>
                  <a:srgbClr val="3E5553"/>
                </a:solidFill>
                <a:latin typeface="Calibri" panose="020F0502020204030204" pitchFamily="34" charset="0"/>
                <a:cs typeface="Calibri" panose="020F0502020204030204" pitchFamily="34" charset="0"/>
              </a:rPr>
              <a:t>Es un beneficio que se puede obtener por la colocación de un crédito, dado que se genera un requerimiento de patrimonio efectivo por cada colocación que la institución otorgue. En ese sentido, se puede aprovechar en obtener un beneficio por ese capital regulatorio mantenido en un producto libre de riesgo —tal como los bonos soberanos— que otorgue una rentabilidad por un periodo equivalente a la duración del crédito, a una tasa libre de riesgo.</a:t>
            </a:r>
          </a:p>
        </p:txBody>
      </p:sp>
      <p:sp>
        <p:nvSpPr>
          <p:cNvPr id="153" name="TextBox 152">
            <a:extLst>
              <a:ext uri="{FF2B5EF4-FFF2-40B4-BE49-F238E27FC236}">
                <a16:creationId xmlns:a16="http://schemas.microsoft.com/office/drawing/2014/main" id="{D58AC773-62C7-E6D9-5B94-758D7C930C2C}"/>
              </a:ext>
            </a:extLst>
          </p:cNvPr>
          <p:cNvSpPr txBox="1"/>
          <p:nvPr/>
        </p:nvSpPr>
        <p:spPr>
          <a:xfrm>
            <a:off x="658368" y="2651760"/>
            <a:ext cx="14939284" cy="215444"/>
          </a:xfrm>
          <a:prstGeom prst="rect">
            <a:avLst/>
          </a:prstGeom>
          <a:noFill/>
        </p:spPr>
        <p:txBody>
          <a:bodyPr wrap="square" lIns="0" tIns="0" rIns="0" bIns="0" anchor="t">
            <a:spAutoFit/>
          </a:bodyPr>
          <a:lstStyle/>
          <a:p>
            <a:pPr algn="l">
              <a:lnSpc>
                <a:spcPct val="100000"/>
              </a:lnSpc>
            </a:pPr>
            <a:r>
              <a:rPr lang="es-ES_tradnl" b="1" i="0" noProof="0" dirty="0">
                <a:solidFill>
                  <a:srgbClr val="0B2E2C"/>
                </a:solidFill>
                <a:latin typeface="Calibri" panose="020F0502020204030204" pitchFamily="34" charset="0"/>
                <a:cs typeface="Calibri" panose="020F0502020204030204" pitchFamily="34" charset="0"/>
              </a:rPr>
              <a:t>La lógica en cuatro pasos</a:t>
            </a:r>
          </a:p>
        </p:txBody>
      </p:sp>
      <p:cxnSp>
        <p:nvCxnSpPr>
          <p:cNvPr id="154" name="Connector 11">
            <a:extLst>
              <a:ext uri="{FF2B5EF4-FFF2-40B4-BE49-F238E27FC236}">
                <a16:creationId xmlns:a16="http://schemas.microsoft.com/office/drawing/2014/main" id="{ED3A9483-E2C4-C7CF-1AEB-9FB85649BCF8}"/>
              </a:ext>
            </a:extLst>
          </p:cNvPr>
          <p:cNvCxnSpPr/>
          <p:nvPr/>
        </p:nvCxnSpPr>
        <p:spPr>
          <a:xfrm>
            <a:off x="658368" y="294436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55" name="Rectangle 154">
            <a:extLst>
              <a:ext uri="{FF2B5EF4-FFF2-40B4-BE49-F238E27FC236}">
                <a16:creationId xmlns:a16="http://schemas.microsoft.com/office/drawing/2014/main" id="{E8FD3575-D22D-6A47-872C-F0D5C7CBBD8D}"/>
              </a:ext>
            </a:extLst>
          </p:cNvPr>
          <p:cNvSpPr/>
          <p:nvPr/>
        </p:nvSpPr>
        <p:spPr>
          <a:xfrm>
            <a:off x="658368" y="3072384"/>
            <a:ext cx="3378205" cy="157276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56" name="Rectangle 155">
            <a:extLst>
              <a:ext uri="{FF2B5EF4-FFF2-40B4-BE49-F238E27FC236}">
                <a16:creationId xmlns:a16="http://schemas.microsoft.com/office/drawing/2014/main" id="{26748849-AD4D-234B-C590-D9FEE7DD1A54}"/>
              </a:ext>
            </a:extLst>
          </p:cNvPr>
          <p:cNvSpPr/>
          <p:nvPr/>
        </p:nvSpPr>
        <p:spPr>
          <a:xfrm>
            <a:off x="658368" y="3072384"/>
            <a:ext cx="3378205" cy="3657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57" name="Rectangle 156">
            <a:extLst>
              <a:ext uri="{FF2B5EF4-FFF2-40B4-BE49-F238E27FC236}">
                <a16:creationId xmlns:a16="http://schemas.microsoft.com/office/drawing/2014/main" id="{7C2148AB-DCBC-6FB2-1C35-DA5DC186EC91}"/>
              </a:ext>
            </a:extLst>
          </p:cNvPr>
          <p:cNvSpPr/>
          <p:nvPr/>
        </p:nvSpPr>
        <p:spPr>
          <a:xfrm>
            <a:off x="877824" y="3310128"/>
            <a:ext cx="274320" cy="2743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1</a:t>
            </a:r>
          </a:p>
        </p:txBody>
      </p:sp>
      <p:sp>
        <p:nvSpPr>
          <p:cNvPr id="158" name="TextBox 157">
            <a:extLst>
              <a:ext uri="{FF2B5EF4-FFF2-40B4-BE49-F238E27FC236}">
                <a16:creationId xmlns:a16="http://schemas.microsoft.com/office/drawing/2014/main" id="{13D0FC3D-C915-D9A3-BC11-4834321F3EB1}"/>
              </a:ext>
            </a:extLst>
          </p:cNvPr>
          <p:cNvSpPr txBox="1"/>
          <p:nvPr/>
        </p:nvSpPr>
        <p:spPr>
          <a:xfrm>
            <a:off x="1261872" y="3337560"/>
            <a:ext cx="2555245"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B2E2C"/>
                </a:solidFill>
                <a:latin typeface="Calibri" panose="020F0502020204030204" pitchFamily="34" charset="0"/>
                <a:cs typeface="Calibri" panose="020F0502020204030204" pitchFamily="34" charset="0"/>
              </a:rPr>
              <a:t>Se coloca el crédito</a:t>
            </a:r>
          </a:p>
        </p:txBody>
      </p:sp>
      <p:sp>
        <p:nvSpPr>
          <p:cNvPr id="159" name="TextBox 158">
            <a:extLst>
              <a:ext uri="{FF2B5EF4-FFF2-40B4-BE49-F238E27FC236}">
                <a16:creationId xmlns:a16="http://schemas.microsoft.com/office/drawing/2014/main" id="{444DFBD5-F7D5-6A1A-922C-A5BB9F6BE820}"/>
              </a:ext>
            </a:extLst>
          </p:cNvPr>
          <p:cNvSpPr txBox="1"/>
          <p:nvPr/>
        </p:nvSpPr>
        <p:spPr>
          <a:xfrm>
            <a:off x="877824" y="3767328"/>
            <a:ext cx="2939293" cy="380489"/>
          </a:xfrm>
          <a:prstGeom prst="rect">
            <a:avLst/>
          </a:prstGeom>
          <a:noFill/>
        </p:spPr>
        <p:txBody>
          <a:bodyPr wrap="square" lIns="0" tIns="0" rIns="0" bIns="0" anchor="t">
            <a:spAutoFit/>
          </a:bodyPr>
          <a:lstStyle/>
          <a:p>
            <a:pPr algn="l">
              <a:lnSpc>
                <a:spcPct val="122000"/>
              </a:lnSpc>
            </a:pPr>
            <a:r>
              <a:rPr lang="es-ES_tradnl" sz="1050" b="0" i="0" noProof="0" dirty="0">
                <a:solidFill>
                  <a:srgbClr val="3E5553"/>
                </a:solidFill>
                <a:latin typeface="Calibri" panose="020F0502020204030204" pitchFamily="34" charset="0"/>
                <a:cs typeface="Calibri" panose="020F0502020204030204" pitchFamily="34" charset="0"/>
              </a:rPr>
              <a:t>Cada colocación obliga al Banco a inmovilizar patrimonio efectivo según el marco regulatorio.</a:t>
            </a:r>
          </a:p>
        </p:txBody>
      </p:sp>
      <p:cxnSp>
        <p:nvCxnSpPr>
          <p:cNvPr id="160" name="Connector 17">
            <a:extLst>
              <a:ext uri="{FF2B5EF4-FFF2-40B4-BE49-F238E27FC236}">
                <a16:creationId xmlns:a16="http://schemas.microsoft.com/office/drawing/2014/main" id="{EBA5CF8B-A024-7FFB-F11F-173484A2D2E1}"/>
              </a:ext>
            </a:extLst>
          </p:cNvPr>
          <p:cNvCxnSpPr/>
          <p:nvPr/>
        </p:nvCxnSpPr>
        <p:spPr>
          <a:xfrm>
            <a:off x="4128013" y="3858768"/>
            <a:ext cx="292608"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 name="Rectangle 160">
            <a:extLst>
              <a:ext uri="{FF2B5EF4-FFF2-40B4-BE49-F238E27FC236}">
                <a16:creationId xmlns:a16="http://schemas.microsoft.com/office/drawing/2014/main" id="{CB6F9B50-CE1D-5D41-203A-F80EC1B1960E}"/>
              </a:ext>
            </a:extLst>
          </p:cNvPr>
          <p:cNvSpPr/>
          <p:nvPr/>
        </p:nvSpPr>
        <p:spPr>
          <a:xfrm>
            <a:off x="4512061" y="3072384"/>
            <a:ext cx="3378205" cy="1572768"/>
          </a:xfrm>
          <a:prstGeom prst="rect">
            <a:avLst/>
          </a:prstGeom>
          <a:solidFill>
            <a:srgbClr val="FAFBFB"/>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62" name="Rectangle 161">
            <a:extLst>
              <a:ext uri="{FF2B5EF4-FFF2-40B4-BE49-F238E27FC236}">
                <a16:creationId xmlns:a16="http://schemas.microsoft.com/office/drawing/2014/main" id="{6CEE17B7-C961-3070-0BB5-3AA5B5C0D73F}"/>
              </a:ext>
            </a:extLst>
          </p:cNvPr>
          <p:cNvSpPr/>
          <p:nvPr/>
        </p:nvSpPr>
        <p:spPr>
          <a:xfrm>
            <a:off x="4512061" y="3072384"/>
            <a:ext cx="3378205" cy="3657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63" name="Rectangle 162">
            <a:extLst>
              <a:ext uri="{FF2B5EF4-FFF2-40B4-BE49-F238E27FC236}">
                <a16:creationId xmlns:a16="http://schemas.microsoft.com/office/drawing/2014/main" id="{F0CD87F6-1A04-7E2C-DCF9-A50EE60D9F6A}"/>
              </a:ext>
            </a:extLst>
          </p:cNvPr>
          <p:cNvSpPr/>
          <p:nvPr/>
        </p:nvSpPr>
        <p:spPr>
          <a:xfrm>
            <a:off x="4731517" y="3310128"/>
            <a:ext cx="274320" cy="2743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2</a:t>
            </a:r>
          </a:p>
        </p:txBody>
      </p:sp>
      <p:sp>
        <p:nvSpPr>
          <p:cNvPr id="164" name="TextBox 163">
            <a:extLst>
              <a:ext uri="{FF2B5EF4-FFF2-40B4-BE49-F238E27FC236}">
                <a16:creationId xmlns:a16="http://schemas.microsoft.com/office/drawing/2014/main" id="{2A7CFF84-D23E-B97A-2C40-358CDAEF35BF}"/>
              </a:ext>
            </a:extLst>
          </p:cNvPr>
          <p:cNvSpPr txBox="1"/>
          <p:nvPr/>
        </p:nvSpPr>
        <p:spPr>
          <a:xfrm>
            <a:off x="5115565" y="3337560"/>
            <a:ext cx="2555245"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B2E2C"/>
                </a:solidFill>
                <a:latin typeface="Calibri" panose="020F0502020204030204" pitchFamily="34" charset="0"/>
                <a:cs typeface="Calibri" panose="020F0502020204030204" pitchFamily="34" charset="0"/>
              </a:rPr>
              <a:t>El capital queda inmovilizado</a:t>
            </a:r>
          </a:p>
        </p:txBody>
      </p:sp>
      <p:sp>
        <p:nvSpPr>
          <p:cNvPr id="165" name="TextBox 164">
            <a:extLst>
              <a:ext uri="{FF2B5EF4-FFF2-40B4-BE49-F238E27FC236}">
                <a16:creationId xmlns:a16="http://schemas.microsoft.com/office/drawing/2014/main" id="{EE6FA7B5-BEBE-1EA9-98FC-75C9DFD77277}"/>
              </a:ext>
            </a:extLst>
          </p:cNvPr>
          <p:cNvSpPr txBox="1"/>
          <p:nvPr/>
        </p:nvSpPr>
        <p:spPr>
          <a:xfrm>
            <a:off x="4731517" y="3767328"/>
            <a:ext cx="2939293" cy="380489"/>
          </a:xfrm>
          <a:prstGeom prst="rect">
            <a:avLst/>
          </a:prstGeom>
          <a:noFill/>
        </p:spPr>
        <p:txBody>
          <a:bodyPr wrap="square" lIns="0" tIns="0" rIns="0" bIns="0" anchor="t">
            <a:spAutoFit/>
          </a:bodyPr>
          <a:lstStyle/>
          <a:p>
            <a:pPr algn="l">
              <a:lnSpc>
                <a:spcPct val="122000"/>
              </a:lnSpc>
            </a:pPr>
            <a:r>
              <a:rPr lang="es-ES_tradnl" sz="1050" b="0" i="0" noProof="0" dirty="0">
                <a:solidFill>
                  <a:srgbClr val="3E5553"/>
                </a:solidFill>
                <a:latin typeface="Calibri" panose="020F0502020204030204" pitchFamily="34" charset="0"/>
                <a:cs typeface="Calibri" panose="020F0502020204030204" pitchFamily="34" charset="0"/>
              </a:rPr>
              <a:t>Ese capital no se presta: es un requerimiento que el Banco debe mantener mientras el crédito viva.</a:t>
            </a:r>
          </a:p>
        </p:txBody>
      </p:sp>
      <p:cxnSp>
        <p:nvCxnSpPr>
          <p:cNvPr id="166" name="Connector 23">
            <a:extLst>
              <a:ext uri="{FF2B5EF4-FFF2-40B4-BE49-F238E27FC236}">
                <a16:creationId xmlns:a16="http://schemas.microsoft.com/office/drawing/2014/main" id="{51E50FAF-CE5B-A628-57DE-1A0A15A7D55A}"/>
              </a:ext>
            </a:extLst>
          </p:cNvPr>
          <p:cNvCxnSpPr/>
          <p:nvPr/>
        </p:nvCxnSpPr>
        <p:spPr>
          <a:xfrm>
            <a:off x="7981706" y="3858768"/>
            <a:ext cx="292608"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Rectangle 166">
            <a:extLst>
              <a:ext uri="{FF2B5EF4-FFF2-40B4-BE49-F238E27FC236}">
                <a16:creationId xmlns:a16="http://schemas.microsoft.com/office/drawing/2014/main" id="{BFEF8AE5-4D02-9CF8-0FD2-00A417404295}"/>
              </a:ext>
            </a:extLst>
          </p:cNvPr>
          <p:cNvSpPr/>
          <p:nvPr/>
        </p:nvSpPr>
        <p:spPr>
          <a:xfrm>
            <a:off x="8365754" y="3072384"/>
            <a:ext cx="3378205" cy="157276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68" name="Rectangle 167">
            <a:extLst>
              <a:ext uri="{FF2B5EF4-FFF2-40B4-BE49-F238E27FC236}">
                <a16:creationId xmlns:a16="http://schemas.microsoft.com/office/drawing/2014/main" id="{69689DA1-4061-480C-4871-8B6DC7D977DE}"/>
              </a:ext>
            </a:extLst>
          </p:cNvPr>
          <p:cNvSpPr/>
          <p:nvPr/>
        </p:nvSpPr>
        <p:spPr>
          <a:xfrm>
            <a:off x="8365754" y="3072384"/>
            <a:ext cx="3378205"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69" name="Rectangle 168">
            <a:extLst>
              <a:ext uri="{FF2B5EF4-FFF2-40B4-BE49-F238E27FC236}">
                <a16:creationId xmlns:a16="http://schemas.microsoft.com/office/drawing/2014/main" id="{ED9330E9-1781-B082-0A9B-3F008A315276}"/>
              </a:ext>
            </a:extLst>
          </p:cNvPr>
          <p:cNvSpPr/>
          <p:nvPr/>
        </p:nvSpPr>
        <p:spPr>
          <a:xfrm>
            <a:off x="8585210" y="3310128"/>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3</a:t>
            </a:r>
          </a:p>
        </p:txBody>
      </p:sp>
      <p:sp>
        <p:nvSpPr>
          <p:cNvPr id="170" name="TextBox 169">
            <a:extLst>
              <a:ext uri="{FF2B5EF4-FFF2-40B4-BE49-F238E27FC236}">
                <a16:creationId xmlns:a16="http://schemas.microsoft.com/office/drawing/2014/main" id="{FC18CD1E-9F43-0B1B-A5BE-19F27EBAD163}"/>
              </a:ext>
            </a:extLst>
          </p:cNvPr>
          <p:cNvSpPr txBox="1"/>
          <p:nvPr/>
        </p:nvSpPr>
        <p:spPr>
          <a:xfrm>
            <a:off x="8969258" y="3337560"/>
            <a:ext cx="2555245"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B2E2C"/>
                </a:solidFill>
                <a:latin typeface="Calibri" panose="020F0502020204030204" pitchFamily="34" charset="0"/>
                <a:cs typeface="Calibri" panose="020F0502020204030204" pitchFamily="34" charset="0"/>
              </a:rPr>
              <a:t>Pero puede rendir</a:t>
            </a:r>
          </a:p>
        </p:txBody>
      </p:sp>
      <p:sp>
        <p:nvSpPr>
          <p:cNvPr id="171" name="TextBox 170">
            <a:extLst>
              <a:ext uri="{FF2B5EF4-FFF2-40B4-BE49-F238E27FC236}">
                <a16:creationId xmlns:a16="http://schemas.microsoft.com/office/drawing/2014/main" id="{C888EE93-309A-3D9C-CB57-88649BD7EEC6}"/>
              </a:ext>
            </a:extLst>
          </p:cNvPr>
          <p:cNvSpPr txBox="1"/>
          <p:nvPr/>
        </p:nvSpPr>
        <p:spPr>
          <a:xfrm>
            <a:off x="8585210" y="3767328"/>
            <a:ext cx="2939293" cy="577594"/>
          </a:xfrm>
          <a:prstGeom prst="rect">
            <a:avLst/>
          </a:prstGeom>
          <a:noFill/>
        </p:spPr>
        <p:txBody>
          <a:bodyPr wrap="square" lIns="0" tIns="0" rIns="0" bIns="0" anchor="t">
            <a:spAutoFit/>
          </a:bodyPr>
          <a:lstStyle/>
          <a:p>
            <a:pPr algn="l">
              <a:lnSpc>
                <a:spcPct val="122000"/>
              </a:lnSpc>
            </a:pPr>
            <a:r>
              <a:rPr lang="es-ES_tradnl" sz="1050" b="0" i="0" noProof="0" dirty="0">
                <a:solidFill>
                  <a:srgbClr val="3E5553"/>
                </a:solidFill>
                <a:latin typeface="Calibri" panose="020F0502020204030204" pitchFamily="34" charset="0"/>
                <a:cs typeface="Calibri" panose="020F0502020204030204" pitchFamily="34" charset="0"/>
              </a:rPr>
              <a:t>Se invierte en un activo libre de riesgo —bonos soberanos— por un plazo equivalente a la duración del crédito.</a:t>
            </a:r>
          </a:p>
        </p:txBody>
      </p:sp>
      <p:cxnSp>
        <p:nvCxnSpPr>
          <p:cNvPr id="172" name="Connector 29">
            <a:extLst>
              <a:ext uri="{FF2B5EF4-FFF2-40B4-BE49-F238E27FC236}">
                <a16:creationId xmlns:a16="http://schemas.microsoft.com/office/drawing/2014/main" id="{2053E3C2-A4F3-4953-0AE6-B4EAD3131C35}"/>
              </a:ext>
            </a:extLst>
          </p:cNvPr>
          <p:cNvCxnSpPr/>
          <p:nvPr/>
        </p:nvCxnSpPr>
        <p:spPr>
          <a:xfrm>
            <a:off x="11835399" y="3858768"/>
            <a:ext cx="292608" cy="0"/>
          </a:xfrm>
          <a:prstGeom prst="line">
            <a:avLst/>
          </a:prstGeom>
          <a:ln w="22225">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Rectangle 172">
            <a:extLst>
              <a:ext uri="{FF2B5EF4-FFF2-40B4-BE49-F238E27FC236}">
                <a16:creationId xmlns:a16="http://schemas.microsoft.com/office/drawing/2014/main" id="{1F9E7483-444B-92CB-1516-90EC4A17DFDD}"/>
              </a:ext>
            </a:extLst>
          </p:cNvPr>
          <p:cNvSpPr/>
          <p:nvPr/>
        </p:nvSpPr>
        <p:spPr>
          <a:xfrm>
            <a:off x="12219447" y="3072384"/>
            <a:ext cx="3378205" cy="157276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74" name="Rectangle 173">
            <a:extLst>
              <a:ext uri="{FF2B5EF4-FFF2-40B4-BE49-F238E27FC236}">
                <a16:creationId xmlns:a16="http://schemas.microsoft.com/office/drawing/2014/main" id="{27318D19-7036-6EAD-575A-694251872669}"/>
              </a:ext>
            </a:extLst>
          </p:cNvPr>
          <p:cNvSpPr/>
          <p:nvPr/>
        </p:nvSpPr>
        <p:spPr>
          <a:xfrm>
            <a:off x="12219447" y="3072384"/>
            <a:ext cx="3378205"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75" name="Rectangle 174">
            <a:extLst>
              <a:ext uri="{FF2B5EF4-FFF2-40B4-BE49-F238E27FC236}">
                <a16:creationId xmlns:a16="http://schemas.microsoft.com/office/drawing/2014/main" id="{8F7E5A4D-3D2D-D439-39F2-A384427B9DAE}"/>
              </a:ext>
            </a:extLst>
          </p:cNvPr>
          <p:cNvSpPr/>
          <p:nvPr/>
        </p:nvSpPr>
        <p:spPr>
          <a:xfrm>
            <a:off x="12438903" y="3310128"/>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4</a:t>
            </a:r>
          </a:p>
        </p:txBody>
      </p:sp>
      <p:sp>
        <p:nvSpPr>
          <p:cNvPr id="176" name="TextBox 175">
            <a:extLst>
              <a:ext uri="{FF2B5EF4-FFF2-40B4-BE49-F238E27FC236}">
                <a16:creationId xmlns:a16="http://schemas.microsoft.com/office/drawing/2014/main" id="{7E373EBB-C489-D6BA-F893-445500B9709B}"/>
              </a:ext>
            </a:extLst>
          </p:cNvPr>
          <p:cNvSpPr txBox="1"/>
          <p:nvPr/>
        </p:nvSpPr>
        <p:spPr>
          <a:xfrm>
            <a:off x="12822951" y="3337560"/>
            <a:ext cx="2555245"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B2E2C"/>
                </a:solidFill>
                <a:latin typeface="Calibri" panose="020F0502020204030204" pitchFamily="34" charset="0"/>
                <a:cs typeface="Calibri" panose="020F0502020204030204" pitchFamily="34" charset="0"/>
              </a:rPr>
              <a:t>Ese rendimiento baja la tasa</a:t>
            </a:r>
          </a:p>
        </p:txBody>
      </p:sp>
      <p:sp>
        <p:nvSpPr>
          <p:cNvPr id="177" name="TextBox 176">
            <a:extLst>
              <a:ext uri="{FF2B5EF4-FFF2-40B4-BE49-F238E27FC236}">
                <a16:creationId xmlns:a16="http://schemas.microsoft.com/office/drawing/2014/main" id="{601A7A39-ABC1-1FFB-89D1-0BEDC2926B08}"/>
              </a:ext>
            </a:extLst>
          </p:cNvPr>
          <p:cNvSpPr txBox="1"/>
          <p:nvPr/>
        </p:nvSpPr>
        <p:spPr>
          <a:xfrm>
            <a:off x="12438903" y="3767328"/>
            <a:ext cx="2939293" cy="380489"/>
          </a:xfrm>
          <a:prstGeom prst="rect">
            <a:avLst/>
          </a:prstGeom>
          <a:noFill/>
        </p:spPr>
        <p:txBody>
          <a:bodyPr wrap="square" lIns="0" tIns="0" rIns="0" bIns="0" anchor="t">
            <a:spAutoFit/>
          </a:bodyPr>
          <a:lstStyle/>
          <a:p>
            <a:pPr algn="l">
              <a:lnSpc>
                <a:spcPct val="122000"/>
              </a:lnSpc>
            </a:pPr>
            <a:r>
              <a:rPr lang="es-ES_tradnl" sz="1050" b="0" i="0" noProof="0" dirty="0">
                <a:solidFill>
                  <a:srgbClr val="3E5553"/>
                </a:solidFill>
                <a:latin typeface="Calibri" panose="020F0502020204030204" pitchFamily="34" charset="0"/>
                <a:cs typeface="Calibri" panose="020F0502020204030204" pitchFamily="34" charset="0"/>
              </a:rPr>
              <a:t>El beneficio se resta de la tasa: el cliente no paga por un capital que sí está generando retorno.</a:t>
            </a:r>
          </a:p>
        </p:txBody>
      </p:sp>
      <p:sp>
        <p:nvSpPr>
          <p:cNvPr id="178" name="Rectangle 177">
            <a:extLst>
              <a:ext uri="{FF2B5EF4-FFF2-40B4-BE49-F238E27FC236}">
                <a16:creationId xmlns:a16="http://schemas.microsoft.com/office/drawing/2014/main" id="{85903830-7028-206B-84D3-CDCE5E9FF479}"/>
              </a:ext>
            </a:extLst>
          </p:cNvPr>
          <p:cNvSpPr/>
          <p:nvPr/>
        </p:nvSpPr>
        <p:spPr>
          <a:xfrm>
            <a:off x="658368" y="5047488"/>
            <a:ext cx="5394960" cy="2999232"/>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79" name="TextBox 178">
            <a:extLst>
              <a:ext uri="{FF2B5EF4-FFF2-40B4-BE49-F238E27FC236}">
                <a16:creationId xmlns:a16="http://schemas.microsoft.com/office/drawing/2014/main" id="{417D836C-3C01-A81C-99E2-8E5857C7156E}"/>
              </a:ext>
            </a:extLst>
          </p:cNvPr>
          <p:cNvSpPr txBox="1"/>
          <p:nvPr/>
        </p:nvSpPr>
        <p:spPr>
          <a:xfrm>
            <a:off x="950976" y="5303520"/>
            <a:ext cx="4809744"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2F9E98"/>
                </a:solidFill>
                <a:latin typeface="Calibri" panose="020F0502020204030204" pitchFamily="34" charset="0"/>
                <a:cs typeface="Calibri" panose="020F0502020204030204" pitchFamily="34" charset="0"/>
              </a:rPr>
              <a:t>CÓMO SE CALCULA</a:t>
            </a:r>
          </a:p>
        </p:txBody>
      </p:sp>
      <p:cxnSp>
        <p:nvCxnSpPr>
          <p:cNvPr id="180" name="Connector 37">
            <a:extLst>
              <a:ext uri="{FF2B5EF4-FFF2-40B4-BE49-F238E27FC236}">
                <a16:creationId xmlns:a16="http://schemas.microsoft.com/office/drawing/2014/main" id="{86ABD366-6436-35C6-E5D9-03C7E895D380}"/>
              </a:ext>
            </a:extLst>
          </p:cNvPr>
          <p:cNvCxnSpPr/>
          <p:nvPr/>
        </p:nvCxnSpPr>
        <p:spPr>
          <a:xfrm>
            <a:off x="950976" y="5632704"/>
            <a:ext cx="4809744" cy="0"/>
          </a:xfrm>
          <a:prstGeom prst="line">
            <a:avLst/>
          </a:prstGeom>
          <a:ln w="12700">
            <a:solidFill>
              <a:srgbClr val="1B6360"/>
            </a:solidFill>
          </a:ln>
        </p:spPr>
        <p:style>
          <a:lnRef idx="2">
            <a:schemeClr val="accent1"/>
          </a:lnRef>
          <a:fillRef idx="0">
            <a:schemeClr val="accent1"/>
          </a:fillRef>
          <a:effectRef idx="1">
            <a:schemeClr val="accent1"/>
          </a:effectRef>
          <a:fontRef idx="minor">
            <a:schemeClr val="tx1"/>
          </a:fontRef>
        </p:style>
      </p:cxnSp>
      <p:sp>
        <p:nvSpPr>
          <p:cNvPr id="181" name="Rectangle 180">
            <a:extLst>
              <a:ext uri="{FF2B5EF4-FFF2-40B4-BE49-F238E27FC236}">
                <a16:creationId xmlns:a16="http://schemas.microsoft.com/office/drawing/2014/main" id="{0818AA91-5819-8FE2-9696-ACACBB9582A4}"/>
              </a:ext>
            </a:extLst>
          </p:cNvPr>
          <p:cNvSpPr/>
          <p:nvPr/>
        </p:nvSpPr>
        <p:spPr>
          <a:xfrm>
            <a:off x="950976" y="5815584"/>
            <a:ext cx="4809744" cy="530352"/>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FFFFFF"/>
                </a:solidFill>
                <a:latin typeface="Calibri" panose="020F0502020204030204" pitchFamily="34" charset="0"/>
                <a:cs typeface="Calibri" panose="020F0502020204030204" pitchFamily="34" charset="0"/>
              </a:rPr>
              <a:t>Beneficio de Capital</a:t>
            </a:r>
          </a:p>
        </p:txBody>
      </p:sp>
      <p:sp>
        <p:nvSpPr>
          <p:cNvPr id="182" name="TextBox 181">
            <a:extLst>
              <a:ext uri="{FF2B5EF4-FFF2-40B4-BE49-F238E27FC236}">
                <a16:creationId xmlns:a16="http://schemas.microsoft.com/office/drawing/2014/main" id="{C716556D-AD47-2684-5080-2BF3CC472751}"/>
              </a:ext>
            </a:extLst>
          </p:cNvPr>
          <p:cNvSpPr txBox="1"/>
          <p:nvPr/>
        </p:nvSpPr>
        <p:spPr>
          <a:xfrm>
            <a:off x="658368" y="6382512"/>
            <a:ext cx="5394960" cy="276999"/>
          </a:xfrm>
          <a:prstGeom prst="rect">
            <a:avLst/>
          </a:prstGeom>
          <a:noFill/>
        </p:spPr>
        <p:txBody>
          <a:bodyPr wrap="square" lIns="0" tIns="0" rIns="0" bIns="0" anchor="t">
            <a:spAutoFit/>
          </a:bodyPr>
          <a:lstStyle/>
          <a:p>
            <a:pPr algn="ctr">
              <a:lnSpc>
                <a:spcPct val="100000"/>
              </a:lnSpc>
            </a:pPr>
            <a:r>
              <a:rPr lang="es-ES_tradnl" sz="1800" b="1" i="0" noProof="0" dirty="0">
                <a:solidFill>
                  <a:srgbClr val="2F9E98"/>
                </a:solidFill>
                <a:latin typeface="Calibri" panose="020F0502020204030204" pitchFamily="34" charset="0"/>
                <a:cs typeface="Calibri" panose="020F0502020204030204" pitchFamily="34" charset="0"/>
              </a:rPr>
              <a:t>=</a:t>
            </a:r>
          </a:p>
        </p:txBody>
      </p:sp>
      <p:sp>
        <p:nvSpPr>
          <p:cNvPr id="183" name="Rectangle 182">
            <a:extLst>
              <a:ext uri="{FF2B5EF4-FFF2-40B4-BE49-F238E27FC236}">
                <a16:creationId xmlns:a16="http://schemas.microsoft.com/office/drawing/2014/main" id="{96CA4011-94AB-D82C-BA4B-5672360527A5}"/>
              </a:ext>
            </a:extLst>
          </p:cNvPr>
          <p:cNvSpPr/>
          <p:nvPr/>
        </p:nvSpPr>
        <p:spPr>
          <a:xfrm>
            <a:off x="950976" y="6656832"/>
            <a:ext cx="2203704" cy="786384"/>
          </a:xfrm>
          <a:prstGeom prst="rect">
            <a:avLst/>
          </a:prstGeom>
          <a:solidFill>
            <a:srgbClr val="0D454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8000"/>
              </a:lnSpc>
            </a:pPr>
            <a:r>
              <a:rPr lang="es-ES_tradnl" sz="1200" b="1" i="0" noProof="0" dirty="0">
                <a:solidFill>
                  <a:srgbClr val="FFFFFF"/>
                </a:solidFill>
                <a:latin typeface="Calibri" panose="020F0502020204030204" pitchFamily="34" charset="0"/>
                <a:cs typeface="Calibri" panose="020F0502020204030204" pitchFamily="34" charset="0"/>
              </a:rPr>
              <a:t>Requerimiento de</a:t>
            </a:r>
          </a:p>
          <a:p>
            <a:pPr algn="ctr">
              <a:lnSpc>
                <a:spcPct val="118000"/>
              </a:lnSpc>
            </a:pPr>
            <a:r>
              <a:rPr lang="es-ES_tradnl" sz="1200" b="1" i="0" noProof="0" dirty="0">
                <a:solidFill>
                  <a:srgbClr val="FFFFFF"/>
                </a:solidFill>
                <a:latin typeface="Calibri" panose="020F0502020204030204" pitchFamily="34" charset="0"/>
                <a:cs typeface="Calibri" panose="020F0502020204030204" pitchFamily="34" charset="0"/>
              </a:rPr>
              <a:t>Patrimonio Efectivo</a:t>
            </a:r>
          </a:p>
        </p:txBody>
      </p:sp>
      <p:sp>
        <p:nvSpPr>
          <p:cNvPr id="184" name="TextBox 183">
            <a:extLst>
              <a:ext uri="{FF2B5EF4-FFF2-40B4-BE49-F238E27FC236}">
                <a16:creationId xmlns:a16="http://schemas.microsoft.com/office/drawing/2014/main" id="{7B4F2CA5-D39F-2420-23EF-03FAD648B99B}"/>
              </a:ext>
            </a:extLst>
          </p:cNvPr>
          <p:cNvSpPr txBox="1"/>
          <p:nvPr/>
        </p:nvSpPr>
        <p:spPr>
          <a:xfrm>
            <a:off x="3154680" y="6931152"/>
            <a:ext cx="402336" cy="276999"/>
          </a:xfrm>
          <a:prstGeom prst="rect">
            <a:avLst/>
          </a:prstGeom>
          <a:noFill/>
        </p:spPr>
        <p:txBody>
          <a:bodyPr wrap="square" lIns="0" tIns="0" rIns="0" bIns="0" anchor="t">
            <a:spAutoFit/>
          </a:bodyPr>
          <a:lstStyle/>
          <a:p>
            <a:pPr algn="ctr">
              <a:lnSpc>
                <a:spcPct val="100000"/>
              </a:lnSpc>
            </a:pPr>
            <a:r>
              <a:rPr lang="es-ES_tradnl" sz="1800" b="1" i="0" noProof="0" dirty="0">
                <a:solidFill>
                  <a:srgbClr val="2F9E98"/>
                </a:solidFill>
                <a:latin typeface="Calibri" panose="020F0502020204030204" pitchFamily="34" charset="0"/>
                <a:cs typeface="Calibri" panose="020F0502020204030204" pitchFamily="34" charset="0"/>
              </a:rPr>
              <a:t>×</a:t>
            </a:r>
          </a:p>
        </p:txBody>
      </p:sp>
      <p:sp>
        <p:nvSpPr>
          <p:cNvPr id="185" name="Rectangle 184">
            <a:extLst>
              <a:ext uri="{FF2B5EF4-FFF2-40B4-BE49-F238E27FC236}">
                <a16:creationId xmlns:a16="http://schemas.microsoft.com/office/drawing/2014/main" id="{DB062412-74C9-CAB4-A90D-F8395A2493E5}"/>
              </a:ext>
            </a:extLst>
          </p:cNvPr>
          <p:cNvSpPr/>
          <p:nvPr/>
        </p:nvSpPr>
        <p:spPr>
          <a:xfrm>
            <a:off x="3557016" y="6656832"/>
            <a:ext cx="2203704" cy="786384"/>
          </a:xfrm>
          <a:prstGeom prst="rect">
            <a:avLst/>
          </a:prstGeom>
          <a:solidFill>
            <a:srgbClr val="0D454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8000"/>
              </a:lnSpc>
            </a:pPr>
            <a:r>
              <a:rPr lang="es-ES_tradnl" sz="1200" b="1" i="0" noProof="0" dirty="0">
                <a:solidFill>
                  <a:srgbClr val="FFFFFF"/>
                </a:solidFill>
                <a:latin typeface="Calibri" panose="020F0502020204030204" pitchFamily="34" charset="0"/>
                <a:cs typeface="Calibri" panose="020F0502020204030204" pitchFamily="34" charset="0"/>
              </a:rPr>
              <a:t>Tasa Libre</a:t>
            </a:r>
          </a:p>
          <a:p>
            <a:pPr algn="ctr">
              <a:lnSpc>
                <a:spcPct val="118000"/>
              </a:lnSpc>
            </a:pPr>
            <a:r>
              <a:rPr lang="es-ES_tradnl" sz="1200" b="1" i="0" noProof="0" dirty="0">
                <a:solidFill>
                  <a:srgbClr val="FFFFFF"/>
                </a:solidFill>
                <a:latin typeface="Calibri" panose="020F0502020204030204" pitchFamily="34" charset="0"/>
                <a:cs typeface="Calibri" panose="020F0502020204030204" pitchFamily="34" charset="0"/>
              </a:rPr>
              <a:t>de Riesgo</a:t>
            </a:r>
          </a:p>
        </p:txBody>
      </p:sp>
      <p:sp>
        <p:nvSpPr>
          <p:cNvPr id="186" name="TextBox 185">
            <a:extLst>
              <a:ext uri="{FF2B5EF4-FFF2-40B4-BE49-F238E27FC236}">
                <a16:creationId xmlns:a16="http://schemas.microsoft.com/office/drawing/2014/main" id="{880144B8-0388-F782-70AB-0E353C42CF62}"/>
              </a:ext>
            </a:extLst>
          </p:cNvPr>
          <p:cNvSpPr txBox="1"/>
          <p:nvPr/>
        </p:nvSpPr>
        <p:spPr>
          <a:xfrm>
            <a:off x="950976" y="7589520"/>
            <a:ext cx="4809744" cy="357021"/>
          </a:xfrm>
          <a:prstGeom prst="rect">
            <a:avLst/>
          </a:prstGeom>
          <a:noFill/>
        </p:spPr>
        <p:txBody>
          <a:bodyPr wrap="square" lIns="0" tIns="0" rIns="0" bIns="0" anchor="t">
            <a:spAutoFit/>
          </a:bodyPr>
          <a:lstStyle/>
          <a:p>
            <a:pPr algn="l">
              <a:lnSpc>
                <a:spcPct val="120000"/>
              </a:lnSpc>
            </a:pPr>
            <a:r>
              <a:rPr lang="es-ES_tradnl" sz="1000" b="0" i="0" noProof="0" dirty="0">
                <a:solidFill>
                  <a:srgbClr val="9EC8C6"/>
                </a:solidFill>
                <a:latin typeface="Calibri" panose="020F0502020204030204" pitchFamily="34" charset="0"/>
                <a:cs typeface="Calibri" panose="020F0502020204030204" pitchFamily="34" charset="0"/>
              </a:rPr>
              <a:t>La tasa libre de riesgo se toma al plazo equivalente a la duración del crédito, no a un plazo fijo.</a:t>
            </a:r>
          </a:p>
        </p:txBody>
      </p:sp>
      <p:sp>
        <p:nvSpPr>
          <p:cNvPr id="187" name="Rectangle 186">
            <a:extLst>
              <a:ext uri="{FF2B5EF4-FFF2-40B4-BE49-F238E27FC236}">
                <a16:creationId xmlns:a16="http://schemas.microsoft.com/office/drawing/2014/main" id="{87A0E4D1-AD96-3BE3-2F65-1968A44DC13B}"/>
              </a:ext>
            </a:extLst>
          </p:cNvPr>
          <p:cNvSpPr/>
          <p:nvPr/>
        </p:nvSpPr>
        <p:spPr>
          <a:xfrm>
            <a:off x="6510528" y="5047488"/>
            <a:ext cx="5841004" cy="2999232"/>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188" name="Rectangle 187">
            <a:extLst>
              <a:ext uri="{FF2B5EF4-FFF2-40B4-BE49-F238E27FC236}">
                <a16:creationId xmlns:a16="http://schemas.microsoft.com/office/drawing/2014/main" id="{BFF2DF11-208D-C1C5-9C7D-42F40C6BB827}"/>
              </a:ext>
            </a:extLst>
          </p:cNvPr>
          <p:cNvSpPr/>
          <p:nvPr/>
        </p:nvSpPr>
        <p:spPr>
          <a:xfrm>
            <a:off x="6510528" y="5047488"/>
            <a:ext cx="5841004"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CURVA DE RENDIMIENTO · BONOS SOBERANOS</a:t>
            </a:r>
          </a:p>
        </p:txBody>
      </p:sp>
      <p:sp>
        <p:nvSpPr>
          <p:cNvPr id="201" name="TextBox 200">
            <a:extLst>
              <a:ext uri="{FF2B5EF4-FFF2-40B4-BE49-F238E27FC236}">
                <a16:creationId xmlns:a16="http://schemas.microsoft.com/office/drawing/2014/main" id="{5D9CBC22-33B0-07BC-A4C0-4BB7C977BFDE}"/>
              </a:ext>
            </a:extLst>
          </p:cNvPr>
          <p:cNvSpPr txBox="1"/>
          <p:nvPr/>
        </p:nvSpPr>
        <p:spPr>
          <a:xfrm>
            <a:off x="6729984" y="5468112"/>
            <a:ext cx="5402092" cy="153888"/>
          </a:xfrm>
          <a:prstGeom prst="rect">
            <a:avLst/>
          </a:prstGeom>
          <a:noFill/>
        </p:spPr>
        <p:txBody>
          <a:bodyPr wrap="square" lIns="0" tIns="0" rIns="0" bIns="0" anchor="t">
            <a:spAutoFit/>
          </a:bodyPr>
          <a:lstStyle/>
          <a:p>
            <a:pPr algn="l">
              <a:lnSpc>
                <a:spcPct val="100000"/>
              </a:lnSpc>
            </a:pPr>
            <a:r>
              <a:rPr lang="es-ES_tradnl" sz="1000" b="0" i="0" noProof="0" dirty="0">
                <a:solidFill>
                  <a:srgbClr val="6E7E7D"/>
                </a:solidFill>
                <a:latin typeface="Calibri" panose="020F0502020204030204" pitchFamily="34" charset="0"/>
                <a:cs typeface="Calibri" panose="020F0502020204030204" pitchFamily="34" charset="0"/>
              </a:rPr>
              <a:t>Rendimiento por duración · el crédito se empareja con el tramo equivalente</a:t>
            </a:r>
          </a:p>
        </p:txBody>
      </p:sp>
      <p:pic>
        <p:nvPicPr>
          <p:cNvPr id="202" name="Picture 201" descr="soberana.png">
            <a:extLst>
              <a:ext uri="{FF2B5EF4-FFF2-40B4-BE49-F238E27FC236}">
                <a16:creationId xmlns:a16="http://schemas.microsoft.com/office/drawing/2014/main" id="{C883F91C-A419-68AA-48C7-EBA637C6FEEE}"/>
              </a:ext>
            </a:extLst>
          </p:cNvPr>
          <p:cNvPicPr>
            <a:picLocks noChangeAspect="1"/>
          </p:cNvPicPr>
          <p:nvPr/>
        </p:nvPicPr>
        <p:blipFill>
          <a:blip r:embed="rId2"/>
          <a:stretch>
            <a:fillRect/>
          </a:stretch>
        </p:blipFill>
        <p:spPr>
          <a:xfrm>
            <a:off x="6729984" y="5742432"/>
            <a:ext cx="4785679" cy="2066543"/>
          </a:xfrm>
          <a:prstGeom prst="rect">
            <a:avLst/>
          </a:prstGeom>
        </p:spPr>
      </p:pic>
      <p:sp>
        <p:nvSpPr>
          <p:cNvPr id="203" name="TextBox 202">
            <a:extLst>
              <a:ext uri="{FF2B5EF4-FFF2-40B4-BE49-F238E27FC236}">
                <a16:creationId xmlns:a16="http://schemas.microsoft.com/office/drawing/2014/main" id="{BF86F2BF-4835-E878-7C5E-94AEFE7871C1}"/>
              </a:ext>
            </a:extLst>
          </p:cNvPr>
          <p:cNvSpPr txBox="1"/>
          <p:nvPr/>
        </p:nvSpPr>
        <p:spPr>
          <a:xfrm>
            <a:off x="12735580" y="5029200"/>
            <a:ext cx="2862072"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0B2E2C"/>
                </a:solidFill>
                <a:latin typeface="Calibri" panose="020F0502020204030204" pitchFamily="34" charset="0"/>
                <a:cs typeface="Calibri" panose="020F0502020204030204" pitchFamily="34" charset="0"/>
              </a:rPr>
              <a:t>Efecto en la tasa</a:t>
            </a:r>
          </a:p>
        </p:txBody>
      </p:sp>
      <p:cxnSp>
        <p:nvCxnSpPr>
          <p:cNvPr id="204" name="Connector 49">
            <a:extLst>
              <a:ext uri="{FF2B5EF4-FFF2-40B4-BE49-F238E27FC236}">
                <a16:creationId xmlns:a16="http://schemas.microsoft.com/office/drawing/2014/main" id="{832AD778-1D82-436A-E413-C4A3C3675CDB}"/>
              </a:ext>
            </a:extLst>
          </p:cNvPr>
          <p:cNvCxnSpPr/>
          <p:nvPr/>
        </p:nvCxnSpPr>
        <p:spPr>
          <a:xfrm>
            <a:off x="12735580" y="5303520"/>
            <a:ext cx="2862072"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05" name="Rectangle 204">
            <a:extLst>
              <a:ext uri="{FF2B5EF4-FFF2-40B4-BE49-F238E27FC236}">
                <a16:creationId xmlns:a16="http://schemas.microsoft.com/office/drawing/2014/main" id="{0C1F0331-4E58-1EA7-A854-1609DBD153DB}"/>
              </a:ext>
            </a:extLst>
          </p:cNvPr>
          <p:cNvSpPr/>
          <p:nvPr/>
        </p:nvSpPr>
        <p:spPr>
          <a:xfrm>
            <a:off x="12735580" y="5449824"/>
            <a:ext cx="2862072" cy="859536"/>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206" name="Rectangle 205">
            <a:extLst>
              <a:ext uri="{FF2B5EF4-FFF2-40B4-BE49-F238E27FC236}">
                <a16:creationId xmlns:a16="http://schemas.microsoft.com/office/drawing/2014/main" id="{9DA92164-7EC9-C389-9028-A79F503D62C5}"/>
              </a:ext>
            </a:extLst>
          </p:cNvPr>
          <p:cNvSpPr/>
          <p:nvPr/>
        </p:nvSpPr>
        <p:spPr>
          <a:xfrm>
            <a:off x="12735580" y="5449824"/>
            <a:ext cx="41148" cy="85953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207" name="TextBox 206">
            <a:extLst>
              <a:ext uri="{FF2B5EF4-FFF2-40B4-BE49-F238E27FC236}">
                <a16:creationId xmlns:a16="http://schemas.microsoft.com/office/drawing/2014/main" id="{744234BA-B51D-BF52-F20E-B4AA9BD44B6F}"/>
              </a:ext>
            </a:extLst>
          </p:cNvPr>
          <p:cNvSpPr txBox="1"/>
          <p:nvPr/>
        </p:nvSpPr>
        <p:spPr>
          <a:xfrm>
            <a:off x="12918460" y="5559552"/>
            <a:ext cx="2532888" cy="153888"/>
          </a:xfrm>
          <a:prstGeom prst="rect">
            <a:avLst/>
          </a:prstGeom>
          <a:noFill/>
        </p:spPr>
        <p:txBody>
          <a:bodyPr wrap="square" lIns="0" tIns="0" rIns="0" bIns="0" anchor="t">
            <a:spAutoFit/>
          </a:bodyPr>
          <a:lstStyle/>
          <a:p>
            <a:pPr algn="l">
              <a:lnSpc>
                <a:spcPct val="100000"/>
              </a:lnSpc>
            </a:pPr>
            <a:r>
              <a:rPr lang="es-ES_tradnl" sz="1000" b="1" i="0" noProof="0" dirty="0">
                <a:solidFill>
                  <a:srgbClr val="6E7E7D"/>
                </a:solidFill>
                <a:latin typeface="Calibri" panose="020F0502020204030204" pitchFamily="34" charset="0"/>
                <a:cs typeface="Calibri" panose="020F0502020204030204" pitchFamily="34" charset="0"/>
              </a:rPr>
              <a:t>SIGNO EN LA FÓRMULA</a:t>
            </a:r>
          </a:p>
        </p:txBody>
      </p:sp>
      <p:sp>
        <p:nvSpPr>
          <p:cNvPr id="208" name="TextBox 207">
            <a:extLst>
              <a:ext uri="{FF2B5EF4-FFF2-40B4-BE49-F238E27FC236}">
                <a16:creationId xmlns:a16="http://schemas.microsoft.com/office/drawing/2014/main" id="{A3DD9E2A-5D8B-D595-4A9F-43FF41F1519A}"/>
              </a:ext>
            </a:extLst>
          </p:cNvPr>
          <p:cNvSpPr txBox="1"/>
          <p:nvPr/>
        </p:nvSpPr>
        <p:spPr>
          <a:xfrm>
            <a:off x="12918460" y="5694460"/>
            <a:ext cx="2532888" cy="369332"/>
          </a:xfrm>
          <a:prstGeom prst="rect">
            <a:avLst/>
          </a:prstGeom>
          <a:noFill/>
        </p:spPr>
        <p:txBody>
          <a:bodyPr wrap="square" lIns="0" tIns="0" rIns="0" bIns="0" anchor="t">
            <a:spAutoFit/>
          </a:bodyPr>
          <a:lstStyle/>
          <a:p>
            <a:pPr algn="l">
              <a:lnSpc>
                <a:spcPct val="100000"/>
              </a:lnSpc>
            </a:pPr>
            <a:r>
              <a:rPr lang="es-ES_tradnl" sz="2400" b="1" i="0" noProof="0" dirty="0">
                <a:solidFill>
                  <a:srgbClr val="13807B"/>
                </a:solidFill>
                <a:latin typeface="Calibri" panose="020F0502020204030204" pitchFamily="34" charset="0"/>
                <a:cs typeface="Calibri" panose="020F0502020204030204" pitchFamily="34" charset="0"/>
              </a:rPr>
              <a:t>− resta</a:t>
            </a:r>
          </a:p>
        </p:txBody>
      </p:sp>
      <p:sp>
        <p:nvSpPr>
          <p:cNvPr id="209" name="TextBox 208">
            <a:extLst>
              <a:ext uri="{FF2B5EF4-FFF2-40B4-BE49-F238E27FC236}">
                <a16:creationId xmlns:a16="http://schemas.microsoft.com/office/drawing/2014/main" id="{C147B9AC-494E-0492-00D3-F641296ADCE7}"/>
              </a:ext>
            </a:extLst>
          </p:cNvPr>
          <p:cNvSpPr txBox="1"/>
          <p:nvPr/>
        </p:nvSpPr>
        <p:spPr>
          <a:xfrm>
            <a:off x="12918460" y="6035040"/>
            <a:ext cx="2532888" cy="153888"/>
          </a:xfrm>
          <a:prstGeom prst="rect">
            <a:avLst/>
          </a:prstGeom>
          <a:noFill/>
        </p:spPr>
        <p:txBody>
          <a:bodyPr wrap="square" lIns="0" tIns="0" rIns="0" bIns="0" anchor="t">
            <a:spAutoFit/>
          </a:bodyPr>
          <a:lstStyle/>
          <a:p>
            <a:pPr algn="l">
              <a:lnSpc>
                <a:spcPct val="100000"/>
              </a:lnSpc>
            </a:pPr>
            <a:r>
              <a:rPr lang="es-ES_tradnl" sz="1000" b="0" i="0" noProof="0" dirty="0">
                <a:solidFill>
                  <a:srgbClr val="6E7E7D"/>
                </a:solidFill>
                <a:latin typeface="Calibri" panose="020F0502020204030204" pitchFamily="34" charset="0"/>
                <a:cs typeface="Calibri" panose="020F0502020204030204" pitchFamily="34" charset="0"/>
              </a:rPr>
              <a:t>es el único componente que baja la tasa</a:t>
            </a:r>
          </a:p>
        </p:txBody>
      </p:sp>
      <p:sp>
        <p:nvSpPr>
          <p:cNvPr id="210" name="Rectangle 209">
            <a:extLst>
              <a:ext uri="{FF2B5EF4-FFF2-40B4-BE49-F238E27FC236}">
                <a16:creationId xmlns:a16="http://schemas.microsoft.com/office/drawing/2014/main" id="{6D52FFC6-BA30-38F9-42AF-0553D2E82B72}"/>
              </a:ext>
            </a:extLst>
          </p:cNvPr>
          <p:cNvSpPr/>
          <p:nvPr/>
        </p:nvSpPr>
        <p:spPr>
          <a:xfrm>
            <a:off x="12735580" y="6419088"/>
            <a:ext cx="2862072" cy="859536"/>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211" name="Rectangle 210">
            <a:extLst>
              <a:ext uri="{FF2B5EF4-FFF2-40B4-BE49-F238E27FC236}">
                <a16:creationId xmlns:a16="http://schemas.microsoft.com/office/drawing/2014/main" id="{3E68994B-9ACB-5A14-7EAF-0980279AF817}"/>
              </a:ext>
            </a:extLst>
          </p:cNvPr>
          <p:cNvSpPr/>
          <p:nvPr/>
        </p:nvSpPr>
        <p:spPr>
          <a:xfrm>
            <a:off x="12735580" y="6419088"/>
            <a:ext cx="41148" cy="85953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sp>
        <p:nvSpPr>
          <p:cNvPr id="212" name="TextBox 211">
            <a:extLst>
              <a:ext uri="{FF2B5EF4-FFF2-40B4-BE49-F238E27FC236}">
                <a16:creationId xmlns:a16="http://schemas.microsoft.com/office/drawing/2014/main" id="{C333A133-E919-A6CE-4250-3A45F8FBA7B4}"/>
              </a:ext>
            </a:extLst>
          </p:cNvPr>
          <p:cNvSpPr txBox="1"/>
          <p:nvPr/>
        </p:nvSpPr>
        <p:spPr>
          <a:xfrm>
            <a:off x="12918460" y="6528816"/>
            <a:ext cx="2532888" cy="153888"/>
          </a:xfrm>
          <a:prstGeom prst="rect">
            <a:avLst/>
          </a:prstGeom>
          <a:noFill/>
        </p:spPr>
        <p:txBody>
          <a:bodyPr wrap="square" lIns="0" tIns="0" rIns="0" bIns="0" anchor="t">
            <a:spAutoFit/>
          </a:bodyPr>
          <a:lstStyle/>
          <a:p>
            <a:pPr algn="l">
              <a:lnSpc>
                <a:spcPct val="100000"/>
              </a:lnSpc>
            </a:pPr>
            <a:r>
              <a:rPr lang="es-ES_tradnl" sz="1000" b="1" i="0" noProof="0" dirty="0">
                <a:solidFill>
                  <a:srgbClr val="6E7E7D"/>
                </a:solidFill>
                <a:latin typeface="Calibri" panose="020F0502020204030204" pitchFamily="34" charset="0"/>
                <a:cs typeface="Calibri" panose="020F0502020204030204" pitchFamily="34" charset="0"/>
              </a:rPr>
              <a:t>REFERENCIA LARGA</a:t>
            </a:r>
          </a:p>
        </p:txBody>
      </p:sp>
      <p:sp>
        <p:nvSpPr>
          <p:cNvPr id="213" name="TextBox 212">
            <a:extLst>
              <a:ext uri="{FF2B5EF4-FFF2-40B4-BE49-F238E27FC236}">
                <a16:creationId xmlns:a16="http://schemas.microsoft.com/office/drawing/2014/main" id="{51C70EE9-8C09-AF84-EA2F-EFC664BAE2A4}"/>
              </a:ext>
            </a:extLst>
          </p:cNvPr>
          <p:cNvSpPr txBox="1"/>
          <p:nvPr/>
        </p:nvSpPr>
        <p:spPr>
          <a:xfrm>
            <a:off x="12918460" y="6729984"/>
            <a:ext cx="2532888" cy="369332"/>
          </a:xfrm>
          <a:prstGeom prst="rect">
            <a:avLst/>
          </a:prstGeom>
          <a:noFill/>
        </p:spPr>
        <p:txBody>
          <a:bodyPr wrap="square" lIns="0" tIns="0" rIns="0" bIns="0" anchor="t">
            <a:spAutoFit/>
          </a:bodyPr>
          <a:lstStyle/>
          <a:p>
            <a:pPr algn="l">
              <a:lnSpc>
                <a:spcPct val="100000"/>
              </a:lnSpc>
            </a:pPr>
            <a:r>
              <a:rPr lang="es-ES_tradnl" sz="2400" b="1" i="0" noProof="0" dirty="0">
                <a:solidFill>
                  <a:srgbClr val="445A6E"/>
                </a:solidFill>
                <a:latin typeface="Calibri" panose="020F0502020204030204" pitchFamily="34" charset="0"/>
                <a:cs typeface="Calibri" panose="020F0502020204030204" pitchFamily="34" charset="0"/>
              </a:rPr>
              <a:t>7.09%</a:t>
            </a:r>
          </a:p>
        </p:txBody>
      </p:sp>
      <p:sp>
        <p:nvSpPr>
          <p:cNvPr id="214" name="TextBox 213">
            <a:extLst>
              <a:ext uri="{FF2B5EF4-FFF2-40B4-BE49-F238E27FC236}">
                <a16:creationId xmlns:a16="http://schemas.microsoft.com/office/drawing/2014/main" id="{5C31CBEA-61F9-ACF9-2C74-CCAB171EA731}"/>
              </a:ext>
            </a:extLst>
          </p:cNvPr>
          <p:cNvSpPr txBox="1"/>
          <p:nvPr/>
        </p:nvSpPr>
        <p:spPr>
          <a:xfrm>
            <a:off x="12918460" y="7004304"/>
            <a:ext cx="2532888" cy="153888"/>
          </a:xfrm>
          <a:prstGeom prst="rect">
            <a:avLst/>
          </a:prstGeom>
          <a:noFill/>
        </p:spPr>
        <p:txBody>
          <a:bodyPr wrap="square" lIns="0" tIns="0" rIns="0" bIns="0" anchor="t">
            <a:spAutoFit/>
          </a:bodyPr>
          <a:lstStyle/>
          <a:p>
            <a:pPr algn="l">
              <a:lnSpc>
                <a:spcPct val="100000"/>
              </a:lnSpc>
            </a:pPr>
            <a:r>
              <a:rPr lang="es-ES_tradnl" sz="1000" b="0" i="0" noProof="0" dirty="0">
                <a:solidFill>
                  <a:srgbClr val="6E7E7D"/>
                </a:solidFill>
                <a:latin typeface="Calibri" panose="020F0502020204030204" pitchFamily="34" charset="0"/>
                <a:cs typeface="Calibri" panose="020F0502020204030204" pitchFamily="34" charset="0"/>
              </a:rPr>
              <a:t>rendimiento soberano al tramo más largo</a:t>
            </a:r>
          </a:p>
        </p:txBody>
      </p:sp>
      <p:sp>
        <p:nvSpPr>
          <p:cNvPr id="215" name="Rectangle 214">
            <a:extLst>
              <a:ext uri="{FF2B5EF4-FFF2-40B4-BE49-F238E27FC236}">
                <a16:creationId xmlns:a16="http://schemas.microsoft.com/office/drawing/2014/main" id="{C2AA2EDD-9635-0604-B8C0-D7C1F4F574B3}"/>
              </a:ext>
            </a:extLst>
          </p:cNvPr>
          <p:cNvSpPr/>
          <p:nvPr/>
        </p:nvSpPr>
        <p:spPr>
          <a:xfrm>
            <a:off x="12735580" y="7388352"/>
            <a:ext cx="2862072" cy="65836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cxnSp>
        <p:nvCxnSpPr>
          <p:cNvPr id="216" name="Connector 61">
            <a:extLst>
              <a:ext uri="{FF2B5EF4-FFF2-40B4-BE49-F238E27FC236}">
                <a16:creationId xmlns:a16="http://schemas.microsoft.com/office/drawing/2014/main" id="{02990933-6BF2-5005-27B1-38C9E309DED2}"/>
              </a:ext>
            </a:extLst>
          </p:cNvPr>
          <p:cNvCxnSpPr/>
          <p:nvPr/>
        </p:nvCxnSpPr>
        <p:spPr>
          <a:xfrm>
            <a:off x="12735580" y="7388352"/>
            <a:ext cx="0" cy="658368"/>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217" name="TextBox 216">
            <a:extLst>
              <a:ext uri="{FF2B5EF4-FFF2-40B4-BE49-F238E27FC236}">
                <a16:creationId xmlns:a16="http://schemas.microsoft.com/office/drawing/2014/main" id="{4194BFC9-FA9F-71A0-1BFC-C6FAD91FABDD}"/>
              </a:ext>
            </a:extLst>
          </p:cNvPr>
          <p:cNvSpPr txBox="1"/>
          <p:nvPr/>
        </p:nvSpPr>
        <p:spPr>
          <a:xfrm>
            <a:off x="12900172" y="7549798"/>
            <a:ext cx="2532888" cy="335476"/>
          </a:xfrm>
          <a:prstGeom prst="rect">
            <a:avLst/>
          </a:prstGeom>
          <a:noFill/>
        </p:spPr>
        <p:txBody>
          <a:bodyPr wrap="square" lIns="0" tIns="0" rIns="0" bIns="0" anchor="ctr">
            <a:spAutoFit/>
          </a:bodyPr>
          <a:lstStyle/>
          <a:p>
            <a:pPr algn="l">
              <a:lnSpc>
                <a:spcPct val="112000"/>
              </a:lnSpc>
              <a:spcAft>
                <a:spcPts val="200"/>
              </a:spcAft>
            </a:pPr>
            <a:r>
              <a:rPr lang="es-ES_tradnl" sz="1000" b="0" i="0" noProof="0" dirty="0">
                <a:solidFill>
                  <a:srgbClr val="3E5553"/>
                </a:solidFill>
                <a:latin typeface="Calibri" panose="020F0502020204030204" pitchFamily="34" charset="0"/>
                <a:cs typeface="Calibri" panose="020F0502020204030204" pitchFamily="34" charset="0"/>
              </a:rPr>
              <a:t>A mayor duración del crédito, mayor la tasa libre de riesgo capturada y mayor el beneficio.</a:t>
            </a:r>
          </a:p>
        </p:txBody>
      </p:sp>
      <p:sp>
        <p:nvSpPr>
          <p:cNvPr id="218" name="Rectangle 217">
            <a:extLst>
              <a:ext uri="{FF2B5EF4-FFF2-40B4-BE49-F238E27FC236}">
                <a16:creationId xmlns:a16="http://schemas.microsoft.com/office/drawing/2014/main" id="{D9EDEA5E-C0CF-6421-8CB6-1B1001300EFA}"/>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1800" noProof="0" dirty="0">
              <a:latin typeface="Calibri" panose="020F0502020204030204" pitchFamily="34" charset="0"/>
              <a:cs typeface="Calibri" panose="020F0502020204030204" pitchFamily="34" charset="0"/>
            </a:endParaRPr>
          </a:p>
        </p:txBody>
      </p:sp>
      <p:cxnSp>
        <p:nvCxnSpPr>
          <p:cNvPr id="219" name="Connector 64">
            <a:extLst>
              <a:ext uri="{FF2B5EF4-FFF2-40B4-BE49-F238E27FC236}">
                <a16:creationId xmlns:a16="http://schemas.microsoft.com/office/drawing/2014/main" id="{FB4C0D45-A8E1-7BB4-2200-73D9CD9DA827}"/>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220" name="TextBox 219">
            <a:extLst>
              <a:ext uri="{FF2B5EF4-FFF2-40B4-BE49-F238E27FC236}">
                <a16:creationId xmlns:a16="http://schemas.microsoft.com/office/drawing/2014/main" id="{8BDB59A3-D375-9ADC-5BAF-68D0EC4635BA}"/>
              </a:ext>
            </a:extLst>
          </p:cNvPr>
          <p:cNvSpPr txBox="1"/>
          <p:nvPr/>
        </p:nvSpPr>
        <p:spPr>
          <a:xfrm>
            <a:off x="896112" y="8285116"/>
            <a:ext cx="14482084" cy="199863"/>
          </a:xfrm>
          <a:prstGeom prst="rect">
            <a:avLst/>
          </a:prstGeom>
          <a:noFill/>
        </p:spPr>
        <p:txBody>
          <a:bodyPr wrap="square" lIns="0" tIns="0" rIns="0" bIns="0" anchor="ctr">
            <a:spAutoFit/>
          </a:bodyPr>
          <a:lstStyle/>
          <a:p>
            <a:pPr algn="l">
              <a:lnSpc>
                <a:spcPct val="115000"/>
              </a:lnSpc>
              <a:spcAft>
                <a:spcPts val="400"/>
              </a:spcAft>
            </a:pPr>
            <a:r>
              <a:rPr lang="es-ES_tradnl" sz="1200" b="1" i="0" noProof="0" dirty="0">
                <a:solidFill>
                  <a:srgbClr val="0C514E"/>
                </a:solidFill>
                <a:latin typeface="Calibri" panose="020F0502020204030204" pitchFamily="34" charset="0"/>
                <a:cs typeface="Calibri" panose="020F0502020204030204" pitchFamily="34" charset="0"/>
              </a:rPr>
              <a:t>Sin este componente el crédito paga dos veces el capital: una por inmovilizarlo y otra por no reconocer lo que ese capital rinde.</a:t>
            </a:r>
          </a:p>
        </p:txBody>
      </p:sp>
    </p:spTree>
    <p:extLst>
      <p:ext uri="{BB962C8B-B14F-4D97-AF65-F5344CB8AC3E}">
        <p14:creationId xmlns:p14="http://schemas.microsoft.com/office/powerpoint/2010/main" val="3224456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3BC71-FAF1-8FC5-AFB7-A34E09746735}"/>
            </a:ext>
          </a:extLst>
        </p:cNvPr>
        <p:cNvGrpSpPr/>
        <p:nvPr/>
      </p:nvGrpSpPr>
      <p:grpSpPr>
        <a:xfrm>
          <a:off x="0" y="0"/>
          <a:ext cx="0" cy="0"/>
          <a:chOff x="0" y="0"/>
          <a:chExt cx="0" cy="0"/>
        </a:xfrm>
      </p:grpSpPr>
      <p:sp>
        <p:nvSpPr>
          <p:cNvPr id="118" name="Google Shape;167;g3ed063acbfe_1_0">
            <a:extLst>
              <a:ext uri="{FF2B5EF4-FFF2-40B4-BE49-F238E27FC236}">
                <a16:creationId xmlns:a16="http://schemas.microsoft.com/office/drawing/2014/main" id="{AA28058D-FC3E-1904-A52A-23AA49D29B36}"/>
              </a:ext>
            </a:extLst>
          </p:cNvPr>
          <p:cNvSpPr txBox="1"/>
          <p:nvPr/>
        </p:nvSpPr>
        <p:spPr>
          <a:xfrm>
            <a:off x="184661" y="98822"/>
            <a:ext cx="14787179"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Ecosistema de pricing, visión cliente 360°, para la gestión del precio </a:t>
            </a:r>
          </a:p>
        </p:txBody>
      </p:sp>
      <p:sp>
        <p:nvSpPr>
          <p:cNvPr id="2" name="Rectangle 1">
            <a:extLst>
              <a:ext uri="{FF2B5EF4-FFF2-40B4-BE49-F238E27FC236}">
                <a16:creationId xmlns:a16="http://schemas.microsoft.com/office/drawing/2014/main" id="{2E8E9F59-AEC1-41FF-4EED-614F90ED35BD}"/>
              </a:ext>
            </a:extLst>
          </p:cNvPr>
          <p:cNvSpPr/>
          <p:nvPr/>
        </p:nvSpPr>
        <p:spPr>
          <a:xfrm>
            <a:off x="0" y="1241823"/>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37" name="Google Shape;401;g3a8a166b9a7_8_346">
            <a:extLst>
              <a:ext uri="{FF2B5EF4-FFF2-40B4-BE49-F238E27FC236}">
                <a16:creationId xmlns:a16="http://schemas.microsoft.com/office/drawing/2014/main" id="{DB19B397-2C4B-C8A9-202A-AC7B6A068A9F}"/>
              </a:ext>
            </a:extLst>
          </p:cNvPr>
          <p:cNvSpPr/>
          <p:nvPr/>
        </p:nvSpPr>
        <p:spPr>
          <a:xfrm>
            <a:off x="12367268" y="2990064"/>
            <a:ext cx="3589859" cy="532260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09" name="Google Shape;402;g3a8a166b9a7_8_346">
            <a:extLst>
              <a:ext uri="{FF2B5EF4-FFF2-40B4-BE49-F238E27FC236}">
                <a16:creationId xmlns:a16="http://schemas.microsoft.com/office/drawing/2014/main" id="{E74BBE2C-FB9B-B5FE-3500-28E1B932174C}"/>
              </a:ext>
            </a:extLst>
          </p:cNvPr>
          <p:cNvSpPr/>
          <p:nvPr/>
        </p:nvSpPr>
        <p:spPr>
          <a:xfrm>
            <a:off x="12367268" y="3007819"/>
            <a:ext cx="3589859" cy="666056"/>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0" name="Google Shape;403;g3a8a166b9a7_8_346">
            <a:extLst>
              <a:ext uri="{FF2B5EF4-FFF2-40B4-BE49-F238E27FC236}">
                <a16:creationId xmlns:a16="http://schemas.microsoft.com/office/drawing/2014/main" id="{80F3302F-3129-F561-AE89-3DF12F6FF79D}"/>
              </a:ext>
            </a:extLst>
          </p:cNvPr>
          <p:cNvSpPr/>
          <p:nvPr/>
        </p:nvSpPr>
        <p:spPr>
          <a:xfrm>
            <a:off x="4340814" y="2990065"/>
            <a:ext cx="3902175"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1" name="Google Shape;404;g3a8a166b9a7_8_346">
            <a:extLst>
              <a:ext uri="{FF2B5EF4-FFF2-40B4-BE49-F238E27FC236}">
                <a16:creationId xmlns:a16="http://schemas.microsoft.com/office/drawing/2014/main" id="{C9FAD11B-B29B-B004-91BF-C061C7B58E6E}"/>
              </a:ext>
            </a:extLst>
          </p:cNvPr>
          <p:cNvSpPr/>
          <p:nvPr/>
        </p:nvSpPr>
        <p:spPr>
          <a:xfrm>
            <a:off x="4360081" y="3006979"/>
            <a:ext cx="3889928" cy="710995"/>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2" name="Google Shape;405;g3a8a166b9a7_8_346">
            <a:extLst>
              <a:ext uri="{FF2B5EF4-FFF2-40B4-BE49-F238E27FC236}">
                <a16:creationId xmlns:a16="http://schemas.microsoft.com/office/drawing/2014/main" id="{BBE052A3-2258-7BE6-ABAB-4A8271E172FB}"/>
              </a:ext>
            </a:extLst>
          </p:cNvPr>
          <p:cNvSpPr/>
          <p:nvPr/>
        </p:nvSpPr>
        <p:spPr>
          <a:xfrm>
            <a:off x="8407686" y="2980435"/>
            <a:ext cx="3770487"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9" name="Google Shape;406;g3a8a166b9a7_8_346">
            <a:extLst>
              <a:ext uri="{FF2B5EF4-FFF2-40B4-BE49-F238E27FC236}">
                <a16:creationId xmlns:a16="http://schemas.microsoft.com/office/drawing/2014/main" id="{F2EA0AE1-0150-EB17-27D3-5070A31385EB}"/>
              </a:ext>
            </a:extLst>
          </p:cNvPr>
          <p:cNvSpPr/>
          <p:nvPr/>
        </p:nvSpPr>
        <p:spPr>
          <a:xfrm>
            <a:off x="8398088" y="3012625"/>
            <a:ext cx="3770485"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20" name="Google Shape;407;g3a8a166b9a7_8_346">
            <a:extLst>
              <a:ext uri="{FF2B5EF4-FFF2-40B4-BE49-F238E27FC236}">
                <a16:creationId xmlns:a16="http://schemas.microsoft.com/office/drawing/2014/main" id="{467E336E-FDED-E5A4-EA93-A43458B42716}"/>
              </a:ext>
            </a:extLst>
          </p:cNvPr>
          <p:cNvSpPr/>
          <p:nvPr/>
        </p:nvSpPr>
        <p:spPr>
          <a:xfrm>
            <a:off x="416026" y="2980435"/>
            <a:ext cx="3770487" cy="533516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21" name="Google Shape;408;g3a8a166b9a7_8_346">
            <a:extLst>
              <a:ext uri="{FF2B5EF4-FFF2-40B4-BE49-F238E27FC236}">
                <a16:creationId xmlns:a16="http://schemas.microsoft.com/office/drawing/2014/main" id="{6B0EC86D-D321-0B5D-81E8-70359E85A556}"/>
              </a:ext>
            </a:extLst>
          </p:cNvPr>
          <p:cNvSpPr/>
          <p:nvPr/>
        </p:nvSpPr>
        <p:spPr>
          <a:xfrm>
            <a:off x="409280" y="2991960"/>
            <a:ext cx="3783457"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nvGrpSpPr>
          <p:cNvPr id="122" name="Google Shape;410;g3a8a166b9a7_8_346">
            <a:extLst>
              <a:ext uri="{FF2B5EF4-FFF2-40B4-BE49-F238E27FC236}">
                <a16:creationId xmlns:a16="http://schemas.microsoft.com/office/drawing/2014/main" id="{62979032-D8D9-08A5-799C-BAF8E42C3177}"/>
              </a:ext>
            </a:extLst>
          </p:cNvPr>
          <p:cNvGrpSpPr/>
          <p:nvPr/>
        </p:nvGrpSpPr>
        <p:grpSpPr>
          <a:xfrm>
            <a:off x="7261859" y="974183"/>
            <a:ext cx="1935480" cy="1882989"/>
            <a:chOff x="3638550" y="1249678"/>
            <a:chExt cx="1842770" cy="1747522"/>
          </a:xfrm>
        </p:grpSpPr>
        <p:sp>
          <p:nvSpPr>
            <p:cNvPr id="123" name="Google Shape;411;g3a8a166b9a7_8_346">
              <a:extLst>
                <a:ext uri="{FF2B5EF4-FFF2-40B4-BE49-F238E27FC236}">
                  <a16:creationId xmlns:a16="http://schemas.microsoft.com/office/drawing/2014/main" id="{5FED38B4-F560-1963-6CFD-35476990ABD8}"/>
                </a:ext>
              </a:extLst>
            </p:cNvPr>
            <p:cNvSpPr/>
            <p:nvPr/>
          </p:nvSpPr>
          <p:spPr>
            <a:xfrm>
              <a:off x="3638550" y="1249678"/>
              <a:ext cx="1842770" cy="1747522"/>
            </a:xfrm>
            <a:prstGeom prst="flowChartConnector">
              <a:avLst/>
            </a:prstGeom>
            <a:solidFill>
              <a:srgbClr val="DBDBDB"/>
            </a:solidFill>
            <a:ln w="9525" cap="flat" cmpd="sng">
              <a:solidFill>
                <a:srgbClr val="D8D8D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sp>
          <p:nvSpPr>
            <p:cNvPr id="124" name="Google Shape;412;g3a8a166b9a7_8_346">
              <a:extLst>
                <a:ext uri="{FF2B5EF4-FFF2-40B4-BE49-F238E27FC236}">
                  <a16:creationId xmlns:a16="http://schemas.microsoft.com/office/drawing/2014/main" id="{9A17BDD4-058B-BFD5-9CC8-1CF6D54AE428}"/>
                </a:ext>
              </a:extLst>
            </p:cNvPr>
            <p:cNvSpPr/>
            <p:nvPr/>
          </p:nvSpPr>
          <p:spPr>
            <a:xfrm>
              <a:off x="3887470" y="1508758"/>
              <a:ext cx="1344930" cy="1229361"/>
            </a:xfrm>
            <a:prstGeom prst="flowChartConnector">
              <a:avLst/>
            </a:prstGeom>
            <a:solidFill>
              <a:srgbClr val="F2F2F2"/>
            </a:solidFill>
            <a:ln w="5715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grpSp>
      <p:sp>
        <p:nvSpPr>
          <p:cNvPr id="125" name="Google Shape;413;g3a8a166b9a7_8_346">
            <a:extLst>
              <a:ext uri="{FF2B5EF4-FFF2-40B4-BE49-F238E27FC236}">
                <a16:creationId xmlns:a16="http://schemas.microsoft.com/office/drawing/2014/main" id="{6674CD48-2637-9024-61F3-2808DBA9C6CF}"/>
              </a:ext>
            </a:extLst>
          </p:cNvPr>
          <p:cNvSpPr txBox="1"/>
          <p:nvPr/>
        </p:nvSpPr>
        <p:spPr>
          <a:xfrm>
            <a:off x="446847" y="5610447"/>
            <a:ext cx="3640331"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Rentabilidad diferenciada por segmento</a:t>
            </a:r>
          </a:p>
        </p:txBody>
      </p:sp>
      <p:sp>
        <p:nvSpPr>
          <p:cNvPr id="126" name="Google Shape;434;g3a8a166b9a7_8_346">
            <a:extLst>
              <a:ext uri="{FF2B5EF4-FFF2-40B4-BE49-F238E27FC236}">
                <a16:creationId xmlns:a16="http://schemas.microsoft.com/office/drawing/2014/main" id="{DE217D24-BEBB-1840-F085-4736DE364ECC}"/>
              </a:ext>
            </a:extLst>
          </p:cNvPr>
          <p:cNvSpPr txBox="1"/>
          <p:nvPr/>
        </p:nvSpPr>
        <p:spPr>
          <a:xfrm>
            <a:off x="469905" y="3846893"/>
            <a:ext cx="2638352"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latin typeface="Poppins" panose="00000500000000000000" pitchFamily="2" charset="0"/>
                <a:ea typeface="Calibri"/>
                <a:cs typeface="Poppins" panose="00000500000000000000" pitchFamily="2" charset="0"/>
                <a:sym typeface="Calibri"/>
              </a:rPr>
              <a:t>Matriz de RAROC objetivo</a:t>
            </a:r>
            <a:endParaRPr lang="es-ES_tradnl" sz="1333" kern="1200" noProof="0" dirty="0">
              <a:latin typeface="Poppins" panose="00000500000000000000" pitchFamily="2" charset="0"/>
              <a:ea typeface="Calibri"/>
              <a:cs typeface="Poppins" panose="00000500000000000000" pitchFamily="2" charset="0"/>
              <a:sym typeface="Calibri"/>
            </a:endParaRPr>
          </a:p>
        </p:txBody>
      </p:sp>
      <p:grpSp>
        <p:nvGrpSpPr>
          <p:cNvPr id="127" name="Google Shape;436;g3a8a166b9a7_8_346">
            <a:extLst>
              <a:ext uri="{FF2B5EF4-FFF2-40B4-BE49-F238E27FC236}">
                <a16:creationId xmlns:a16="http://schemas.microsoft.com/office/drawing/2014/main" id="{4470CDB1-9C73-D666-AA77-FDDFC24630DE}"/>
              </a:ext>
            </a:extLst>
          </p:cNvPr>
          <p:cNvGrpSpPr/>
          <p:nvPr/>
        </p:nvGrpSpPr>
        <p:grpSpPr>
          <a:xfrm>
            <a:off x="9056426" y="4347409"/>
            <a:ext cx="2788447" cy="882460"/>
            <a:chOff x="3501127" y="4905040"/>
            <a:chExt cx="3415840" cy="1048361"/>
          </a:xfrm>
        </p:grpSpPr>
        <p:sp>
          <p:nvSpPr>
            <p:cNvPr id="128" name="Google Shape;437;g3a8a166b9a7_8_346">
              <a:extLst>
                <a:ext uri="{FF2B5EF4-FFF2-40B4-BE49-F238E27FC236}">
                  <a16:creationId xmlns:a16="http://schemas.microsoft.com/office/drawing/2014/main" id="{BEC6D76A-2749-9881-6018-75AA314FAC5A}"/>
                </a:ext>
              </a:extLst>
            </p:cNvPr>
            <p:cNvSpPr txBox="1"/>
            <p:nvPr/>
          </p:nvSpPr>
          <p:spPr>
            <a:xfrm>
              <a:off x="3501127" y="4905040"/>
              <a:ext cx="1682574" cy="498874"/>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 o</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29" name="Google Shape;438;g3a8a166b9a7_8_346">
              <a:extLst>
                <a:ext uri="{FF2B5EF4-FFF2-40B4-BE49-F238E27FC236}">
                  <a16:creationId xmlns:a16="http://schemas.microsoft.com/office/drawing/2014/main" id="{474A93A7-5AA4-643A-8907-9D99D6290533}"/>
                </a:ext>
              </a:extLst>
            </p:cNvPr>
            <p:cNvSpPr txBox="1"/>
            <p:nvPr/>
          </p:nvSpPr>
          <p:spPr>
            <a:xfrm>
              <a:off x="3511286" y="5444368"/>
              <a:ext cx="1682574" cy="498873"/>
            </a:xfrm>
            <a:prstGeom prst="rect">
              <a:avLst/>
            </a:prstGeom>
            <a:solidFill>
              <a:srgbClr val="D5DBE5"/>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Bajar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0" name="Google Shape;439;g3a8a166b9a7_8_346">
              <a:extLst>
                <a:ext uri="{FF2B5EF4-FFF2-40B4-BE49-F238E27FC236}">
                  <a16:creationId xmlns:a16="http://schemas.microsoft.com/office/drawing/2014/main" id="{0B107092-54F1-8BC5-7A32-3DF6DA49207E}"/>
                </a:ext>
              </a:extLst>
            </p:cNvPr>
            <p:cNvSpPr txBox="1"/>
            <p:nvPr/>
          </p:nvSpPr>
          <p:spPr>
            <a:xfrm>
              <a:off x="5224234" y="4915198"/>
              <a:ext cx="1682574" cy="498874"/>
            </a:xfrm>
            <a:prstGeom prst="rect">
              <a:avLst/>
            </a:prstGeom>
            <a:solidFill>
              <a:srgbClr val="ACB8CA">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1" name="Google Shape;440;g3a8a166b9a7_8_346">
              <a:extLst>
                <a:ext uri="{FF2B5EF4-FFF2-40B4-BE49-F238E27FC236}">
                  <a16:creationId xmlns:a16="http://schemas.microsoft.com/office/drawing/2014/main" id="{F89ECFDE-9B80-C2AF-1EB3-33E940A08907}"/>
                </a:ext>
              </a:extLst>
            </p:cNvPr>
            <p:cNvSpPr txBox="1"/>
            <p:nvPr/>
          </p:nvSpPr>
          <p:spPr>
            <a:xfrm>
              <a:off x="5234393" y="5454524"/>
              <a:ext cx="1682574" cy="498877"/>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cxnSp>
        <p:nvCxnSpPr>
          <p:cNvPr id="132" name="Google Shape;441;g3a8a166b9a7_8_346">
            <a:extLst>
              <a:ext uri="{FF2B5EF4-FFF2-40B4-BE49-F238E27FC236}">
                <a16:creationId xmlns:a16="http://schemas.microsoft.com/office/drawing/2014/main" id="{F51D13A4-EC21-2404-ACCB-C35D4F4985D5}"/>
              </a:ext>
            </a:extLst>
          </p:cNvPr>
          <p:cNvCxnSpPr/>
          <p:nvPr/>
        </p:nvCxnSpPr>
        <p:spPr>
          <a:xfrm>
            <a:off x="8958199" y="4270488"/>
            <a:ext cx="0" cy="1025769"/>
          </a:xfrm>
          <a:prstGeom prst="straightConnector1">
            <a:avLst/>
          </a:prstGeom>
          <a:noFill/>
          <a:ln w="9525" cap="flat" cmpd="sng">
            <a:solidFill>
              <a:srgbClr val="354A49"/>
            </a:solidFill>
            <a:prstDash val="solid"/>
            <a:round/>
            <a:headEnd type="none" w="sm" len="sm"/>
            <a:tailEnd type="triangle" w="med" len="med"/>
          </a:ln>
        </p:spPr>
      </p:cxnSp>
      <p:sp>
        <p:nvSpPr>
          <p:cNvPr id="133" name="Google Shape;442;g3a8a166b9a7_8_346">
            <a:extLst>
              <a:ext uri="{FF2B5EF4-FFF2-40B4-BE49-F238E27FC236}">
                <a16:creationId xmlns:a16="http://schemas.microsoft.com/office/drawing/2014/main" id="{78052693-7D5A-E3EF-EEB3-EE9895B27041}"/>
              </a:ext>
            </a:extLst>
          </p:cNvPr>
          <p:cNvSpPr txBox="1"/>
          <p:nvPr/>
        </p:nvSpPr>
        <p:spPr>
          <a:xfrm>
            <a:off x="8358042" y="5353094"/>
            <a:ext cx="1166732" cy="266605"/>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Elasticidad</a:t>
            </a:r>
            <a:endParaRPr lang="es-ES_tradnl" sz="1600" kern="1200" noProof="0" dirty="0">
              <a:latin typeface="Poppins" panose="00000500000000000000" pitchFamily="2" charset="0"/>
              <a:ea typeface="Calibri"/>
              <a:cs typeface="Poppins" panose="00000500000000000000" pitchFamily="2" charset="0"/>
              <a:sym typeface="Calibri"/>
            </a:endParaRPr>
          </a:p>
        </p:txBody>
      </p:sp>
      <p:cxnSp>
        <p:nvCxnSpPr>
          <p:cNvPr id="134" name="Google Shape;443;g3a8a166b9a7_8_346">
            <a:extLst>
              <a:ext uri="{FF2B5EF4-FFF2-40B4-BE49-F238E27FC236}">
                <a16:creationId xmlns:a16="http://schemas.microsoft.com/office/drawing/2014/main" id="{12816872-5ACB-3D37-9073-7CFE000387D1}"/>
              </a:ext>
            </a:extLst>
          </p:cNvPr>
          <p:cNvCxnSpPr/>
          <p:nvPr/>
        </p:nvCxnSpPr>
        <p:spPr>
          <a:xfrm>
            <a:off x="9021512" y="4274477"/>
            <a:ext cx="3022777" cy="12209"/>
          </a:xfrm>
          <a:prstGeom prst="straightConnector1">
            <a:avLst/>
          </a:prstGeom>
          <a:noFill/>
          <a:ln w="9525" cap="flat" cmpd="sng">
            <a:solidFill>
              <a:srgbClr val="354A49"/>
            </a:solidFill>
            <a:prstDash val="solid"/>
            <a:round/>
            <a:headEnd type="none" w="sm" len="sm"/>
            <a:tailEnd type="triangle" w="med" len="med"/>
          </a:ln>
        </p:spPr>
      </p:cxnSp>
      <p:sp>
        <p:nvSpPr>
          <p:cNvPr id="135" name="Google Shape;444;g3a8a166b9a7_8_346">
            <a:extLst>
              <a:ext uri="{FF2B5EF4-FFF2-40B4-BE49-F238E27FC236}">
                <a16:creationId xmlns:a16="http://schemas.microsoft.com/office/drawing/2014/main" id="{59F2856B-272D-9B0E-21BC-D7BE948333EA}"/>
              </a:ext>
            </a:extLst>
          </p:cNvPr>
          <p:cNvSpPr txBox="1"/>
          <p:nvPr/>
        </p:nvSpPr>
        <p:spPr>
          <a:xfrm>
            <a:off x="11299678" y="3885515"/>
            <a:ext cx="1166732" cy="41017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err="1">
                <a:latin typeface="Poppins" panose="00000500000000000000" pitchFamily="2" charset="0"/>
                <a:ea typeface="Calibri"/>
                <a:cs typeface="Poppins" panose="00000500000000000000" pitchFamily="2" charset="0"/>
                <a:sym typeface="Calibri"/>
              </a:rPr>
              <a:t>Info</a:t>
            </a:r>
            <a:r>
              <a:rPr lang="es-ES_tradnl" sz="933" b="1" kern="1200" noProof="0" dirty="0">
                <a:latin typeface="Poppins" panose="00000500000000000000" pitchFamily="2" charset="0"/>
                <a:ea typeface="Calibri"/>
                <a:cs typeface="Poppins" panose="00000500000000000000" pitchFamily="2" charset="0"/>
                <a:sym typeface="Calibri"/>
              </a:rPr>
              <a:t>. </a:t>
            </a:r>
            <a:endParaRPr lang="es-ES_tradnl" sz="1600" kern="1200" noProof="0" dirty="0">
              <a:latin typeface="Poppins" panose="00000500000000000000" pitchFamily="2" charset="0"/>
              <a:ea typeface="Calibri"/>
              <a:cs typeface="Poppins" panose="00000500000000000000" pitchFamily="2" charset="0"/>
              <a:sym typeface="Calibri"/>
            </a:endParaRPr>
          </a:p>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mercado</a:t>
            </a:r>
            <a:endParaRPr lang="es-ES_tradnl" sz="1600" kern="1200" noProof="0" dirty="0">
              <a:latin typeface="Poppins" panose="00000500000000000000" pitchFamily="2" charset="0"/>
              <a:ea typeface="Calibri"/>
              <a:cs typeface="Poppins" panose="00000500000000000000" pitchFamily="2" charset="0"/>
              <a:sym typeface="Calibri"/>
            </a:endParaRPr>
          </a:p>
        </p:txBody>
      </p:sp>
      <p:sp>
        <p:nvSpPr>
          <p:cNvPr id="136" name="Google Shape;445;g3a8a166b9a7_8_346">
            <a:extLst>
              <a:ext uri="{FF2B5EF4-FFF2-40B4-BE49-F238E27FC236}">
                <a16:creationId xmlns:a16="http://schemas.microsoft.com/office/drawing/2014/main" id="{02529A71-F37D-DD7E-9CEB-E32F52831B76}"/>
              </a:ext>
            </a:extLst>
          </p:cNvPr>
          <p:cNvSpPr txBox="1"/>
          <p:nvPr/>
        </p:nvSpPr>
        <p:spPr>
          <a:xfrm>
            <a:off x="9202040" y="3946832"/>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7" name="Google Shape;446;g3a8a166b9a7_8_346">
            <a:extLst>
              <a:ext uri="{FF2B5EF4-FFF2-40B4-BE49-F238E27FC236}">
                <a16:creationId xmlns:a16="http://schemas.microsoft.com/office/drawing/2014/main" id="{F268B412-ECE4-98EC-12B1-AEDEB1840484}"/>
              </a:ext>
            </a:extLst>
          </p:cNvPr>
          <p:cNvSpPr txBox="1"/>
          <p:nvPr/>
        </p:nvSpPr>
        <p:spPr>
          <a:xfrm>
            <a:off x="10567486" y="3946832"/>
            <a:ext cx="109489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8" name="Google Shape;447;g3a8a166b9a7_8_346">
            <a:extLst>
              <a:ext uri="{FF2B5EF4-FFF2-40B4-BE49-F238E27FC236}">
                <a16:creationId xmlns:a16="http://schemas.microsoft.com/office/drawing/2014/main" id="{A029D957-3ECA-BDF6-5F9F-8209F19B5A76}"/>
              </a:ext>
            </a:extLst>
          </p:cNvPr>
          <p:cNvSpPr txBox="1"/>
          <p:nvPr/>
        </p:nvSpPr>
        <p:spPr>
          <a:xfrm>
            <a:off x="8104760" y="426457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9" name="Google Shape;448;g3a8a166b9a7_8_346">
            <a:extLst>
              <a:ext uri="{FF2B5EF4-FFF2-40B4-BE49-F238E27FC236}">
                <a16:creationId xmlns:a16="http://schemas.microsoft.com/office/drawing/2014/main" id="{2AA2A8CF-A6C0-E915-872E-273D334D376F}"/>
              </a:ext>
            </a:extLst>
          </p:cNvPr>
          <p:cNvSpPr txBox="1"/>
          <p:nvPr/>
        </p:nvSpPr>
        <p:spPr>
          <a:xfrm>
            <a:off x="8077666" y="484228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40" name="Google Shape;449;g3a8a166b9a7_8_346">
            <a:extLst>
              <a:ext uri="{FF2B5EF4-FFF2-40B4-BE49-F238E27FC236}">
                <a16:creationId xmlns:a16="http://schemas.microsoft.com/office/drawing/2014/main" id="{7EE0261C-DF8F-5411-6283-EA75520F7F78}"/>
              </a:ext>
            </a:extLst>
          </p:cNvPr>
          <p:cNvSpPr txBox="1"/>
          <p:nvPr/>
        </p:nvSpPr>
        <p:spPr>
          <a:xfrm>
            <a:off x="8699188" y="3839253"/>
            <a:ext cx="2823499"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solidFill>
                  <a:srgbClr val="217378"/>
                </a:solidFill>
                <a:latin typeface="Poppins" panose="00000500000000000000" pitchFamily="2" charset="0"/>
                <a:ea typeface="Calibri"/>
                <a:cs typeface="Poppins" panose="00000500000000000000" pitchFamily="2" charset="0"/>
                <a:sym typeface="Calibri"/>
              </a:rPr>
              <a:t>Tabla de decisión</a:t>
            </a:r>
            <a:endParaRPr lang="es-ES_tradnl" sz="1333" kern="1200" noProof="0" dirty="0">
              <a:latin typeface="Poppins" panose="00000500000000000000" pitchFamily="2" charset="0"/>
              <a:ea typeface="Calibri"/>
              <a:cs typeface="Poppins" panose="00000500000000000000" pitchFamily="2" charset="0"/>
              <a:sym typeface="Calibri"/>
            </a:endParaRPr>
          </a:p>
        </p:txBody>
      </p:sp>
      <p:sp>
        <p:nvSpPr>
          <p:cNvPr id="141" name="Google Shape;450;g3a8a166b9a7_8_346">
            <a:extLst>
              <a:ext uri="{FF2B5EF4-FFF2-40B4-BE49-F238E27FC236}">
                <a16:creationId xmlns:a16="http://schemas.microsoft.com/office/drawing/2014/main" id="{53B8B54F-B021-78CF-FCC8-42B0622276C7}"/>
              </a:ext>
            </a:extLst>
          </p:cNvPr>
          <p:cNvSpPr txBox="1"/>
          <p:nvPr/>
        </p:nvSpPr>
        <p:spPr>
          <a:xfrm>
            <a:off x="8624285" y="5610447"/>
            <a:ext cx="3427713"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Ajustes por sensibilidad al precio y mercado</a:t>
            </a:r>
          </a:p>
        </p:txBody>
      </p:sp>
      <p:sp>
        <p:nvSpPr>
          <p:cNvPr id="142" name="Google Shape;451;g3a8a166b9a7_8_346">
            <a:extLst>
              <a:ext uri="{FF2B5EF4-FFF2-40B4-BE49-F238E27FC236}">
                <a16:creationId xmlns:a16="http://schemas.microsoft.com/office/drawing/2014/main" id="{B5D8C6F6-4BCC-28B1-260B-A1C526ED9449}"/>
              </a:ext>
            </a:extLst>
          </p:cNvPr>
          <p:cNvSpPr txBox="1"/>
          <p:nvPr/>
        </p:nvSpPr>
        <p:spPr>
          <a:xfrm>
            <a:off x="12356471" y="6511523"/>
            <a:ext cx="3644792"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RPr lang="es-PE"/>
            </a:defPPr>
            <a:lvl1pPr marL="171450" marR="0" lvl="0" indent="-171450">
              <a:lnSpc>
                <a:spcPct val="100000"/>
              </a:lnSpc>
              <a:spcBef>
                <a:spcPts val="0"/>
              </a:spcBef>
              <a:spcAft>
                <a:spcPts val="0"/>
              </a:spcAft>
              <a:buClr>
                <a:srgbClr val="000000"/>
              </a:buClr>
              <a:buSzPts val="1500"/>
              <a:buFont typeface="Arial"/>
              <a:buChar char="•"/>
              <a:defRPr sz="1000" b="0" i="0" u="none" strike="noStrike" cap="none">
                <a:solidFill>
                  <a:srgbClr val="000000"/>
                </a:solidFill>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marL="228594" indent="-228594" defTabSz="1219170">
              <a:defRPr/>
            </a:pPr>
            <a:r>
              <a:rPr lang="es-ES_tradnl" sz="1467" kern="1200" noProof="0" dirty="0">
                <a:sym typeface="Calibri"/>
              </a:rPr>
              <a:t>Definir rangos de negociación</a:t>
            </a:r>
          </a:p>
          <a:p>
            <a:pPr marL="228594" indent="-228594" defTabSz="1219170">
              <a:defRPr/>
            </a:pPr>
            <a:r>
              <a:rPr lang="es-ES_tradnl" sz="1467" kern="1200" noProof="0" dirty="0">
                <a:sym typeface="Calibri"/>
              </a:rPr>
              <a:t>Lineamientos de excepciones , gestión d promesas y/o re pricing</a:t>
            </a:r>
          </a:p>
          <a:p>
            <a:pPr marL="0" indent="0" defTabSz="1219170">
              <a:buNone/>
              <a:defRPr/>
            </a:pPr>
            <a:endParaRPr lang="es-ES_tradnl" sz="1467" kern="1200" noProof="0" dirty="0">
              <a:sym typeface="Calibri"/>
            </a:endParaRPr>
          </a:p>
          <a:p>
            <a:pPr marL="0" indent="0" defTabSz="1219170">
              <a:buNone/>
              <a:defRPr/>
            </a:pPr>
            <a:r>
              <a:rPr lang="es-ES_tradnl" sz="1467" kern="1200" noProof="0" dirty="0">
                <a:sym typeface="Calibri"/>
              </a:rPr>
              <a:t>CLV para monitoreo de rentabilidad de cosechas y </a:t>
            </a:r>
            <a:r>
              <a:rPr lang="es-ES_tradnl" sz="1467" kern="1200" noProof="0" dirty="0" err="1">
                <a:sym typeface="Calibri"/>
              </a:rPr>
              <a:t>dash</a:t>
            </a:r>
            <a:r>
              <a:rPr lang="es-ES_tradnl" sz="1467" kern="1200" noProof="0" dirty="0">
                <a:sym typeface="Calibri"/>
              </a:rPr>
              <a:t> excepciones</a:t>
            </a:r>
          </a:p>
        </p:txBody>
      </p:sp>
      <p:sp>
        <p:nvSpPr>
          <p:cNvPr id="143" name="Google Shape;452;g3a8a166b9a7_8_346">
            <a:extLst>
              <a:ext uri="{FF2B5EF4-FFF2-40B4-BE49-F238E27FC236}">
                <a16:creationId xmlns:a16="http://schemas.microsoft.com/office/drawing/2014/main" id="{2B8A7BBA-24DA-ED6E-31F0-005EA1F531DC}"/>
              </a:ext>
            </a:extLst>
          </p:cNvPr>
          <p:cNvSpPr txBox="1"/>
          <p:nvPr/>
        </p:nvSpPr>
        <p:spPr>
          <a:xfrm>
            <a:off x="8591735" y="3138105"/>
            <a:ext cx="3333215"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03 Ajuste por sensibilidad</a:t>
            </a:r>
          </a:p>
        </p:txBody>
      </p:sp>
      <p:sp>
        <p:nvSpPr>
          <p:cNvPr id="144" name="Google Shape;453;g3a8a166b9a7_8_346">
            <a:extLst>
              <a:ext uri="{FF2B5EF4-FFF2-40B4-BE49-F238E27FC236}">
                <a16:creationId xmlns:a16="http://schemas.microsoft.com/office/drawing/2014/main" id="{EE742245-A965-CAC3-DA1E-43DFFDAFD28A}"/>
              </a:ext>
            </a:extLst>
          </p:cNvPr>
          <p:cNvSpPr txBox="1"/>
          <p:nvPr/>
        </p:nvSpPr>
        <p:spPr>
          <a:xfrm>
            <a:off x="12593285" y="2987519"/>
            <a:ext cx="3138559" cy="6975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olidFill>
                  <a:srgbClr val="FFFFFF"/>
                </a:solidFill>
                <a:sym typeface="Calibri"/>
              </a:rPr>
              <a:t>04 Monitoreo y gestión de excepciones</a:t>
            </a:r>
          </a:p>
        </p:txBody>
      </p:sp>
      <p:cxnSp>
        <p:nvCxnSpPr>
          <p:cNvPr id="145" name="Google Shape;454;g3a8a166b9a7_8_346">
            <a:extLst>
              <a:ext uri="{FF2B5EF4-FFF2-40B4-BE49-F238E27FC236}">
                <a16:creationId xmlns:a16="http://schemas.microsoft.com/office/drawing/2014/main" id="{D490B57E-C655-3D21-E3F5-EA5D82EFA383}"/>
              </a:ext>
            </a:extLst>
          </p:cNvPr>
          <p:cNvCxnSpPr>
            <a:cxnSpLocks/>
            <a:stCxn id="123" idx="2"/>
            <a:endCxn id="120" idx="0"/>
          </p:cNvCxnSpPr>
          <p:nvPr/>
        </p:nvCxnSpPr>
        <p:spPr>
          <a:xfrm rot="10800000" flipV="1">
            <a:off x="2301270" y="1915678"/>
            <a:ext cx="4960589" cy="1064757"/>
          </a:xfrm>
          <a:prstGeom prst="bentConnector2">
            <a:avLst/>
          </a:prstGeom>
          <a:noFill/>
          <a:ln w="9525" cap="flat" cmpd="sng">
            <a:solidFill>
              <a:schemeClr val="tx1"/>
            </a:solidFill>
            <a:prstDash val="solid"/>
            <a:round/>
            <a:headEnd type="none" w="sm" len="sm"/>
            <a:tailEnd type="triangle" w="med" len="med"/>
          </a:ln>
        </p:spPr>
      </p:cxnSp>
      <p:cxnSp>
        <p:nvCxnSpPr>
          <p:cNvPr id="146" name="Google Shape;455;g3a8a166b9a7_8_346">
            <a:extLst>
              <a:ext uri="{FF2B5EF4-FFF2-40B4-BE49-F238E27FC236}">
                <a16:creationId xmlns:a16="http://schemas.microsoft.com/office/drawing/2014/main" id="{5D82C760-DCAB-35CF-B89A-7131EF3836D4}"/>
              </a:ext>
            </a:extLst>
          </p:cNvPr>
          <p:cNvCxnSpPr>
            <a:cxnSpLocks/>
            <a:stCxn id="123" idx="6"/>
            <a:endCxn id="109" idx="0"/>
          </p:cNvCxnSpPr>
          <p:nvPr/>
        </p:nvCxnSpPr>
        <p:spPr>
          <a:xfrm>
            <a:off x="9197339" y="1915678"/>
            <a:ext cx="4964859" cy="1092141"/>
          </a:xfrm>
          <a:prstGeom prst="bentConnector2">
            <a:avLst/>
          </a:prstGeom>
          <a:noFill/>
          <a:ln w="9525" cap="flat" cmpd="sng">
            <a:solidFill>
              <a:schemeClr val="tx1"/>
            </a:solidFill>
            <a:prstDash val="solid"/>
            <a:round/>
            <a:headEnd type="none" w="sm" len="sm"/>
            <a:tailEnd type="triangle" w="med" len="med"/>
          </a:ln>
        </p:spPr>
      </p:cxnSp>
      <p:cxnSp>
        <p:nvCxnSpPr>
          <p:cNvPr id="147" name="Google Shape;456;g3a8a166b9a7_8_346">
            <a:extLst>
              <a:ext uri="{FF2B5EF4-FFF2-40B4-BE49-F238E27FC236}">
                <a16:creationId xmlns:a16="http://schemas.microsoft.com/office/drawing/2014/main" id="{25D074DA-FD09-30C8-C546-2C7EF035D541}"/>
              </a:ext>
            </a:extLst>
          </p:cNvPr>
          <p:cNvCxnSpPr>
            <a:stCxn id="123" idx="5"/>
            <a:endCxn id="143" idx="0"/>
          </p:cNvCxnSpPr>
          <p:nvPr/>
        </p:nvCxnSpPr>
        <p:spPr>
          <a:xfrm rot="16200000" flipH="1">
            <a:off x="9307773" y="2187536"/>
            <a:ext cx="556691" cy="1344448"/>
          </a:xfrm>
          <a:prstGeom prst="bentConnector3">
            <a:avLst>
              <a:gd name="adj1" fmla="val 38097"/>
            </a:avLst>
          </a:prstGeom>
          <a:noFill/>
          <a:ln w="9525" cap="flat" cmpd="sng">
            <a:solidFill>
              <a:schemeClr val="tx1"/>
            </a:solidFill>
            <a:prstDash val="solid"/>
            <a:round/>
            <a:headEnd type="none" w="sm" len="sm"/>
            <a:tailEnd type="triangle" w="med" len="med"/>
          </a:ln>
        </p:spPr>
      </p:cxnSp>
      <p:sp>
        <p:nvSpPr>
          <p:cNvPr id="148" name="Google Shape;465;g3a8a166b9a7_8_346">
            <a:extLst>
              <a:ext uri="{FF2B5EF4-FFF2-40B4-BE49-F238E27FC236}">
                <a16:creationId xmlns:a16="http://schemas.microsoft.com/office/drawing/2014/main" id="{6F6CC333-DD72-FB01-A6C4-A2ECB0D95072}"/>
              </a:ext>
            </a:extLst>
          </p:cNvPr>
          <p:cNvSpPr txBox="1"/>
          <p:nvPr/>
        </p:nvSpPr>
        <p:spPr>
          <a:xfrm>
            <a:off x="512076" y="3138105"/>
            <a:ext cx="3600000" cy="432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2700"/>
              <a:defRPr/>
            </a:pPr>
            <a:r>
              <a:rPr lang="es-ES_tradnl" sz="1600" b="1" kern="1200" noProof="0" dirty="0">
                <a:solidFill>
                  <a:prstClr val="white"/>
                </a:solidFill>
                <a:latin typeface="Poppins" panose="00000500000000000000" pitchFamily="2" charset="0"/>
                <a:ea typeface="Calibri"/>
                <a:cs typeface="Poppins" panose="00000500000000000000" pitchFamily="2" charset="0"/>
                <a:sym typeface="Calibri"/>
              </a:rPr>
              <a:t>01 Segmentación inteligente</a:t>
            </a:r>
          </a:p>
        </p:txBody>
      </p:sp>
      <p:sp>
        <p:nvSpPr>
          <p:cNvPr id="149" name="Google Shape;466;g3a8a166b9a7_8_346">
            <a:extLst>
              <a:ext uri="{FF2B5EF4-FFF2-40B4-BE49-F238E27FC236}">
                <a16:creationId xmlns:a16="http://schemas.microsoft.com/office/drawing/2014/main" id="{2981F31D-08AD-0205-8B7D-0645A232D06F}"/>
              </a:ext>
            </a:extLst>
          </p:cNvPr>
          <p:cNvSpPr txBox="1"/>
          <p:nvPr/>
        </p:nvSpPr>
        <p:spPr>
          <a:xfrm>
            <a:off x="4347194" y="5610447"/>
            <a:ext cx="3885407" cy="861704"/>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600" b="1" kern="1200" noProof="0" dirty="0">
                <a:latin typeface="Poppins" panose="00000500000000000000" pitchFamily="2" charset="0"/>
                <a:ea typeface="Calibri"/>
                <a:cs typeface="Poppins" panose="00000500000000000000" pitchFamily="2" charset="0"/>
                <a:sym typeface="Calibri"/>
              </a:rPr>
              <a:t>Tasa alineada a rentabilidad objetivo y componentes dinámicos de riesgo</a:t>
            </a:r>
          </a:p>
        </p:txBody>
      </p:sp>
      <p:sp>
        <p:nvSpPr>
          <p:cNvPr id="150" name="Google Shape;467;g3a8a166b9a7_8_346">
            <a:extLst>
              <a:ext uri="{FF2B5EF4-FFF2-40B4-BE49-F238E27FC236}">
                <a16:creationId xmlns:a16="http://schemas.microsoft.com/office/drawing/2014/main" id="{AE2E9B75-4A33-DB20-F29C-89CE752CE375}"/>
              </a:ext>
            </a:extLst>
          </p:cNvPr>
          <p:cNvSpPr txBox="1"/>
          <p:nvPr/>
        </p:nvSpPr>
        <p:spPr>
          <a:xfrm>
            <a:off x="4581633" y="3138105"/>
            <a:ext cx="3421279"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02 Motor de Rentabilidad</a:t>
            </a:r>
          </a:p>
        </p:txBody>
      </p:sp>
      <p:cxnSp>
        <p:nvCxnSpPr>
          <p:cNvPr id="151" name="Google Shape;468;g3a8a166b9a7_8_346">
            <a:extLst>
              <a:ext uri="{FF2B5EF4-FFF2-40B4-BE49-F238E27FC236}">
                <a16:creationId xmlns:a16="http://schemas.microsoft.com/office/drawing/2014/main" id="{B4AC6F3D-807C-76FB-DED2-234534D267B3}"/>
              </a:ext>
            </a:extLst>
          </p:cNvPr>
          <p:cNvCxnSpPr>
            <a:cxnSpLocks/>
            <a:stCxn id="123" idx="3"/>
            <a:endCxn id="110" idx="0"/>
          </p:cNvCxnSpPr>
          <p:nvPr/>
        </p:nvCxnSpPr>
        <p:spPr>
          <a:xfrm rot="5400000">
            <a:off x="6714277" y="2159041"/>
            <a:ext cx="408651" cy="1253401"/>
          </a:xfrm>
          <a:prstGeom prst="bentConnector3">
            <a:avLst>
              <a:gd name="adj1" fmla="val 50000"/>
            </a:avLst>
          </a:prstGeom>
          <a:noFill/>
          <a:ln w="9525" cap="flat" cmpd="sng">
            <a:solidFill>
              <a:schemeClr val="tx1"/>
            </a:solidFill>
            <a:prstDash val="solid"/>
            <a:round/>
            <a:headEnd type="none" w="sm" len="sm"/>
            <a:tailEnd type="triangle" w="med" len="med"/>
          </a:ln>
        </p:spPr>
      </p:cxnSp>
      <p:grpSp>
        <p:nvGrpSpPr>
          <p:cNvPr id="152" name="Google Shape;470;g3a8a166b9a7_8_346">
            <a:extLst>
              <a:ext uri="{FF2B5EF4-FFF2-40B4-BE49-F238E27FC236}">
                <a16:creationId xmlns:a16="http://schemas.microsoft.com/office/drawing/2014/main" id="{43253394-A75B-6E90-949E-3080D8A8B71A}"/>
              </a:ext>
            </a:extLst>
          </p:cNvPr>
          <p:cNvGrpSpPr/>
          <p:nvPr/>
        </p:nvGrpSpPr>
        <p:grpSpPr>
          <a:xfrm>
            <a:off x="4645762" y="3739576"/>
            <a:ext cx="3357500" cy="1937920"/>
            <a:chOff x="4947976" y="3643837"/>
            <a:chExt cx="3357499" cy="1937920"/>
          </a:xfrm>
        </p:grpSpPr>
        <p:grpSp>
          <p:nvGrpSpPr>
            <p:cNvPr id="153" name="Google Shape;471;g3a8a166b9a7_8_346">
              <a:extLst>
                <a:ext uri="{FF2B5EF4-FFF2-40B4-BE49-F238E27FC236}">
                  <a16:creationId xmlns:a16="http://schemas.microsoft.com/office/drawing/2014/main" id="{773317F2-4C5A-557B-7F21-23AB7C5221CA}"/>
                </a:ext>
              </a:extLst>
            </p:cNvPr>
            <p:cNvGrpSpPr/>
            <p:nvPr/>
          </p:nvGrpSpPr>
          <p:grpSpPr>
            <a:xfrm>
              <a:off x="4947976" y="3643837"/>
              <a:ext cx="3357499" cy="1937920"/>
              <a:chOff x="4620745" y="3880801"/>
              <a:chExt cx="3357499" cy="1937920"/>
            </a:xfrm>
          </p:grpSpPr>
          <p:grpSp>
            <p:nvGrpSpPr>
              <p:cNvPr id="155" name="Google Shape;472;g3a8a166b9a7_8_346">
                <a:extLst>
                  <a:ext uri="{FF2B5EF4-FFF2-40B4-BE49-F238E27FC236}">
                    <a16:creationId xmlns:a16="http://schemas.microsoft.com/office/drawing/2014/main" id="{313D8FBE-125F-555E-0AB7-FA5ADDB72500}"/>
                  </a:ext>
                </a:extLst>
              </p:cNvPr>
              <p:cNvGrpSpPr/>
              <p:nvPr/>
            </p:nvGrpSpPr>
            <p:grpSpPr>
              <a:xfrm>
                <a:off x="5041054" y="3920310"/>
                <a:ext cx="2668940" cy="1381764"/>
                <a:chOff x="247455" y="816623"/>
                <a:chExt cx="8571119" cy="4759668"/>
              </a:xfrm>
            </p:grpSpPr>
            <p:sp>
              <p:nvSpPr>
                <p:cNvPr id="160" name="Google Shape;473;g3a8a166b9a7_8_346">
                  <a:extLst>
                    <a:ext uri="{FF2B5EF4-FFF2-40B4-BE49-F238E27FC236}">
                      <a16:creationId xmlns:a16="http://schemas.microsoft.com/office/drawing/2014/main" id="{9B86EBDD-4D39-04B4-18FE-36062F0E046B}"/>
                    </a:ext>
                  </a:extLst>
                </p:cNvPr>
                <p:cNvSpPr/>
                <p:nvPr/>
              </p:nvSpPr>
              <p:spPr>
                <a:xfrm>
                  <a:off x="5173277" y="816623"/>
                  <a:ext cx="470995" cy="417238"/>
                </a:xfrm>
                <a:prstGeom prst="flowChartConnector">
                  <a:avLst/>
                </a:prstGeom>
                <a:solidFill>
                  <a:srgbClr val="BFBFBF"/>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1" name="Google Shape;474;g3a8a166b9a7_8_346">
                  <a:extLst>
                    <a:ext uri="{FF2B5EF4-FFF2-40B4-BE49-F238E27FC236}">
                      <a16:creationId xmlns:a16="http://schemas.microsoft.com/office/drawing/2014/main" id="{7D57F390-DFAB-1EEC-720B-37216DA9A76E}"/>
                    </a:ext>
                  </a:extLst>
                </p:cNvPr>
                <p:cNvSpPr/>
                <p:nvPr/>
              </p:nvSpPr>
              <p:spPr>
                <a:xfrm>
                  <a:off x="6846027" y="2207321"/>
                  <a:ext cx="1056576" cy="1322550"/>
                </a:xfrm>
                <a:prstGeom prst="flowChartAlternateProcess">
                  <a:avLst/>
                </a:prstGeom>
                <a:solidFill>
                  <a:srgbClr val="7B7B7B"/>
                </a:solidFill>
                <a:ln>
                  <a:noFill/>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2" name="Google Shape;475;g3a8a166b9a7_8_346">
                  <a:extLst>
                    <a:ext uri="{FF2B5EF4-FFF2-40B4-BE49-F238E27FC236}">
                      <a16:creationId xmlns:a16="http://schemas.microsoft.com/office/drawing/2014/main" id="{E1114FF6-AC73-E136-A273-83E82E527681}"/>
                    </a:ext>
                  </a:extLst>
                </p:cNvPr>
                <p:cNvSpPr/>
                <p:nvPr/>
              </p:nvSpPr>
              <p:spPr>
                <a:xfrm>
                  <a:off x="6444483" y="3753100"/>
                  <a:ext cx="1468755" cy="536288"/>
                </a:xfrm>
                <a:prstGeom prst="roundRect">
                  <a:avLst>
                    <a:gd name="adj" fmla="val 16667"/>
                  </a:avLst>
                </a:prstGeom>
                <a:solidFill>
                  <a:srgbClr val="217378">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3" name="Google Shape;476;g3a8a166b9a7_8_346">
                  <a:extLst>
                    <a:ext uri="{FF2B5EF4-FFF2-40B4-BE49-F238E27FC236}">
                      <a16:creationId xmlns:a16="http://schemas.microsoft.com/office/drawing/2014/main" id="{2EDA436C-EAC1-5EB7-D0D0-91A8D2C051DB}"/>
                    </a:ext>
                  </a:extLst>
                </p:cNvPr>
                <p:cNvSpPr/>
                <p:nvPr/>
              </p:nvSpPr>
              <p:spPr>
                <a:xfrm>
                  <a:off x="500733" y="4986740"/>
                  <a:ext cx="1603400" cy="568050"/>
                </a:xfrm>
                <a:prstGeom prst="rect">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4" name="Google Shape;477;g3a8a166b9a7_8_346">
                  <a:extLst>
                    <a:ext uri="{FF2B5EF4-FFF2-40B4-BE49-F238E27FC236}">
                      <a16:creationId xmlns:a16="http://schemas.microsoft.com/office/drawing/2014/main" id="{BA0A91FB-912D-D3CF-52D8-C7B0AA39C486}"/>
                    </a:ext>
                  </a:extLst>
                </p:cNvPr>
                <p:cNvSpPr/>
                <p:nvPr/>
              </p:nvSpPr>
              <p:spPr>
                <a:xfrm>
                  <a:off x="1564684" y="1865567"/>
                  <a:ext cx="4777332" cy="3710724"/>
                </a:xfrm>
                <a:prstGeom prst="flowChartAlternateProcess">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5" name="Google Shape;478;g3a8a166b9a7_8_346">
                  <a:extLst>
                    <a:ext uri="{FF2B5EF4-FFF2-40B4-BE49-F238E27FC236}">
                      <a16:creationId xmlns:a16="http://schemas.microsoft.com/office/drawing/2014/main" id="{02D52C5E-373C-6F3E-8432-4F8B34FA89B7}"/>
                    </a:ext>
                  </a:extLst>
                </p:cNvPr>
                <p:cNvSpPr/>
                <p:nvPr/>
              </p:nvSpPr>
              <p:spPr>
                <a:xfrm rot="-9043956">
                  <a:off x="247455" y="3453645"/>
                  <a:ext cx="1000092" cy="572202"/>
                </a:xfrm>
                <a:prstGeom prst="diagStripe">
                  <a:avLst>
                    <a:gd name="adj" fmla="val 5000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66" name="Google Shape;479;g3a8a166b9a7_8_346">
                  <a:extLst>
                    <a:ext uri="{FF2B5EF4-FFF2-40B4-BE49-F238E27FC236}">
                      <a16:creationId xmlns:a16="http://schemas.microsoft.com/office/drawing/2014/main" id="{F68BDEA8-9261-D1D9-DBEB-E8A35B0CDC8F}"/>
                    </a:ext>
                  </a:extLst>
                </p:cNvPr>
                <p:cNvSpPr/>
                <p:nvPr/>
              </p:nvSpPr>
              <p:spPr>
                <a:xfrm>
                  <a:off x="497840" y="3992818"/>
                  <a:ext cx="760065" cy="988092"/>
                </a:xfrm>
                <a:prstGeom prst="snip2SameRect">
                  <a:avLst>
                    <a:gd name="adj1" fmla="val 16667"/>
                    <a:gd name="adj2" fmla="val 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7" name="Google Shape;480;g3a8a166b9a7_8_346">
                  <a:extLst>
                    <a:ext uri="{FF2B5EF4-FFF2-40B4-BE49-F238E27FC236}">
                      <a16:creationId xmlns:a16="http://schemas.microsoft.com/office/drawing/2014/main" id="{7EDE6301-DB67-8551-C85B-4025EA604B8D}"/>
                    </a:ext>
                  </a:extLst>
                </p:cNvPr>
                <p:cNvSpPr/>
                <p:nvPr/>
              </p:nvSpPr>
              <p:spPr>
                <a:xfrm>
                  <a:off x="6096001" y="3619447"/>
                  <a:ext cx="328590" cy="774450"/>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8" name="Google Shape;481;g3a8a166b9a7_8_346">
                  <a:extLst>
                    <a:ext uri="{FF2B5EF4-FFF2-40B4-BE49-F238E27FC236}">
                      <a16:creationId xmlns:a16="http://schemas.microsoft.com/office/drawing/2014/main" id="{E733BC3B-038A-26B6-1EC0-AE90601C1577}"/>
                    </a:ext>
                  </a:extLst>
                </p:cNvPr>
                <p:cNvSpPr/>
                <p:nvPr/>
              </p:nvSpPr>
              <p:spPr>
                <a:xfrm>
                  <a:off x="1971040" y="1057362"/>
                  <a:ext cx="3487910" cy="816900"/>
                </a:xfrm>
                <a:prstGeom prst="flowChartTerminator">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9" name="Google Shape;482;g3a8a166b9a7_8_346">
                  <a:extLst>
                    <a:ext uri="{FF2B5EF4-FFF2-40B4-BE49-F238E27FC236}">
                      <a16:creationId xmlns:a16="http://schemas.microsoft.com/office/drawing/2014/main" id="{054DCA4F-907C-9ABA-27AF-E1B602A84EF4}"/>
                    </a:ext>
                  </a:extLst>
                </p:cNvPr>
                <p:cNvSpPr/>
                <p:nvPr/>
              </p:nvSpPr>
              <p:spPr>
                <a:xfrm>
                  <a:off x="6425043" y="3832091"/>
                  <a:ext cx="1607485" cy="536288"/>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0" name="Google Shape;483;g3a8a166b9a7_8_346">
                  <a:extLst>
                    <a:ext uri="{FF2B5EF4-FFF2-40B4-BE49-F238E27FC236}">
                      <a16:creationId xmlns:a16="http://schemas.microsoft.com/office/drawing/2014/main" id="{775F399F-8C10-6096-4974-98E9BD019EBA}"/>
                    </a:ext>
                  </a:extLst>
                </p:cNvPr>
                <p:cNvSpPr/>
                <p:nvPr/>
              </p:nvSpPr>
              <p:spPr>
                <a:xfrm>
                  <a:off x="6424590" y="3842251"/>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1" name="Google Shape;484;g3a8a166b9a7_8_346">
                  <a:extLst>
                    <a:ext uri="{FF2B5EF4-FFF2-40B4-BE49-F238E27FC236}">
                      <a16:creationId xmlns:a16="http://schemas.microsoft.com/office/drawing/2014/main" id="{91C193A9-4934-33C3-AF3B-7293FAEFF7F2}"/>
                    </a:ext>
                  </a:extLst>
                </p:cNvPr>
                <p:cNvSpPr/>
                <p:nvPr/>
              </p:nvSpPr>
              <p:spPr>
                <a:xfrm>
                  <a:off x="7521856" y="3823916"/>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2" name="Google Shape;485;g3a8a166b9a7_8_346">
                  <a:extLst>
                    <a:ext uri="{FF2B5EF4-FFF2-40B4-BE49-F238E27FC236}">
                      <a16:creationId xmlns:a16="http://schemas.microsoft.com/office/drawing/2014/main" id="{D231B738-5336-DE7C-D478-0E86FCFD817C}"/>
                    </a:ext>
                  </a:extLst>
                </p:cNvPr>
                <p:cNvSpPr/>
                <p:nvPr/>
              </p:nvSpPr>
              <p:spPr>
                <a:xfrm>
                  <a:off x="6928441" y="3937656"/>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3" name="Google Shape;486;g3a8a166b9a7_8_346">
                  <a:extLst>
                    <a:ext uri="{FF2B5EF4-FFF2-40B4-BE49-F238E27FC236}">
                      <a16:creationId xmlns:a16="http://schemas.microsoft.com/office/drawing/2014/main" id="{D386CD54-D07D-91A4-EFF3-D5FB6CCE41BB}"/>
                    </a:ext>
                  </a:extLst>
                </p:cNvPr>
                <p:cNvSpPr/>
                <p:nvPr/>
              </p:nvSpPr>
              <p:spPr>
                <a:xfrm>
                  <a:off x="7219069" y="3951827"/>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cxnSp>
              <p:nvCxnSpPr>
                <p:cNvPr id="174" name="Google Shape;487;g3a8a166b9a7_8_346">
                  <a:extLst>
                    <a:ext uri="{FF2B5EF4-FFF2-40B4-BE49-F238E27FC236}">
                      <a16:creationId xmlns:a16="http://schemas.microsoft.com/office/drawing/2014/main" id="{421D87B7-434F-A919-55FB-E6143702EEB2}"/>
                    </a:ext>
                  </a:extLst>
                </p:cNvPr>
                <p:cNvCxnSpPr/>
                <p:nvPr/>
              </p:nvCxnSpPr>
              <p:spPr>
                <a:xfrm>
                  <a:off x="2234261" y="3314997"/>
                  <a:ext cx="3249826" cy="25410"/>
                </a:xfrm>
                <a:prstGeom prst="straightConnector1">
                  <a:avLst/>
                </a:prstGeom>
                <a:noFill/>
                <a:ln w="9525" cap="flat" cmpd="sng">
                  <a:solidFill>
                    <a:srgbClr val="217378"/>
                  </a:solidFill>
                  <a:prstDash val="solid"/>
                  <a:round/>
                  <a:headEnd type="none" w="sm" len="sm"/>
                  <a:tailEnd type="triangle" w="med" len="med"/>
                </a:ln>
              </p:spPr>
            </p:cxnSp>
            <p:cxnSp>
              <p:nvCxnSpPr>
                <p:cNvPr id="175" name="Google Shape;488;g3a8a166b9a7_8_346">
                  <a:extLst>
                    <a:ext uri="{FF2B5EF4-FFF2-40B4-BE49-F238E27FC236}">
                      <a16:creationId xmlns:a16="http://schemas.microsoft.com/office/drawing/2014/main" id="{C21778D6-F62B-AE84-E279-F3C53F226750}"/>
                    </a:ext>
                  </a:extLst>
                </p:cNvPr>
                <p:cNvCxnSpPr/>
                <p:nvPr/>
              </p:nvCxnSpPr>
              <p:spPr>
                <a:xfrm>
                  <a:off x="2255368" y="3725054"/>
                  <a:ext cx="2876550" cy="0"/>
                </a:xfrm>
                <a:prstGeom prst="straightConnector1">
                  <a:avLst/>
                </a:prstGeom>
                <a:noFill/>
                <a:ln w="9525" cap="flat" cmpd="sng">
                  <a:solidFill>
                    <a:srgbClr val="217378"/>
                  </a:solidFill>
                  <a:prstDash val="solid"/>
                  <a:round/>
                  <a:headEnd type="none" w="sm" len="sm"/>
                  <a:tailEnd type="none" w="sm" len="sm"/>
                </a:ln>
              </p:spPr>
            </p:cxnSp>
            <p:sp>
              <p:nvSpPr>
                <p:cNvPr id="176" name="Google Shape;489;g3a8a166b9a7_8_346">
                  <a:extLst>
                    <a:ext uri="{FF2B5EF4-FFF2-40B4-BE49-F238E27FC236}">
                      <a16:creationId xmlns:a16="http://schemas.microsoft.com/office/drawing/2014/main" id="{AEA8343C-43B2-7284-2E2D-ED81D5BE5495}"/>
                    </a:ext>
                  </a:extLst>
                </p:cNvPr>
                <p:cNvSpPr/>
                <p:nvPr/>
              </p:nvSpPr>
              <p:spPr>
                <a:xfrm>
                  <a:off x="2286000" y="2186764"/>
                  <a:ext cx="223796" cy="111608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7" name="Google Shape;490;g3a8a166b9a7_8_346">
                  <a:extLst>
                    <a:ext uri="{FF2B5EF4-FFF2-40B4-BE49-F238E27FC236}">
                      <a16:creationId xmlns:a16="http://schemas.microsoft.com/office/drawing/2014/main" id="{4920538E-41E9-E881-C208-C7AAAB113D36}"/>
                    </a:ext>
                  </a:extLst>
                </p:cNvPr>
                <p:cNvSpPr/>
                <p:nvPr/>
              </p:nvSpPr>
              <p:spPr>
                <a:xfrm>
                  <a:off x="2581275" y="2321724"/>
                  <a:ext cx="195221" cy="98112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8" name="Google Shape;491;g3a8a166b9a7_8_346">
                  <a:extLst>
                    <a:ext uri="{FF2B5EF4-FFF2-40B4-BE49-F238E27FC236}">
                      <a16:creationId xmlns:a16="http://schemas.microsoft.com/office/drawing/2014/main" id="{C988AA4F-BCBB-D4A6-3966-C19C0205B829}"/>
                    </a:ext>
                  </a:extLst>
                </p:cNvPr>
                <p:cNvSpPr/>
                <p:nvPr/>
              </p:nvSpPr>
              <p:spPr>
                <a:xfrm>
                  <a:off x="2886075" y="2439418"/>
                  <a:ext cx="195221" cy="86343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9" name="Google Shape;492;g3a8a166b9a7_8_346">
                  <a:extLst>
                    <a:ext uri="{FF2B5EF4-FFF2-40B4-BE49-F238E27FC236}">
                      <a16:creationId xmlns:a16="http://schemas.microsoft.com/office/drawing/2014/main" id="{AFAA4496-740E-99C1-361B-CBA3A4763E37}"/>
                    </a:ext>
                  </a:extLst>
                </p:cNvPr>
                <p:cNvSpPr/>
                <p:nvPr/>
              </p:nvSpPr>
              <p:spPr>
                <a:xfrm>
                  <a:off x="3190875" y="2588426"/>
                  <a:ext cx="195221" cy="714423"/>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0" name="Google Shape;493;g3a8a166b9a7_8_346">
                  <a:extLst>
                    <a:ext uri="{FF2B5EF4-FFF2-40B4-BE49-F238E27FC236}">
                      <a16:creationId xmlns:a16="http://schemas.microsoft.com/office/drawing/2014/main" id="{9E52649B-8F8F-5B81-6ED2-27968B751F3A}"/>
                    </a:ext>
                  </a:extLst>
                </p:cNvPr>
                <p:cNvSpPr/>
                <p:nvPr/>
              </p:nvSpPr>
              <p:spPr>
                <a:xfrm>
                  <a:off x="3486150" y="2730083"/>
                  <a:ext cx="195221" cy="58229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1" name="Google Shape;494;g3a8a166b9a7_8_346">
                  <a:extLst>
                    <a:ext uri="{FF2B5EF4-FFF2-40B4-BE49-F238E27FC236}">
                      <a16:creationId xmlns:a16="http://schemas.microsoft.com/office/drawing/2014/main" id="{F3B71179-8FB8-5532-75BE-FC909615722A}"/>
                    </a:ext>
                  </a:extLst>
                </p:cNvPr>
                <p:cNvSpPr/>
                <p:nvPr/>
              </p:nvSpPr>
              <p:spPr>
                <a:xfrm>
                  <a:off x="3790950" y="2868597"/>
                  <a:ext cx="161597" cy="443777"/>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2" name="Google Shape;495;g3a8a166b9a7_8_346">
                  <a:extLst>
                    <a:ext uri="{FF2B5EF4-FFF2-40B4-BE49-F238E27FC236}">
                      <a16:creationId xmlns:a16="http://schemas.microsoft.com/office/drawing/2014/main" id="{1E84AAD1-CC7C-AAE0-33C1-DAF94D44CB8E}"/>
                    </a:ext>
                  </a:extLst>
                </p:cNvPr>
                <p:cNvSpPr/>
                <p:nvPr/>
              </p:nvSpPr>
              <p:spPr>
                <a:xfrm>
                  <a:off x="4124325" y="2988865"/>
                  <a:ext cx="159839" cy="323510"/>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3" name="Google Shape;496;g3a8a166b9a7_8_346">
                  <a:extLst>
                    <a:ext uri="{FF2B5EF4-FFF2-40B4-BE49-F238E27FC236}">
                      <a16:creationId xmlns:a16="http://schemas.microsoft.com/office/drawing/2014/main" id="{D9EA2C0D-F716-003F-313F-DE742B5AB9AB}"/>
                    </a:ext>
                  </a:extLst>
                </p:cNvPr>
                <p:cNvSpPr/>
                <p:nvPr/>
              </p:nvSpPr>
              <p:spPr>
                <a:xfrm>
                  <a:off x="2295525" y="3729814"/>
                  <a:ext cx="223796" cy="111608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4" name="Google Shape;497;g3a8a166b9a7_8_346">
                  <a:extLst>
                    <a:ext uri="{FF2B5EF4-FFF2-40B4-BE49-F238E27FC236}">
                      <a16:creationId xmlns:a16="http://schemas.microsoft.com/office/drawing/2014/main" id="{27B25E82-03F2-2441-B562-7098057C21B4}"/>
                    </a:ext>
                  </a:extLst>
                </p:cNvPr>
                <p:cNvSpPr/>
                <p:nvPr/>
              </p:nvSpPr>
              <p:spPr>
                <a:xfrm>
                  <a:off x="2590800" y="3731424"/>
                  <a:ext cx="195221" cy="98112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5" name="Google Shape;498;g3a8a166b9a7_8_346">
                  <a:extLst>
                    <a:ext uri="{FF2B5EF4-FFF2-40B4-BE49-F238E27FC236}">
                      <a16:creationId xmlns:a16="http://schemas.microsoft.com/office/drawing/2014/main" id="{DDD46F4D-071B-D32F-15BD-D5BC54FD6597}"/>
                    </a:ext>
                  </a:extLst>
                </p:cNvPr>
                <p:cNvSpPr/>
                <p:nvPr/>
              </p:nvSpPr>
              <p:spPr>
                <a:xfrm>
                  <a:off x="2895600" y="3734818"/>
                  <a:ext cx="195221" cy="86343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6" name="Google Shape;499;g3a8a166b9a7_8_346">
                  <a:extLst>
                    <a:ext uri="{FF2B5EF4-FFF2-40B4-BE49-F238E27FC236}">
                      <a16:creationId xmlns:a16="http://schemas.microsoft.com/office/drawing/2014/main" id="{FA4ED673-CD37-22E8-17B5-3E5B5FBE6819}"/>
                    </a:ext>
                  </a:extLst>
                </p:cNvPr>
                <p:cNvSpPr/>
                <p:nvPr/>
              </p:nvSpPr>
              <p:spPr>
                <a:xfrm>
                  <a:off x="3200400" y="3731426"/>
                  <a:ext cx="195221" cy="714423"/>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7" name="Google Shape;500;g3a8a166b9a7_8_346">
                  <a:extLst>
                    <a:ext uri="{FF2B5EF4-FFF2-40B4-BE49-F238E27FC236}">
                      <a16:creationId xmlns:a16="http://schemas.microsoft.com/office/drawing/2014/main" id="{52D291BA-C187-EF0E-ADF5-78952AD6C054}"/>
                    </a:ext>
                  </a:extLst>
                </p:cNvPr>
                <p:cNvSpPr/>
                <p:nvPr/>
              </p:nvSpPr>
              <p:spPr>
                <a:xfrm>
                  <a:off x="3495675" y="3730208"/>
                  <a:ext cx="195221" cy="58229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8" name="Google Shape;501;g3a8a166b9a7_8_346">
                  <a:extLst>
                    <a:ext uri="{FF2B5EF4-FFF2-40B4-BE49-F238E27FC236}">
                      <a16:creationId xmlns:a16="http://schemas.microsoft.com/office/drawing/2014/main" id="{098A0CE6-404F-2C8C-243D-00C1FA28A715}"/>
                    </a:ext>
                  </a:extLst>
                </p:cNvPr>
                <p:cNvSpPr/>
                <p:nvPr/>
              </p:nvSpPr>
              <p:spPr>
                <a:xfrm>
                  <a:off x="3800475" y="3735372"/>
                  <a:ext cx="161597" cy="443777"/>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9" name="Google Shape;502;g3a8a166b9a7_8_346">
                  <a:extLst>
                    <a:ext uri="{FF2B5EF4-FFF2-40B4-BE49-F238E27FC236}">
                      <a16:creationId xmlns:a16="http://schemas.microsoft.com/office/drawing/2014/main" id="{8475BE3F-B1E5-F885-FCB5-07ACE6082A23}"/>
                    </a:ext>
                  </a:extLst>
                </p:cNvPr>
                <p:cNvSpPr/>
                <p:nvPr/>
              </p:nvSpPr>
              <p:spPr>
                <a:xfrm>
                  <a:off x="4133850" y="3731815"/>
                  <a:ext cx="159839" cy="323510"/>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0" name="Google Shape;503;g3a8a166b9a7_8_346">
                  <a:extLst>
                    <a:ext uri="{FF2B5EF4-FFF2-40B4-BE49-F238E27FC236}">
                      <a16:creationId xmlns:a16="http://schemas.microsoft.com/office/drawing/2014/main" id="{6DFE7113-312F-3934-5CAF-463B10A1469C}"/>
                    </a:ext>
                  </a:extLst>
                </p:cNvPr>
                <p:cNvSpPr/>
                <p:nvPr/>
              </p:nvSpPr>
              <p:spPr>
                <a:xfrm>
                  <a:off x="5076408" y="1169053"/>
                  <a:ext cx="690149" cy="700096"/>
                </a:xfrm>
                <a:prstGeom prst="snip2SameRect">
                  <a:avLst>
                    <a:gd name="adj1" fmla="val 16667"/>
                    <a:gd name="adj2" fmla="val 0"/>
                  </a:avLst>
                </a:prstGeom>
                <a:solidFill>
                  <a:srgbClr val="005C2A"/>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1" name="Google Shape;504;g3a8a166b9a7_8_346">
                  <a:extLst>
                    <a:ext uri="{FF2B5EF4-FFF2-40B4-BE49-F238E27FC236}">
                      <a16:creationId xmlns:a16="http://schemas.microsoft.com/office/drawing/2014/main" id="{DD87F5CE-E296-BB84-4752-0CF009B3C10A}"/>
                    </a:ext>
                  </a:extLst>
                </p:cNvPr>
                <p:cNvPicPr preferRelativeResize="0"/>
                <p:nvPr/>
              </p:nvPicPr>
              <p:blipFill rotWithShape="1">
                <a:blip r:embed="rId3">
                  <a:alphaModFix/>
                </a:blip>
                <a:srcRect/>
                <a:stretch/>
              </p:blipFill>
              <p:spPr>
                <a:xfrm>
                  <a:off x="5539080" y="2010359"/>
                  <a:ext cx="660717" cy="660718"/>
                </a:xfrm>
                <a:prstGeom prst="rect">
                  <a:avLst/>
                </a:prstGeom>
                <a:noFill/>
                <a:ln>
                  <a:noFill/>
                </a:ln>
              </p:spPr>
            </p:pic>
            <p:sp>
              <p:nvSpPr>
                <p:cNvPr id="192" name="Google Shape;505;g3a8a166b9a7_8_346">
                  <a:extLst>
                    <a:ext uri="{FF2B5EF4-FFF2-40B4-BE49-F238E27FC236}">
                      <a16:creationId xmlns:a16="http://schemas.microsoft.com/office/drawing/2014/main" id="{B64A38D8-7D47-140E-68F5-DEE1B44F6824}"/>
                    </a:ext>
                  </a:extLst>
                </p:cNvPr>
                <p:cNvSpPr/>
                <p:nvPr/>
              </p:nvSpPr>
              <p:spPr>
                <a:xfrm>
                  <a:off x="5074890" y="2603392"/>
                  <a:ext cx="1254882" cy="637095"/>
                </a:xfrm>
                <a:prstGeom prst="flowChartAlternateProcess">
                  <a:avLst/>
                </a:prstGeom>
                <a:solidFill>
                  <a:srgbClr val="85AEAD"/>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3" name="Google Shape;506;g3a8a166b9a7_8_346">
                  <a:extLst>
                    <a:ext uri="{FF2B5EF4-FFF2-40B4-BE49-F238E27FC236}">
                      <a16:creationId xmlns:a16="http://schemas.microsoft.com/office/drawing/2014/main" id="{972A02CB-7D81-05E3-6D8B-B7AE0B574396}"/>
                    </a:ext>
                  </a:extLst>
                </p:cNvPr>
                <p:cNvSpPr/>
                <p:nvPr/>
              </p:nvSpPr>
              <p:spPr>
                <a:xfrm rot="-1573174">
                  <a:off x="4722195" y="3724733"/>
                  <a:ext cx="1145800" cy="417133"/>
                </a:xfrm>
                <a:prstGeom prst="curvedUpArrow">
                  <a:avLst>
                    <a:gd name="adj1" fmla="val 25000"/>
                    <a:gd name="adj2" fmla="val 50000"/>
                    <a:gd name="adj3" fmla="val 25000"/>
                  </a:avLst>
                </a:prstGeom>
                <a:solidFill>
                  <a:srgbClr val="85AEAD"/>
                </a:solidFill>
                <a:ln w="9525" cap="flat" cmpd="sng">
                  <a:solidFill>
                    <a:srgbClr val="17201F"/>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4" name="Google Shape;507;g3a8a166b9a7_8_346">
                  <a:extLst>
                    <a:ext uri="{FF2B5EF4-FFF2-40B4-BE49-F238E27FC236}">
                      <a16:creationId xmlns:a16="http://schemas.microsoft.com/office/drawing/2014/main" id="{502F75A7-266A-5337-E99F-C1A9DD605220}"/>
                    </a:ext>
                  </a:extLst>
                </p:cNvPr>
                <p:cNvSpPr/>
                <p:nvPr/>
              </p:nvSpPr>
              <p:spPr>
                <a:xfrm rot="5400000">
                  <a:off x="5403442" y="1608910"/>
                  <a:ext cx="64592" cy="680614"/>
                </a:xfrm>
                <a:prstGeom prst="rightBrace">
                  <a:avLst>
                    <a:gd name="adj1" fmla="val 8333"/>
                    <a:gd name="adj2" fmla="val 50000"/>
                  </a:avLst>
                </a:prstGeom>
                <a:no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5" name="Google Shape;508;g3a8a166b9a7_8_346">
                  <a:extLst>
                    <a:ext uri="{FF2B5EF4-FFF2-40B4-BE49-F238E27FC236}">
                      <a16:creationId xmlns:a16="http://schemas.microsoft.com/office/drawing/2014/main" id="{BE45FB44-9F50-DDEC-4375-0EACBE6B4D65}"/>
                    </a:ext>
                  </a:extLst>
                </p:cNvPr>
                <p:cNvSpPr txBox="1"/>
                <p:nvPr/>
              </p:nvSpPr>
              <p:spPr>
                <a:xfrm>
                  <a:off x="6628006" y="2542332"/>
                  <a:ext cx="2190568" cy="84790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solidFill>
                        <a:prstClr val="white"/>
                      </a:solidFill>
                      <a:latin typeface="Poppins" panose="00000500000000000000" pitchFamily="2" charset="0"/>
                      <a:ea typeface="Calibri"/>
                      <a:cs typeface="Poppins" panose="00000500000000000000" pitchFamily="2" charset="0"/>
                      <a:sym typeface="Calibri"/>
                    </a:rPr>
                    <a:t>TEA</a:t>
                  </a:r>
                  <a:endParaRPr lang="es-ES_tradnl" sz="1900" kern="1200" noProof="0" dirty="0">
                    <a:latin typeface="Poppins" panose="00000500000000000000" pitchFamily="2" charset="0"/>
                    <a:ea typeface="Calibri"/>
                    <a:cs typeface="Poppins" panose="00000500000000000000" pitchFamily="2" charset="0"/>
                    <a:sym typeface="Calibri"/>
                  </a:endParaRPr>
                </a:p>
              </p:txBody>
            </p:sp>
          </p:grpSp>
          <p:sp>
            <p:nvSpPr>
              <p:cNvPr id="156" name="Google Shape;509;g3a8a166b9a7_8_346">
                <a:extLst>
                  <a:ext uri="{FF2B5EF4-FFF2-40B4-BE49-F238E27FC236}">
                    <a16:creationId xmlns:a16="http://schemas.microsoft.com/office/drawing/2014/main" id="{D1807CF8-CA8F-8144-A7D3-30C23097DEA2}"/>
                  </a:ext>
                </a:extLst>
              </p:cNvPr>
              <p:cNvSpPr/>
              <p:nvPr/>
            </p:nvSpPr>
            <p:spPr>
              <a:xfrm>
                <a:off x="4620745" y="4258483"/>
                <a:ext cx="745072" cy="378796"/>
              </a:xfrm>
              <a:prstGeom prst="rect">
                <a:avLst/>
              </a:prstGeom>
              <a:solidFill>
                <a:srgbClr val="E9F8F3">
                  <a:alpha val="50196"/>
                </a:srgbClr>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200"/>
                  <a:defRPr/>
                </a:pPr>
                <a:r>
                  <a:rPr lang="es-ES_tradnl" sz="1200" kern="1200" noProof="0" dirty="0">
                    <a:solidFill>
                      <a:prstClr val="black"/>
                    </a:solidFill>
                    <a:latin typeface="Poppins" panose="00000500000000000000" pitchFamily="2" charset="0"/>
                    <a:ea typeface="Calibri"/>
                    <a:cs typeface="Poppins" panose="00000500000000000000" pitchFamily="2" charset="0"/>
                    <a:sym typeface="Calibri"/>
                  </a:rPr>
                  <a:t>INPUT</a:t>
                </a:r>
                <a:endParaRPr lang="es-ES_tradnl" sz="1900" kern="1200" noProof="0" dirty="0">
                  <a:latin typeface="Poppins" panose="00000500000000000000" pitchFamily="2" charset="0"/>
                  <a:ea typeface="Calibri"/>
                  <a:cs typeface="Poppins" panose="00000500000000000000" pitchFamily="2" charset="0"/>
                  <a:sym typeface="Calibri"/>
                </a:endParaRPr>
              </a:p>
            </p:txBody>
          </p:sp>
          <p:cxnSp>
            <p:nvCxnSpPr>
              <p:cNvPr id="157" name="Google Shape;510;g3a8a166b9a7_8_346">
                <a:extLst>
                  <a:ext uri="{FF2B5EF4-FFF2-40B4-BE49-F238E27FC236}">
                    <a16:creationId xmlns:a16="http://schemas.microsoft.com/office/drawing/2014/main" id="{8AD58C57-6548-4F8B-0B53-F3BC29DFD197}"/>
                  </a:ext>
                </a:extLst>
              </p:cNvPr>
              <p:cNvCxnSpPr>
                <a:stCxn id="190" idx="0"/>
              </p:cNvCxnSpPr>
              <p:nvPr/>
            </p:nvCxnSpPr>
            <p:spPr>
              <a:xfrm rot="10800000" flipH="1">
                <a:off x="6759636" y="4008743"/>
                <a:ext cx="329100" cy="115500"/>
              </a:xfrm>
              <a:prstGeom prst="bentConnector3">
                <a:avLst>
                  <a:gd name="adj1" fmla="val -49402"/>
                </a:avLst>
              </a:prstGeom>
              <a:noFill/>
              <a:ln w="9525" cap="flat" cmpd="sng">
                <a:solidFill>
                  <a:srgbClr val="354A49"/>
                </a:solidFill>
                <a:prstDash val="solid"/>
                <a:round/>
                <a:headEnd type="none" w="sm" len="sm"/>
                <a:tailEnd type="triangle" w="med" len="med"/>
              </a:ln>
            </p:spPr>
          </p:cxnSp>
          <p:sp>
            <p:nvSpPr>
              <p:cNvPr id="158" name="Google Shape;511;g3a8a166b9a7_8_346">
                <a:extLst>
                  <a:ext uri="{FF2B5EF4-FFF2-40B4-BE49-F238E27FC236}">
                    <a16:creationId xmlns:a16="http://schemas.microsoft.com/office/drawing/2014/main" id="{FDE475B5-547F-23B3-8F4D-E10487D19A3D}"/>
                  </a:ext>
                </a:extLst>
              </p:cNvPr>
              <p:cNvSpPr txBox="1"/>
              <p:nvPr/>
            </p:nvSpPr>
            <p:spPr>
              <a:xfrm>
                <a:off x="7027882" y="3880801"/>
                <a:ext cx="950362" cy="3692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RAROC</a:t>
                </a:r>
                <a:endParaRPr lang="es-ES_tradnl" sz="1900" kern="1200" noProof="0" dirty="0">
                  <a:latin typeface="Poppins" panose="00000500000000000000" pitchFamily="2" charset="0"/>
                  <a:ea typeface="Calibri"/>
                  <a:cs typeface="Poppins" panose="00000500000000000000" pitchFamily="2" charset="0"/>
                  <a:sym typeface="Calibri"/>
                </a:endParaRPr>
              </a:p>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Objetivo</a:t>
                </a:r>
                <a:endParaRPr lang="es-ES_tradnl" sz="1900" kern="1200" noProof="0" dirty="0">
                  <a:latin typeface="Poppins" panose="00000500000000000000" pitchFamily="2" charset="0"/>
                  <a:ea typeface="Calibri"/>
                  <a:cs typeface="Poppins" panose="00000500000000000000" pitchFamily="2" charset="0"/>
                  <a:sym typeface="Calibri"/>
                </a:endParaRPr>
              </a:p>
            </p:txBody>
          </p:sp>
          <p:sp>
            <p:nvSpPr>
              <p:cNvPr id="159" name="Google Shape;512;g3a8a166b9a7_8_346">
                <a:extLst>
                  <a:ext uri="{FF2B5EF4-FFF2-40B4-BE49-F238E27FC236}">
                    <a16:creationId xmlns:a16="http://schemas.microsoft.com/office/drawing/2014/main" id="{7ABAFB0B-C2A4-F14D-5E26-60E94289DC18}"/>
                  </a:ext>
                </a:extLst>
              </p:cNvPr>
              <p:cNvSpPr txBox="1"/>
              <p:nvPr/>
            </p:nvSpPr>
            <p:spPr>
              <a:xfrm>
                <a:off x="5776217" y="5403293"/>
                <a:ext cx="836053" cy="415428"/>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900" kern="1200" noProof="0" dirty="0">
                    <a:latin typeface="Poppins" panose="00000500000000000000" pitchFamily="2" charset="0"/>
                    <a:ea typeface="Calibri"/>
                    <a:cs typeface="Poppins" panose="00000500000000000000" pitchFamily="2" charset="0"/>
                    <a:sym typeface="Calibri"/>
                  </a:rPr>
                  <a:t>CLV</a:t>
                </a:r>
              </a:p>
            </p:txBody>
          </p:sp>
        </p:grpSp>
        <p:sp>
          <p:nvSpPr>
            <p:cNvPr id="154" name="Google Shape;513;g3a8a166b9a7_8_346">
              <a:extLst>
                <a:ext uri="{FF2B5EF4-FFF2-40B4-BE49-F238E27FC236}">
                  <a16:creationId xmlns:a16="http://schemas.microsoft.com/office/drawing/2014/main" id="{52FA3C70-68F1-7F3B-F9B0-0EC203F39F3C}"/>
                </a:ext>
              </a:extLst>
            </p:cNvPr>
            <p:cNvSpPr/>
            <p:nvPr/>
          </p:nvSpPr>
          <p:spPr>
            <a:xfrm>
              <a:off x="5481891" y="4644295"/>
              <a:ext cx="185441" cy="232859"/>
            </a:xfrm>
            <a:prstGeom prst="downArrow">
              <a:avLst>
                <a:gd name="adj1" fmla="val 50000"/>
                <a:gd name="adj2" fmla="val 50000"/>
              </a:avLst>
            </a:prstGeom>
            <a:solidFill>
              <a:srgbClr val="7B7B7B"/>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sp>
        <p:nvSpPr>
          <p:cNvPr id="196" name="Google Shape;514;g3a8a166b9a7_8_346">
            <a:extLst>
              <a:ext uri="{FF2B5EF4-FFF2-40B4-BE49-F238E27FC236}">
                <a16:creationId xmlns:a16="http://schemas.microsoft.com/office/drawing/2014/main" id="{5AC47F2C-7881-EA8B-8BD6-C50E46B95EA7}"/>
              </a:ext>
            </a:extLst>
          </p:cNvPr>
          <p:cNvSpPr/>
          <p:nvPr/>
        </p:nvSpPr>
        <p:spPr>
          <a:xfrm>
            <a:off x="297179" y="2918579"/>
            <a:ext cx="3916640" cy="5564556"/>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7" name="Google Shape;515;g3a8a166b9a7_8_346">
            <a:extLst>
              <a:ext uri="{FF2B5EF4-FFF2-40B4-BE49-F238E27FC236}">
                <a16:creationId xmlns:a16="http://schemas.microsoft.com/office/drawing/2014/main" id="{0A9A7E31-4FEA-0720-635B-85226D4C1695}"/>
              </a:ext>
            </a:extLst>
          </p:cNvPr>
          <p:cNvSpPr/>
          <p:nvPr/>
        </p:nvSpPr>
        <p:spPr>
          <a:xfrm>
            <a:off x="8348211" y="2921220"/>
            <a:ext cx="3904371" cy="5560693"/>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8" name="Google Shape;530;g3a8a166b9a7_8_346" descr="acoso">
            <a:extLst>
              <a:ext uri="{FF2B5EF4-FFF2-40B4-BE49-F238E27FC236}">
                <a16:creationId xmlns:a16="http://schemas.microsoft.com/office/drawing/2014/main" id="{59EAB1B3-053C-6B2C-92AC-97E3F948FAF8}"/>
              </a:ext>
            </a:extLst>
          </p:cNvPr>
          <p:cNvPicPr preferRelativeResize="0"/>
          <p:nvPr/>
        </p:nvPicPr>
        <p:blipFill rotWithShape="1">
          <a:blip r:embed="rId4">
            <a:clrChange>
              <a:clrFrom>
                <a:srgbClr val="FEFEFE"/>
              </a:clrFrom>
              <a:clrTo>
                <a:srgbClr val="FEFEFE">
                  <a:alpha val="0"/>
                </a:srgbClr>
              </a:clrTo>
            </a:clrChange>
            <a:alphaModFix/>
          </a:blip>
          <a:srcRect/>
          <a:stretch/>
        </p:blipFill>
        <p:spPr>
          <a:xfrm>
            <a:off x="7807014" y="1445973"/>
            <a:ext cx="871948" cy="871948"/>
          </a:xfrm>
          <a:prstGeom prst="rect">
            <a:avLst/>
          </a:prstGeom>
          <a:noFill/>
          <a:ln>
            <a:noFill/>
          </a:ln>
        </p:spPr>
      </p:pic>
      <p:grpSp>
        <p:nvGrpSpPr>
          <p:cNvPr id="199" name="Grupo 14">
            <a:extLst>
              <a:ext uri="{FF2B5EF4-FFF2-40B4-BE49-F238E27FC236}">
                <a16:creationId xmlns:a16="http://schemas.microsoft.com/office/drawing/2014/main" id="{E46F07FB-2DAB-6DC0-CE77-B5B21609D6DB}"/>
              </a:ext>
            </a:extLst>
          </p:cNvPr>
          <p:cNvGrpSpPr/>
          <p:nvPr/>
        </p:nvGrpSpPr>
        <p:grpSpPr>
          <a:xfrm>
            <a:off x="184662" y="4167833"/>
            <a:ext cx="3899441" cy="1316072"/>
            <a:chOff x="116087" y="3490074"/>
            <a:chExt cx="2924581" cy="987054"/>
          </a:xfrm>
        </p:grpSpPr>
        <p:grpSp>
          <p:nvGrpSpPr>
            <p:cNvPr id="200" name="Google Shape;415;g3a8a166b9a7_8_346">
              <a:extLst>
                <a:ext uri="{FF2B5EF4-FFF2-40B4-BE49-F238E27FC236}">
                  <a16:creationId xmlns:a16="http://schemas.microsoft.com/office/drawing/2014/main" id="{DD3A441A-E832-3D9C-7FCF-D54E4C525F2D}"/>
                </a:ext>
              </a:extLst>
            </p:cNvPr>
            <p:cNvGrpSpPr/>
            <p:nvPr/>
          </p:nvGrpSpPr>
          <p:grpSpPr>
            <a:xfrm>
              <a:off x="766578" y="3692782"/>
              <a:ext cx="2105631" cy="679081"/>
              <a:chOff x="3518200" y="4306705"/>
              <a:chExt cx="5130680" cy="1597696"/>
            </a:xfrm>
          </p:grpSpPr>
          <p:sp>
            <p:nvSpPr>
              <p:cNvPr id="209" name="Google Shape;416;g3a8a166b9a7_8_346">
                <a:extLst>
                  <a:ext uri="{FF2B5EF4-FFF2-40B4-BE49-F238E27FC236}">
                    <a16:creationId xmlns:a16="http://schemas.microsoft.com/office/drawing/2014/main" id="{F0A3284C-ACE0-F6E5-E074-6CCAB6F9D24E}"/>
                  </a:ext>
                </a:extLst>
              </p:cNvPr>
              <p:cNvSpPr txBox="1"/>
              <p:nvPr/>
            </p:nvSpPr>
            <p:spPr>
              <a:xfrm>
                <a:off x="6976693" y="4329616"/>
                <a:ext cx="1657566" cy="498876"/>
              </a:xfrm>
              <a:prstGeom prst="rect">
                <a:avLst/>
              </a:prstGeom>
              <a:solidFill>
                <a:srgbClr val="548135">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p>
            </p:txBody>
          </p:sp>
          <p:grpSp>
            <p:nvGrpSpPr>
              <p:cNvPr id="210" name="Google Shape;417;g3a8a166b9a7_8_346">
                <a:extLst>
                  <a:ext uri="{FF2B5EF4-FFF2-40B4-BE49-F238E27FC236}">
                    <a16:creationId xmlns:a16="http://schemas.microsoft.com/office/drawing/2014/main" id="{A3AE50E0-2E7D-6335-47F7-A52695BF7948}"/>
                  </a:ext>
                </a:extLst>
              </p:cNvPr>
              <p:cNvGrpSpPr/>
              <p:nvPr/>
            </p:nvGrpSpPr>
            <p:grpSpPr>
              <a:xfrm>
                <a:off x="3518200" y="4306705"/>
                <a:ext cx="5130680" cy="1597696"/>
                <a:chOff x="3501127" y="4310221"/>
                <a:chExt cx="5130680" cy="1597696"/>
              </a:xfrm>
            </p:grpSpPr>
            <p:sp>
              <p:nvSpPr>
                <p:cNvPr id="211" name="Google Shape;418;g3a8a166b9a7_8_346">
                  <a:extLst>
                    <a:ext uri="{FF2B5EF4-FFF2-40B4-BE49-F238E27FC236}">
                      <a16:creationId xmlns:a16="http://schemas.microsoft.com/office/drawing/2014/main" id="{DFCA7AD3-377A-0AEB-0EFF-CC723B53AD3B}"/>
                    </a:ext>
                  </a:extLst>
                </p:cNvPr>
                <p:cNvSpPr txBox="1"/>
                <p:nvPr/>
              </p:nvSpPr>
              <p:spPr>
                <a:xfrm>
                  <a:off x="3501127" y="4310221"/>
                  <a:ext cx="1682574" cy="498876"/>
                </a:xfrm>
                <a:prstGeom prst="rect">
                  <a:avLst/>
                </a:prstGeom>
                <a:solidFill>
                  <a:srgbClr val="FF9A0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2" name="Google Shape;419;g3a8a166b9a7_8_346">
                  <a:extLst>
                    <a:ext uri="{FF2B5EF4-FFF2-40B4-BE49-F238E27FC236}">
                      <a16:creationId xmlns:a16="http://schemas.microsoft.com/office/drawing/2014/main" id="{BBBAE86A-A833-9F9A-9518-723BBD687C8E}"/>
                    </a:ext>
                  </a:extLst>
                </p:cNvPr>
                <p:cNvSpPr txBox="1"/>
                <p:nvPr/>
              </p:nvSpPr>
              <p:spPr>
                <a:xfrm>
                  <a:off x="3511288" y="4849604"/>
                  <a:ext cx="1674738" cy="498876"/>
                </a:xfrm>
                <a:prstGeom prst="rect">
                  <a:avLst/>
                </a:prstGeom>
                <a:solidFill>
                  <a:srgbClr val="FFF3E1"/>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3" name="Google Shape;420;g3a8a166b9a7_8_346">
                  <a:extLst>
                    <a:ext uri="{FF2B5EF4-FFF2-40B4-BE49-F238E27FC236}">
                      <a16:creationId xmlns:a16="http://schemas.microsoft.com/office/drawing/2014/main" id="{5FF5710C-80F5-E464-06DB-6E2E94E82796}"/>
                    </a:ext>
                  </a:extLst>
                </p:cNvPr>
                <p:cNvSpPr txBox="1"/>
                <p:nvPr/>
              </p:nvSpPr>
              <p:spPr>
                <a:xfrm>
                  <a:off x="3518201" y="5385549"/>
                  <a:ext cx="1682574" cy="498876"/>
                </a:xfrm>
                <a:prstGeom prst="rect">
                  <a:avLst/>
                </a:prstGeom>
                <a:solidFill>
                  <a:srgbClr val="E5F1D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4" name="Google Shape;421;g3a8a166b9a7_8_346">
                  <a:extLst>
                    <a:ext uri="{FF2B5EF4-FFF2-40B4-BE49-F238E27FC236}">
                      <a16:creationId xmlns:a16="http://schemas.microsoft.com/office/drawing/2014/main" id="{3955A6C2-72F5-FF33-B911-3F099733F5DA}"/>
                    </a:ext>
                  </a:extLst>
                </p:cNvPr>
                <p:cNvSpPr txBox="1"/>
                <p:nvPr/>
              </p:nvSpPr>
              <p:spPr>
                <a:xfrm>
                  <a:off x="5232054" y="4320380"/>
                  <a:ext cx="1674752" cy="498876"/>
                </a:xfrm>
                <a:prstGeom prst="rect">
                  <a:avLst/>
                </a:prstGeom>
                <a:solidFill>
                  <a:srgbClr val="FFD79B">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5" name="Google Shape;422;g3a8a166b9a7_8_346">
                  <a:extLst>
                    <a:ext uri="{FF2B5EF4-FFF2-40B4-BE49-F238E27FC236}">
                      <a16:creationId xmlns:a16="http://schemas.microsoft.com/office/drawing/2014/main" id="{22F35CB2-3ED0-0EFA-3461-E82DB2DBC376}"/>
                    </a:ext>
                  </a:extLst>
                </p:cNvPr>
                <p:cNvSpPr txBox="1"/>
                <p:nvPr/>
              </p:nvSpPr>
              <p:spPr>
                <a:xfrm>
                  <a:off x="5234393" y="4859764"/>
                  <a:ext cx="1682574" cy="498876"/>
                </a:xfrm>
                <a:prstGeom prst="rect">
                  <a:avLst/>
                </a:prstGeom>
                <a:solidFill>
                  <a:srgbClr val="A8D08C">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6" name="Google Shape;423;g3a8a166b9a7_8_346">
                  <a:extLst>
                    <a:ext uri="{FF2B5EF4-FFF2-40B4-BE49-F238E27FC236}">
                      <a16:creationId xmlns:a16="http://schemas.microsoft.com/office/drawing/2014/main" id="{AE429CBA-31BE-D869-78E4-758AD60E9027}"/>
                    </a:ext>
                  </a:extLst>
                </p:cNvPr>
                <p:cNvSpPr txBox="1"/>
                <p:nvPr/>
              </p:nvSpPr>
              <p:spPr>
                <a:xfrm>
                  <a:off x="5242329" y="5409041"/>
                  <a:ext cx="168257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7" name="Google Shape;424;g3a8a166b9a7_8_346">
                  <a:extLst>
                    <a:ext uri="{FF2B5EF4-FFF2-40B4-BE49-F238E27FC236}">
                      <a16:creationId xmlns:a16="http://schemas.microsoft.com/office/drawing/2014/main" id="{E946C603-2D20-AF43-FFE1-E2EE65CF9AEF}"/>
                    </a:ext>
                  </a:extLst>
                </p:cNvPr>
                <p:cNvSpPr txBox="1"/>
                <p:nvPr/>
              </p:nvSpPr>
              <p:spPr>
                <a:xfrm>
                  <a:off x="6963911" y="4881787"/>
                  <a:ext cx="1653273" cy="498876"/>
                </a:xfrm>
                <a:prstGeom prst="rect">
                  <a:avLst/>
                </a:prstGeom>
                <a:solidFill>
                  <a:srgbClr val="38562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8" name="Google Shape;425;g3a8a166b9a7_8_346">
                  <a:extLst>
                    <a:ext uri="{FF2B5EF4-FFF2-40B4-BE49-F238E27FC236}">
                      <a16:creationId xmlns:a16="http://schemas.microsoft.com/office/drawing/2014/main" id="{0151AFDE-96A5-5243-9C27-763BA1480DA9}"/>
                    </a:ext>
                  </a:extLst>
                </p:cNvPr>
                <p:cNvSpPr txBox="1"/>
                <p:nvPr/>
              </p:nvSpPr>
              <p:spPr>
                <a:xfrm>
                  <a:off x="6971143" y="5407191"/>
                  <a:ext cx="166066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grpSp>
        <p:sp>
          <p:nvSpPr>
            <p:cNvPr id="201" name="Google Shape;426;g3a8a166b9a7_8_346">
              <a:extLst>
                <a:ext uri="{FF2B5EF4-FFF2-40B4-BE49-F238E27FC236}">
                  <a16:creationId xmlns:a16="http://schemas.microsoft.com/office/drawing/2014/main" id="{38EDE699-E662-3EFD-40BB-E1AC9DBB7ECA}"/>
                </a:ext>
              </a:extLst>
            </p:cNvPr>
            <p:cNvSpPr txBox="1"/>
            <p:nvPr/>
          </p:nvSpPr>
          <p:spPr>
            <a:xfrm>
              <a:off x="770767" y="3509978"/>
              <a:ext cx="696197" cy="150240"/>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Bajo </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2" name="Google Shape;427;g3a8a166b9a7_8_346">
              <a:extLst>
                <a:ext uri="{FF2B5EF4-FFF2-40B4-BE49-F238E27FC236}">
                  <a16:creationId xmlns:a16="http://schemas.microsoft.com/office/drawing/2014/main" id="{6B005F45-8EB4-24C4-E8BA-8D38AD95BD86}"/>
                </a:ext>
              </a:extLst>
            </p:cNvPr>
            <p:cNvSpPr txBox="1"/>
            <p:nvPr/>
          </p:nvSpPr>
          <p:spPr>
            <a:xfrm>
              <a:off x="1472474" y="3490074"/>
              <a:ext cx="687317"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Medio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3" name="Google Shape;428;g3a8a166b9a7_8_346">
              <a:extLst>
                <a:ext uri="{FF2B5EF4-FFF2-40B4-BE49-F238E27FC236}">
                  <a16:creationId xmlns:a16="http://schemas.microsoft.com/office/drawing/2014/main" id="{6DC5A02A-02F9-9B66-9ED9-99415C025BB7}"/>
                </a:ext>
              </a:extLst>
            </p:cNvPr>
            <p:cNvSpPr txBox="1"/>
            <p:nvPr/>
          </p:nvSpPr>
          <p:spPr>
            <a:xfrm>
              <a:off x="2195549" y="3490074"/>
              <a:ext cx="670658"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Alto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cxnSp>
          <p:nvCxnSpPr>
            <p:cNvPr id="204" name="Google Shape;429;g3a8a166b9a7_8_346">
              <a:extLst>
                <a:ext uri="{FF2B5EF4-FFF2-40B4-BE49-F238E27FC236}">
                  <a16:creationId xmlns:a16="http://schemas.microsoft.com/office/drawing/2014/main" id="{F7F44036-D0A1-8677-69A4-532956E7F29E}"/>
                </a:ext>
              </a:extLst>
            </p:cNvPr>
            <p:cNvCxnSpPr/>
            <p:nvPr/>
          </p:nvCxnSpPr>
          <p:spPr>
            <a:xfrm>
              <a:off x="773585" y="3653023"/>
              <a:ext cx="2267083" cy="9158"/>
            </a:xfrm>
            <a:prstGeom prst="straightConnector1">
              <a:avLst/>
            </a:prstGeom>
            <a:noFill/>
            <a:ln w="9525" cap="flat" cmpd="sng">
              <a:solidFill>
                <a:srgbClr val="354A49"/>
              </a:solidFill>
              <a:prstDash val="solid"/>
              <a:round/>
              <a:headEnd type="none" w="sm" len="sm"/>
              <a:tailEnd type="triangle" w="med" len="med"/>
            </a:ln>
          </p:spPr>
        </p:cxnSp>
        <p:cxnSp>
          <p:nvCxnSpPr>
            <p:cNvPr id="205" name="Google Shape;430;g3a8a166b9a7_8_346">
              <a:extLst>
                <a:ext uri="{FF2B5EF4-FFF2-40B4-BE49-F238E27FC236}">
                  <a16:creationId xmlns:a16="http://schemas.microsoft.com/office/drawing/2014/main" id="{5A130D8F-FFB1-2717-99FE-57DC08CD3F59}"/>
                </a:ext>
              </a:extLst>
            </p:cNvPr>
            <p:cNvCxnSpPr/>
            <p:nvPr/>
          </p:nvCxnSpPr>
          <p:spPr>
            <a:xfrm>
              <a:off x="726101" y="3707802"/>
              <a:ext cx="0" cy="769326"/>
            </a:xfrm>
            <a:prstGeom prst="straightConnector1">
              <a:avLst/>
            </a:prstGeom>
            <a:noFill/>
            <a:ln w="9525" cap="flat" cmpd="sng">
              <a:solidFill>
                <a:srgbClr val="354A49"/>
              </a:solidFill>
              <a:prstDash val="solid"/>
              <a:round/>
              <a:headEnd type="none" w="sm" len="sm"/>
              <a:tailEnd type="triangle" w="med" len="med"/>
            </a:ln>
          </p:spPr>
        </p:cxnSp>
        <p:sp>
          <p:nvSpPr>
            <p:cNvPr id="206" name="Google Shape;432;g3a8a166b9a7_8_346">
              <a:extLst>
                <a:ext uri="{FF2B5EF4-FFF2-40B4-BE49-F238E27FC236}">
                  <a16:creationId xmlns:a16="http://schemas.microsoft.com/office/drawing/2014/main" id="{2917BD31-24DA-DB37-1C1B-515F11D1A95B}"/>
                </a:ext>
              </a:extLst>
            </p:cNvPr>
            <p:cNvSpPr txBox="1"/>
            <p:nvPr/>
          </p:nvSpPr>
          <p:spPr>
            <a:xfrm>
              <a:off x="116087" y="3927296"/>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B</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7" name="Google Shape;432;g3a8a166b9a7_8_346">
              <a:extLst>
                <a:ext uri="{FF2B5EF4-FFF2-40B4-BE49-F238E27FC236}">
                  <a16:creationId xmlns:a16="http://schemas.microsoft.com/office/drawing/2014/main" id="{28E3A936-6F97-96DF-6140-CE42CA62A258}"/>
                </a:ext>
              </a:extLst>
            </p:cNvPr>
            <p:cNvSpPr txBox="1"/>
            <p:nvPr/>
          </p:nvSpPr>
          <p:spPr>
            <a:xfrm>
              <a:off x="122408" y="3693398"/>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A</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8" name="Google Shape;432;g3a8a166b9a7_8_346">
              <a:extLst>
                <a:ext uri="{FF2B5EF4-FFF2-40B4-BE49-F238E27FC236}">
                  <a16:creationId xmlns:a16="http://schemas.microsoft.com/office/drawing/2014/main" id="{1661A1BD-29B4-CA05-7E0B-00831C8B616D}"/>
                </a:ext>
              </a:extLst>
            </p:cNvPr>
            <p:cNvSpPr txBox="1"/>
            <p:nvPr/>
          </p:nvSpPr>
          <p:spPr>
            <a:xfrm>
              <a:off x="117621" y="4155780"/>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N</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grpSp>
      <p:sp>
        <p:nvSpPr>
          <p:cNvPr id="219" name="Google Shape;451;g3a8a166b9a7_8_346">
            <a:extLst>
              <a:ext uri="{FF2B5EF4-FFF2-40B4-BE49-F238E27FC236}">
                <a16:creationId xmlns:a16="http://schemas.microsoft.com/office/drawing/2014/main" id="{92C80C16-09BA-0312-0B4C-28EA8132BFD1}"/>
              </a:ext>
            </a:extLst>
          </p:cNvPr>
          <p:cNvSpPr txBox="1"/>
          <p:nvPr/>
        </p:nvSpPr>
        <p:spPr>
          <a:xfrm>
            <a:off x="469906" y="6511523"/>
            <a:ext cx="3545753"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Construcción de segmentación</a:t>
            </a: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Ajuste con data real (en curso)</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a:t>
            </a:r>
            <a:r>
              <a:rPr lang="es-ES_tradnl" sz="1467" b="1" kern="1200" noProof="0" dirty="0">
                <a:latin typeface="Poppins" panose="00000500000000000000" pitchFamily="2" charset="0"/>
                <a:ea typeface="Calibri"/>
                <a:cs typeface="Poppins" panose="00000500000000000000" pitchFamily="2" charset="0"/>
                <a:sym typeface="Calibri"/>
              </a:rPr>
              <a:t>Definición del RAROC Objetivo y mínimo </a:t>
            </a:r>
            <a:r>
              <a:rPr lang="es-ES_tradnl" sz="1467" kern="1200" noProof="0" dirty="0">
                <a:latin typeface="Poppins" panose="00000500000000000000" pitchFamily="2" charset="0"/>
                <a:ea typeface="Calibri"/>
                <a:cs typeface="Poppins" panose="00000500000000000000" pitchFamily="2" charset="0"/>
                <a:sym typeface="Calibri"/>
              </a:rPr>
              <a:t>por segmento</a:t>
            </a:r>
          </a:p>
        </p:txBody>
      </p:sp>
      <p:sp>
        <p:nvSpPr>
          <p:cNvPr id="220" name="Google Shape;451;g3a8a166b9a7_8_346">
            <a:extLst>
              <a:ext uri="{FF2B5EF4-FFF2-40B4-BE49-F238E27FC236}">
                <a16:creationId xmlns:a16="http://schemas.microsoft.com/office/drawing/2014/main" id="{D9D4D4D4-809D-7EE4-1B68-E106A5B2B325}"/>
              </a:ext>
            </a:extLst>
          </p:cNvPr>
          <p:cNvSpPr txBox="1"/>
          <p:nvPr/>
        </p:nvSpPr>
        <p:spPr>
          <a:xfrm>
            <a:off x="4400880" y="6511523"/>
            <a:ext cx="3782457"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Herramientas: </a:t>
            </a:r>
            <a:r>
              <a:rPr lang="es-ES_tradnl" sz="1467" b="1" kern="1200" noProof="0" dirty="0">
                <a:latin typeface="Poppins" panose="00000500000000000000" pitchFamily="2" charset="0"/>
                <a:ea typeface="Calibri"/>
                <a:cs typeface="Poppins" panose="00000500000000000000" pitchFamily="2" charset="0"/>
                <a:sym typeface="Calibri"/>
              </a:rPr>
              <a:t>curvas </a:t>
            </a:r>
            <a:r>
              <a:rPr lang="es-ES_tradnl" sz="1467" b="1" kern="1200" noProof="0" dirty="0" err="1">
                <a:latin typeface="Poppins" panose="00000500000000000000" pitchFamily="2" charset="0"/>
                <a:ea typeface="Calibri"/>
                <a:cs typeface="Poppins" panose="00000500000000000000" pitchFamily="2" charset="0"/>
                <a:sym typeface="Calibri"/>
              </a:rPr>
              <a:t>lifetime</a:t>
            </a:r>
            <a:r>
              <a:rPr lang="es-ES_tradnl" sz="1467" b="1" kern="1200" noProof="0" dirty="0">
                <a:latin typeface="Poppins" panose="00000500000000000000" pitchFamily="2" charset="0"/>
                <a:ea typeface="Calibri"/>
                <a:cs typeface="Poppins" panose="00000500000000000000" pitchFamily="2" charset="0"/>
                <a:sym typeface="Calibri"/>
              </a:rPr>
              <a:t> de prepagos, cancelaciones, LGD, PD &amp; componente de capital</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Cálculo de </a:t>
            </a:r>
            <a:r>
              <a:rPr lang="es-ES_tradnl" sz="1467" b="1" kern="1200" noProof="0" dirty="0">
                <a:latin typeface="Poppins" panose="00000500000000000000" pitchFamily="2" charset="0"/>
                <a:ea typeface="Calibri"/>
                <a:cs typeface="Poppins" panose="00000500000000000000" pitchFamily="2" charset="0"/>
                <a:sym typeface="Calibri"/>
              </a:rPr>
              <a:t>tasa alineada al RAROC </a:t>
            </a:r>
            <a:r>
              <a:rPr lang="es-ES_tradnl" sz="1467" kern="1200" noProof="0" dirty="0">
                <a:latin typeface="Poppins" panose="00000500000000000000" pitchFamily="2" charset="0"/>
                <a:ea typeface="Calibri"/>
                <a:cs typeface="Poppins" panose="00000500000000000000" pitchFamily="2" charset="0"/>
                <a:sym typeface="Calibri"/>
              </a:rPr>
              <a:t>objetivo</a:t>
            </a:r>
          </a:p>
        </p:txBody>
      </p:sp>
      <p:sp>
        <p:nvSpPr>
          <p:cNvPr id="221" name="Google Shape;451;g3a8a166b9a7_8_346">
            <a:extLst>
              <a:ext uri="{FF2B5EF4-FFF2-40B4-BE49-F238E27FC236}">
                <a16:creationId xmlns:a16="http://schemas.microsoft.com/office/drawing/2014/main" id="{C802496D-544D-A93C-3765-67468BA7AB40}"/>
              </a:ext>
            </a:extLst>
          </p:cNvPr>
          <p:cNvSpPr txBox="1"/>
          <p:nvPr/>
        </p:nvSpPr>
        <p:spPr>
          <a:xfrm>
            <a:off x="8349421" y="6511523"/>
            <a:ext cx="4067684"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a:ea typeface="Calibri"/>
                <a:cs typeface="Poppins"/>
                <a:sym typeface="Calibri"/>
              </a:rPr>
              <a:t>Modelo econométrico de elasticidad por </a:t>
            </a:r>
            <a:r>
              <a:rPr lang="es-ES_tradnl" sz="1467" kern="1200" noProof="0" dirty="0" err="1">
                <a:latin typeface="Poppins"/>
                <a:ea typeface="Calibri"/>
                <a:cs typeface="Poppins"/>
                <a:sym typeface="Calibri"/>
              </a:rPr>
              <a:t>cluster</a:t>
            </a:r>
            <a:endParaRPr lang="es-ES_tradnl" sz="1467" kern="1200" noProof="0" dirty="0">
              <a:latin typeface="Poppins"/>
              <a:ea typeface="Calibri"/>
              <a:cs typeface="Poppins"/>
              <a:sym typeface="Calibri"/>
            </a:endParaRP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Análisis táctico de competencia</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a:ea typeface="Calibri"/>
                <a:cs typeface="Poppins"/>
                <a:sym typeface="Calibri"/>
              </a:rPr>
              <a:t>Oportunidad: Validar </a:t>
            </a:r>
            <a:r>
              <a:rPr lang="es-ES_tradnl" sz="1467" b="1" kern="1200" noProof="0" dirty="0">
                <a:latin typeface="Poppins"/>
                <a:ea typeface="Calibri"/>
                <a:cs typeface="Poppins"/>
                <a:sym typeface="Calibri"/>
              </a:rPr>
              <a:t>sinergia</a:t>
            </a:r>
            <a:r>
              <a:rPr lang="es-ES_tradnl" sz="1467" kern="1200" noProof="0" dirty="0">
                <a:latin typeface="Poppins"/>
                <a:ea typeface="Calibri"/>
                <a:cs typeface="Poppins"/>
                <a:sym typeface="Calibri"/>
              </a:rPr>
              <a:t> con modelos de </a:t>
            </a:r>
            <a:r>
              <a:rPr lang="es-ES_tradnl" sz="1467" b="1" kern="1200" noProof="0" dirty="0" err="1">
                <a:latin typeface="Poppins"/>
                <a:ea typeface="Calibri"/>
                <a:cs typeface="Poppins"/>
                <a:sym typeface="Calibri"/>
              </a:rPr>
              <a:t>retail</a:t>
            </a:r>
            <a:r>
              <a:rPr lang="es-ES_tradnl" sz="1467" kern="1200" noProof="0" dirty="0">
                <a:latin typeface="Poppins"/>
                <a:ea typeface="Calibri"/>
                <a:cs typeface="Poppins"/>
                <a:sym typeface="Calibri"/>
              </a:rPr>
              <a:t> para BN</a:t>
            </a:r>
            <a:endParaRPr lang="es-ES_tradnl" sz="1400" kern="1200" noProof="0" dirty="0"/>
          </a:p>
        </p:txBody>
      </p:sp>
      <p:sp>
        <p:nvSpPr>
          <p:cNvPr id="222" name="Google Shape;450;g3a8a166b9a7_8_346">
            <a:extLst>
              <a:ext uri="{FF2B5EF4-FFF2-40B4-BE49-F238E27FC236}">
                <a16:creationId xmlns:a16="http://schemas.microsoft.com/office/drawing/2014/main" id="{33B24290-293B-3D2E-C53A-EB9809273EF9}"/>
              </a:ext>
            </a:extLst>
          </p:cNvPr>
          <p:cNvSpPr txBox="1"/>
          <p:nvPr/>
        </p:nvSpPr>
        <p:spPr>
          <a:xfrm>
            <a:off x="12464230" y="5610447"/>
            <a:ext cx="3282809"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Gestión de excepciones (vista cliente + rentabilidad)</a:t>
            </a:r>
          </a:p>
        </p:txBody>
      </p:sp>
      <p:pic>
        <p:nvPicPr>
          <p:cNvPr id="223" name="Imagen 29" descr="cumplimiento del proyecto ">
            <a:extLst>
              <a:ext uri="{FF2B5EF4-FFF2-40B4-BE49-F238E27FC236}">
                <a16:creationId xmlns:a16="http://schemas.microsoft.com/office/drawing/2014/main" id="{F77318D0-46A6-6A52-9279-F65C7F473CE8}"/>
              </a:ext>
            </a:extLst>
          </p:cNvPr>
          <p:cNvPicPr>
            <a:picLocks noChangeAspect="1"/>
          </p:cNvPicPr>
          <p:nvPr/>
        </p:nvPicPr>
        <p:blipFill>
          <a:blip r:embed="rId5"/>
          <a:stretch>
            <a:fillRect/>
          </a:stretch>
        </p:blipFill>
        <p:spPr>
          <a:xfrm>
            <a:off x="13531210" y="3964524"/>
            <a:ext cx="1290601" cy="1290601"/>
          </a:xfrm>
          <a:prstGeom prst="rect">
            <a:avLst/>
          </a:prstGeom>
        </p:spPr>
      </p:pic>
      <p:sp>
        <p:nvSpPr>
          <p:cNvPr id="3" name="Google Shape;514;g3a8a166b9a7_8_346">
            <a:extLst>
              <a:ext uri="{FF2B5EF4-FFF2-40B4-BE49-F238E27FC236}">
                <a16:creationId xmlns:a16="http://schemas.microsoft.com/office/drawing/2014/main" id="{57C1C234-C733-19BC-48EB-3D19F2B121D8}"/>
              </a:ext>
            </a:extLst>
          </p:cNvPr>
          <p:cNvSpPr/>
          <p:nvPr/>
        </p:nvSpPr>
        <p:spPr>
          <a:xfrm>
            <a:off x="298698" y="2918579"/>
            <a:ext cx="3916640" cy="5564556"/>
          </a:xfrm>
          <a:prstGeom prst="rect">
            <a:avLst/>
          </a:prstGeom>
          <a:noFill/>
          <a:ln w="38100" cap="flat" cmpd="sng">
            <a:solidFill>
              <a:srgbClr val="000000"/>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highlight>
                <a:srgbClr val="006C80"/>
              </a:highlight>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998855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74D9A-4ADF-3FBF-D67A-B711B059BF7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D2E94D4-3C00-E2B8-1276-CFA907C43B48}"/>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A4984BE4-1F14-C52F-39AA-4D8EBD731B3A}"/>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Segmentación Estratégica</a:t>
            </a:r>
          </a:p>
        </p:txBody>
      </p:sp>
      <p:cxnSp>
        <p:nvCxnSpPr>
          <p:cNvPr id="2" name="Connector 3">
            <a:extLst>
              <a:ext uri="{FF2B5EF4-FFF2-40B4-BE49-F238E27FC236}">
                <a16:creationId xmlns:a16="http://schemas.microsoft.com/office/drawing/2014/main" id="{032D974F-E5F9-01B6-538D-E730F859E9EC}"/>
              </a:ext>
            </a:extLst>
          </p:cNvPr>
          <p:cNvCxnSpPr/>
          <p:nvPr/>
        </p:nvCxnSpPr>
        <p:spPr>
          <a:xfrm>
            <a:off x="637586" y="123277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657C9092-BCF9-EDC0-780B-07D6967C25E8}"/>
              </a:ext>
            </a:extLst>
          </p:cNvPr>
          <p:cNvSpPr/>
          <p:nvPr/>
        </p:nvSpPr>
        <p:spPr>
          <a:xfrm>
            <a:off x="16365729" y="1841140"/>
            <a:ext cx="2287687" cy="5989061"/>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ES_tradnl" sz="2000" noProof="0" dirty="0"/>
              <a:t>Mencionar que las primeras veces será por ROA y luego RAROC – será alineado al apetito de rentabilidad de Banca </a:t>
            </a:r>
            <a:r>
              <a:rPr lang="es-ES_tradnl" sz="2000" noProof="0" dirty="0" err="1"/>
              <a:t>Negoio</a:t>
            </a:r>
            <a:endParaRPr lang="es-ES_tradnl" sz="2000" noProof="0" dirty="0"/>
          </a:p>
          <a:p>
            <a:pPr algn="ctr"/>
            <a:r>
              <a:rPr lang="es-ES_tradnl" sz="2000" noProof="0" dirty="0"/>
              <a:t>+ Que esto ya se puede avanzando con la herramienta 0.5</a:t>
            </a:r>
            <a:br>
              <a:rPr lang="es-ES_tradnl" sz="2000" noProof="0" dirty="0"/>
            </a:br>
            <a:r>
              <a:rPr lang="es-ES_tradnl" sz="2000" noProof="0" dirty="0"/>
              <a:t>+ </a:t>
            </a:r>
            <a:r>
              <a:rPr lang="es-ES_tradnl" sz="2000" noProof="0" dirty="0" err="1"/>
              <a:t>Retanqueo</a:t>
            </a:r>
            <a:endParaRPr lang="es-ES_tradnl" sz="2000" noProof="0" dirty="0"/>
          </a:p>
        </p:txBody>
      </p:sp>
      <p:sp>
        <p:nvSpPr>
          <p:cNvPr id="8" name="Rectangle 7">
            <a:extLst>
              <a:ext uri="{FF2B5EF4-FFF2-40B4-BE49-F238E27FC236}">
                <a16:creationId xmlns:a16="http://schemas.microsoft.com/office/drawing/2014/main" id="{BF8F00BF-CB0F-0B35-E1D8-4C4518160313}"/>
              </a:ext>
            </a:extLst>
          </p:cNvPr>
          <p:cNvSpPr/>
          <p:nvPr/>
        </p:nvSpPr>
        <p:spPr>
          <a:xfrm>
            <a:off x="658368" y="1664208"/>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600" b="1" i="0">
                <a:solidFill>
                  <a:srgbClr val="FFFFFF"/>
                </a:solidFill>
                <a:latin typeface="Arial"/>
              </a:rPr>
              <a:t>1</a:t>
            </a:r>
          </a:p>
        </p:txBody>
      </p:sp>
      <p:sp>
        <p:nvSpPr>
          <p:cNvPr id="9" name="TextBox 8">
            <a:extLst>
              <a:ext uri="{FF2B5EF4-FFF2-40B4-BE49-F238E27FC236}">
                <a16:creationId xmlns:a16="http://schemas.microsoft.com/office/drawing/2014/main" id="{FB3B3E0B-B25F-C7C7-C215-0884276760DF}"/>
              </a:ext>
            </a:extLst>
          </p:cNvPr>
          <p:cNvSpPr txBox="1"/>
          <p:nvPr/>
        </p:nvSpPr>
        <p:spPr>
          <a:xfrm>
            <a:off x="1042415" y="1691640"/>
            <a:ext cx="7845552" cy="246221"/>
          </a:xfrm>
          <a:prstGeom prst="rect">
            <a:avLst/>
          </a:prstGeom>
          <a:noFill/>
        </p:spPr>
        <p:txBody>
          <a:bodyPr wrap="square" lIns="0" tIns="0" rIns="0" bIns="0" anchor="t">
            <a:spAutoFit/>
          </a:bodyPr>
          <a:lstStyle/>
          <a:p>
            <a:pPr algn="l">
              <a:lnSpc>
                <a:spcPct val="100000"/>
              </a:lnSpc>
            </a:pPr>
            <a:r>
              <a:rPr sz="1600" b="1" i="0">
                <a:solidFill>
                  <a:srgbClr val="0B2E2C"/>
                </a:solidFill>
                <a:latin typeface="Arial"/>
              </a:rPr>
              <a:t>Construcción del universo y variables relevantes</a:t>
            </a:r>
          </a:p>
        </p:txBody>
      </p:sp>
      <p:cxnSp>
        <p:nvCxnSpPr>
          <p:cNvPr id="10" name="Connector 8">
            <a:extLst>
              <a:ext uri="{FF2B5EF4-FFF2-40B4-BE49-F238E27FC236}">
                <a16:creationId xmlns:a16="http://schemas.microsoft.com/office/drawing/2014/main" id="{56DAE933-4FE0-CDF9-0BDF-D2EEB799D058}"/>
              </a:ext>
            </a:extLst>
          </p:cNvPr>
          <p:cNvCxnSpPr/>
          <p:nvPr/>
        </p:nvCxnSpPr>
        <p:spPr>
          <a:xfrm>
            <a:off x="658368" y="202996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6B1E58D0-521F-5821-67EB-1B21FEC689EE}"/>
              </a:ext>
            </a:extLst>
          </p:cNvPr>
          <p:cNvSpPr/>
          <p:nvPr/>
        </p:nvSpPr>
        <p:spPr>
          <a:xfrm>
            <a:off x="658368" y="2176272"/>
            <a:ext cx="2585520" cy="1188720"/>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 name="Rectangle 11">
            <a:extLst>
              <a:ext uri="{FF2B5EF4-FFF2-40B4-BE49-F238E27FC236}">
                <a16:creationId xmlns:a16="http://schemas.microsoft.com/office/drawing/2014/main" id="{AF90884C-6B8D-B2BC-98E7-37D6F49FA0BD}"/>
              </a:ext>
            </a:extLst>
          </p:cNvPr>
          <p:cNvSpPr/>
          <p:nvPr/>
        </p:nvSpPr>
        <p:spPr>
          <a:xfrm>
            <a:off x="658368" y="2176272"/>
            <a:ext cx="2585520" cy="457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 name="TextBox 12">
            <a:extLst>
              <a:ext uri="{FF2B5EF4-FFF2-40B4-BE49-F238E27FC236}">
                <a16:creationId xmlns:a16="http://schemas.microsoft.com/office/drawing/2014/main" id="{BD27C704-3FB6-9460-D806-0DAC69BB6DAD}"/>
              </a:ext>
            </a:extLst>
          </p:cNvPr>
          <p:cNvSpPr txBox="1"/>
          <p:nvPr/>
        </p:nvSpPr>
        <p:spPr>
          <a:xfrm>
            <a:off x="822959" y="2322576"/>
            <a:ext cx="2256336" cy="215380"/>
          </a:xfrm>
          <a:prstGeom prst="rect">
            <a:avLst/>
          </a:prstGeom>
          <a:noFill/>
        </p:spPr>
        <p:txBody>
          <a:bodyPr wrap="square" lIns="0" tIns="0" rIns="0" bIns="0" anchor="t">
            <a:spAutoFit/>
          </a:bodyPr>
          <a:lstStyle/>
          <a:p>
            <a:pPr algn="l">
              <a:lnSpc>
                <a:spcPct val="108000"/>
              </a:lnSpc>
            </a:pPr>
            <a:r>
              <a:rPr b="1" i="0">
                <a:solidFill>
                  <a:srgbClr val="13807B"/>
                </a:solidFill>
                <a:latin typeface="Arial"/>
              </a:rPr>
              <a:t>Desembolsos</a:t>
            </a:r>
          </a:p>
        </p:txBody>
      </p:sp>
      <p:sp>
        <p:nvSpPr>
          <p:cNvPr id="14" name="TextBox 13">
            <a:extLst>
              <a:ext uri="{FF2B5EF4-FFF2-40B4-BE49-F238E27FC236}">
                <a16:creationId xmlns:a16="http://schemas.microsoft.com/office/drawing/2014/main" id="{31719E37-AD71-4AFE-FA96-F376BA060ED7}"/>
              </a:ext>
            </a:extLst>
          </p:cNvPr>
          <p:cNvSpPr txBox="1"/>
          <p:nvPr/>
        </p:nvSpPr>
        <p:spPr>
          <a:xfrm>
            <a:off x="822959" y="2779776"/>
            <a:ext cx="2256336" cy="381708"/>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Base core para la segmentación inicial</a:t>
            </a:r>
          </a:p>
        </p:txBody>
      </p:sp>
      <p:sp>
        <p:nvSpPr>
          <p:cNvPr id="15" name="Rectangle 14">
            <a:extLst>
              <a:ext uri="{FF2B5EF4-FFF2-40B4-BE49-F238E27FC236}">
                <a16:creationId xmlns:a16="http://schemas.microsoft.com/office/drawing/2014/main" id="{6343CCDB-CB25-59F8-377C-165EA9B8A0BF}"/>
              </a:ext>
            </a:extLst>
          </p:cNvPr>
          <p:cNvSpPr/>
          <p:nvPr/>
        </p:nvSpPr>
        <p:spPr>
          <a:xfrm>
            <a:off x="1877344" y="3092369"/>
            <a:ext cx="1078669" cy="195162"/>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sz="1050" b="1" i="0" dirty="0">
                <a:solidFill>
                  <a:srgbClr val="FFFFFF"/>
                </a:solidFill>
                <a:latin typeface="Arial"/>
              </a:rPr>
              <a:t>BASE CORE</a:t>
            </a:r>
          </a:p>
        </p:txBody>
      </p:sp>
      <p:sp>
        <p:nvSpPr>
          <p:cNvPr id="16" name="TextBox 15">
            <a:extLst>
              <a:ext uri="{FF2B5EF4-FFF2-40B4-BE49-F238E27FC236}">
                <a16:creationId xmlns:a16="http://schemas.microsoft.com/office/drawing/2014/main" id="{5BC92BC1-7068-CB39-5C30-EDADFDF2C890}"/>
              </a:ext>
            </a:extLst>
          </p:cNvPr>
          <p:cNvSpPr txBox="1"/>
          <p:nvPr/>
        </p:nvSpPr>
        <p:spPr>
          <a:xfrm>
            <a:off x="3371904" y="2613398"/>
            <a:ext cx="274320" cy="369332"/>
          </a:xfrm>
          <a:prstGeom prst="rect">
            <a:avLst/>
          </a:prstGeom>
          <a:noFill/>
        </p:spPr>
        <p:txBody>
          <a:bodyPr wrap="square" lIns="0" tIns="0" rIns="0" bIns="0" anchor="ctr">
            <a:spAutoFit/>
          </a:bodyPr>
          <a:lstStyle/>
          <a:p>
            <a:pPr algn="ctr">
              <a:lnSpc>
                <a:spcPct val="100000"/>
              </a:lnSpc>
            </a:pPr>
            <a:r>
              <a:rPr sz="2400" b="1" i="0">
                <a:solidFill>
                  <a:srgbClr val="2F9E98"/>
                </a:solidFill>
                <a:latin typeface="Arial"/>
              </a:rPr>
              <a:t>+</a:t>
            </a:r>
          </a:p>
        </p:txBody>
      </p:sp>
      <p:sp>
        <p:nvSpPr>
          <p:cNvPr id="17" name="Rectangle 16">
            <a:extLst>
              <a:ext uri="{FF2B5EF4-FFF2-40B4-BE49-F238E27FC236}">
                <a16:creationId xmlns:a16="http://schemas.microsoft.com/office/drawing/2014/main" id="{B03C222A-67B2-B2A2-8395-F35B597DFF39}"/>
              </a:ext>
            </a:extLst>
          </p:cNvPr>
          <p:cNvSpPr/>
          <p:nvPr/>
        </p:nvSpPr>
        <p:spPr>
          <a:xfrm>
            <a:off x="3746808" y="2176272"/>
            <a:ext cx="2585520" cy="1188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 name="Rectangle 17">
            <a:extLst>
              <a:ext uri="{FF2B5EF4-FFF2-40B4-BE49-F238E27FC236}">
                <a16:creationId xmlns:a16="http://schemas.microsoft.com/office/drawing/2014/main" id="{7E05E41E-2E24-0275-442D-4BD69FA8A4B1}"/>
              </a:ext>
            </a:extLst>
          </p:cNvPr>
          <p:cNvSpPr/>
          <p:nvPr/>
        </p:nvSpPr>
        <p:spPr>
          <a:xfrm>
            <a:off x="3746808" y="2176272"/>
            <a:ext cx="2585520" cy="457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 name="TextBox 18">
            <a:extLst>
              <a:ext uri="{FF2B5EF4-FFF2-40B4-BE49-F238E27FC236}">
                <a16:creationId xmlns:a16="http://schemas.microsoft.com/office/drawing/2014/main" id="{8400FEFF-41F3-4E33-5A29-3007CA428A38}"/>
              </a:ext>
            </a:extLst>
          </p:cNvPr>
          <p:cNvSpPr txBox="1"/>
          <p:nvPr/>
        </p:nvSpPr>
        <p:spPr>
          <a:xfrm>
            <a:off x="3911400" y="2322576"/>
            <a:ext cx="2256336" cy="215380"/>
          </a:xfrm>
          <a:prstGeom prst="rect">
            <a:avLst/>
          </a:prstGeom>
          <a:noFill/>
        </p:spPr>
        <p:txBody>
          <a:bodyPr wrap="square" lIns="0" tIns="0" rIns="0" bIns="0" anchor="t">
            <a:spAutoFit/>
          </a:bodyPr>
          <a:lstStyle/>
          <a:p>
            <a:pPr algn="l">
              <a:lnSpc>
                <a:spcPct val="108000"/>
              </a:lnSpc>
            </a:pPr>
            <a:r>
              <a:rPr b="1" i="0">
                <a:solidFill>
                  <a:srgbClr val="0B2E2C"/>
                </a:solidFill>
                <a:latin typeface="Arial"/>
              </a:rPr>
              <a:t>Vista Cliente</a:t>
            </a:r>
          </a:p>
        </p:txBody>
      </p:sp>
      <p:sp>
        <p:nvSpPr>
          <p:cNvPr id="20" name="TextBox 19">
            <a:extLst>
              <a:ext uri="{FF2B5EF4-FFF2-40B4-BE49-F238E27FC236}">
                <a16:creationId xmlns:a16="http://schemas.microsoft.com/office/drawing/2014/main" id="{15948023-CB87-6E3A-A82D-C343BB086E06}"/>
              </a:ext>
            </a:extLst>
          </p:cNvPr>
          <p:cNvSpPr txBox="1"/>
          <p:nvPr/>
        </p:nvSpPr>
        <p:spPr>
          <a:xfrm>
            <a:off x="3911400" y="2779776"/>
            <a:ext cx="2256336" cy="181973"/>
          </a:xfrm>
          <a:prstGeom prst="rect">
            <a:avLst/>
          </a:prstGeom>
          <a:noFill/>
        </p:spPr>
        <p:txBody>
          <a:bodyPr wrap="square" lIns="0" tIns="0" rIns="0" bIns="0" anchor="t">
            <a:spAutoFit/>
          </a:bodyPr>
          <a:lstStyle/>
          <a:p>
            <a:pPr algn="l">
              <a:lnSpc>
                <a:spcPct val="118000"/>
              </a:lnSpc>
            </a:pPr>
            <a:r>
              <a:rPr sz="1100" b="0" i="0" dirty="0" err="1">
                <a:solidFill>
                  <a:srgbClr val="6E7E7D"/>
                </a:solidFill>
                <a:latin typeface="Arial"/>
              </a:rPr>
              <a:t>Cliente</a:t>
            </a:r>
            <a:r>
              <a:rPr sz="1100" b="0" i="0" dirty="0">
                <a:solidFill>
                  <a:srgbClr val="6E7E7D"/>
                </a:solidFill>
                <a:latin typeface="Arial"/>
              </a:rPr>
              <a:t> Bank / No Bank</a:t>
            </a:r>
          </a:p>
        </p:txBody>
      </p:sp>
      <p:sp>
        <p:nvSpPr>
          <p:cNvPr id="21" name="TextBox 20">
            <a:extLst>
              <a:ext uri="{FF2B5EF4-FFF2-40B4-BE49-F238E27FC236}">
                <a16:creationId xmlns:a16="http://schemas.microsoft.com/office/drawing/2014/main" id="{52F8D60F-6E75-646D-7214-1B5B485643FD}"/>
              </a:ext>
            </a:extLst>
          </p:cNvPr>
          <p:cNvSpPr txBox="1"/>
          <p:nvPr/>
        </p:nvSpPr>
        <p:spPr>
          <a:xfrm>
            <a:off x="6460345" y="2613398"/>
            <a:ext cx="274320" cy="369332"/>
          </a:xfrm>
          <a:prstGeom prst="rect">
            <a:avLst/>
          </a:prstGeom>
          <a:noFill/>
        </p:spPr>
        <p:txBody>
          <a:bodyPr wrap="square" lIns="0" tIns="0" rIns="0" bIns="0" anchor="ctr">
            <a:spAutoFit/>
          </a:bodyPr>
          <a:lstStyle/>
          <a:p>
            <a:pPr algn="ctr">
              <a:lnSpc>
                <a:spcPct val="100000"/>
              </a:lnSpc>
            </a:pPr>
            <a:r>
              <a:rPr sz="2400" b="1" i="0">
                <a:solidFill>
                  <a:srgbClr val="2F9E98"/>
                </a:solidFill>
                <a:latin typeface="Arial"/>
              </a:rPr>
              <a:t>+</a:t>
            </a:r>
          </a:p>
        </p:txBody>
      </p:sp>
      <p:sp>
        <p:nvSpPr>
          <p:cNvPr id="22" name="Rectangle 21">
            <a:extLst>
              <a:ext uri="{FF2B5EF4-FFF2-40B4-BE49-F238E27FC236}">
                <a16:creationId xmlns:a16="http://schemas.microsoft.com/office/drawing/2014/main" id="{729D4705-8B19-FAB3-E7E3-FC1B81003CC3}"/>
              </a:ext>
            </a:extLst>
          </p:cNvPr>
          <p:cNvSpPr/>
          <p:nvPr/>
        </p:nvSpPr>
        <p:spPr>
          <a:xfrm>
            <a:off x="6835249" y="2176272"/>
            <a:ext cx="2585520" cy="1188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 name="Rectangle 22">
            <a:extLst>
              <a:ext uri="{FF2B5EF4-FFF2-40B4-BE49-F238E27FC236}">
                <a16:creationId xmlns:a16="http://schemas.microsoft.com/office/drawing/2014/main" id="{3213D42F-F427-AFD8-50D7-8A9A1389763F}"/>
              </a:ext>
            </a:extLst>
          </p:cNvPr>
          <p:cNvSpPr/>
          <p:nvPr/>
        </p:nvSpPr>
        <p:spPr>
          <a:xfrm>
            <a:off x="6835249" y="2176272"/>
            <a:ext cx="2585520" cy="457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4" name="TextBox 23">
            <a:extLst>
              <a:ext uri="{FF2B5EF4-FFF2-40B4-BE49-F238E27FC236}">
                <a16:creationId xmlns:a16="http://schemas.microsoft.com/office/drawing/2014/main" id="{F0021B7C-F524-E248-490E-EF2B7BA07DC2}"/>
              </a:ext>
            </a:extLst>
          </p:cNvPr>
          <p:cNvSpPr txBox="1"/>
          <p:nvPr/>
        </p:nvSpPr>
        <p:spPr>
          <a:xfrm>
            <a:off x="6999841" y="2322576"/>
            <a:ext cx="2256336" cy="215380"/>
          </a:xfrm>
          <a:prstGeom prst="rect">
            <a:avLst/>
          </a:prstGeom>
          <a:noFill/>
        </p:spPr>
        <p:txBody>
          <a:bodyPr wrap="square" lIns="0" tIns="0" rIns="0" bIns="0" anchor="t">
            <a:spAutoFit/>
          </a:bodyPr>
          <a:lstStyle/>
          <a:p>
            <a:pPr algn="l">
              <a:lnSpc>
                <a:spcPct val="108000"/>
              </a:lnSpc>
            </a:pPr>
            <a:r>
              <a:rPr b="1" i="0">
                <a:solidFill>
                  <a:srgbClr val="0B2E2C"/>
                </a:solidFill>
                <a:latin typeface="Arial"/>
              </a:rPr>
              <a:t>Utilidad Cliente</a:t>
            </a:r>
          </a:p>
        </p:txBody>
      </p:sp>
      <p:sp>
        <p:nvSpPr>
          <p:cNvPr id="25" name="TextBox 24">
            <a:extLst>
              <a:ext uri="{FF2B5EF4-FFF2-40B4-BE49-F238E27FC236}">
                <a16:creationId xmlns:a16="http://schemas.microsoft.com/office/drawing/2014/main" id="{18A4286F-B942-EF33-4617-93F720039121}"/>
              </a:ext>
            </a:extLst>
          </p:cNvPr>
          <p:cNvSpPr txBox="1"/>
          <p:nvPr/>
        </p:nvSpPr>
        <p:spPr>
          <a:xfrm>
            <a:off x="6999841" y="2779776"/>
            <a:ext cx="2256336" cy="381708"/>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Utilidad marginal por productos pasivos y activos</a:t>
            </a:r>
          </a:p>
        </p:txBody>
      </p:sp>
      <p:sp>
        <p:nvSpPr>
          <p:cNvPr id="26" name="TextBox 25">
            <a:extLst>
              <a:ext uri="{FF2B5EF4-FFF2-40B4-BE49-F238E27FC236}">
                <a16:creationId xmlns:a16="http://schemas.microsoft.com/office/drawing/2014/main" id="{FD4512DB-8AA6-1863-6215-3B92E9F6DDDA}"/>
              </a:ext>
            </a:extLst>
          </p:cNvPr>
          <p:cNvSpPr txBox="1"/>
          <p:nvPr/>
        </p:nvSpPr>
        <p:spPr>
          <a:xfrm>
            <a:off x="9548786" y="2613398"/>
            <a:ext cx="274320" cy="369332"/>
          </a:xfrm>
          <a:prstGeom prst="rect">
            <a:avLst/>
          </a:prstGeom>
          <a:noFill/>
        </p:spPr>
        <p:txBody>
          <a:bodyPr wrap="square" lIns="0" tIns="0" rIns="0" bIns="0" anchor="ctr">
            <a:spAutoFit/>
          </a:bodyPr>
          <a:lstStyle/>
          <a:p>
            <a:pPr algn="ctr">
              <a:lnSpc>
                <a:spcPct val="100000"/>
              </a:lnSpc>
            </a:pPr>
            <a:r>
              <a:rPr sz="2400" b="1" i="0">
                <a:solidFill>
                  <a:srgbClr val="2F9E98"/>
                </a:solidFill>
                <a:latin typeface="Arial"/>
              </a:rPr>
              <a:t>+</a:t>
            </a:r>
          </a:p>
        </p:txBody>
      </p:sp>
      <p:sp>
        <p:nvSpPr>
          <p:cNvPr id="27" name="Rectangle 26">
            <a:extLst>
              <a:ext uri="{FF2B5EF4-FFF2-40B4-BE49-F238E27FC236}">
                <a16:creationId xmlns:a16="http://schemas.microsoft.com/office/drawing/2014/main" id="{7DD5D9BE-BE6B-C404-B79A-611979EE197B}"/>
              </a:ext>
            </a:extLst>
          </p:cNvPr>
          <p:cNvSpPr/>
          <p:nvPr/>
        </p:nvSpPr>
        <p:spPr>
          <a:xfrm>
            <a:off x="9923690" y="2176272"/>
            <a:ext cx="2585520" cy="1188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8" name="Rectangle 27">
            <a:extLst>
              <a:ext uri="{FF2B5EF4-FFF2-40B4-BE49-F238E27FC236}">
                <a16:creationId xmlns:a16="http://schemas.microsoft.com/office/drawing/2014/main" id="{2C83D881-C231-B932-E992-96C2AC8D3736}"/>
              </a:ext>
            </a:extLst>
          </p:cNvPr>
          <p:cNvSpPr/>
          <p:nvPr/>
        </p:nvSpPr>
        <p:spPr>
          <a:xfrm>
            <a:off x="9923690" y="2176272"/>
            <a:ext cx="2585520" cy="457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9" name="TextBox 28">
            <a:extLst>
              <a:ext uri="{FF2B5EF4-FFF2-40B4-BE49-F238E27FC236}">
                <a16:creationId xmlns:a16="http://schemas.microsoft.com/office/drawing/2014/main" id="{EDD809EF-EB32-E8F5-F416-4B2CEEC322A3}"/>
              </a:ext>
            </a:extLst>
          </p:cNvPr>
          <p:cNvSpPr txBox="1"/>
          <p:nvPr/>
        </p:nvSpPr>
        <p:spPr>
          <a:xfrm>
            <a:off x="10088282" y="2322576"/>
            <a:ext cx="2256336" cy="448071"/>
          </a:xfrm>
          <a:prstGeom prst="rect">
            <a:avLst/>
          </a:prstGeom>
          <a:noFill/>
        </p:spPr>
        <p:txBody>
          <a:bodyPr wrap="square" lIns="0" tIns="0" rIns="0" bIns="0" anchor="t">
            <a:spAutoFit/>
          </a:bodyPr>
          <a:lstStyle/>
          <a:p>
            <a:pPr algn="l">
              <a:lnSpc>
                <a:spcPct val="108000"/>
              </a:lnSpc>
            </a:pPr>
            <a:r>
              <a:rPr b="1" i="0">
                <a:solidFill>
                  <a:srgbClr val="0B2E2C"/>
                </a:solidFill>
                <a:latin typeface="Arial"/>
              </a:rPr>
              <a:t>Variables complementarias</a:t>
            </a:r>
          </a:p>
        </p:txBody>
      </p:sp>
      <p:sp>
        <p:nvSpPr>
          <p:cNvPr id="30" name="TextBox 29">
            <a:extLst>
              <a:ext uri="{FF2B5EF4-FFF2-40B4-BE49-F238E27FC236}">
                <a16:creationId xmlns:a16="http://schemas.microsoft.com/office/drawing/2014/main" id="{4E10667B-231C-5033-3B28-AC5EC583C734}"/>
              </a:ext>
            </a:extLst>
          </p:cNvPr>
          <p:cNvSpPr txBox="1"/>
          <p:nvPr/>
        </p:nvSpPr>
        <p:spPr>
          <a:xfrm>
            <a:off x="10088282" y="2779776"/>
            <a:ext cx="2256336" cy="381708"/>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Transacciones, deuda SF, SoW, pasivos</a:t>
            </a:r>
          </a:p>
        </p:txBody>
      </p:sp>
      <p:sp>
        <p:nvSpPr>
          <p:cNvPr id="31" name="TextBox 30">
            <a:extLst>
              <a:ext uri="{FF2B5EF4-FFF2-40B4-BE49-F238E27FC236}">
                <a16:creationId xmlns:a16="http://schemas.microsoft.com/office/drawing/2014/main" id="{2AB8B3A4-B8DF-D848-ADBC-6DB604C8160E}"/>
              </a:ext>
            </a:extLst>
          </p:cNvPr>
          <p:cNvSpPr txBox="1"/>
          <p:nvPr/>
        </p:nvSpPr>
        <p:spPr>
          <a:xfrm>
            <a:off x="12637227" y="2613398"/>
            <a:ext cx="274320" cy="369332"/>
          </a:xfrm>
          <a:prstGeom prst="rect">
            <a:avLst/>
          </a:prstGeom>
          <a:noFill/>
        </p:spPr>
        <p:txBody>
          <a:bodyPr wrap="square" lIns="0" tIns="0" rIns="0" bIns="0" anchor="ctr">
            <a:spAutoFit/>
          </a:bodyPr>
          <a:lstStyle/>
          <a:p>
            <a:pPr algn="ctr">
              <a:lnSpc>
                <a:spcPct val="100000"/>
              </a:lnSpc>
            </a:pPr>
            <a:r>
              <a:rPr sz="2400" b="1" i="0">
                <a:solidFill>
                  <a:srgbClr val="2F9E98"/>
                </a:solidFill>
                <a:latin typeface="Arial"/>
              </a:rPr>
              <a:t>+</a:t>
            </a:r>
          </a:p>
        </p:txBody>
      </p:sp>
      <p:sp>
        <p:nvSpPr>
          <p:cNvPr id="32" name="Rectangle 31">
            <a:extLst>
              <a:ext uri="{FF2B5EF4-FFF2-40B4-BE49-F238E27FC236}">
                <a16:creationId xmlns:a16="http://schemas.microsoft.com/office/drawing/2014/main" id="{D94AE767-CA07-0F6A-E747-DEFF3DB108FC}"/>
              </a:ext>
            </a:extLst>
          </p:cNvPr>
          <p:cNvSpPr/>
          <p:nvPr/>
        </p:nvSpPr>
        <p:spPr>
          <a:xfrm>
            <a:off x="13012131" y="2176272"/>
            <a:ext cx="2585520" cy="1188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3" name="Rectangle 32">
            <a:extLst>
              <a:ext uri="{FF2B5EF4-FFF2-40B4-BE49-F238E27FC236}">
                <a16:creationId xmlns:a16="http://schemas.microsoft.com/office/drawing/2014/main" id="{E22CAF7C-F49B-3E89-6C06-DDE52F073BC7}"/>
              </a:ext>
            </a:extLst>
          </p:cNvPr>
          <p:cNvSpPr/>
          <p:nvPr/>
        </p:nvSpPr>
        <p:spPr>
          <a:xfrm>
            <a:off x="13012131" y="2176272"/>
            <a:ext cx="2585520" cy="457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4" name="TextBox 33">
            <a:extLst>
              <a:ext uri="{FF2B5EF4-FFF2-40B4-BE49-F238E27FC236}">
                <a16:creationId xmlns:a16="http://schemas.microsoft.com/office/drawing/2014/main" id="{B8942599-269D-FF05-772B-5F08170EB099}"/>
              </a:ext>
            </a:extLst>
          </p:cNvPr>
          <p:cNvSpPr txBox="1"/>
          <p:nvPr/>
        </p:nvSpPr>
        <p:spPr>
          <a:xfrm>
            <a:off x="13176723" y="2322576"/>
            <a:ext cx="2256336" cy="215380"/>
          </a:xfrm>
          <a:prstGeom prst="rect">
            <a:avLst/>
          </a:prstGeom>
          <a:noFill/>
        </p:spPr>
        <p:txBody>
          <a:bodyPr wrap="square" lIns="0" tIns="0" rIns="0" bIns="0" anchor="t">
            <a:spAutoFit/>
          </a:bodyPr>
          <a:lstStyle/>
          <a:p>
            <a:pPr algn="l">
              <a:lnSpc>
                <a:spcPct val="108000"/>
              </a:lnSpc>
            </a:pPr>
            <a:r>
              <a:rPr b="1" i="0">
                <a:solidFill>
                  <a:srgbClr val="C87A0B"/>
                </a:solidFill>
                <a:latin typeface="Arial"/>
              </a:rPr>
              <a:t>Share</a:t>
            </a:r>
          </a:p>
        </p:txBody>
      </p:sp>
      <p:sp>
        <p:nvSpPr>
          <p:cNvPr id="35" name="TextBox 34">
            <a:extLst>
              <a:ext uri="{FF2B5EF4-FFF2-40B4-BE49-F238E27FC236}">
                <a16:creationId xmlns:a16="http://schemas.microsoft.com/office/drawing/2014/main" id="{F29ECBFE-21ED-E4ED-3E5E-A943D6C626FC}"/>
              </a:ext>
            </a:extLst>
          </p:cNvPr>
          <p:cNvSpPr txBox="1"/>
          <p:nvPr/>
        </p:nvSpPr>
        <p:spPr>
          <a:xfrm>
            <a:off x="13176723" y="2779776"/>
            <a:ext cx="2256336" cy="181973"/>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Universo comercial de campañas</a:t>
            </a:r>
          </a:p>
        </p:txBody>
      </p:sp>
      <p:sp>
        <p:nvSpPr>
          <p:cNvPr id="36" name="TextBox 35">
            <a:extLst>
              <a:ext uri="{FF2B5EF4-FFF2-40B4-BE49-F238E27FC236}">
                <a16:creationId xmlns:a16="http://schemas.microsoft.com/office/drawing/2014/main" id="{87750AC1-6A20-A61E-EF6B-B650E1CF88FC}"/>
              </a:ext>
            </a:extLst>
          </p:cNvPr>
          <p:cNvSpPr txBox="1"/>
          <p:nvPr/>
        </p:nvSpPr>
        <p:spPr>
          <a:xfrm>
            <a:off x="658368" y="3529584"/>
            <a:ext cx="14939284" cy="429348"/>
          </a:xfrm>
          <a:prstGeom prst="rect">
            <a:avLst/>
          </a:prstGeom>
          <a:noFill/>
        </p:spPr>
        <p:txBody>
          <a:bodyPr wrap="square" lIns="0" tIns="0" rIns="0" bIns="0" anchor="t">
            <a:spAutoFit/>
          </a:bodyPr>
          <a:lstStyle/>
          <a:p>
            <a:pPr algn="l">
              <a:lnSpc>
                <a:spcPct val="122000"/>
              </a:lnSpc>
              <a:spcAft>
                <a:spcPts val="400"/>
              </a:spcAft>
            </a:pPr>
            <a:r>
              <a:rPr sz="1200" b="1" i="0">
                <a:solidFill>
                  <a:srgbClr val="0C514E"/>
                </a:solidFill>
                <a:latin typeface="Arial"/>
              </a:rPr>
              <a:t>La segmentación inicial se entrena con desembolsos </a:t>
            </a:r>
            <a:r>
              <a:rPr sz="1200" b="0" i="0">
                <a:solidFill>
                  <a:srgbClr val="3E5553"/>
                </a:solidFill>
                <a:latin typeface="Arial"/>
              </a:rPr>
              <a:t>— donde observamos tasa desembolsada y utilidad. El share (universo relevante) se construye en paralelo y luego se traslada a la segmentación para aplicar la estrategia de precios.</a:t>
            </a:r>
          </a:p>
        </p:txBody>
      </p:sp>
      <p:sp>
        <p:nvSpPr>
          <p:cNvPr id="37" name="Rectangle 36">
            <a:extLst>
              <a:ext uri="{FF2B5EF4-FFF2-40B4-BE49-F238E27FC236}">
                <a16:creationId xmlns:a16="http://schemas.microsoft.com/office/drawing/2014/main" id="{45532E8E-8C5F-76F0-E350-4C56D72E03FD}"/>
              </a:ext>
            </a:extLst>
          </p:cNvPr>
          <p:cNvSpPr/>
          <p:nvPr/>
        </p:nvSpPr>
        <p:spPr>
          <a:xfrm>
            <a:off x="658368" y="4151376"/>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600" b="1" i="0">
                <a:solidFill>
                  <a:srgbClr val="FFFFFF"/>
                </a:solidFill>
                <a:latin typeface="Arial"/>
              </a:rPr>
              <a:t>2</a:t>
            </a:r>
          </a:p>
        </p:txBody>
      </p:sp>
      <p:sp>
        <p:nvSpPr>
          <p:cNvPr id="38" name="TextBox 37">
            <a:extLst>
              <a:ext uri="{FF2B5EF4-FFF2-40B4-BE49-F238E27FC236}">
                <a16:creationId xmlns:a16="http://schemas.microsoft.com/office/drawing/2014/main" id="{987038CC-125A-8192-6736-3C0442B29256}"/>
              </a:ext>
            </a:extLst>
          </p:cNvPr>
          <p:cNvSpPr txBox="1"/>
          <p:nvPr/>
        </p:nvSpPr>
        <p:spPr>
          <a:xfrm>
            <a:off x="1042415" y="4178808"/>
            <a:ext cx="7845552" cy="246221"/>
          </a:xfrm>
          <a:prstGeom prst="rect">
            <a:avLst/>
          </a:prstGeom>
          <a:noFill/>
        </p:spPr>
        <p:txBody>
          <a:bodyPr wrap="square" lIns="0" tIns="0" rIns="0" bIns="0" anchor="t">
            <a:spAutoFit/>
          </a:bodyPr>
          <a:lstStyle/>
          <a:p>
            <a:pPr algn="l">
              <a:lnSpc>
                <a:spcPct val="100000"/>
              </a:lnSpc>
            </a:pPr>
            <a:r>
              <a:rPr sz="1600" b="1" i="0">
                <a:solidFill>
                  <a:srgbClr val="0B2E2C"/>
                </a:solidFill>
                <a:latin typeface="Arial"/>
              </a:rPr>
              <a:t>Segmentación inicial sobre desembolsos</a:t>
            </a:r>
          </a:p>
        </p:txBody>
      </p:sp>
      <p:cxnSp>
        <p:nvCxnSpPr>
          <p:cNvPr id="39" name="Connector 37">
            <a:extLst>
              <a:ext uri="{FF2B5EF4-FFF2-40B4-BE49-F238E27FC236}">
                <a16:creationId xmlns:a16="http://schemas.microsoft.com/office/drawing/2014/main" id="{79183D75-E5D4-949B-57FE-BD5F2E2C5D21}"/>
              </a:ext>
            </a:extLst>
          </p:cNvPr>
          <p:cNvCxnSpPr/>
          <p:nvPr/>
        </p:nvCxnSpPr>
        <p:spPr>
          <a:xfrm>
            <a:off x="658368" y="4517136"/>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3CD74883-EEFA-7CCE-73F6-42637E425263}"/>
              </a:ext>
            </a:extLst>
          </p:cNvPr>
          <p:cNvSpPr/>
          <p:nvPr/>
        </p:nvSpPr>
        <p:spPr>
          <a:xfrm>
            <a:off x="658368" y="4663440"/>
            <a:ext cx="4297680" cy="3246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41" name="Rectangle 40">
            <a:extLst>
              <a:ext uri="{FF2B5EF4-FFF2-40B4-BE49-F238E27FC236}">
                <a16:creationId xmlns:a16="http://schemas.microsoft.com/office/drawing/2014/main" id="{B6D53433-E0AA-EF26-26DB-0441BAB93848}"/>
              </a:ext>
            </a:extLst>
          </p:cNvPr>
          <p:cNvSpPr/>
          <p:nvPr/>
        </p:nvSpPr>
        <p:spPr>
          <a:xfrm>
            <a:off x="658368" y="4663440"/>
            <a:ext cx="4297680" cy="32918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FFFFFF"/>
                </a:solidFill>
                <a:latin typeface="Arial"/>
              </a:rPr>
              <a:t>INPUT ANALÍTICO</a:t>
            </a:r>
          </a:p>
        </p:txBody>
      </p:sp>
      <p:sp>
        <p:nvSpPr>
          <p:cNvPr id="42" name="TextBox 41">
            <a:extLst>
              <a:ext uri="{FF2B5EF4-FFF2-40B4-BE49-F238E27FC236}">
                <a16:creationId xmlns:a16="http://schemas.microsoft.com/office/drawing/2014/main" id="{18E802F0-4E4F-EEC8-1D38-8C5CD5884668}"/>
              </a:ext>
            </a:extLst>
          </p:cNvPr>
          <p:cNvSpPr txBox="1"/>
          <p:nvPr/>
        </p:nvSpPr>
        <p:spPr>
          <a:xfrm>
            <a:off x="877824" y="5138927"/>
            <a:ext cx="3858768" cy="184666"/>
          </a:xfrm>
          <a:prstGeom prst="rect">
            <a:avLst/>
          </a:prstGeom>
          <a:noFill/>
        </p:spPr>
        <p:txBody>
          <a:bodyPr wrap="square" lIns="0" tIns="0" rIns="0" bIns="0" anchor="t">
            <a:spAutoFit/>
          </a:bodyPr>
          <a:lstStyle/>
          <a:p>
            <a:pPr algn="l">
              <a:lnSpc>
                <a:spcPct val="100000"/>
              </a:lnSpc>
            </a:pPr>
            <a:r>
              <a:rPr lang="es-ES" sz="1200" b="1" i="0" dirty="0">
                <a:solidFill>
                  <a:srgbClr val="445A6E"/>
                </a:solidFill>
                <a:latin typeface="Arial"/>
              </a:rPr>
              <a:t>Universo y variables</a:t>
            </a:r>
            <a:endParaRPr sz="1200" b="1" i="0" dirty="0">
              <a:solidFill>
                <a:srgbClr val="445A6E"/>
              </a:solidFill>
              <a:latin typeface="Arial"/>
            </a:endParaRPr>
          </a:p>
        </p:txBody>
      </p:sp>
      <p:sp>
        <p:nvSpPr>
          <p:cNvPr id="43" name="TextBox 42">
            <a:extLst>
              <a:ext uri="{FF2B5EF4-FFF2-40B4-BE49-F238E27FC236}">
                <a16:creationId xmlns:a16="http://schemas.microsoft.com/office/drawing/2014/main" id="{CB951FCF-39E2-D5AF-A741-F128A7B5E7DB}"/>
              </a:ext>
            </a:extLst>
          </p:cNvPr>
          <p:cNvSpPr txBox="1"/>
          <p:nvPr/>
        </p:nvSpPr>
        <p:spPr>
          <a:xfrm>
            <a:off x="877824" y="5394959"/>
            <a:ext cx="3858768" cy="381708"/>
          </a:xfrm>
          <a:prstGeom prst="rect">
            <a:avLst/>
          </a:prstGeom>
          <a:noFill/>
        </p:spPr>
        <p:txBody>
          <a:bodyPr wrap="square" lIns="0" tIns="0" rIns="0" bIns="0" anchor="t">
            <a:spAutoFit/>
          </a:bodyPr>
          <a:lstStyle/>
          <a:p>
            <a:pPr marL="96012" indent="-96012">
              <a:lnSpc>
                <a:spcPct val="118000"/>
              </a:lnSpc>
              <a:spcAft>
                <a:spcPts val="300"/>
              </a:spcAft>
              <a:buClr>
                <a:srgbClr val="445A6E"/>
              </a:buClr>
              <a:buFont typeface="Arial"/>
              <a:buChar char="•"/>
            </a:pPr>
            <a:r>
              <a:rPr lang="es-ES" sz="1100" dirty="0">
                <a:solidFill>
                  <a:srgbClr val="6E7E7D"/>
                </a:solidFill>
              </a:rPr>
              <a:t>Desembolsos 2025-03 a 2026-05 · excluye </a:t>
            </a:r>
            <a:r>
              <a:rPr lang="es-ES" sz="1100" dirty="0" err="1">
                <a:solidFill>
                  <a:srgbClr val="6E7E7D"/>
                </a:solidFill>
              </a:rPr>
              <a:t>Vendors</a:t>
            </a:r>
            <a:r>
              <a:rPr lang="es-ES" sz="1100" dirty="0">
                <a:solidFill>
                  <a:srgbClr val="6E7E7D"/>
                </a:solidFill>
              </a:rPr>
              <a:t> y gobierno</a:t>
            </a:r>
          </a:p>
        </p:txBody>
      </p:sp>
      <p:sp>
        <p:nvSpPr>
          <p:cNvPr id="44" name="TextBox 43">
            <a:extLst>
              <a:ext uri="{FF2B5EF4-FFF2-40B4-BE49-F238E27FC236}">
                <a16:creationId xmlns:a16="http://schemas.microsoft.com/office/drawing/2014/main" id="{00916CA8-59F7-77C4-FDDB-7C1C8BAD677A}"/>
              </a:ext>
            </a:extLst>
          </p:cNvPr>
          <p:cNvSpPr txBox="1"/>
          <p:nvPr/>
        </p:nvSpPr>
        <p:spPr>
          <a:xfrm>
            <a:off x="877824" y="5844702"/>
            <a:ext cx="3858768" cy="581441"/>
          </a:xfrm>
          <a:prstGeom prst="rect">
            <a:avLst/>
          </a:prstGeom>
          <a:noFill/>
        </p:spPr>
        <p:txBody>
          <a:bodyPr wrap="square" lIns="0" tIns="0" rIns="0" bIns="0" anchor="t">
            <a:spAutoFit/>
          </a:bodyPr>
          <a:lstStyle/>
          <a:p>
            <a:pPr marL="96012" indent="-96012">
              <a:lnSpc>
                <a:spcPct val="118000"/>
              </a:lnSpc>
              <a:spcAft>
                <a:spcPts val="300"/>
              </a:spcAft>
              <a:buClr>
                <a:srgbClr val="445A6E"/>
              </a:buClr>
              <a:buFont typeface="Arial"/>
              <a:buChar char="•"/>
            </a:pPr>
            <a:r>
              <a:rPr lang="es-ES" sz="1100" dirty="0">
                <a:solidFill>
                  <a:srgbClr val="6E7E7D"/>
                </a:solidFill>
              </a:rPr>
              <a:t>78 variables (u3m/u6m/u12m) en 5 bloques temáticos: perfil de empresa, relación con IBK, comportamiento externo, transaccionalidad y operación.</a:t>
            </a:r>
          </a:p>
        </p:txBody>
      </p:sp>
      <p:sp>
        <p:nvSpPr>
          <p:cNvPr id="45" name="TextBox 44">
            <a:extLst>
              <a:ext uri="{FF2B5EF4-FFF2-40B4-BE49-F238E27FC236}">
                <a16:creationId xmlns:a16="http://schemas.microsoft.com/office/drawing/2014/main" id="{1349FE86-0DCB-44E3-A894-F8938DFBBDB8}"/>
              </a:ext>
            </a:extLst>
          </p:cNvPr>
          <p:cNvSpPr txBox="1"/>
          <p:nvPr/>
        </p:nvSpPr>
        <p:spPr>
          <a:xfrm>
            <a:off x="877824" y="6642873"/>
            <a:ext cx="3858768" cy="184666"/>
          </a:xfrm>
          <a:prstGeom prst="rect">
            <a:avLst/>
          </a:prstGeom>
          <a:noFill/>
        </p:spPr>
        <p:txBody>
          <a:bodyPr wrap="square" lIns="0" tIns="0" rIns="0" bIns="0" anchor="t">
            <a:spAutoFit/>
          </a:bodyPr>
          <a:lstStyle/>
          <a:p>
            <a:pPr algn="l">
              <a:lnSpc>
                <a:spcPct val="100000"/>
              </a:lnSpc>
            </a:pPr>
            <a:r>
              <a:rPr sz="1200" b="1" i="0" dirty="0" err="1">
                <a:solidFill>
                  <a:srgbClr val="445A6E"/>
                </a:solidFill>
                <a:latin typeface="Arial"/>
              </a:rPr>
              <a:t>Selección</a:t>
            </a:r>
            <a:r>
              <a:rPr sz="1200" b="1" i="0" dirty="0">
                <a:solidFill>
                  <a:srgbClr val="445A6E"/>
                </a:solidFill>
                <a:latin typeface="Arial"/>
              </a:rPr>
              <a:t> </a:t>
            </a:r>
            <a:r>
              <a:rPr lang="es-ES" sz="1200" b="1" dirty="0">
                <a:solidFill>
                  <a:srgbClr val="445A6E"/>
                </a:solidFill>
              </a:rPr>
              <a:t>final</a:t>
            </a:r>
            <a:endParaRPr sz="1200" b="1" i="0" dirty="0">
              <a:solidFill>
                <a:srgbClr val="445A6E"/>
              </a:solidFill>
              <a:latin typeface="Arial"/>
            </a:endParaRPr>
          </a:p>
        </p:txBody>
      </p:sp>
      <p:sp>
        <p:nvSpPr>
          <p:cNvPr id="46" name="TextBox 45">
            <a:extLst>
              <a:ext uri="{FF2B5EF4-FFF2-40B4-BE49-F238E27FC236}">
                <a16:creationId xmlns:a16="http://schemas.microsoft.com/office/drawing/2014/main" id="{3F2B6893-0D83-2358-03FB-3626710C320B}"/>
              </a:ext>
            </a:extLst>
          </p:cNvPr>
          <p:cNvSpPr txBox="1"/>
          <p:nvPr/>
        </p:nvSpPr>
        <p:spPr>
          <a:xfrm>
            <a:off x="877824" y="6898905"/>
            <a:ext cx="3858768" cy="381708"/>
          </a:xfrm>
          <a:prstGeom prst="rect">
            <a:avLst/>
          </a:prstGeom>
          <a:noFill/>
        </p:spPr>
        <p:txBody>
          <a:bodyPr wrap="square" lIns="0" tIns="0" rIns="0" bIns="0" anchor="t">
            <a:spAutoFit/>
          </a:bodyPr>
          <a:lstStyle/>
          <a:p>
            <a:pPr marL="96012" indent="-96012">
              <a:lnSpc>
                <a:spcPct val="118000"/>
              </a:lnSpc>
              <a:spcAft>
                <a:spcPts val="300"/>
              </a:spcAft>
              <a:buClr>
                <a:srgbClr val="445A6E"/>
              </a:buClr>
              <a:buFont typeface="Arial"/>
              <a:buChar char="•"/>
            </a:pPr>
            <a:r>
              <a:rPr lang="es-ES" sz="1100" dirty="0">
                <a:solidFill>
                  <a:srgbClr val="6E7E7D"/>
                </a:solidFill>
              </a:rPr>
              <a:t>5 variables retenidas: UAI, monto, ventas, deuda SSFF, pasivos</a:t>
            </a:r>
          </a:p>
        </p:txBody>
      </p:sp>
      <p:cxnSp>
        <p:nvCxnSpPr>
          <p:cNvPr id="129" name="Connector 46">
            <a:extLst>
              <a:ext uri="{FF2B5EF4-FFF2-40B4-BE49-F238E27FC236}">
                <a16:creationId xmlns:a16="http://schemas.microsoft.com/office/drawing/2014/main" id="{E1E4578D-6BF2-E470-1534-B46F5BBC4F7B}"/>
              </a:ext>
            </a:extLst>
          </p:cNvPr>
          <p:cNvCxnSpPr/>
          <p:nvPr/>
        </p:nvCxnSpPr>
        <p:spPr>
          <a:xfrm>
            <a:off x="5047488" y="6286500"/>
            <a:ext cx="310896"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Rectangle 129">
            <a:extLst>
              <a:ext uri="{FF2B5EF4-FFF2-40B4-BE49-F238E27FC236}">
                <a16:creationId xmlns:a16="http://schemas.microsoft.com/office/drawing/2014/main" id="{CFB927E9-33B0-EF07-D24A-BA15BD555001}"/>
              </a:ext>
            </a:extLst>
          </p:cNvPr>
          <p:cNvSpPr/>
          <p:nvPr/>
        </p:nvSpPr>
        <p:spPr>
          <a:xfrm>
            <a:off x="5449824" y="4663440"/>
            <a:ext cx="5760720" cy="3246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1" name="Rectangle 130">
            <a:extLst>
              <a:ext uri="{FF2B5EF4-FFF2-40B4-BE49-F238E27FC236}">
                <a16:creationId xmlns:a16="http://schemas.microsoft.com/office/drawing/2014/main" id="{5085A7C8-037C-7091-1D8D-07BE3E03B1A9}"/>
              </a:ext>
            </a:extLst>
          </p:cNvPr>
          <p:cNvSpPr/>
          <p:nvPr/>
        </p:nvSpPr>
        <p:spPr>
          <a:xfrm>
            <a:off x="5449824" y="4663440"/>
            <a:ext cx="5760720"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FFFFFF"/>
                </a:solidFill>
                <a:latin typeface="Arial"/>
              </a:rPr>
              <a:t>METODOLOGÍA</a:t>
            </a:r>
          </a:p>
        </p:txBody>
      </p:sp>
      <p:sp>
        <p:nvSpPr>
          <p:cNvPr id="132" name="TextBox 131">
            <a:extLst>
              <a:ext uri="{FF2B5EF4-FFF2-40B4-BE49-F238E27FC236}">
                <a16:creationId xmlns:a16="http://schemas.microsoft.com/office/drawing/2014/main" id="{E9767910-B4D1-BDF4-F786-FC09133A7979}"/>
              </a:ext>
            </a:extLst>
          </p:cNvPr>
          <p:cNvSpPr txBox="1"/>
          <p:nvPr/>
        </p:nvSpPr>
        <p:spPr>
          <a:xfrm>
            <a:off x="5669280" y="5120640"/>
            <a:ext cx="5321808" cy="184666"/>
          </a:xfrm>
          <a:prstGeom prst="rect">
            <a:avLst/>
          </a:prstGeom>
          <a:noFill/>
        </p:spPr>
        <p:txBody>
          <a:bodyPr wrap="square" lIns="0" tIns="0" rIns="0" bIns="0" anchor="t">
            <a:spAutoFit/>
          </a:bodyPr>
          <a:lstStyle/>
          <a:p>
            <a:pPr algn="l">
              <a:lnSpc>
                <a:spcPct val="100000"/>
              </a:lnSpc>
            </a:pPr>
            <a:r>
              <a:rPr sz="1200" b="1" i="0" dirty="0">
                <a:solidFill>
                  <a:srgbClr val="0C514E"/>
                </a:solidFill>
                <a:latin typeface="Arial"/>
              </a:rPr>
              <a:t>Modelo</a:t>
            </a:r>
          </a:p>
        </p:txBody>
      </p:sp>
      <p:sp>
        <p:nvSpPr>
          <p:cNvPr id="133" name="TextBox 132">
            <a:extLst>
              <a:ext uri="{FF2B5EF4-FFF2-40B4-BE49-F238E27FC236}">
                <a16:creationId xmlns:a16="http://schemas.microsoft.com/office/drawing/2014/main" id="{B33CA433-FC0C-5CD6-EDB3-8771DC431CB6}"/>
              </a:ext>
            </a:extLst>
          </p:cNvPr>
          <p:cNvSpPr txBox="1"/>
          <p:nvPr/>
        </p:nvSpPr>
        <p:spPr>
          <a:xfrm>
            <a:off x="5669280" y="5358383"/>
            <a:ext cx="5321808" cy="426079"/>
          </a:xfrm>
          <a:prstGeom prst="rect">
            <a:avLst/>
          </a:prstGeom>
          <a:noFill/>
        </p:spPr>
        <p:txBody>
          <a:bodyPr wrap="square" lIns="0" tIns="0" rIns="0" bIns="0" anchor="t">
            <a:spAutoFit/>
          </a:bodyPr>
          <a:lstStyle/>
          <a:p>
            <a:pPr marL="128016" indent="-128016" algn="l">
              <a:lnSpc>
                <a:spcPct val="120000"/>
              </a:lnSpc>
              <a:spcAft>
                <a:spcPts val="300"/>
              </a:spcAft>
              <a:buClr>
                <a:srgbClr val="13807B"/>
              </a:buClr>
              <a:buFont typeface="Arial"/>
              <a:buChar char="•"/>
            </a:pPr>
            <a:r>
              <a:rPr sz="1100" b="0" i="0" dirty="0">
                <a:solidFill>
                  <a:srgbClr val="6E7E7D"/>
                </a:solidFill>
                <a:latin typeface="Arial"/>
              </a:rPr>
              <a:t>Árbol de </a:t>
            </a:r>
            <a:r>
              <a:rPr sz="1100" b="0" i="0" dirty="0" err="1">
                <a:solidFill>
                  <a:srgbClr val="6E7E7D"/>
                </a:solidFill>
                <a:latin typeface="Arial"/>
              </a:rPr>
              <a:t>regresión</a:t>
            </a:r>
            <a:r>
              <a:rPr sz="1100" b="0" i="0" dirty="0">
                <a:solidFill>
                  <a:srgbClr val="6E7E7D"/>
                </a:solidFill>
                <a:latin typeface="Arial"/>
              </a:rPr>
              <a:t> con cortes </a:t>
            </a:r>
            <a:r>
              <a:rPr sz="1100" b="0" i="0" dirty="0" err="1">
                <a:solidFill>
                  <a:srgbClr val="6E7E7D"/>
                </a:solidFill>
                <a:latin typeface="Arial"/>
              </a:rPr>
              <a:t>interpretables</a:t>
            </a:r>
            <a:endParaRPr sz="1100" b="0" i="0" dirty="0">
              <a:solidFill>
                <a:srgbClr val="6E7E7D"/>
              </a:solidFill>
              <a:latin typeface="Arial"/>
            </a:endParaRPr>
          </a:p>
          <a:p>
            <a:pPr marL="96012" indent="-96012">
              <a:lnSpc>
                <a:spcPct val="120000"/>
              </a:lnSpc>
              <a:spcAft>
                <a:spcPts val="225"/>
              </a:spcAft>
              <a:buClr>
                <a:srgbClr val="13807B"/>
              </a:buClr>
              <a:buFont typeface="Arial"/>
              <a:buChar char="•"/>
            </a:pPr>
            <a:r>
              <a:rPr lang="es-PE" sz="1100" dirty="0">
                <a:solidFill>
                  <a:srgbClr val="6E7E7D"/>
                </a:solidFill>
              </a:rPr>
              <a:t>Target: TEA ofertada − TEA desembolsada (brecha)</a:t>
            </a:r>
          </a:p>
        </p:txBody>
      </p:sp>
      <p:sp>
        <p:nvSpPr>
          <p:cNvPr id="134" name="TextBox 133">
            <a:extLst>
              <a:ext uri="{FF2B5EF4-FFF2-40B4-BE49-F238E27FC236}">
                <a16:creationId xmlns:a16="http://schemas.microsoft.com/office/drawing/2014/main" id="{41BBC239-E512-6DEF-57B7-C14E4E69C98A}"/>
              </a:ext>
            </a:extLst>
          </p:cNvPr>
          <p:cNvSpPr txBox="1"/>
          <p:nvPr/>
        </p:nvSpPr>
        <p:spPr>
          <a:xfrm>
            <a:off x="5669280" y="5980175"/>
            <a:ext cx="5321808" cy="184666"/>
          </a:xfrm>
          <a:prstGeom prst="rect">
            <a:avLst/>
          </a:prstGeom>
          <a:noFill/>
        </p:spPr>
        <p:txBody>
          <a:bodyPr wrap="square" lIns="0" tIns="0" rIns="0" bIns="0" anchor="t">
            <a:spAutoFit/>
          </a:bodyPr>
          <a:lstStyle/>
          <a:p>
            <a:pPr algn="l">
              <a:lnSpc>
                <a:spcPct val="100000"/>
              </a:lnSpc>
            </a:pPr>
            <a:r>
              <a:rPr lang="es-ES" sz="1200" b="1" i="0" dirty="0">
                <a:solidFill>
                  <a:srgbClr val="0C514E"/>
                </a:solidFill>
                <a:latin typeface="Arial"/>
              </a:rPr>
              <a:t>Reglas de asignación</a:t>
            </a:r>
            <a:endParaRPr sz="1200" b="1" i="0" dirty="0">
              <a:solidFill>
                <a:srgbClr val="0C514E"/>
              </a:solidFill>
              <a:latin typeface="Arial"/>
            </a:endParaRPr>
          </a:p>
        </p:txBody>
      </p:sp>
      <p:sp>
        <p:nvSpPr>
          <p:cNvPr id="135" name="TextBox 134">
            <a:extLst>
              <a:ext uri="{FF2B5EF4-FFF2-40B4-BE49-F238E27FC236}">
                <a16:creationId xmlns:a16="http://schemas.microsoft.com/office/drawing/2014/main" id="{5F188A38-3A77-765A-82D5-ABE27443A77B}"/>
              </a:ext>
            </a:extLst>
          </p:cNvPr>
          <p:cNvSpPr txBox="1"/>
          <p:nvPr/>
        </p:nvSpPr>
        <p:spPr>
          <a:xfrm>
            <a:off x="5669280" y="6217920"/>
            <a:ext cx="5321808" cy="181973"/>
          </a:xfrm>
          <a:prstGeom prst="rect">
            <a:avLst/>
          </a:prstGeom>
          <a:noFill/>
        </p:spPr>
        <p:txBody>
          <a:bodyPr wrap="square" lIns="0" tIns="0" rIns="0" bIns="0" anchor="t">
            <a:spAutoFit/>
          </a:bodyPr>
          <a:lstStyle/>
          <a:p>
            <a:pPr marL="96012" indent="-96012">
              <a:lnSpc>
                <a:spcPct val="118000"/>
              </a:lnSpc>
              <a:spcAft>
                <a:spcPts val="300"/>
              </a:spcAft>
              <a:buClr>
                <a:srgbClr val="13807B"/>
              </a:buClr>
              <a:buFont typeface="Arial"/>
              <a:buChar char="•"/>
            </a:pPr>
            <a:r>
              <a:rPr lang="es-ES" sz="1100" dirty="0">
                <a:solidFill>
                  <a:srgbClr val="6E7E7D"/>
                </a:solidFill>
              </a:rPr>
              <a:t>4 preguntas (con deuda) · 2 (sin deuda) → 9 </a:t>
            </a:r>
            <a:r>
              <a:rPr lang="es-ES" sz="1100" dirty="0" err="1">
                <a:solidFill>
                  <a:srgbClr val="6E7E7D"/>
                </a:solidFill>
              </a:rPr>
              <a:t>clusters</a:t>
            </a:r>
            <a:endParaRPr lang="es-ES" sz="1100" dirty="0">
              <a:solidFill>
                <a:srgbClr val="6E7E7D"/>
              </a:solidFill>
            </a:endParaRPr>
          </a:p>
        </p:txBody>
      </p:sp>
      <p:cxnSp>
        <p:nvCxnSpPr>
          <p:cNvPr id="136" name="Connector 53">
            <a:extLst>
              <a:ext uri="{FF2B5EF4-FFF2-40B4-BE49-F238E27FC236}">
                <a16:creationId xmlns:a16="http://schemas.microsoft.com/office/drawing/2014/main" id="{056457D3-3BDE-ED6C-0AD9-3896BAE6E818}"/>
              </a:ext>
            </a:extLst>
          </p:cNvPr>
          <p:cNvCxnSpPr/>
          <p:nvPr/>
        </p:nvCxnSpPr>
        <p:spPr>
          <a:xfrm>
            <a:off x="5669280" y="6583679"/>
            <a:ext cx="5321808"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37" name="TextBox 136">
            <a:extLst>
              <a:ext uri="{FF2B5EF4-FFF2-40B4-BE49-F238E27FC236}">
                <a16:creationId xmlns:a16="http://schemas.microsoft.com/office/drawing/2014/main" id="{B88B1A2A-0AA7-3640-D4BF-06833339EE08}"/>
              </a:ext>
            </a:extLst>
          </p:cNvPr>
          <p:cNvSpPr txBox="1"/>
          <p:nvPr/>
        </p:nvSpPr>
        <p:spPr>
          <a:xfrm>
            <a:off x="5669280" y="6675120"/>
            <a:ext cx="5321808" cy="184666"/>
          </a:xfrm>
          <a:prstGeom prst="rect">
            <a:avLst/>
          </a:prstGeom>
          <a:noFill/>
        </p:spPr>
        <p:txBody>
          <a:bodyPr wrap="square" lIns="0" tIns="0" rIns="0" bIns="0" anchor="t">
            <a:spAutoFit/>
          </a:bodyPr>
          <a:lstStyle/>
          <a:p>
            <a:pPr algn="l">
              <a:lnSpc>
                <a:spcPct val="100000"/>
              </a:lnSpc>
            </a:pPr>
            <a:r>
              <a:rPr lang="es-ES" sz="1200" b="1" i="0" dirty="0">
                <a:solidFill>
                  <a:srgbClr val="0B2E2C"/>
                </a:solidFill>
                <a:latin typeface="Arial"/>
              </a:rPr>
              <a:t>Ramas del árbol</a:t>
            </a:r>
            <a:endParaRPr sz="1200" b="1" i="0" dirty="0">
              <a:solidFill>
                <a:srgbClr val="0B2E2C"/>
              </a:solidFill>
              <a:latin typeface="Arial"/>
            </a:endParaRPr>
          </a:p>
        </p:txBody>
      </p:sp>
      <p:sp>
        <p:nvSpPr>
          <p:cNvPr id="138" name="Rectangle 137">
            <a:extLst>
              <a:ext uri="{FF2B5EF4-FFF2-40B4-BE49-F238E27FC236}">
                <a16:creationId xmlns:a16="http://schemas.microsoft.com/office/drawing/2014/main" id="{E83D6DB5-57A2-5C45-5BC2-715BCC9D838F}"/>
              </a:ext>
            </a:extLst>
          </p:cNvPr>
          <p:cNvSpPr/>
          <p:nvPr/>
        </p:nvSpPr>
        <p:spPr>
          <a:xfrm>
            <a:off x="5669280" y="6949440"/>
            <a:ext cx="1676400" cy="73152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9" name="Rectangle 138">
            <a:extLst>
              <a:ext uri="{FF2B5EF4-FFF2-40B4-BE49-F238E27FC236}">
                <a16:creationId xmlns:a16="http://schemas.microsoft.com/office/drawing/2014/main" id="{AD5CD5DF-4606-8EA0-A531-69B63CDF9483}"/>
              </a:ext>
            </a:extLst>
          </p:cNvPr>
          <p:cNvSpPr/>
          <p:nvPr/>
        </p:nvSpPr>
        <p:spPr>
          <a:xfrm>
            <a:off x="5669280" y="6949440"/>
            <a:ext cx="36576" cy="7315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0" name="TextBox 139">
            <a:extLst>
              <a:ext uri="{FF2B5EF4-FFF2-40B4-BE49-F238E27FC236}">
                <a16:creationId xmlns:a16="http://schemas.microsoft.com/office/drawing/2014/main" id="{2A13D02C-A54E-F0D8-742E-A8B477C94A29}"/>
              </a:ext>
            </a:extLst>
          </p:cNvPr>
          <p:cNvSpPr txBox="1"/>
          <p:nvPr/>
        </p:nvSpPr>
        <p:spPr>
          <a:xfrm>
            <a:off x="5797296" y="7040879"/>
            <a:ext cx="1420368" cy="169277"/>
          </a:xfrm>
          <a:prstGeom prst="rect">
            <a:avLst/>
          </a:prstGeom>
          <a:noFill/>
        </p:spPr>
        <p:txBody>
          <a:bodyPr wrap="square" lIns="0" tIns="0" rIns="0" bIns="0" anchor="t">
            <a:spAutoFit/>
          </a:bodyPr>
          <a:lstStyle/>
          <a:p>
            <a:pPr algn="l">
              <a:lnSpc>
                <a:spcPct val="100000"/>
              </a:lnSpc>
            </a:pPr>
            <a:r>
              <a:rPr lang="es-ES" sz="1100" b="1" i="0" dirty="0">
                <a:solidFill>
                  <a:srgbClr val="13807B"/>
                </a:solidFill>
                <a:latin typeface="Arial"/>
              </a:rPr>
              <a:t>Con deuda</a:t>
            </a:r>
            <a:endParaRPr sz="1100" b="1" i="0" dirty="0">
              <a:solidFill>
                <a:srgbClr val="13807B"/>
              </a:solidFill>
              <a:latin typeface="Arial"/>
            </a:endParaRPr>
          </a:p>
        </p:txBody>
      </p:sp>
      <p:sp>
        <p:nvSpPr>
          <p:cNvPr id="141" name="TextBox 140">
            <a:extLst>
              <a:ext uri="{FF2B5EF4-FFF2-40B4-BE49-F238E27FC236}">
                <a16:creationId xmlns:a16="http://schemas.microsoft.com/office/drawing/2014/main" id="{9A7D0186-5CD9-2063-6118-5F745779AA91}"/>
              </a:ext>
            </a:extLst>
          </p:cNvPr>
          <p:cNvSpPr txBox="1"/>
          <p:nvPr/>
        </p:nvSpPr>
        <p:spPr>
          <a:xfrm>
            <a:off x="5797296" y="7260336"/>
            <a:ext cx="1603248" cy="166392"/>
          </a:xfrm>
          <a:prstGeom prst="rect">
            <a:avLst/>
          </a:prstGeom>
          <a:noFill/>
        </p:spPr>
        <p:txBody>
          <a:bodyPr wrap="square" lIns="0" tIns="0" rIns="0" bIns="0" anchor="t">
            <a:spAutoFit/>
          </a:bodyPr>
          <a:lstStyle/>
          <a:p>
            <a:pPr>
              <a:lnSpc>
                <a:spcPct val="112000"/>
              </a:lnSpc>
            </a:pPr>
            <a:r>
              <a:rPr lang="es-ES" sz="1050" b="0" i="0" dirty="0">
                <a:solidFill>
                  <a:srgbClr val="6E7E7D"/>
                </a:solidFill>
                <a:latin typeface="Arial"/>
              </a:rPr>
              <a:t>SSFF u12m </a:t>
            </a:r>
            <a:r>
              <a:rPr lang="es-ES" sz="1050" dirty="0">
                <a:solidFill>
                  <a:srgbClr val="6E7E7D"/>
                </a:solidFill>
              </a:rPr>
              <a:t>· 6 segmentos</a:t>
            </a:r>
            <a:r>
              <a:rPr lang="es-ES" sz="1050" b="0" i="0" dirty="0">
                <a:solidFill>
                  <a:srgbClr val="6E7E7D"/>
                </a:solidFill>
                <a:latin typeface="Arial"/>
              </a:rPr>
              <a:t> </a:t>
            </a:r>
            <a:endParaRPr sz="1050" b="0" i="0" dirty="0">
              <a:solidFill>
                <a:srgbClr val="6E7E7D"/>
              </a:solidFill>
              <a:latin typeface="Arial"/>
            </a:endParaRPr>
          </a:p>
        </p:txBody>
      </p:sp>
      <p:sp>
        <p:nvSpPr>
          <p:cNvPr id="142" name="Rectangle 141">
            <a:extLst>
              <a:ext uri="{FF2B5EF4-FFF2-40B4-BE49-F238E27FC236}">
                <a16:creationId xmlns:a16="http://schemas.microsoft.com/office/drawing/2014/main" id="{565C2659-AD23-7C56-1D88-9B18666EDCB0}"/>
              </a:ext>
            </a:extLst>
          </p:cNvPr>
          <p:cNvSpPr/>
          <p:nvPr/>
        </p:nvSpPr>
        <p:spPr>
          <a:xfrm>
            <a:off x="7491984" y="6949440"/>
            <a:ext cx="1676400" cy="73152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3" name="Rectangle 142">
            <a:extLst>
              <a:ext uri="{FF2B5EF4-FFF2-40B4-BE49-F238E27FC236}">
                <a16:creationId xmlns:a16="http://schemas.microsoft.com/office/drawing/2014/main" id="{5EC7038A-46C4-F773-4983-776ECB691115}"/>
              </a:ext>
            </a:extLst>
          </p:cNvPr>
          <p:cNvSpPr/>
          <p:nvPr/>
        </p:nvSpPr>
        <p:spPr>
          <a:xfrm>
            <a:off x="7491984" y="6949440"/>
            <a:ext cx="36576" cy="7315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4" name="TextBox 143">
            <a:extLst>
              <a:ext uri="{FF2B5EF4-FFF2-40B4-BE49-F238E27FC236}">
                <a16:creationId xmlns:a16="http://schemas.microsoft.com/office/drawing/2014/main" id="{195B719A-3526-9B57-B7DE-5996E1FF26A5}"/>
              </a:ext>
            </a:extLst>
          </p:cNvPr>
          <p:cNvSpPr txBox="1"/>
          <p:nvPr/>
        </p:nvSpPr>
        <p:spPr>
          <a:xfrm>
            <a:off x="7620000" y="7040879"/>
            <a:ext cx="1420368" cy="169277"/>
          </a:xfrm>
          <a:prstGeom prst="rect">
            <a:avLst/>
          </a:prstGeom>
          <a:noFill/>
        </p:spPr>
        <p:txBody>
          <a:bodyPr wrap="square" lIns="0" tIns="0" rIns="0" bIns="0" anchor="t">
            <a:spAutoFit/>
          </a:bodyPr>
          <a:lstStyle/>
          <a:p>
            <a:pPr algn="l">
              <a:lnSpc>
                <a:spcPct val="100000"/>
              </a:lnSpc>
            </a:pPr>
            <a:r>
              <a:rPr lang="es-ES" sz="1100" b="1" i="0" dirty="0">
                <a:solidFill>
                  <a:srgbClr val="C87A0B"/>
                </a:solidFill>
                <a:latin typeface="Arial"/>
              </a:rPr>
              <a:t>Sin deuda</a:t>
            </a:r>
            <a:endParaRPr sz="1100" b="1" i="0" dirty="0">
              <a:solidFill>
                <a:srgbClr val="C87A0B"/>
              </a:solidFill>
              <a:latin typeface="Arial"/>
            </a:endParaRPr>
          </a:p>
        </p:txBody>
      </p:sp>
      <p:sp>
        <p:nvSpPr>
          <p:cNvPr id="145" name="TextBox 144">
            <a:extLst>
              <a:ext uri="{FF2B5EF4-FFF2-40B4-BE49-F238E27FC236}">
                <a16:creationId xmlns:a16="http://schemas.microsoft.com/office/drawing/2014/main" id="{85A0A5CD-8836-1A8E-0064-8E443F28B145}"/>
              </a:ext>
            </a:extLst>
          </p:cNvPr>
          <p:cNvSpPr txBox="1"/>
          <p:nvPr/>
        </p:nvSpPr>
        <p:spPr>
          <a:xfrm>
            <a:off x="7619999" y="7260336"/>
            <a:ext cx="1584959" cy="166392"/>
          </a:xfrm>
          <a:prstGeom prst="rect">
            <a:avLst/>
          </a:prstGeom>
          <a:noFill/>
        </p:spPr>
        <p:txBody>
          <a:bodyPr wrap="square" lIns="0" tIns="0" rIns="0" bIns="0" anchor="t">
            <a:spAutoFit/>
          </a:bodyPr>
          <a:lstStyle/>
          <a:p>
            <a:pPr>
              <a:lnSpc>
                <a:spcPct val="112000"/>
              </a:lnSpc>
            </a:pPr>
            <a:r>
              <a:rPr lang="es-ES" sz="1050" b="0" i="0" dirty="0">
                <a:solidFill>
                  <a:srgbClr val="6E7E7D"/>
                </a:solidFill>
                <a:latin typeface="Arial"/>
              </a:rPr>
              <a:t>Sin historial </a:t>
            </a:r>
            <a:r>
              <a:rPr lang="es-ES" sz="1050" dirty="0">
                <a:solidFill>
                  <a:srgbClr val="6E7E7D"/>
                </a:solidFill>
              </a:rPr>
              <a:t>· 3 segmentos</a:t>
            </a:r>
            <a:endParaRPr sz="1050" b="0" i="0" dirty="0">
              <a:solidFill>
                <a:srgbClr val="6E7E7D"/>
              </a:solidFill>
              <a:latin typeface="Arial"/>
            </a:endParaRPr>
          </a:p>
        </p:txBody>
      </p:sp>
      <p:sp>
        <p:nvSpPr>
          <p:cNvPr id="146" name="Rectangle 145">
            <a:extLst>
              <a:ext uri="{FF2B5EF4-FFF2-40B4-BE49-F238E27FC236}">
                <a16:creationId xmlns:a16="http://schemas.microsoft.com/office/drawing/2014/main" id="{CB9CAC40-ACE4-D998-0D96-CD171A5014DE}"/>
              </a:ext>
            </a:extLst>
          </p:cNvPr>
          <p:cNvSpPr/>
          <p:nvPr/>
        </p:nvSpPr>
        <p:spPr>
          <a:xfrm>
            <a:off x="9314688" y="6949440"/>
            <a:ext cx="1676400" cy="73152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7" name="Rectangle 146">
            <a:extLst>
              <a:ext uri="{FF2B5EF4-FFF2-40B4-BE49-F238E27FC236}">
                <a16:creationId xmlns:a16="http://schemas.microsoft.com/office/drawing/2014/main" id="{CCDDC9B1-800F-FF93-8421-34DE482C50D5}"/>
              </a:ext>
            </a:extLst>
          </p:cNvPr>
          <p:cNvSpPr/>
          <p:nvPr/>
        </p:nvSpPr>
        <p:spPr>
          <a:xfrm>
            <a:off x="9314688" y="6949440"/>
            <a:ext cx="36576" cy="7315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8" name="TextBox 147">
            <a:extLst>
              <a:ext uri="{FF2B5EF4-FFF2-40B4-BE49-F238E27FC236}">
                <a16:creationId xmlns:a16="http://schemas.microsoft.com/office/drawing/2014/main" id="{F59BCAE5-227E-5E7C-2DF9-14311FFEF499}"/>
              </a:ext>
            </a:extLst>
          </p:cNvPr>
          <p:cNvSpPr txBox="1"/>
          <p:nvPr/>
        </p:nvSpPr>
        <p:spPr>
          <a:xfrm>
            <a:off x="9442704" y="7040879"/>
            <a:ext cx="1420368" cy="169277"/>
          </a:xfrm>
          <a:prstGeom prst="rect">
            <a:avLst/>
          </a:prstGeom>
          <a:noFill/>
        </p:spPr>
        <p:txBody>
          <a:bodyPr wrap="square" lIns="0" tIns="0" rIns="0" bIns="0" anchor="t">
            <a:spAutoFit/>
          </a:bodyPr>
          <a:lstStyle/>
          <a:p>
            <a:pPr algn="l">
              <a:lnSpc>
                <a:spcPct val="100000"/>
              </a:lnSpc>
            </a:pPr>
            <a:r>
              <a:rPr lang="es-ES" sz="1100" b="1" i="0" dirty="0">
                <a:solidFill>
                  <a:srgbClr val="445A6E"/>
                </a:solidFill>
                <a:latin typeface="Arial"/>
              </a:rPr>
              <a:t>Aplicable</a:t>
            </a:r>
            <a:endParaRPr sz="1100" b="1" i="0" dirty="0">
              <a:solidFill>
                <a:srgbClr val="445A6E"/>
              </a:solidFill>
              <a:latin typeface="Arial"/>
            </a:endParaRPr>
          </a:p>
        </p:txBody>
      </p:sp>
      <p:sp>
        <p:nvSpPr>
          <p:cNvPr id="149" name="TextBox 148">
            <a:extLst>
              <a:ext uri="{FF2B5EF4-FFF2-40B4-BE49-F238E27FC236}">
                <a16:creationId xmlns:a16="http://schemas.microsoft.com/office/drawing/2014/main" id="{1278C825-1C54-6F3D-0808-100DB6325A4B}"/>
              </a:ext>
            </a:extLst>
          </p:cNvPr>
          <p:cNvSpPr txBox="1"/>
          <p:nvPr/>
        </p:nvSpPr>
        <p:spPr>
          <a:xfrm>
            <a:off x="9442704" y="7260336"/>
            <a:ext cx="1603268" cy="347339"/>
          </a:xfrm>
          <a:prstGeom prst="rect">
            <a:avLst/>
          </a:prstGeom>
          <a:noFill/>
        </p:spPr>
        <p:txBody>
          <a:bodyPr wrap="square" lIns="0" tIns="0" rIns="0" bIns="0" anchor="t">
            <a:spAutoFit/>
          </a:bodyPr>
          <a:lstStyle/>
          <a:p>
            <a:pPr algn="l">
              <a:lnSpc>
                <a:spcPct val="112000"/>
              </a:lnSpc>
            </a:pPr>
            <a:r>
              <a:rPr lang="es-ES" sz="1050" dirty="0">
                <a:solidFill>
                  <a:srgbClr val="6E7E7D"/>
                </a:solidFill>
              </a:rPr>
              <a:t>Se aplican las reglas de asignación en campaña.</a:t>
            </a:r>
            <a:endParaRPr sz="1050" b="0" i="0" dirty="0">
              <a:solidFill>
                <a:srgbClr val="6E7E7D"/>
              </a:solidFill>
              <a:latin typeface="Arial"/>
            </a:endParaRPr>
          </a:p>
        </p:txBody>
      </p:sp>
      <p:cxnSp>
        <p:nvCxnSpPr>
          <p:cNvPr id="150" name="Connector 67">
            <a:extLst>
              <a:ext uri="{FF2B5EF4-FFF2-40B4-BE49-F238E27FC236}">
                <a16:creationId xmlns:a16="http://schemas.microsoft.com/office/drawing/2014/main" id="{804D47F2-4E39-918E-2080-AEE76A54E060}"/>
              </a:ext>
            </a:extLst>
          </p:cNvPr>
          <p:cNvCxnSpPr/>
          <p:nvPr/>
        </p:nvCxnSpPr>
        <p:spPr>
          <a:xfrm>
            <a:off x="11301984" y="6286500"/>
            <a:ext cx="310896"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1" name="Rectangle 150">
            <a:extLst>
              <a:ext uri="{FF2B5EF4-FFF2-40B4-BE49-F238E27FC236}">
                <a16:creationId xmlns:a16="http://schemas.microsoft.com/office/drawing/2014/main" id="{5D7FD465-7E93-DEB6-12D7-D9777F896FB9}"/>
              </a:ext>
            </a:extLst>
          </p:cNvPr>
          <p:cNvSpPr/>
          <p:nvPr/>
        </p:nvSpPr>
        <p:spPr>
          <a:xfrm>
            <a:off x="11704320" y="4663440"/>
            <a:ext cx="3893332" cy="3246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2" name="Rectangle 151">
            <a:extLst>
              <a:ext uri="{FF2B5EF4-FFF2-40B4-BE49-F238E27FC236}">
                <a16:creationId xmlns:a16="http://schemas.microsoft.com/office/drawing/2014/main" id="{EA3A87B3-5EFD-4CBE-F303-764649451247}"/>
              </a:ext>
            </a:extLst>
          </p:cNvPr>
          <p:cNvSpPr/>
          <p:nvPr/>
        </p:nvSpPr>
        <p:spPr>
          <a:xfrm>
            <a:off x="11704320" y="4663440"/>
            <a:ext cx="3893332" cy="329184"/>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FFFFFF"/>
                </a:solidFill>
                <a:latin typeface="Arial"/>
              </a:rPr>
              <a:t>OUTPUT ESPERADO</a:t>
            </a:r>
          </a:p>
        </p:txBody>
      </p:sp>
      <p:sp>
        <p:nvSpPr>
          <p:cNvPr id="165" name="Rectangle 164">
            <a:extLst>
              <a:ext uri="{FF2B5EF4-FFF2-40B4-BE49-F238E27FC236}">
                <a16:creationId xmlns:a16="http://schemas.microsoft.com/office/drawing/2014/main" id="{CF77E015-C34B-67B8-99D6-0E899D37D07D}"/>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cxnSp>
        <p:nvCxnSpPr>
          <p:cNvPr id="166" name="Connector 83">
            <a:extLst>
              <a:ext uri="{FF2B5EF4-FFF2-40B4-BE49-F238E27FC236}">
                <a16:creationId xmlns:a16="http://schemas.microsoft.com/office/drawing/2014/main" id="{4C0245E6-FDB7-039B-5965-919F3F21389C}"/>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67" name="TextBox 166">
            <a:extLst>
              <a:ext uri="{FF2B5EF4-FFF2-40B4-BE49-F238E27FC236}">
                <a16:creationId xmlns:a16="http://schemas.microsoft.com/office/drawing/2014/main" id="{3CC186DA-5248-E81C-D7CE-DC6C9A7E6CF0}"/>
              </a:ext>
            </a:extLst>
          </p:cNvPr>
          <p:cNvSpPr txBox="1"/>
          <p:nvPr/>
        </p:nvSpPr>
        <p:spPr>
          <a:xfrm>
            <a:off x="896112" y="8255525"/>
            <a:ext cx="14482084" cy="259045"/>
          </a:xfrm>
          <a:prstGeom prst="rect">
            <a:avLst/>
          </a:prstGeom>
          <a:noFill/>
        </p:spPr>
        <p:txBody>
          <a:bodyPr wrap="square" lIns="0" tIns="0" rIns="0" bIns="0" anchor="ctr">
            <a:spAutoFit/>
          </a:bodyPr>
          <a:lstStyle/>
          <a:p>
            <a:pPr>
              <a:lnSpc>
                <a:spcPct val="115000"/>
              </a:lnSpc>
              <a:spcAft>
                <a:spcPts val="300"/>
              </a:spcAft>
            </a:pPr>
            <a:r>
              <a:rPr lang="es-ES" sz="1600" b="1" dirty="0">
                <a:solidFill>
                  <a:srgbClr val="0C514E"/>
                </a:solidFill>
              </a:rPr>
              <a:t>Dos árboles: reglas simples ubican a cada cliente en su segmento.</a:t>
            </a:r>
          </a:p>
        </p:txBody>
      </p:sp>
      <p:grpSp>
        <p:nvGrpSpPr>
          <p:cNvPr id="62" name="Grupo 61">
            <a:extLst>
              <a:ext uri="{FF2B5EF4-FFF2-40B4-BE49-F238E27FC236}">
                <a16:creationId xmlns:a16="http://schemas.microsoft.com/office/drawing/2014/main" id="{BBAE7F36-B698-47F3-6238-87DEADDB4ACD}"/>
              </a:ext>
            </a:extLst>
          </p:cNvPr>
          <p:cNvGrpSpPr/>
          <p:nvPr/>
        </p:nvGrpSpPr>
        <p:grpSpPr>
          <a:xfrm>
            <a:off x="12016179" y="5389276"/>
            <a:ext cx="3416880" cy="1839263"/>
            <a:chOff x="12163445" y="5654841"/>
            <a:chExt cx="2590815" cy="1335025"/>
          </a:xfrm>
        </p:grpSpPr>
        <p:sp>
          <p:nvSpPr>
            <p:cNvPr id="6" name="Rectangle 156">
              <a:extLst>
                <a:ext uri="{FF2B5EF4-FFF2-40B4-BE49-F238E27FC236}">
                  <a16:creationId xmlns:a16="http://schemas.microsoft.com/office/drawing/2014/main" id="{D788C6D4-0FA5-85EC-871F-402B14EE01F7}"/>
                </a:ext>
              </a:extLst>
            </p:cNvPr>
            <p:cNvSpPr/>
            <p:nvPr/>
          </p:nvSpPr>
          <p:spPr>
            <a:xfrm>
              <a:off x="12163445" y="5654841"/>
              <a:ext cx="2590815" cy="54864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Oval 157">
              <a:extLst>
                <a:ext uri="{FF2B5EF4-FFF2-40B4-BE49-F238E27FC236}">
                  <a16:creationId xmlns:a16="http://schemas.microsoft.com/office/drawing/2014/main" id="{E1609939-362A-86E6-9AF2-684AD18FC5F1}"/>
                </a:ext>
              </a:extLst>
            </p:cNvPr>
            <p:cNvSpPr/>
            <p:nvPr/>
          </p:nvSpPr>
          <p:spPr>
            <a:xfrm>
              <a:off x="12286889" y="5785144"/>
              <a:ext cx="288036" cy="288036"/>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lang="es-ES" sz="1500" b="1" dirty="0">
                  <a:solidFill>
                    <a:srgbClr val="FFFFFF"/>
                  </a:solidFill>
                  <a:latin typeface="Arial"/>
                </a:rPr>
                <a:t>1</a:t>
              </a:r>
              <a:endParaRPr sz="1500" b="1" dirty="0">
                <a:solidFill>
                  <a:srgbClr val="FFFFFF"/>
                </a:solidFill>
                <a:latin typeface="Arial"/>
              </a:endParaRPr>
            </a:p>
          </p:txBody>
        </p:sp>
        <p:sp>
          <p:nvSpPr>
            <p:cNvPr id="51" name="TextBox 158">
              <a:extLst>
                <a:ext uri="{FF2B5EF4-FFF2-40B4-BE49-F238E27FC236}">
                  <a16:creationId xmlns:a16="http://schemas.microsoft.com/office/drawing/2014/main" id="{BA9DF155-99C5-086B-5F32-7896AD4F28F3}"/>
                </a:ext>
              </a:extLst>
            </p:cNvPr>
            <p:cNvSpPr txBox="1"/>
            <p:nvPr/>
          </p:nvSpPr>
          <p:spPr>
            <a:xfrm>
              <a:off x="12698369" y="5750853"/>
              <a:ext cx="2028459" cy="312758"/>
            </a:xfrm>
            <a:prstGeom prst="rect">
              <a:avLst/>
            </a:prstGeom>
            <a:noFill/>
          </p:spPr>
          <p:txBody>
            <a:bodyPr wrap="square" lIns="0" tIns="0" rIns="0" bIns="0" anchor="t">
              <a:spAutoFit/>
            </a:bodyPr>
            <a:lstStyle/>
            <a:p>
              <a:r>
                <a:rPr b="1" dirty="0">
                  <a:solidFill>
                    <a:srgbClr val="0B2E2C"/>
                  </a:solidFill>
                  <a:latin typeface="Arial"/>
                </a:rPr>
                <a:t>6 </a:t>
              </a:r>
              <a:r>
                <a:rPr lang="es-ES" b="1" dirty="0">
                  <a:solidFill>
                    <a:srgbClr val="0B2E2C"/>
                  </a:solidFill>
                  <a:latin typeface="Arial"/>
                </a:rPr>
                <a:t>segmentos </a:t>
              </a:r>
              <a:r>
                <a:rPr b="1" dirty="0">
                  <a:solidFill>
                    <a:srgbClr val="0B2E2C"/>
                  </a:solidFill>
                  <a:latin typeface="Arial"/>
                </a:rPr>
                <a:t>con </a:t>
              </a:r>
              <a:r>
                <a:rPr lang="es-ES" b="1" dirty="0">
                  <a:solidFill>
                    <a:srgbClr val="0B2E2C"/>
                  </a:solidFill>
                </a:rPr>
                <a:t>historial en el SSFF</a:t>
              </a:r>
              <a:endParaRPr b="1" dirty="0">
                <a:solidFill>
                  <a:srgbClr val="0B2E2C"/>
                </a:solidFill>
                <a:latin typeface="Arial"/>
              </a:endParaRPr>
            </a:p>
          </p:txBody>
        </p:sp>
        <p:sp>
          <p:nvSpPr>
            <p:cNvPr id="53" name="TextBox 159">
              <a:extLst>
                <a:ext uri="{FF2B5EF4-FFF2-40B4-BE49-F238E27FC236}">
                  <a16:creationId xmlns:a16="http://schemas.microsoft.com/office/drawing/2014/main" id="{AED593F9-D48B-B3DD-BE87-2F02095D5C03}"/>
                </a:ext>
              </a:extLst>
            </p:cNvPr>
            <p:cNvSpPr txBox="1"/>
            <p:nvPr/>
          </p:nvSpPr>
          <p:spPr>
            <a:xfrm>
              <a:off x="12698369" y="6061906"/>
              <a:ext cx="2028459" cy="100529"/>
            </a:xfrm>
            <a:prstGeom prst="rect">
              <a:avLst/>
            </a:prstGeom>
            <a:noFill/>
          </p:spPr>
          <p:txBody>
            <a:bodyPr wrap="square" lIns="0" tIns="0" rIns="0" bIns="0" anchor="t">
              <a:spAutoFit/>
            </a:bodyPr>
            <a:lstStyle/>
            <a:p>
              <a:pPr algn="l">
                <a:lnSpc>
                  <a:spcPct val="100000"/>
                </a:lnSpc>
              </a:pPr>
              <a:r>
                <a:rPr sz="900" dirty="0">
                  <a:solidFill>
                    <a:srgbClr val="6E7E7D"/>
                  </a:solidFill>
                  <a:latin typeface="Arial"/>
                </a:rPr>
                <a:t>Clusters con </a:t>
              </a:r>
              <a:r>
                <a:rPr sz="900" dirty="0" err="1">
                  <a:solidFill>
                    <a:srgbClr val="6E7E7D"/>
                  </a:solidFill>
                  <a:latin typeface="Arial"/>
                </a:rPr>
                <a:t>historial</a:t>
              </a:r>
              <a:r>
                <a:rPr sz="900" dirty="0">
                  <a:solidFill>
                    <a:srgbClr val="6E7E7D"/>
                  </a:solidFill>
                  <a:latin typeface="Arial"/>
                </a:rPr>
                <a:t> SSFF u12m</a:t>
              </a:r>
            </a:p>
          </p:txBody>
        </p:sp>
        <p:sp>
          <p:nvSpPr>
            <p:cNvPr id="55" name="Rectangle 160">
              <a:extLst>
                <a:ext uri="{FF2B5EF4-FFF2-40B4-BE49-F238E27FC236}">
                  <a16:creationId xmlns:a16="http://schemas.microsoft.com/office/drawing/2014/main" id="{54911481-A9E2-43B9-09F7-9E99687D9DB5}"/>
                </a:ext>
              </a:extLst>
            </p:cNvPr>
            <p:cNvSpPr/>
            <p:nvPr/>
          </p:nvSpPr>
          <p:spPr>
            <a:xfrm>
              <a:off x="12163445" y="6441226"/>
              <a:ext cx="2590815" cy="548640"/>
            </a:xfrm>
            <a:prstGeom prst="rect">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Oval 161">
              <a:extLst>
                <a:ext uri="{FF2B5EF4-FFF2-40B4-BE49-F238E27FC236}">
                  <a16:creationId xmlns:a16="http://schemas.microsoft.com/office/drawing/2014/main" id="{9D9B5124-50EE-E41E-9D14-6A6065B9A700}"/>
                </a:ext>
              </a:extLst>
            </p:cNvPr>
            <p:cNvSpPr/>
            <p:nvPr/>
          </p:nvSpPr>
          <p:spPr>
            <a:xfrm>
              <a:off x="12286889" y="6571528"/>
              <a:ext cx="288036" cy="288036"/>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lang="es-ES" sz="1500" b="1" dirty="0">
                  <a:solidFill>
                    <a:srgbClr val="FFFFFF"/>
                  </a:solidFill>
                  <a:latin typeface="Arial"/>
                </a:rPr>
                <a:t>2</a:t>
              </a:r>
              <a:endParaRPr sz="1500" b="1" dirty="0">
                <a:solidFill>
                  <a:srgbClr val="FFFFFF"/>
                </a:solidFill>
                <a:latin typeface="Arial"/>
              </a:endParaRPr>
            </a:p>
          </p:txBody>
        </p:sp>
        <p:sp>
          <p:nvSpPr>
            <p:cNvPr id="59" name="TextBox 162">
              <a:extLst>
                <a:ext uri="{FF2B5EF4-FFF2-40B4-BE49-F238E27FC236}">
                  <a16:creationId xmlns:a16="http://schemas.microsoft.com/office/drawing/2014/main" id="{9ACA6358-A512-127F-A993-8AB43771EC47}"/>
                </a:ext>
              </a:extLst>
            </p:cNvPr>
            <p:cNvSpPr txBox="1"/>
            <p:nvPr/>
          </p:nvSpPr>
          <p:spPr>
            <a:xfrm>
              <a:off x="12698369" y="6537237"/>
              <a:ext cx="2028459" cy="312758"/>
            </a:xfrm>
            <a:prstGeom prst="rect">
              <a:avLst/>
            </a:prstGeom>
            <a:noFill/>
          </p:spPr>
          <p:txBody>
            <a:bodyPr wrap="square" lIns="0" tIns="0" rIns="0" bIns="0" anchor="t">
              <a:spAutoFit/>
            </a:bodyPr>
            <a:lstStyle/>
            <a:p>
              <a:pPr algn="l">
                <a:lnSpc>
                  <a:spcPct val="100000"/>
                </a:lnSpc>
              </a:pPr>
              <a:r>
                <a:rPr b="1" dirty="0">
                  <a:solidFill>
                    <a:srgbClr val="0B2E2C"/>
                  </a:solidFill>
                  <a:latin typeface="Arial"/>
                </a:rPr>
                <a:t>3 </a:t>
              </a:r>
              <a:r>
                <a:rPr lang="es-ES" b="1" dirty="0">
                  <a:solidFill>
                    <a:srgbClr val="0B2E2C"/>
                  </a:solidFill>
                  <a:latin typeface="Arial"/>
                </a:rPr>
                <a:t>segmentos </a:t>
              </a:r>
              <a:r>
                <a:rPr b="1" dirty="0">
                  <a:solidFill>
                    <a:srgbClr val="0B2E2C"/>
                  </a:solidFill>
                  <a:latin typeface="Arial"/>
                </a:rPr>
                <a:t>sin </a:t>
              </a:r>
              <a:r>
                <a:rPr lang="es-ES" b="1" dirty="0">
                  <a:solidFill>
                    <a:srgbClr val="0B2E2C"/>
                  </a:solidFill>
                  <a:latin typeface="Arial"/>
                </a:rPr>
                <a:t>historial en el SSFF</a:t>
              </a:r>
              <a:endParaRPr b="1" dirty="0">
                <a:solidFill>
                  <a:srgbClr val="0B2E2C"/>
                </a:solidFill>
                <a:latin typeface="Arial"/>
              </a:endParaRPr>
            </a:p>
          </p:txBody>
        </p:sp>
        <p:sp>
          <p:nvSpPr>
            <p:cNvPr id="61" name="TextBox 163">
              <a:extLst>
                <a:ext uri="{FF2B5EF4-FFF2-40B4-BE49-F238E27FC236}">
                  <a16:creationId xmlns:a16="http://schemas.microsoft.com/office/drawing/2014/main" id="{923D4E9E-A6E8-7F2F-DD93-6A3735BD82F1}"/>
                </a:ext>
              </a:extLst>
            </p:cNvPr>
            <p:cNvSpPr txBox="1"/>
            <p:nvPr/>
          </p:nvSpPr>
          <p:spPr>
            <a:xfrm>
              <a:off x="12698369" y="6827335"/>
              <a:ext cx="2028459" cy="100529"/>
            </a:xfrm>
            <a:prstGeom prst="rect">
              <a:avLst/>
            </a:prstGeom>
            <a:noFill/>
          </p:spPr>
          <p:txBody>
            <a:bodyPr wrap="square" lIns="0" tIns="0" rIns="0" bIns="0" anchor="t">
              <a:spAutoFit/>
            </a:bodyPr>
            <a:lstStyle/>
            <a:p>
              <a:pPr algn="l">
                <a:lnSpc>
                  <a:spcPct val="100000"/>
                </a:lnSpc>
              </a:pPr>
              <a:r>
                <a:rPr sz="900" dirty="0">
                  <a:solidFill>
                    <a:srgbClr val="6E7E7D"/>
                  </a:solidFill>
                  <a:latin typeface="Arial"/>
                </a:rPr>
                <a:t>Clusters sin </a:t>
              </a:r>
              <a:r>
                <a:rPr sz="900" dirty="0" err="1">
                  <a:solidFill>
                    <a:srgbClr val="6E7E7D"/>
                  </a:solidFill>
                  <a:latin typeface="Arial"/>
                </a:rPr>
                <a:t>historial</a:t>
              </a:r>
              <a:r>
                <a:rPr sz="900" dirty="0">
                  <a:solidFill>
                    <a:srgbClr val="6E7E7D"/>
                  </a:solidFill>
                  <a:latin typeface="Arial"/>
                </a:rPr>
                <a:t> u12m</a:t>
              </a:r>
            </a:p>
          </p:txBody>
        </p:sp>
      </p:grpSp>
    </p:spTree>
    <p:extLst>
      <p:ext uri="{BB962C8B-B14F-4D97-AF65-F5344CB8AC3E}">
        <p14:creationId xmlns:p14="http://schemas.microsoft.com/office/powerpoint/2010/main" val="3731740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0CBB-3609-5A2F-25E1-FF57062AD7C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A51E623-6AEA-8666-FDD4-8513DF0D4E22}"/>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3D840FED-E7B6-BDB5-652A-3879ACE289BD}"/>
              </a:ext>
            </a:extLst>
          </p:cNvPr>
          <p:cNvSpPr txBox="1"/>
          <p:nvPr/>
        </p:nvSpPr>
        <p:spPr>
          <a:xfrm>
            <a:off x="447080" y="155617"/>
            <a:ext cx="13791433" cy="1143001"/>
          </a:xfrm>
          <a:prstGeom prst="rect">
            <a:avLst/>
          </a:prstGeom>
          <a:noFill/>
          <a:ln>
            <a:noFill/>
          </a:ln>
        </p:spPr>
        <p:txBody>
          <a:bodyPr spcFirstLastPara="1" wrap="square" lIns="91425" tIns="45700" rIns="91425" bIns="45700" anchor="ctr" anchorCtr="0">
            <a:normAutofit fontScale="85000" lnSpcReduction="10000"/>
          </a:bodyPr>
          <a:lstStyle/>
          <a:p>
            <a:pPr defTabSz="1625519">
              <a:buSzPts val="4400"/>
              <a:defRPr/>
            </a:pPr>
            <a:r>
              <a:rPr lang="es-ES_tradnl" sz="3200" b="1" kern="1200" noProof="0" dirty="0">
                <a:solidFill>
                  <a:srgbClr val="13807B"/>
                </a:solidFill>
                <a:latin typeface="Poppins"/>
                <a:ea typeface="Poppins"/>
                <a:cs typeface="Poppins"/>
                <a:sym typeface="Poppins"/>
              </a:rPr>
              <a:t>Con el share relevante incorporado, cada segmento recibe una propuesta de tasa y un descuento condicionado al compromiso del cliente</a:t>
            </a:r>
          </a:p>
          <a:p>
            <a:pPr defTabSz="1625519">
              <a:buSzPts val="4400"/>
              <a:defRPr/>
            </a:pPr>
            <a:endParaRPr lang="es-ES_tradnl" sz="3200" b="1" kern="1200" noProof="0" dirty="0">
              <a:solidFill>
                <a:srgbClr val="13807B"/>
              </a:solidFill>
              <a:latin typeface="Poppins"/>
              <a:ea typeface="Poppins"/>
              <a:cs typeface="Poppins"/>
              <a:sym typeface="Poppins"/>
            </a:endParaRPr>
          </a:p>
        </p:txBody>
      </p:sp>
      <p:cxnSp>
        <p:nvCxnSpPr>
          <p:cNvPr id="2" name="Connector 3">
            <a:extLst>
              <a:ext uri="{FF2B5EF4-FFF2-40B4-BE49-F238E27FC236}">
                <a16:creationId xmlns:a16="http://schemas.microsoft.com/office/drawing/2014/main" id="{6D1F58BF-BEA1-BE24-85DE-1E27D4E79785}"/>
              </a:ext>
            </a:extLst>
          </p:cNvPr>
          <p:cNvCxnSpPr/>
          <p:nvPr/>
        </p:nvCxnSpPr>
        <p:spPr>
          <a:xfrm>
            <a:off x="637586" y="123277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EE7932B3-D00D-D368-AE02-04748DD8795E}"/>
              </a:ext>
            </a:extLst>
          </p:cNvPr>
          <p:cNvSpPr/>
          <p:nvPr/>
        </p:nvSpPr>
        <p:spPr>
          <a:xfrm>
            <a:off x="16365729" y="1841140"/>
            <a:ext cx="2287687" cy="5989061"/>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ES_tradnl" sz="2000" noProof="0" dirty="0"/>
              <a:t>Mencionar que las primeras veces será por ROA y luego RAROC – será alineado al apetito de rentabilidad de Banca </a:t>
            </a:r>
            <a:r>
              <a:rPr lang="es-ES_tradnl" sz="2000" noProof="0" dirty="0" err="1"/>
              <a:t>Negoio</a:t>
            </a:r>
            <a:endParaRPr lang="es-ES_tradnl" sz="2000" noProof="0" dirty="0"/>
          </a:p>
          <a:p>
            <a:pPr algn="ctr"/>
            <a:r>
              <a:rPr lang="es-ES_tradnl" sz="2000" noProof="0" dirty="0"/>
              <a:t>+ Que esto ya se puede avanzando con la herramienta 0.5</a:t>
            </a:r>
            <a:br>
              <a:rPr lang="es-ES_tradnl" sz="2000" noProof="0" dirty="0"/>
            </a:br>
            <a:r>
              <a:rPr lang="es-ES_tradnl" sz="2000" noProof="0" dirty="0"/>
              <a:t>+ </a:t>
            </a:r>
            <a:r>
              <a:rPr lang="es-ES_tradnl" sz="2000" noProof="0" dirty="0" err="1"/>
              <a:t>Retanqueo</a:t>
            </a:r>
            <a:endParaRPr lang="es-ES_tradnl" sz="2000" noProof="0" dirty="0"/>
          </a:p>
        </p:txBody>
      </p:sp>
      <p:cxnSp>
        <p:nvCxnSpPr>
          <p:cNvPr id="3" name="Connector 3">
            <a:extLst>
              <a:ext uri="{FF2B5EF4-FFF2-40B4-BE49-F238E27FC236}">
                <a16:creationId xmlns:a16="http://schemas.microsoft.com/office/drawing/2014/main" id="{1A9AFD92-9C3F-9070-149B-3896E5ED7BE0}"/>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86161964-0B67-F3FC-400C-8298B25123F4}"/>
              </a:ext>
            </a:extLst>
          </p:cNvPr>
          <p:cNvSpPr/>
          <p:nvPr/>
        </p:nvSpPr>
        <p:spPr>
          <a:xfrm>
            <a:off x="658368" y="1691640"/>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b="1" i="0">
                <a:solidFill>
                  <a:srgbClr val="FFFFFF"/>
                </a:solidFill>
                <a:latin typeface="Arial"/>
              </a:rPr>
              <a:t>3</a:t>
            </a:r>
          </a:p>
        </p:txBody>
      </p:sp>
      <p:sp>
        <p:nvSpPr>
          <p:cNvPr id="48" name="TextBox 47">
            <a:extLst>
              <a:ext uri="{FF2B5EF4-FFF2-40B4-BE49-F238E27FC236}">
                <a16:creationId xmlns:a16="http://schemas.microsoft.com/office/drawing/2014/main" id="{DD619644-F959-3D7F-49CA-0A102C3A1E47}"/>
              </a:ext>
            </a:extLst>
          </p:cNvPr>
          <p:cNvSpPr txBox="1"/>
          <p:nvPr/>
        </p:nvSpPr>
        <p:spPr>
          <a:xfrm>
            <a:off x="1042415" y="1719072"/>
            <a:ext cx="10588752"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Incorporación del share relevante y propuesta por segmento</a:t>
            </a:r>
          </a:p>
        </p:txBody>
      </p:sp>
      <p:cxnSp>
        <p:nvCxnSpPr>
          <p:cNvPr id="49" name="Connector 8">
            <a:extLst>
              <a:ext uri="{FF2B5EF4-FFF2-40B4-BE49-F238E27FC236}">
                <a16:creationId xmlns:a16="http://schemas.microsoft.com/office/drawing/2014/main" id="{14299E71-1D2F-60C3-7674-94EB656F9BC2}"/>
              </a:ext>
            </a:extLst>
          </p:cNvPr>
          <p:cNvCxnSpPr/>
          <p:nvPr/>
        </p:nvCxnSpPr>
        <p:spPr>
          <a:xfrm>
            <a:off x="658368" y="2057400"/>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63949583-E870-7EF3-1FE5-B34E43F9B111}"/>
              </a:ext>
            </a:extLst>
          </p:cNvPr>
          <p:cNvSpPr/>
          <p:nvPr/>
        </p:nvSpPr>
        <p:spPr>
          <a:xfrm>
            <a:off x="658368" y="2240280"/>
            <a:ext cx="7223760" cy="48463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1" name="Rectangle 50">
            <a:extLst>
              <a:ext uri="{FF2B5EF4-FFF2-40B4-BE49-F238E27FC236}">
                <a16:creationId xmlns:a16="http://schemas.microsoft.com/office/drawing/2014/main" id="{2EEFF046-B83D-F7DC-35FB-A5CB893F6EA9}"/>
              </a:ext>
            </a:extLst>
          </p:cNvPr>
          <p:cNvSpPr/>
          <p:nvPr/>
        </p:nvSpPr>
        <p:spPr>
          <a:xfrm>
            <a:off x="658368" y="2240280"/>
            <a:ext cx="7223760"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FFFFFF"/>
                </a:solidFill>
                <a:latin typeface="Arial"/>
              </a:rPr>
              <a:t>EVALUACIÓN DE RESULTADOS</a:t>
            </a:r>
          </a:p>
        </p:txBody>
      </p:sp>
      <p:sp>
        <p:nvSpPr>
          <p:cNvPr id="52" name="Rectangle 51">
            <a:extLst>
              <a:ext uri="{FF2B5EF4-FFF2-40B4-BE49-F238E27FC236}">
                <a16:creationId xmlns:a16="http://schemas.microsoft.com/office/drawing/2014/main" id="{D2B0A1CC-8E45-0791-E6DB-7A504F6EF3CE}"/>
              </a:ext>
            </a:extLst>
          </p:cNvPr>
          <p:cNvSpPr/>
          <p:nvPr/>
        </p:nvSpPr>
        <p:spPr>
          <a:xfrm>
            <a:off x="6821424" y="2660904"/>
            <a:ext cx="914400"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sz="1000" b="1" i="0">
                <a:solidFill>
                  <a:srgbClr val="FFFFFF"/>
                </a:solidFill>
                <a:latin typeface="Arial"/>
              </a:rPr>
              <a:t>ILUSTRATIVO</a:t>
            </a:r>
          </a:p>
        </p:txBody>
      </p:sp>
      <p:sp>
        <p:nvSpPr>
          <p:cNvPr id="53" name="TextBox 52">
            <a:extLst>
              <a:ext uri="{FF2B5EF4-FFF2-40B4-BE49-F238E27FC236}">
                <a16:creationId xmlns:a16="http://schemas.microsoft.com/office/drawing/2014/main" id="{BA99937F-D9D6-3309-5D14-A3E7D849B0E2}"/>
              </a:ext>
            </a:extLst>
          </p:cNvPr>
          <p:cNvSpPr txBox="1"/>
          <p:nvPr/>
        </p:nvSpPr>
        <p:spPr>
          <a:xfrm>
            <a:off x="896112" y="2715768"/>
            <a:ext cx="5806440" cy="399533"/>
          </a:xfrm>
          <a:prstGeom prst="rect">
            <a:avLst/>
          </a:prstGeom>
          <a:noFill/>
        </p:spPr>
        <p:txBody>
          <a:bodyPr wrap="square" lIns="0" tIns="0" rIns="0" bIns="0" anchor="t">
            <a:spAutoFit/>
          </a:bodyPr>
          <a:lstStyle/>
          <a:p>
            <a:pPr algn="l">
              <a:lnSpc>
                <a:spcPct val="124000"/>
              </a:lnSpc>
              <a:spcAft>
                <a:spcPts val="400"/>
              </a:spcAft>
            </a:pPr>
            <a:r>
              <a:rPr sz="1100" b="0" i="0">
                <a:solidFill>
                  <a:srgbClr val="3E5553"/>
                </a:solidFill>
                <a:latin typeface="Arial"/>
              </a:rPr>
              <a:t>Para cada segmento se mide cómo reaccionan la participación (share) y la conversión ante cambios de precio.</a:t>
            </a:r>
          </a:p>
        </p:txBody>
      </p:sp>
      <p:pic>
        <p:nvPicPr>
          <p:cNvPr id="54" name="Picture 53" descr="cluster_seg.png">
            <a:extLst>
              <a:ext uri="{FF2B5EF4-FFF2-40B4-BE49-F238E27FC236}">
                <a16:creationId xmlns:a16="http://schemas.microsoft.com/office/drawing/2014/main" id="{3148C003-C2D5-B87E-248E-FC8C607CC11B}"/>
              </a:ext>
            </a:extLst>
          </p:cNvPr>
          <p:cNvPicPr>
            <a:picLocks noChangeAspect="1"/>
          </p:cNvPicPr>
          <p:nvPr/>
        </p:nvPicPr>
        <p:blipFill>
          <a:blip r:embed="rId2"/>
          <a:stretch>
            <a:fillRect/>
          </a:stretch>
        </p:blipFill>
        <p:spPr>
          <a:xfrm>
            <a:off x="1938528" y="3447288"/>
            <a:ext cx="4663440" cy="2600765"/>
          </a:xfrm>
          <a:prstGeom prst="rect">
            <a:avLst/>
          </a:prstGeom>
        </p:spPr>
      </p:pic>
      <p:sp>
        <p:nvSpPr>
          <p:cNvPr id="55" name="Rectangle 54">
            <a:extLst>
              <a:ext uri="{FF2B5EF4-FFF2-40B4-BE49-F238E27FC236}">
                <a16:creationId xmlns:a16="http://schemas.microsoft.com/office/drawing/2014/main" id="{BA39B5F9-B294-5E97-E221-E3080CA825C8}"/>
              </a:ext>
            </a:extLst>
          </p:cNvPr>
          <p:cNvSpPr/>
          <p:nvPr/>
        </p:nvSpPr>
        <p:spPr>
          <a:xfrm>
            <a:off x="896112" y="6263640"/>
            <a:ext cx="6748272" cy="621792"/>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cxnSp>
        <p:nvCxnSpPr>
          <p:cNvPr id="56" name="Connector 15">
            <a:extLst>
              <a:ext uri="{FF2B5EF4-FFF2-40B4-BE49-F238E27FC236}">
                <a16:creationId xmlns:a16="http://schemas.microsoft.com/office/drawing/2014/main" id="{B320C9D2-A661-D231-8D1B-84BF18C4B35A}"/>
              </a:ext>
            </a:extLst>
          </p:cNvPr>
          <p:cNvCxnSpPr/>
          <p:nvPr/>
        </p:nvCxnSpPr>
        <p:spPr>
          <a:xfrm>
            <a:off x="896112" y="6263640"/>
            <a:ext cx="0" cy="621791"/>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1FF34DF1-9312-D299-B372-0D342B364495}"/>
              </a:ext>
            </a:extLst>
          </p:cNvPr>
          <p:cNvSpPr txBox="1"/>
          <p:nvPr/>
        </p:nvSpPr>
        <p:spPr>
          <a:xfrm>
            <a:off x="1060704" y="6383715"/>
            <a:ext cx="6419088" cy="381643"/>
          </a:xfrm>
          <a:prstGeom prst="rect">
            <a:avLst/>
          </a:prstGeom>
          <a:noFill/>
        </p:spPr>
        <p:txBody>
          <a:bodyPr wrap="square" lIns="0" tIns="0" rIns="0" bIns="0" anchor="ctr">
            <a:spAutoFit/>
          </a:bodyPr>
          <a:lstStyle/>
          <a:p>
            <a:pPr algn="l">
              <a:lnSpc>
                <a:spcPct val="112000"/>
              </a:lnSpc>
              <a:spcAft>
                <a:spcPts val="200"/>
              </a:spcAft>
            </a:pPr>
            <a:r>
              <a:rPr sz="1100" b="1" i="0">
                <a:solidFill>
                  <a:srgbClr val="13807B"/>
                </a:solidFill>
                <a:latin typeface="Arial"/>
              </a:rPr>
              <a:t>Tasa ofertada vs. desembolsada</a:t>
            </a:r>
          </a:p>
          <a:p>
            <a:pPr algn="l">
              <a:lnSpc>
                <a:spcPct val="112000"/>
              </a:lnSpc>
              <a:spcAft>
                <a:spcPts val="200"/>
              </a:spcAft>
            </a:pPr>
            <a:r>
              <a:rPr sz="1050" b="0" i="0">
                <a:solidFill>
                  <a:srgbClr val="3E5553"/>
                </a:solidFill>
                <a:latin typeface="Arial"/>
              </a:rPr>
              <a:t>La brecha entre tasa ofertada y desembolsada muestra cuánto se negocia el precio inicial en la práctica.</a:t>
            </a:r>
          </a:p>
        </p:txBody>
      </p:sp>
      <p:cxnSp>
        <p:nvCxnSpPr>
          <p:cNvPr id="58" name="Connector 17">
            <a:extLst>
              <a:ext uri="{FF2B5EF4-FFF2-40B4-BE49-F238E27FC236}">
                <a16:creationId xmlns:a16="http://schemas.microsoft.com/office/drawing/2014/main" id="{1AE4B1DA-8573-6FF4-6B74-4F7153958E11}"/>
              </a:ext>
            </a:extLst>
          </p:cNvPr>
          <p:cNvCxnSpPr/>
          <p:nvPr/>
        </p:nvCxnSpPr>
        <p:spPr>
          <a:xfrm>
            <a:off x="7991856" y="4663440"/>
            <a:ext cx="310896"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0FEA575E-935A-2A27-3332-DA6B7E9D04D5}"/>
              </a:ext>
            </a:extLst>
          </p:cNvPr>
          <p:cNvSpPr/>
          <p:nvPr/>
        </p:nvSpPr>
        <p:spPr>
          <a:xfrm>
            <a:off x="8412480" y="2240280"/>
            <a:ext cx="7185172" cy="48463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0" name="Rectangle 59">
            <a:extLst>
              <a:ext uri="{FF2B5EF4-FFF2-40B4-BE49-F238E27FC236}">
                <a16:creationId xmlns:a16="http://schemas.microsoft.com/office/drawing/2014/main" id="{5E7464F2-BF56-182A-AD90-2A771D9FDA17}"/>
              </a:ext>
            </a:extLst>
          </p:cNvPr>
          <p:cNvSpPr/>
          <p:nvPr/>
        </p:nvSpPr>
        <p:spPr>
          <a:xfrm>
            <a:off x="8412480" y="2240280"/>
            <a:ext cx="7185172" cy="329184"/>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FFFFFF"/>
                </a:solidFill>
                <a:latin typeface="Arial"/>
              </a:rPr>
              <a:t>PROPUESTA POR SEGMENTO</a:t>
            </a:r>
          </a:p>
        </p:txBody>
      </p:sp>
      <p:sp>
        <p:nvSpPr>
          <p:cNvPr id="61" name="Rectangle 60">
            <a:extLst>
              <a:ext uri="{FF2B5EF4-FFF2-40B4-BE49-F238E27FC236}">
                <a16:creationId xmlns:a16="http://schemas.microsoft.com/office/drawing/2014/main" id="{C89BFC0F-D1BA-7830-EA93-792512F5593B}"/>
              </a:ext>
            </a:extLst>
          </p:cNvPr>
          <p:cNvSpPr/>
          <p:nvPr/>
        </p:nvSpPr>
        <p:spPr>
          <a:xfrm>
            <a:off x="8631936" y="2734056"/>
            <a:ext cx="6746260" cy="932688"/>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2" name="Rectangle 61">
            <a:extLst>
              <a:ext uri="{FF2B5EF4-FFF2-40B4-BE49-F238E27FC236}">
                <a16:creationId xmlns:a16="http://schemas.microsoft.com/office/drawing/2014/main" id="{45E89F27-D991-76B6-FC4F-FEBE41722EA7}"/>
              </a:ext>
            </a:extLst>
          </p:cNvPr>
          <p:cNvSpPr/>
          <p:nvPr/>
        </p:nvSpPr>
        <p:spPr>
          <a:xfrm>
            <a:off x="8631936" y="2734056"/>
            <a:ext cx="45720" cy="93268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3" name="TextBox 62">
            <a:extLst>
              <a:ext uri="{FF2B5EF4-FFF2-40B4-BE49-F238E27FC236}">
                <a16:creationId xmlns:a16="http://schemas.microsoft.com/office/drawing/2014/main" id="{47471175-CBB7-5060-89D2-04D735B0E8F7}"/>
              </a:ext>
            </a:extLst>
          </p:cNvPr>
          <p:cNvSpPr txBox="1"/>
          <p:nvPr/>
        </p:nvSpPr>
        <p:spPr>
          <a:xfrm>
            <a:off x="8814816" y="2843784"/>
            <a:ext cx="6380500" cy="184666"/>
          </a:xfrm>
          <a:prstGeom prst="rect">
            <a:avLst/>
          </a:prstGeom>
          <a:noFill/>
        </p:spPr>
        <p:txBody>
          <a:bodyPr wrap="square" lIns="0" tIns="0" rIns="0" bIns="0" anchor="t">
            <a:spAutoFit/>
          </a:bodyPr>
          <a:lstStyle/>
          <a:p>
            <a:pPr algn="l">
              <a:lnSpc>
                <a:spcPct val="100000"/>
              </a:lnSpc>
            </a:pPr>
            <a:r>
              <a:rPr sz="1200" b="1" i="0">
                <a:solidFill>
                  <a:srgbClr val="13807B"/>
                </a:solidFill>
                <a:latin typeface="Arial"/>
              </a:rPr>
              <a:t>Capturar oportunidad de precio</a:t>
            </a:r>
          </a:p>
        </p:txBody>
      </p:sp>
      <p:sp>
        <p:nvSpPr>
          <p:cNvPr id="128" name="TextBox 127">
            <a:extLst>
              <a:ext uri="{FF2B5EF4-FFF2-40B4-BE49-F238E27FC236}">
                <a16:creationId xmlns:a16="http://schemas.microsoft.com/office/drawing/2014/main" id="{FADE1D34-A841-A15A-A13A-97FEA596BDF8}"/>
              </a:ext>
            </a:extLst>
          </p:cNvPr>
          <p:cNvSpPr txBox="1"/>
          <p:nvPr/>
        </p:nvSpPr>
        <p:spPr>
          <a:xfrm>
            <a:off x="8814816" y="3099816"/>
            <a:ext cx="6380500" cy="422808"/>
          </a:xfrm>
          <a:prstGeom prst="rect">
            <a:avLst/>
          </a:prstGeom>
          <a:noFill/>
        </p:spPr>
        <p:txBody>
          <a:bodyPr wrap="square" lIns="0" tIns="0" rIns="0" bIns="0" anchor="t">
            <a:spAutoFit/>
          </a:bodyPr>
          <a:lstStyle/>
          <a:p>
            <a:pPr algn="l">
              <a:lnSpc>
                <a:spcPct val="120000"/>
              </a:lnSpc>
            </a:pPr>
            <a:r>
              <a:rPr sz="1200" b="0" i="0" dirty="0" err="1">
                <a:solidFill>
                  <a:srgbClr val="6E7E7D"/>
                </a:solidFill>
                <a:latin typeface="Arial"/>
              </a:rPr>
              <a:t>Ajustar</a:t>
            </a:r>
            <a:r>
              <a:rPr sz="1200" b="0" i="0" dirty="0">
                <a:solidFill>
                  <a:srgbClr val="6E7E7D"/>
                </a:solidFill>
                <a:latin typeface="Arial"/>
              </a:rPr>
              <a:t> la </a:t>
            </a:r>
            <a:r>
              <a:rPr sz="1200" b="0" i="0" dirty="0" err="1">
                <a:solidFill>
                  <a:srgbClr val="6E7E7D"/>
                </a:solidFill>
                <a:latin typeface="Arial"/>
              </a:rPr>
              <a:t>oferta</a:t>
            </a:r>
            <a:r>
              <a:rPr sz="1200" b="0" i="0" dirty="0">
                <a:solidFill>
                  <a:srgbClr val="6E7E7D"/>
                </a:solidFill>
                <a:latin typeface="Arial"/>
              </a:rPr>
              <a:t> de </a:t>
            </a:r>
            <a:r>
              <a:rPr sz="1200" b="0" i="0" dirty="0" err="1">
                <a:solidFill>
                  <a:srgbClr val="6E7E7D"/>
                </a:solidFill>
                <a:latin typeface="Arial"/>
              </a:rPr>
              <a:t>cada</a:t>
            </a:r>
            <a:r>
              <a:rPr sz="1200" b="0" i="0" dirty="0">
                <a:solidFill>
                  <a:srgbClr val="6E7E7D"/>
                </a:solidFill>
                <a:latin typeface="Arial"/>
              </a:rPr>
              <a:t> </a:t>
            </a:r>
            <a:r>
              <a:rPr sz="1200" b="0" i="0" dirty="0" err="1">
                <a:solidFill>
                  <a:srgbClr val="6E7E7D"/>
                </a:solidFill>
                <a:latin typeface="Arial"/>
              </a:rPr>
              <a:t>segmento</a:t>
            </a:r>
            <a:r>
              <a:rPr sz="1200" b="0" i="0" dirty="0">
                <a:solidFill>
                  <a:srgbClr val="6E7E7D"/>
                </a:solidFill>
                <a:latin typeface="Arial"/>
              </a:rPr>
              <a:t> </a:t>
            </a:r>
            <a:r>
              <a:rPr sz="1200" b="0" i="0" dirty="0" err="1">
                <a:solidFill>
                  <a:srgbClr val="6E7E7D"/>
                </a:solidFill>
                <a:latin typeface="Arial"/>
              </a:rPr>
              <a:t>según</a:t>
            </a:r>
            <a:r>
              <a:rPr sz="1200" b="0" i="0" dirty="0">
                <a:solidFill>
                  <a:srgbClr val="6E7E7D"/>
                </a:solidFill>
                <a:latin typeface="Arial"/>
              </a:rPr>
              <a:t> </a:t>
            </a:r>
            <a:r>
              <a:rPr sz="1200" b="0" i="0" dirty="0" err="1">
                <a:solidFill>
                  <a:srgbClr val="6E7E7D"/>
                </a:solidFill>
                <a:latin typeface="Arial"/>
              </a:rPr>
              <a:t>su</a:t>
            </a:r>
            <a:r>
              <a:rPr sz="1200" b="0" i="0" dirty="0">
                <a:solidFill>
                  <a:srgbClr val="6E7E7D"/>
                </a:solidFill>
                <a:latin typeface="Arial"/>
              </a:rPr>
              <a:t> </a:t>
            </a:r>
            <a:r>
              <a:rPr sz="1200" b="0" i="0" dirty="0" err="1">
                <a:solidFill>
                  <a:srgbClr val="6E7E7D"/>
                </a:solidFill>
                <a:latin typeface="Arial"/>
              </a:rPr>
              <a:t>potencial</a:t>
            </a:r>
            <a:r>
              <a:rPr sz="1200" b="0" i="0" dirty="0">
                <a:solidFill>
                  <a:srgbClr val="6E7E7D"/>
                </a:solidFill>
                <a:latin typeface="Arial"/>
              </a:rPr>
              <a:t> de </a:t>
            </a:r>
            <a:r>
              <a:rPr sz="1200" b="0" i="0" dirty="0" err="1">
                <a:solidFill>
                  <a:srgbClr val="6E7E7D"/>
                </a:solidFill>
                <a:latin typeface="Arial"/>
              </a:rPr>
              <a:t>crecimiento</a:t>
            </a:r>
            <a:r>
              <a:rPr sz="1200" b="0" i="0" dirty="0">
                <a:solidFill>
                  <a:srgbClr val="6E7E7D"/>
                </a:solidFill>
                <a:latin typeface="Arial"/>
              </a:rPr>
              <a:t> </a:t>
            </a:r>
            <a:r>
              <a:rPr sz="1200" b="0" i="0" dirty="0" err="1">
                <a:solidFill>
                  <a:srgbClr val="6E7E7D"/>
                </a:solidFill>
                <a:latin typeface="Arial"/>
              </a:rPr>
              <a:t>en</a:t>
            </a:r>
            <a:r>
              <a:rPr sz="1200" b="0" i="0" dirty="0">
                <a:solidFill>
                  <a:srgbClr val="6E7E7D"/>
                </a:solidFill>
                <a:latin typeface="Arial"/>
              </a:rPr>
              <a:t> share</a:t>
            </a:r>
            <a:r>
              <a:rPr lang="en-US" sz="1200" b="0" i="0" dirty="0">
                <a:solidFill>
                  <a:srgbClr val="6E7E7D"/>
                </a:solidFill>
                <a:latin typeface="Arial"/>
              </a:rPr>
              <a:t> y rentabilidad </a:t>
            </a:r>
            <a:r>
              <a:rPr lang="en-US" sz="1200" b="0" i="0" dirty="0" err="1">
                <a:solidFill>
                  <a:srgbClr val="6E7E7D"/>
                </a:solidFill>
                <a:latin typeface="Arial"/>
              </a:rPr>
              <a:t>objetivo</a:t>
            </a:r>
            <a:r>
              <a:rPr sz="1200" b="0" i="0" dirty="0">
                <a:solidFill>
                  <a:srgbClr val="6E7E7D"/>
                </a:solidFill>
                <a:latin typeface="Arial"/>
              </a:rPr>
              <a:t>.</a:t>
            </a:r>
          </a:p>
        </p:txBody>
      </p:sp>
      <p:sp>
        <p:nvSpPr>
          <p:cNvPr id="168" name="Rectangle 167">
            <a:extLst>
              <a:ext uri="{FF2B5EF4-FFF2-40B4-BE49-F238E27FC236}">
                <a16:creationId xmlns:a16="http://schemas.microsoft.com/office/drawing/2014/main" id="{C42A39F0-6846-5613-9A99-167677F09038}"/>
              </a:ext>
            </a:extLst>
          </p:cNvPr>
          <p:cNvSpPr/>
          <p:nvPr/>
        </p:nvSpPr>
        <p:spPr>
          <a:xfrm>
            <a:off x="8631936" y="3776472"/>
            <a:ext cx="6746260" cy="932688"/>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69" name="Rectangle 168">
            <a:extLst>
              <a:ext uri="{FF2B5EF4-FFF2-40B4-BE49-F238E27FC236}">
                <a16:creationId xmlns:a16="http://schemas.microsoft.com/office/drawing/2014/main" id="{5A8DD774-7EA9-A58C-DE43-45D969560C6F}"/>
              </a:ext>
            </a:extLst>
          </p:cNvPr>
          <p:cNvSpPr/>
          <p:nvPr/>
        </p:nvSpPr>
        <p:spPr>
          <a:xfrm>
            <a:off x="8631936" y="3776472"/>
            <a:ext cx="45720" cy="932688"/>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70" name="TextBox 169">
            <a:extLst>
              <a:ext uri="{FF2B5EF4-FFF2-40B4-BE49-F238E27FC236}">
                <a16:creationId xmlns:a16="http://schemas.microsoft.com/office/drawing/2014/main" id="{AE1CF563-7578-7E5E-21C9-AE51279DFF08}"/>
              </a:ext>
            </a:extLst>
          </p:cNvPr>
          <p:cNvSpPr txBox="1"/>
          <p:nvPr/>
        </p:nvSpPr>
        <p:spPr>
          <a:xfrm>
            <a:off x="8814816" y="3886200"/>
            <a:ext cx="6380500" cy="184666"/>
          </a:xfrm>
          <a:prstGeom prst="rect">
            <a:avLst/>
          </a:prstGeom>
          <a:noFill/>
        </p:spPr>
        <p:txBody>
          <a:bodyPr wrap="square" lIns="0" tIns="0" rIns="0" bIns="0" anchor="t">
            <a:spAutoFit/>
          </a:bodyPr>
          <a:lstStyle/>
          <a:p>
            <a:pPr algn="l">
              <a:lnSpc>
                <a:spcPct val="100000"/>
              </a:lnSpc>
            </a:pPr>
            <a:r>
              <a:rPr sz="1200" b="1" i="0">
                <a:solidFill>
                  <a:srgbClr val="C87A0B"/>
                </a:solidFill>
                <a:latin typeface="Arial"/>
              </a:rPr>
              <a:t>Autonomía condicional</a:t>
            </a:r>
          </a:p>
        </p:txBody>
      </p:sp>
      <p:sp>
        <p:nvSpPr>
          <p:cNvPr id="171" name="TextBox 170">
            <a:extLst>
              <a:ext uri="{FF2B5EF4-FFF2-40B4-BE49-F238E27FC236}">
                <a16:creationId xmlns:a16="http://schemas.microsoft.com/office/drawing/2014/main" id="{FE5C64E8-FD8E-793C-E9C9-91C22EA67F6E}"/>
              </a:ext>
            </a:extLst>
          </p:cNvPr>
          <p:cNvSpPr txBox="1"/>
          <p:nvPr/>
        </p:nvSpPr>
        <p:spPr>
          <a:xfrm>
            <a:off x="8814816" y="4142232"/>
            <a:ext cx="6380500" cy="422808"/>
          </a:xfrm>
          <a:prstGeom prst="rect">
            <a:avLst/>
          </a:prstGeom>
          <a:noFill/>
        </p:spPr>
        <p:txBody>
          <a:bodyPr wrap="square" lIns="0" tIns="0" rIns="0" bIns="0" anchor="t">
            <a:spAutoFit/>
          </a:bodyPr>
          <a:lstStyle/>
          <a:p>
            <a:pPr algn="l">
              <a:lnSpc>
                <a:spcPct val="120000"/>
              </a:lnSpc>
            </a:pPr>
            <a:r>
              <a:rPr sz="1200" b="0" i="0" dirty="0" err="1">
                <a:solidFill>
                  <a:srgbClr val="6E7E7D"/>
                </a:solidFill>
                <a:latin typeface="Arial"/>
              </a:rPr>
              <a:t>Descuentos</a:t>
            </a:r>
            <a:r>
              <a:rPr sz="1200" b="0" i="0" dirty="0">
                <a:solidFill>
                  <a:srgbClr val="6E7E7D"/>
                </a:solidFill>
                <a:latin typeface="Arial"/>
              </a:rPr>
              <a:t> </a:t>
            </a:r>
            <a:r>
              <a:rPr sz="1200" b="0" i="0" dirty="0" err="1">
                <a:solidFill>
                  <a:srgbClr val="6E7E7D"/>
                </a:solidFill>
                <a:latin typeface="Arial"/>
              </a:rPr>
              <a:t>aperturados</a:t>
            </a:r>
            <a:r>
              <a:rPr sz="1200" b="0" i="0" dirty="0">
                <a:solidFill>
                  <a:srgbClr val="6E7E7D"/>
                </a:solidFill>
                <a:latin typeface="Arial"/>
              </a:rPr>
              <a:t> </a:t>
            </a:r>
            <a:r>
              <a:rPr sz="1200" b="0" i="0" dirty="0" err="1">
                <a:solidFill>
                  <a:srgbClr val="6E7E7D"/>
                </a:solidFill>
                <a:latin typeface="Arial"/>
              </a:rPr>
              <a:t>por</a:t>
            </a:r>
            <a:r>
              <a:rPr sz="1200" b="0" i="0" dirty="0">
                <a:solidFill>
                  <a:srgbClr val="6E7E7D"/>
                </a:solidFill>
                <a:latin typeface="Arial"/>
              </a:rPr>
              <a:t> </a:t>
            </a:r>
            <a:r>
              <a:rPr sz="1200" b="0" i="0" dirty="0" err="1">
                <a:solidFill>
                  <a:srgbClr val="6E7E7D"/>
                </a:solidFill>
                <a:latin typeface="Arial"/>
              </a:rPr>
              <a:t>compromisos</a:t>
            </a:r>
            <a:r>
              <a:rPr sz="1200" b="0" i="0" dirty="0">
                <a:solidFill>
                  <a:srgbClr val="6E7E7D"/>
                </a:solidFill>
                <a:latin typeface="Arial"/>
              </a:rPr>
              <a:t> del </a:t>
            </a:r>
            <a:r>
              <a:rPr sz="1200" b="0" i="0" dirty="0" err="1">
                <a:solidFill>
                  <a:srgbClr val="6E7E7D"/>
                </a:solidFill>
                <a:latin typeface="Arial"/>
              </a:rPr>
              <a:t>cliente</a:t>
            </a:r>
            <a:r>
              <a:rPr sz="1200" b="0" i="0" dirty="0">
                <a:solidFill>
                  <a:srgbClr val="6E7E7D"/>
                </a:solidFill>
                <a:latin typeface="Arial"/>
              </a:rPr>
              <a:t>: </a:t>
            </a:r>
            <a:r>
              <a:rPr sz="1200" b="0" i="0" dirty="0" err="1">
                <a:solidFill>
                  <a:srgbClr val="6E7E7D"/>
                </a:solidFill>
                <a:latin typeface="Arial"/>
              </a:rPr>
              <a:t>venta</a:t>
            </a:r>
            <a:r>
              <a:rPr sz="1200" b="0" i="0" dirty="0">
                <a:solidFill>
                  <a:srgbClr val="6E7E7D"/>
                </a:solidFill>
                <a:latin typeface="Arial"/>
              </a:rPr>
              <a:t> </a:t>
            </a:r>
            <a:r>
              <a:rPr sz="1200" b="0" i="0" dirty="0" err="1">
                <a:solidFill>
                  <a:srgbClr val="6E7E7D"/>
                </a:solidFill>
                <a:latin typeface="Arial"/>
              </a:rPr>
              <a:t>cruzada</a:t>
            </a:r>
            <a:r>
              <a:rPr sz="1200" b="0" i="0" dirty="0">
                <a:solidFill>
                  <a:srgbClr val="6E7E7D"/>
                </a:solidFill>
                <a:latin typeface="Arial"/>
              </a:rPr>
              <a:t> </a:t>
            </a:r>
            <a:r>
              <a:rPr sz="1200" b="0" i="0" dirty="0" err="1">
                <a:solidFill>
                  <a:srgbClr val="6E7E7D"/>
                </a:solidFill>
                <a:latin typeface="Arial"/>
              </a:rPr>
              <a:t>futura</a:t>
            </a:r>
            <a:r>
              <a:rPr sz="1200" b="0" i="0" dirty="0">
                <a:solidFill>
                  <a:srgbClr val="6E7E7D"/>
                </a:solidFill>
                <a:latin typeface="Arial"/>
              </a:rPr>
              <a:t> </a:t>
            </a:r>
            <a:r>
              <a:rPr sz="1200" b="0" i="0" dirty="0" err="1">
                <a:solidFill>
                  <a:srgbClr val="6E7E7D"/>
                </a:solidFill>
                <a:latin typeface="Arial"/>
              </a:rPr>
              <a:t>como</a:t>
            </a:r>
            <a:r>
              <a:rPr sz="1200" b="0" i="0" dirty="0">
                <a:solidFill>
                  <a:srgbClr val="6E7E7D"/>
                </a:solidFill>
                <a:latin typeface="Arial"/>
              </a:rPr>
              <a:t> </a:t>
            </a:r>
            <a:r>
              <a:rPr sz="1200" b="0" i="0" dirty="0" err="1">
                <a:solidFill>
                  <a:srgbClr val="6E7E7D"/>
                </a:solidFill>
                <a:latin typeface="Arial"/>
              </a:rPr>
              <a:t>pago</a:t>
            </a:r>
            <a:r>
              <a:rPr sz="1200" b="0" i="0" dirty="0">
                <a:solidFill>
                  <a:srgbClr val="6E7E7D"/>
                </a:solidFill>
                <a:latin typeface="Arial"/>
              </a:rPr>
              <a:t> a </a:t>
            </a:r>
            <a:r>
              <a:rPr sz="1200" b="0" i="0" dirty="0" err="1">
                <a:solidFill>
                  <a:srgbClr val="6E7E7D"/>
                </a:solidFill>
                <a:latin typeface="Arial"/>
              </a:rPr>
              <a:t>proveedores</a:t>
            </a:r>
            <a:r>
              <a:rPr sz="1200" b="0" i="0" dirty="0">
                <a:solidFill>
                  <a:srgbClr val="6E7E7D"/>
                </a:solidFill>
                <a:latin typeface="Arial"/>
              </a:rPr>
              <a:t>, </a:t>
            </a:r>
            <a:r>
              <a:rPr sz="1200" b="0" i="0" dirty="0" err="1">
                <a:solidFill>
                  <a:srgbClr val="6E7E7D"/>
                </a:solidFill>
                <a:latin typeface="Arial"/>
              </a:rPr>
              <a:t>tipo</a:t>
            </a:r>
            <a:r>
              <a:rPr sz="1200" b="0" i="0" dirty="0">
                <a:solidFill>
                  <a:srgbClr val="6E7E7D"/>
                </a:solidFill>
                <a:latin typeface="Arial"/>
              </a:rPr>
              <a:t> de </a:t>
            </a:r>
            <a:r>
              <a:rPr sz="1200" b="0" i="0" dirty="0" err="1">
                <a:solidFill>
                  <a:srgbClr val="6E7E7D"/>
                </a:solidFill>
                <a:latin typeface="Arial"/>
              </a:rPr>
              <a:t>cambio</a:t>
            </a:r>
            <a:r>
              <a:rPr sz="1200" b="0" i="0" dirty="0">
                <a:solidFill>
                  <a:srgbClr val="6E7E7D"/>
                </a:solidFill>
                <a:latin typeface="Arial"/>
              </a:rPr>
              <a:t> y </a:t>
            </a:r>
            <a:r>
              <a:rPr sz="1200" b="0" i="0" dirty="0" err="1">
                <a:solidFill>
                  <a:srgbClr val="6E7E7D"/>
                </a:solidFill>
                <a:latin typeface="Arial"/>
              </a:rPr>
              <a:t>pago</a:t>
            </a:r>
            <a:r>
              <a:rPr sz="1200" b="0" i="0" dirty="0">
                <a:solidFill>
                  <a:srgbClr val="6E7E7D"/>
                </a:solidFill>
                <a:latin typeface="Arial"/>
              </a:rPr>
              <a:t> de </a:t>
            </a:r>
            <a:r>
              <a:rPr sz="1200" b="0" i="0" dirty="0" err="1">
                <a:solidFill>
                  <a:srgbClr val="6E7E7D"/>
                </a:solidFill>
                <a:latin typeface="Arial"/>
              </a:rPr>
              <a:t>planilla</a:t>
            </a:r>
            <a:r>
              <a:rPr sz="1200" b="0" i="0" dirty="0">
                <a:solidFill>
                  <a:srgbClr val="6E7E7D"/>
                </a:solidFill>
                <a:latin typeface="Arial"/>
              </a:rPr>
              <a:t>.</a:t>
            </a:r>
          </a:p>
        </p:txBody>
      </p:sp>
      <p:sp>
        <p:nvSpPr>
          <p:cNvPr id="172" name="Rectangle 171">
            <a:extLst>
              <a:ext uri="{FF2B5EF4-FFF2-40B4-BE49-F238E27FC236}">
                <a16:creationId xmlns:a16="http://schemas.microsoft.com/office/drawing/2014/main" id="{009B6329-1027-3EAD-3E1F-453F6125507A}"/>
              </a:ext>
            </a:extLst>
          </p:cNvPr>
          <p:cNvSpPr/>
          <p:nvPr/>
        </p:nvSpPr>
        <p:spPr>
          <a:xfrm>
            <a:off x="14317492" y="4892040"/>
            <a:ext cx="914400"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sz="1000" b="1" i="0">
                <a:solidFill>
                  <a:srgbClr val="FFFFFF"/>
                </a:solidFill>
                <a:latin typeface="Arial"/>
              </a:rPr>
              <a:t>ILUSTRATIVO</a:t>
            </a:r>
          </a:p>
        </p:txBody>
      </p:sp>
      <p:sp>
        <p:nvSpPr>
          <p:cNvPr id="173" name="TextBox 172">
            <a:extLst>
              <a:ext uri="{FF2B5EF4-FFF2-40B4-BE49-F238E27FC236}">
                <a16:creationId xmlns:a16="http://schemas.microsoft.com/office/drawing/2014/main" id="{7E0CB86F-3061-4252-CA68-B43690AB3DC0}"/>
              </a:ext>
            </a:extLst>
          </p:cNvPr>
          <p:cNvSpPr txBox="1"/>
          <p:nvPr/>
        </p:nvSpPr>
        <p:spPr>
          <a:xfrm>
            <a:off x="8631936" y="4910327"/>
            <a:ext cx="5630692" cy="169277"/>
          </a:xfrm>
          <a:prstGeom prst="rect">
            <a:avLst/>
          </a:prstGeom>
          <a:noFill/>
        </p:spPr>
        <p:txBody>
          <a:bodyPr wrap="square" lIns="0" tIns="0" rIns="0" bIns="0" anchor="t">
            <a:spAutoFit/>
          </a:bodyPr>
          <a:lstStyle/>
          <a:p>
            <a:pPr algn="l">
              <a:lnSpc>
                <a:spcPct val="100000"/>
              </a:lnSpc>
            </a:pPr>
            <a:r>
              <a:rPr sz="1100" b="1" i="0">
                <a:solidFill>
                  <a:srgbClr val="0B2E2C"/>
                </a:solidFill>
                <a:latin typeface="Arial"/>
              </a:rPr>
              <a:t>Tarifario propuesto</a:t>
            </a:r>
          </a:p>
        </p:txBody>
      </p:sp>
      <p:sp>
        <p:nvSpPr>
          <p:cNvPr id="174" name="Rectangle 173">
            <a:extLst>
              <a:ext uri="{FF2B5EF4-FFF2-40B4-BE49-F238E27FC236}">
                <a16:creationId xmlns:a16="http://schemas.microsoft.com/office/drawing/2014/main" id="{58812FFA-0AEB-CDC0-2CA6-BD0C34F7FE81}"/>
              </a:ext>
            </a:extLst>
          </p:cNvPr>
          <p:cNvSpPr/>
          <p:nvPr/>
        </p:nvSpPr>
        <p:spPr>
          <a:xfrm>
            <a:off x="8631936" y="5184647"/>
            <a:ext cx="6746260" cy="402336"/>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75" name="Rectangle 174">
            <a:extLst>
              <a:ext uri="{FF2B5EF4-FFF2-40B4-BE49-F238E27FC236}">
                <a16:creationId xmlns:a16="http://schemas.microsoft.com/office/drawing/2014/main" id="{D7867D71-CE1D-E5F3-4E81-3AC7985E3420}"/>
              </a:ext>
            </a:extLst>
          </p:cNvPr>
          <p:cNvSpPr/>
          <p:nvPr/>
        </p:nvSpPr>
        <p:spPr>
          <a:xfrm>
            <a:off x="8631936" y="5184647"/>
            <a:ext cx="1754027" cy="402336"/>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050" b="1" i="0">
                <a:solidFill>
                  <a:srgbClr val="FFFFFF"/>
                </a:solidFill>
                <a:latin typeface="Arial"/>
              </a:rPr>
              <a:t>Segmento</a:t>
            </a:r>
          </a:p>
        </p:txBody>
      </p:sp>
      <p:sp>
        <p:nvSpPr>
          <p:cNvPr id="176" name="Rectangle 175">
            <a:extLst>
              <a:ext uri="{FF2B5EF4-FFF2-40B4-BE49-F238E27FC236}">
                <a16:creationId xmlns:a16="http://schemas.microsoft.com/office/drawing/2014/main" id="{D266C3F6-07C3-FD0E-5AB8-3EFE671483FB}"/>
              </a:ext>
            </a:extLst>
          </p:cNvPr>
          <p:cNvSpPr/>
          <p:nvPr/>
        </p:nvSpPr>
        <p:spPr>
          <a:xfrm>
            <a:off x="10385963" y="5184647"/>
            <a:ext cx="1349252" cy="402336"/>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050" b="1" i="0">
                <a:solidFill>
                  <a:srgbClr val="FFFFFF"/>
                </a:solidFill>
                <a:latin typeface="Arial"/>
              </a:rPr>
              <a:t>TEA</a:t>
            </a:r>
          </a:p>
        </p:txBody>
      </p:sp>
      <p:sp>
        <p:nvSpPr>
          <p:cNvPr id="177" name="Rectangle 176">
            <a:extLst>
              <a:ext uri="{FF2B5EF4-FFF2-40B4-BE49-F238E27FC236}">
                <a16:creationId xmlns:a16="http://schemas.microsoft.com/office/drawing/2014/main" id="{C1FC8577-DD45-E714-2528-60D7E9E7D990}"/>
              </a:ext>
            </a:extLst>
          </p:cNvPr>
          <p:cNvSpPr/>
          <p:nvPr/>
        </p:nvSpPr>
        <p:spPr>
          <a:xfrm>
            <a:off x="11735215" y="5184647"/>
            <a:ext cx="1821490" cy="402336"/>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050" b="1" i="0">
                <a:solidFill>
                  <a:srgbClr val="FFFFFF"/>
                </a:solidFill>
                <a:latin typeface="Arial"/>
              </a:rPr>
              <a:t>Dscto. con</a:t>
            </a:r>
          </a:p>
          <a:p>
            <a:pPr algn="ctr">
              <a:lnSpc>
                <a:spcPct val="105000"/>
              </a:lnSpc>
            </a:pPr>
            <a:r>
              <a:rPr sz="1050" b="1" i="0">
                <a:solidFill>
                  <a:srgbClr val="FFFFFF"/>
                </a:solidFill>
                <a:latin typeface="Arial"/>
              </a:rPr>
              <a:t>promesa</a:t>
            </a:r>
          </a:p>
        </p:txBody>
      </p:sp>
      <p:sp>
        <p:nvSpPr>
          <p:cNvPr id="178" name="Rectangle 177">
            <a:extLst>
              <a:ext uri="{FF2B5EF4-FFF2-40B4-BE49-F238E27FC236}">
                <a16:creationId xmlns:a16="http://schemas.microsoft.com/office/drawing/2014/main" id="{6B0CBBB7-B684-3F08-06C0-592A3024A7BB}"/>
              </a:ext>
            </a:extLst>
          </p:cNvPr>
          <p:cNvSpPr/>
          <p:nvPr/>
        </p:nvSpPr>
        <p:spPr>
          <a:xfrm>
            <a:off x="13556706" y="5184647"/>
            <a:ext cx="1821490" cy="402336"/>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050" b="1" i="0">
                <a:solidFill>
                  <a:srgbClr val="FFFFFF"/>
                </a:solidFill>
                <a:latin typeface="Arial"/>
              </a:rPr>
              <a:t>Dscto. sin</a:t>
            </a:r>
          </a:p>
          <a:p>
            <a:pPr algn="ctr">
              <a:lnSpc>
                <a:spcPct val="105000"/>
              </a:lnSpc>
            </a:pPr>
            <a:r>
              <a:rPr sz="1050" b="1" i="0">
                <a:solidFill>
                  <a:srgbClr val="FFFFFF"/>
                </a:solidFill>
                <a:latin typeface="Arial"/>
              </a:rPr>
              <a:t>promesa</a:t>
            </a:r>
          </a:p>
        </p:txBody>
      </p:sp>
      <p:sp>
        <p:nvSpPr>
          <p:cNvPr id="179" name="Rectangle 178">
            <a:extLst>
              <a:ext uri="{FF2B5EF4-FFF2-40B4-BE49-F238E27FC236}">
                <a16:creationId xmlns:a16="http://schemas.microsoft.com/office/drawing/2014/main" id="{7B2908EB-4289-5040-8A84-B39C6ECA2216}"/>
              </a:ext>
            </a:extLst>
          </p:cNvPr>
          <p:cNvSpPr/>
          <p:nvPr/>
        </p:nvSpPr>
        <p:spPr>
          <a:xfrm>
            <a:off x="8631936" y="5623559"/>
            <a:ext cx="6746260" cy="36576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80" name="Oval 179">
            <a:extLst>
              <a:ext uri="{FF2B5EF4-FFF2-40B4-BE49-F238E27FC236}">
                <a16:creationId xmlns:a16="http://schemas.microsoft.com/office/drawing/2014/main" id="{950E848B-FCBD-95E0-262D-9BEEB1D6B4F3}"/>
              </a:ext>
            </a:extLst>
          </p:cNvPr>
          <p:cNvSpPr/>
          <p:nvPr/>
        </p:nvSpPr>
        <p:spPr>
          <a:xfrm>
            <a:off x="8741664" y="5678423"/>
            <a:ext cx="256032" cy="256032"/>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FFFFFF"/>
                </a:solidFill>
                <a:latin typeface="Arial"/>
              </a:rPr>
              <a:t>A</a:t>
            </a:r>
          </a:p>
        </p:txBody>
      </p:sp>
      <p:sp>
        <p:nvSpPr>
          <p:cNvPr id="181" name="TextBox 180">
            <a:extLst>
              <a:ext uri="{FF2B5EF4-FFF2-40B4-BE49-F238E27FC236}">
                <a16:creationId xmlns:a16="http://schemas.microsoft.com/office/drawing/2014/main" id="{609BB295-8DBA-87B6-A0AB-54153F3BF1AF}"/>
              </a:ext>
            </a:extLst>
          </p:cNvPr>
          <p:cNvSpPr txBox="1"/>
          <p:nvPr/>
        </p:nvSpPr>
        <p:spPr>
          <a:xfrm>
            <a:off x="10385963" y="5705855"/>
            <a:ext cx="1349252" cy="169277"/>
          </a:xfrm>
          <a:prstGeom prst="rect">
            <a:avLst/>
          </a:prstGeom>
          <a:noFill/>
        </p:spPr>
        <p:txBody>
          <a:bodyPr wrap="square" lIns="0" tIns="0" rIns="0" bIns="0" anchor="t">
            <a:spAutoFit/>
          </a:bodyPr>
          <a:lstStyle/>
          <a:p>
            <a:pPr algn="ctr">
              <a:lnSpc>
                <a:spcPct val="100000"/>
              </a:lnSpc>
            </a:pPr>
            <a:r>
              <a:rPr sz="1100" b="1" i="0">
                <a:solidFill>
                  <a:srgbClr val="3E5553"/>
                </a:solidFill>
                <a:latin typeface="Arial"/>
              </a:rPr>
              <a:t>20%</a:t>
            </a:r>
          </a:p>
        </p:txBody>
      </p:sp>
      <p:sp>
        <p:nvSpPr>
          <p:cNvPr id="182" name="TextBox 181">
            <a:extLst>
              <a:ext uri="{FF2B5EF4-FFF2-40B4-BE49-F238E27FC236}">
                <a16:creationId xmlns:a16="http://schemas.microsoft.com/office/drawing/2014/main" id="{EE51F382-2E6F-CA5C-DBEB-5C1C78A63CB1}"/>
              </a:ext>
            </a:extLst>
          </p:cNvPr>
          <p:cNvSpPr txBox="1"/>
          <p:nvPr/>
        </p:nvSpPr>
        <p:spPr>
          <a:xfrm>
            <a:off x="11735215" y="5705855"/>
            <a:ext cx="1821490" cy="169277"/>
          </a:xfrm>
          <a:prstGeom prst="rect">
            <a:avLst/>
          </a:prstGeom>
          <a:noFill/>
        </p:spPr>
        <p:txBody>
          <a:bodyPr wrap="square" lIns="0" tIns="0" rIns="0" bIns="0" anchor="t">
            <a:spAutoFit/>
          </a:bodyPr>
          <a:lstStyle/>
          <a:p>
            <a:pPr algn="ctr">
              <a:lnSpc>
                <a:spcPct val="100000"/>
              </a:lnSpc>
            </a:pPr>
            <a:r>
              <a:rPr sz="1100" b="0" i="0">
                <a:solidFill>
                  <a:srgbClr val="3E5553"/>
                </a:solidFill>
                <a:latin typeface="Arial"/>
              </a:rPr>
              <a:t>200 pbs</a:t>
            </a:r>
          </a:p>
        </p:txBody>
      </p:sp>
      <p:sp>
        <p:nvSpPr>
          <p:cNvPr id="183" name="TextBox 182">
            <a:extLst>
              <a:ext uri="{FF2B5EF4-FFF2-40B4-BE49-F238E27FC236}">
                <a16:creationId xmlns:a16="http://schemas.microsoft.com/office/drawing/2014/main" id="{95F78095-C766-B78C-E060-01B47F2FD328}"/>
              </a:ext>
            </a:extLst>
          </p:cNvPr>
          <p:cNvSpPr txBox="1"/>
          <p:nvPr/>
        </p:nvSpPr>
        <p:spPr>
          <a:xfrm>
            <a:off x="13556706" y="5705855"/>
            <a:ext cx="1821490" cy="169277"/>
          </a:xfrm>
          <a:prstGeom prst="rect">
            <a:avLst/>
          </a:prstGeom>
          <a:noFill/>
        </p:spPr>
        <p:txBody>
          <a:bodyPr wrap="square" lIns="0" tIns="0" rIns="0" bIns="0" anchor="t">
            <a:spAutoFit/>
          </a:bodyPr>
          <a:lstStyle/>
          <a:p>
            <a:pPr algn="ctr">
              <a:lnSpc>
                <a:spcPct val="100000"/>
              </a:lnSpc>
            </a:pPr>
            <a:r>
              <a:rPr sz="1100" b="0" i="0">
                <a:solidFill>
                  <a:srgbClr val="3E5553"/>
                </a:solidFill>
                <a:latin typeface="Arial"/>
              </a:rPr>
              <a:t>150 pbs</a:t>
            </a:r>
          </a:p>
        </p:txBody>
      </p:sp>
      <p:sp>
        <p:nvSpPr>
          <p:cNvPr id="184" name="Oval 183">
            <a:extLst>
              <a:ext uri="{FF2B5EF4-FFF2-40B4-BE49-F238E27FC236}">
                <a16:creationId xmlns:a16="http://schemas.microsoft.com/office/drawing/2014/main" id="{31F19F47-56A8-B180-2F2F-EC47CF4AB20E}"/>
              </a:ext>
            </a:extLst>
          </p:cNvPr>
          <p:cNvSpPr/>
          <p:nvPr/>
        </p:nvSpPr>
        <p:spPr>
          <a:xfrm>
            <a:off x="8741664" y="6062471"/>
            <a:ext cx="256032" cy="256032"/>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FFFFFF"/>
                </a:solidFill>
                <a:latin typeface="Arial"/>
              </a:rPr>
              <a:t>B</a:t>
            </a:r>
          </a:p>
        </p:txBody>
      </p:sp>
      <p:sp>
        <p:nvSpPr>
          <p:cNvPr id="185" name="TextBox 184">
            <a:extLst>
              <a:ext uri="{FF2B5EF4-FFF2-40B4-BE49-F238E27FC236}">
                <a16:creationId xmlns:a16="http://schemas.microsoft.com/office/drawing/2014/main" id="{AA707F91-670C-34B7-EFF7-BF87C6DD6490}"/>
              </a:ext>
            </a:extLst>
          </p:cNvPr>
          <p:cNvSpPr txBox="1"/>
          <p:nvPr/>
        </p:nvSpPr>
        <p:spPr>
          <a:xfrm>
            <a:off x="10385963" y="6089903"/>
            <a:ext cx="1349252" cy="169277"/>
          </a:xfrm>
          <a:prstGeom prst="rect">
            <a:avLst/>
          </a:prstGeom>
          <a:noFill/>
        </p:spPr>
        <p:txBody>
          <a:bodyPr wrap="square" lIns="0" tIns="0" rIns="0" bIns="0" anchor="t">
            <a:spAutoFit/>
          </a:bodyPr>
          <a:lstStyle/>
          <a:p>
            <a:pPr algn="ctr">
              <a:lnSpc>
                <a:spcPct val="100000"/>
              </a:lnSpc>
            </a:pPr>
            <a:r>
              <a:rPr sz="1100" b="1" i="0">
                <a:solidFill>
                  <a:srgbClr val="3E5553"/>
                </a:solidFill>
                <a:latin typeface="Arial"/>
              </a:rPr>
              <a:t>16%</a:t>
            </a:r>
          </a:p>
        </p:txBody>
      </p:sp>
      <p:sp>
        <p:nvSpPr>
          <p:cNvPr id="186" name="TextBox 185">
            <a:extLst>
              <a:ext uri="{FF2B5EF4-FFF2-40B4-BE49-F238E27FC236}">
                <a16:creationId xmlns:a16="http://schemas.microsoft.com/office/drawing/2014/main" id="{677C5DE2-5670-9371-45DC-A7827DEA7DFC}"/>
              </a:ext>
            </a:extLst>
          </p:cNvPr>
          <p:cNvSpPr txBox="1"/>
          <p:nvPr/>
        </p:nvSpPr>
        <p:spPr>
          <a:xfrm>
            <a:off x="11735215" y="6089903"/>
            <a:ext cx="1821490" cy="169277"/>
          </a:xfrm>
          <a:prstGeom prst="rect">
            <a:avLst/>
          </a:prstGeom>
          <a:noFill/>
        </p:spPr>
        <p:txBody>
          <a:bodyPr wrap="square" lIns="0" tIns="0" rIns="0" bIns="0" anchor="t">
            <a:spAutoFit/>
          </a:bodyPr>
          <a:lstStyle/>
          <a:p>
            <a:pPr algn="ctr">
              <a:lnSpc>
                <a:spcPct val="100000"/>
              </a:lnSpc>
            </a:pPr>
            <a:r>
              <a:rPr sz="1100" b="0" i="0">
                <a:solidFill>
                  <a:srgbClr val="3E5553"/>
                </a:solidFill>
                <a:latin typeface="Arial"/>
              </a:rPr>
              <a:t>150 pbs</a:t>
            </a:r>
          </a:p>
        </p:txBody>
      </p:sp>
      <p:sp>
        <p:nvSpPr>
          <p:cNvPr id="187" name="TextBox 186">
            <a:extLst>
              <a:ext uri="{FF2B5EF4-FFF2-40B4-BE49-F238E27FC236}">
                <a16:creationId xmlns:a16="http://schemas.microsoft.com/office/drawing/2014/main" id="{23645AFF-12F6-9171-E4CC-38D34E4606A7}"/>
              </a:ext>
            </a:extLst>
          </p:cNvPr>
          <p:cNvSpPr txBox="1"/>
          <p:nvPr/>
        </p:nvSpPr>
        <p:spPr>
          <a:xfrm>
            <a:off x="13556706" y="6089903"/>
            <a:ext cx="1821490" cy="169277"/>
          </a:xfrm>
          <a:prstGeom prst="rect">
            <a:avLst/>
          </a:prstGeom>
          <a:noFill/>
        </p:spPr>
        <p:txBody>
          <a:bodyPr wrap="square" lIns="0" tIns="0" rIns="0" bIns="0" anchor="t">
            <a:spAutoFit/>
          </a:bodyPr>
          <a:lstStyle/>
          <a:p>
            <a:pPr algn="ctr">
              <a:lnSpc>
                <a:spcPct val="100000"/>
              </a:lnSpc>
            </a:pPr>
            <a:r>
              <a:rPr sz="1100" b="0" i="0">
                <a:solidFill>
                  <a:srgbClr val="3E5553"/>
                </a:solidFill>
                <a:latin typeface="Arial"/>
              </a:rPr>
              <a:t>100 pbs</a:t>
            </a:r>
          </a:p>
        </p:txBody>
      </p:sp>
      <p:sp>
        <p:nvSpPr>
          <p:cNvPr id="188" name="Rectangle 187">
            <a:extLst>
              <a:ext uri="{FF2B5EF4-FFF2-40B4-BE49-F238E27FC236}">
                <a16:creationId xmlns:a16="http://schemas.microsoft.com/office/drawing/2014/main" id="{6C0E6510-B3FF-4902-DEF6-60F30BA88D42}"/>
              </a:ext>
            </a:extLst>
          </p:cNvPr>
          <p:cNvSpPr/>
          <p:nvPr/>
        </p:nvSpPr>
        <p:spPr>
          <a:xfrm>
            <a:off x="8631936" y="6391655"/>
            <a:ext cx="6746260" cy="36576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189" name="Oval 188">
            <a:extLst>
              <a:ext uri="{FF2B5EF4-FFF2-40B4-BE49-F238E27FC236}">
                <a16:creationId xmlns:a16="http://schemas.microsoft.com/office/drawing/2014/main" id="{B0B17964-B830-5387-1027-E0EC710EF140}"/>
              </a:ext>
            </a:extLst>
          </p:cNvPr>
          <p:cNvSpPr/>
          <p:nvPr/>
        </p:nvSpPr>
        <p:spPr>
          <a:xfrm>
            <a:off x="8741664" y="6446519"/>
            <a:ext cx="256032" cy="256032"/>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FFFFFF"/>
                </a:solidFill>
                <a:latin typeface="Arial"/>
              </a:rPr>
              <a:t>C</a:t>
            </a:r>
          </a:p>
        </p:txBody>
      </p:sp>
      <p:sp>
        <p:nvSpPr>
          <p:cNvPr id="190" name="TextBox 189">
            <a:extLst>
              <a:ext uri="{FF2B5EF4-FFF2-40B4-BE49-F238E27FC236}">
                <a16:creationId xmlns:a16="http://schemas.microsoft.com/office/drawing/2014/main" id="{C066CDD1-3CA0-B62A-55C0-A7EC2C3B6418}"/>
              </a:ext>
            </a:extLst>
          </p:cNvPr>
          <p:cNvSpPr txBox="1"/>
          <p:nvPr/>
        </p:nvSpPr>
        <p:spPr>
          <a:xfrm>
            <a:off x="10385963" y="6473951"/>
            <a:ext cx="1349252" cy="169277"/>
          </a:xfrm>
          <a:prstGeom prst="rect">
            <a:avLst/>
          </a:prstGeom>
          <a:noFill/>
        </p:spPr>
        <p:txBody>
          <a:bodyPr wrap="square" lIns="0" tIns="0" rIns="0" bIns="0" anchor="t">
            <a:spAutoFit/>
          </a:bodyPr>
          <a:lstStyle/>
          <a:p>
            <a:pPr algn="ctr">
              <a:lnSpc>
                <a:spcPct val="100000"/>
              </a:lnSpc>
            </a:pPr>
            <a:r>
              <a:rPr sz="1100" b="1" i="0">
                <a:solidFill>
                  <a:srgbClr val="3E5553"/>
                </a:solidFill>
                <a:latin typeface="Arial"/>
              </a:rPr>
              <a:t>21%</a:t>
            </a:r>
          </a:p>
        </p:txBody>
      </p:sp>
      <p:sp>
        <p:nvSpPr>
          <p:cNvPr id="191" name="TextBox 190">
            <a:extLst>
              <a:ext uri="{FF2B5EF4-FFF2-40B4-BE49-F238E27FC236}">
                <a16:creationId xmlns:a16="http://schemas.microsoft.com/office/drawing/2014/main" id="{B75011E8-FA47-E38C-8BC6-D68FE4ECA0DA}"/>
              </a:ext>
            </a:extLst>
          </p:cNvPr>
          <p:cNvSpPr txBox="1"/>
          <p:nvPr/>
        </p:nvSpPr>
        <p:spPr>
          <a:xfrm>
            <a:off x="11735215" y="6473951"/>
            <a:ext cx="1821490" cy="169277"/>
          </a:xfrm>
          <a:prstGeom prst="rect">
            <a:avLst/>
          </a:prstGeom>
          <a:noFill/>
        </p:spPr>
        <p:txBody>
          <a:bodyPr wrap="square" lIns="0" tIns="0" rIns="0" bIns="0" anchor="t">
            <a:spAutoFit/>
          </a:bodyPr>
          <a:lstStyle/>
          <a:p>
            <a:pPr algn="ctr">
              <a:lnSpc>
                <a:spcPct val="100000"/>
              </a:lnSpc>
            </a:pPr>
            <a:r>
              <a:rPr sz="1100" b="0" i="0">
                <a:solidFill>
                  <a:srgbClr val="3E5553"/>
                </a:solidFill>
                <a:latin typeface="Arial"/>
              </a:rPr>
              <a:t>50 pbs</a:t>
            </a:r>
          </a:p>
        </p:txBody>
      </p:sp>
      <p:sp>
        <p:nvSpPr>
          <p:cNvPr id="192" name="TextBox 191">
            <a:extLst>
              <a:ext uri="{FF2B5EF4-FFF2-40B4-BE49-F238E27FC236}">
                <a16:creationId xmlns:a16="http://schemas.microsoft.com/office/drawing/2014/main" id="{E9465510-8506-59B7-ED4B-BDA56EA85FCC}"/>
              </a:ext>
            </a:extLst>
          </p:cNvPr>
          <p:cNvSpPr txBox="1"/>
          <p:nvPr/>
        </p:nvSpPr>
        <p:spPr>
          <a:xfrm>
            <a:off x="13556706" y="6473951"/>
            <a:ext cx="1821490" cy="169277"/>
          </a:xfrm>
          <a:prstGeom prst="rect">
            <a:avLst/>
          </a:prstGeom>
          <a:noFill/>
        </p:spPr>
        <p:txBody>
          <a:bodyPr wrap="square" lIns="0" tIns="0" rIns="0" bIns="0" anchor="t">
            <a:spAutoFit/>
          </a:bodyPr>
          <a:lstStyle/>
          <a:p>
            <a:pPr algn="ctr">
              <a:lnSpc>
                <a:spcPct val="100000"/>
              </a:lnSpc>
            </a:pPr>
            <a:r>
              <a:rPr sz="1100" b="0" i="0">
                <a:solidFill>
                  <a:srgbClr val="3E5553"/>
                </a:solidFill>
                <a:latin typeface="Arial"/>
              </a:rPr>
              <a:t>0 pbs</a:t>
            </a:r>
          </a:p>
        </p:txBody>
      </p:sp>
      <p:sp>
        <p:nvSpPr>
          <p:cNvPr id="193" name="Rectangle 192">
            <a:extLst>
              <a:ext uri="{FF2B5EF4-FFF2-40B4-BE49-F238E27FC236}">
                <a16:creationId xmlns:a16="http://schemas.microsoft.com/office/drawing/2014/main" id="{B69D1A5C-A884-718A-0C66-7D74B29398BD}"/>
              </a:ext>
            </a:extLst>
          </p:cNvPr>
          <p:cNvSpPr/>
          <p:nvPr/>
        </p:nvSpPr>
        <p:spPr>
          <a:xfrm>
            <a:off x="658368" y="7399454"/>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cxnSp>
        <p:nvCxnSpPr>
          <p:cNvPr id="194" name="Connector 50">
            <a:extLst>
              <a:ext uri="{FF2B5EF4-FFF2-40B4-BE49-F238E27FC236}">
                <a16:creationId xmlns:a16="http://schemas.microsoft.com/office/drawing/2014/main" id="{B51B7092-C095-C47A-4B8D-F91CD67C0992}"/>
              </a:ext>
            </a:extLst>
          </p:cNvPr>
          <p:cNvCxnSpPr/>
          <p:nvPr/>
        </p:nvCxnSpPr>
        <p:spPr>
          <a:xfrm>
            <a:off x="658368" y="7399454"/>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95" name="TextBox 194">
            <a:extLst>
              <a:ext uri="{FF2B5EF4-FFF2-40B4-BE49-F238E27FC236}">
                <a16:creationId xmlns:a16="http://schemas.microsoft.com/office/drawing/2014/main" id="{140A225E-5AA0-3C62-AC59-C451BE21C184}"/>
              </a:ext>
            </a:extLst>
          </p:cNvPr>
          <p:cNvSpPr txBox="1"/>
          <p:nvPr/>
        </p:nvSpPr>
        <p:spPr>
          <a:xfrm>
            <a:off x="896112" y="7569586"/>
            <a:ext cx="14482084" cy="226665"/>
          </a:xfrm>
          <a:prstGeom prst="rect">
            <a:avLst/>
          </a:prstGeom>
          <a:noFill/>
        </p:spPr>
        <p:txBody>
          <a:bodyPr wrap="square" lIns="0" tIns="0" rIns="0" bIns="0" anchor="ctr">
            <a:spAutoFit/>
          </a:bodyPr>
          <a:lstStyle/>
          <a:p>
            <a:pPr algn="l">
              <a:lnSpc>
                <a:spcPct val="115000"/>
              </a:lnSpc>
              <a:spcAft>
                <a:spcPts val="400"/>
              </a:spcAft>
            </a:pPr>
            <a:r>
              <a:rPr b="1" i="0">
                <a:solidFill>
                  <a:srgbClr val="0C514E"/>
                </a:solidFill>
                <a:latin typeface="Arial"/>
              </a:rPr>
              <a:t>El descuento deja de ser una concesión: con promesa vale más, sin promesa vale menos — y el segmento define el punto de partida.</a:t>
            </a:r>
          </a:p>
        </p:txBody>
      </p:sp>
    </p:spTree>
    <p:extLst>
      <p:ext uri="{BB962C8B-B14F-4D97-AF65-F5344CB8AC3E}">
        <p14:creationId xmlns:p14="http://schemas.microsoft.com/office/powerpoint/2010/main" val="36233146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0CAEA-4CF3-5918-E63A-1BEA6F99CFC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A05A0A4-423B-DCA8-3527-48765442FF6B}"/>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0537CD71-BF18-7EBF-53BC-96B171DE8A02}"/>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Segmentación Estratégica</a:t>
            </a:r>
          </a:p>
        </p:txBody>
      </p:sp>
      <p:cxnSp>
        <p:nvCxnSpPr>
          <p:cNvPr id="2" name="Connector 3">
            <a:extLst>
              <a:ext uri="{FF2B5EF4-FFF2-40B4-BE49-F238E27FC236}">
                <a16:creationId xmlns:a16="http://schemas.microsoft.com/office/drawing/2014/main" id="{82389BAD-8595-5D0E-F43C-3105E7E3A7CB}"/>
              </a:ext>
            </a:extLst>
          </p:cNvPr>
          <p:cNvCxnSpPr/>
          <p:nvPr/>
        </p:nvCxnSpPr>
        <p:spPr>
          <a:xfrm>
            <a:off x="637586" y="123277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6E3B80E8-C40F-0397-B362-5F24E777C55D}"/>
              </a:ext>
            </a:extLst>
          </p:cNvPr>
          <p:cNvSpPr/>
          <p:nvPr/>
        </p:nvSpPr>
        <p:spPr>
          <a:xfrm>
            <a:off x="658368" y="1645920"/>
            <a:ext cx="4160520" cy="395020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048532C5-4F2F-6039-77FA-CE3E168FA79F}"/>
              </a:ext>
            </a:extLst>
          </p:cNvPr>
          <p:cNvSpPr/>
          <p:nvPr/>
        </p:nvSpPr>
        <p:spPr>
          <a:xfrm>
            <a:off x="658368" y="1645920"/>
            <a:ext cx="4160520" cy="32918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dirty="0">
                <a:solidFill>
                  <a:srgbClr val="FFFFFF"/>
                </a:solidFill>
                <a:latin typeface="Calibri" panose="020F0502020204030204" pitchFamily="34" charset="0"/>
                <a:cs typeface="Calibri" panose="020F0502020204030204" pitchFamily="34" charset="0"/>
              </a:rPr>
              <a:t>OUTPUT: SEGMENTOS</a:t>
            </a:r>
            <a:endParaRPr lang="es-ES_tradnl" sz="1100" b="1" i="0" noProof="0" dirty="0">
              <a:solidFill>
                <a:srgbClr val="FFFFFF"/>
              </a:solidFill>
              <a:latin typeface="Calibri" panose="020F0502020204030204" pitchFamily="34" charset="0"/>
              <a:cs typeface="Calibri" panose="020F0502020204030204" pitchFamily="34" charset="0"/>
            </a:endParaRPr>
          </a:p>
        </p:txBody>
      </p:sp>
      <p:cxnSp>
        <p:nvCxnSpPr>
          <p:cNvPr id="69" name="Connector 29">
            <a:extLst>
              <a:ext uri="{FF2B5EF4-FFF2-40B4-BE49-F238E27FC236}">
                <a16:creationId xmlns:a16="http://schemas.microsoft.com/office/drawing/2014/main" id="{28AC37D2-B294-7A2D-6F37-28E5E0EFE8D7}"/>
              </a:ext>
            </a:extLst>
          </p:cNvPr>
          <p:cNvCxnSpPr/>
          <p:nvPr/>
        </p:nvCxnSpPr>
        <p:spPr>
          <a:xfrm>
            <a:off x="4965192" y="3401568"/>
            <a:ext cx="384048"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Rectangle 69">
            <a:extLst>
              <a:ext uri="{FF2B5EF4-FFF2-40B4-BE49-F238E27FC236}">
                <a16:creationId xmlns:a16="http://schemas.microsoft.com/office/drawing/2014/main" id="{70B3E218-4826-5606-94E4-C7426078965D}"/>
              </a:ext>
            </a:extLst>
          </p:cNvPr>
          <p:cNvSpPr/>
          <p:nvPr/>
        </p:nvSpPr>
        <p:spPr>
          <a:xfrm>
            <a:off x="5495544" y="1645920"/>
            <a:ext cx="4434840" cy="395020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71" name="Rectangle 70">
            <a:extLst>
              <a:ext uri="{FF2B5EF4-FFF2-40B4-BE49-F238E27FC236}">
                <a16:creationId xmlns:a16="http://schemas.microsoft.com/office/drawing/2014/main" id="{DD55899A-FC31-30A3-2A23-5F7DBAC0565B}"/>
              </a:ext>
            </a:extLst>
          </p:cNvPr>
          <p:cNvSpPr/>
          <p:nvPr/>
        </p:nvSpPr>
        <p:spPr>
          <a:xfrm>
            <a:off x="5495544" y="1645920"/>
            <a:ext cx="4434840"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i="0" noProof="0" dirty="0">
                <a:solidFill>
                  <a:srgbClr val="FFFFFF"/>
                </a:solidFill>
                <a:latin typeface="Calibri" panose="020F0502020204030204" pitchFamily="34" charset="0"/>
                <a:cs typeface="Calibri" panose="020F0502020204030204" pitchFamily="34" charset="0"/>
              </a:rPr>
              <a:t>MATRIZ DE RENTABILIDAD OBJETIVO (ROA + RAROC)</a:t>
            </a:r>
          </a:p>
        </p:txBody>
      </p:sp>
      <p:sp>
        <p:nvSpPr>
          <p:cNvPr id="72" name="Rectangle 71">
            <a:extLst>
              <a:ext uri="{FF2B5EF4-FFF2-40B4-BE49-F238E27FC236}">
                <a16:creationId xmlns:a16="http://schemas.microsoft.com/office/drawing/2014/main" id="{81C318EC-F465-2FDC-EEBF-F4A9C51318FA}"/>
              </a:ext>
            </a:extLst>
          </p:cNvPr>
          <p:cNvSpPr/>
          <p:nvPr/>
        </p:nvSpPr>
        <p:spPr>
          <a:xfrm>
            <a:off x="8878824" y="2066544"/>
            <a:ext cx="914400"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lang="es-ES_tradnl" sz="1000" b="1" i="0" noProof="0" dirty="0">
                <a:solidFill>
                  <a:srgbClr val="FFFFFF"/>
                </a:solidFill>
                <a:latin typeface="Calibri" panose="020F0502020204030204" pitchFamily="34" charset="0"/>
                <a:cs typeface="Calibri" panose="020F0502020204030204" pitchFamily="34" charset="0"/>
              </a:rPr>
              <a:t>ILUSTRATIVO</a:t>
            </a:r>
          </a:p>
        </p:txBody>
      </p:sp>
      <p:sp>
        <p:nvSpPr>
          <p:cNvPr id="73" name="Rectangle 72">
            <a:extLst>
              <a:ext uri="{FF2B5EF4-FFF2-40B4-BE49-F238E27FC236}">
                <a16:creationId xmlns:a16="http://schemas.microsoft.com/office/drawing/2014/main" id="{2215F5F1-BB50-8F53-75F9-B74FC4B52963}"/>
              </a:ext>
            </a:extLst>
          </p:cNvPr>
          <p:cNvSpPr/>
          <p:nvPr/>
        </p:nvSpPr>
        <p:spPr>
          <a:xfrm>
            <a:off x="6656831" y="2468880"/>
            <a:ext cx="996695"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Bajo riesgo</a:t>
            </a:r>
          </a:p>
        </p:txBody>
      </p:sp>
      <p:sp>
        <p:nvSpPr>
          <p:cNvPr id="74" name="Rectangle 73">
            <a:extLst>
              <a:ext uri="{FF2B5EF4-FFF2-40B4-BE49-F238E27FC236}">
                <a16:creationId xmlns:a16="http://schemas.microsoft.com/office/drawing/2014/main" id="{E6059C78-1C80-1E37-2224-80A598BED778}"/>
              </a:ext>
            </a:extLst>
          </p:cNvPr>
          <p:cNvSpPr/>
          <p:nvPr/>
        </p:nvSpPr>
        <p:spPr>
          <a:xfrm>
            <a:off x="7680959" y="2468880"/>
            <a:ext cx="996695"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Medio riesgo</a:t>
            </a:r>
          </a:p>
        </p:txBody>
      </p:sp>
      <p:sp>
        <p:nvSpPr>
          <p:cNvPr id="75" name="Rectangle 74">
            <a:extLst>
              <a:ext uri="{FF2B5EF4-FFF2-40B4-BE49-F238E27FC236}">
                <a16:creationId xmlns:a16="http://schemas.microsoft.com/office/drawing/2014/main" id="{2F14610B-EAA2-BFDF-0FB4-57D6677D21CD}"/>
              </a:ext>
            </a:extLst>
          </p:cNvPr>
          <p:cNvSpPr/>
          <p:nvPr/>
        </p:nvSpPr>
        <p:spPr>
          <a:xfrm>
            <a:off x="8705088" y="2468880"/>
            <a:ext cx="996695"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Alto riesgo</a:t>
            </a:r>
          </a:p>
        </p:txBody>
      </p:sp>
      <p:sp>
        <p:nvSpPr>
          <p:cNvPr id="76" name="TextBox 75">
            <a:extLst>
              <a:ext uri="{FF2B5EF4-FFF2-40B4-BE49-F238E27FC236}">
                <a16:creationId xmlns:a16="http://schemas.microsoft.com/office/drawing/2014/main" id="{D104ED41-775C-F31D-094F-86E90EAE7687}"/>
              </a:ext>
            </a:extLst>
          </p:cNvPr>
          <p:cNvSpPr txBox="1"/>
          <p:nvPr/>
        </p:nvSpPr>
        <p:spPr>
          <a:xfrm>
            <a:off x="5696712" y="3025121"/>
            <a:ext cx="886968" cy="161583"/>
          </a:xfrm>
          <a:prstGeom prst="rect">
            <a:avLst/>
          </a:prstGeom>
          <a:noFill/>
        </p:spPr>
        <p:txBody>
          <a:bodyPr wrap="square" lIns="0" tIns="0" rIns="0" bIns="0" anchor="ctr">
            <a:spAutoFit/>
          </a:bodyPr>
          <a:lstStyle/>
          <a:p>
            <a:pPr algn="r">
              <a:lnSpc>
                <a:spcPct val="100000"/>
              </a:lnSpc>
            </a:pPr>
            <a:r>
              <a:rPr lang="es-ES_tradnl" sz="1050" b="1" i="0" noProof="0" dirty="0">
                <a:solidFill>
                  <a:srgbClr val="3E5553"/>
                </a:solidFill>
                <a:latin typeface="Calibri" panose="020F0502020204030204" pitchFamily="34" charset="0"/>
                <a:cs typeface="Calibri" panose="020F0502020204030204" pitchFamily="34" charset="0"/>
              </a:rPr>
              <a:t>Segmento A</a:t>
            </a:r>
          </a:p>
        </p:txBody>
      </p:sp>
      <p:sp>
        <p:nvSpPr>
          <p:cNvPr id="77" name="Rectangle 76">
            <a:extLst>
              <a:ext uri="{FF2B5EF4-FFF2-40B4-BE49-F238E27FC236}">
                <a16:creationId xmlns:a16="http://schemas.microsoft.com/office/drawing/2014/main" id="{8F467523-5793-CA70-3D50-F3F2B2FECCAC}"/>
              </a:ext>
            </a:extLst>
          </p:cNvPr>
          <p:cNvSpPr/>
          <p:nvPr/>
        </p:nvSpPr>
        <p:spPr>
          <a:xfrm>
            <a:off x="6656831" y="2816352"/>
            <a:ext cx="996695" cy="5699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12%</a:t>
            </a:r>
          </a:p>
        </p:txBody>
      </p:sp>
      <p:sp>
        <p:nvSpPr>
          <p:cNvPr id="78" name="Rectangle 77">
            <a:extLst>
              <a:ext uri="{FF2B5EF4-FFF2-40B4-BE49-F238E27FC236}">
                <a16:creationId xmlns:a16="http://schemas.microsoft.com/office/drawing/2014/main" id="{01E93052-3280-F348-B5EC-0876E3C0D130}"/>
              </a:ext>
            </a:extLst>
          </p:cNvPr>
          <p:cNvSpPr/>
          <p:nvPr/>
        </p:nvSpPr>
        <p:spPr>
          <a:xfrm>
            <a:off x="7680959" y="2816352"/>
            <a:ext cx="996695" cy="56997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14%</a:t>
            </a:r>
          </a:p>
        </p:txBody>
      </p:sp>
      <p:sp>
        <p:nvSpPr>
          <p:cNvPr id="79" name="Rectangle 78">
            <a:extLst>
              <a:ext uri="{FF2B5EF4-FFF2-40B4-BE49-F238E27FC236}">
                <a16:creationId xmlns:a16="http://schemas.microsoft.com/office/drawing/2014/main" id="{4721413E-0CDD-06C7-BE64-B7C5CFAAFB2E}"/>
              </a:ext>
            </a:extLst>
          </p:cNvPr>
          <p:cNvSpPr/>
          <p:nvPr/>
        </p:nvSpPr>
        <p:spPr>
          <a:xfrm>
            <a:off x="8705088" y="2816352"/>
            <a:ext cx="996695" cy="569976"/>
          </a:xfrm>
          <a:prstGeom prst="rect">
            <a:avLst/>
          </a:prstGeom>
          <a:solidFill>
            <a:srgbClr val="9ED8D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17%</a:t>
            </a:r>
          </a:p>
        </p:txBody>
      </p:sp>
      <p:sp>
        <p:nvSpPr>
          <p:cNvPr id="80" name="TextBox 79">
            <a:extLst>
              <a:ext uri="{FF2B5EF4-FFF2-40B4-BE49-F238E27FC236}">
                <a16:creationId xmlns:a16="http://schemas.microsoft.com/office/drawing/2014/main" id="{BAF0F4B9-CD78-889A-51A2-254D0CF54902}"/>
              </a:ext>
            </a:extLst>
          </p:cNvPr>
          <p:cNvSpPr txBox="1"/>
          <p:nvPr/>
        </p:nvSpPr>
        <p:spPr>
          <a:xfrm>
            <a:off x="5696712" y="3640817"/>
            <a:ext cx="886968" cy="161583"/>
          </a:xfrm>
          <a:prstGeom prst="rect">
            <a:avLst/>
          </a:prstGeom>
          <a:noFill/>
        </p:spPr>
        <p:txBody>
          <a:bodyPr wrap="square" lIns="0" tIns="0" rIns="0" bIns="0" anchor="ctr">
            <a:spAutoFit/>
          </a:bodyPr>
          <a:lstStyle/>
          <a:p>
            <a:pPr algn="r">
              <a:lnSpc>
                <a:spcPct val="100000"/>
              </a:lnSpc>
            </a:pPr>
            <a:r>
              <a:rPr lang="es-ES_tradnl" sz="1050" b="1" i="0" noProof="0" dirty="0">
                <a:solidFill>
                  <a:srgbClr val="3E5553"/>
                </a:solidFill>
                <a:latin typeface="Calibri" panose="020F0502020204030204" pitchFamily="34" charset="0"/>
                <a:cs typeface="Calibri" panose="020F0502020204030204" pitchFamily="34" charset="0"/>
              </a:rPr>
              <a:t>Segmento B</a:t>
            </a:r>
          </a:p>
        </p:txBody>
      </p:sp>
      <p:sp>
        <p:nvSpPr>
          <p:cNvPr id="81" name="Rectangle 80">
            <a:extLst>
              <a:ext uri="{FF2B5EF4-FFF2-40B4-BE49-F238E27FC236}">
                <a16:creationId xmlns:a16="http://schemas.microsoft.com/office/drawing/2014/main" id="{89D0C4D4-0BA6-A22B-BCC9-DB4874EF49B8}"/>
              </a:ext>
            </a:extLst>
          </p:cNvPr>
          <p:cNvSpPr/>
          <p:nvPr/>
        </p:nvSpPr>
        <p:spPr>
          <a:xfrm>
            <a:off x="6656831" y="3432048"/>
            <a:ext cx="996695" cy="56997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14%</a:t>
            </a:r>
          </a:p>
        </p:txBody>
      </p:sp>
      <p:sp>
        <p:nvSpPr>
          <p:cNvPr id="82" name="Rectangle 81">
            <a:extLst>
              <a:ext uri="{FF2B5EF4-FFF2-40B4-BE49-F238E27FC236}">
                <a16:creationId xmlns:a16="http://schemas.microsoft.com/office/drawing/2014/main" id="{B0154C5C-0F5E-F5EE-AE92-AE00EFD1400E}"/>
              </a:ext>
            </a:extLst>
          </p:cNvPr>
          <p:cNvSpPr/>
          <p:nvPr/>
        </p:nvSpPr>
        <p:spPr>
          <a:xfrm>
            <a:off x="7680959" y="3432048"/>
            <a:ext cx="996695" cy="569976"/>
          </a:xfrm>
          <a:prstGeom prst="rect">
            <a:avLst/>
          </a:prstGeom>
          <a:solidFill>
            <a:srgbClr val="9ED8D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16%</a:t>
            </a:r>
          </a:p>
        </p:txBody>
      </p:sp>
      <p:sp>
        <p:nvSpPr>
          <p:cNvPr id="83" name="Rectangle 82">
            <a:extLst>
              <a:ext uri="{FF2B5EF4-FFF2-40B4-BE49-F238E27FC236}">
                <a16:creationId xmlns:a16="http://schemas.microsoft.com/office/drawing/2014/main" id="{07AC969D-BA4C-ED00-17AB-F57EB280C634}"/>
              </a:ext>
            </a:extLst>
          </p:cNvPr>
          <p:cNvSpPr/>
          <p:nvPr/>
        </p:nvSpPr>
        <p:spPr>
          <a:xfrm>
            <a:off x="8705088" y="3432048"/>
            <a:ext cx="996695" cy="569976"/>
          </a:xfrm>
          <a:prstGeom prst="rect">
            <a:avLst/>
          </a:prstGeom>
          <a:solidFill>
            <a:srgbClr val="6CC3B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19%</a:t>
            </a:r>
          </a:p>
        </p:txBody>
      </p:sp>
      <p:sp>
        <p:nvSpPr>
          <p:cNvPr id="84" name="TextBox 83">
            <a:extLst>
              <a:ext uri="{FF2B5EF4-FFF2-40B4-BE49-F238E27FC236}">
                <a16:creationId xmlns:a16="http://schemas.microsoft.com/office/drawing/2014/main" id="{E7D490DB-54E3-A047-FB23-E569506BFF80}"/>
              </a:ext>
            </a:extLst>
          </p:cNvPr>
          <p:cNvSpPr txBox="1"/>
          <p:nvPr/>
        </p:nvSpPr>
        <p:spPr>
          <a:xfrm>
            <a:off x="5696712" y="4256513"/>
            <a:ext cx="886968" cy="161583"/>
          </a:xfrm>
          <a:prstGeom prst="rect">
            <a:avLst/>
          </a:prstGeom>
          <a:noFill/>
        </p:spPr>
        <p:txBody>
          <a:bodyPr wrap="square" lIns="0" tIns="0" rIns="0" bIns="0" anchor="ctr">
            <a:spAutoFit/>
          </a:bodyPr>
          <a:lstStyle/>
          <a:p>
            <a:pPr algn="r">
              <a:lnSpc>
                <a:spcPct val="100000"/>
              </a:lnSpc>
            </a:pPr>
            <a:r>
              <a:rPr lang="es-ES_tradnl" sz="1050" b="1" i="0" noProof="0" dirty="0">
                <a:solidFill>
                  <a:srgbClr val="3E5553"/>
                </a:solidFill>
                <a:latin typeface="Calibri" panose="020F0502020204030204" pitchFamily="34" charset="0"/>
                <a:cs typeface="Calibri" panose="020F0502020204030204" pitchFamily="34" charset="0"/>
              </a:rPr>
              <a:t>Segmento C</a:t>
            </a:r>
          </a:p>
        </p:txBody>
      </p:sp>
      <p:sp>
        <p:nvSpPr>
          <p:cNvPr id="85" name="Rectangle 84">
            <a:extLst>
              <a:ext uri="{FF2B5EF4-FFF2-40B4-BE49-F238E27FC236}">
                <a16:creationId xmlns:a16="http://schemas.microsoft.com/office/drawing/2014/main" id="{9CE11677-DB90-525F-86AE-E6A7EC5C285B}"/>
              </a:ext>
            </a:extLst>
          </p:cNvPr>
          <p:cNvSpPr/>
          <p:nvPr/>
        </p:nvSpPr>
        <p:spPr>
          <a:xfrm>
            <a:off x="6656831" y="4047744"/>
            <a:ext cx="996695" cy="569976"/>
          </a:xfrm>
          <a:prstGeom prst="rect">
            <a:avLst/>
          </a:prstGeom>
          <a:solidFill>
            <a:srgbClr val="9ED8D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16%</a:t>
            </a:r>
          </a:p>
        </p:txBody>
      </p:sp>
      <p:sp>
        <p:nvSpPr>
          <p:cNvPr id="86" name="Rectangle 85">
            <a:extLst>
              <a:ext uri="{FF2B5EF4-FFF2-40B4-BE49-F238E27FC236}">
                <a16:creationId xmlns:a16="http://schemas.microsoft.com/office/drawing/2014/main" id="{511F1A7C-8611-8052-68A2-0AD1EAEA497A}"/>
              </a:ext>
            </a:extLst>
          </p:cNvPr>
          <p:cNvSpPr/>
          <p:nvPr/>
        </p:nvSpPr>
        <p:spPr>
          <a:xfrm>
            <a:off x="7680959" y="4047744"/>
            <a:ext cx="996695" cy="569976"/>
          </a:xfrm>
          <a:prstGeom prst="rect">
            <a:avLst/>
          </a:prstGeom>
          <a:solidFill>
            <a:srgbClr val="6CC3B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18%</a:t>
            </a:r>
          </a:p>
        </p:txBody>
      </p:sp>
      <p:sp>
        <p:nvSpPr>
          <p:cNvPr id="87" name="Rectangle 86">
            <a:extLst>
              <a:ext uri="{FF2B5EF4-FFF2-40B4-BE49-F238E27FC236}">
                <a16:creationId xmlns:a16="http://schemas.microsoft.com/office/drawing/2014/main" id="{88EE37DF-F50C-A1F5-3DF9-8B9F33C7FE95}"/>
              </a:ext>
            </a:extLst>
          </p:cNvPr>
          <p:cNvSpPr/>
          <p:nvPr/>
        </p:nvSpPr>
        <p:spPr>
          <a:xfrm>
            <a:off x="8705088" y="4047744"/>
            <a:ext cx="996695" cy="569976"/>
          </a:xfrm>
          <a:prstGeom prst="rect">
            <a:avLst/>
          </a:prstGeom>
          <a:solidFill>
            <a:srgbClr val="3EABA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800" b="1" i="0" noProof="0" dirty="0">
                <a:solidFill>
                  <a:srgbClr val="083A38"/>
                </a:solidFill>
                <a:latin typeface="Calibri" panose="020F0502020204030204" pitchFamily="34" charset="0"/>
                <a:cs typeface="Calibri" panose="020F0502020204030204" pitchFamily="34" charset="0"/>
              </a:rPr>
              <a:t>22%</a:t>
            </a:r>
          </a:p>
        </p:txBody>
      </p:sp>
      <p:sp>
        <p:nvSpPr>
          <p:cNvPr id="88" name="TextBox 87">
            <a:extLst>
              <a:ext uri="{FF2B5EF4-FFF2-40B4-BE49-F238E27FC236}">
                <a16:creationId xmlns:a16="http://schemas.microsoft.com/office/drawing/2014/main" id="{3B40F0A1-560F-FFF7-3FEC-9C507F379B1B}"/>
              </a:ext>
            </a:extLst>
          </p:cNvPr>
          <p:cNvSpPr txBox="1"/>
          <p:nvPr/>
        </p:nvSpPr>
        <p:spPr>
          <a:xfrm>
            <a:off x="5696712" y="4791456"/>
            <a:ext cx="4032503" cy="169277"/>
          </a:xfrm>
          <a:prstGeom prst="rect">
            <a:avLst/>
          </a:prstGeom>
          <a:noFill/>
        </p:spPr>
        <p:txBody>
          <a:bodyPr wrap="square" lIns="0" tIns="0" rIns="0" bIns="0" anchor="t">
            <a:spAutoFit/>
          </a:bodyPr>
          <a:lstStyle/>
          <a:p>
            <a:pPr algn="l">
              <a:lnSpc>
                <a:spcPct val="100000"/>
              </a:lnSpc>
            </a:pPr>
            <a:r>
              <a:rPr lang="es-ES_tradnl" sz="1100" b="1" i="1" noProof="0" dirty="0">
                <a:solidFill>
                  <a:srgbClr val="6E7E7D"/>
                </a:solidFill>
                <a:latin typeface="Calibri" panose="020F0502020204030204" pitchFamily="34" charset="0"/>
                <a:cs typeface="Calibri" panose="020F0502020204030204" pitchFamily="34" charset="0"/>
              </a:rPr>
              <a:t>Rentabilidad objetivo de la banca: 15%</a:t>
            </a:r>
          </a:p>
        </p:txBody>
      </p:sp>
      <p:cxnSp>
        <p:nvCxnSpPr>
          <p:cNvPr id="89" name="Connector 49">
            <a:extLst>
              <a:ext uri="{FF2B5EF4-FFF2-40B4-BE49-F238E27FC236}">
                <a16:creationId xmlns:a16="http://schemas.microsoft.com/office/drawing/2014/main" id="{28842F3C-039A-3981-507F-E29E951A5309}"/>
              </a:ext>
            </a:extLst>
          </p:cNvPr>
          <p:cNvCxnSpPr/>
          <p:nvPr/>
        </p:nvCxnSpPr>
        <p:spPr>
          <a:xfrm>
            <a:off x="10076688" y="3401568"/>
            <a:ext cx="384048"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 name="Rectangle 89">
            <a:extLst>
              <a:ext uri="{FF2B5EF4-FFF2-40B4-BE49-F238E27FC236}">
                <a16:creationId xmlns:a16="http://schemas.microsoft.com/office/drawing/2014/main" id="{58CDBC71-E8B2-734E-2EAA-1E0B184A1397}"/>
              </a:ext>
            </a:extLst>
          </p:cNvPr>
          <p:cNvSpPr/>
          <p:nvPr/>
        </p:nvSpPr>
        <p:spPr>
          <a:xfrm>
            <a:off x="10607040" y="1645920"/>
            <a:ext cx="4990612" cy="395020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91" name="Rectangle 90">
            <a:extLst>
              <a:ext uri="{FF2B5EF4-FFF2-40B4-BE49-F238E27FC236}">
                <a16:creationId xmlns:a16="http://schemas.microsoft.com/office/drawing/2014/main" id="{11EEE468-B088-481D-BA20-3D5B9ED41C8B}"/>
              </a:ext>
            </a:extLst>
          </p:cNvPr>
          <p:cNvSpPr/>
          <p:nvPr/>
        </p:nvSpPr>
        <p:spPr>
          <a:xfrm>
            <a:off x="10607040" y="1645920"/>
            <a:ext cx="4990612" cy="329184"/>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100" b="1" i="0" noProof="0" dirty="0">
                <a:solidFill>
                  <a:srgbClr val="FFFFFF"/>
                </a:solidFill>
                <a:latin typeface="Calibri" panose="020F0502020204030204" pitchFamily="34" charset="0"/>
                <a:cs typeface="Calibri" panose="020F0502020204030204" pitchFamily="34" charset="0"/>
              </a:rPr>
              <a:t>MATRIZ DE TASAS DIFERENCIADAS</a:t>
            </a:r>
          </a:p>
        </p:txBody>
      </p:sp>
      <p:sp>
        <p:nvSpPr>
          <p:cNvPr id="92" name="Rectangle 91">
            <a:extLst>
              <a:ext uri="{FF2B5EF4-FFF2-40B4-BE49-F238E27FC236}">
                <a16:creationId xmlns:a16="http://schemas.microsoft.com/office/drawing/2014/main" id="{6286D821-9A85-CB61-E7DD-7F306AAE3C41}"/>
              </a:ext>
            </a:extLst>
          </p:cNvPr>
          <p:cNvSpPr/>
          <p:nvPr/>
        </p:nvSpPr>
        <p:spPr>
          <a:xfrm>
            <a:off x="14546092" y="2066544"/>
            <a:ext cx="914400"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lang="es-ES_tradnl" sz="1000" b="1" i="0" noProof="0" dirty="0">
                <a:solidFill>
                  <a:srgbClr val="FFFFFF"/>
                </a:solidFill>
                <a:latin typeface="Calibri" panose="020F0502020204030204" pitchFamily="34" charset="0"/>
                <a:cs typeface="Calibri" panose="020F0502020204030204" pitchFamily="34" charset="0"/>
              </a:rPr>
              <a:t>ILUSTRATIVO</a:t>
            </a:r>
          </a:p>
        </p:txBody>
      </p:sp>
      <p:sp>
        <p:nvSpPr>
          <p:cNvPr id="93" name="Rectangle 92">
            <a:extLst>
              <a:ext uri="{FF2B5EF4-FFF2-40B4-BE49-F238E27FC236}">
                <a16:creationId xmlns:a16="http://schemas.microsoft.com/office/drawing/2014/main" id="{A03A11EF-A89E-F694-366B-393AD9CAEE64}"/>
              </a:ext>
            </a:extLst>
          </p:cNvPr>
          <p:cNvSpPr/>
          <p:nvPr/>
        </p:nvSpPr>
        <p:spPr>
          <a:xfrm>
            <a:off x="11704320" y="2468880"/>
            <a:ext cx="1203289" cy="2743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Bajo riesgo</a:t>
            </a:r>
          </a:p>
        </p:txBody>
      </p:sp>
      <p:sp>
        <p:nvSpPr>
          <p:cNvPr id="94" name="Rectangle 93">
            <a:extLst>
              <a:ext uri="{FF2B5EF4-FFF2-40B4-BE49-F238E27FC236}">
                <a16:creationId xmlns:a16="http://schemas.microsoft.com/office/drawing/2014/main" id="{F6B28A1A-63C9-6F63-8944-2E3ECB376C3E}"/>
              </a:ext>
            </a:extLst>
          </p:cNvPr>
          <p:cNvSpPr/>
          <p:nvPr/>
        </p:nvSpPr>
        <p:spPr>
          <a:xfrm>
            <a:off x="12935041" y="2468880"/>
            <a:ext cx="1203289" cy="2743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Medio riesgo</a:t>
            </a:r>
          </a:p>
        </p:txBody>
      </p:sp>
      <p:sp>
        <p:nvSpPr>
          <p:cNvPr id="95" name="Rectangle 94">
            <a:extLst>
              <a:ext uri="{FF2B5EF4-FFF2-40B4-BE49-F238E27FC236}">
                <a16:creationId xmlns:a16="http://schemas.microsoft.com/office/drawing/2014/main" id="{98B58A66-A80C-76B0-6378-2B466B2FCBB4}"/>
              </a:ext>
            </a:extLst>
          </p:cNvPr>
          <p:cNvSpPr/>
          <p:nvPr/>
        </p:nvSpPr>
        <p:spPr>
          <a:xfrm>
            <a:off x="14165762" y="2468880"/>
            <a:ext cx="1203289" cy="2743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050" b="1" i="0" noProof="0" dirty="0">
                <a:solidFill>
                  <a:srgbClr val="FFFFFF"/>
                </a:solidFill>
                <a:latin typeface="Calibri" panose="020F0502020204030204" pitchFamily="34" charset="0"/>
                <a:cs typeface="Calibri" panose="020F0502020204030204" pitchFamily="34" charset="0"/>
              </a:rPr>
              <a:t>Alto riesgo</a:t>
            </a:r>
          </a:p>
        </p:txBody>
      </p:sp>
      <p:sp>
        <p:nvSpPr>
          <p:cNvPr id="96" name="TextBox 95">
            <a:extLst>
              <a:ext uri="{FF2B5EF4-FFF2-40B4-BE49-F238E27FC236}">
                <a16:creationId xmlns:a16="http://schemas.microsoft.com/office/drawing/2014/main" id="{934BB260-CC90-B21E-4001-BCE4CBAE7B1F}"/>
              </a:ext>
            </a:extLst>
          </p:cNvPr>
          <p:cNvSpPr txBox="1"/>
          <p:nvPr/>
        </p:nvSpPr>
        <p:spPr>
          <a:xfrm>
            <a:off x="10808208" y="3055601"/>
            <a:ext cx="822960" cy="161583"/>
          </a:xfrm>
          <a:prstGeom prst="rect">
            <a:avLst/>
          </a:prstGeom>
          <a:noFill/>
        </p:spPr>
        <p:txBody>
          <a:bodyPr wrap="square" lIns="0" tIns="0" rIns="0" bIns="0" anchor="ctr">
            <a:spAutoFit/>
          </a:bodyPr>
          <a:lstStyle/>
          <a:p>
            <a:pPr algn="r">
              <a:lnSpc>
                <a:spcPct val="100000"/>
              </a:lnSpc>
            </a:pPr>
            <a:r>
              <a:rPr lang="es-ES_tradnl" sz="1050" b="1" i="0" noProof="0" dirty="0">
                <a:solidFill>
                  <a:srgbClr val="3E5553"/>
                </a:solidFill>
                <a:latin typeface="Calibri" panose="020F0502020204030204" pitchFamily="34" charset="0"/>
                <a:cs typeface="Calibri" panose="020F0502020204030204" pitchFamily="34" charset="0"/>
              </a:rPr>
              <a:t>Segmento A</a:t>
            </a:r>
          </a:p>
        </p:txBody>
      </p:sp>
      <p:sp>
        <p:nvSpPr>
          <p:cNvPr id="97" name="Rectangle 96">
            <a:extLst>
              <a:ext uri="{FF2B5EF4-FFF2-40B4-BE49-F238E27FC236}">
                <a16:creationId xmlns:a16="http://schemas.microsoft.com/office/drawing/2014/main" id="{1D2B8A45-CD3B-2979-1A36-9358B2B889C3}"/>
              </a:ext>
            </a:extLst>
          </p:cNvPr>
          <p:cNvSpPr/>
          <p:nvPr/>
        </p:nvSpPr>
        <p:spPr>
          <a:xfrm>
            <a:off x="11704320" y="2816352"/>
            <a:ext cx="1203289" cy="63093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1%</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11%</a:t>
            </a:r>
          </a:p>
        </p:txBody>
      </p:sp>
      <p:sp>
        <p:nvSpPr>
          <p:cNvPr id="98" name="Rectangle 97">
            <a:extLst>
              <a:ext uri="{FF2B5EF4-FFF2-40B4-BE49-F238E27FC236}">
                <a16:creationId xmlns:a16="http://schemas.microsoft.com/office/drawing/2014/main" id="{B30F2EAB-B405-F2E3-B041-2847C659273F}"/>
              </a:ext>
            </a:extLst>
          </p:cNvPr>
          <p:cNvSpPr/>
          <p:nvPr/>
        </p:nvSpPr>
        <p:spPr>
          <a:xfrm>
            <a:off x="12935041" y="2816352"/>
            <a:ext cx="1203289" cy="6309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3%</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14%</a:t>
            </a:r>
          </a:p>
        </p:txBody>
      </p:sp>
      <p:sp>
        <p:nvSpPr>
          <p:cNvPr id="99" name="Rectangle 98">
            <a:extLst>
              <a:ext uri="{FF2B5EF4-FFF2-40B4-BE49-F238E27FC236}">
                <a16:creationId xmlns:a16="http://schemas.microsoft.com/office/drawing/2014/main" id="{89B52BBD-193D-1439-C1F1-3D47B1D89F1E}"/>
              </a:ext>
            </a:extLst>
          </p:cNvPr>
          <p:cNvSpPr/>
          <p:nvPr/>
        </p:nvSpPr>
        <p:spPr>
          <a:xfrm>
            <a:off x="14165762" y="2816352"/>
            <a:ext cx="1203289" cy="6309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6%</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20%</a:t>
            </a:r>
          </a:p>
        </p:txBody>
      </p:sp>
      <p:sp>
        <p:nvSpPr>
          <p:cNvPr id="100" name="TextBox 99">
            <a:extLst>
              <a:ext uri="{FF2B5EF4-FFF2-40B4-BE49-F238E27FC236}">
                <a16:creationId xmlns:a16="http://schemas.microsoft.com/office/drawing/2014/main" id="{79B87CEC-1EA9-4BBF-6B51-09FA8116A287}"/>
              </a:ext>
            </a:extLst>
          </p:cNvPr>
          <p:cNvSpPr txBox="1"/>
          <p:nvPr/>
        </p:nvSpPr>
        <p:spPr>
          <a:xfrm>
            <a:off x="10808208" y="3732257"/>
            <a:ext cx="822960" cy="161583"/>
          </a:xfrm>
          <a:prstGeom prst="rect">
            <a:avLst/>
          </a:prstGeom>
          <a:noFill/>
        </p:spPr>
        <p:txBody>
          <a:bodyPr wrap="square" lIns="0" tIns="0" rIns="0" bIns="0" anchor="ctr">
            <a:spAutoFit/>
          </a:bodyPr>
          <a:lstStyle/>
          <a:p>
            <a:pPr algn="r">
              <a:lnSpc>
                <a:spcPct val="100000"/>
              </a:lnSpc>
            </a:pPr>
            <a:r>
              <a:rPr lang="es-ES_tradnl" sz="1050" b="1" i="0" noProof="0" dirty="0">
                <a:solidFill>
                  <a:srgbClr val="3E5553"/>
                </a:solidFill>
                <a:latin typeface="Calibri" panose="020F0502020204030204" pitchFamily="34" charset="0"/>
                <a:cs typeface="Calibri" panose="020F0502020204030204" pitchFamily="34" charset="0"/>
              </a:rPr>
              <a:t>Segmento B</a:t>
            </a:r>
          </a:p>
        </p:txBody>
      </p:sp>
      <p:sp>
        <p:nvSpPr>
          <p:cNvPr id="101" name="Rectangle 100">
            <a:extLst>
              <a:ext uri="{FF2B5EF4-FFF2-40B4-BE49-F238E27FC236}">
                <a16:creationId xmlns:a16="http://schemas.microsoft.com/office/drawing/2014/main" id="{A39388A1-3CF3-9247-A403-66175E615ADA}"/>
              </a:ext>
            </a:extLst>
          </p:cNvPr>
          <p:cNvSpPr/>
          <p:nvPr/>
        </p:nvSpPr>
        <p:spPr>
          <a:xfrm>
            <a:off x="11704320" y="3493008"/>
            <a:ext cx="1203289" cy="6309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2%</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13.5%</a:t>
            </a:r>
          </a:p>
        </p:txBody>
      </p:sp>
      <p:sp>
        <p:nvSpPr>
          <p:cNvPr id="102" name="Rectangle 101">
            <a:extLst>
              <a:ext uri="{FF2B5EF4-FFF2-40B4-BE49-F238E27FC236}">
                <a16:creationId xmlns:a16="http://schemas.microsoft.com/office/drawing/2014/main" id="{FCDE924B-F213-F424-0590-4124CDA389C1}"/>
              </a:ext>
            </a:extLst>
          </p:cNvPr>
          <p:cNvSpPr/>
          <p:nvPr/>
        </p:nvSpPr>
        <p:spPr>
          <a:xfrm>
            <a:off x="12935041" y="3493008"/>
            <a:ext cx="1203289" cy="6309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4%</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17%</a:t>
            </a:r>
          </a:p>
        </p:txBody>
      </p:sp>
      <p:sp>
        <p:nvSpPr>
          <p:cNvPr id="103" name="Rectangle 102">
            <a:extLst>
              <a:ext uri="{FF2B5EF4-FFF2-40B4-BE49-F238E27FC236}">
                <a16:creationId xmlns:a16="http://schemas.microsoft.com/office/drawing/2014/main" id="{20F74106-199F-3CFC-AA19-2852B9E2EBCE}"/>
              </a:ext>
            </a:extLst>
          </p:cNvPr>
          <p:cNvSpPr/>
          <p:nvPr/>
        </p:nvSpPr>
        <p:spPr>
          <a:xfrm>
            <a:off x="14165762" y="3493008"/>
            <a:ext cx="1203289" cy="6309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8%</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24%</a:t>
            </a:r>
          </a:p>
        </p:txBody>
      </p:sp>
      <p:sp>
        <p:nvSpPr>
          <p:cNvPr id="104" name="TextBox 103">
            <a:extLst>
              <a:ext uri="{FF2B5EF4-FFF2-40B4-BE49-F238E27FC236}">
                <a16:creationId xmlns:a16="http://schemas.microsoft.com/office/drawing/2014/main" id="{2370F117-7150-6242-FC36-C513751016A7}"/>
              </a:ext>
            </a:extLst>
          </p:cNvPr>
          <p:cNvSpPr txBox="1"/>
          <p:nvPr/>
        </p:nvSpPr>
        <p:spPr>
          <a:xfrm>
            <a:off x="10808208" y="4408913"/>
            <a:ext cx="822960" cy="161583"/>
          </a:xfrm>
          <a:prstGeom prst="rect">
            <a:avLst/>
          </a:prstGeom>
          <a:noFill/>
        </p:spPr>
        <p:txBody>
          <a:bodyPr wrap="square" lIns="0" tIns="0" rIns="0" bIns="0" anchor="ctr">
            <a:spAutoFit/>
          </a:bodyPr>
          <a:lstStyle/>
          <a:p>
            <a:pPr algn="r">
              <a:lnSpc>
                <a:spcPct val="100000"/>
              </a:lnSpc>
            </a:pPr>
            <a:r>
              <a:rPr lang="es-ES_tradnl" sz="1050" b="1" i="0" noProof="0" dirty="0">
                <a:solidFill>
                  <a:srgbClr val="3E5553"/>
                </a:solidFill>
                <a:latin typeface="Calibri" panose="020F0502020204030204" pitchFamily="34" charset="0"/>
                <a:cs typeface="Calibri" panose="020F0502020204030204" pitchFamily="34" charset="0"/>
              </a:rPr>
              <a:t>Segmento C</a:t>
            </a:r>
          </a:p>
        </p:txBody>
      </p:sp>
      <p:sp>
        <p:nvSpPr>
          <p:cNvPr id="105" name="Rectangle 104">
            <a:extLst>
              <a:ext uri="{FF2B5EF4-FFF2-40B4-BE49-F238E27FC236}">
                <a16:creationId xmlns:a16="http://schemas.microsoft.com/office/drawing/2014/main" id="{839CFC1A-F084-123D-821B-91502D07E8AB}"/>
              </a:ext>
            </a:extLst>
          </p:cNvPr>
          <p:cNvSpPr/>
          <p:nvPr/>
        </p:nvSpPr>
        <p:spPr>
          <a:xfrm>
            <a:off x="11704320" y="4169664"/>
            <a:ext cx="1203289" cy="6309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3%</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16%</a:t>
            </a:r>
          </a:p>
        </p:txBody>
      </p:sp>
      <p:sp>
        <p:nvSpPr>
          <p:cNvPr id="106" name="Rectangle 105">
            <a:extLst>
              <a:ext uri="{FF2B5EF4-FFF2-40B4-BE49-F238E27FC236}">
                <a16:creationId xmlns:a16="http://schemas.microsoft.com/office/drawing/2014/main" id="{D84FC606-54C7-003A-B306-F04C8ED68C8C}"/>
              </a:ext>
            </a:extLst>
          </p:cNvPr>
          <p:cNvSpPr/>
          <p:nvPr/>
        </p:nvSpPr>
        <p:spPr>
          <a:xfrm>
            <a:off x="12935041" y="4169664"/>
            <a:ext cx="1203289" cy="6309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4%</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22%</a:t>
            </a:r>
          </a:p>
        </p:txBody>
      </p:sp>
      <p:sp>
        <p:nvSpPr>
          <p:cNvPr id="107" name="Rectangle 106">
            <a:extLst>
              <a:ext uri="{FF2B5EF4-FFF2-40B4-BE49-F238E27FC236}">
                <a16:creationId xmlns:a16="http://schemas.microsoft.com/office/drawing/2014/main" id="{67B4EA71-0DFD-70BB-6675-3DF8BE16A6D8}"/>
              </a:ext>
            </a:extLst>
          </p:cNvPr>
          <p:cNvSpPr/>
          <p:nvPr/>
        </p:nvSpPr>
        <p:spPr>
          <a:xfrm>
            <a:off x="14165762" y="4169664"/>
            <a:ext cx="1203289" cy="6309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Costo riesgo 12%</a:t>
            </a:r>
          </a:p>
          <a:p>
            <a:pPr algn="ctr">
              <a:lnSpc>
                <a:spcPct val="110000"/>
              </a:lnSpc>
            </a:pPr>
            <a:r>
              <a:rPr lang="es-ES_tradnl" sz="1050" b="1" i="0" noProof="0" dirty="0">
                <a:solidFill>
                  <a:srgbClr val="083A38"/>
                </a:solidFill>
                <a:latin typeface="Calibri" panose="020F0502020204030204" pitchFamily="34" charset="0"/>
                <a:cs typeface="Calibri" panose="020F0502020204030204" pitchFamily="34" charset="0"/>
              </a:rPr>
              <a:t>TEA = 34%</a:t>
            </a:r>
          </a:p>
        </p:txBody>
      </p:sp>
      <p:sp>
        <p:nvSpPr>
          <p:cNvPr id="108" name="TextBox 107">
            <a:extLst>
              <a:ext uri="{FF2B5EF4-FFF2-40B4-BE49-F238E27FC236}">
                <a16:creationId xmlns:a16="http://schemas.microsoft.com/office/drawing/2014/main" id="{13A1C698-9AAA-0AB3-A4A7-5FDC0A6BFF3D}"/>
              </a:ext>
            </a:extLst>
          </p:cNvPr>
          <p:cNvSpPr txBox="1"/>
          <p:nvPr/>
        </p:nvSpPr>
        <p:spPr>
          <a:xfrm>
            <a:off x="658368" y="5870448"/>
            <a:ext cx="14939284" cy="246221"/>
          </a:xfrm>
          <a:prstGeom prst="rect">
            <a:avLst/>
          </a:prstGeom>
          <a:noFill/>
        </p:spPr>
        <p:txBody>
          <a:bodyPr wrap="square" lIns="0" tIns="0" rIns="0" bIns="0" anchor="t">
            <a:spAutoFit/>
          </a:bodyPr>
          <a:lstStyle/>
          <a:p>
            <a:pPr algn="l">
              <a:lnSpc>
                <a:spcPct val="100000"/>
              </a:lnSpc>
            </a:pPr>
            <a:r>
              <a:rPr lang="es-ES_tradnl" sz="1600" b="1" i="0" noProof="0" dirty="0">
                <a:solidFill>
                  <a:srgbClr val="0B2E2C"/>
                </a:solidFill>
                <a:latin typeface="Calibri" panose="020F0502020204030204" pitchFamily="34" charset="0"/>
                <a:cs typeface="Calibri" panose="020F0502020204030204" pitchFamily="34" charset="0"/>
              </a:rPr>
              <a:t>Qué gana el Banco con segmentar así</a:t>
            </a:r>
          </a:p>
        </p:txBody>
      </p:sp>
      <p:cxnSp>
        <p:nvCxnSpPr>
          <p:cNvPr id="109" name="Connector 69">
            <a:extLst>
              <a:ext uri="{FF2B5EF4-FFF2-40B4-BE49-F238E27FC236}">
                <a16:creationId xmlns:a16="http://schemas.microsoft.com/office/drawing/2014/main" id="{ABA68282-D0DE-27EC-D610-D484A1821AFD}"/>
              </a:ext>
            </a:extLst>
          </p:cNvPr>
          <p:cNvCxnSpPr/>
          <p:nvPr/>
        </p:nvCxnSpPr>
        <p:spPr>
          <a:xfrm>
            <a:off x="658368" y="6163056"/>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DA922505-1ED7-4C4E-61E8-B9346C73033A}"/>
              </a:ext>
            </a:extLst>
          </p:cNvPr>
          <p:cNvSpPr/>
          <p:nvPr/>
        </p:nvSpPr>
        <p:spPr>
          <a:xfrm>
            <a:off x="658368" y="6272784"/>
            <a:ext cx="3597661" cy="157276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11" name="Rectangle 110">
            <a:extLst>
              <a:ext uri="{FF2B5EF4-FFF2-40B4-BE49-F238E27FC236}">
                <a16:creationId xmlns:a16="http://schemas.microsoft.com/office/drawing/2014/main" id="{CDD66352-CD80-A8D2-B788-76358C51DFBE}"/>
              </a:ext>
            </a:extLst>
          </p:cNvPr>
          <p:cNvSpPr/>
          <p:nvPr/>
        </p:nvSpPr>
        <p:spPr>
          <a:xfrm>
            <a:off x="658368" y="6272784"/>
            <a:ext cx="41148" cy="157276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12" name="TextBox 111">
            <a:extLst>
              <a:ext uri="{FF2B5EF4-FFF2-40B4-BE49-F238E27FC236}">
                <a16:creationId xmlns:a16="http://schemas.microsoft.com/office/drawing/2014/main" id="{061D09D3-31E3-5E2B-C9CB-1A31C8B4B207}"/>
              </a:ext>
            </a:extLst>
          </p:cNvPr>
          <p:cNvSpPr txBox="1"/>
          <p:nvPr/>
        </p:nvSpPr>
        <p:spPr>
          <a:xfrm>
            <a:off x="877824" y="6437376"/>
            <a:ext cx="3195325" cy="228332"/>
          </a:xfrm>
          <a:prstGeom prst="rect">
            <a:avLst/>
          </a:prstGeom>
          <a:noFill/>
        </p:spPr>
        <p:txBody>
          <a:bodyPr wrap="square" lIns="0" tIns="0" rIns="0" bIns="0" anchor="t">
            <a:spAutoFit/>
          </a:bodyPr>
          <a:lstStyle/>
          <a:p>
            <a:pPr algn="l">
              <a:lnSpc>
                <a:spcPct val="112000"/>
              </a:lnSpc>
            </a:pPr>
            <a:r>
              <a:rPr lang="es-ES_tradnl" b="1" i="0" noProof="0" dirty="0">
                <a:solidFill>
                  <a:srgbClr val="13807B"/>
                </a:solidFill>
                <a:latin typeface="Calibri" panose="020F0502020204030204" pitchFamily="34" charset="0"/>
                <a:cs typeface="Calibri" panose="020F0502020204030204" pitchFamily="34" charset="0"/>
              </a:rPr>
              <a:t>Rentabilidad por celda, no promedio</a:t>
            </a:r>
          </a:p>
        </p:txBody>
      </p:sp>
      <p:sp>
        <p:nvSpPr>
          <p:cNvPr id="113" name="TextBox 112">
            <a:extLst>
              <a:ext uri="{FF2B5EF4-FFF2-40B4-BE49-F238E27FC236}">
                <a16:creationId xmlns:a16="http://schemas.microsoft.com/office/drawing/2014/main" id="{40D94C18-AC7A-6974-52A3-32F85A223F97}"/>
              </a:ext>
            </a:extLst>
          </p:cNvPr>
          <p:cNvSpPr txBox="1"/>
          <p:nvPr/>
        </p:nvSpPr>
        <p:spPr>
          <a:xfrm>
            <a:off x="877824" y="6740334"/>
            <a:ext cx="3195325" cy="660245"/>
          </a:xfrm>
          <a:prstGeom prst="rect">
            <a:avLst/>
          </a:prstGeom>
          <a:noFill/>
        </p:spPr>
        <p:txBody>
          <a:bodyPr wrap="square" lIns="0" tIns="0" rIns="0" bIns="0" anchor="t">
            <a:spAutoFit/>
          </a:bodyPr>
          <a:lstStyle/>
          <a:p>
            <a:pPr algn="l">
              <a:lnSpc>
                <a:spcPct val="122000"/>
              </a:lnSpc>
            </a:pPr>
            <a:r>
              <a:rPr lang="es-ES_tradnl" sz="1200" b="0" i="0" noProof="0" dirty="0">
                <a:solidFill>
                  <a:srgbClr val="6E7E7D"/>
                </a:solidFill>
                <a:latin typeface="Calibri" panose="020F0502020204030204" pitchFamily="34" charset="0"/>
                <a:cs typeface="Calibri" panose="020F0502020204030204" pitchFamily="34" charset="0"/>
              </a:rPr>
              <a:t>El 15% de la banca deja de ser una meta agregada y se convierte en un objetivo asignado a cada combinación segmento–riesgo.</a:t>
            </a:r>
          </a:p>
        </p:txBody>
      </p:sp>
      <p:sp>
        <p:nvSpPr>
          <p:cNvPr id="114" name="Rectangle 113">
            <a:extLst>
              <a:ext uri="{FF2B5EF4-FFF2-40B4-BE49-F238E27FC236}">
                <a16:creationId xmlns:a16="http://schemas.microsoft.com/office/drawing/2014/main" id="{6211EF01-DB7D-5A4F-1FF0-E6D7BFEF602C}"/>
              </a:ext>
            </a:extLst>
          </p:cNvPr>
          <p:cNvSpPr/>
          <p:nvPr/>
        </p:nvSpPr>
        <p:spPr>
          <a:xfrm>
            <a:off x="4438909" y="6272784"/>
            <a:ext cx="3597661" cy="157276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15" name="Rectangle 114">
            <a:extLst>
              <a:ext uri="{FF2B5EF4-FFF2-40B4-BE49-F238E27FC236}">
                <a16:creationId xmlns:a16="http://schemas.microsoft.com/office/drawing/2014/main" id="{A9FBEC48-BFD5-0314-89FD-8DC788857FE8}"/>
              </a:ext>
            </a:extLst>
          </p:cNvPr>
          <p:cNvSpPr/>
          <p:nvPr/>
        </p:nvSpPr>
        <p:spPr>
          <a:xfrm>
            <a:off x="4438909" y="6272784"/>
            <a:ext cx="41148" cy="157276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16" name="TextBox 115">
            <a:extLst>
              <a:ext uri="{FF2B5EF4-FFF2-40B4-BE49-F238E27FC236}">
                <a16:creationId xmlns:a16="http://schemas.microsoft.com/office/drawing/2014/main" id="{B1EC8FC6-3735-F309-F834-23E365920102}"/>
              </a:ext>
            </a:extLst>
          </p:cNvPr>
          <p:cNvSpPr txBox="1"/>
          <p:nvPr/>
        </p:nvSpPr>
        <p:spPr>
          <a:xfrm>
            <a:off x="4658365" y="6437376"/>
            <a:ext cx="3195325" cy="228332"/>
          </a:xfrm>
          <a:prstGeom prst="rect">
            <a:avLst/>
          </a:prstGeom>
          <a:noFill/>
        </p:spPr>
        <p:txBody>
          <a:bodyPr wrap="square" lIns="0" tIns="0" rIns="0" bIns="0" anchor="t">
            <a:spAutoFit/>
          </a:bodyPr>
          <a:lstStyle/>
          <a:p>
            <a:pPr algn="l">
              <a:lnSpc>
                <a:spcPct val="112000"/>
              </a:lnSpc>
            </a:pPr>
            <a:r>
              <a:rPr lang="es-ES_tradnl" b="1" i="0" noProof="0" dirty="0">
                <a:solidFill>
                  <a:srgbClr val="445A6E"/>
                </a:solidFill>
                <a:latin typeface="Calibri" panose="020F0502020204030204" pitchFamily="34" charset="0"/>
                <a:cs typeface="Calibri" panose="020F0502020204030204" pitchFamily="34" charset="0"/>
              </a:rPr>
              <a:t>El comportamiento entra al precio</a:t>
            </a:r>
          </a:p>
        </p:txBody>
      </p:sp>
      <p:sp>
        <p:nvSpPr>
          <p:cNvPr id="117" name="TextBox 116">
            <a:extLst>
              <a:ext uri="{FF2B5EF4-FFF2-40B4-BE49-F238E27FC236}">
                <a16:creationId xmlns:a16="http://schemas.microsoft.com/office/drawing/2014/main" id="{D73E3EED-6A22-480A-0836-BD97C4C7D35D}"/>
              </a:ext>
            </a:extLst>
          </p:cNvPr>
          <p:cNvSpPr txBox="1"/>
          <p:nvPr/>
        </p:nvSpPr>
        <p:spPr>
          <a:xfrm>
            <a:off x="4658365" y="6740334"/>
            <a:ext cx="3195325" cy="209609"/>
          </a:xfrm>
          <a:prstGeom prst="rect">
            <a:avLst/>
          </a:prstGeom>
          <a:noFill/>
        </p:spPr>
        <p:txBody>
          <a:bodyPr wrap="square" lIns="0" tIns="0" rIns="0" bIns="0" anchor="t">
            <a:spAutoFit/>
          </a:bodyPr>
          <a:lstStyle/>
          <a:p>
            <a:pPr algn="l">
              <a:lnSpc>
                <a:spcPct val="122000"/>
              </a:lnSpc>
            </a:pPr>
            <a:r>
              <a:rPr lang="es-ES_tradnl" sz="1200" b="0" i="0" noProof="0" dirty="0">
                <a:solidFill>
                  <a:srgbClr val="6E7E7D"/>
                </a:solidFill>
                <a:latin typeface="Calibri" panose="020F0502020204030204" pitchFamily="34" charset="0"/>
                <a:cs typeface="Calibri" panose="020F0502020204030204" pitchFamily="34" charset="0"/>
              </a:rPr>
              <a:t>Fidelidad, adopción pasan a ser insumos de tasa.</a:t>
            </a:r>
          </a:p>
        </p:txBody>
      </p:sp>
      <p:sp>
        <p:nvSpPr>
          <p:cNvPr id="118" name="Rectangle 117">
            <a:extLst>
              <a:ext uri="{FF2B5EF4-FFF2-40B4-BE49-F238E27FC236}">
                <a16:creationId xmlns:a16="http://schemas.microsoft.com/office/drawing/2014/main" id="{84F14343-46D8-9FFC-E50B-9055E3DC4602}"/>
              </a:ext>
            </a:extLst>
          </p:cNvPr>
          <p:cNvSpPr/>
          <p:nvPr/>
        </p:nvSpPr>
        <p:spPr>
          <a:xfrm>
            <a:off x="8219450" y="6272784"/>
            <a:ext cx="3597661" cy="157276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19" name="Rectangle 118">
            <a:extLst>
              <a:ext uri="{FF2B5EF4-FFF2-40B4-BE49-F238E27FC236}">
                <a16:creationId xmlns:a16="http://schemas.microsoft.com/office/drawing/2014/main" id="{9257CE5B-501F-C071-F167-E581CA4A1372}"/>
              </a:ext>
            </a:extLst>
          </p:cNvPr>
          <p:cNvSpPr/>
          <p:nvPr/>
        </p:nvSpPr>
        <p:spPr>
          <a:xfrm>
            <a:off x="8219450" y="6272784"/>
            <a:ext cx="41148" cy="1572768"/>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20" name="TextBox 119">
            <a:extLst>
              <a:ext uri="{FF2B5EF4-FFF2-40B4-BE49-F238E27FC236}">
                <a16:creationId xmlns:a16="http://schemas.microsoft.com/office/drawing/2014/main" id="{D9E8A62F-BFB9-13EC-FF23-2A464A02A7E6}"/>
              </a:ext>
            </a:extLst>
          </p:cNvPr>
          <p:cNvSpPr txBox="1"/>
          <p:nvPr/>
        </p:nvSpPr>
        <p:spPr>
          <a:xfrm>
            <a:off x="8438906" y="6437376"/>
            <a:ext cx="3195325" cy="228332"/>
          </a:xfrm>
          <a:prstGeom prst="rect">
            <a:avLst/>
          </a:prstGeom>
          <a:noFill/>
        </p:spPr>
        <p:txBody>
          <a:bodyPr wrap="square" lIns="0" tIns="0" rIns="0" bIns="0" anchor="t">
            <a:spAutoFit/>
          </a:bodyPr>
          <a:lstStyle/>
          <a:p>
            <a:pPr algn="l">
              <a:lnSpc>
                <a:spcPct val="112000"/>
              </a:lnSpc>
            </a:pPr>
            <a:r>
              <a:rPr lang="es-ES_tradnl" b="1" i="0" noProof="0" dirty="0">
                <a:solidFill>
                  <a:srgbClr val="C87A0B"/>
                </a:solidFill>
                <a:latin typeface="Calibri" panose="020F0502020204030204" pitchFamily="34" charset="0"/>
                <a:cs typeface="Calibri" panose="020F0502020204030204" pitchFamily="34" charset="0"/>
              </a:rPr>
              <a:t>Base técnica para negociar</a:t>
            </a:r>
          </a:p>
        </p:txBody>
      </p:sp>
      <p:sp>
        <p:nvSpPr>
          <p:cNvPr id="121" name="TextBox 120">
            <a:extLst>
              <a:ext uri="{FF2B5EF4-FFF2-40B4-BE49-F238E27FC236}">
                <a16:creationId xmlns:a16="http://schemas.microsoft.com/office/drawing/2014/main" id="{0773ACFA-B1B2-4295-9CFB-4AAFEA92F5DD}"/>
              </a:ext>
            </a:extLst>
          </p:cNvPr>
          <p:cNvSpPr txBox="1"/>
          <p:nvPr/>
        </p:nvSpPr>
        <p:spPr>
          <a:xfrm>
            <a:off x="8438906" y="6740334"/>
            <a:ext cx="3195325" cy="209609"/>
          </a:xfrm>
          <a:prstGeom prst="rect">
            <a:avLst/>
          </a:prstGeom>
          <a:noFill/>
        </p:spPr>
        <p:txBody>
          <a:bodyPr wrap="square" lIns="0" tIns="0" rIns="0" bIns="0" anchor="t">
            <a:spAutoFit/>
          </a:bodyPr>
          <a:lstStyle/>
          <a:p>
            <a:pPr algn="l">
              <a:lnSpc>
                <a:spcPct val="122000"/>
              </a:lnSpc>
            </a:pPr>
            <a:r>
              <a:rPr lang="es-ES_tradnl" sz="1200" b="0" i="0" noProof="0" dirty="0">
                <a:solidFill>
                  <a:srgbClr val="6E7E7D"/>
                </a:solidFill>
                <a:latin typeface="Calibri" panose="020F0502020204030204" pitchFamily="34" charset="0"/>
                <a:cs typeface="Calibri" panose="020F0502020204030204" pitchFamily="34" charset="0"/>
              </a:rPr>
              <a:t>Cada celda tiene un costo de riesgo explícito</a:t>
            </a:r>
          </a:p>
        </p:txBody>
      </p:sp>
      <p:sp>
        <p:nvSpPr>
          <p:cNvPr id="122" name="Rectangle 121">
            <a:extLst>
              <a:ext uri="{FF2B5EF4-FFF2-40B4-BE49-F238E27FC236}">
                <a16:creationId xmlns:a16="http://schemas.microsoft.com/office/drawing/2014/main" id="{49DD0791-F3D6-FDF4-346B-8D557B99A4A5}"/>
              </a:ext>
            </a:extLst>
          </p:cNvPr>
          <p:cNvSpPr/>
          <p:nvPr/>
        </p:nvSpPr>
        <p:spPr>
          <a:xfrm>
            <a:off x="11999991" y="6272784"/>
            <a:ext cx="3597661" cy="1572768"/>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23" name="Rectangle 122">
            <a:extLst>
              <a:ext uri="{FF2B5EF4-FFF2-40B4-BE49-F238E27FC236}">
                <a16:creationId xmlns:a16="http://schemas.microsoft.com/office/drawing/2014/main" id="{22611801-9F95-41F4-23DA-235620C0D177}"/>
              </a:ext>
            </a:extLst>
          </p:cNvPr>
          <p:cNvSpPr/>
          <p:nvPr/>
        </p:nvSpPr>
        <p:spPr>
          <a:xfrm>
            <a:off x="11999991" y="6272784"/>
            <a:ext cx="41148" cy="1572768"/>
          </a:xfrm>
          <a:prstGeom prst="rect">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sp>
        <p:nvSpPr>
          <p:cNvPr id="124" name="TextBox 123">
            <a:extLst>
              <a:ext uri="{FF2B5EF4-FFF2-40B4-BE49-F238E27FC236}">
                <a16:creationId xmlns:a16="http://schemas.microsoft.com/office/drawing/2014/main" id="{8077DB94-7F42-A8F8-F8E0-DBA684A97495}"/>
              </a:ext>
            </a:extLst>
          </p:cNvPr>
          <p:cNvSpPr txBox="1"/>
          <p:nvPr/>
        </p:nvSpPr>
        <p:spPr>
          <a:xfrm>
            <a:off x="12219447" y="6437376"/>
            <a:ext cx="3195325" cy="228332"/>
          </a:xfrm>
          <a:prstGeom prst="rect">
            <a:avLst/>
          </a:prstGeom>
          <a:noFill/>
        </p:spPr>
        <p:txBody>
          <a:bodyPr wrap="square" lIns="0" tIns="0" rIns="0" bIns="0" anchor="t">
            <a:spAutoFit/>
          </a:bodyPr>
          <a:lstStyle/>
          <a:p>
            <a:pPr algn="l">
              <a:lnSpc>
                <a:spcPct val="112000"/>
              </a:lnSpc>
            </a:pPr>
            <a:r>
              <a:rPr lang="es-ES_tradnl" b="1" i="0" noProof="0" dirty="0">
                <a:solidFill>
                  <a:srgbClr val="C04B4B"/>
                </a:solidFill>
                <a:latin typeface="Calibri" panose="020F0502020204030204" pitchFamily="34" charset="0"/>
                <a:cs typeface="Calibri" panose="020F0502020204030204" pitchFamily="34" charset="0"/>
              </a:rPr>
              <a:t>Piso claro de negociación</a:t>
            </a:r>
          </a:p>
        </p:txBody>
      </p:sp>
      <p:sp>
        <p:nvSpPr>
          <p:cNvPr id="125" name="TextBox 124">
            <a:extLst>
              <a:ext uri="{FF2B5EF4-FFF2-40B4-BE49-F238E27FC236}">
                <a16:creationId xmlns:a16="http://schemas.microsoft.com/office/drawing/2014/main" id="{942999C0-ADE9-9C20-AC81-08D730D29B05}"/>
              </a:ext>
            </a:extLst>
          </p:cNvPr>
          <p:cNvSpPr txBox="1"/>
          <p:nvPr/>
        </p:nvSpPr>
        <p:spPr>
          <a:xfrm>
            <a:off x="12219447" y="6740334"/>
            <a:ext cx="3195325" cy="434927"/>
          </a:xfrm>
          <a:prstGeom prst="rect">
            <a:avLst/>
          </a:prstGeom>
          <a:noFill/>
        </p:spPr>
        <p:txBody>
          <a:bodyPr wrap="square" lIns="0" tIns="0" rIns="0" bIns="0" anchor="t">
            <a:spAutoFit/>
          </a:bodyPr>
          <a:lstStyle/>
          <a:p>
            <a:pPr algn="l">
              <a:lnSpc>
                <a:spcPct val="122000"/>
              </a:lnSpc>
            </a:pPr>
            <a:r>
              <a:rPr lang="es-ES_tradnl" sz="1200" b="0" i="0" noProof="0" dirty="0">
                <a:solidFill>
                  <a:srgbClr val="6E7E7D"/>
                </a:solidFill>
                <a:latin typeface="Calibri" panose="020F0502020204030204" pitchFamily="34" charset="0"/>
                <a:cs typeface="Calibri" panose="020F0502020204030204" pitchFamily="34" charset="0"/>
              </a:rPr>
              <a:t>La matriz define desde dónde se descuenta y hasta dónde se puede llegar.</a:t>
            </a:r>
          </a:p>
        </p:txBody>
      </p:sp>
      <p:sp>
        <p:nvSpPr>
          <p:cNvPr id="126" name="Rectangle 125">
            <a:extLst>
              <a:ext uri="{FF2B5EF4-FFF2-40B4-BE49-F238E27FC236}">
                <a16:creationId xmlns:a16="http://schemas.microsoft.com/office/drawing/2014/main" id="{15486E0B-05F7-7FB8-7D9F-5FDF87565E9A}"/>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000" noProof="0" dirty="0">
              <a:latin typeface="Calibri" panose="020F0502020204030204" pitchFamily="34" charset="0"/>
              <a:cs typeface="Calibri" panose="020F0502020204030204" pitchFamily="34" charset="0"/>
            </a:endParaRPr>
          </a:p>
        </p:txBody>
      </p:sp>
      <p:cxnSp>
        <p:nvCxnSpPr>
          <p:cNvPr id="127" name="Connector 87">
            <a:extLst>
              <a:ext uri="{FF2B5EF4-FFF2-40B4-BE49-F238E27FC236}">
                <a16:creationId xmlns:a16="http://schemas.microsoft.com/office/drawing/2014/main" id="{A5DA8380-CF31-B35D-6756-0F8C2EA12088}"/>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28" name="TextBox 127">
            <a:extLst>
              <a:ext uri="{FF2B5EF4-FFF2-40B4-BE49-F238E27FC236}">
                <a16:creationId xmlns:a16="http://schemas.microsoft.com/office/drawing/2014/main" id="{3B7D586C-AFFE-BF45-1D89-E29646190A2F}"/>
              </a:ext>
            </a:extLst>
          </p:cNvPr>
          <p:cNvSpPr txBox="1"/>
          <p:nvPr/>
        </p:nvSpPr>
        <p:spPr>
          <a:xfrm>
            <a:off x="896112" y="8268477"/>
            <a:ext cx="14482084" cy="233141"/>
          </a:xfrm>
          <a:prstGeom prst="rect">
            <a:avLst/>
          </a:prstGeom>
          <a:noFill/>
        </p:spPr>
        <p:txBody>
          <a:bodyPr wrap="square" lIns="0" tIns="0" rIns="0" bIns="0" anchor="ctr">
            <a:spAutoFit/>
          </a:bodyPr>
          <a:lstStyle/>
          <a:p>
            <a:pPr algn="l">
              <a:lnSpc>
                <a:spcPct val="115000"/>
              </a:lnSpc>
              <a:spcAft>
                <a:spcPts val="400"/>
              </a:spcAft>
            </a:pPr>
            <a:r>
              <a:rPr lang="es-ES_tradnl" b="1" i="0" noProof="0" dirty="0">
                <a:solidFill>
                  <a:srgbClr val="0C514E"/>
                </a:solidFill>
                <a:latin typeface="Calibri" panose="020F0502020204030204" pitchFamily="34" charset="0"/>
                <a:cs typeface="Calibri" panose="020F0502020204030204" pitchFamily="34" charset="0"/>
              </a:rPr>
              <a:t>La componente 01 fija el objetivo; el motor CLV se encarga de encontrar la tasa que lo cumple.</a:t>
            </a:r>
          </a:p>
        </p:txBody>
      </p:sp>
      <p:sp>
        <p:nvSpPr>
          <p:cNvPr id="7" name="Rectangle 6">
            <a:extLst>
              <a:ext uri="{FF2B5EF4-FFF2-40B4-BE49-F238E27FC236}">
                <a16:creationId xmlns:a16="http://schemas.microsoft.com/office/drawing/2014/main" id="{A738C737-DE37-29A8-8234-CDD8CD2A3F2B}"/>
              </a:ext>
            </a:extLst>
          </p:cNvPr>
          <p:cNvSpPr/>
          <p:nvPr/>
        </p:nvSpPr>
        <p:spPr>
          <a:xfrm>
            <a:off x="16365729" y="1841140"/>
            <a:ext cx="2287687" cy="5989061"/>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s-ES_tradnl" sz="2000" noProof="0" dirty="0"/>
              <a:t>Mencionar que las primeras veces será por ROA y luego RAROC – será alineado al apetito de rentabilidad de Banca </a:t>
            </a:r>
            <a:r>
              <a:rPr lang="es-ES_tradnl" sz="2000" noProof="0" dirty="0" err="1"/>
              <a:t>Negoio</a:t>
            </a:r>
            <a:endParaRPr lang="es-ES_tradnl" sz="2000" noProof="0" dirty="0"/>
          </a:p>
          <a:p>
            <a:pPr algn="ctr"/>
            <a:r>
              <a:rPr lang="es-ES_tradnl" sz="2000" noProof="0" dirty="0"/>
              <a:t>+ Que esto ya se puede avanzando con la herramienta 0.5</a:t>
            </a:r>
            <a:br>
              <a:rPr lang="es-ES_tradnl" sz="2000" noProof="0" dirty="0"/>
            </a:br>
            <a:r>
              <a:rPr lang="es-ES_tradnl" sz="2000" noProof="0" dirty="0"/>
              <a:t>+ </a:t>
            </a:r>
            <a:r>
              <a:rPr lang="es-ES_tradnl" sz="2000" noProof="0" dirty="0" err="1"/>
              <a:t>Retanqueo</a:t>
            </a:r>
            <a:endParaRPr lang="es-ES_tradnl" sz="2000" noProof="0" dirty="0"/>
          </a:p>
        </p:txBody>
      </p:sp>
      <p:sp>
        <p:nvSpPr>
          <p:cNvPr id="8" name="Rectangle 7">
            <a:extLst>
              <a:ext uri="{FF2B5EF4-FFF2-40B4-BE49-F238E27FC236}">
                <a16:creationId xmlns:a16="http://schemas.microsoft.com/office/drawing/2014/main" id="{9B236825-4F19-A7C6-E804-A449CC5C5336}"/>
              </a:ext>
            </a:extLst>
          </p:cNvPr>
          <p:cNvSpPr/>
          <p:nvPr/>
        </p:nvSpPr>
        <p:spPr>
          <a:xfrm>
            <a:off x="1052565" y="2386585"/>
            <a:ext cx="3454420" cy="73152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9" name="Oval 8">
            <a:extLst>
              <a:ext uri="{FF2B5EF4-FFF2-40B4-BE49-F238E27FC236}">
                <a16:creationId xmlns:a16="http://schemas.microsoft.com/office/drawing/2014/main" id="{303EBADC-8BF3-EBEB-F55F-E22AE1B4F4FE}"/>
              </a:ext>
            </a:extLst>
          </p:cNvPr>
          <p:cNvSpPr/>
          <p:nvPr/>
        </p:nvSpPr>
        <p:spPr>
          <a:xfrm>
            <a:off x="1217157" y="2560321"/>
            <a:ext cx="384048" cy="38404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2000" b="1" i="0">
                <a:solidFill>
                  <a:srgbClr val="FFFFFF"/>
                </a:solidFill>
                <a:latin typeface="Arial"/>
              </a:rPr>
              <a:t>A</a:t>
            </a:r>
          </a:p>
        </p:txBody>
      </p:sp>
      <p:sp>
        <p:nvSpPr>
          <p:cNvPr id="10" name="TextBox 9">
            <a:extLst>
              <a:ext uri="{FF2B5EF4-FFF2-40B4-BE49-F238E27FC236}">
                <a16:creationId xmlns:a16="http://schemas.microsoft.com/office/drawing/2014/main" id="{2D2CC00C-5F3A-D431-9271-D3545DE4EEAB}"/>
              </a:ext>
            </a:extLst>
          </p:cNvPr>
          <p:cNvSpPr txBox="1"/>
          <p:nvPr/>
        </p:nvSpPr>
        <p:spPr>
          <a:xfrm>
            <a:off x="1765797" y="2514600"/>
            <a:ext cx="2704612"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Segmento A</a:t>
            </a:r>
          </a:p>
        </p:txBody>
      </p:sp>
      <p:sp>
        <p:nvSpPr>
          <p:cNvPr id="11" name="TextBox 10">
            <a:extLst>
              <a:ext uri="{FF2B5EF4-FFF2-40B4-BE49-F238E27FC236}">
                <a16:creationId xmlns:a16="http://schemas.microsoft.com/office/drawing/2014/main" id="{E47F3BA7-E469-0139-7232-7F13B4949D59}"/>
              </a:ext>
            </a:extLst>
          </p:cNvPr>
          <p:cNvSpPr txBox="1"/>
          <p:nvPr/>
        </p:nvSpPr>
        <p:spPr>
          <a:xfrm>
            <a:off x="1765797" y="2752345"/>
            <a:ext cx="2704612" cy="169277"/>
          </a:xfrm>
          <a:prstGeom prst="rect">
            <a:avLst/>
          </a:prstGeom>
          <a:noFill/>
        </p:spPr>
        <p:txBody>
          <a:bodyPr wrap="square" lIns="0" tIns="0" rIns="0" bIns="0" anchor="t">
            <a:spAutoFit/>
          </a:bodyPr>
          <a:lstStyle/>
          <a:p>
            <a:pPr algn="l">
              <a:lnSpc>
                <a:spcPct val="100000"/>
              </a:lnSpc>
            </a:pPr>
            <a:r>
              <a:rPr sz="1100" b="0" i="0">
                <a:solidFill>
                  <a:srgbClr val="6E7E7D"/>
                </a:solidFill>
                <a:latin typeface="Arial"/>
              </a:rPr>
              <a:t>TEA observada menor</a:t>
            </a:r>
          </a:p>
        </p:txBody>
      </p:sp>
      <p:sp>
        <p:nvSpPr>
          <p:cNvPr id="12" name="Rectangle 11">
            <a:extLst>
              <a:ext uri="{FF2B5EF4-FFF2-40B4-BE49-F238E27FC236}">
                <a16:creationId xmlns:a16="http://schemas.microsoft.com/office/drawing/2014/main" id="{DECA03DF-5015-74E7-A204-11FB747E756C}"/>
              </a:ext>
            </a:extLst>
          </p:cNvPr>
          <p:cNvSpPr/>
          <p:nvPr/>
        </p:nvSpPr>
        <p:spPr>
          <a:xfrm>
            <a:off x="1052565" y="3227833"/>
            <a:ext cx="3454420" cy="73152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 name="Oval 12">
            <a:extLst>
              <a:ext uri="{FF2B5EF4-FFF2-40B4-BE49-F238E27FC236}">
                <a16:creationId xmlns:a16="http://schemas.microsoft.com/office/drawing/2014/main" id="{1C33D01B-8455-DB92-EC0A-C0A382BFA342}"/>
              </a:ext>
            </a:extLst>
          </p:cNvPr>
          <p:cNvSpPr/>
          <p:nvPr/>
        </p:nvSpPr>
        <p:spPr>
          <a:xfrm>
            <a:off x="1217157" y="3401569"/>
            <a:ext cx="384048" cy="384048"/>
          </a:xfrm>
          <a:prstGeom prst="ellipse">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2000" b="1" i="0">
                <a:solidFill>
                  <a:srgbClr val="FFFFFF"/>
                </a:solidFill>
                <a:latin typeface="Arial"/>
              </a:rPr>
              <a:t>B</a:t>
            </a:r>
          </a:p>
        </p:txBody>
      </p:sp>
      <p:sp>
        <p:nvSpPr>
          <p:cNvPr id="14" name="TextBox 13">
            <a:extLst>
              <a:ext uri="{FF2B5EF4-FFF2-40B4-BE49-F238E27FC236}">
                <a16:creationId xmlns:a16="http://schemas.microsoft.com/office/drawing/2014/main" id="{02134BAD-3F21-D9BF-1BD8-4B8859744C4D}"/>
              </a:ext>
            </a:extLst>
          </p:cNvPr>
          <p:cNvSpPr txBox="1"/>
          <p:nvPr/>
        </p:nvSpPr>
        <p:spPr>
          <a:xfrm>
            <a:off x="1765797" y="3355848"/>
            <a:ext cx="2704612"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Segmento B</a:t>
            </a:r>
          </a:p>
        </p:txBody>
      </p:sp>
      <p:sp>
        <p:nvSpPr>
          <p:cNvPr id="15" name="TextBox 14">
            <a:extLst>
              <a:ext uri="{FF2B5EF4-FFF2-40B4-BE49-F238E27FC236}">
                <a16:creationId xmlns:a16="http://schemas.microsoft.com/office/drawing/2014/main" id="{49339C22-7D8C-B939-0073-F8E99CF9E008}"/>
              </a:ext>
            </a:extLst>
          </p:cNvPr>
          <p:cNvSpPr txBox="1"/>
          <p:nvPr/>
        </p:nvSpPr>
        <p:spPr>
          <a:xfrm>
            <a:off x="1765797" y="3593593"/>
            <a:ext cx="2704612" cy="169277"/>
          </a:xfrm>
          <a:prstGeom prst="rect">
            <a:avLst/>
          </a:prstGeom>
          <a:noFill/>
        </p:spPr>
        <p:txBody>
          <a:bodyPr wrap="square" lIns="0" tIns="0" rIns="0" bIns="0" anchor="t">
            <a:spAutoFit/>
          </a:bodyPr>
          <a:lstStyle/>
          <a:p>
            <a:pPr algn="l">
              <a:lnSpc>
                <a:spcPct val="100000"/>
              </a:lnSpc>
            </a:pPr>
            <a:r>
              <a:rPr sz="1100" b="0" i="0">
                <a:solidFill>
                  <a:srgbClr val="6E7E7D"/>
                </a:solidFill>
                <a:latin typeface="Arial"/>
              </a:rPr>
              <a:t>TEA observada media</a:t>
            </a:r>
          </a:p>
        </p:txBody>
      </p:sp>
      <p:sp>
        <p:nvSpPr>
          <p:cNvPr id="16" name="Rectangle 15">
            <a:extLst>
              <a:ext uri="{FF2B5EF4-FFF2-40B4-BE49-F238E27FC236}">
                <a16:creationId xmlns:a16="http://schemas.microsoft.com/office/drawing/2014/main" id="{F4E698E8-8E91-18B6-3D55-431478450270}"/>
              </a:ext>
            </a:extLst>
          </p:cNvPr>
          <p:cNvSpPr/>
          <p:nvPr/>
        </p:nvSpPr>
        <p:spPr>
          <a:xfrm>
            <a:off x="1052565" y="4069081"/>
            <a:ext cx="3454420" cy="731520"/>
          </a:xfrm>
          <a:prstGeom prst="rect">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 name="Oval 16">
            <a:extLst>
              <a:ext uri="{FF2B5EF4-FFF2-40B4-BE49-F238E27FC236}">
                <a16:creationId xmlns:a16="http://schemas.microsoft.com/office/drawing/2014/main" id="{BC9C0CC1-F41E-E317-E8B0-528C7751C29B}"/>
              </a:ext>
            </a:extLst>
          </p:cNvPr>
          <p:cNvSpPr/>
          <p:nvPr/>
        </p:nvSpPr>
        <p:spPr>
          <a:xfrm>
            <a:off x="1217157" y="4242817"/>
            <a:ext cx="384048" cy="384048"/>
          </a:xfrm>
          <a:prstGeom prst="ellipse">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2000" b="1" i="0">
                <a:solidFill>
                  <a:srgbClr val="FFFFFF"/>
                </a:solidFill>
                <a:latin typeface="Arial"/>
              </a:rPr>
              <a:t>C</a:t>
            </a:r>
          </a:p>
        </p:txBody>
      </p:sp>
      <p:sp>
        <p:nvSpPr>
          <p:cNvPr id="18" name="TextBox 17">
            <a:extLst>
              <a:ext uri="{FF2B5EF4-FFF2-40B4-BE49-F238E27FC236}">
                <a16:creationId xmlns:a16="http://schemas.microsoft.com/office/drawing/2014/main" id="{A5F39980-709C-60B5-8B99-BC00A171E400}"/>
              </a:ext>
            </a:extLst>
          </p:cNvPr>
          <p:cNvSpPr txBox="1"/>
          <p:nvPr/>
        </p:nvSpPr>
        <p:spPr>
          <a:xfrm>
            <a:off x="1765797" y="4197096"/>
            <a:ext cx="2704612" cy="215444"/>
          </a:xfrm>
          <a:prstGeom prst="rect">
            <a:avLst/>
          </a:prstGeom>
          <a:noFill/>
        </p:spPr>
        <p:txBody>
          <a:bodyPr wrap="square" lIns="0" tIns="0" rIns="0" bIns="0" anchor="t">
            <a:spAutoFit/>
          </a:bodyPr>
          <a:lstStyle/>
          <a:p>
            <a:pPr algn="l">
              <a:lnSpc>
                <a:spcPct val="100000"/>
              </a:lnSpc>
            </a:pPr>
            <a:r>
              <a:rPr b="1" i="0">
                <a:solidFill>
                  <a:srgbClr val="0B2E2C"/>
                </a:solidFill>
                <a:latin typeface="Arial"/>
              </a:rPr>
              <a:t>Segmento C</a:t>
            </a:r>
          </a:p>
        </p:txBody>
      </p:sp>
      <p:sp>
        <p:nvSpPr>
          <p:cNvPr id="19" name="TextBox 18">
            <a:extLst>
              <a:ext uri="{FF2B5EF4-FFF2-40B4-BE49-F238E27FC236}">
                <a16:creationId xmlns:a16="http://schemas.microsoft.com/office/drawing/2014/main" id="{2353A2E5-6531-6491-C890-BA570DF34A65}"/>
              </a:ext>
            </a:extLst>
          </p:cNvPr>
          <p:cNvSpPr txBox="1"/>
          <p:nvPr/>
        </p:nvSpPr>
        <p:spPr>
          <a:xfrm>
            <a:off x="1765797" y="4434841"/>
            <a:ext cx="2704612" cy="169277"/>
          </a:xfrm>
          <a:prstGeom prst="rect">
            <a:avLst/>
          </a:prstGeom>
          <a:noFill/>
        </p:spPr>
        <p:txBody>
          <a:bodyPr wrap="square" lIns="0" tIns="0" rIns="0" bIns="0" anchor="t">
            <a:spAutoFit/>
          </a:bodyPr>
          <a:lstStyle/>
          <a:p>
            <a:pPr algn="l">
              <a:lnSpc>
                <a:spcPct val="100000"/>
              </a:lnSpc>
            </a:pPr>
            <a:r>
              <a:rPr sz="1100" b="0" i="0">
                <a:solidFill>
                  <a:srgbClr val="6E7E7D"/>
                </a:solidFill>
                <a:latin typeface="Arial"/>
              </a:rPr>
              <a:t>TEA observada alta</a:t>
            </a:r>
          </a:p>
        </p:txBody>
      </p:sp>
    </p:spTree>
    <p:extLst>
      <p:ext uri="{BB962C8B-B14F-4D97-AF65-F5344CB8AC3E}">
        <p14:creationId xmlns:p14="http://schemas.microsoft.com/office/powerpoint/2010/main" val="5803648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C8392-2541-3A83-E3CE-FA7010B64FCC}"/>
            </a:ext>
          </a:extLst>
        </p:cNvPr>
        <p:cNvGrpSpPr/>
        <p:nvPr/>
      </p:nvGrpSpPr>
      <p:grpSpPr>
        <a:xfrm>
          <a:off x="0" y="0"/>
          <a:ext cx="0" cy="0"/>
          <a:chOff x="0" y="0"/>
          <a:chExt cx="0" cy="0"/>
        </a:xfrm>
      </p:grpSpPr>
      <p:sp>
        <p:nvSpPr>
          <p:cNvPr id="118" name="Google Shape;167;g3ed063acbfe_1_0">
            <a:extLst>
              <a:ext uri="{FF2B5EF4-FFF2-40B4-BE49-F238E27FC236}">
                <a16:creationId xmlns:a16="http://schemas.microsoft.com/office/drawing/2014/main" id="{E4C6FD51-585E-8754-474A-E62656804FDD}"/>
              </a:ext>
            </a:extLst>
          </p:cNvPr>
          <p:cNvSpPr txBox="1"/>
          <p:nvPr/>
        </p:nvSpPr>
        <p:spPr>
          <a:xfrm>
            <a:off x="184661" y="98822"/>
            <a:ext cx="14787179"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Ecosistema de pricing, visión cliente 360°, para la gestión del precio </a:t>
            </a:r>
          </a:p>
        </p:txBody>
      </p:sp>
      <p:sp>
        <p:nvSpPr>
          <p:cNvPr id="2" name="Rectangle 1">
            <a:extLst>
              <a:ext uri="{FF2B5EF4-FFF2-40B4-BE49-F238E27FC236}">
                <a16:creationId xmlns:a16="http://schemas.microsoft.com/office/drawing/2014/main" id="{728D3631-9924-BF4C-3CA6-36939AC94BE2}"/>
              </a:ext>
            </a:extLst>
          </p:cNvPr>
          <p:cNvSpPr/>
          <p:nvPr/>
        </p:nvSpPr>
        <p:spPr>
          <a:xfrm>
            <a:off x="0" y="1241823"/>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37" name="Google Shape;401;g3a8a166b9a7_8_346">
            <a:extLst>
              <a:ext uri="{FF2B5EF4-FFF2-40B4-BE49-F238E27FC236}">
                <a16:creationId xmlns:a16="http://schemas.microsoft.com/office/drawing/2014/main" id="{593688C3-B220-2D32-369D-C06C63B86FEB}"/>
              </a:ext>
            </a:extLst>
          </p:cNvPr>
          <p:cNvSpPr/>
          <p:nvPr/>
        </p:nvSpPr>
        <p:spPr>
          <a:xfrm>
            <a:off x="12367268" y="2990064"/>
            <a:ext cx="3589859" cy="532260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09" name="Google Shape;402;g3a8a166b9a7_8_346">
            <a:extLst>
              <a:ext uri="{FF2B5EF4-FFF2-40B4-BE49-F238E27FC236}">
                <a16:creationId xmlns:a16="http://schemas.microsoft.com/office/drawing/2014/main" id="{FFB8507F-B1C9-6909-429B-30F57E8F2FA1}"/>
              </a:ext>
            </a:extLst>
          </p:cNvPr>
          <p:cNvSpPr/>
          <p:nvPr/>
        </p:nvSpPr>
        <p:spPr>
          <a:xfrm>
            <a:off x="12367268" y="3007819"/>
            <a:ext cx="3589859" cy="666056"/>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0" name="Google Shape;403;g3a8a166b9a7_8_346">
            <a:extLst>
              <a:ext uri="{FF2B5EF4-FFF2-40B4-BE49-F238E27FC236}">
                <a16:creationId xmlns:a16="http://schemas.microsoft.com/office/drawing/2014/main" id="{2E0C7750-9776-AD4E-3A1F-F83DA9B6173D}"/>
              </a:ext>
            </a:extLst>
          </p:cNvPr>
          <p:cNvSpPr/>
          <p:nvPr/>
        </p:nvSpPr>
        <p:spPr>
          <a:xfrm>
            <a:off x="4340814" y="2990065"/>
            <a:ext cx="3902175"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1" name="Google Shape;404;g3a8a166b9a7_8_346">
            <a:extLst>
              <a:ext uri="{FF2B5EF4-FFF2-40B4-BE49-F238E27FC236}">
                <a16:creationId xmlns:a16="http://schemas.microsoft.com/office/drawing/2014/main" id="{76B23F34-9241-79A5-2AEF-A9D37D5DD54B}"/>
              </a:ext>
            </a:extLst>
          </p:cNvPr>
          <p:cNvSpPr/>
          <p:nvPr/>
        </p:nvSpPr>
        <p:spPr>
          <a:xfrm>
            <a:off x="4360081" y="3006979"/>
            <a:ext cx="3889928" cy="710995"/>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2" name="Google Shape;405;g3a8a166b9a7_8_346">
            <a:extLst>
              <a:ext uri="{FF2B5EF4-FFF2-40B4-BE49-F238E27FC236}">
                <a16:creationId xmlns:a16="http://schemas.microsoft.com/office/drawing/2014/main" id="{2D5517A1-73FD-9448-FC5E-FE84E664E14D}"/>
              </a:ext>
            </a:extLst>
          </p:cNvPr>
          <p:cNvSpPr/>
          <p:nvPr/>
        </p:nvSpPr>
        <p:spPr>
          <a:xfrm>
            <a:off x="8407686" y="2980435"/>
            <a:ext cx="3770487"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9" name="Google Shape;406;g3a8a166b9a7_8_346">
            <a:extLst>
              <a:ext uri="{FF2B5EF4-FFF2-40B4-BE49-F238E27FC236}">
                <a16:creationId xmlns:a16="http://schemas.microsoft.com/office/drawing/2014/main" id="{AD837040-7D2B-B964-19C5-E6F14AA31BEA}"/>
              </a:ext>
            </a:extLst>
          </p:cNvPr>
          <p:cNvSpPr/>
          <p:nvPr/>
        </p:nvSpPr>
        <p:spPr>
          <a:xfrm>
            <a:off x="8398088" y="3012625"/>
            <a:ext cx="3770485"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20" name="Google Shape;407;g3a8a166b9a7_8_346">
            <a:extLst>
              <a:ext uri="{FF2B5EF4-FFF2-40B4-BE49-F238E27FC236}">
                <a16:creationId xmlns:a16="http://schemas.microsoft.com/office/drawing/2014/main" id="{8DD14965-0CE8-7F84-CC36-EDBEB31DD76E}"/>
              </a:ext>
            </a:extLst>
          </p:cNvPr>
          <p:cNvSpPr/>
          <p:nvPr/>
        </p:nvSpPr>
        <p:spPr>
          <a:xfrm>
            <a:off x="416026" y="2980435"/>
            <a:ext cx="3770487" cy="533516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21" name="Google Shape;408;g3a8a166b9a7_8_346">
            <a:extLst>
              <a:ext uri="{FF2B5EF4-FFF2-40B4-BE49-F238E27FC236}">
                <a16:creationId xmlns:a16="http://schemas.microsoft.com/office/drawing/2014/main" id="{5BC4A997-6A0E-94CE-4320-3DE5D58B6545}"/>
              </a:ext>
            </a:extLst>
          </p:cNvPr>
          <p:cNvSpPr/>
          <p:nvPr/>
        </p:nvSpPr>
        <p:spPr>
          <a:xfrm>
            <a:off x="409280" y="2991960"/>
            <a:ext cx="3783457"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nvGrpSpPr>
          <p:cNvPr id="122" name="Google Shape;410;g3a8a166b9a7_8_346">
            <a:extLst>
              <a:ext uri="{FF2B5EF4-FFF2-40B4-BE49-F238E27FC236}">
                <a16:creationId xmlns:a16="http://schemas.microsoft.com/office/drawing/2014/main" id="{B97F985C-101E-ACF3-2075-B75B84A30C49}"/>
              </a:ext>
            </a:extLst>
          </p:cNvPr>
          <p:cNvGrpSpPr/>
          <p:nvPr/>
        </p:nvGrpSpPr>
        <p:grpSpPr>
          <a:xfrm>
            <a:off x="7261859" y="974183"/>
            <a:ext cx="1935480" cy="1882989"/>
            <a:chOff x="3638550" y="1249678"/>
            <a:chExt cx="1842770" cy="1747522"/>
          </a:xfrm>
        </p:grpSpPr>
        <p:sp>
          <p:nvSpPr>
            <p:cNvPr id="123" name="Google Shape;411;g3a8a166b9a7_8_346">
              <a:extLst>
                <a:ext uri="{FF2B5EF4-FFF2-40B4-BE49-F238E27FC236}">
                  <a16:creationId xmlns:a16="http://schemas.microsoft.com/office/drawing/2014/main" id="{77807321-5E95-6B1F-9318-E25DBA79CA5F}"/>
                </a:ext>
              </a:extLst>
            </p:cNvPr>
            <p:cNvSpPr/>
            <p:nvPr/>
          </p:nvSpPr>
          <p:spPr>
            <a:xfrm>
              <a:off x="3638550" y="1249678"/>
              <a:ext cx="1842770" cy="1747522"/>
            </a:xfrm>
            <a:prstGeom prst="flowChartConnector">
              <a:avLst/>
            </a:prstGeom>
            <a:solidFill>
              <a:srgbClr val="DBDBDB"/>
            </a:solidFill>
            <a:ln w="9525" cap="flat" cmpd="sng">
              <a:solidFill>
                <a:srgbClr val="D8D8D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sp>
          <p:nvSpPr>
            <p:cNvPr id="124" name="Google Shape;412;g3a8a166b9a7_8_346">
              <a:extLst>
                <a:ext uri="{FF2B5EF4-FFF2-40B4-BE49-F238E27FC236}">
                  <a16:creationId xmlns:a16="http://schemas.microsoft.com/office/drawing/2014/main" id="{FB186351-74CC-A4F9-1906-B49FF59FFF2B}"/>
                </a:ext>
              </a:extLst>
            </p:cNvPr>
            <p:cNvSpPr/>
            <p:nvPr/>
          </p:nvSpPr>
          <p:spPr>
            <a:xfrm>
              <a:off x="3887470" y="1508758"/>
              <a:ext cx="1344930" cy="1229361"/>
            </a:xfrm>
            <a:prstGeom prst="flowChartConnector">
              <a:avLst/>
            </a:prstGeom>
            <a:solidFill>
              <a:srgbClr val="F2F2F2"/>
            </a:solidFill>
            <a:ln w="5715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grpSp>
      <p:sp>
        <p:nvSpPr>
          <p:cNvPr id="125" name="Google Shape;413;g3a8a166b9a7_8_346">
            <a:extLst>
              <a:ext uri="{FF2B5EF4-FFF2-40B4-BE49-F238E27FC236}">
                <a16:creationId xmlns:a16="http://schemas.microsoft.com/office/drawing/2014/main" id="{B622C142-827E-DAE1-0B2E-702B68FAA35F}"/>
              </a:ext>
            </a:extLst>
          </p:cNvPr>
          <p:cNvSpPr txBox="1"/>
          <p:nvPr/>
        </p:nvSpPr>
        <p:spPr>
          <a:xfrm>
            <a:off x="446847" y="5610447"/>
            <a:ext cx="3640331"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Rentabilidad diferenciada por segmento</a:t>
            </a:r>
          </a:p>
        </p:txBody>
      </p:sp>
      <p:sp>
        <p:nvSpPr>
          <p:cNvPr id="126" name="Google Shape;434;g3a8a166b9a7_8_346">
            <a:extLst>
              <a:ext uri="{FF2B5EF4-FFF2-40B4-BE49-F238E27FC236}">
                <a16:creationId xmlns:a16="http://schemas.microsoft.com/office/drawing/2014/main" id="{8AC63EF6-EE56-9F4E-DE1B-ACD909EF110B}"/>
              </a:ext>
            </a:extLst>
          </p:cNvPr>
          <p:cNvSpPr txBox="1"/>
          <p:nvPr/>
        </p:nvSpPr>
        <p:spPr>
          <a:xfrm>
            <a:off x="469905" y="3846893"/>
            <a:ext cx="2638352"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latin typeface="Poppins" panose="00000500000000000000" pitchFamily="2" charset="0"/>
                <a:ea typeface="Calibri"/>
                <a:cs typeface="Poppins" panose="00000500000000000000" pitchFamily="2" charset="0"/>
                <a:sym typeface="Calibri"/>
              </a:rPr>
              <a:t>Matriz de RAROC objetivo</a:t>
            </a:r>
            <a:endParaRPr lang="es-ES_tradnl" sz="1333" kern="1200" noProof="0" dirty="0">
              <a:latin typeface="Poppins" panose="00000500000000000000" pitchFamily="2" charset="0"/>
              <a:ea typeface="Calibri"/>
              <a:cs typeface="Poppins" panose="00000500000000000000" pitchFamily="2" charset="0"/>
              <a:sym typeface="Calibri"/>
            </a:endParaRPr>
          </a:p>
        </p:txBody>
      </p:sp>
      <p:grpSp>
        <p:nvGrpSpPr>
          <p:cNvPr id="127" name="Google Shape;436;g3a8a166b9a7_8_346">
            <a:extLst>
              <a:ext uri="{FF2B5EF4-FFF2-40B4-BE49-F238E27FC236}">
                <a16:creationId xmlns:a16="http://schemas.microsoft.com/office/drawing/2014/main" id="{A03924FE-A3BD-EE37-A0BE-493F66B7AE65}"/>
              </a:ext>
            </a:extLst>
          </p:cNvPr>
          <p:cNvGrpSpPr/>
          <p:nvPr/>
        </p:nvGrpSpPr>
        <p:grpSpPr>
          <a:xfrm>
            <a:off x="9056426" y="4347409"/>
            <a:ext cx="2788447" cy="882460"/>
            <a:chOff x="3501127" y="4905040"/>
            <a:chExt cx="3415840" cy="1048361"/>
          </a:xfrm>
        </p:grpSpPr>
        <p:sp>
          <p:nvSpPr>
            <p:cNvPr id="128" name="Google Shape;437;g3a8a166b9a7_8_346">
              <a:extLst>
                <a:ext uri="{FF2B5EF4-FFF2-40B4-BE49-F238E27FC236}">
                  <a16:creationId xmlns:a16="http://schemas.microsoft.com/office/drawing/2014/main" id="{93CE5E05-4A60-ADF3-C20E-1E225ADACA3F}"/>
                </a:ext>
              </a:extLst>
            </p:cNvPr>
            <p:cNvSpPr txBox="1"/>
            <p:nvPr/>
          </p:nvSpPr>
          <p:spPr>
            <a:xfrm>
              <a:off x="3501127" y="4905040"/>
              <a:ext cx="1682574" cy="498874"/>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 o</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29" name="Google Shape;438;g3a8a166b9a7_8_346">
              <a:extLst>
                <a:ext uri="{FF2B5EF4-FFF2-40B4-BE49-F238E27FC236}">
                  <a16:creationId xmlns:a16="http://schemas.microsoft.com/office/drawing/2014/main" id="{26FC7D7E-84AB-352A-87F5-FE8613EE865F}"/>
                </a:ext>
              </a:extLst>
            </p:cNvPr>
            <p:cNvSpPr txBox="1"/>
            <p:nvPr/>
          </p:nvSpPr>
          <p:spPr>
            <a:xfrm>
              <a:off x="3511286" y="5444368"/>
              <a:ext cx="1682574" cy="498873"/>
            </a:xfrm>
            <a:prstGeom prst="rect">
              <a:avLst/>
            </a:prstGeom>
            <a:solidFill>
              <a:srgbClr val="D5DBE5"/>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Bajar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0" name="Google Shape;439;g3a8a166b9a7_8_346">
              <a:extLst>
                <a:ext uri="{FF2B5EF4-FFF2-40B4-BE49-F238E27FC236}">
                  <a16:creationId xmlns:a16="http://schemas.microsoft.com/office/drawing/2014/main" id="{88874EBF-72D1-D8BF-04C4-D149DDF4814E}"/>
                </a:ext>
              </a:extLst>
            </p:cNvPr>
            <p:cNvSpPr txBox="1"/>
            <p:nvPr/>
          </p:nvSpPr>
          <p:spPr>
            <a:xfrm>
              <a:off x="5224234" y="4915198"/>
              <a:ext cx="1682574" cy="498874"/>
            </a:xfrm>
            <a:prstGeom prst="rect">
              <a:avLst/>
            </a:prstGeom>
            <a:solidFill>
              <a:srgbClr val="ACB8CA">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1" name="Google Shape;440;g3a8a166b9a7_8_346">
              <a:extLst>
                <a:ext uri="{FF2B5EF4-FFF2-40B4-BE49-F238E27FC236}">
                  <a16:creationId xmlns:a16="http://schemas.microsoft.com/office/drawing/2014/main" id="{3A5B0FD4-2431-C148-6B5B-E8B6D0DBB3B5}"/>
                </a:ext>
              </a:extLst>
            </p:cNvPr>
            <p:cNvSpPr txBox="1"/>
            <p:nvPr/>
          </p:nvSpPr>
          <p:spPr>
            <a:xfrm>
              <a:off x="5234393" y="5454524"/>
              <a:ext cx="1682574" cy="498877"/>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cxnSp>
        <p:nvCxnSpPr>
          <p:cNvPr id="132" name="Google Shape;441;g3a8a166b9a7_8_346">
            <a:extLst>
              <a:ext uri="{FF2B5EF4-FFF2-40B4-BE49-F238E27FC236}">
                <a16:creationId xmlns:a16="http://schemas.microsoft.com/office/drawing/2014/main" id="{03FC8C0E-9B88-CDAF-7CC8-4E6F812E50F8}"/>
              </a:ext>
            </a:extLst>
          </p:cNvPr>
          <p:cNvCxnSpPr/>
          <p:nvPr/>
        </p:nvCxnSpPr>
        <p:spPr>
          <a:xfrm>
            <a:off x="8958199" y="4270488"/>
            <a:ext cx="0" cy="1025769"/>
          </a:xfrm>
          <a:prstGeom prst="straightConnector1">
            <a:avLst/>
          </a:prstGeom>
          <a:noFill/>
          <a:ln w="9525" cap="flat" cmpd="sng">
            <a:solidFill>
              <a:srgbClr val="354A49"/>
            </a:solidFill>
            <a:prstDash val="solid"/>
            <a:round/>
            <a:headEnd type="none" w="sm" len="sm"/>
            <a:tailEnd type="triangle" w="med" len="med"/>
          </a:ln>
        </p:spPr>
      </p:cxnSp>
      <p:sp>
        <p:nvSpPr>
          <p:cNvPr id="133" name="Google Shape;442;g3a8a166b9a7_8_346">
            <a:extLst>
              <a:ext uri="{FF2B5EF4-FFF2-40B4-BE49-F238E27FC236}">
                <a16:creationId xmlns:a16="http://schemas.microsoft.com/office/drawing/2014/main" id="{AC666C65-59D7-2D7E-AAE4-9352B2CEA366}"/>
              </a:ext>
            </a:extLst>
          </p:cNvPr>
          <p:cNvSpPr txBox="1"/>
          <p:nvPr/>
        </p:nvSpPr>
        <p:spPr>
          <a:xfrm>
            <a:off x="8358042" y="5353094"/>
            <a:ext cx="1166732" cy="266605"/>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Elasticidad</a:t>
            </a:r>
            <a:endParaRPr lang="es-ES_tradnl" sz="1600" kern="1200" noProof="0" dirty="0">
              <a:latin typeface="Poppins" panose="00000500000000000000" pitchFamily="2" charset="0"/>
              <a:ea typeface="Calibri"/>
              <a:cs typeface="Poppins" panose="00000500000000000000" pitchFamily="2" charset="0"/>
              <a:sym typeface="Calibri"/>
            </a:endParaRPr>
          </a:p>
        </p:txBody>
      </p:sp>
      <p:cxnSp>
        <p:nvCxnSpPr>
          <p:cNvPr id="134" name="Google Shape;443;g3a8a166b9a7_8_346">
            <a:extLst>
              <a:ext uri="{FF2B5EF4-FFF2-40B4-BE49-F238E27FC236}">
                <a16:creationId xmlns:a16="http://schemas.microsoft.com/office/drawing/2014/main" id="{E1D98EA1-E6C4-F032-1A61-ECD32F008827}"/>
              </a:ext>
            </a:extLst>
          </p:cNvPr>
          <p:cNvCxnSpPr/>
          <p:nvPr/>
        </p:nvCxnSpPr>
        <p:spPr>
          <a:xfrm>
            <a:off x="9021512" y="4274477"/>
            <a:ext cx="3022777" cy="12209"/>
          </a:xfrm>
          <a:prstGeom prst="straightConnector1">
            <a:avLst/>
          </a:prstGeom>
          <a:noFill/>
          <a:ln w="9525" cap="flat" cmpd="sng">
            <a:solidFill>
              <a:srgbClr val="354A49"/>
            </a:solidFill>
            <a:prstDash val="solid"/>
            <a:round/>
            <a:headEnd type="none" w="sm" len="sm"/>
            <a:tailEnd type="triangle" w="med" len="med"/>
          </a:ln>
        </p:spPr>
      </p:cxnSp>
      <p:sp>
        <p:nvSpPr>
          <p:cNvPr id="135" name="Google Shape;444;g3a8a166b9a7_8_346">
            <a:extLst>
              <a:ext uri="{FF2B5EF4-FFF2-40B4-BE49-F238E27FC236}">
                <a16:creationId xmlns:a16="http://schemas.microsoft.com/office/drawing/2014/main" id="{F071C6AD-91E5-3F11-53BB-E10FEBF32E3B}"/>
              </a:ext>
            </a:extLst>
          </p:cNvPr>
          <p:cNvSpPr txBox="1"/>
          <p:nvPr/>
        </p:nvSpPr>
        <p:spPr>
          <a:xfrm>
            <a:off x="11299678" y="3885515"/>
            <a:ext cx="1166732" cy="41017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err="1">
                <a:latin typeface="Poppins" panose="00000500000000000000" pitchFamily="2" charset="0"/>
                <a:ea typeface="Calibri"/>
                <a:cs typeface="Poppins" panose="00000500000000000000" pitchFamily="2" charset="0"/>
                <a:sym typeface="Calibri"/>
              </a:rPr>
              <a:t>Info</a:t>
            </a:r>
            <a:r>
              <a:rPr lang="es-ES_tradnl" sz="933" b="1" kern="1200" noProof="0" dirty="0">
                <a:latin typeface="Poppins" panose="00000500000000000000" pitchFamily="2" charset="0"/>
                <a:ea typeface="Calibri"/>
                <a:cs typeface="Poppins" panose="00000500000000000000" pitchFamily="2" charset="0"/>
                <a:sym typeface="Calibri"/>
              </a:rPr>
              <a:t>. </a:t>
            </a:r>
            <a:endParaRPr lang="es-ES_tradnl" sz="1600" kern="1200" noProof="0" dirty="0">
              <a:latin typeface="Poppins" panose="00000500000000000000" pitchFamily="2" charset="0"/>
              <a:ea typeface="Calibri"/>
              <a:cs typeface="Poppins" panose="00000500000000000000" pitchFamily="2" charset="0"/>
              <a:sym typeface="Calibri"/>
            </a:endParaRPr>
          </a:p>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mercado</a:t>
            </a:r>
            <a:endParaRPr lang="es-ES_tradnl" sz="1600" kern="1200" noProof="0" dirty="0">
              <a:latin typeface="Poppins" panose="00000500000000000000" pitchFamily="2" charset="0"/>
              <a:ea typeface="Calibri"/>
              <a:cs typeface="Poppins" panose="00000500000000000000" pitchFamily="2" charset="0"/>
              <a:sym typeface="Calibri"/>
            </a:endParaRPr>
          </a:p>
        </p:txBody>
      </p:sp>
      <p:sp>
        <p:nvSpPr>
          <p:cNvPr id="136" name="Google Shape;445;g3a8a166b9a7_8_346">
            <a:extLst>
              <a:ext uri="{FF2B5EF4-FFF2-40B4-BE49-F238E27FC236}">
                <a16:creationId xmlns:a16="http://schemas.microsoft.com/office/drawing/2014/main" id="{A86BA148-0C0F-7E57-F1F6-65ABC679F887}"/>
              </a:ext>
            </a:extLst>
          </p:cNvPr>
          <p:cNvSpPr txBox="1"/>
          <p:nvPr/>
        </p:nvSpPr>
        <p:spPr>
          <a:xfrm>
            <a:off x="9202040" y="3946832"/>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7" name="Google Shape;446;g3a8a166b9a7_8_346">
            <a:extLst>
              <a:ext uri="{FF2B5EF4-FFF2-40B4-BE49-F238E27FC236}">
                <a16:creationId xmlns:a16="http://schemas.microsoft.com/office/drawing/2014/main" id="{FBCA8CFD-0FCD-DADD-4C97-A3950E6F5AAA}"/>
              </a:ext>
            </a:extLst>
          </p:cNvPr>
          <p:cNvSpPr txBox="1"/>
          <p:nvPr/>
        </p:nvSpPr>
        <p:spPr>
          <a:xfrm>
            <a:off x="10567486" y="3946832"/>
            <a:ext cx="109489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8" name="Google Shape;447;g3a8a166b9a7_8_346">
            <a:extLst>
              <a:ext uri="{FF2B5EF4-FFF2-40B4-BE49-F238E27FC236}">
                <a16:creationId xmlns:a16="http://schemas.microsoft.com/office/drawing/2014/main" id="{3AA7F329-D6CC-6EC3-65E9-FF191C5912B5}"/>
              </a:ext>
            </a:extLst>
          </p:cNvPr>
          <p:cNvSpPr txBox="1"/>
          <p:nvPr/>
        </p:nvSpPr>
        <p:spPr>
          <a:xfrm>
            <a:off x="8104760" y="426457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9" name="Google Shape;448;g3a8a166b9a7_8_346">
            <a:extLst>
              <a:ext uri="{FF2B5EF4-FFF2-40B4-BE49-F238E27FC236}">
                <a16:creationId xmlns:a16="http://schemas.microsoft.com/office/drawing/2014/main" id="{E9657917-C23E-4A7A-3214-A6CF50A4C4FB}"/>
              </a:ext>
            </a:extLst>
          </p:cNvPr>
          <p:cNvSpPr txBox="1"/>
          <p:nvPr/>
        </p:nvSpPr>
        <p:spPr>
          <a:xfrm>
            <a:off x="8077666" y="484228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40" name="Google Shape;449;g3a8a166b9a7_8_346">
            <a:extLst>
              <a:ext uri="{FF2B5EF4-FFF2-40B4-BE49-F238E27FC236}">
                <a16:creationId xmlns:a16="http://schemas.microsoft.com/office/drawing/2014/main" id="{35FE2C2C-BCEB-1E41-93B9-D17F23C27271}"/>
              </a:ext>
            </a:extLst>
          </p:cNvPr>
          <p:cNvSpPr txBox="1"/>
          <p:nvPr/>
        </p:nvSpPr>
        <p:spPr>
          <a:xfrm>
            <a:off x="8699188" y="3839253"/>
            <a:ext cx="2823499"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solidFill>
                  <a:srgbClr val="217378"/>
                </a:solidFill>
                <a:latin typeface="Poppins" panose="00000500000000000000" pitchFamily="2" charset="0"/>
                <a:ea typeface="Calibri"/>
                <a:cs typeface="Poppins" panose="00000500000000000000" pitchFamily="2" charset="0"/>
                <a:sym typeface="Calibri"/>
              </a:rPr>
              <a:t>Tabla de decisión</a:t>
            </a:r>
            <a:endParaRPr lang="es-ES_tradnl" sz="1333" kern="1200" noProof="0" dirty="0">
              <a:latin typeface="Poppins" panose="00000500000000000000" pitchFamily="2" charset="0"/>
              <a:ea typeface="Calibri"/>
              <a:cs typeface="Poppins" panose="00000500000000000000" pitchFamily="2" charset="0"/>
              <a:sym typeface="Calibri"/>
            </a:endParaRPr>
          </a:p>
        </p:txBody>
      </p:sp>
      <p:sp>
        <p:nvSpPr>
          <p:cNvPr id="141" name="Google Shape;450;g3a8a166b9a7_8_346">
            <a:extLst>
              <a:ext uri="{FF2B5EF4-FFF2-40B4-BE49-F238E27FC236}">
                <a16:creationId xmlns:a16="http://schemas.microsoft.com/office/drawing/2014/main" id="{B6DEE69D-F2CF-C64F-5932-AD2F19A0645C}"/>
              </a:ext>
            </a:extLst>
          </p:cNvPr>
          <p:cNvSpPr txBox="1"/>
          <p:nvPr/>
        </p:nvSpPr>
        <p:spPr>
          <a:xfrm>
            <a:off x="8624285" y="5610447"/>
            <a:ext cx="3427713"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Ajustes por sensibilidad al precio y mercado</a:t>
            </a:r>
          </a:p>
        </p:txBody>
      </p:sp>
      <p:sp>
        <p:nvSpPr>
          <p:cNvPr id="142" name="Google Shape;451;g3a8a166b9a7_8_346">
            <a:extLst>
              <a:ext uri="{FF2B5EF4-FFF2-40B4-BE49-F238E27FC236}">
                <a16:creationId xmlns:a16="http://schemas.microsoft.com/office/drawing/2014/main" id="{6B7E84A3-C574-C15A-AF39-950BDA3611C0}"/>
              </a:ext>
            </a:extLst>
          </p:cNvPr>
          <p:cNvSpPr txBox="1"/>
          <p:nvPr/>
        </p:nvSpPr>
        <p:spPr>
          <a:xfrm>
            <a:off x="12356471" y="6511523"/>
            <a:ext cx="3644792"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RPr lang="es-PE"/>
            </a:defPPr>
            <a:lvl1pPr marL="171450" marR="0" lvl="0" indent="-171450">
              <a:lnSpc>
                <a:spcPct val="100000"/>
              </a:lnSpc>
              <a:spcBef>
                <a:spcPts val="0"/>
              </a:spcBef>
              <a:spcAft>
                <a:spcPts val="0"/>
              </a:spcAft>
              <a:buClr>
                <a:srgbClr val="000000"/>
              </a:buClr>
              <a:buSzPts val="1500"/>
              <a:buFont typeface="Arial"/>
              <a:buChar char="•"/>
              <a:defRPr sz="1000" b="0" i="0" u="none" strike="noStrike" cap="none">
                <a:solidFill>
                  <a:srgbClr val="000000"/>
                </a:solidFill>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marL="228594" indent="-228594" defTabSz="1219170">
              <a:defRPr/>
            </a:pPr>
            <a:r>
              <a:rPr lang="es-ES_tradnl" sz="1467" kern="1200" noProof="0" dirty="0">
                <a:sym typeface="Calibri"/>
              </a:rPr>
              <a:t>Definir rangos de negociación</a:t>
            </a:r>
          </a:p>
          <a:p>
            <a:pPr marL="228594" indent="-228594" defTabSz="1219170">
              <a:defRPr/>
            </a:pPr>
            <a:r>
              <a:rPr lang="es-ES_tradnl" sz="1467" kern="1200" noProof="0" dirty="0">
                <a:sym typeface="Calibri"/>
              </a:rPr>
              <a:t>Lineamientos de excepciones , gestión d promesas y/o re pricing</a:t>
            </a:r>
          </a:p>
          <a:p>
            <a:pPr marL="0" indent="0" defTabSz="1219170">
              <a:buNone/>
              <a:defRPr/>
            </a:pPr>
            <a:endParaRPr lang="es-ES_tradnl" sz="1467" kern="1200" noProof="0" dirty="0">
              <a:sym typeface="Calibri"/>
            </a:endParaRPr>
          </a:p>
          <a:p>
            <a:pPr marL="0" indent="0" defTabSz="1219170">
              <a:buNone/>
              <a:defRPr/>
            </a:pPr>
            <a:r>
              <a:rPr lang="es-ES_tradnl" sz="1467" kern="1200" noProof="0" dirty="0">
                <a:sym typeface="Calibri"/>
              </a:rPr>
              <a:t>CLV para monitoreo de rentabilidad de cosechas y </a:t>
            </a:r>
            <a:r>
              <a:rPr lang="es-ES_tradnl" sz="1467" kern="1200" noProof="0" dirty="0" err="1">
                <a:sym typeface="Calibri"/>
              </a:rPr>
              <a:t>dash</a:t>
            </a:r>
            <a:r>
              <a:rPr lang="es-ES_tradnl" sz="1467" kern="1200" noProof="0" dirty="0">
                <a:sym typeface="Calibri"/>
              </a:rPr>
              <a:t> excepciones</a:t>
            </a:r>
          </a:p>
        </p:txBody>
      </p:sp>
      <p:sp>
        <p:nvSpPr>
          <p:cNvPr id="143" name="Google Shape;452;g3a8a166b9a7_8_346">
            <a:extLst>
              <a:ext uri="{FF2B5EF4-FFF2-40B4-BE49-F238E27FC236}">
                <a16:creationId xmlns:a16="http://schemas.microsoft.com/office/drawing/2014/main" id="{35C54207-0326-30C8-13AD-1CA554E1F7E6}"/>
              </a:ext>
            </a:extLst>
          </p:cNvPr>
          <p:cNvSpPr txBox="1"/>
          <p:nvPr/>
        </p:nvSpPr>
        <p:spPr>
          <a:xfrm>
            <a:off x="8591735" y="3138105"/>
            <a:ext cx="3333215"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03 Ajuste por sensibilidad</a:t>
            </a:r>
          </a:p>
        </p:txBody>
      </p:sp>
      <p:sp>
        <p:nvSpPr>
          <p:cNvPr id="144" name="Google Shape;453;g3a8a166b9a7_8_346">
            <a:extLst>
              <a:ext uri="{FF2B5EF4-FFF2-40B4-BE49-F238E27FC236}">
                <a16:creationId xmlns:a16="http://schemas.microsoft.com/office/drawing/2014/main" id="{972F36C4-0923-A3E4-56D3-9B72DBAA3333}"/>
              </a:ext>
            </a:extLst>
          </p:cNvPr>
          <p:cNvSpPr txBox="1"/>
          <p:nvPr/>
        </p:nvSpPr>
        <p:spPr>
          <a:xfrm>
            <a:off x="12593285" y="2987519"/>
            <a:ext cx="3138559" cy="6975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olidFill>
                  <a:srgbClr val="FFFFFF"/>
                </a:solidFill>
                <a:sym typeface="Calibri"/>
              </a:rPr>
              <a:t>04 Monitoreo y gestión de excepciones</a:t>
            </a:r>
          </a:p>
        </p:txBody>
      </p:sp>
      <p:cxnSp>
        <p:nvCxnSpPr>
          <p:cNvPr id="145" name="Google Shape;454;g3a8a166b9a7_8_346">
            <a:extLst>
              <a:ext uri="{FF2B5EF4-FFF2-40B4-BE49-F238E27FC236}">
                <a16:creationId xmlns:a16="http://schemas.microsoft.com/office/drawing/2014/main" id="{FE34B4BC-5DDA-E143-ACAC-58734AACAC4C}"/>
              </a:ext>
            </a:extLst>
          </p:cNvPr>
          <p:cNvCxnSpPr>
            <a:cxnSpLocks/>
            <a:stCxn id="123" idx="2"/>
            <a:endCxn id="120" idx="0"/>
          </p:cNvCxnSpPr>
          <p:nvPr/>
        </p:nvCxnSpPr>
        <p:spPr>
          <a:xfrm rot="10800000" flipV="1">
            <a:off x="2301270" y="1915678"/>
            <a:ext cx="4960589" cy="1064757"/>
          </a:xfrm>
          <a:prstGeom prst="bentConnector2">
            <a:avLst/>
          </a:prstGeom>
          <a:noFill/>
          <a:ln w="9525" cap="flat" cmpd="sng">
            <a:solidFill>
              <a:schemeClr val="tx1"/>
            </a:solidFill>
            <a:prstDash val="solid"/>
            <a:round/>
            <a:headEnd type="none" w="sm" len="sm"/>
            <a:tailEnd type="triangle" w="med" len="med"/>
          </a:ln>
        </p:spPr>
      </p:cxnSp>
      <p:cxnSp>
        <p:nvCxnSpPr>
          <p:cNvPr id="146" name="Google Shape;455;g3a8a166b9a7_8_346">
            <a:extLst>
              <a:ext uri="{FF2B5EF4-FFF2-40B4-BE49-F238E27FC236}">
                <a16:creationId xmlns:a16="http://schemas.microsoft.com/office/drawing/2014/main" id="{0DFB9F2C-A9F1-490E-DF4D-B2E1DFD91433}"/>
              </a:ext>
            </a:extLst>
          </p:cNvPr>
          <p:cNvCxnSpPr>
            <a:cxnSpLocks/>
            <a:stCxn id="123" idx="6"/>
            <a:endCxn id="109" idx="0"/>
          </p:cNvCxnSpPr>
          <p:nvPr/>
        </p:nvCxnSpPr>
        <p:spPr>
          <a:xfrm>
            <a:off x="9197339" y="1915678"/>
            <a:ext cx="4964859" cy="1092141"/>
          </a:xfrm>
          <a:prstGeom prst="bentConnector2">
            <a:avLst/>
          </a:prstGeom>
          <a:noFill/>
          <a:ln w="9525" cap="flat" cmpd="sng">
            <a:solidFill>
              <a:schemeClr val="tx1"/>
            </a:solidFill>
            <a:prstDash val="solid"/>
            <a:round/>
            <a:headEnd type="none" w="sm" len="sm"/>
            <a:tailEnd type="triangle" w="med" len="med"/>
          </a:ln>
        </p:spPr>
      </p:cxnSp>
      <p:cxnSp>
        <p:nvCxnSpPr>
          <p:cNvPr id="147" name="Google Shape;456;g3a8a166b9a7_8_346">
            <a:extLst>
              <a:ext uri="{FF2B5EF4-FFF2-40B4-BE49-F238E27FC236}">
                <a16:creationId xmlns:a16="http://schemas.microsoft.com/office/drawing/2014/main" id="{EA854989-8E7D-6BA5-49D9-0A9F8D470CCC}"/>
              </a:ext>
            </a:extLst>
          </p:cNvPr>
          <p:cNvCxnSpPr>
            <a:stCxn id="123" idx="5"/>
            <a:endCxn id="143" idx="0"/>
          </p:cNvCxnSpPr>
          <p:nvPr/>
        </p:nvCxnSpPr>
        <p:spPr>
          <a:xfrm rot="16200000" flipH="1">
            <a:off x="9307773" y="2187536"/>
            <a:ext cx="556691" cy="1344448"/>
          </a:xfrm>
          <a:prstGeom prst="bentConnector3">
            <a:avLst>
              <a:gd name="adj1" fmla="val 38097"/>
            </a:avLst>
          </a:prstGeom>
          <a:noFill/>
          <a:ln w="9525" cap="flat" cmpd="sng">
            <a:solidFill>
              <a:schemeClr val="tx1"/>
            </a:solidFill>
            <a:prstDash val="solid"/>
            <a:round/>
            <a:headEnd type="none" w="sm" len="sm"/>
            <a:tailEnd type="triangle" w="med" len="med"/>
          </a:ln>
        </p:spPr>
      </p:cxnSp>
      <p:sp>
        <p:nvSpPr>
          <p:cNvPr id="148" name="Google Shape;465;g3a8a166b9a7_8_346">
            <a:extLst>
              <a:ext uri="{FF2B5EF4-FFF2-40B4-BE49-F238E27FC236}">
                <a16:creationId xmlns:a16="http://schemas.microsoft.com/office/drawing/2014/main" id="{529A1135-FF2A-D486-685F-C39E1621A47C}"/>
              </a:ext>
            </a:extLst>
          </p:cNvPr>
          <p:cNvSpPr txBox="1"/>
          <p:nvPr/>
        </p:nvSpPr>
        <p:spPr>
          <a:xfrm>
            <a:off x="512076" y="3138105"/>
            <a:ext cx="3600000" cy="432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2700"/>
              <a:defRPr/>
            </a:pPr>
            <a:r>
              <a:rPr lang="es-ES_tradnl" sz="1600" b="1" kern="1200" noProof="0" dirty="0">
                <a:solidFill>
                  <a:prstClr val="white"/>
                </a:solidFill>
                <a:latin typeface="Poppins" panose="00000500000000000000" pitchFamily="2" charset="0"/>
                <a:ea typeface="Calibri"/>
                <a:cs typeface="Poppins" panose="00000500000000000000" pitchFamily="2" charset="0"/>
                <a:sym typeface="Calibri"/>
              </a:rPr>
              <a:t>01 Segmentación inteligente</a:t>
            </a:r>
          </a:p>
        </p:txBody>
      </p:sp>
      <p:sp>
        <p:nvSpPr>
          <p:cNvPr id="149" name="Google Shape;466;g3a8a166b9a7_8_346">
            <a:extLst>
              <a:ext uri="{FF2B5EF4-FFF2-40B4-BE49-F238E27FC236}">
                <a16:creationId xmlns:a16="http://schemas.microsoft.com/office/drawing/2014/main" id="{169F3FC3-4732-7BD0-E2C2-8B2D801C9003}"/>
              </a:ext>
            </a:extLst>
          </p:cNvPr>
          <p:cNvSpPr txBox="1"/>
          <p:nvPr/>
        </p:nvSpPr>
        <p:spPr>
          <a:xfrm>
            <a:off x="4347194" y="5610447"/>
            <a:ext cx="3885407" cy="861704"/>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600" b="1" kern="1200" noProof="0" dirty="0">
                <a:latin typeface="Poppins" panose="00000500000000000000" pitchFamily="2" charset="0"/>
                <a:ea typeface="Calibri"/>
                <a:cs typeface="Poppins" panose="00000500000000000000" pitchFamily="2" charset="0"/>
                <a:sym typeface="Calibri"/>
              </a:rPr>
              <a:t>Tasa alineada a rentabilidad objetivo y componentes dinámicos de riesgo</a:t>
            </a:r>
          </a:p>
        </p:txBody>
      </p:sp>
      <p:sp>
        <p:nvSpPr>
          <p:cNvPr id="150" name="Google Shape;467;g3a8a166b9a7_8_346">
            <a:extLst>
              <a:ext uri="{FF2B5EF4-FFF2-40B4-BE49-F238E27FC236}">
                <a16:creationId xmlns:a16="http://schemas.microsoft.com/office/drawing/2014/main" id="{8AEFEB4D-280C-2D05-1260-3DD4F1DDD32F}"/>
              </a:ext>
            </a:extLst>
          </p:cNvPr>
          <p:cNvSpPr txBox="1"/>
          <p:nvPr/>
        </p:nvSpPr>
        <p:spPr>
          <a:xfrm>
            <a:off x="4581633" y="3138105"/>
            <a:ext cx="3421279"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02 Motor de Rentabilidad</a:t>
            </a:r>
          </a:p>
        </p:txBody>
      </p:sp>
      <p:cxnSp>
        <p:nvCxnSpPr>
          <p:cNvPr id="151" name="Google Shape;468;g3a8a166b9a7_8_346">
            <a:extLst>
              <a:ext uri="{FF2B5EF4-FFF2-40B4-BE49-F238E27FC236}">
                <a16:creationId xmlns:a16="http://schemas.microsoft.com/office/drawing/2014/main" id="{F3A2E867-E59C-F0A6-3452-D94F2F764949}"/>
              </a:ext>
            </a:extLst>
          </p:cNvPr>
          <p:cNvCxnSpPr>
            <a:cxnSpLocks/>
            <a:stCxn id="123" idx="3"/>
            <a:endCxn id="110" idx="0"/>
          </p:cNvCxnSpPr>
          <p:nvPr/>
        </p:nvCxnSpPr>
        <p:spPr>
          <a:xfrm rot="5400000">
            <a:off x="6714277" y="2159041"/>
            <a:ext cx="408651" cy="1253401"/>
          </a:xfrm>
          <a:prstGeom prst="bentConnector3">
            <a:avLst>
              <a:gd name="adj1" fmla="val 50000"/>
            </a:avLst>
          </a:prstGeom>
          <a:noFill/>
          <a:ln w="9525" cap="flat" cmpd="sng">
            <a:solidFill>
              <a:schemeClr val="tx1"/>
            </a:solidFill>
            <a:prstDash val="solid"/>
            <a:round/>
            <a:headEnd type="none" w="sm" len="sm"/>
            <a:tailEnd type="triangle" w="med" len="med"/>
          </a:ln>
        </p:spPr>
      </p:cxnSp>
      <p:grpSp>
        <p:nvGrpSpPr>
          <p:cNvPr id="152" name="Google Shape;470;g3a8a166b9a7_8_346">
            <a:extLst>
              <a:ext uri="{FF2B5EF4-FFF2-40B4-BE49-F238E27FC236}">
                <a16:creationId xmlns:a16="http://schemas.microsoft.com/office/drawing/2014/main" id="{7D45243D-875D-0CD2-A096-DF3B52490339}"/>
              </a:ext>
            </a:extLst>
          </p:cNvPr>
          <p:cNvGrpSpPr/>
          <p:nvPr/>
        </p:nvGrpSpPr>
        <p:grpSpPr>
          <a:xfrm>
            <a:off x="4645762" y="3739576"/>
            <a:ext cx="3357500" cy="1937920"/>
            <a:chOff x="4947976" y="3643837"/>
            <a:chExt cx="3357499" cy="1937920"/>
          </a:xfrm>
        </p:grpSpPr>
        <p:grpSp>
          <p:nvGrpSpPr>
            <p:cNvPr id="153" name="Google Shape;471;g3a8a166b9a7_8_346">
              <a:extLst>
                <a:ext uri="{FF2B5EF4-FFF2-40B4-BE49-F238E27FC236}">
                  <a16:creationId xmlns:a16="http://schemas.microsoft.com/office/drawing/2014/main" id="{35D2375B-5094-CE6A-387F-6912EAEF77BC}"/>
                </a:ext>
              </a:extLst>
            </p:cNvPr>
            <p:cNvGrpSpPr/>
            <p:nvPr/>
          </p:nvGrpSpPr>
          <p:grpSpPr>
            <a:xfrm>
              <a:off x="4947976" y="3643837"/>
              <a:ext cx="3357499" cy="1937920"/>
              <a:chOff x="4620745" y="3880801"/>
              <a:chExt cx="3357499" cy="1937920"/>
            </a:xfrm>
          </p:grpSpPr>
          <p:grpSp>
            <p:nvGrpSpPr>
              <p:cNvPr id="155" name="Google Shape;472;g3a8a166b9a7_8_346">
                <a:extLst>
                  <a:ext uri="{FF2B5EF4-FFF2-40B4-BE49-F238E27FC236}">
                    <a16:creationId xmlns:a16="http://schemas.microsoft.com/office/drawing/2014/main" id="{56C36CA8-3476-FAD0-C17E-6A996A7582BC}"/>
                  </a:ext>
                </a:extLst>
              </p:cNvPr>
              <p:cNvGrpSpPr/>
              <p:nvPr/>
            </p:nvGrpSpPr>
            <p:grpSpPr>
              <a:xfrm>
                <a:off x="5041054" y="3920310"/>
                <a:ext cx="2668940" cy="1381764"/>
                <a:chOff x="247455" y="816623"/>
                <a:chExt cx="8571119" cy="4759668"/>
              </a:xfrm>
            </p:grpSpPr>
            <p:sp>
              <p:nvSpPr>
                <p:cNvPr id="160" name="Google Shape;473;g3a8a166b9a7_8_346">
                  <a:extLst>
                    <a:ext uri="{FF2B5EF4-FFF2-40B4-BE49-F238E27FC236}">
                      <a16:creationId xmlns:a16="http://schemas.microsoft.com/office/drawing/2014/main" id="{DA6C35D4-78AA-37AA-4C0A-67C7EB85DA4B}"/>
                    </a:ext>
                  </a:extLst>
                </p:cNvPr>
                <p:cNvSpPr/>
                <p:nvPr/>
              </p:nvSpPr>
              <p:spPr>
                <a:xfrm>
                  <a:off x="5173277" y="816623"/>
                  <a:ext cx="470995" cy="417238"/>
                </a:xfrm>
                <a:prstGeom prst="flowChartConnector">
                  <a:avLst/>
                </a:prstGeom>
                <a:solidFill>
                  <a:srgbClr val="BFBFBF"/>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1" name="Google Shape;474;g3a8a166b9a7_8_346">
                  <a:extLst>
                    <a:ext uri="{FF2B5EF4-FFF2-40B4-BE49-F238E27FC236}">
                      <a16:creationId xmlns:a16="http://schemas.microsoft.com/office/drawing/2014/main" id="{3560276F-8DEE-D03D-E5E0-4AF6830EE7EA}"/>
                    </a:ext>
                  </a:extLst>
                </p:cNvPr>
                <p:cNvSpPr/>
                <p:nvPr/>
              </p:nvSpPr>
              <p:spPr>
                <a:xfrm>
                  <a:off x="6846027" y="2207321"/>
                  <a:ext cx="1056576" cy="1322550"/>
                </a:xfrm>
                <a:prstGeom prst="flowChartAlternateProcess">
                  <a:avLst/>
                </a:prstGeom>
                <a:solidFill>
                  <a:srgbClr val="7B7B7B"/>
                </a:solidFill>
                <a:ln>
                  <a:noFill/>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2" name="Google Shape;475;g3a8a166b9a7_8_346">
                  <a:extLst>
                    <a:ext uri="{FF2B5EF4-FFF2-40B4-BE49-F238E27FC236}">
                      <a16:creationId xmlns:a16="http://schemas.microsoft.com/office/drawing/2014/main" id="{175F21BF-E3F1-4768-19BB-766E1CC177FC}"/>
                    </a:ext>
                  </a:extLst>
                </p:cNvPr>
                <p:cNvSpPr/>
                <p:nvPr/>
              </p:nvSpPr>
              <p:spPr>
                <a:xfrm>
                  <a:off x="6444483" y="3753100"/>
                  <a:ext cx="1468755" cy="536288"/>
                </a:xfrm>
                <a:prstGeom prst="roundRect">
                  <a:avLst>
                    <a:gd name="adj" fmla="val 16667"/>
                  </a:avLst>
                </a:prstGeom>
                <a:solidFill>
                  <a:srgbClr val="217378">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3" name="Google Shape;476;g3a8a166b9a7_8_346">
                  <a:extLst>
                    <a:ext uri="{FF2B5EF4-FFF2-40B4-BE49-F238E27FC236}">
                      <a16:creationId xmlns:a16="http://schemas.microsoft.com/office/drawing/2014/main" id="{8B9CDE41-376A-B3A9-3AEE-BE2A0B68B444}"/>
                    </a:ext>
                  </a:extLst>
                </p:cNvPr>
                <p:cNvSpPr/>
                <p:nvPr/>
              </p:nvSpPr>
              <p:spPr>
                <a:xfrm>
                  <a:off x="500733" y="4986740"/>
                  <a:ext cx="1603400" cy="568050"/>
                </a:xfrm>
                <a:prstGeom prst="rect">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4" name="Google Shape;477;g3a8a166b9a7_8_346">
                  <a:extLst>
                    <a:ext uri="{FF2B5EF4-FFF2-40B4-BE49-F238E27FC236}">
                      <a16:creationId xmlns:a16="http://schemas.microsoft.com/office/drawing/2014/main" id="{6BA92F1C-ABE0-1F45-24E6-2EFC2C626D29}"/>
                    </a:ext>
                  </a:extLst>
                </p:cNvPr>
                <p:cNvSpPr/>
                <p:nvPr/>
              </p:nvSpPr>
              <p:spPr>
                <a:xfrm>
                  <a:off x="1564684" y="1865567"/>
                  <a:ext cx="4777332" cy="3710724"/>
                </a:xfrm>
                <a:prstGeom prst="flowChartAlternateProcess">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5" name="Google Shape;478;g3a8a166b9a7_8_346">
                  <a:extLst>
                    <a:ext uri="{FF2B5EF4-FFF2-40B4-BE49-F238E27FC236}">
                      <a16:creationId xmlns:a16="http://schemas.microsoft.com/office/drawing/2014/main" id="{7AD20923-E508-413D-7163-7C6D765A572D}"/>
                    </a:ext>
                  </a:extLst>
                </p:cNvPr>
                <p:cNvSpPr/>
                <p:nvPr/>
              </p:nvSpPr>
              <p:spPr>
                <a:xfrm rot="-9043956">
                  <a:off x="247455" y="3453645"/>
                  <a:ext cx="1000092" cy="572202"/>
                </a:xfrm>
                <a:prstGeom prst="diagStripe">
                  <a:avLst>
                    <a:gd name="adj" fmla="val 5000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66" name="Google Shape;479;g3a8a166b9a7_8_346">
                  <a:extLst>
                    <a:ext uri="{FF2B5EF4-FFF2-40B4-BE49-F238E27FC236}">
                      <a16:creationId xmlns:a16="http://schemas.microsoft.com/office/drawing/2014/main" id="{73C18466-D6D5-17EF-1572-2597F8CA361F}"/>
                    </a:ext>
                  </a:extLst>
                </p:cNvPr>
                <p:cNvSpPr/>
                <p:nvPr/>
              </p:nvSpPr>
              <p:spPr>
                <a:xfrm>
                  <a:off x="497840" y="3992818"/>
                  <a:ext cx="760065" cy="988092"/>
                </a:xfrm>
                <a:prstGeom prst="snip2SameRect">
                  <a:avLst>
                    <a:gd name="adj1" fmla="val 16667"/>
                    <a:gd name="adj2" fmla="val 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7" name="Google Shape;480;g3a8a166b9a7_8_346">
                  <a:extLst>
                    <a:ext uri="{FF2B5EF4-FFF2-40B4-BE49-F238E27FC236}">
                      <a16:creationId xmlns:a16="http://schemas.microsoft.com/office/drawing/2014/main" id="{07FFE93D-26E1-AAC0-0F29-48BF67E9BB39}"/>
                    </a:ext>
                  </a:extLst>
                </p:cNvPr>
                <p:cNvSpPr/>
                <p:nvPr/>
              </p:nvSpPr>
              <p:spPr>
                <a:xfrm>
                  <a:off x="6096001" y="3619447"/>
                  <a:ext cx="328590" cy="774450"/>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8" name="Google Shape;481;g3a8a166b9a7_8_346">
                  <a:extLst>
                    <a:ext uri="{FF2B5EF4-FFF2-40B4-BE49-F238E27FC236}">
                      <a16:creationId xmlns:a16="http://schemas.microsoft.com/office/drawing/2014/main" id="{068A014B-D399-B98B-5E50-82588D5E8A22}"/>
                    </a:ext>
                  </a:extLst>
                </p:cNvPr>
                <p:cNvSpPr/>
                <p:nvPr/>
              </p:nvSpPr>
              <p:spPr>
                <a:xfrm>
                  <a:off x="1971040" y="1057362"/>
                  <a:ext cx="3487910" cy="816900"/>
                </a:xfrm>
                <a:prstGeom prst="flowChartTerminator">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9" name="Google Shape;482;g3a8a166b9a7_8_346">
                  <a:extLst>
                    <a:ext uri="{FF2B5EF4-FFF2-40B4-BE49-F238E27FC236}">
                      <a16:creationId xmlns:a16="http://schemas.microsoft.com/office/drawing/2014/main" id="{AA4FB1B8-CA5A-8181-691E-174BEBF984E3}"/>
                    </a:ext>
                  </a:extLst>
                </p:cNvPr>
                <p:cNvSpPr/>
                <p:nvPr/>
              </p:nvSpPr>
              <p:spPr>
                <a:xfrm>
                  <a:off x="6425043" y="3832091"/>
                  <a:ext cx="1607485" cy="536288"/>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0" name="Google Shape;483;g3a8a166b9a7_8_346">
                  <a:extLst>
                    <a:ext uri="{FF2B5EF4-FFF2-40B4-BE49-F238E27FC236}">
                      <a16:creationId xmlns:a16="http://schemas.microsoft.com/office/drawing/2014/main" id="{C1B8C021-2F29-DFEA-4255-8963C499AA3F}"/>
                    </a:ext>
                  </a:extLst>
                </p:cNvPr>
                <p:cNvSpPr/>
                <p:nvPr/>
              </p:nvSpPr>
              <p:spPr>
                <a:xfrm>
                  <a:off x="6424590" y="3842251"/>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1" name="Google Shape;484;g3a8a166b9a7_8_346">
                  <a:extLst>
                    <a:ext uri="{FF2B5EF4-FFF2-40B4-BE49-F238E27FC236}">
                      <a16:creationId xmlns:a16="http://schemas.microsoft.com/office/drawing/2014/main" id="{731F2DAD-E97C-017D-38D4-4F3A29705467}"/>
                    </a:ext>
                  </a:extLst>
                </p:cNvPr>
                <p:cNvSpPr/>
                <p:nvPr/>
              </p:nvSpPr>
              <p:spPr>
                <a:xfrm>
                  <a:off x="7521856" y="3823916"/>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2" name="Google Shape;485;g3a8a166b9a7_8_346">
                  <a:extLst>
                    <a:ext uri="{FF2B5EF4-FFF2-40B4-BE49-F238E27FC236}">
                      <a16:creationId xmlns:a16="http://schemas.microsoft.com/office/drawing/2014/main" id="{C9A73B49-D813-3C5D-68F7-9924CF61C54F}"/>
                    </a:ext>
                  </a:extLst>
                </p:cNvPr>
                <p:cNvSpPr/>
                <p:nvPr/>
              </p:nvSpPr>
              <p:spPr>
                <a:xfrm>
                  <a:off x="6928441" y="3937656"/>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3" name="Google Shape;486;g3a8a166b9a7_8_346">
                  <a:extLst>
                    <a:ext uri="{FF2B5EF4-FFF2-40B4-BE49-F238E27FC236}">
                      <a16:creationId xmlns:a16="http://schemas.microsoft.com/office/drawing/2014/main" id="{107C2773-9F75-279E-221C-1546011C1342}"/>
                    </a:ext>
                  </a:extLst>
                </p:cNvPr>
                <p:cNvSpPr/>
                <p:nvPr/>
              </p:nvSpPr>
              <p:spPr>
                <a:xfrm>
                  <a:off x="7219069" y="3951827"/>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cxnSp>
              <p:nvCxnSpPr>
                <p:cNvPr id="174" name="Google Shape;487;g3a8a166b9a7_8_346">
                  <a:extLst>
                    <a:ext uri="{FF2B5EF4-FFF2-40B4-BE49-F238E27FC236}">
                      <a16:creationId xmlns:a16="http://schemas.microsoft.com/office/drawing/2014/main" id="{1F1BB2E2-4702-4F82-AB6C-862C6216E859}"/>
                    </a:ext>
                  </a:extLst>
                </p:cNvPr>
                <p:cNvCxnSpPr/>
                <p:nvPr/>
              </p:nvCxnSpPr>
              <p:spPr>
                <a:xfrm>
                  <a:off x="2234261" y="3314997"/>
                  <a:ext cx="3249826" cy="25410"/>
                </a:xfrm>
                <a:prstGeom prst="straightConnector1">
                  <a:avLst/>
                </a:prstGeom>
                <a:noFill/>
                <a:ln w="9525" cap="flat" cmpd="sng">
                  <a:solidFill>
                    <a:srgbClr val="217378"/>
                  </a:solidFill>
                  <a:prstDash val="solid"/>
                  <a:round/>
                  <a:headEnd type="none" w="sm" len="sm"/>
                  <a:tailEnd type="triangle" w="med" len="med"/>
                </a:ln>
              </p:spPr>
            </p:cxnSp>
            <p:cxnSp>
              <p:nvCxnSpPr>
                <p:cNvPr id="175" name="Google Shape;488;g3a8a166b9a7_8_346">
                  <a:extLst>
                    <a:ext uri="{FF2B5EF4-FFF2-40B4-BE49-F238E27FC236}">
                      <a16:creationId xmlns:a16="http://schemas.microsoft.com/office/drawing/2014/main" id="{4D73B994-B92B-2AC8-30FE-E087222FA826}"/>
                    </a:ext>
                  </a:extLst>
                </p:cNvPr>
                <p:cNvCxnSpPr/>
                <p:nvPr/>
              </p:nvCxnSpPr>
              <p:spPr>
                <a:xfrm>
                  <a:off x="2255368" y="3725054"/>
                  <a:ext cx="2876550" cy="0"/>
                </a:xfrm>
                <a:prstGeom prst="straightConnector1">
                  <a:avLst/>
                </a:prstGeom>
                <a:noFill/>
                <a:ln w="9525" cap="flat" cmpd="sng">
                  <a:solidFill>
                    <a:srgbClr val="217378"/>
                  </a:solidFill>
                  <a:prstDash val="solid"/>
                  <a:round/>
                  <a:headEnd type="none" w="sm" len="sm"/>
                  <a:tailEnd type="none" w="sm" len="sm"/>
                </a:ln>
              </p:spPr>
            </p:cxnSp>
            <p:sp>
              <p:nvSpPr>
                <p:cNvPr id="176" name="Google Shape;489;g3a8a166b9a7_8_346">
                  <a:extLst>
                    <a:ext uri="{FF2B5EF4-FFF2-40B4-BE49-F238E27FC236}">
                      <a16:creationId xmlns:a16="http://schemas.microsoft.com/office/drawing/2014/main" id="{7D24B2F6-B9BE-4F22-8B98-FA3B6F7038F1}"/>
                    </a:ext>
                  </a:extLst>
                </p:cNvPr>
                <p:cNvSpPr/>
                <p:nvPr/>
              </p:nvSpPr>
              <p:spPr>
                <a:xfrm>
                  <a:off x="2286000" y="2186764"/>
                  <a:ext cx="223796" cy="111608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7" name="Google Shape;490;g3a8a166b9a7_8_346">
                  <a:extLst>
                    <a:ext uri="{FF2B5EF4-FFF2-40B4-BE49-F238E27FC236}">
                      <a16:creationId xmlns:a16="http://schemas.microsoft.com/office/drawing/2014/main" id="{AD0A8479-B98A-B8CD-21A9-EC4A8196F824}"/>
                    </a:ext>
                  </a:extLst>
                </p:cNvPr>
                <p:cNvSpPr/>
                <p:nvPr/>
              </p:nvSpPr>
              <p:spPr>
                <a:xfrm>
                  <a:off x="2581275" y="2321724"/>
                  <a:ext cx="195221" cy="98112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8" name="Google Shape;491;g3a8a166b9a7_8_346">
                  <a:extLst>
                    <a:ext uri="{FF2B5EF4-FFF2-40B4-BE49-F238E27FC236}">
                      <a16:creationId xmlns:a16="http://schemas.microsoft.com/office/drawing/2014/main" id="{552008A7-EA55-BA5D-506D-CBD136662D13}"/>
                    </a:ext>
                  </a:extLst>
                </p:cNvPr>
                <p:cNvSpPr/>
                <p:nvPr/>
              </p:nvSpPr>
              <p:spPr>
                <a:xfrm>
                  <a:off x="2886075" y="2439418"/>
                  <a:ext cx="195221" cy="86343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9" name="Google Shape;492;g3a8a166b9a7_8_346">
                  <a:extLst>
                    <a:ext uri="{FF2B5EF4-FFF2-40B4-BE49-F238E27FC236}">
                      <a16:creationId xmlns:a16="http://schemas.microsoft.com/office/drawing/2014/main" id="{2A91B8C9-C8CA-005E-FED7-9F108BE85AEA}"/>
                    </a:ext>
                  </a:extLst>
                </p:cNvPr>
                <p:cNvSpPr/>
                <p:nvPr/>
              </p:nvSpPr>
              <p:spPr>
                <a:xfrm>
                  <a:off x="3190875" y="2588426"/>
                  <a:ext cx="195221" cy="714423"/>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0" name="Google Shape;493;g3a8a166b9a7_8_346">
                  <a:extLst>
                    <a:ext uri="{FF2B5EF4-FFF2-40B4-BE49-F238E27FC236}">
                      <a16:creationId xmlns:a16="http://schemas.microsoft.com/office/drawing/2014/main" id="{9D395F52-E4B2-4269-49B9-0BB99EB27829}"/>
                    </a:ext>
                  </a:extLst>
                </p:cNvPr>
                <p:cNvSpPr/>
                <p:nvPr/>
              </p:nvSpPr>
              <p:spPr>
                <a:xfrm>
                  <a:off x="3486150" y="2730083"/>
                  <a:ext cx="195221" cy="58229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1" name="Google Shape;494;g3a8a166b9a7_8_346">
                  <a:extLst>
                    <a:ext uri="{FF2B5EF4-FFF2-40B4-BE49-F238E27FC236}">
                      <a16:creationId xmlns:a16="http://schemas.microsoft.com/office/drawing/2014/main" id="{C8EC0D6F-C7A9-FC69-B502-C0EE0B439FA4}"/>
                    </a:ext>
                  </a:extLst>
                </p:cNvPr>
                <p:cNvSpPr/>
                <p:nvPr/>
              </p:nvSpPr>
              <p:spPr>
                <a:xfrm>
                  <a:off x="3790950" y="2868597"/>
                  <a:ext cx="161597" cy="443777"/>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2" name="Google Shape;495;g3a8a166b9a7_8_346">
                  <a:extLst>
                    <a:ext uri="{FF2B5EF4-FFF2-40B4-BE49-F238E27FC236}">
                      <a16:creationId xmlns:a16="http://schemas.microsoft.com/office/drawing/2014/main" id="{35AFD6F3-8FE5-C902-56EC-789AD0D7D705}"/>
                    </a:ext>
                  </a:extLst>
                </p:cNvPr>
                <p:cNvSpPr/>
                <p:nvPr/>
              </p:nvSpPr>
              <p:spPr>
                <a:xfrm>
                  <a:off x="4124325" y="2988865"/>
                  <a:ext cx="159839" cy="323510"/>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3" name="Google Shape;496;g3a8a166b9a7_8_346">
                  <a:extLst>
                    <a:ext uri="{FF2B5EF4-FFF2-40B4-BE49-F238E27FC236}">
                      <a16:creationId xmlns:a16="http://schemas.microsoft.com/office/drawing/2014/main" id="{E0178C1B-D46F-6206-C38B-F5A2DE0818C4}"/>
                    </a:ext>
                  </a:extLst>
                </p:cNvPr>
                <p:cNvSpPr/>
                <p:nvPr/>
              </p:nvSpPr>
              <p:spPr>
                <a:xfrm>
                  <a:off x="2295525" y="3729814"/>
                  <a:ext cx="223796" cy="111608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4" name="Google Shape;497;g3a8a166b9a7_8_346">
                  <a:extLst>
                    <a:ext uri="{FF2B5EF4-FFF2-40B4-BE49-F238E27FC236}">
                      <a16:creationId xmlns:a16="http://schemas.microsoft.com/office/drawing/2014/main" id="{A3703EE9-BCC4-8DF2-AD07-6478050C3CBB}"/>
                    </a:ext>
                  </a:extLst>
                </p:cNvPr>
                <p:cNvSpPr/>
                <p:nvPr/>
              </p:nvSpPr>
              <p:spPr>
                <a:xfrm>
                  <a:off x="2590800" y="3731424"/>
                  <a:ext cx="195221" cy="98112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5" name="Google Shape;498;g3a8a166b9a7_8_346">
                  <a:extLst>
                    <a:ext uri="{FF2B5EF4-FFF2-40B4-BE49-F238E27FC236}">
                      <a16:creationId xmlns:a16="http://schemas.microsoft.com/office/drawing/2014/main" id="{DBC71415-902A-2DA4-573D-DCA35DF42298}"/>
                    </a:ext>
                  </a:extLst>
                </p:cNvPr>
                <p:cNvSpPr/>
                <p:nvPr/>
              </p:nvSpPr>
              <p:spPr>
                <a:xfrm>
                  <a:off x="2895600" y="3734818"/>
                  <a:ext cx="195221" cy="86343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6" name="Google Shape;499;g3a8a166b9a7_8_346">
                  <a:extLst>
                    <a:ext uri="{FF2B5EF4-FFF2-40B4-BE49-F238E27FC236}">
                      <a16:creationId xmlns:a16="http://schemas.microsoft.com/office/drawing/2014/main" id="{9DEDC13F-6F91-615C-3219-55C9A82DB84C}"/>
                    </a:ext>
                  </a:extLst>
                </p:cNvPr>
                <p:cNvSpPr/>
                <p:nvPr/>
              </p:nvSpPr>
              <p:spPr>
                <a:xfrm>
                  <a:off x="3200400" y="3731426"/>
                  <a:ext cx="195221" cy="714423"/>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7" name="Google Shape;500;g3a8a166b9a7_8_346">
                  <a:extLst>
                    <a:ext uri="{FF2B5EF4-FFF2-40B4-BE49-F238E27FC236}">
                      <a16:creationId xmlns:a16="http://schemas.microsoft.com/office/drawing/2014/main" id="{5BE24729-7E1A-3E5F-5CD6-1E8A1C5ED599}"/>
                    </a:ext>
                  </a:extLst>
                </p:cNvPr>
                <p:cNvSpPr/>
                <p:nvPr/>
              </p:nvSpPr>
              <p:spPr>
                <a:xfrm>
                  <a:off x="3495675" y="3730208"/>
                  <a:ext cx="195221" cy="58229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8" name="Google Shape;501;g3a8a166b9a7_8_346">
                  <a:extLst>
                    <a:ext uri="{FF2B5EF4-FFF2-40B4-BE49-F238E27FC236}">
                      <a16:creationId xmlns:a16="http://schemas.microsoft.com/office/drawing/2014/main" id="{F6BEAEEB-9E5F-328F-4DB2-3D9A03F07500}"/>
                    </a:ext>
                  </a:extLst>
                </p:cNvPr>
                <p:cNvSpPr/>
                <p:nvPr/>
              </p:nvSpPr>
              <p:spPr>
                <a:xfrm>
                  <a:off x="3800475" y="3735372"/>
                  <a:ext cx="161597" cy="443777"/>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9" name="Google Shape;502;g3a8a166b9a7_8_346">
                  <a:extLst>
                    <a:ext uri="{FF2B5EF4-FFF2-40B4-BE49-F238E27FC236}">
                      <a16:creationId xmlns:a16="http://schemas.microsoft.com/office/drawing/2014/main" id="{616D35FA-52CC-E133-01D2-5CFA41215369}"/>
                    </a:ext>
                  </a:extLst>
                </p:cNvPr>
                <p:cNvSpPr/>
                <p:nvPr/>
              </p:nvSpPr>
              <p:spPr>
                <a:xfrm>
                  <a:off x="4133850" y="3731815"/>
                  <a:ext cx="159839" cy="323510"/>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0" name="Google Shape;503;g3a8a166b9a7_8_346">
                  <a:extLst>
                    <a:ext uri="{FF2B5EF4-FFF2-40B4-BE49-F238E27FC236}">
                      <a16:creationId xmlns:a16="http://schemas.microsoft.com/office/drawing/2014/main" id="{338540AA-F8E8-C2F4-FF8D-946345E78036}"/>
                    </a:ext>
                  </a:extLst>
                </p:cNvPr>
                <p:cNvSpPr/>
                <p:nvPr/>
              </p:nvSpPr>
              <p:spPr>
                <a:xfrm>
                  <a:off x="5076408" y="1169053"/>
                  <a:ext cx="690149" cy="700096"/>
                </a:xfrm>
                <a:prstGeom prst="snip2SameRect">
                  <a:avLst>
                    <a:gd name="adj1" fmla="val 16667"/>
                    <a:gd name="adj2" fmla="val 0"/>
                  </a:avLst>
                </a:prstGeom>
                <a:solidFill>
                  <a:srgbClr val="005C2A"/>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1" name="Google Shape;504;g3a8a166b9a7_8_346">
                  <a:extLst>
                    <a:ext uri="{FF2B5EF4-FFF2-40B4-BE49-F238E27FC236}">
                      <a16:creationId xmlns:a16="http://schemas.microsoft.com/office/drawing/2014/main" id="{23EEEFD8-7ED2-D4D4-C07F-879DA921DD0A}"/>
                    </a:ext>
                  </a:extLst>
                </p:cNvPr>
                <p:cNvPicPr preferRelativeResize="0"/>
                <p:nvPr/>
              </p:nvPicPr>
              <p:blipFill rotWithShape="1">
                <a:blip r:embed="rId3">
                  <a:alphaModFix/>
                </a:blip>
                <a:srcRect/>
                <a:stretch/>
              </p:blipFill>
              <p:spPr>
                <a:xfrm>
                  <a:off x="5539080" y="2010359"/>
                  <a:ext cx="660717" cy="660718"/>
                </a:xfrm>
                <a:prstGeom prst="rect">
                  <a:avLst/>
                </a:prstGeom>
                <a:noFill/>
                <a:ln>
                  <a:noFill/>
                </a:ln>
              </p:spPr>
            </p:pic>
            <p:sp>
              <p:nvSpPr>
                <p:cNvPr id="192" name="Google Shape;505;g3a8a166b9a7_8_346">
                  <a:extLst>
                    <a:ext uri="{FF2B5EF4-FFF2-40B4-BE49-F238E27FC236}">
                      <a16:creationId xmlns:a16="http://schemas.microsoft.com/office/drawing/2014/main" id="{9F0040F3-546B-33EB-6BD7-B139619595FC}"/>
                    </a:ext>
                  </a:extLst>
                </p:cNvPr>
                <p:cNvSpPr/>
                <p:nvPr/>
              </p:nvSpPr>
              <p:spPr>
                <a:xfrm>
                  <a:off x="5074890" y="2603392"/>
                  <a:ext cx="1254882" cy="637095"/>
                </a:xfrm>
                <a:prstGeom prst="flowChartAlternateProcess">
                  <a:avLst/>
                </a:prstGeom>
                <a:solidFill>
                  <a:srgbClr val="85AEAD"/>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3" name="Google Shape;506;g3a8a166b9a7_8_346">
                  <a:extLst>
                    <a:ext uri="{FF2B5EF4-FFF2-40B4-BE49-F238E27FC236}">
                      <a16:creationId xmlns:a16="http://schemas.microsoft.com/office/drawing/2014/main" id="{05F37691-4246-EA31-2A91-D80453B81AB5}"/>
                    </a:ext>
                  </a:extLst>
                </p:cNvPr>
                <p:cNvSpPr/>
                <p:nvPr/>
              </p:nvSpPr>
              <p:spPr>
                <a:xfrm rot="-1573174">
                  <a:off x="4722195" y="3724733"/>
                  <a:ext cx="1145800" cy="417133"/>
                </a:xfrm>
                <a:prstGeom prst="curvedUpArrow">
                  <a:avLst>
                    <a:gd name="adj1" fmla="val 25000"/>
                    <a:gd name="adj2" fmla="val 50000"/>
                    <a:gd name="adj3" fmla="val 25000"/>
                  </a:avLst>
                </a:prstGeom>
                <a:solidFill>
                  <a:srgbClr val="85AEAD"/>
                </a:solidFill>
                <a:ln w="9525" cap="flat" cmpd="sng">
                  <a:solidFill>
                    <a:srgbClr val="17201F"/>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4" name="Google Shape;507;g3a8a166b9a7_8_346">
                  <a:extLst>
                    <a:ext uri="{FF2B5EF4-FFF2-40B4-BE49-F238E27FC236}">
                      <a16:creationId xmlns:a16="http://schemas.microsoft.com/office/drawing/2014/main" id="{F919A858-80EA-5DB6-62E1-9C58648BB002}"/>
                    </a:ext>
                  </a:extLst>
                </p:cNvPr>
                <p:cNvSpPr/>
                <p:nvPr/>
              </p:nvSpPr>
              <p:spPr>
                <a:xfrm rot="5400000">
                  <a:off x="5403442" y="1608910"/>
                  <a:ext cx="64592" cy="680614"/>
                </a:xfrm>
                <a:prstGeom prst="rightBrace">
                  <a:avLst>
                    <a:gd name="adj1" fmla="val 8333"/>
                    <a:gd name="adj2" fmla="val 50000"/>
                  </a:avLst>
                </a:prstGeom>
                <a:no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5" name="Google Shape;508;g3a8a166b9a7_8_346">
                  <a:extLst>
                    <a:ext uri="{FF2B5EF4-FFF2-40B4-BE49-F238E27FC236}">
                      <a16:creationId xmlns:a16="http://schemas.microsoft.com/office/drawing/2014/main" id="{05657581-61AD-3008-B510-1A8AF6727C07}"/>
                    </a:ext>
                  </a:extLst>
                </p:cNvPr>
                <p:cNvSpPr txBox="1"/>
                <p:nvPr/>
              </p:nvSpPr>
              <p:spPr>
                <a:xfrm>
                  <a:off x="6628006" y="2542332"/>
                  <a:ext cx="2190568" cy="84790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solidFill>
                        <a:prstClr val="white"/>
                      </a:solidFill>
                      <a:latin typeface="Poppins" panose="00000500000000000000" pitchFamily="2" charset="0"/>
                      <a:ea typeface="Calibri"/>
                      <a:cs typeface="Poppins" panose="00000500000000000000" pitchFamily="2" charset="0"/>
                      <a:sym typeface="Calibri"/>
                    </a:rPr>
                    <a:t>TEA</a:t>
                  </a:r>
                  <a:endParaRPr lang="es-ES_tradnl" sz="1900" kern="1200" noProof="0" dirty="0">
                    <a:latin typeface="Poppins" panose="00000500000000000000" pitchFamily="2" charset="0"/>
                    <a:ea typeface="Calibri"/>
                    <a:cs typeface="Poppins" panose="00000500000000000000" pitchFamily="2" charset="0"/>
                    <a:sym typeface="Calibri"/>
                  </a:endParaRPr>
                </a:p>
              </p:txBody>
            </p:sp>
          </p:grpSp>
          <p:sp>
            <p:nvSpPr>
              <p:cNvPr id="156" name="Google Shape;509;g3a8a166b9a7_8_346">
                <a:extLst>
                  <a:ext uri="{FF2B5EF4-FFF2-40B4-BE49-F238E27FC236}">
                    <a16:creationId xmlns:a16="http://schemas.microsoft.com/office/drawing/2014/main" id="{CE4605B6-9DA0-3FFC-31FA-DC5AFFC5ECC4}"/>
                  </a:ext>
                </a:extLst>
              </p:cNvPr>
              <p:cNvSpPr/>
              <p:nvPr/>
            </p:nvSpPr>
            <p:spPr>
              <a:xfrm>
                <a:off x="4620745" y="4258483"/>
                <a:ext cx="745072" cy="378796"/>
              </a:xfrm>
              <a:prstGeom prst="rect">
                <a:avLst/>
              </a:prstGeom>
              <a:solidFill>
                <a:srgbClr val="E9F8F3">
                  <a:alpha val="50196"/>
                </a:srgbClr>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200"/>
                  <a:defRPr/>
                </a:pPr>
                <a:r>
                  <a:rPr lang="es-ES_tradnl" sz="1200" kern="1200" noProof="0" dirty="0">
                    <a:solidFill>
                      <a:prstClr val="black"/>
                    </a:solidFill>
                    <a:latin typeface="Poppins" panose="00000500000000000000" pitchFamily="2" charset="0"/>
                    <a:ea typeface="Calibri"/>
                    <a:cs typeface="Poppins" panose="00000500000000000000" pitchFamily="2" charset="0"/>
                    <a:sym typeface="Calibri"/>
                  </a:rPr>
                  <a:t>INPUT</a:t>
                </a:r>
                <a:endParaRPr lang="es-ES_tradnl" sz="1900" kern="1200" noProof="0" dirty="0">
                  <a:latin typeface="Poppins" panose="00000500000000000000" pitchFamily="2" charset="0"/>
                  <a:ea typeface="Calibri"/>
                  <a:cs typeface="Poppins" panose="00000500000000000000" pitchFamily="2" charset="0"/>
                  <a:sym typeface="Calibri"/>
                </a:endParaRPr>
              </a:p>
            </p:txBody>
          </p:sp>
          <p:cxnSp>
            <p:nvCxnSpPr>
              <p:cNvPr id="157" name="Google Shape;510;g3a8a166b9a7_8_346">
                <a:extLst>
                  <a:ext uri="{FF2B5EF4-FFF2-40B4-BE49-F238E27FC236}">
                    <a16:creationId xmlns:a16="http://schemas.microsoft.com/office/drawing/2014/main" id="{AE774D67-0FA7-0493-753A-856BDBBAED2A}"/>
                  </a:ext>
                </a:extLst>
              </p:cNvPr>
              <p:cNvCxnSpPr>
                <a:stCxn id="190" idx="0"/>
              </p:cNvCxnSpPr>
              <p:nvPr/>
            </p:nvCxnSpPr>
            <p:spPr>
              <a:xfrm rot="10800000" flipH="1">
                <a:off x="6759636" y="4008743"/>
                <a:ext cx="329100" cy="115500"/>
              </a:xfrm>
              <a:prstGeom prst="bentConnector3">
                <a:avLst>
                  <a:gd name="adj1" fmla="val -49402"/>
                </a:avLst>
              </a:prstGeom>
              <a:noFill/>
              <a:ln w="9525" cap="flat" cmpd="sng">
                <a:solidFill>
                  <a:srgbClr val="354A49"/>
                </a:solidFill>
                <a:prstDash val="solid"/>
                <a:round/>
                <a:headEnd type="none" w="sm" len="sm"/>
                <a:tailEnd type="triangle" w="med" len="med"/>
              </a:ln>
            </p:spPr>
          </p:cxnSp>
          <p:sp>
            <p:nvSpPr>
              <p:cNvPr id="158" name="Google Shape;511;g3a8a166b9a7_8_346">
                <a:extLst>
                  <a:ext uri="{FF2B5EF4-FFF2-40B4-BE49-F238E27FC236}">
                    <a16:creationId xmlns:a16="http://schemas.microsoft.com/office/drawing/2014/main" id="{9F8E32AA-CF67-62D4-800D-BC453AC48DE3}"/>
                  </a:ext>
                </a:extLst>
              </p:cNvPr>
              <p:cNvSpPr txBox="1"/>
              <p:nvPr/>
            </p:nvSpPr>
            <p:spPr>
              <a:xfrm>
                <a:off x="7027882" y="3880801"/>
                <a:ext cx="950362" cy="3692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RAROC</a:t>
                </a:r>
                <a:endParaRPr lang="es-ES_tradnl" sz="1900" kern="1200" noProof="0" dirty="0">
                  <a:latin typeface="Poppins" panose="00000500000000000000" pitchFamily="2" charset="0"/>
                  <a:ea typeface="Calibri"/>
                  <a:cs typeface="Poppins" panose="00000500000000000000" pitchFamily="2" charset="0"/>
                  <a:sym typeface="Calibri"/>
                </a:endParaRPr>
              </a:p>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Objetivo</a:t>
                </a:r>
                <a:endParaRPr lang="es-ES_tradnl" sz="1900" kern="1200" noProof="0" dirty="0">
                  <a:latin typeface="Poppins" panose="00000500000000000000" pitchFamily="2" charset="0"/>
                  <a:ea typeface="Calibri"/>
                  <a:cs typeface="Poppins" panose="00000500000000000000" pitchFamily="2" charset="0"/>
                  <a:sym typeface="Calibri"/>
                </a:endParaRPr>
              </a:p>
            </p:txBody>
          </p:sp>
          <p:sp>
            <p:nvSpPr>
              <p:cNvPr id="159" name="Google Shape;512;g3a8a166b9a7_8_346">
                <a:extLst>
                  <a:ext uri="{FF2B5EF4-FFF2-40B4-BE49-F238E27FC236}">
                    <a16:creationId xmlns:a16="http://schemas.microsoft.com/office/drawing/2014/main" id="{97B4D7EB-9C74-F839-93EB-4CDA6729F8FB}"/>
                  </a:ext>
                </a:extLst>
              </p:cNvPr>
              <p:cNvSpPr txBox="1"/>
              <p:nvPr/>
            </p:nvSpPr>
            <p:spPr>
              <a:xfrm>
                <a:off x="5776217" y="5403293"/>
                <a:ext cx="836053" cy="415428"/>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900" kern="1200" noProof="0" dirty="0">
                    <a:latin typeface="Poppins" panose="00000500000000000000" pitchFamily="2" charset="0"/>
                    <a:ea typeface="Calibri"/>
                    <a:cs typeface="Poppins" panose="00000500000000000000" pitchFamily="2" charset="0"/>
                    <a:sym typeface="Calibri"/>
                  </a:rPr>
                  <a:t>CLV</a:t>
                </a:r>
              </a:p>
            </p:txBody>
          </p:sp>
        </p:grpSp>
        <p:sp>
          <p:nvSpPr>
            <p:cNvPr id="154" name="Google Shape;513;g3a8a166b9a7_8_346">
              <a:extLst>
                <a:ext uri="{FF2B5EF4-FFF2-40B4-BE49-F238E27FC236}">
                  <a16:creationId xmlns:a16="http://schemas.microsoft.com/office/drawing/2014/main" id="{F36E478D-1FF5-A378-9D6C-678045E53026}"/>
                </a:ext>
              </a:extLst>
            </p:cNvPr>
            <p:cNvSpPr/>
            <p:nvPr/>
          </p:nvSpPr>
          <p:spPr>
            <a:xfrm>
              <a:off x="5481891" y="4644295"/>
              <a:ext cx="185441" cy="232859"/>
            </a:xfrm>
            <a:prstGeom prst="downArrow">
              <a:avLst>
                <a:gd name="adj1" fmla="val 50000"/>
                <a:gd name="adj2" fmla="val 50000"/>
              </a:avLst>
            </a:prstGeom>
            <a:solidFill>
              <a:srgbClr val="7B7B7B"/>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sp>
        <p:nvSpPr>
          <p:cNvPr id="196" name="Google Shape;514;g3a8a166b9a7_8_346">
            <a:extLst>
              <a:ext uri="{FF2B5EF4-FFF2-40B4-BE49-F238E27FC236}">
                <a16:creationId xmlns:a16="http://schemas.microsoft.com/office/drawing/2014/main" id="{E5609AA1-593A-C995-FC79-6124FC2D35E4}"/>
              </a:ext>
            </a:extLst>
          </p:cNvPr>
          <p:cNvSpPr/>
          <p:nvPr/>
        </p:nvSpPr>
        <p:spPr>
          <a:xfrm>
            <a:off x="297179" y="2918579"/>
            <a:ext cx="3916640" cy="5564556"/>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7" name="Google Shape;515;g3a8a166b9a7_8_346">
            <a:extLst>
              <a:ext uri="{FF2B5EF4-FFF2-40B4-BE49-F238E27FC236}">
                <a16:creationId xmlns:a16="http://schemas.microsoft.com/office/drawing/2014/main" id="{5C9D81AD-AC71-E7E5-4C22-A3E58F446780}"/>
              </a:ext>
            </a:extLst>
          </p:cNvPr>
          <p:cNvSpPr/>
          <p:nvPr/>
        </p:nvSpPr>
        <p:spPr>
          <a:xfrm>
            <a:off x="8348211" y="2921220"/>
            <a:ext cx="3904371" cy="5560693"/>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8" name="Google Shape;530;g3a8a166b9a7_8_346" descr="acoso">
            <a:extLst>
              <a:ext uri="{FF2B5EF4-FFF2-40B4-BE49-F238E27FC236}">
                <a16:creationId xmlns:a16="http://schemas.microsoft.com/office/drawing/2014/main" id="{9A8346B5-AC75-08CA-7EEF-3B09ABF587CF}"/>
              </a:ext>
            </a:extLst>
          </p:cNvPr>
          <p:cNvPicPr preferRelativeResize="0"/>
          <p:nvPr/>
        </p:nvPicPr>
        <p:blipFill rotWithShape="1">
          <a:blip r:embed="rId4">
            <a:clrChange>
              <a:clrFrom>
                <a:srgbClr val="FEFEFE"/>
              </a:clrFrom>
              <a:clrTo>
                <a:srgbClr val="FEFEFE">
                  <a:alpha val="0"/>
                </a:srgbClr>
              </a:clrTo>
            </a:clrChange>
            <a:alphaModFix/>
          </a:blip>
          <a:srcRect/>
          <a:stretch/>
        </p:blipFill>
        <p:spPr>
          <a:xfrm>
            <a:off x="7807014" y="1445973"/>
            <a:ext cx="871948" cy="871948"/>
          </a:xfrm>
          <a:prstGeom prst="rect">
            <a:avLst/>
          </a:prstGeom>
          <a:noFill/>
          <a:ln>
            <a:noFill/>
          </a:ln>
        </p:spPr>
      </p:pic>
      <p:grpSp>
        <p:nvGrpSpPr>
          <p:cNvPr id="199" name="Grupo 14">
            <a:extLst>
              <a:ext uri="{FF2B5EF4-FFF2-40B4-BE49-F238E27FC236}">
                <a16:creationId xmlns:a16="http://schemas.microsoft.com/office/drawing/2014/main" id="{6AA8011B-A502-9B98-B68A-DF53B9135DDD}"/>
              </a:ext>
            </a:extLst>
          </p:cNvPr>
          <p:cNvGrpSpPr/>
          <p:nvPr/>
        </p:nvGrpSpPr>
        <p:grpSpPr>
          <a:xfrm>
            <a:off x="184662" y="4167833"/>
            <a:ext cx="3899441" cy="1316072"/>
            <a:chOff x="116087" y="3490074"/>
            <a:chExt cx="2924581" cy="987054"/>
          </a:xfrm>
        </p:grpSpPr>
        <p:grpSp>
          <p:nvGrpSpPr>
            <p:cNvPr id="200" name="Google Shape;415;g3a8a166b9a7_8_346">
              <a:extLst>
                <a:ext uri="{FF2B5EF4-FFF2-40B4-BE49-F238E27FC236}">
                  <a16:creationId xmlns:a16="http://schemas.microsoft.com/office/drawing/2014/main" id="{CD886E2E-7CFE-6715-2012-BFBD07E470D8}"/>
                </a:ext>
              </a:extLst>
            </p:cNvPr>
            <p:cNvGrpSpPr/>
            <p:nvPr/>
          </p:nvGrpSpPr>
          <p:grpSpPr>
            <a:xfrm>
              <a:off x="766578" y="3692782"/>
              <a:ext cx="2105631" cy="679081"/>
              <a:chOff x="3518200" y="4306705"/>
              <a:chExt cx="5130680" cy="1597696"/>
            </a:xfrm>
          </p:grpSpPr>
          <p:sp>
            <p:nvSpPr>
              <p:cNvPr id="209" name="Google Shape;416;g3a8a166b9a7_8_346">
                <a:extLst>
                  <a:ext uri="{FF2B5EF4-FFF2-40B4-BE49-F238E27FC236}">
                    <a16:creationId xmlns:a16="http://schemas.microsoft.com/office/drawing/2014/main" id="{F52824DF-DDDD-E682-6397-89793F3A0FA2}"/>
                  </a:ext>
                </a:extLst>
              </p:cNvPr>
              <p:cNvSpPr txBox="1"/>
              <p:nvPr/>
            </p:nvSpPr>
            <p:spPr>
              <a:xfrm>
                <a:off x="6976693" y="4329616"/>
                <a:ext cx="1657566" cy="498876"/>
              </a:xfrm>
              <a:prstGeom prst="rect">
                <a:avLst/>
              </a:prstGeom>
              <a:solidFill>
                <a:srgbClr val="548135">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p>
            </p:txBody>
          </p:sp>
          <p:grpSp>
            <p:nvGrpSpPr>
              <p:cNvPr id="210" name="Google Shape;417;g3a8a166b9a7_8_346">
                <a:extLst>
                  <a:ext uri="{FF2B5EF4-FFF2-40B4-BE49-F238E27FC236}">
                    <a16:creationId xmlns:a16="http://schemas.microsoft.com/office/drawing/2014/main" id="{DF42B4E0-973F-DD08-FF30-5B1DE69D21F4}"/>
                  </a:ext>
                </a:extLst>
              </p:cNvPr>
              <p:cNvGrpSpPr/>
              <p:nvPr/>
            </p:nvGrpSpPr>
            <p:grpSpPr>
              <a:xfrm>
                <a:off x="3518200" y="4306705"/>
                <a:ext cx="5130680" cy="1597696"/>
                <a:chOff x="3501127" y="4310221"/>
                <a:chExt cx="5130680" cy="1597696"/>
              </a:xfrm>
            </p:grpSpPr>
            <p:sp>
              <p:nvSpPr>
                <p:cNvPr id="211" name="Google Shape;418;g3a8a166b9a7_8_346">
                  <a:extLst>
                    <a:ext uri="{FF2B5EF4-FFF2-40B4-BE49-F238E27FC236}">
                      <a16:creationId xmlns:a16="http://schemas.microsoft.com/office/drawing/2014/main" id="{866EA2C9-A2A3-EC47-F8E9-9C1DCB97EF1E}"/>
                    </a:ext>
                  </a:extLst>
                </p:cNvPr>
                <p:cNvSpPr txBox="1"/>
                <p:nvPr/>
              </p:nvSpPr>
              <p:spPr>
                <a:xfrm>
                  <a:off x="3501127" y="4310221"/>
                  <a:ext cx="1682574" cy="498876"/>
                </a:xfrm>
                <a:prstGeom prst="rect">
                  <a:avLst/>
                </a:prstGeom>
                <a:solidFill>
                  <a:srgbClr val="FF9A0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2" name="Google Shape;419;g3a8a166b9a7_8_346">
                  <a:extLst>
                    <a:ext uri="{FF2B5EF4-FFF2-40B4-BE49-F238E27FC236}">
                      <a16:creationId xmlns:a16="http://schemas.microsoft.com/office/drawing/2014/main" id="{16FFBE07-403C-D446-151C-D3070AA0D4A4}"/>
                    </a:ext>
                  </a:extLst>
                </p:cNvPr>
                <p:cNvSpPr txBox="1"/>
                <p:nvPr/>
              </p:nvSpPr>
              <p:spPr>
                <a:xfrm>
                  <a:off x="3511288" y="4849604"/>
                  <a:ext cx="1674738" cy="498876"/>
                </a:xfrm>
                <a:prstGeom prst="rect">
                  <a:avLst/>
                </a:prstGeom>
                <a:solidFill>
                  <a:srgbClr val="FFF3E1"/>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3" name="Google Shape;420;g3a8a166b9a7_8_346">
                  <a:extLst>
                    <a:ext uri="{FF2B5EF4-FFF2-40B4-BE49-F238E27FC236}">
                      <a16:creationId xmlns:a16="http://schemas.microsoft.com/office/drawing/2014/main" id="{300FC48B-6400-A4FB-8794-2037C3C79432}"/>
                    </a:ext>
                  </a:extLst>
                </p:cNvPr>
                <p:cNvSpPr txBox="1"/>
                <p:nvPr/>
              </p:nvSpPr>
              <p:spPr>
                <a:xfrm>
                  <a:off x="3518201" y="5385549"/>
                  <a:ext cx="1682574" cy="498876"/>
                </a:xfrm>
                <a:prstGeom prst="rect">
                  <a:avLst/>
                </a:prstGeom>
                <a:solidFill>
                  <a:srgbClr val="E5F1D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4" name="Google Shape;421;g3a8a166b9a7_8_346">
                  <a:extLst>
                    <a:ext uri="{FF2B5EF4-FFF2-40B4-BE49-F238E27FC236}">
                      <a16:creationId xmlns:a16="http://schemas.microsoft.com/office/drawing/2014/main" id="{9303AD22-FFE7-37C5-598B-C686476BB768}"/>
                    </a:ext>
                  </a:extLst>
                </p:cNvPr>
                <p:cNvSpPr txBox="1"/>
                <p:nvPr/>
              </p:nvSpPr>
              <p:spPr>
                <a:xfrm>
                  <a:off x="5232054" y="4320380"/>
                  <a:ext cx="1674752" cy="498876"/>
                </a:xfrm>
                <a:prstGeom prst="rect">
                  <a:avLst/>
                </a:prstGeom>
                <a:solidFill>
                  <a:srgbClr val="FFD79B">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5" name="Google Shape;422;g3a8a166b9a7_8_346">
                  <a:extLst>
                    <a:ext uri="{FF2B5EF4-FFF2-40B4-BE49-F238E27FC236}">
                      <a16:creationId xmlns:a16="http://schemas.microsoft.com/office/drawing/2014/main" id="{EDF19687-0346-4B4E-6E5F-E137F9E023FE}"/>
                    </a:ext>
                  </a:extLst>
                </p:cNvPr>
                <p:cNvSpPr txBox="1"/>
                <p:nvPr/>
              </p:nvSpPr>
              <p:spPr>
                <a:xfrm>
                  <a:off x="5234393" y="4859764"/>
                  <a:ext cx="1682574" cy="498876"/>
                </a:xfrm>
                <a:prstGeom prst="rect">
                  <a:avLst/>
                </a:prstGeom>
                <a:solidFill>
                  <a:srgbClr val="A8D08C">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6" name="Google Shape;423;g3a8a166b9a7_8_346">
                  <a:extLst>
                    <a:ext uri="{FF2B5EF4-FFF2-40B4-BE49-F238E27FC236}">
                      <a16:creationId xmlns:a16="http://schemas.microsoft.com/office/drawing/2014/main" id="{16BD94C4-03DE-1C4C-210A-06054FDA0AFB}"/>
                    </a:ext>
                  </a:extLst>
                </p:cNvPr>
                <p:cNvSpPr txBox="1"/>
                <p:nvPr/>
              </p:nvSpPr>
              <p:spPr>
                <a:xfrm>
                  <a:off x="5242329" y="5409041"/>
                  <a:ext cx="168257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7" name="Google Shape;424;g3a8a166b9a7_8_346">
                  <a:extLst>
                    <a:ext uri="{FF2B5EF4-FFF2-40B4-BE49-F238E27FC236}">
                      <a16:creationId xmlns:a16="http://schemas.microsoft.com/office/drawing/2014/main" id="{552572D1-EFE3-F7B5-F0A1-46EB3B373A82}"/>
                    </a:ext>
                  </a:extLst>
                </p:cNvPr>
                <p:cNvSpPr txBox="1"/>
                <p:nvPr/>
              </p:nvSpPr>
              <p:spPr>
                <a:xfrm>
                  <a:off x="6963911" y="4881787"/>
                  <a:ext cx="1653273" cy="498876"/>
                </a:xfrm>
                <a:prstGeom prst="rect">
                  <a:avLst/>
                </a:prstGeom>
                <a:solidFill>
                  <a:srgbClr val="38562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8" name="Google Shape;425;g3a8a166b9a7_8_346">
                  <a:extLst>
                    <a:ext uri="{FF2B5EF4-FFF2-40B4-BE49-F238E27FC236}">
                      <a16:creationId xmlns:a16="http://schemas.microsoft.com/office/drawing/2014/main" id="{03BE13BA-EEB7-9D90-C5DC-41E9A9357F5C}"/>
                    </a:ext>
                  </a:extLst>
                </p:cNvPr>
                <p:cNvSpPr txBox="1"/>
                <p:nvPr/>
              </p:nvSpPr>
              <p:spPr>
                <a:xfrm>
                  <a:off x="6971143" y="5407191"/>
                  <a:ext cx="166066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grpSp>
        <p:sp>
          <p:nvSpPr>
            <p:cNvPr id="201" name="Google Shape;426;g3a8a166b9a7_8_346">
              <a:extLst>
                <a:ext uri="{FF2B5EF4-FFF2-40B4-BE49-F238E27FC236}">
                  <a16:creationId xmlns:a16="http://schemas.microsoft.com/office/drawing/2014/main" id="{940D6126-7C12-C6D9-C1E4-E257BC546C34}"/>
                </a:ext>
              </a:extLst>
            </p:cNvPr>
            <p:cNvSpPr txBox="1"/>
            <p:nvPr/>
          </p:nvSpPr>
          <p:spPr>
            <a:xfrm>
              <a:off x="770767" y="3509978"/>
              <a:ext cx="696197" cy="150240"/>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Bajo </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2" name="Google Shape;427;g3a8a166b9a7_8_346">
              <a:extLst>
                <a:ext uri="{FF2B5EF4-FFF2-40B4-BE49-F238E27FC236}">
                  <a16:creationId xmlns:a16="http://schemas.microsoft.com/office/drawing/2014/main" id="{FF09D960-811A-B2A8-3AA5-5BD6B746814A}"/>
                </a:ext>
              </a:extLst>
            </p:cNvPr>
            <p:cNvSpPr txBox="1"/>
            <p:nvPr/>
          </p:nvSpPr>
          <p:spPr>
            <a:xfrm>
              <a:off x="1472474" y="3490074"/>
              <a:ext cx="687317"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Medio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3" name="Google Shape;428;g3a8a166b9a7_8_346">
              <a:extLst>
                <a:ext uri="{FF2B5EF4-FFF2-40B4-BE49-F238E27FC236}">
                  <a16:creationId xmlns:a16="http://schemas.microsoft.com/office/drawing/2014/main" id="{31F98FCD-454B-6895-8E40-B2280DAE091C}"/>
                </a:ext>
              </a:extLst>
            </p:cNvPr>
            <p:cNvSpPr txBox="1"/>
            <p:nvPr/>
          </p:nvSpPr>
          <p:spPr>
            <a:xfrm>
              <a:off x="2195549" y="3490074"/>
              <a:ext cx="670658"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Alto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cxnSp>
          <p:nvCxnSpPr>
            <p:cNvPr id="204" name="Google Shape;429;g3a8a166b9a7_8_346">
              <a:extLst>
                <a:ext uri="{FF2B5EF4-FFF2-40B4-BE49-F238E27FC236}">
                  <a16:creationId xmlns:a16="http://schemas.microsoft.com/office/drawing/2014/main" id="{55692CAF-36A5-5A05-5C71-391121B35D84}"/>
                </a:ext>
              </a:extLst>
            </p:cNvPr>
            <p:cNvCxnSpPr/>
            <p:nvPr/>
          </p:nvCxnSpPr>
          <p:spPr>
            <a:xfrm>
              <a:off x="773585" y="3653023"/>
              <a:ext cx="2267083" cy="9158"/>
            </a:xfrm>
            <a:prstGeom prst="straightConnector1">
              <a:avLst/>
            </a:prstGeom>
            <a:noFill/>
            <a:ln w="9525" cap="flat" cmpd="sng">
              <a:solidFill>
                <a:srgbClr val="354A49"/>
              </a:solidFill>
              <a:prstDash val="solid"/>
              <a:round/>
              <a:headEnd type="none" w="sm" len="sm"/>
              <a:tailEnd type="triangle" w="med" len="med"/>
            </a:ln>
          </p:spPr>
        </p:cxnSp>
        <p:cxnSp>
          <p:nvCxnSpPr>
            <p:cNvPr id="205" name="Google Shape;430;g3a8a166b9a7_8_346">
              <a:extLst>
                <a:ext uri="{FF2B5EF4-FFF2-40B4-BE49-F238E27FC236}">
                  <a16:creationId xmlns:a16="http://schemas.microsoft.com/office/drawing/2014/main" id="{E68AEE05-E419-3F1F-762C-CCAD21D156EE}"/>
                </a:ext>
              </a:extLst>
            </p:cNvPr>
            <p:cNvCxnSpPr/>
            <p:nvPr/>
          </p:nvCxnSpPr>
          <p:spPr>
            <a:xfrm>
              <a:off x="726101" y="3707802"/>
              <a:ext cx="0" cy="769326"/>
            </a:xfrm>
            <a:prstGeom prst="straightConnector1">
              <a:avLst/>
            </a:prstGeom>
            <a:noFill/>
            <a:ln w="9525" cap="flat" cmpd="sng">
              <a:solidFill>
                <a:srgbClr val="354A49"/>
              </a:solidFill>
              <a:prstDash val="solid"/>
              <a:round/>
              <a:headEnd type="none" w="sm" len="sm"/>
              <a:tailEnd type="triangle" w="med" len="med"/>
            </a:ln>
          </p:spPr>
        </p:cxnSp>
        <p:sp>
          <p:nvSpPr>
            <p:cNvPr id="206" name="Google Shape;432;g3a8a166b9a7_8_346">
              <a:extLst>
                <a:ext uri="{FF2B5EF4-FFF2-40B4-BE49-F238E27FC236}">
                  <a16:creationId xmlns:a16="http://schemas.microsoft.com/office/drawing/2014/main" id="{8DF0FF60-F96A-F8C9-824C-2981CF9314D3}"/>
                </a:ext>
              </a:extLst>
            </p:cNvPr>
            <p:cNvSpPr txBox="1"/>
            <p:nvPr/>
          </p:nvSpPr>
          <p:spPr>
            <a:xfrm>
              <a:off x="116087" y="3927296"/>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B</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7" name="Google Shape;432;g3a8a166b9a7_8_346">
              <a:extLst>
                <a:ext uri="{FF2B5EF4-FFF2-40B4-BE49-F238E27FC236}">
                  <a16:creationId xmlns:a16="http://schemas.microsoft.com/office/drawing/2014/main" id="{5150D8CC-9C7C-D8C8-0876-D6A4825A7600}"/>
                </a:ext>
              </a:extLst>
            </p:cNvPr>
            <p:cNvSpPr txBox="1"/>
            <p:nvPr/>
          </p:nvSpPr>
          <p:spPr>
            <a:xfrm>
              <a:off x="122408" y="3693398"/>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A</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8" name="Google Shape;432;g3a8a166b9a7_8_346">
              <a:extLst>
                <a:ext uri="{FF2B5EF4-FFF2-40B4-BE49-F238E27FC236}">
                  <a16:creationId xmlns:a16="http://schemas.microsoft.com/office/drawing/2014/main" id="{E6B0FC12-1F47-9A03-3C52-EF30E2D8AC52}"/>
                </a:ext>
              </a:extLst>
            </p:cNvPr>
            <p:cNvSpPr txBox="1"/>
            <p:nvPr/>
          </p:nvSpPr>
          <p:spPr>
            <a:xfrm>
              <a:off x="117621" y="4155780"/>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N</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grpSp>
      <p:sp>
        <p:nvSpPr>
          <p:cNvPr id="219" name="Google Shape;451;g3a8a166b9a7_8_346">
            <a:extLst>
              <a:ext uri="{FF2B5EF4-FFF2-40B4-BE49-F238E27FC236}">
                <a16:creationId xmlns:a16="http://schemas.microsoft.com/office/drawing/2014/main" id="{C87BC4A8-13A7-9F68-EEAC-4FEB85348E3F}"/>
              </a:ext>
            </a:extLst>
          </p:cNvPr>
          <p:cNvSpPr txBox="1"/>
          <p:nvPr/>
        </p:nvSpPr>
        <p:spPr>
          <a:xfrm>
            <a:off x="469906" y="6511523"/>
            <a:ext cx="3545753"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Construcción de segmentación</a:t>
            </a: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Ajuste con data real (en curso)</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a:t>
            </a:r>
            <a:r>
              <a:rPr lang="es-ES_tradnl" sz="1467" b="1" kern="1200" noProof="0" dirty="0">
                <a:latin typeface="Poppins" panose="00000500000000000000" pitchFamily="2" charset="0"/>
                <a:ea typeface="Calibri"/>
                <a:cs typeface="Poppins" panose="00000500000000000000" pitchFamily="2" charset="0"/>
                <a:sym typeface="Calibri"/>
              </a:rPr>
              <a:t>Definición del RAROC Objetivo y mínimo </a:t>
            </a:r>
            <a:r>
              <a:rPr lang="es-ES_tradnl" sz="1467" kern="1200" noProof="0" dirty="0">
                <a:latin typeface="Poppins" panose="00000500000000000000" pitchFamily="2" charset="0"/>
                <a:ea typeface="Calibri"/>
                <a:cs typeface="Poppins" panose="00000500000000000000" pitchFamily="2" charset="0"/>
                <a:sym typeface="Calibri"/>
              </a:rPr>
              <a:t>por segmento</a:t>
            </a:r>
          </a:p>
        </p:txBody>
      </p:sp>
      <p:sp>
        <p:nvSpPr>
          <p:cNvPr id="220" name="Google Shape;451;g3a8a166b9a7_8_346">
            <a:extLst>
              <a:ext uri="{FF2B5EF4-FFF2-40B4-BE49-F238E27FC236}">
                <a16:creationId xmlns:a16="http://schemas.microsoft.com/office/drawing/2014/main" id="{2DAEE380-41E1-8077-04B9-728D223C9E2C}"/>
              </a:ext>
            </a:extLst>
          </p:cNvPr>
          <p:cNvSpPr txBox="1"/>
          <p:nvPr/>
        </p:nvSpPr>
        <p:spPr>
          <a:xfrm>
            <a:off x="4400880" y="6511523"/>
            <a:ext cx="3782457"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Herramientas: </a:t>
            </a:r>
            <a:r>
              <a:rPr lang="es-ES_tradnl" sz="1467" b="1" kern="1200" noProof="0" dirty="0">
                <a:latin typeface="Poppins" panose="00000500000000000000" pitchFamily="2" charset="0"/>
                <a:ea typeface="Calibri"/>
                <a:cs typeface="Poppins" panose="00000500000000000000" pitchFamily="2" charset="0"/>
                <a:sym typeface="Calibri"/>
              </a:rPr>
              <a:t>curvas </a:t>
            </a:r>
            <a:r>
              <a:rPr lang="es-ES_tradnl" sz="1467" b="1" kern="1200" noProof="0" dirty="0" err="1">
                <a:latin typeface="Poppins" panose="00000500000000000000" pitchFamily="2" charset="0"/>
                <a:ea typeface="Calibri"/>
                <a:cs typeface="Poppins" panose="00000500000000000000" pitchFamily="2" charset="0"/>
                <a:sym typeface="Calibri"/>
              </a:rPr>
              <a:t>lifetime</a:t>
            </a:r>
            <a:r>
              <a:rPr lang="es-ES_tradnl" sz="1467" b="1" kern="1200" noProof="0" dirty="0">
                <a:latin typeface="Poppins" panose="00000500000000000000" pitchFamily="2" charset="0"/>
                <a:ea typeface="Calibri"/>
                <a:cs typeface="Poppins" panose="00000500000000000000" pitchFamily="2" charset="0"/>
                <a:sym typeface="Calibri"/>
              </a:rPr>
              <a:t> de prepagos, cancelaciones, LGD, PD &amp; componente de capital</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Cálculo de </a:t>
            </a:r>
            <a:r>
              <a:rPr lang="es-ES_tradnl" sz="1467" b="1" kern="1200" noProof="0" dirty="0">
                <a:latin typeface="Poppins" panose="00000500000000000000" pitchFamily="2" charset="0"/>
                <a:ea typeface="Calibri"/>
                <a:cs typeface="Poppins" panose="00000500000000000000" pitchFamily="2" charset="0"/>
                <a:sym typeface="Calibri"/>
              </a:rPr>
              <a:t>tasa alineada al RAROC </a:t>
            </a:r>
            <a:r>
              <a:rPr lang="es-ES_tradnl" sz="1467" kern="1200" noProof="0" dirty="0">
                <a:latin typeface="Poppins" panose="00000500000000000000" pitchFamily="2" charset="0"/>
                <a:ea typeface="Calibri"/>
                <a:cs typeface="Poppins" panose="00000500000000000000" pitchFamily="2" charset="0"/>
                <a:sym typeface="Calibri"/>
              </a:rPr>
              <a:t>objetivo</a:t>
            </a:r>
          </a:p>
        </p:txBody>
      </p:sp>
      <p:sp>
        <p:nvSpPr>
          <p:cNvPr id="221" name="Google Shape;451;g3a8a166b9a7_8_346">
            <a:extLst>
              <a:ext uri="{FF2B5EF4-FFF2-40B4-BE49-F238E27FC236}">
                <a16:creationId xmlns:a16="http://schemas.microsoft.com/office/drawing/2014/main" id="{2DAD39B3-1C01-64FE-3C23-E378364A5FED}"/>
              </a:ext>
            </a:extLst>
          </p:cNvPr>
          <p:cNvSpPr txBox="1"/>
          <p:nvPr/>
        </p:nvSpPr>
        <p:spPr>
          <a:xfrm>
            <a:off x="8349421" y="6511523"/>
            <a:ext cx="4067684"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a:ea typeface="Calibri"/>
                <a:cs typeface="Poppins"/>
                <a:sym typeface="Calibri"/>
              </a:rPr>
              <a:t>Modelo econométrico de elasticidad por </a:t>
            </a:r>
            <a:r>
              <a:rPr lang="es-ES_tradnl" sz="1467" kern="1200" noProof="0" dirty="0" err="1">
                <a:latin typeface="Poppins"/>
                <a:ea typeface="Calibri"/>
                <a:cs typeface="Poppins"/>
                <a:sym typeface="Calibri"/>
              </a:rPr>
              <a:t>cluster</a:t>
            </a:r>
            <a:endParaRPr lang="es-ES_tradnl" sz="1467" kern="1200" noProof="0" dirty="0">
              <a:latin typeface="Poppins"/>
              <a:ea typeface="Calibri"/>
              <a:cs typeface="Poppins"/>
              <a:sym typeface="Calibri"/>
            </a:endParaRP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Análisis táctico de competencia</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a:ea typeface="Calibri"/>
                <a:cs typeface="Poppins"/>
                <a:sym typeface="Calibri"/>
              </a:rPr>
              <a:t>Oportunidad: Validar </a:t>
            </a:r>
            <a:r>
              <a:rPr lang="es-ES_tradnl" sz="1467" b="1" kern="1200" noProof="0" dirty="0">
                <a:latin typeface="Poppins"/>
                <a:ea typeface="Calibri"/>
                <a:cs typeface="Poppins"/>
                <a:sym typeface="Calibri"/>
              </a:rPr>
              <a:t>sinergia</a:t>
            </a:r>
            <a:r>
              <a:rPr lang="es-ES_tradnl" sz="1467" kern="1200" noProof="0" dirty="0">
                <a:latin typeface="Poppins"/>
                <a:ea typeface="Calibri"/>
                <a:cs typeface="Poppins"/>
                <a:sym typeface="Calibri"/>
              </a:rPr>
              <a:t> con modelos de </a:t>
            </a:r>
            <a:r>
              <a:rPr lang="es-ES_tradnl" sz="1467" b="1" kern="1200" noProof="0" dirty="0" err="1">
                <a:latin typeface="Poppins"/>
                <a:ea typeface="Calibri"/>
                <a:cs typeface="Poppins"/>
                <a:sym typeface="Calibri"/>
              </a:rPr>
              <a:t>retail</a:t>
            </a:r>
            <a:r>
              <a:rPr lang="es-ES_tradnl" sz="1467" kern="1200" noProof="0" dirty="0">
                <a:latin typeface="Poppins"/>
                <a:ea typeface="Calibri"/>
                <a:cs typeface="Poppins"/>
                <a:sym typeface="Calibri"/>
              </a:rPr>
              <a:t> para BN</a:t>
            </a:r>
            <a:endParaRPr lang="es-ES_tradnl" sz="1400" kern="1200" noProof="0" dirty="0"/>
          </a:p>
        </p:txBody>
      </p:sp>
      <p:sp>
        <p:nvSpPr>
          <p:cNvPr id="222" name="Google Shape;450;g3a8a166b9a7_8_346">
            <a:extLst>
              <a:ext uri="{FF2B5EF4-FFF2-40B4-BE49-F238E27FC236}">
                <a16:creationId xmlns:a16="http://schemas.microsoft.com/office/drawing/2014/main" id="{6894935D-7D19-BA7E-087B-D17C2FCEFD25}"/>
              </a:ext>
            </a:extLst>
          </p:cNvPr>
          <p:cNvSpPr txBox="1"/>
          <p:nvPr/>
        </p:nvSpPr>
        <p:spPr>
          <a:xfrm>
            <a:off x="12464230" y="5610447"/>
            <a:ext cx="3282809"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Gestión de excepciones (vista cliente + rentabilidad)</a:t>
            </a:r>
          </a:p>
        </p:txBody>
      </p:sp>
      <p:pic>
        <p:nvPicPr>
          <p:cNvPr id="223" name="Imagen 29" descr="cumplimiento del proyecto ">
            <a:extLst>
              <a:ext uri="{FF2B5EF4-FFF2-40B4-BE49-F238E27FC236}">
                <a16:creationId xmlns:a16="http://schemas.microsoft.com/office/drawing/2014/main" id="{26A30B38-2AC2-AEE7-C28D-5104F16B0B36}"/>
              </a:ext>
            </a:extLst>
          </p:cNvPr>
          <p:cNvPicPr>
            <a:picLocks noChangeAspect="1"/>
          </p:cNvPicPr>
          <p:nvPr/>
        </p:nvPicPr>
        <p:blipFill>
          <a:blip r:embed="rId5"/>
          <a:stretch>
            <a:fillRect/>
          </a:stretch>
        </p:blipFill>
        <p:spPr>
          <a:xfrm>
            <a:off x="13531210" y="3964524"/>
            <a:ext cx="1290601" cy="1290601"/>
          </a:xfrm>
          <a:prstGeom prst="rect">
            <a:avLst/>
          </a:prstGeom>
        </p:spPr>
      </p:pic>
      <p:sp>
        <p:nvSpPr>
          <p:cNvPr id="3" name="Google Shape;514;g3a8a166b9a7_8_346">
            <a:extLst>
              <a:ext uri="{FF2B5EF4-FFF2-40B4-BE49-F238E27FC236}">
                <a16:creationId xmlns:a16="http://schemas.microsoft.com/office/drawing/2014/main" id="{50FB5E65-87EC-B11E-507E-40549D0146B3}"/>
              </a:ext>
            </a:extLst>
          </p:cNvPr>
          <p:cNvSpPr/>
          <p:nvPr/>
        </p:nvSpPr>
        <p:spPr>
          <a:xfrm>
            <a:off x="8352445" y="2918579"/>
            <a:ext cx="3916640" cy="5564556"/>
          </a:xfrm>
          <a:prstGeom prst="rect">
            <a:avLst/>
          </a:prstGeom>
          <a:noFill/>
          <a:ln w="38100" cap="flat" cmpd="sng">
            <a:solidFill>
              <a:srgbClr val="000000"/>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highlight>
                <a:srgbClr val="006C80"/>
              </a:highlight>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4187903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E5484-1A48-98B0-159F-B62D1F7C064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249CAC8-FB60-47CF-3AC2-DAFFB17E64FD}"/>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4F456554-2D3F-A665-6C3B-FF309CBB0F1F}"/>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Sensibilidad</a:t>
            </a:r>
          </a:p>
        </p:txBody>
      </p:sp>
      <p:cxnSp>
        <p:nvCxnSpPr>
          <p:cNvPr id="7" name="Connector 3">
            <a:extLst>
              <a:ext uri="{FF2B5EF4-FFF2-40B4-BE49-F238E27FC236}">
                <a16:creationId xmlns:a16="http://schemas.microsoft.com/office/drawing/2014/main" id="{782E4224-D6D4-0F8C-1B3B-0A54EF573645}"/>
              </a:ext>
            </a:extLst>
          </p:cNvPr>
          <p:cNvCxnSpPr/>
          <p:nvPr/>
        </p:nvCxnSpPr>
        <p:spPr>
          <a:xfrm>
            <a:off x="658349" y="129861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394789F8-648C-7808-307C-86E46D112ECB}"/>
              </a:ext>
            </a:extLst>
          </p:cNvPr>
          <p:cNvSpPr/>
          <p:nvPr/>
        </p:nvSpPr>
        <p:spPr>
          <a:xfrm>
            <a:off x="658368" y="1645920"/>
            <a:ext cx="4699345" cy="411480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5A5EFECC-2C1A-5FFA-473C-C2D48F3B877D}"/>
              </a:ext>
            </a:extLst>
          </p:cNvPr>
          <p:cNvSpPr/>
          <p:nvPr/>
        </p:nvSpPr>
        <p:spPr>
          <a:xfrm>
            <a:off x="658368" y="1645920"/>
            <a:ext cx="4699345"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C54510E6-6A71-429F-F7F6-79BE2E366FFE}"/>
              </a:ext>
            </a:extLst>
          </p:cNvPr>
          <p:cNvSpPr/>
          <p:nvPr/>
        </p:nvSpPr>
        <p:spPr>
          <a:xfrm>
            <a:off x="859536" y="1847088"/>
            <a:ext cx="274320"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FFFFFF"/>
                </a:solidFill>
                <a:latin typeface="Calibri" panose="020F0502020204030204" pitchFamily="34" charset="0"/>
                <a:cs typeface="Calibri" panose="020F0502020204030204" pitchFamily="34" charset="0"/>
              </a:rPr>
              <a:t>1</a:t>
            </a:r>
          </a:p>
        </p:txBody>
      </p:sp>
      <p:sp>
        <p:nvSpPr>
          <p:cNvPr id="12" name="TextBox 11">
            <a:extLst>
              <a:ext uri="{FF2B5EF4-FFF2-40B4-BE49-F238E27FC236}">
                <a16:creationId xmlns:a16="http://schemas.microsoft.com/office/drawing/2014/main" id="{ADECFE82-F87A-32C6-D3D8-33797106354A}"/>
              </a:ext>
            </a:extLst>
          </p:cNvPr>
          <p:cNvSpPr txBox="1"/>
          <p:nvPr/>
        </p:nvSpPr>
        <p:spPr>
          <a:xfrm>
            <a:off x="1243584" y="1874519"/>
            <a:ext cx="3912961"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Base técnica</a:t>
            </a:r>
          </a:p>
        </p:txBody>
      </p:sp>
      <p:sp>
        <p:nvSpPr>
          <p:cNvPr id="13" name="TextBox 12">
            <a:extLst>
              <a:ext uri="{FF2B5EF4-FFF2-40B4-BE49-F238E27FC236}">
                <a16:creationId xmlns:a16="http://schemas.microsoft.com/office/drawing/2014/main" id="{3FC23ADA-0DA7-18EA-3A69-97ACDE01BA54}"/>
              </a:ext>
            </a:extLst>
          </p:cNvPr>
          <p:cNvSpPr txBox="1"/>
          <p:nvPr/>
        </p:nvSpPr>
        <p:spPr>
          <a:xfrm>
            <a:off x="859536" y="2212848"/>
            <a:ext cx="4297009" cy="184666"/>
          </a:xfrm>
          <a:prstGeom prst="rect">
            <a:avLst/>
          </a:prstGeom>
          <a:noFill/>
        </p:spPr>
        <p:txBody>
          <a:bodyPr wrap="square" lIns="0" tIns="0" rIns="0" bIns="0" anchor="t">
            <a:spAutoFit/>
          </a:bodyPr>
          <a:lstStyle/>
          <a:p>
            <a:pPr algn="l">
              <a:lnSpc>
                <a:spcPct val="100000"/>
              </a:lnSpc>
            </a:pPr>
            <a:r>
              <a:rPr lang="es-ES_tradnl" sz="1200" b="0" i="0" noProof="0" dirty="0">
                <a:solidFill>
                  <a:srgbClr val="6E7E7D"/>
                </a:solidFill>
                <a:latin typeface="Calibri" panose="020F0502020204030204" pitchFamily="34" charset="0"/>
                <a:cs typeface="Calibri" panose="020F0502020204030204" pitchFamily="34" charset="0"/>
              </a:rPr>
              <a:t>Partimos de las tasas definidas en la componente 02.</a:t>
            </a:r>
          </a:p>
        </p:txBody>
      </p:sp>
      <p:sp>
        <p:nvSpPr>
          <p:cNvPr id="14" name="Rectangle 13">
            <a:extLst>
              <a:ext uri="{FF2B5EF4-FFF2-40B4-BE49-F238E27FC236}">
                <a16:creationId xmlns:a16="http://schemas.microsoft.com/office/drawing/2014/main" id="{40355022-C6BA-0A54-A838-9EAE2A6F3821}"/>
              </a:ext>
            </a:extLst>
          </p:cNvPr>
          <p:cNvSpPr/>
          <p:nvPr/>
        </p:nvSpPr>
        <p:spPr>
          <a:xfrm>
            <a:off x="1700784" y="2651760"/>
            <a:ext cx="1124488"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Bajo</a:t>
            </a:r>
          </a:p>
        </p:txBody>
      </p:sp>
      <p:sp>
        <p:nvSpPr>
          <p:cNvPr id="15" name="Rectangle 14">
            <a:extLst>
              <a:ext uri="{FF2B5EF4-FFF2-40B4-BE49-F238E27FC236}">
                <a16:creationId xmlns:a16="http://schemas.microsoft.com/office/drawing/2014/main" id="{93B3D799-8A12-3153-6E9E-A46FE2453A31}"/>
              </a:ext>
            </a:extLst>
          </p:cNvPr>
          <p:cNvSpPr/>
          <p:nvPr/>
        </p:nvSpPr>
        <p:spPr>
          <a:xfrm>
            <a:off x="2852704" y="2651760"/>
            <a:ext cx="1124488"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Medio</a:t>
            </a:r>
          </a:p>
        </p:txBody>
      </p:sp>
      <p:sp>
        <p:nvSpPr>
          <p:cNvPr id="16" name="Rectangle 15">
            <a:extLst>
              <a:ext uri="{FF2B5EF4-FFF2-40B4-BE49-F238E27FC236}">
                <a16:creationId xmlns:a16="http://schemas.microsoft.com/office/drawing/2014/main" id="{44DD6356-6B37-9CCA-6306-3C6F0C53B238}"/>
              </a:ext>
            </a:extLst>
          </p:cNvPr>
          <p:cNvSpPr/>
          <p:nvPr/>
        </p:nvSpPr>
        <p:spPr>
          <a:xfrm>
            <a:off x="4004624" y="2651760"/>
            <a:ext cx="1124488"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Alto</a:t>
            </a:r>
          </a:p>
        </p:txBody>
      </p:sp>
      <p:sp>
        <p:nvSpPr>
          <p:cNvPr id="17" name="TextBox 16">
            <a:extLst>
              <a:ext uri="{FF2B5EF4-FFF2-40B4-BE49-F238E27FC236}">
                <a16:creationId xmlns:a16="http://schemas.microsoft.com/office/drawing/2014/main" id="{C0AC4978-6808-40AD-E7E9-890970D26DD1}"/>
              </a:ext>
            </a:extLst>
          </p:cNvPr>
          <p:cNvSpPr txBox="1"/>
          <p:nvPr/>
        </p:nvSpPr>
        <p:spPr>
          <a:xfrm>
            <a:off x="859536" y="3265040"/>
            <a:ext cx="768096" cy="184666"/>
          </a:xfrm>
          <a:prstGeom prst="rect">
            <a:avLst/>
          </a:prstGeom>
          <a:noFill/>
        </p:spPr>
        <p:txBody>
          <a:bodyPr wrap="square" lIns="0" tIns="0" rIns="0" bIns="0" anchor="ctr">
            <a:spAutoFit/>
          </a:bodyPr>
          <a:lstStyle/>
          <a:p>
            <a:pPr algn="r">
              <a:lnSpc>
                <a:spcPct val="100000"/>
              </a:lnSpc>
            </a:pPr>
            <a:r>
              <a:rPr lang="es-ES_tradnl" sz="1200" b="1" i="0" noProof="0" dirty="0">
                <a:solidFill>
                  <a:srgbClr val="3E5553"/>
                </a:solidFill>
                <a:latin typeface="Calibri" panose="020F0502020204030204" pitchFamily="34" charset="0"/>
                <a:cs typeface="Calibri" panose="020F0502020204030204" pitchFamily="34" charset="0"/>
              </a:rPr>
              <a:t>Segmento A</a:t>
            </a:r>
          </a:p>
        </p:txBody>
      </p:sp>
      <p:sp>
        <p:nvSpPr>
          <p:cNvPr id="18" name="Rectangle 17">
            <a:extLst>
              <a:ext uri="{FF2B5EF4-FFF2-40B4-BE49-F238E27FC236}">
                <a16:creationId xmlns:a16="http://schemas.microsoft.com/office/drawing/2014/main" id="{89C1E42E-FD95-37BE-11DE-926780C54EF2}"/>
              </a:ext>
            </a:extLst>
          </p:cNvPr>
          <p:cNvSpPr/>
          <p:nvPr/>
        </p:nvSpPr>
        <p:spPr>
          <a:xfrm>
            <a:off x="1700784" y="2999232"/>
            <a:ext cx="1124488" cy="70713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1%</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11%</a:t>
            </a:r>
          </a:p>
        </p:txBody>
      </p:sp>
      <p:sp>
        <p:nvSpPr>
          <p:cNvPr id="19" name="Rectangle 18">
            <a:extLst>
              <a:ext uri="{FF2B5EF4-FFF2-40B4-BE49-F238E27FC236}">
                <a16:creationId xmlns:a16="http://schemas.microsoft.com/office/drawing/2014/main" id="{0DE58039-ED28-245E-FDA8-67CC5FC2CAC0}"/>
              </a:ext>
            </a:extLst>
          </p:cNvPr>
          <p:cNvSpPr/>
          <p:nvPr/>
        </p:nvSpPr>
        <p:spPr>
          <a:xfrm>
            <a:off x="2852704" y="2999232"/>
            <a:ext cx="1124488" cy="7071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3%</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14%</a:t>
            </a:r>
          </a:p>
        </p:txBody>
      </p:sp>
      <p:sp>
        <p:nvSpPr>
          <p:cNvPr id="20" name="Rectangle 19">
            <a:extLst>
              <a:ext uri="{FF2B5EF4-FFF2-40B4-BE49-F238E27FC236}">
                <a16:creationId xmlns:a16="http://schemas.microsoft.com/office/drawing/2014/main" id="{6E413C1C-F9C2-0EA8-A364-9CC701DBDC01}"/>
              </a:ext>
            </a:extLst>
          </p:cNvPr>
          <p:cNvSpPr/>
          <p:nvPr/>
        </p:nvSpPr>
        <p:spPr>
          <a:xfrm>
            <a:off x="4004624" y="2999232"/>
            <a:ext cx="1124488" cy="7071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6%</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20%</a:t>
            </a:r>
          </a:p>
        </p:txBody>
      </p:sp>
      <p:sp>
        <p:nvSpPr>
          <p:cNvPr id="21" name="TextBox 20">
            <a:extLst>
              <a:ext uri="{FF2B5EF4-FFF2-40B4-BE49-F238E27FC236}">
                <a16:creationId xmlns:a16="http://schemas.microsoft.com/office/drawing/2014/main" id="{FCE96F34-126A-4675-E22E-4ADA7880F7E8}"/>
              </a:ext>
            </a:extLst>
          </p:cNvPr>
          <p:cNvSpPr txBox="1"/>
          <p:nvPr/>
        </p:nvSpPr>
        <p:spPr>
          <a:xfrm>
            <a:off x="859536" y="4017896"/>
            <a:ext cx="768096" cy="184666"/>
          </a:xfrm>
          <a:prstGeom prst="rect">
            <a:avLst/>
          </a:prstGeom>
          <a:noFill/>
        </p:spPr>
        <p:txBody>
          <a:bodyPr wrap="square" lIns="0" tIns="0" rIns="0" bIns="0" anchor="ctr">
            <a:spAutoFit/>
          </a:bodyPr>
          <a:lstStyle/>
          <a:p>
            <a:pPr algn="r">
              <a:lnSpc>
                <a:spcPct val="100000"/>
              </a:lnSpc>
            </a:pPr>
            <a:r>
              <a:rPr lang="es-ES_tradnl" sz="1200" b="1" i="0" noProof="0" dirty="0">
                <a:solidFill>
                  <a:srgbClr val="3E5553"/>
                </a:solidFill>
                <a:latin typeface="Calibri" panose="020F0502020204030204" pitchFamily="34" charset="0"/>
                <a:cs typeface="Calibri" panose="020F0502020204030204" pitchFamily="34" charset="0"/>
              </a:rPr>
              <a:t>Segmento B</a:t>
            </a:r>
          </a:p>
        </p:txBody>
      </p:sp>
      <p:sp>
        <p:nvSpPr>
          <p:cNvPr id="22" name="Rectangle 21">
            <a:extLst>
              <a:ext uri="{FF2B5EF4-FFF2-40B4-BE49-F238E27FC236}">
                <a16:creationId xmlns:a16="http://schemas.microsoft.com/office/drawing/2014/main" id="{E734B2EB-1871-354B-D96B-D4C467E4056F}"/>
              </a:ext>
            </a:extLst>
          </p:cNvPr>
          <p:cNvSpPr/>
          <p:nvPr/>
        </p:nvSpPr>
        <p:spPr>
          <a:xfrm>
            <a:off x="1700784" y="3752088"/>
            <a:ext cx="1124488" cy="7071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2%</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13.5%</a:t>
            </a:r>
          </a:p>
        </p:txBody>
      </p:sp>
      <p:sp>
        <p:nvSpPr>
          <p:cNvPr id="23" name="Rectangle 22">
            <a:extLst>
              <a:ext uri="{FF2B5EF4-FFF2-40B4-BE49-F238E27FC236}">
                <a16:creationId xmlns:a16="http://schemas.microsoft.com/office/drawing/2014/main" id="{5DF2C93E-27EB-0514-C7E1-F2E8AAD6E269}"/>
              </a:ext>
            </a:extLst>
          </p:cNvPr>
          <p:cNvSpPr/>
          <p:nvPr/>
        </p:nvSpPr>
        <p:spPr>
          <a:xfrm>
            <a:off x="2852704" y="3752088"/>
            <a:ext cx="1124488" cy="7071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4%</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17%</a:t>
            </a:r>
          </a:p>
        </p:txBody>
      </p:sp>
      <p:sp>
        <p:nvSpPr>
          <p:cNvPr id="24" name="Rectangle 23">
            <a:extLst>
              <a:ext uri="{FF2B5EF4-FFF2-40B4-BE49-F238E27FC236}">
                <a16:creationId xmlns:a16="http://schemas.microsoft.com/office/drawing/2014/main" id="{8954BA25-24F4-D020-2CE8-CDB09055B911}"/>
              </a:ext>
            </a:extLst>
          </p:cNvPr>
          <p:cNvSpPr/>
          <p:nvPr/>
        </p:nvSpPr>
        <p:spPr>
          <a:xfrm>
            <a:off x="4004624" y="3752088"/>
            <a:ext cx="1124488" cy="7071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8%</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24%</a:t>
            </a:r>
          </a:p>
        </p:txBody>
      </p:sp>
      <p:sp>
        <p:nvSpPr>
          <p:cNvPr id="25" name="TextBox 24">
            <a:extLst>
              <a:ext uri="{FF2B5EF4-FFF2-40B4-BE49-F238E27FC236}">
                <a16:creationId xmlns:a16="http://schemas.microsoft.com/office/drawing/2014/main" id="{D98D88AA-68B3-6C62-B207-2711FAA81C38}"/>
              </a:ext>
            </a:extLst>
          </p:cNvPr>
          <p:cNvSpPr txBox="1"/>
          <p:nvPr/>
        </p:nvSpPr>
        <p:spPr>
          <a:xfrm>
            <a:off x="658349" y="4770752"/>
            <a:ext cx="969283" cy="184666"/>
          </a:xfrm>
          <a:prstGeom prst="rect">
            <a:avLst/>
          </a:prstGeom>
          <a:noFill/>
        </p:spPr>
        <p:txBody>
          <a:bodyPr wrap="square" lIns="0" tIns="0" rIns="0" bIns="0" anchor="ctr">
            <a:spAutoFit/>
          </a:bodyPr>
          <a:lstStyle/>
          <a:p>
            <a:pPr algn="r">
              <a:lnSpc>
                <a:spcPct val="100000"/>
              </a:lnSpc>
            </a:pPr>
            <a:r>
              <a:rPr lang="es-ES_tradnl" sz="1200" b="1" i="0" noProof="0" dirty="0">
                <a:solidFill>
                  <a:srgbClr val="3E5553"/>
                </a:solidFill>
                <a:latin typeface="Calibri" panose="020F0502020204030204" pitchFamily="34" charset="0"/>
                <a:cs typeface="Calibri" panose="020F0502020204030204" pitchFamily="34" charset="0"/>
              </a:rPr>
              <a:t>Segmento N</a:t>
            </a:r>
          </a:p>
        </p:txBody>
      </p:sp>
      <p:sp>
        <p:nvSpPr>
          <p:cNvPr id="26" name="Rectangle 25">
            <a:extLst>
              <a:ext uri="{FF2B5EF4-FFF2-40B4-BE49-F238E27FC236}">
                <a16:creationId xmlns:a16="http://schemas.microsoft.com/office/drawing/2014/main" id="{963A1052-13FA-9D14-1CBF-A70A4AA1FC0B}"/>
              </a:ext>
            </a:extLst>
          </p:cNvPr>
          <p:cNvSpPr/>
          <p:nvPr/>
        </p:nvSpPr>
        <p:spPr>
          <a:xfrm>
            <a:off x="1700784" y="4504944"/>
            <a:ext cx="1124488" cy="7071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3%</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16%</a:t>
            </a:r>
          </a:p>
        </p:txBody>
      </p:sp>
      <p:sp>
        <p:nvSpPr>
          <p:cNvPr id="27" name="Rectangle 26">
            <a:extLst>
              <a:ext uri="{FF2B5EF4-FFF2-40B4-BE49-F238E27FC236}">
                <a16:creationId xmlns:a16="http://schemas.microsoft.com/office/drawing/2014/main" id="{4654038B-F65F-6638-8B55-E3E1C590F644}"/>
              </a:ext>
            </a:extLst>
          </p:cNvPr>
          <p:cNvSpPr/>
          <p:nvPr/>
        </p:nvSpPr>
        <p:spPr>
          <a:xfrm>
            <a:off x="2852704" y="4504944"/>
            <a:ext cx="1124488" cy="7071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4%</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22%</a:t>
            </a:r>
          </a:p>
        </p:txBody>
      </p:sp>
      <p:sp>
        <p:nvSpPr>
          <p:cNvPr id="28" name="Rectangle 27">
            <a:extLst>
              <a:ext uri="{FF2B5EF4-FFF2-40B4-BE49-F238E27FC236}">
                <a16:creationId xmlns:a16="http://schemas.microsoft.com/office/drawing/2014/main" id="{9308B3E9-F898-8539-1CCC-FD1EAFA9709E}"/>
              </a:ext>
            </a:extLst>
          </p:cNvPr>
          <p:cNvSpPr/>
          <p:nvPr/>
        </p:nvSpPr>
        <p:spPr>
          <a:xfrm>
            <a:off x="4004624" y="4504944"/>
            <a:ext cx="1124488" cy="707136"/>
          </a:xfrm>
          <a:prstGeom prst="rect">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12%</a:t>
            </a:r>
          </a:p>
          <a:p>
            <a:pPr algn="ctr">
              <a:lnSpc>
                <a:spcPct val="110000"/>
              </a:lnSpc>
            </a:pPr>
            <a:r>
              <a:rPr lang="es-ES_tradnl" sz="1600" b="1" i="0" noProof="0" dirty="0">
                <a:solidFill>
                  <a:srgbClr val="083A38"/>
                </a:solidFill>
                <a:latin typeface="Calibri" panose="020F0502020204030204" pitchFamily="34" charset="0"/>
                <a:cs typeface="Calibri" panose="020F0502020204030204" pitchFamily="34" charset="0"/>
              </a:rPr>
              <a:t>34%</a:t>
            </a:r>
          </a:p>
        </p:txBody>
      </p:sp>
      <p:sp>
        <p:nvSpPr>
          <p:cNvPr id="29" name="TextBox 28">
            <a:extLst>
              <a:ext uri="{FF2B5EF4-FFF2-40B4-BE49-F238E27FC236}">
                <a16:creationId xmlns:a16="http://schemas.microsoft.com/office/drawing/2014/main" id="{3E11FC3B-1F77-300C-7555-CB72CB0CD4D6}"/>
              </a:ext>
            </a:extLst>
          </p:cNvPr>
          <p:cNvSpPr txBox="1"/>
          <p:nvPr/>
        </p:nvSpPr>
        <p:spPr>
          <a:xfrm>
            <a:off x="859536" y="5358383"/>
            <a:ext cx="4297009" cy="169277"/>
          </a:xfrm>
          <a:prstGeom prst="rect">
            <a:avLst/>
          </a:prstGeom>
          <a:noFill/>
        </p:spPr>
        <p:txBody>
          <a:bodyPr wrap="square" lIns="0" tIns="0" rIns="0" bIns="0" anchor="t">
            <a:spAutoFit/>
          </a:bodyPr>
          <a:lstStyle/>
          <a:p>
            <a:pPr algn="ctr">
              <a:lnSpc>
                <a:spcPct val="100000"/>
              </a:lnSpc>
            </a:pPr>
            <a:r>
              <a:rPr lang="es-ES_tradnl" sz="1100" b="0" i="0" noProof="0" dirty="0">
                <a:solidFill>
                  <a:srgbClr val="9AA8A7"/>
                </a:solidFill>
                <a:latin typeface="Calibri" panose="020F0502020204030204" pitchFamily="34" charset="0"/>
                <a:cs typeface="Calibri" panose="020F0502020204030204" pitchFamily="34" charset="0"/>
              </a:rPr>
              <a:t>Costo de riesgo  /  TEA técnica</a:t>
            </a:r>
          </a:p>
        </p:txBody>
      </p:sp>
      <p:cxnSp>
        <p:nvCxnSpPr>
          <p:cNvPr id="30" name="Connector 28">
            <a:extLst>
              <a:ext uri="{FF2B5EF4-FFF2-40B4-BE49-F238E27FC236}">
                <a16:creationId xmlns:a16="http://schemas.microsoft.com/office/drawing/2014/main" id="{C9FF7A41-2CD8-DAFE-BB31-8F6487C97B7E}"/>
              </a:ext>
            </a:extLst>
          </p:cNvPr>
          <p:cNvCxnSpPr/>
          <p:nvPr/>
        </p:nvCxnSpPr>
        <p:spPr>
          <a:xfrm>
            <a:off x="5430865" y="3703320"/>
            <a:ext cx="274320"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54B0EA9E-D8A7-6064-9869-5D04457983E9}"/>
              </a:ext>
            </a:extLst>
          </p:cNvPr>
          <p:cNvSpPr/>
          <p:nvPr/>
        </p:nvSpPr>
        <p:spPr>
          <a:xfrm>
            <a:off x="5778337" y="1645920"/>
            <a:ext cx="4699345" cy="411480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8F9CBF9C-B227-ED0A-0845-4F0057341632}"/>
              </a:ext>
            </a:extLst>
          </p:cNvPr>
          <p:cNvSpPr/>
          <p:nvPr/>
        </p:nvSpPr>
        <p:spPr>
          <a:xfrm>
            <a:off x="5778337" y="1645920"/>
            <a:ext cx="4699345" cy="36576"/>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5F85F39B-5D53-2362-3E49-90AC046C00C4}"/>
              </a:ext>
            </a:extLst>
          </p:cNvPr>
          <p:cNvSpPr/>
          <p:nvPr/>
        </p:nvSpPr>
        <p:spPr>
          <a:xfrm>
            <a:off x="5979505" y="1847088"/>
            <a:ext cx="274320" cy="2743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FFFFFF"/>
                </a:solidFill>
                <a:latin typeface="Calibri" panose="020F0502020204030204" pitchFamily="34" charset="0"/>
                <a:cs typeface="Calibri" panose="020F0502020204030204" pitchFamily="34" charset="0"/>
              </a:rPr>
              <a:t>2</a:t>
            </a:r>
          </a:p>
        </p:txBody>
      </p:sp>
      <p:sp>
        <p:nvSpPr>
          <p:cNvPr id="34" name="TextBox 33">
            <a:extLst>
              <a:ext uri="{FF2B5EF4-FFF2-40B4-BE49-F238E27FC236}">
                <a16:creationId xmlns:a16="http://schemas.microsoft.com/office/drawing/2014/main" id="{1C0E6E11-4319-307A-A690-1F65FDCF4F1F}"/>
              </a:ext>
            </a:extLst>
          </p:cNvPr>
          <p:cNvSpPr txBox="1"/>
          <p:nvPr/>
        </p:nvSpPr>
        <p:spPr>
          <a:xfrm>
            <a:off x="6363553" y="1874519"/>
            <a:ext cx="3912961"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Reglas estratégicas</a:t>
            </a:r>
          </a:p>
        </p:txBody>
      </p:sp>
      <p:sp>
        <p:nvSpPr>
          <p:cNvPr id="35" name="TextBox 34">
            <a:extLst>
              <a:ext uri="{FF2B5EF4-FFF2-40B4-BE49-F238E27FC236}">
                <a16:creationId xmlns:a16="http://schemas.microsoft.com/office/drawing/2014/main" id="{A7F0E95B-79C3-DD6D-7C3E-F5A7429E21F1}"/>
              </a:ext>
            </a:extLst>
          </p:cNvPr>
          <p:cNvSpPr txBox="1"/>
          <p:nvPr/>
        </p:nvSpPr>
        <p:spPr>
          <a:xfrm>
            <a:off x="5979505" y="2212848"/>
            <a:ext cx="4297009" cy="184666"/>
          </a:xfrm>
          <a:prstGeom prst="rect">
            <a:avLst/>
          </a:prstGeom>
          <a:noFill/>
        </p:spPr>
        <p:txBody>
          <a:bodyPr wrap="square" lIns="0" tIns="0" rIns="0" bIns="0" anchor="t">
            <a:spAutoFit/>
          </a:bodyPr>
          <a:lstStyle/>
          <a:p>
            <a:pPr algn="l">
              <a:lnSpc>
                <a:spcPct val="100000"/>
              </a:lnSpc>
            </a:pPr>
            <a:r>
              <a:rPr lang="es-ES_tradnl" sz="1200" b="0" i="0" noProof="0" dirty="0">
                <a:solidFill>
                  <a:srgbClr val="6E7E7D"/>
                </a:solidFill>
                <a:latin typeface="Calibri" panose="020F0502020204030204" pitchFamily="34" charset="0"/>
                <a:cs typeface="Calibri" panose="020F0502020204030204" pitchFamily="34" charset="0"/>
              </a:rPr>
              <a:t>Se establecen reglas según los distintos escenarios.</a:t>
            </a:r>
          </a:p>
        </p:txBody>
      </p:sp>
      <p:sp>
        <p:nvSpPr>
          <p:cNvPr id="36" name="TextBox 35">
            <a:extLst>
              <a:ext uri="{FF2B5EF4-FFF2-40B4-BE49-F238E27FC236}">
                <a16:creationId xmlns:a16="http://schemas.microsoft.com/office/drawing/2014/main" id="{F147ECD4-E669-AA1A-B087-F20A8EA71560}"/>
              </a:ext>
            </a:extLst>
          </p:cNvPr>
          <p:cNvSpPr txBox="1"/>
          <p:nvPr/>
        </p:nvSpPr>
        <p:spPr>
          <a:xfrm>
            <a:off x="6939625" y="2615184"/>
            <a:ext cx="3336889"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9AA8A7"/>
                </a:solidFill>
                <a:latin typeface="Calibri" panose="020F0502020204030204" pitchFamily="34" charset="0"/>
                <a:cs typeface="Calibri" panose="020F0502020204030204" pitchFamily="34" charset="0"/>
              </a:rPr>
              <a:t>Información de mercado</a:t>
            </a:r>
          </a:p>
        </p:txBody>
      </p:sp>
      <p:sp>
        <p:nvSpPr>
          <p:cNvPr id="37" name="Rectangle 36">
            <a:extLst>
              <a:ext uri="{FF2B5EF4-FFF2-40B4-BE49-F238E27FC236}">
                <a16:creationId xmlns:a16="http://schemas.microsoft.com/office/drawing/2014/main" id="{97C6A212-EAFF-ABE2-F7C3-34E777A7F5F8}"/>
              </a:ext>
            </a:extLst>
          </p:cNvPr>
          <p:cNvSpPr/>
          <p:nvPr/>
        </p:nvSpPr>
        <p:spPr>
          <a:xfrm>
            <a:off x="6939625" y="2871216"/>
            <a:ext cx="1641012" cy="310896"/>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Por debajo</a:t>
            </a:r>
          </a:p>
        </p:txBody>
      </p:sp>
      <p:sp>
        <p:nvSpPr>
          <p:cNvPr id="38" name="Rectangle 37">
            <a:extLst>
              <a:ext uri="{FF2B5EF4-FFF2-40B4-BE49-F238E27FC236}">
                <a16:creationId xmlns:a16="http://schemas.microsoft.com/office/drawing/2014/main" id="{25A03FF4-D437-9419-01FE-5D58FC64E6E6}"/>
              </a:ext>
            </a:extLst>
          </p:cNvPr>
          <p:cNvSpPr/>
          <p:nvPr/>
        </p:nvSpPr>
        <p:spPr>
          <a:xfrm>
            <a:off x="8608070" y="2871216"/>
            <a:ext cx="1641012" cy="310896"/>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Por encima</a:t>
            </a:r>
          </a:p>
        </p:txBody>
      </p:sp>
      <p:sp>
        <p:nvSpPr>
          <p:cNvPr id="39" name="TextBox 38">
            <a:extLst>
              <a:ext uri="{FF2B5EF4-FFF2-40B4-BE49-F238E27FC236}">
                <a16:creationId xmlns:a16="http://schemas.microsoft.com/office/drawing/2014/main" id="{06B861C0-ABB8-D809-B457-E05904CEAF64}"/>
              </a:ext>
            </a:extLst>
          </p:cNvPr>
          <p:cNvSpPr txBox="1"/>
          <p:nvPr/>
        </p:nvSpPr>
        <p:spPr>
          <a:xfrm>
            <a:off x="5979505" y="3632175"/>
            <a:ext cx="886968" cy="215444"/>
          </a:xfrm>
          <a:prstGeom prst="rect">
            <a:avLst/>
          </a:prstGeom>
          <a:noFill/>
        </p:spPr>
        <p:txBody>
          <a:bodyPr wrap="square" lIns="0" tIns="0" rIns="0" bIns="0" anchor="ctr">
            <a:spAutoFit/>
          </a:bodyPr>
          <a:lstStyle/>
          <a:p>
            <a:pPr algn="r">
              <a:lnSpc>
                <a:spcPct val="100000"/>
              </a:lnSpc>
            </a:pPr>
            <a:r>
              <a:rPr lang="es-ES_tradnl" b="1" i="0" noProof="0" dirty="0">
                <a:solidFill>
                  <a:srgbClr val="3E5553"/>
                </a:solidFill>
                <a:latin typeface="Calibri" panose="020F0502020204030204" pitchFamily="34" charset="0"/>
                <a:cs typeface="Calibri" panose="020F0502020204030204" pitchFamily="34" charset="0"/>
              </a:rPr>
              <a:t>Baja</a:t>
            </a:r>
          </a:p>
        </p:txBody>
      </p:sp>
      <p:sp>
        <p:nvSpPr>
          <p:cNvPr id="40" name="Rectangle 39">
            <a:extLst>
              <a:ext uri="{FF2B5EF4-FFF2-40B4-BE49-F238E27FC236}">
                <a16:creationId xmlns:a16="http://schemas.microsoft.com/office/drawing/2014/main" id="{F5EBEFF5-5EEC-70DB-1596-BAB961312906}"/>
              </a:ext>
            </a:extLst>
          </p:cNvPr>
          <p:cNvSpPr/>
          <p:nvPr/>
        </p:nvSpPr>
        <p:spPr>
          <a:xfrm>
            <a:off x="6939625" y="3255264"/>
            <a:ext cx="1641012" cy="969264"/>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2000"/>
              </a:lnSpc>
            </a:pPr>
            <a:r>
              <a:rPr lang="es-ES_tradnl" sz="2000" b="1" i="0" noProof="0" dirty="0">
                <a:solidFill>
                  <a:srgbClr val="C87A0B"/>
                </a:solidFill>
                <a:latin typeface="Calibri" panose="020F0502020204030204" pitchFamily="34" charset="0"/>
                <a:cs typeface="Calibri" panose="020F0502020204030204" pitchFamily="34" charset="0"/>
              </a:rPr>
              <a:t>Mantener o</a:t>
            </a:r>
          </a:p>
          <a:p>
            <a:pPr algn="ctr">
              <a:lnSpc>
                <a:spcPct val="112000"/>
              </a:lnSpc>
            </a:pPr>
            <a:r>
              <a:rPr lang="es-ES_tradnl" sz="2000" b="1" i="0" noProof="0" dirty="0">
                <a:solidFill>
                  <a:srgbClr val="C87A0B"/>
                </a:solidFill>
                <a:latin typeface="Calibri" panose="020F0502020204030204" pitchFamily="34" charset="0"/>
                <a:cs typeface="Calibri" panose="020F0502020204030204" pitchFamily="34" charset="0"/>
              </a:rPr>
              <a:t>subir tasa</a:t>
            </a:r>
          </a:p>
        </p:txBody>
      </p:sp>
      <p:sp>
        <p:nvSpPr>
          <p:cNvPr id="41" name="Rectangle 40">
            <a:extLst>
              <a:ext uri="{FF2B5EF4-FFF2-40B4-BE49-F238E27FC236}">
                <a16:creationId xmlns:a16="http://schemas.microsoft.com/office/drawing/2014/main" id="{B06AE87D-BE86-DD14-6E21-9F7B71CD9BC8}"/>
              </a:ext>
            </a:extLst>
          </p:cNvPr>
          <p:cNvSpPr/>
          <p:nvPr/>
        </p:nvSpPr>
        <p:spPr>
          <a:xfrm>
            <a:off x="8608070" y="3255264"/>
            <a:ext cx="1641012" cy="969264"/>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2000"/>
              </a:lnSpc>
            </a:pPr>
            <a:r>
              <a:rPr lang="es-ES_tradnl" sz="2000" b="1" i="0" noProof="0" dirty="0">
                <a:solidFill>
                  <a:srgbClr val="FFFFFF"/>
                </a:solidFill>
                <a:latin typeface="Calibri" panose="020F0502020204030204" pitchFamily="34" charset="0"/>
                <a:cs typeface="Calibri" panose="020F0502020204030204" pitchFamily="34" charset="0"/>
              </a:rPr>
              <a:t>Subir tasa</a:t>
            </a:r>
          </a:p>
        </p:txBody>
      </p:sp>
      <p:sp>
        <p:nvSpPr>
          <p:cNvPr id="42" name="TextBox 41">
            <a:extLst>
              <a:ext uri="{FF2B5EF4-FFF2-40B4-BE49-F238E27FC236}">
                <a16:creationId xmlns:a16="http://schemas.microsoft.com/office/drawing/2014/main" id="{E6B86C54-86B4-C6F7-BC6B-07629890C0CA}"/>
              </a:ext>
            </a:extLst>
          </p:cNvPr>
          <p:cNvSpPr txBox="1"/>
          <p:nvPr/>
        </p:nvSpPr>
        <p:spPr>
          <a:xfrm>
            <a:off x="5979505" y="4674591"/>
            <a:ext cx="886968" cy="215444"/>
          </a:xfrm>
          <a:prstGeom prst="rect">
            <a:avLst/>
          </a:prstGeom>
          <a:noFill/>
        </p:spPr>
        <p:txBody>
          <a:bodyPr wrap="square" lIns="0" tIns="0" rIns="0" bIns="0" anchor="ctr">
            <a:spAutoFit/>
          </a:bodyPr>
          <a:lstStyle/>
          <a:p>
            <a:pPr algn="r">
              <a:lnSpc>
                <a:spcPct val="100000"/>
              </a:lnSpc>
            </a:pPr>
            <a:r>
              <a:rPr lang="es-ES_tradnl" b="1" i="0" noProof="0" dirty="0">
                <a:solidFill>
                  <a:srgbClr val="3E5553"/>
                </a:solidFill>
                <a:latin typeface="Calibri" panose="020F0502020204030204" pitchFamily="34" charset="0"/>
                <a:cs typeface="Calibri" panose="020F0502020204030204" pitchFamily="34" charset="0"/>
              </a:rPr>
              <a:t>Alta</a:t>
            </a:r>
          </a:p>
        </p:txBody>
      </p:sp>
      <p:sp>
        <p:nvSpPr>
          <p:cNvPr id="43" name="Rectangle 42">
            <a:extLst>
              <a:ext uri="{FF2B5EF4-FFF2-40B4-BE49-F238E27FC236}">
                <a16:creationId xmlns:a16="http://schemas.microsoft.com/office/drawing/2014/main" id="{0AFD6DE6-2429-7326-489A-4B46FFF4AD0A}"/>
              </a:ext>
            </a:extLst>
          </p:cNvPr>
          <p:cNvSpPr/>
          <p:nvPr/>
        </p:nvSpPr>
        <p:spPr>
          <a:xfrm>
            <a:off x="6939625" y="4297680"/>
            <a:ext cx="1641012" cy="9692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2000"/>
              </a:lnSpc>
            </a:pPr>
            <a:r>
              <a:rPr lang="es-ES_tradnl" sz="2000" b="1" i="0" noProof="0" dirty="0">
                <a:solidFill>
                  <a:srgbClr val="FFFFFF"/>
                </a:solidFill>
                <a:latin typeface="Calibri" panose="020F0502020204030204" pitchFamily="34" charset="0"/>
                <a:cs typeface="Calibri" panose="020F0502020204030204" pitchFamily="34" charset="0"/>
              </a:rPr>
              <a:t>Bajar tasa</a:t>
            </a:r>
          </a:p>
        </p:txBody>
      </p:sp>
      <p:sp>
        <p:nvSpPr>
          <p:cNvPr id="44" name="Rectangle 43">
            <a:extLst>
              <a:ext uri="{FF2B5EF4-FFF2-40B4-BE49-F238E27FC236}">
                <a16:creationId xmlns:a16="http://schemas.microsoft.com/office/drawing/2014/main" id="{F4C73C45-5071-76A8-F745-1BE8B5EC2348}"/>
              </a:ext>
            </a:extLst>
          </p:cNvPr>
          <p:cNvSpPr/>
          <p:nvPr/>
        </p:nvSpPr>
        <p:spPr>
          <a:xfrm>
            <a:off x="8608070" y="4297680"/>
            <a:ext cx="1641012" cy="969264"/>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12000"/>
              </a:lnSpc>
            </a:pPr>
            <a:r>
              <a:rPr lang="es-ES_tradnl" sz="2000" b="1" i="0" noProof="0" dirty="0">
                <a:solidFill>
                  <a:srgbClr val="0C514E"/>
                </a:solidFill>
                <a:latin typeface="Calibri" panose="020F0502020204030204" pitchFamily="34" charset="0"/>
                <a:cs typeface="Calibri" panose="020F0502020204030204" pitchFamily="34" charset="0"/>
              </a:rPr>
              <a:t>Mantener</a:t>
            </a:r>
          </a:p>
        </p:txBody>
      </p:sp>
      <p:sp>
        <p:nvSpPr>
          <p:cNvPr id="45" name="TextBox 44">
            <a:extLst>
              <a:ext uri="{FF2B5EF4-FFF2-40B4-BE49-F238E27FC236}">
                <a16:creationId xmlns:a16="http://schemas.microsoft.com/office/drawing/2014/main" id="{A53246FF-0FC5-91EF-2E8A-F338F8824442}"/>
              </a:ext>
            </a:extLst>
          </p:cNvPr>
          <p:cNvSpPr txBox="1"/>
          <p:nvPr/>
        </p:nvSpPr>
        <p:spPr>
          <a:xfrm>
            <a:off x="5979505" y="5358383"/>
            <a:ext cx="1371600" cy="184666"/>
          </a:xfrm>
          <a:prstGeom prst="rect">
            <a:avLst/>
          </a:prstGeom>
          <a:noFill/>
        </p:spPr>
        <p:txBody>
          <a:bodyPr wrap="square" lIns="0" tIns="0" rIns="0" bIns="0" anchor="t">
            <a:spAutoFit/>
          </a:bodyPr>
          <a:lstStyle/>
          <a:p>
            <a:pPr algn="l">
              <a:lnSpc>
                <a:spcPct val="100000"/>
              </a:lnSpc>
            </a:pPr>
            <a:r>
              <a:rPr lang="es-ES_tradnl" sz="1200" b="1" i="0" noProof="0" dirty="0">
                <a:solidFill>
                  <a:srgbClr val="9AA8A7"/>
                </a:solidFill>
                <a:latin typeface="Calibri" panose="020F0502020204030204" pitchFamily="34" charset="0"/>
                <a:cs typeface="Calibri" panose="020F0502020204030204" pitchFamily="34" charset="0"/>
              </a:rPr>
              <a:t>Sensibilidad</a:t>
            </a:r>
          </a:p>
        </p:txBody>
      </p:sp>
      <p:cxnSp>
        <p:nvCxnSpPr>
          <p:cNvPr id="46" name="Connector 44">
            <a:extLst>
              <a:ext uri="{FF2B5EF4-FFF2-40B4-BE49-F238E27FC236}">
                <a16:creationId xmlns:a16="http://schemas.microsoft.com/office/drawing/2014/main" id="{B3A62034-0787-2D62-E6CD-9956DE25DA9F}"/>
              </a:ext>
            </a:extLst>
          </p:cNvPr>
          <p:cNvCxnSpPr/>
          <p:nvPr/>
        </p:nvCxnSpPr>
        <p:spPr>
          <a:xfrm>
            <a:off x="10550834" y="3703320"/>
            <a:ext cx="274320" cy="0"/>
          </a:xfrm>
          <a:prstGeom prst="line">
            <a:avLst/>
          </a:prstGeom>
          <a:ln w="2540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24B8BC79-6845-E8A7-05C8-08CEA0E5067B}"/>
              </a:ext>
            </a:extLst>
          </p:cNvPr>
          <p:cNvSpPr/>
          <p:nvPr/>
        </p:nvSpPr>
        <p:spPr>
          <a:xfrm>
            <a:off x="10898306" y="1645920"/>
            <a:ext cx="4699345" cy="411480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29" name="Rectangle 128">
            <a:extLst>
              <a:ext uri="{FF2B5EF4-FFF2-40B4-BE49-F238E27FC236}">
                <a16:creationId xmlns:a16="http://schemas.microsoft.com/office/drawing/2014/main" id="{D7E04554-B8E5-2E81-3D08-B4FBEBEAD62F}"/>
              </a:ext>
            </a:extLst>
          </p:cNvPr>
          <p:cNvSpPr/>
          <p:nvPr/>
        </p:nvSpPr>
        <p:spPr>
          <a:xfrm>
            <a:off x="10898306" y="1645920"/>
            <a:ext cx="4699345" cy="36576"/>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30" name="Rectangle 129">
            <a:extLst>
              <a:ext uri="{FF2B5EF4-FFF2-40B4-BE49-F238E27FC236}">
                <a16:creationId xmlns:a16="http://schemas.microsoft.com/office/drawing/2014/main" id="{C3438F13-15EB-B297-86AD-E3D4299F647C}"/>
              </a:ext>
            </a:extLst>
          </p:cNvPr>
          <p:cNvSpPr/>
          <p:nvPr/>
        </p:nvSpPr>
        <p:spPr>
          <a:xfrm>
            <a:off x="11099474" y="1847088"/>
            <a:ext cx="274320" cy="2743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FFFFFF"/>
                </a:solidFill>
                <a:latin typeface="Calibri" panose="020F0502020204030204" pitchFamily="34" charset="0"/>
                <a:cs typeface="Calibri" panose="020F0502020204030204" pitchFamily="34" charset="0"/>
              </a:rPr>
              <a:t>3</a:t>
            </a:r>
          </a:p>
        </p:txBody>
      </p:sp>
      <p:sp>
        <p:nvSpPr>
          <p:cNvPr id="131" name="TextBox 130">
            <a:extLst>
              <a:ext uri="{FF2B5EF4-FFF2-40B4-BE49-F238E27FC236}">
                <a16:creationId xmlns:a16="http://schemas.microsoft.com/office/drawing/2014/main" id="{D410DB37-2CB7-596B-1543-3131631B1A9A}"/>
              </a:ext>
            </a:extLst>
          </p:cNvPr>
          <p:cNvSpPr txBox="1"/>
          <p:nvPr/>
        </p:nvSpPr>
        <p:spPr>
          <a:xfrm>
            <a:off x="11483522" y="1874519"/>
            <a:ext cx="3912961"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Aplicación de las reglas</a:t>
            </a:r>
          </a:p>
        </p:txBody>
      </p:sp>
      <p:sp>
        <p:nvSpPr>
          <p:cNvPr id="132" name="Rectangle 131">
            <a:extLst>
              <a:ext uri="{FF2B5EF4-FFF2-40B4-BE49-F238E27FC236}">
                <a16:creationId xmlns:a16="http://schemas.microsoft.com/office/drawing/2014/main" id="{6AB1E8A9-E3BB-3865-D460-A7313B9B901F}"/>
              </a:ext>
            </a:extLst>
          </p:cNvPr>
          <p:cNvSpPr/>
          <p:nvPr/>
        </p:nvSpPr>
        <p:spPr>
          <a:xfrm>
            <a:off x="11099474" y="2359152"/>
            <a:ext cx="4297009" cy="310896"/>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33" name="TextBox 132">
            <a:extLst>
              <a:ext uri="{FF2B5EF4-FFF2-40B4-BE49-F238E27FC236}">
                <a16:creationId xmlns:a16="http://schemas.microsoft.com/office/drawing/2014/main" id="{36CFFBD1-59A1-D222-7641-6924904F8966}"/>
              </a:ext>
            </a:extLst>
          </p:cNvPr>
          <p:cNvSpPr txBox="1"/>
          <p:nvPr/>
        </p:nvSpPr>
        <p:spPr>
          <a:xfrm>
            <a:off x="11099474" y="2423160"/>
            <a:ext cx="945342"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Segmento</a:t>
            </a:r>
          </a:p>
        </p:txBody>
      </p:sp>
      <p:sp>
        <p:nvSpPr>
          <p:cNvPr id="134" name="TextBox 133">
            <a:extLst>
              <a:ext uri="{FF2B5EF4-FFF2-40B4-BE49-F238E27FC236}">
                <a16:creationId xmlns:a16="http://schemas.microsoft.com/office/drawing/2014/main" id="{BF7EE995-1FCD-C8C9-263F-5F6F77FC811B}"/>
              </a:ext>
            </a:extLst>
          </p:cNvPr>
          <p:cNvSpPr txBox="1"/>
          <p:nvPr/>
        </p:nvSpPr>
        <p:spPr>
          <a:xfrm>
            <a:off x="12044816" y="2423160"/>
            <a:ext cx="1117222"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Elasticidad</a:t>
            </a:r>
          </a:p>
        </p:txBody>
      </p:sp>
      <p:sp>
        <p:nvSpPr>
          <p:cNvPr id="135" name="TextBox 134">
            <a:extLst>
              <a:ext uri="{FF2B5EF4-FFF2-40B4-BE49-F238E27FC236}">
                <a16:creationId xmlns:a16="http://schemas.microsoft.com/office/drawing/2014/main" id="{ABD34086-EAA1-C56F-62CB-DFE3DC338999}"/>
              </a:ext>
            </a:extLst>
          </p:cNvPr>
          <p:cNvSpPr txBox="1"/>
          <p:nvPr/>
        </p:nvSpPr>
        <p:spPr>
          <a:xfrm>
            <a:off x="13162039" y="2423160"/>
            <a:ext cx="1203162"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Tasa mercado</a:t>
            </a:r>
          </a:p>
        </p:txBody>
      </p:sp>
      <p:sp>
        <p:nvSpPr>
          <p:cNvPr id="136" name="TextBox 135">
            <a:extLst>
              <a:ext uri="{FF2B5EF4-FFF2-40B4-BE49-F238E27FC236}">
                <a16:creationId xmlns:a16="http://schemas.microsoft.com/office/drawing/2014/main" id="{A4A4093C-873B-831B-38F8-4F7445EFFC10}"/>
              </a:ext>
            </a:extLst>
          </p:cNvPr>
          <p:cNvSpPr txBox="1"/>
          <p:nvPr/>
        </p:nvSpPr>
        <p:spPr>
          <a:xfrm>
            <a:off x="14365202" y="2423160"/>
            <a:ext cx="1031282"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Ajuste</a:t>
            </a:r>
          </a:p>
        </p:txBody>
      </p:sp>
      <p:sp>
        <p:nvSpPr>
          <p:cNvPr id="137" name="Rectangle 136">
            <a:extLst>
              <a:ext uri="{FF2B5EF4-FFF2-40B4-BE49-F238E27FC236}">
                <a16:creationId xmlns:a16="http://schemas.microsoft.com/office/drawing/2014/main" id="{8C586BB2-A5D6-CCC0-B7C8-C9FE1BBE2FA6}"/>
              </a:ext>
            </a:extLst>
          </p:cNvPr>
          <p:cNvSpPr/>
          <p:nvPr/>
        </p:nvSpPr>
        <p:spPr>
          <a:xfrm>
            <a:off x="11099474" y="2724912"/>
            <a:ext cx="4297009" cy="36576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38" name="TextBox 137">
            <a:extLst>
              <a:ext uri="{FF2B5EF4-FFF2-40B4-BE49-F238E27FC236}">
                <a16:creationId xmlns:a16="http://schemas.microsoft.com/office/drawing/2014/main" id="{E92F5B13-293A-32AC-5B4F-A4ECE968A8DE}"/>
              </a:ext>
            </a:extLst>
          </p:cNvPr>
          <p:cNvSpPr txBox="1"/>
          <p:nvPr/>
        </p:nvSpPr>
        <p:spPr>
          <a:xfrm>
            <a:off x="11099474" y="2807208"/>
            <a:ext cx="945342" cy="215444"/>
          </a:xfrm>
          <a:prstGeom prst="rect">
            <a:avLst/>
          </a:prstGeom>
          <a:noFill/>
        </p:spPr>
        <p:txBody>
          <a:bodyPr wrap="square" lIns="0" tIns="0" rIns="0" bIns="0" anchor="t">
            <a:spAutoFit/>
          </a:bodyPr>
          <a:lstStyle/>
          <a:p>
            <a:pPr algn="ctr">
              <a:lnSpc>
                <a:spcPct val="100000"/>
              </a:lnSpc>
            </a:pPr>
            <a:r>
              <a:rPr lang="es-ES_tradnl" b="1" i="0" noProof="0" dirty="0">
                <a:solidFill>
                  <a:srgbClr val="3E5553"/>
                </a:solidFill>
                <a:latin typeface="Calibri" panose="020F0502020204030204" pitchFamily="34" charset="0"/>
                <a:cs typeface="Calibri" panose="020F0502020204030204" pitchFamily="34" charset="0"/>
              </a:rPr>
              <a:t>A</a:t>
            </a:r>
          </a:p>
        </p:txBody>
      </p:sp>
      <p:sp>
        <p:nvSpPr>
          <p:cNvPr id="139" name="TextBox 138">
            <a:extLst>
              <a:ext uri="{FF2B5EF4-FFF2-40B4-BE49-F238E27FC236}">
                <a16:creationId xmlns:a16="http://schemas.microsoft.com/office/drawing/2014/main" id="{DD8B3906-3F94-32FC-60F7-BBCD94798CC8}"/>
              </a:ext>
            </a:extLst>
          </p:cNvPr>
          <p:cNvSpPr txBox="1"/>
          <p:nvPr/>
        </p:nvSpPr>
        <p:spPr>
          <a:xfrm>
            <a:off x="12044816" y="2807208"/>
            <a:ext cx="1117222" cy="215444"/>
          </a:xfrm>
          <a:prstGeom prst="rect">
            <a:avLst/>
          </a:prstGeom>
          <a:noFill/>
        </p:spPr>
        <p:txBody>
          <a:bodyPr wrap="square" lIns="0" tIns="0" rIns="0" bIns="0" anchor="t">
            <a:spAutoFit/>
          </a:bodyPr>
          <a:lstStyle/>
          <a:p>
            <a:pPr algn="ctr">
              <a:lnSpc>
                <a:spcPct val="100000"/>
              </a:lnSpc>
            </a:pPr>
            <a:r>
              <a:rPr lang="es-ES_tradnl" b="0" i="0" noProof="0" dirty="0">
                <a:solidFill>
                  <a:srgbClr val="3E5553"/>
                </a:solidFill>
                <a:latin typeface="Calibri" panose="020F0502020204030204" pitchFamily="34" charset="0"/>
                <a:cs typeface="Calibri" panose="020F0502020204030204" pitchFamily="34" charset="0"/>
              </a:rPr>
              <a:t>Baja</a:t>
            </a:r>
          </a:p>
        </p:txBody>
      </p:sp>
      <p:sp>
        <p:nvSpPr>
          <p:cNvPr id="140" name="TextBox 139">
            <a:extLst>
              <a:ext uri="{FF2B5EF4-FFF2-40B4-BE49-F238E27FC236}">
                <a16:creationId xmlns:a16="http://schemas.microsoft.com/office/drawing/2014/main" id="{D2EAD8B2-6D69-0AA8-ACF9-E446B96E2AB3}"/>
              </a:ext>
            </a:extLst>
          </p:cNvPr>
          <p:cNvSpPr txBox="1"/>
          <p:nvPr/>
        </p:nvSpPr>
        <p:spPr>
          <a:xfrm>
            <a:off x="13162039" y="2807208"/>
            <a:ext cx="1203162" cy="215444"/>
          </a:xfrm>
          <a:prstGeom prst="rect">
            <a:avLst/>
          </a:prstGeom>
          <a:noFill/>
        </p:spPr>
        <p:txBody>
          <a:bodyPr wrap="square" lIns="0" tIns="0" rIns="0" bIns="0" anchor="t">
            <a:spAutoFit/>
          </a:bodyPr>
          <a:lstStyle/>
          <a:p>
            <a:pPr algn="ctr">
              <a:lnSpc>
                <a:spcPct val="100000"/>
              </a:lnSpc>
            </a:pPr>
            <a:r>
              <a:rPr lang="es-ES_tradnl" b="0" i="0" noProof="0" dirty="0">
                <a:solidFill>
                  <a:srgbClr val="3E5553"/>
                </a:solidFill>
                <a:latin typeface="Calibri" panose="020F0502020204030204" pitchFamily="34" charset="0"/>
                <a:cs typeface="Calibri" panose="020F0502020204030204" pitchFamily="34" charset="0"/>
              </a:rPr>
              <a:t>17.5%</a:t>
            </a:r>
          </a:p>
        </p:txBody>
      </p:sp>
      <p:sp>
        <p:nvSpPr>
          <p:cNvPr id="141" name="TextBox 140">
            <a:extLst>
              <a:ext uri="{FF2B5EF4-FFF2-40B4-BE49-F238E27FC236}">
                <a16:creationId xmlns:a16="http://schemas.microsoft.com/office/drawing/2014/main" id="{59013E2F-84F1-F258-A2EC-9BDB22271F82}"/>
              </a:ext>
            </a:extLst>
          </p:cNvPr>
          <p:cNvSpPr txBox="1"/>
          <p:nvPr/>
        </p:nvSpPr>
        <p:spPr>
          <a:xfrm>
            <a:off x="14365202" y="2807208"/>
            <a:ext cx="1031282" cy="215444"/>
          </a:xfrm>
          <a:prstGeom prst="rect">
            <a:avLst/>
          </a:prstGeom>
          <a:noFill/>
        </p:spPr>
        <p:txBody>
          <a:bodyPr wrap="square" lIns="0" tIns="0" rIns="0" bIns="0" anchor="t">
            <a:spAutoFit/>
          </a:bodyPr>
          <a:lstStyle/>
          <a:p>
            <a:pPr algn="ctr">
              <a:lnSpc>
                <a:spcPct val="100000"/>
              </a:lnSpc>
            </a:pPr>
            <a:r>
              <a:rPr lang="es-ES_tradnl" b="1" i="0" noProof="0" dirty="0">
                <a:solidFill>
                  <a:srgbClr val="C87A0B"/>
                </a:solidFill>
                <a:latin typeface="Calibri" panose="020F0502020204030204" pitchFamily="34" charset="0"/>
                <a:cs typeface="Calibri" panose="020F0502020204030204" pitchFamily="34" charset="0"/>
              </a:rPr>
              <a:t>+150 </a:t>
            </a:r>
            <a:r>
              <a:rPr lang="es-ES_tradnl" b="1" i="0" noProof="0" dirty="0" err="1">
                <a:solidFill>
                  <a:srgbClr val="C87A0B"/>
                </a:solidFill>
                <a:latin typeface="Calibri" panose="020F0502020204030204" pitchFamily="34" charset="0"/>
                <a:cs typeface="Calibri" panose="020F0502020204030204" pitchFamily="34" charset="0"/>
              </a:rPr>
              <a:t>pbs</a:t>
            </a:r>
            <a:endParaRPr lang="es-ES_tradnl" b="1" i="0" noProof="0" dirty="0">
              <a:solidFill>
                <a:srgbClr val="C87A0B"/>
              </a:solidFill>
              <a:latin typeface="Calibri" panose="020F0502020204030204" pitchFamily="34" charset="0"/>
              <a:cs typeface="Calibri" panose="020F0502020204030204" pitchFamily="34" charset="0"/>
            </a:endParaRPr>
          </a:p>
        </p:txBody>
      </p:sp>
      <p:sp>
        <p:nvSpPr>
          <p:cNvPr id="142" name="TextBox 141">
            <a:extLst>
              <a:ext uri="{FF2B5EF4-FFF2-40B4-BE49-F238E27FC236}">
                <a16:creationId xmlns:a16="http://schemas.microsoft.com/office/drawing/2014/main" id="{0DA91CC3-9E9C-D5B5-DAA5-82B5EB09E7B3}"/>
              </a:ext>
            </a:extLst>
          </p:cNvPr>
          <p:cNvSpPr txBox="1"/>
          <p:nvPr/>
        </p:nvSpPr>
        <p:spPr>
          <a:xfrm>
            <a:off x="11099474" y="3209544"/>
            <a:ext cx="945342" cy="215444"/>
          </a:xfrm>
          <a:prstGeom prst="rect">
            <a:avLst/>
          </a:prstGeom>
          <a:noFill/>
        </p:spPr>
        <p:txBody>
          <a:bodyPr wrap="square" lIns="0" tIns="0" rIns="0" bIns="0" anchor="t">
            <a:spAutoFit/>
          </a:bodyPr>
          <a:lstStyle/>
          <a:p>
            <a:pPr algn="ctr">
              <a:lnSpc>
                <a:spcPct val="100000"/>
              </a:lnSpc>
            </a:pPr>
            <a:r>
              <a:rPr lang="es-ES_tradnl" b="1" i="0" noProof="0" dirty="0">
                <a:solidFill>
                  <a:srgbClr val="3E5553"/>
                </a:solidFill>
                <a:latin typeface="Calibri" panose="020F0502020204030204" pitchFamily="34" charset="0"/>
                <a:cs typeface="Calibri" panose="020F0502020204030204" pitchFamily="34" charset="0"/>
              </a:rPr>
              <a:t>B</a:t>
            </a:r>
          </a:p>
        </p:txBody>
      </p:sp>
      <p:sp>
        <p:nvSpPr>
          <p:cNvPr id="143" name="TextBox 142">
            <a:extLst>
              <a:ext uri="{FF2B5EF4-FFF2-40B4-BE49-F238E27FC236}">
                <a16:creationId xmlns:a16="http://schemas.microsoft.com/office/drawing/2014/main" id="{B7E9CA1C-E7F0-5322-F1C8-1400B2D53964}"/>
              </a:ext>
            </a:extLst>
          </p:cNvPr>
          <p:cNvSpPr txBox="1"/>
          <p:nvPr/>
        </p:nvSpPr>
        <p:spPr>
          <a:xfrm>
            <a:off x="12044816" y="3209544"/>
            <a:ext cx="1117222" cy="215444"/>
          </a:xfrm>
          <a:prstGeom prst="rect">
            <a:avLst/>
          </a:prstGeom>
          <a:noFill/>
        </p:spPr>
        <p:txBody>
          <a:bodyPr wrap="square" lIns="0" tIns="0" rIns="0" bIns="0" anchor="t">
            <a:spAutoFit/>
          </a:bodyPr>
          <a:lstStyle/>
          <a:p>
            <a:pPr algn="ctr">
              <a:lnSpc>
                <a:spcPct val="100000"/>
              </a:lnSpc>
            </a:pPr>
            <a:r>
              <a:rPr lang="es-ES_tradnl" b="0" i="0" noProof="0" dirty="0">
                <a:solidFill>
                  <a:srgbClr val="3E5553"/>
                </a:solidFill>
                <a:latin typeface="Calibri" panose="020F0502020204030204" pitchFamily="34" charset="0"/>
                <a:cs typeface="Calibri" panose="020F0502020204030204" pitchFamily="34" charset="0"/>
              </a:rPr>
              <a:t>Alta</a:t>
            </a:r>
          </a:p>
        </p:txBody>
      </p:sp>
      <p:sp>
        <p:nvSpPr>
          <p:cNvPr id="144" name="TextBox 143">
            <a:extLst>
              <a:ext uri="{FF2B5EF4-FFF2-40B4-BE49-F238E27FC236}">
                <a16:creationId xmlns:a16="http://schemas.microsoft.com/office/drawing/2014/main" id="{8AA242C7-4FBD-5F11-2458-1D79A2F4DFBF}"/>
              </a:ext>
            </a:extLst>
          </p:cNvPr>
          <p:cNvSpPr txBox="1"/>
          <p:nvPr/>
        </p:nvSpPr>
        <p:spPr>
          <a:xfrm>
            <a:off x="13162039" y="3209544"/>
            <a:ext cx="1203162" cy="215444"/>
          </a:xfrm>
          <a:prstGeom prst="rect">
            <a:avLst/>
          </a:prstGeom>
          <a:noFill/>
        </p:spPr>
        <p:txBody>
          <a:bodyPr wrap="square" lIns="0" tIns="0" rIns="0" bIns="0" anchor="t">
            <a:spAutoFit/>
          </a:bodyPr>
          <a:lstStyle/>
          <a:p>
            <a:pPr algn="ctr">
              <a:lnSpc>
                <a:spcPct val="100000"/>
              </a:lnSpc>
            </a:pPr>
            <a:r>
              <a:rPr lang="es-ES_tradnl" b="0" i="0" noProof="0" dirty="0">
                <a:solidFill>
                  <a:srgbClr val="3E5553"/>
                </a:solidFill>
                <a:latin typeface="Calibri" panose="020F0502020204030204" pitchFamily="34" charset="0"/>
                <a:cs typeface="Calibri" panose="020F0502020204030204" pitchFamily="34" charset="0"/>
              </a:rPr>
              <a:t>16.0%</a:t>
            </a:r>
          </a:p>
        </p:txBody>
      </p:sp>
      <p:sp>
        <p:nvSpPr>
          <p:cNvPr id="145" name="TextBox 144">
            <a:extLst>
              <a:ext uri="{FF2B5EF4-FFF2-40B4-BE49-F238E27FC236}">
                <a16:creationId xmlns:a16="http://schemas.microsoft.com/office/drawing/2014/main" id="{76B3E41B-C15C-6BB3-98E8-F8A51D1419DB}"/>
              </a:ext>
            </a:extLst>
          </p:cNvPr>
          <p:cNvSpPr txBox="1"/>
          <p:nvPr/>
        </p:nvSpPr>
        <p:spPr>
          <a:xfrm>
            <a:off x="14365202" y="3209544"/>
            <a:ext cx="1031282" cy="215444"/>
          </a:xfrm>
          <a:prstGeom prst="rect">
            <a:avLst/>
          </a:prstGeom>
          <a:noFill/>
        </p:spPr>
        <p:txBody>
          <a:bodyPr wrap="square" lIns="0" tIns="0" rIns="0" bIns="0" anchor="t">
            <a:spAutoFit/>
          </a:bodyPr>
          <a:lstStyle/>
          <a:p>
            <a:pPr algn="ctr">
              <a:lnSpc>
                <a:spcPct val="100000"/>
              </a:lnSpc>
            </a:pPr>
            <a:r>
              <a:rPr lang="es-ES_tradnl" b="1" i="0" noProof="0" dirty="0">
                <a:solidFill>
                  <a:srgbClr val="13807B"/>
                </a:solidFill>
                <a:latin typeface="Calibri" panose="020F0502020204030204" pitchFamily="34" charset="0"/>
                <a:cs typeface="Calibri" panose="020F0502020204030204" pitchFamily="34" charset="0"/>
              </a:rPr>
              <a:t>−150 </a:t>
            </a:r>
            <a:r>
              <a:rPr lang="es-ES_tradnl" b="1" i="0" noProof="0" dirty="0" err="1">
                <a:solidFill>
                  <a:srgbClr val="13807B"/>
                </a:solidFill>
                <a:latin typeface="Calibri" panose="020F0502020204030204" pitchFamily="34" charset="0"/>
                <a:cs typeface="Calibri" panose="020F0502020204030204" pitchFamily="34" charset="0"/>
              </a:rPr>
              <a:t>pbs</a:t>
            </a:r>
            <a:endParaRPr lang="es-ES_tradnl" b="1" i="0" noProof="0" dirty="0">
              <a:solidFill>
                <a:srgbClr val="13807B"/>
              </a:solidFill>
              <a:latin typeface="Calibri" panose="020F0502020204030204" pitchFamily="34" charset="0"/>
              <a:cs typeface="Calibri" panose="020F0502020204030204" pitchFamily="34" charset="0"/>
            </a:endParaRPr>
          </a:p>
        </p:txBody>
      </p:sp>
      <p:sp>
        <p:nvSpPr>
          <p:cNvPr id="146" name="Rectangle 145">
            <a:extLst>
              <a:ext uri="{FF2B5EF4-FFF2-40B4-BE49-F238E27FC236}">
                <a16:creationId xmlns:a16="http://schemas.microsoft.com/office/drawing/2014/main" id="{307C3E81-59CA-12DD-DEEC-B19B46E11931}"/>
              </a:ext>
            </a:extLst>
          </p:cNvPr>
          <p:cNvSpPr/>
          <p:nvPr/>
        </p:nvSpPr>
        <p:spPr>
          <a:xfrm>
            <a:off x="11099474" y="3529584"/>
            <a:ext cx="4297009" cy="365760"/>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47" name="TextBox 146">
            <a:extLst>
              <a:ext uri="{FF2B5EF4-FFF2-40B4-BE49-F238E27FC236}">
                <a16:creationId xmlns:a16="http://schemas.microsoft.com/office/drawing/2014/main" id="{C443B8CF-3370-7752-F213-0EEA0BB325DD}"/>
              </a:ext>
            </a:extLst>
          </p:cNvPr>
          <p:cNvSpPr txBox="1"/>
          <p:nvPr/>
        </p:nvSpPr>
        <p:spPr>
          <a:xfrm>
            <a:off x="11099474" y="3611879"/>
            <a:ext cx="945342" cy="215444"/>
          </a:xfrm>
          <a:prstGeom prst="rect">
            <a:avLst/>
          </a:prstGeom>
          <a:noFill/>
        </p:spPr>
        <p:txBody>
          <a:bodyPr wrap="square" lIns="0" tIns="0" rIns="0" bIns="0" anchor="t">
            <a:spAutoFit/>
          </a:bodyPr>
          <a:lstStyle/>
          <a:p>
            <a:pPr algn="ctr">
              <a:lnSpc>
                <a:spcPct val="100000"/>
              </a:lnSpc>
            </a:pPr>
            <a:r>
              <a:rPr lang="es-ES_tradnl" b="1" i="0" noProof="0" dirty="0">
                <a:solidFill>
                  <a:srgbClr val="3E5553"/>
                </a:solidFill>
                <a:latin typeface="Calibri" panose="020F0502020204030204" pitchFamily="34" charset="0"/>
                <a:cs typeface="Calibri" panose="020F0502020204030204" pitchFamily="34" charset="0"/>
              </a:rPr>
              <a:t>N</a:t>
            </a:r>
          </a:p>
        </p:txBody>
      </p:sp>
      <p:sp>
        <p:nvSpPr>
          <p:cNvPr id="148" name="TextBox 147">
            <a:extLst>
              <a:ext uri="{FF2B5EF4-FFF2-40B4-BE49-F238E27FC236}">
                <a16:creationId xmlns:a16="http://schemas.microsoft.com/office/drawing/2014/main" id="{F2E618A6-BEC3-F51F-E798-3B4A084E2ADE}"/>
              </a:ext>
            </a:extLst>
          </p:cNvPr>
          <p:cNvSpPr txBox="1"/>
          <p:nvPr/>
        </p:nvSpPr>
        <p:spPr>
          <a:xfrm>
            <a:off x="12044816" y="3611879"/>
            <a:ext cx="1117222" cy="215444"/>
          </a:xfrm>
          <a:prstGeom prst="rect">
            <a:avLst/>
          </a:prstGeom>
          <a:noFill/>
        </p:spPr>
        <p:txBody>
          <a:bodyPr wrap="square" lIns="0" tIns="0" rIns="0" bIns="0" anchor="t">
            <a:spAutoFit/>
          </a:bodyPr>
          <a:lstStyle/>
          <a:p>
            <a:pPr algn="ctr">
              <a:lnSpc>
                <a:spcPct val="100000"/>
              </a:lnSpc>
            </a:pPr>
            <a:r>
              <a:rPr lang="es-ES_tradnl" b="0" i="0" noProof="0" dirty="0">
                <a:solidFill>
                  <a:srgbClr val="3E5553"/>
                </a:solidFill>
                <a:latin typeface="Calibri" panose="020F0502020204030204" pitchFamily="34" charset="0"/>
                <a:cs typeface="Calibri" panose="020F0502020204030204" pitchFamily="34" charset="0"/>
              </a:rPr>
              <a:t>Baja</a:t>
            </a:r>
          </a:p>
        </p:txBody>
      </p:sp>
      <p:sp>
        <p:nvSpPr>
          <p:cNvPr id="149" name="TextBox 148">
            <a:extLst>
              <a:ext uri="{FF2B5EF4-FFF2-40B4-BE49-F238E27FC236}">
                <a16:creationId xmlns:a16="http://schemas.microsoft.com/office/drawing/2014/main" id="{80A469BB-0B8A-7FA7-FE6C-D7678CA2763A}"/>
              </a:ext>
            </a:extLst>
          </p:cNvPr>
          <p:cNvSpPr txBox="1"/>
          <p:nvPr/>
        </p:nvSpPr>
        <p:spPr>
          <a:xfrm>
            <a:off x="13162039" y="3611879"/>
            <a:ext cx="1203162" cy="215444"/>
          </a:xfrm>
          <a:prstGeom prst="rect">
            <a:avLst/>
          </a:prstGeom>
          <a:noFill/>
        </p:spPr>
        <p:txBody>
          <a:bodyPr wrap="square" lIns="0" tIns="0" rIns="0" bIns="0" anchor="t">
            <a:spAutoFit/>
          </a:bodyPr>
          <a:lstStyle/>
          <a:p>
            <a:pPr algn="ctr">
              <a:lnSpc>
                <a:spcPct val="100000"/>
              </a:lnSpc>
            </a:pPr>
            <a:r>
              <a:rPr lang="es-ES_tradnl" b="0" i="0" noProof="0" dirty="0">
                <a:solidFill>
                  <a:srgbClr val="3E5553"/>
                </a:solidFill>
                <a:latin typeface="Calibri" panose="020F0502020204030204" pitchFamily="34" charset="0"/>
                <a:cs typeface="Calibri" panose="020F0502020204030204" pitchFamily="34" charset="0"/>
              </a:rPr>
              <a:t>15.5%</a:t>
            </a:r>
          </a:p>
        </p:txBody>
      </p:sp>
      <p:sp>
        <p:nvSpPr>
          <p:cNvPr id="150" name="TextBox 149">
            <a:extLst>
              <a:ext uri="{FF2B5EF4-FFF2-40B4-BE49-F238E27FC236}">
                <a16:creationId xmlns:a16="http://schemas.microsoft.com/office/drawing/2014/main" id="{1D79C975-84D3-D1B6-A6E5-BEAA1B78FF69}"/>
              </a:ext>
            </a:extLst>
          </p:cNvPr>
          <p:cNvSpPr txBox="1"/>
          <p:nvPr/>
        </p:nvSpPr>
        <p:spPr>
          <a:xfrm>
            <a:off x="14365202" y="3611879"/>
            <a:ext cx="1031282" cy="215444"/>
          </a:xfrm>
          <a:prstGeom prst="rect">
            <a:avLst/>
          </a:prstGeom>
          <a:noFill/>
        </p:spPr>
        <p:txBody>
          <a:bodyPr wrap="square" lIns="0" tIns="0" rIns="0" bIns="0" anchor="t">
            <a:spAutoFit/>
          </a:bodyPr>
          <a:lstStyle/>
          <a:p>
            <a:pPr algn="ctr">
              <a:lnSpc>
                <a:spcPct val="100000"/>
              </a:lnSpc>
            </a:pPr>
            <a:r>
              <a:rPr lang="es-ES_tradnl" b="1" i="0" noProof="0" dirty="0">
                <a:solidFill>
                  <a:srgbClr val="13807B"/>
                </a:solidFill>
                <a:latin typeface="Calibri" panose="020F0502020204030204" pitchFamily="34" charset="0"/>
                <a:cs typeface="Calibri" panose="020F0502020204030204" pitchFamily="34" charset="0"/>
              </a:rPr>
              <a:t>−100 </a:t>
            </a:r>
            <a:r>
              <a:rPr lang="es-ES_tradnl" b="1" i="0" noProof="0" dirty="0" err="1">
                <a:solidFill>
                  <a:srgbClr val="13807B"/>
                </a:solidFill>
                <a:latin typeface="Calibri" panose="020F0502020204030204" pitchFamily="34" charset="0"/>
                <a:cs typeface="Calibri" panose="020F0502020204030204" pitchFamily="34" charset="0"/>
              </a:rPr>
              <a:t>pbs</a:t>
            </a:r>
            <a:endParaRPr lang="es-ES_tradnl" b="1" i="0" noProof="0" dirty="0">
              <a:solidFill>
                <a:srgbClr val="13807B"/>
              </a:solidFill>
              <a:latin typeface="Calibri" panose="020F0502020204030204" pitchFamily="34" charset="0"/>
              <a:cs typeface="Calibri" panose="020F0502020204030204" pitchFamily="34" charset="0"/>
            </a:endParaRPr>
          </a:p>
        </p:txBody>
      </p:sp>
      <p:sp>
        <p:nvSpPr>
          <p:cNvPr id="151" name="Rectangle 150">
            <a:extLst>
              <a:ext uri="{FF2B5EF4-FFF2-40B4-BE49-F238E27FC236}">
                <a16:creationId xmlns:a16="http://schemas.microsoft.com/office/drawing/2014/main" id="{E1909B36-DCD7-16B4-AA44-6C01A4213650}"/>
              </a:ext>
            </a:extLst>
          </p:cNvPr>
          <p:cNvSpPr/>
          <p:nvPr/>
        </p:nvSpPr>
        <p:spPr>
          <a:xfrm>
            <a:off x="11099474" y="4133087"/>
            <a:ext cx="4297009" cy="91440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cxnSp>
        <p:nvCxnSpPr>
          <p:cNvPr id="152" name="Connector 69">
            <a:extLst>
              <a:ext uri="{FF2B5EF4-FFF2-40B4-BE49-F238E27FC236}">
                <a16:creationId xmlns:a16="http://schemas.microsoft.com/office/drawing/2014/main" id="{FFD9DC69-4141-9FC1-0DB4-A371D801319D}"/>
              </a:ext>
            </a:extLst>
          </p:cNvPr>
          <p:cNvCxnSpPr/>
          <p:nvPr/>
        </p:nvCxnSpPr>
        <p:spPr>
          <a:xfrm>
            <a:off x="11099474" y="4133087"/>
            <a:ext cx="0" cy="914401"/>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153" name="TextBox 152">
            <a:extLst>
              <a:ext uri="{FF2B5EF4-FFF2-40B4-BE49-F238E27FC236}">
                <a16:creationId xmlns:a16="http://schemas.microsoft.com/office/drawing/2014/main" id="{2BE07699-5C0F-9D62-9832-FB8CF12C008B}"/>
              </a:ext>
            </a:extLst>
          </p:cNvPr>
          <p:cNvSpPr txBox="1"/>
          <p:nvPr/>
        </p:nvSpPr>
        <p:spPr>
          <a:xfrm>
            <a:off x="11264066" y="4209189"/>
            <a:ext cx="3967825" cy="762196"/>
          </a:xfrm>
          <a:prstGeom prst="rect">
            <a:avLst/>
          </a:prstGeom>
          <a:noFill/>
        </p:spPr>
        <p:txBody>
          <a:bodyPr wrap="square" lIns="0" tIns="0" rIns="0" bIns="0" anchor="ctr">
            <a:spAutoFit/>
          </a:bodyPr>
          <a:lstStyle/>
          <a:p>
            <a:pPr algn="l">
              <a:lnSpc>
                <a:spcPct val="112000"/>
              </a:lnSpc>
              <a:spcAft>
                <a:spcPts val="200"/>
              </a:spcAft>
            </a:pPr>
            <a:r>
              <a:rPr lang="es-ES_tradnl" b="1" i="0" noProof="0" dirty="0">
                <a:solidFill>
                  <a:srgbClr val="13807B"/>
                </a:solidFill>
                <a:latin typeface="Calibri" panose="020F0502020204030204" pitchFamily="34" charset="0"/>
                <a:cs typeface="Calibri" panose="020F0502020204030204" pitchFamily="34" charset="0"/>
              </a:rPr>
              <a:t>Ejemplo</a:t>
            </a:r>
          </a:p>
          <a:p>
            <a:pPr algn="l">
              <a:lnSpc>
                <a:spcPct val="112000"/>
              </a:lnSpc>
              <a:spcAft>
                <a:spcPts val="200"/>
              </a:spcAft>
            </a:pPr>
            <a:r>
              <a:rPr lang="es-ES_tradnl" b="0" i="0" noProof="0" dirty="0">
                <a:solidFill>
                  <a:srgbClr val="3E5553"/>
                </a:solidFill>
                <a:latin typeface="Calibri" panose="020F0502020204030204" pitchFamily="34" charset="0"/>
                <a:cs typeface="Calibri" panose="020F0502020204030204" pitchFamily="34" charset="0"/>
              </a:rPr>
              <a:t>Segmento A, bajo riesgo: 11% + 150 </a:t>
            </a:r>
            <a:r>
              <a:rPr lang="es-ES_tradnl" b="0" i="0" noProof="0" dirty="0" err="1">
                <a:solidFill>
                  <a:srgbClr val="3E5553"/>
                </a:solidFill>
                <a:latin typeface="Calibri" panose="020F0502020204030204" pitchFamily="34" charset="0"/>
                <a:cs typeface="Calibri" panose="020F0502020204030204" pitchFamily="34" charset="0"/>
              </a:rPr>
              <a:t>pbs</a:t>
            </a:r>
            <a:r>
              <a:rPr lang="es-ES_tradnl" b="0" i="0" noProof="0" dirty="0">
                <a:solidFill>
                  <a:srgbClr val="3E5553"/>
                </a:solidFill>
                <a:latin typeface="Calibri" panose="020F0502020204030204" pitchFamily="34" charset="0"/>
                <a:cs typeface="Calibri" panose="020F0502020204030204" pitchFamily="34" charset="0"/>
              </a:rPr>
              <a:t> = 12.5%.
La tasa campaña para ese </a:t>
            </a:r>
            <a:r>
              <a:rPr lang="es-ES_tradnl" b="0" i="0" noProof="0" dirty="0" err="1">
                <a:solidFill>
                  <a:srgbClr val="3E5553"/>
                </a:solidFill>
                <a:latin typeface="Calibri" panose="020F0502020204030204" pitchFamily="34" charset="0"/>
                <a:cs typeface="Calibri" panose="020F0502020204030204" pitchFamily="34" charset="0"/>
              </a:rPr>
              <a:t>bucket</a:t>
            </a:r>
            <a:r>
              <a:rPr lang="es-ES_tradnl" b="0" i="0" noProof="0" dirty="0">
                <a:solidFill>
                  <a:srgbClr val="3E5553"/>
                </a:solidFill>
                <a:latin typeface="Calibri" panose="020F0502020204030204" pitchFamily="34" charset="0"/>
                <a:cs typeface="Calibri" panose="020F0502020204030204" pitchFamily="34" charset="0"/>
              </a:rPr>
              <a:t> sería 12.5%.</a:t>
            </a:r>
          </a:p>
        </p:txBody>
      </p:sp>
      <p:sp>
        <p:nvSpPr>
          <p:cNvPr id="154" name="TextBox 153">
            <a:extLst>
              <a:ext uri="{FF2B5EF4-FFF2-40B4-BE49-F238E27FC236}">
                <a16:creationId xmlns:a16="http://schemas.microsoft.com/office/drawing/2014/main" id="{7E54ECAB-E79E-2552-DE36-12E08D2E5E46}"/>
              </a:ext>
            </a:extLst>
          </p:cNvPr>
          <p:cNvSpPr txBox="1"/>
          <p:nvPr/>
        </p:nvSpPr>
        <p:spPr>
          <a:xfrm>
            <a:off x="658368" y="6053328"/>
            <a:ext cx="14939284" cy="307777"/>
          </a:xfrm>
          <a:prstGeom prst="rect">
            <a:avLst/>
          </a:prstGeom>
          <a:noFill/>
        </p:spPr>
        <p:txBody>
          <a:bodyPr wrap="square" lIns="0" tIns="0" rIns="0" bIns="0" anchor="t">
            <a:spAutoFit/>
          </a:bodyPr>
          <a:lstStyle/>
          <a:p>
            <a:pPr algn="l">
              <a:lnSpc>
                <a:spcPct val="100000"/>
              </a:lnSpc>
            </a:pPr>
            <a:r>
              <a:rPr lang="es-ES_tradnl" sz="2000" b="1" i="0" noProof="0" dirty="0">
                <a:solidFill>
                  <a:srgbClr val="0B2E2C"/>
                </a:solidFill>
                <a:latin typeface="Calibri" panose="020F0502020204030204" pitchFamily="34" charset="0"/>
                <a:cs typeface="Calibri" panose="020F0502020204030204" pitchFamily="34" charset="0"/>
              </a:rPr>
              <a:t>Cómo se estima la elasticidad</a:t>
            </a:r>
          </a:p>
        </p:txBody>
      </p:sp>
      <p:cxnSp>
        <p:nvCxnSpPr>
          <p:cNvPr id="155" name="Connector 72">
            <a:extLst>
              <a:ext uri="{FF2B5EF4-FFF2-40B4-BE49-F238E27FC236}">
                <a16:creationId xmlns:a16="http://schemas.microsoft.com/office/drawing/2014/main" id="{85D91980-FADA-126A-4DFC-209D5723812F}"/>
              </a:ext>
            </a:extLst>
          </p:cNvPr>
          <p:cNvCxnSpPr/>
          <p:nvPr/>
        </p:nvCxnSpPr>
        <p:spPr>
          <a:xfrm>
            <a:off x="658368" y="6345936"/>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56" name="Rectangle 155">
            <a:extLst>
              <a:ext uri="{FF2B5EF4-FFF2-40B4-BE49-F238E27FC236}">
                <a16:creationId xmlns:a16="http://schemas.microsoft.com/office/drawing/2014/main" id="{82812876-504F-1506-4F1C-4AC96AF0029A}"/>
              </a:ext>
            </a:extLst>
          </p:cNvPr>
          <p:cNvSpPr/>
          <p:nvPr/>
        </p:nvSpPr>
        <p:spPr>
          <a:xfrm>
            <a:off x="658368" y="6455664"/>
            <a:ext cx="14939284" cy="1234440"/>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57" name="Rectangle 156">
            <a:extLst>
              <a:ext uri="{FF2B5EF4-FFF2-40B4-BE49-F238E27FC236}">
                <a16:creationId xmlns:a16="http://schemas.microsoft.com/office/drawing/2014/main" id="{785A8995-1A7D-51AB-9731-C648AB93F6C7}"/>
              </a:ext>
            </a:extLst>
          </p:cNvPr>
          <p:cNvSpPr/>
          <p:nvPr/>
        </p:nvSpPr>
        <p:spPr>
          <a:xfrm>
            <a:off x="877824" y="6675120"/>
            <a:ext cx="2103120" cy="786384"/>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2800" b="1" i="0" noProof="0" dirty="0" err="1">
                <a:solidFill>
                  <a:srgbClr val="FFFFFF"/>
                </a:solidFill>
                <a:latin typeface="Calibri" panose="020F0502020204030204" pitchFamily="34" charset="0"/>
                <a:cs typeface="Calibri" panose="020F0502020204030204" pitchFamily="34" charset="0"/>
              </a:rPr>
              <a:t>ε</a:t>
            </a:r>
            <a:r>
              <a:rPr lang="es-ES_tradnl" sz="2800" b="1" i="0" noProof="0" dirty="0">
                <a:solidFill>
                  <a:srgbClr val="FFFFFF"/>
                </a:solidFill>
                <a:latin typeface="Calibri" panose="020F0502020204030204" pitchFamily="34" charset="0"/>
                <a:cs typeface="Calibri" panose="020F0502020204030204" pitchFamily="34" charset="0"/>
              </a:rPr>
              <a:t>  =  ΔV / ΔP</a:t>
            </a:r>
          </a:p>
        </p:txBody>
      </p:sp>
      <p:pic>
        <p:nvPicPr>
          <p:cNvPr id="158" name="Picture 157" descr="elast.png">
            <a:extLst>
              <a:ext uri="{FF2B5EF4-FFF2-40B4-BE49-F238E27FC236}">
                <a16:creationId xmlns:a16="http://schemas.microsoft.com/office/drawing/2014/main" id="{BA9D06C8-0E89-B861-1CD5-7D991DB9017D}"/>
              </a:ext>
            </a:extLst>
          </p:cNvPr>
          <p:cNvPicPr>
            <a:picLocks noChangeAspect="1"/>
          </p:cNvPicPr>
          <p:nvPr/>
        </p:nvPicPr>
        <p:blipFill>
          <a:blip r:embed="rId2"/>
          <a:stretch>
            <a:fillRect/>
          </a:stretch>
        </p:blipFill>
        <p:spPr>
          <a:xfrm>
            <a:off x="13494532" y="6583680"/>
            <a:ext cx="1696212" cy="969264"/>
          </a:xfrm>
          <a:prstGeom prst="rect">
            <a:avLst/>
          </a:prstGeom>
        </p:spPr>
      </p:pic>
      <p:sp>
        <p:nvSpPr>
          <p:cNvPr id="159" name="TextBox 158">
            <a:extLst>
              <a:ext uri="{FF2B5EF4-FFF2-40B4-BE49-F238E27FC236}">
                <a16:creationId xmlns:a16="http://schemas.microsoft.com/office/drawing/2014/main" id="{F416B189-E007-CF20-C592-279EAD646DBB}"/>
              </a:ext>
            </a:extLst>
          </p:cNvPr>
          <p:cNvSpPr txBox="1"/>
          <p:nvPr/>
        </p:nvSpPr>
        <p:spPr>
          <a:xfrm>
            <a:off x="3200400" y="6686485"/>
            <a:ext cx="9910084" cy="781945"/>
          </a:xfrm>
          <a:prstGeom prst="rect">
            <a:avLst/>
          </a:prstGeom>
          <a:noFill/>
        </p:spPr>
        <p:txBody>
          <a:bodyPr wrap="square" lIns="0" tIns="0" rIns="0" bIns="0" anchor="ctr">
            <a:spAutoFit/>
          </a:bodyPr>
          <a:lstStyle/>
          <a:p>
            <a:pPr algn="l">
              <a:lnSpc>
                <a:spcPct val="124000"/>
              </a:lnSpc>
              <a:spcAft>
                <a:spcPts val="400"/>
              </a:spcAft>
            </a:pPr>
            <a:r>
              <a:rPr lang="es-ES_tradnl" b="1" i="0" noProof="0" dirty="0">
                <a:solidFill>
                  <a:srgbClr val="0C514E"/>
                </a:solidFill>
                <a:latin typeface="Calibri" panose="020F0502020204030204" pitchFamily="34" charset="0"/>
                <a:cs typeface="Calibri" panose="020F0502020204030204" pitchFamily="34" charset="0"/>
              </a:rPr>
              <a:t>f(x) y g(x) </a:t>
            </a:r>
            <a:r>
              <a:rPr lang="es-ES_tradnl" b="0" i="0" noProof="0" dirty="0">
                <a:solidFill>
                  <a:srgbClr val="3E5553"/>
                </a:solidFill>
                <a:latin typeface="Calibri" panose="020F0502020204030204" pitchFamily="34" charset="0"/>
                <a:cs typeface="Calibri" panose="020F0502020204030204" pitchFamily="34" charset="0"/>
              </a:rPr>
              <a:t>son funciones de probabilidad basadas en múltiples dimensiones del cliente y del contexto: </a:t>
            </a:r>
            <a:r>
              <a:rPr lang="es-ES_tradnl" b="1" i="0" noProof="0" dirty="0">
                <a:solidFill>
                  <a:srgbClr val="0B2E2C"/>
                </a:solidFill>
                <a:latin typeface="Calibri" panose="020F0502020204030204" pitchFamily="34" charset="0"/>
                <a:cs typeface="Calibri" panose="020F0502020204030204" pitchFamily="34" charset="0"/>
              </a:rPr>
              <a:t>variables del cliente </a:t>
            </a:r>
            <a:r>
              <a:rPr lang="es-ES_tradnl" b="0" i="0" noProof="0" dirty="0">
                <a:solidFill>
                  <a:srgbClr val="3E5553"/>
                </a:solidFill>
                <a:latin typeface="Calibri" panose="020F0502020204030204" pitchFamily="34" charset="0"/>
                <a:cs typeface="Calibri" panose="020F0502020204030204" pitchFamily="34" charset="0"/>
              </a:rPr>
              <a:t>(sector económico), </a:t>
            </a:r>
            <a:r>
              <a:rPr lang="es-ES_tradnl" b="1" i="0" noProof="0" dirty="0">
                <a:solidFill>
                  <a:srgbClr val="0B2E2C"/>
                </a:solidFill>
                <a:latin typeface="Calibri" panose="020F0502020204030204" pitchFamily="34" charset="0"/>
                <a:cs typeface="Calibri" panose="020F0502020204030204" pitchFamily="34" charset="0"/>
              </a:rPr>
              <a:t>variables del crédito </a:t>
            </a:r>
            <a:r>
              <a:rPr lang="es-ES_tradnl" b="0" i="0" noProof="0" dirty="0">
                <a:solidFill>
                  <a:srgbClr val="3E5553"/>
                </a:solidFill>
                <a:latin typeface="Calibri" panose="020F0502020204030204" pitchFamily="34" charset="0"/>
                <a:cs typeface="Calibri" panose="020F0502020204030204" pitchFamily="34" charset="0"/>
              </a:rPr>
              <a:t>(monto, plazo), </a:t>
            </a:r>
            <a:r>
              <a:rPr lang="es-ES_tradnl" b="1" i="0" noProof="0" dirty="0">
                <a:solidFill>
                  <a:srgbClr val="0B2E2C"/>
                </a:solidFill>
                <a:latin typeface="Calibri" panose="020F0502020204030204" pitchFamily="34" charset="0"/>
                <a:cs typeface="Calibri" panose="020F0502020204030204" pitchFamily="34" charset="0"/>
              </a:rPr>
              <a:t>variables de mercado </a:t>
            </a:r>
            <a:r>
              <a:rPr lang="es-ES_tradnl" b="0" i="0" noProof="0" dirty="0">
                <a:solidFill>
                  <a:srgbClr val="3E5553"/>
                </a:solidFill>
                <a:latin typeface="Calibri" panose="020F0502020204030204" pitchFamily="34" charset="0"/>
                <a:cs typeface="Calibri" panose="020F0502020204030204" pitchFamily="34" charset="0"/>
              </a:rPr>
              <a:t>(tasas de la competencia, tendencias), </a:t>
            </a:r>
            <a:r>
              <a:rPr lang="es-ES_tradnl" b="1" i="0" noProof="0" dirty="0">
                <a:solidFill>
                  <a:srgbClr val="0B2E2C"/>
                </a:solidFill>
                <a:latin typeface="Calibri" panose="020F0502020204030204" pitchFamily="34" charset="0"/>
                <a:cs typeface="Calibri" panose="020F0502020204030204" pitchFamily="34" charset="0"/>
              </a:rPr>
              <a:t>relación con el banco </a:t>
            </a:r>
            <a:r>
              <a:rPr lang="es-ES_tradnl" b="0" i="0" noProof="0" dirty="0">
                <a:solidFill>
                  <a:srgbClr val="3E5553"/>
                </a:solidFill>
                <a:latin typeface="Calibri" panose="020F0502020204030204" pitchFamily="34" charset="0"/>
                <a:cs typeface="Calibri" panose="020F0502020204030204" pitchFamily="34" charset="0"/>
              </a:rPr>
              <a:t>(antigüedad, cantidad de productos), variación de tasas históricas y respuesta a ofertas previas. La elasticidad se evalúa por segmento.</a:t>
            </a:r>
          </a:p>
        </p:txBody>
      </p:sp>
      <p:sp>
        <p:nvSpPr>
          <p:cNvPr id="160" name="Rectangle 159">
            <a:extLst>
              <a:ext uri="{FF2B5EF4-FFF2-40B4-BE49-F238E27FC236}">
                <a16:creationId xmlns:a16="http://schemas.microsoft.com/office/drawing/2014/main" id="{72EF6223-EC4A-AA90-D657-134DF85E329A}"/>
              </a:ext>
            </a:extLst>
          </p:cNvPr>
          <p:cNvSpPr/>
          <p:nvPr/>
        </p:nvSpPr>
        <p:spPr>
          <a:xfrm>
            <a:off x="658368" y="7820228"/>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cxnSp>
        <p:nvCxnSpPr>
          <p:cNvPr id="161" name="Connector 78">
            <a:extLst>
              <a:ext uri="{FF2B5EF4-FFF2-40B4-BE49-F238E27FC236}">
                <a16:creationId xmlns:a16="http://schemas.microsoft.com/office/drawing/2014/main" id="{6D418664-FBC4-9E6A-E8F9-456B23B1D6EA}"/>
              </a:ext>
            </a:extLst>
          </p:cNvPr>
          <p:cNvCxnSpPr/>
          <p:nvPr/>
        </p:nvCxnSpPr>
        <p:spPr>
          <a:xfrm>
            <a:off x="658368" y="7820228"/>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67B6B271-16C1-74A1-09DB-00EE7E9CED5F}"/>
              </a:ext>
            </a:extLst>
          </p:cNvPr>
          <p:cNvSpPr txBox="1"/>
          <p:nvPr/>
        </p:nvSpPr>
        <p:spPr>
          <a:xfrm>
            <a:off x="896112" y="7953780"/>
            <a:ext cx="14482084" cy="299826"/>
          </a:xfrm>
          <a:prstGeom prst="rect">
            <a:avLst/>
          </a:prstGeom>
          <a:noFill/>
        </p:spPr>
        <p:txBody>
          <a:bodyPr wrap="square" lIns="0" tIns="0" rIns="0" bIns="0" anchor="ctr">
            <a:spAutoFit/>
          </a:bodyPr>
          <a:lstStyle/>
          <a:p>
            <a:pPr algn="l">
              <a:lnSpc>
                <a:spcPct val="115000"/>
              </a:lnSpc>
              <a:spcAft>
                <a:spcPts val="400"/>
              </a:spcAft>
            </a:pPr>
            <a:r>
              <a:rPr lang="es-ES_tradnl" sz="1800" b="1" i="0" noProof="0" dirty="0">
                <a:solidFill>
                  <a:srgbClr val="0C514E"/>
                </a:solidFill>
                <a:latin typeface="Calibri" panose="020F0502020204030204" pitchFamily="34" charset="0"/>
                <a:cs typeface="Calibri" panose="020F0502020204030204" pitchFamily="34" charset="0"/>
              </a:rPr>
              <a:t>Aquí es donde entra la tasa de la competencia: sin ese módulo, la componente 03 opera con la mitad de la información.</a:t>
            </a:r>
          </a:p>
        </p:txBody>
      </p:sp>
    </p:spTree>
    <p:extLst>
      <p:ext uri="{BB962C8B-B14F-4D97-AF65-F5344CB8AC3E}">
        <p14:creationId xmlns:p14="http://schemas.microsoft.com/office/powerpoint/2010/main" val="37930827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ED567-3B6F-4260-D781-20A551E350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8D1AB5-6151-344B-F816-2E2BBFE80E21}"/>
              </a:ext>
            </a:extLst>
          </p:cNvPr>
          <p:cNvSpPr/>
          <p:nvPr/>
        </p:nvSpPr>
        <p:spPr>
          <a:xfrm>
            <a:off x="-41138"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232A07E0-EE01-7582-D7B4-52165B96BD16}"/>
              </a:ext>
            </a:extLst>
          </p:cNvPr>
          <p:cNvSpPr txBox="1"/>
          <p:nvPr/>
        </p:nvSpPr>
        <p:spPr>
          <a:xfrm>
            <a:off x="475007" y="502919"/>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Arquitectura del Modelo de Sensibilidad</a:t>
            </a:r>
          </a:p>
        </p:txBody>
      </p:sp>
      <p:cxnSp>
        <p:nvCxnSpPr>
          <p:cNvPr id="7" name="Connector 3">
            <a:extLst>
              <a:ext uri="{FF2B5EF4-FFF2-40B4-BE49-F238E27FC236}">
                <a16:creationId xmlns:a16="http://schemas.microsoft.com/office/drawing/2014/main" id="{5879BF5F-7312-5AC4-1FE3-98AA69931F4F}"/>
              </a:ext>
            </a:extLst>
          </p:cNvPr>
          <p:cNvCxnSpPr/>
          <p:nvPr/>
        </p:nvCxnSpPr>
        <p:spPr>
          <a:xfrm>
            <a:off x="658349" y="129861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A22C8A8A-DE80-0A58-17FF-D7CF39E3BC24}"/>
              </a:ext>
            </a:extLst>
          </p:cNvPr>
          <p:cNvSpPr/>
          <p:nvPr/>
        </p:nvSpPr>
        <p:spPr>
          <a:xfrm>
            <a:off x="658368" y="1645920"/>
            <a:ext cx="4809073" cy="4617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C3012794-06A6-051B-669A-D554045F1885}"/>
              </a:ext>
            </a:extLst>
          </p:cNvPr>
          <p:cNvSpPr/>
          <p:nvPr/>
        </p:nvSpPr>
        <p:spPr>
          <a:xfrm>
            <a:off x="658368" y="1645920"/>
            <a:ext cx="4809073" cy="32918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A · CONSTRUCCIÓN DEL PANEL</a:t>
            </a:r>
          </a:p>
        </p:txBody>
      </p:sp>
      <p:sp>
        <p:nvSpPr>
          <p:cNvPr id="6" name="Rectangle 5">
            <a:extLst>
              <a:ext uri="{FF2B5EF4-FFF2-40B4-BE49-F238E27FC236}">
                <a16:creationId xmlns:a16="http://schemas.microsoft.com/office/drawing/2014/main" id="{7189418D-D0C5-4E8B-E52C-9A609CC8467D}"/>
              </a:ext>
            </a:extLst>
          </p:cNvPr>
          <p:cNvSpPr/>
          <p:nvPr/>
        </p:nvSpPr>
        <p:spPr>
          <a:xfrm>
            <a:off x="859536" y="2176272"/>
            <a:ext cx="4406737" cy="31089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FA699C8-EA5A-C966-350A-0F67ADD6E7DB}"/>
              </a:ext>
            </a:extLst>
          </p:cNvPr>
          <p:cNvSpPr txBox="1"/>
          <p:nvPr/>
        </p:nvSpPr>
        <p:spPr>
          <a:xfrm>
            <a:off x="859536" y="2240280"/>
            <a:ext cx="734456" cy="184666"/>
          </a:xfrm>
          <a:prstGeom prst="rect">
            <a:avLst/>
          </a:prstGeom>
          <a:noFill/>
        </p:spPr>
        <p:txBody>
          <a:bodyPr wrap="square" lIns="0" tIns="0" rIns="0" bIns="0" anchor="t">
            <a:spAutoFit/>
          </a:bodyPr>
          <a:lstStyle/>
          <a:p>
            <a:pPr algn="ctr">
              <a:lnSpc>
                <a:spcPct val="100000"/>
              </a:lnSpc>
            </a:pPr>
            <a:r>
              <a:rPr lang="es-ES_tradnl" sz="1200" b="1" i="0" noProof="0" dirty="0" err="1">
                <a:solidFill>
                  <a:srgbClr val="FFFFFF"/>
                </a:solidFill>
                <a:latin typeface="Calibri" panose="020F0502020204030204" pitchFamily="34" charset="0"/>
                <a:cs typeface="Calibri" panose="020F0502020204030204" pitchFamily="34" charset="0"/>
              </a:rPr>
              <a:t>Bucket</a:t>
            </a:r>
            <a:endParaRPr lang="es-ES_tradnl" sz="1200" b="1" i="0" noProof="0" dirty="0">
              <a:solidFill>
                <a:srgbClr val="FFFFFF"/>
              </a:solidFill>
              <a:latin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5ABCAC09-2AC3-7263-DE97-ED97F4A7D8AB}"/>
              </a:ext>
            </a:extLst>
          </p:cNvPr>
          <p:cNvSpPr txBox="1"/>
          <p:nvPr/>
        </p:nvSpPr>
        <p:spPr>
          <a:xfrm>
            <a:off x="1593992" y="2240280"/>
            <a:ext cx="734456"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Mes(t)</a:t>
            </a:r>
          </a:p>
        </p:txBody>
      </p:sp>
      <p:sp>
        <p:nvSpPr>
          <p:cNvPr id="49" name="TextBox 48">
            <a:extLst>
              <a:ext uri="{FF2B5EF4-FFF2-40B4-BE49-F238E27FC236}">
                <a16:creationId xmlns:a16="http://schemas.microsoft.com/office/drawing/2014/main" id="{F46E062D-E649-F306-EFD1-55509F3AC0CF}"/>
              </a:ext>
            </a:extLst>
          </p:cNvPr>
          <p:cNvSpPr txBox="1"/>
          <p:nvPr/>
        </p:nvSpPr>
        <p:spPr>
          <a:xfrm>
            <a:off x="2328448" y="2240280"/>
            <a:ext cx="734456"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Tasa IBK</a:t>
            </a:r>
          </a:p>
        </p:txBody>
      </p:sp>
      <p:sp>
        <p:nvSpPr>
          <p:cNvPr id="50" name="TextBox 49">
            <a:extLst>
              <a:ext uri="{FF2B5EF4-FFF2-40B4-BE49-F238E27FC236}">
                <a16:creationId xmlns:a16="http://schemas.microsoft.com/office/drawing/2014/main" id="{C5FA02FB-6DD0-9F40-3ED3-EFD430D9E1DB}"/>
              </a:ext>
            </a:extLst>
          </p:cNvPr>
          <p:cNvSpPr txBox="1"/>
          <p:nvPr/>
        </p:nvSpPr>
        <p:spPr>
          <a:xfrm>
            <a:off x="3062904" y="2240280"/>
            <a:ext cx="734456"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Tasa </a:t>
            </a:r>
            <a:r>
              <a:rPr lang="es-ES_tradnl" sz="1200" b="1" i="0" noProof="0" dirty="0" err="1">
                <a:solidFill>
                  <a:srgbClr val="FFFFFF"/>
                </a:solidFill>
                <a:latin typeface="Calibri" panose="020F0502020204030204" pitchFamily="34" charset="0"/>
                <a:cs typeface="Calibri" panose="020F0502020204030204" pitchFamily="34" charset="0"/>
              </a:rPr>
              <a:t>mkt</a:t>
            </a:r>
            <a:endParaRPr lang="es-ES_tradnl" sz="1200" b="1" i="0" noProof="0" dirty="0">
              <a:solidFill>
                <a:srgbClr val="FFFFFF"/>
              </a:solidFill>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EE837DDE-4786-D9E2-FF0C-C7C5928D6803}"/>
              </a:ext>
            </a:extLst>
          </p:cNvPr>
          <p:cNvSpPr txBox="1"/>
          <p:nvPr/>
        </p:nvSpPr>
        <p:spPr>
          <a:xfrm>
            <a:off x="3797360" y="2240280"/>
            <a:ext cx="734456"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FFFFFF"/>
                </a:solidFill>
                <a:latin typeface="Calibri" panose="020F0502020204030204" pitchFamily="34" charset="0"/>
                <a:cs typeface="Calibri" panose="020F0502020204030204" pitchFamily="34" charset="0"/>
              </a:rPr>
              <a:t>Spread</a:t>
            </a:r>
          </a:p>
        </p:txBody>
      </p:sp>
      <p:sp>
        <p:nvSpPr>
          <p:cNvPr id="52" name="TextBox 51">
            <a:extLst>
              <a:ext uri="{FF2B5EF4-FFF2-40B4-BE49-F238E27FC236}">
                <a16:creationId xmlns:a16="http://schemas.microsoft.com/office/drawing/2014/main" id="{A168BB8B-D2C9-DB71-E6D0-A09A585C6C8B}"/>
              </a:ext>
            </a:extLst>
          </p:cNvPr>
          <p:cNvSpPr txBox="1"/>
          <p:nvPr/>
        </p:nvSpPr>
        <p:spPr>
          <a:xfrm>
            <a:off x="4531817" y="2240280"/>
            <a:ext cx="734456" cy="184666"/>
          </a:xfrm>
          <a:prstGeom prst="rect">
            <a:avLst/>
          </a:prstGeom>
          <a:noFill/>
        </p:spPr>
        <p:txBody>
          <a:bodyPr wrap="square" lIns="0" tIns="0" rIns="0" bIns="0" anchor="t">
            <a:spAutoFit/>
          </a:bodyPr>
          <a:lstStyle/>
          <a:p>
            <a:pPr algn="ctr">
              <a:lnSpc>
                <a:spcPct val="100000"/>
              </a:lnSpc>
            </a:pPr>
            <a:r>
              <a:rPr lang="es-ES_tradnl" sz="1200" b="1" i="0" noProof="0" dirty="0" err="1">
                <a:solidFill>
                  <a:srgbClr val="FFFFFF"/>
                </a:solidFill>
                <a:latin typeface="Calibri" panose="020F0502020204030204" pitchFamily="34" charset="0"/>
                <a:cs typeface="Calibri" panose="020F0502020204030204" pitchFamily="34" charset="0"/>
              </a:rPr>
              <a:t>Conv</a:t>
            </a:r>
            <a:r>
              <a:rPr lang="es-ES_tradnl" sz="1200" b="1" i="0" noProof="0" dirty="0">
                <a:solidFill>
                  <a:srgbClr val="FFFFFF"/>
                </a:solidFill>
                <a:latin typeface="Calibri" panose="020F0502020204030204" pitchFamily="34" charset="0"/>
                <a:cs typeface="Calibri" panose="020F0502020204030204" pitchFamily="34" charset="0"/>
              </a:rPr>
              <a:t>.</a:t>
            </a:r>
          </a:p>
        </p:txBody>
      </p:sp>
      <p:sp>
        <p:nvSpPr>
          <p:cNvPr id="53" name="Rectangle 52">
            <a:extLst>
              <a:ext uri="{FF2B5EF4-FFF2-40B4-BE49-F238E27FC236}">
                <a16:creationId xmlns:a16="http://schemas.microsoft.com/office/drawing/2014/main" id="{43C1CAAC-4A93-ABC1-A95F-49940C6C2415}"/>
              </a:ext>
            </a:extLst>
          </p:cNvPr>
          <p:cNvSpPr/>
          <p:nvPr/>
        </p:nvSpPr>
        <p:spPr>
          <a:xfrm>
            <a:off x="859536" y="2542032"/>
            <a:ext cx="4406737" cy="31089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54" name="TextBox 53">
            <a:extLst>
              <a:ext uri="{FF2B5EF4-FFF2-40B4-BE49-F238E27FC236}">
                <a16:creationId xmlns:a16="http://schemas.microsoft.com/office/drawing/2014/main" id="{B0CBD27D-412F-5B5C-EA2C-387722C922CD}"/>
              </a:ext>
            </a:extLst>
          </p:cNvPr>
          <p:cNvSpPr txBox="1"/>
          <p:nvPr/>
        </p:nvSpPr>
        <p:spPr>
          <a:xfrm>
            <a:off x="859536" y="2606040"/>
            <a:ext cx="734456"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3E5553"/>
                </a:solidFill>
                <a:latin typeface="Calibri" panose="020F0502020204030204" pitchFamily="34" charset="0"/>
                <a:cs typeface="Calibri" panose="020F0502020204030204" pitchFamily="34" charset="0"/>
              </a:rPr>
              <a:t>B1</a:t>
            </a:r>
          </a:p>
        </p:txBody>
      </p:sp>
      <p:sp>
        <p:nvSpPr>
          <p:cNvPr id="55" name="TextBox 54">
            <a:extLst>
              <a:ext uri="{FF2B5EF4-FFF2-40B4-BE49-F238E27FC236}">
                <a16:creationId xmlns:a16="http://schemas.microsoft.com/office/drawing/2014/main" id="{21FF34B3-53D0-871C-48E1-1B2F21DEFFB3}"/>
              </a:ext>
            </a:extLst>
          </p:cNvPr>
          <p:cNvSpPr txBox="1"/>
          <p:nvPr/>
        </p:nvSpPr>
        <p:spPr>
          <a:xfrm>
            <a:off x="1593992" y="2606040"/>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202401</a:t>
            </a:r>
          </a:p>
        </p:txBody>
      </p:sp>
      <p:sp>
        <p:nvSpPr>
          <p:cNvPr id="56" name="TextBox 55">
            <a:extLst>
              <a:ext uri="{FF2B5EF4-FFF2-40B4-BE49-F238E27FC236}">
                <a16:creationId xmlns:a16="http://schemas.microsoft.com/office/drawing/2014/main" id="{05D00407-C2D4-6271-FDC7-00490C912341}"/>
              </a:ext>
            </a:extLst>
          </p:cNvPr>
          <p:cNvSpPr txBox="1"/>
          <p:nvPr/>
        </p:nvSpPr>
        <p:spPr>
          <a:xfrm>
            <a:off x="2328448" y="2606040"/>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22.5%</a:t>
            </a:r>
          </a:p>
        </p:txBody>
      </p:sp>
      <p:sp>
        <p:nvSpPr>
          <p:cNvPr id="57" name="TextBox 56">
            <a:extLst>
              <a:ext uri="{FF2B5EF4-FFF2-40B4-BE49-F238E27FC236}">
                <a16:creationId xmlns:a16="http://schemas.microsoft.com/office/drawing/2014/main" id="{066EE769-2E75-3026-AF11-4C6467738107}"/>
              </a:ext>
            </a:extLst>
          </p:cNvPr>
          <p:cNvSpPr txBox="1"/>
          <p:nvPr/>
        </p:nvSpPr>
        <p:spPr>
          <a:xfrm>
            <a:off x="3062904" y="2606040"/>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18.2%</a:t>
            </a:r>
          </a:p>
        </p:txBody>
      </p:sp>
      <p:sp>
        <p:nvSpPr>
          <p:cNvPr id="58" name="TextBox 57">
            <a:extLst>
              <a:ext uri="{FF2B5EF4-FFF2-40B4-BE49-F238E27FC236}">
                <a16:creationId xmlns:a16="http://schemas.microsoft.com/office/drawing/2014/main" id="{3355DACE-6406-8BD1-2888-8D6ED0137B52}"/>
              </a:ext>
            </a:extLst>
          </p:cNvPr>
          <p:cNvSpPr txBox="1"/>
          <p:nvPr/>
        </p:nvSpPr>
        <p:spPr>
          <a:xfrm>
            <a:off x="3797360" y="2606040"/>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4.3%</a:t>
            </a:r>
          </a:p>
        </p:txBody>
      </p:sp>
      <p:sp>
        <p:nvSpPr>
          <p:cNvPr id="59" name="TextBox 58">
            <a:extLst>
              <a:ext uri="{FF2B5EF4-FFF2-40B4-BE49-F238E27FC236}">
                <a16:creationId xmlns:a16="http://schemas.microsoft.com/office/drawing/2014/main" id="{E0BCF3A1-85D9-DE80-8AD9-97A7C6C14331}"/>
              </a:ext>
            </a:extLst>
          </p:cNvPr>
          <p:cNvSpPr txBox="1"/>
          <p:nvPr/>
        </p:nvSpPr>
        <p:spPr>
          <a:xfrm>
            <a:off x="4531817" y="2606040"/>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17.6%</a:t>
            </a:r>
          </a:p>
        </p:txBody>
      </p:sp>
      <p:sp>
        <p:nvSpPr>
          <p:cNvPr id="60" name="TextBox 59">
            <a:extLst>
              <a:ext uri="{FF2B5EF4-FFF2-40B4-BE49-F238E27FC236}">
                <a16:creationId xmlns:a16="http://schemas.microsoft.com/office/drawing/2014/main" id="{1386E7C9-3C41-93AA-BA98-7D280986A83D}"/>
              </a:ext>
            </a:extLst>
          </p:cNvPr>
          <p:cNvSpPr txBox="1"/>
          <p:nvPr/>
        </p:nvSpPr>
        <p:spPr>
          <a:xfrm>
            <a:off x="859536" y="2935224"/>
            <a:ext cx="734456"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3E5553"/>
                </a:solidFill>
                <a:latin typeface="Calibri" panose="020F0502020204030204" pitchFamily="34" charset="0"/>
                <a:cs typeface="Calibri" panose="020F0502020204030204" pitchFamily="34" charset="0"/>
              </a:rPr>
              <a:t>B1</a:t>
            </a:r>
          </a:p>
        </p:txBody>
      </p:sp>
      <p:sp>
        <p:nvSpPr>
          <p:cNvPr id="61" name="TextBox 60">
            <a:extLst>
              <a:ext uri="{FF2B5EF4-FFF2-40B4-BE49-F238E27FC236}">
                <a16:creationId xmlns:a16="http://schemas.microsoft.com/office/drawing/2014/main" id="{D5B9DE76-03B6-4640-90D7-B317E8878BBF}"/>
              </a:ext>
            </a:extLst>
          </p:cNvPr>
          <p:cNvSpPr txBox="1"/>
          <p:nvPr/>
        </p:nvSpPr>
        <p:spPr>
          <a:xfrm>
            <a:off x="1593992" y="2935224"/>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202402</a:t>
            </a:r>
          </a:p>
        </p:txBody>
      </p:sp>
      <p:sp>
        <p:nvSpPr>
          <p:cNvPr id="62" name="TextBox 61">
            <a:extLst>
              <a:ext uri="{FF2B5EF4-FFF2-40B4-BE49-F238E27FC236}">
                <a16:creationId xmlns:a16="http://schemas.microsoft.com/office/drawing/2014/main" id="{E135DD01-7FDC-D02A-CBF9-ECA134D06E58}"/>
              </a:ext>
            </a:extLst>
          </p:cNvPr>
          <p:cNvSpPr txBox="1"/>
          <p:nvPr/>
        </p:nvSpPr>
        <p:spPr>
          <a:xfrm>
            <a:off x="2328448" y="2935224"/>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22.0%</a:t>
            </a:r>
          </a:p>
        </p:txBody>
      </p:sp>
      <p:sp>
        <p:nvSpPr>
          <p:cNvPr id="63" name="TextBox 62">
            <a:extLst>
              <a:ext uri="{FF2B5EF4-FFF2-40B4-BE49-F238E27FC236}">
                <a16:creationId xmlns:a16="http://schemas.microsoft.com/office/drawing/2014/main" id="{18E3DF15-D0FB-D6B3-E62E-4332C9856ACC}"/>
              </a:ext>
            </a:extLst>
          </p:cNvPr>
          <p:cNvSpPr txBox="1"/>
          <p:nvPr/>
        </p:nvSpPr>
        <p:spPr>
          <a:xfrm>
            <a:off x="3062904" y="2935224"/>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18.0%</a:t>
            </a:r>
          </a:p>
        </p:txBody>
      </p:sp>
      <p:sp>
        <p:nvSpPr>
          <p:cNvPr id="128" name="TextBox 127">
            <a:extLst>
              <a:ext uri="{FF2B5EF4-FFF2-40B4-BE49-F238E27FC236}">
                <a16:creationId xmlns:a16="http://schemas.microsoft.com/office/drawing/2014/main" id="{B8C595A9-AB0E-C97F-4C14-8ACB2DADEC94}"/>
              </a:ext>
            </a:extLst>
          </p:cNvPr>
          <p:cNvSpPr txBox="1"/>
          <p:nvPr/>
        </p:nvSpPr>
        <p:spPr>
          <a:xfrm>
            <a:off x="3797360" y="2935224"/>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4.0%</a:t>
            </a:r>
          </a:p>
        </p:txBody>
      </p:sp>
      <p:sp>
        <p:nvSpPr>
          <p:cNvPr id="163" name="TextBox 162">
            <a:extLst>
              <a:ext uri="{FF2B5EF4-FFF2-40B4-BE49-F238E27FC236}">
                <a16:creationId xmlns:a16="http://schemas.microsoft.com/office/drawing/2014/main" id="{72BD1ADC-C00C-836F-F893-7E1513BE925C}"/>
              </a:ext>
            </a:extLst>
          </p:cNvPr>
          <p:cNvSpPr txBox="1"/>
          <p:nvPr/>
        </p:nvSpPr>
        <p:spPr>
          <a:xfrm>
            <a:off x="4531817" y="2935224"/>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18.1%</a:t>
            </a:r>
          </a:p>
        </p:txBody>
      </p:sp>
      <p:sp>
        <p:nvSpPr>
          <p:cNvPr id="164" name="Rectangle 163">
            <a:extLst>
              <a:ext uri="{FF2B5EF4-FFF2-40B4-BE49-F238E27FC236}">
                <a16:creationId xmlns:a16="http://schemas.microsoft.com/office/drawing/2014/main" id="{57427BF7-1BA2-E82D-EED1-D873C861E424}"/>
              </a:ext>
            </a:extLst>
          </p:cNvPr>
          <p:cNvSpPr/>
          <p:nvPr/>
        </p:nvSpPr>
        <p:spPr>
          <a:xfrm>
            <a:off x="859536" y="3200400"/>
            <a:ext cx="4406737" cy="31089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65" name="TextBox 164">
            <a:extLst>
              <a:ext uri="{FF2B5EF4-FFF2-40B4-BE49-F238E27FC236}">
                <a16:creationId xmlns:a16="http://schemas.microsoft.com/office/drawing/2014/main" id="{71926913-D0A7-7F5D-61BF-7C1259DC5333}"/>
              </a:ext>
            </a:extLst>
          </p:cNvPr>
          <p:cNvSpPr txBox="1"/>
          <p:nvPr/>
        </p:nvSpPr>
        <p:spPr>
          <a:xfrm>
            <a:off x="859536" y="3264408"/>
            <a:ext cx="734456" cy="184666"/>
          </a:xfrm>
          <a:prstGeom prst="rect">
            <a:avLst/>
          </a:prstGeom>
          <a:noFill/>
        </p:spPr>
        <p:txBody>
          <a:bodyPr wrap="square" lIns="0" tIns="0" rIns="0" bIns="0" anchor="t">
            <a:spAutoFit/>
          </a:bodyPr>
          <a:lstStyle/>
          <a:p>
            <a:pPr algn="ctr">
              <a:lnSpc>
                <a:spcPct val="100000"/>
              </a:lnSpc>
            </a:pPr>
            <a:r>
              <a:rPr lang="es-ES_tradnl" sz="1200" b="1" i="0" noProof="0" dirty="0">
                <a:solidFill>
                  <a:srgbClr val="3E5553"/>
                </a:solidFill>
                <a:latin typeface="Calibri" panose="020F0502020204030204" pitchFamily="34" charset="0"/>
                <a:cs typeface="Calibri" panose="020F0502020204030204" pitchFamily="34" charset="0"/>
              </a:rPr>
              <a:t>Bi</a:t>
            </a:r>
          </a:p>
        </p:txBody>
      </p:sp>
      <p:sp>
        <p:nvSpPr>
          <p:cNvPr id="166" name="TextBox 165">
            <a:extLst>
              <a:ext uri="{FF2B5EF4-FFF2-40B4-BE49-F238E27FC236}">
                <a16:creationId xmlns:a16="http://schemas.microsoft.com/office/drawing/2014/main" id="{59B6B05F-9B50-6BD2-8E47-BEF972D1EDF8}"/>
              </a:ext>
            </a:extLst>
          </p:cNvPr>
          <p:cNvSpPr txBox="1"/>
          <p:nvPr/>
        </p:nvSpPr>
        <p:spPr>
          <a:xfrm>
            <a:off x="1593992" y="3264408"/>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a:t>
            </a:r>
          </a:p>
        </p:txBody>
      </p:sp>
      <p:sp>
        <p:nvSpPr>
          <p:cNvPr id="167" name="TextBox 166">
            <a:extLst>
              <a:ext uri="{FF2B5EF4-FFF2-40B4-BE49-F238E27FC236}">
                <a16:creationId xmlns:a16="http://schemas.microsoft.com/office/drawing/2014/main" id="{E9C4B9D7-5D60-4540-F231-C54151DEEF86}"/>
              </a:ext>
            </a:extLst>
          </p:cNvPr>
          <p:cNvSpPr txBox="1"/>
          <p:nvPr/>
        </p:nvSpPr>
        <p:spPr>
          <a:xfrm>
            <a:off x="2328448" y="3264408"/>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a:t>
            </a:r>
          </a:p>
        </p:txBody>
      </p:sp>
      <p:sp>
        <p:nvSpPr>
          <p:cNvPr id="168" name="TextBox 167">
            <a:extLst>
              <a:ext uri="{FF2B5EF4-FFF2-40B4-BE49-F238E27FC236}">
                <a16:creationId xmlns:a16="http://schemas.microsoft.com/office/drawing/2014/main" id="{BAF53371-AC4B-4239-76E1-46D3F97D9A13}"/>
              </a:ext>
            </a:extLst>
          </p:cNvPr>
          <p:cNvSpPr txBox="1"/>
          <p:nvPr/>
        </p:nvSpPr>
        <p:spPr>
          <a:xfrm>
            <a:off x="3062904" y="3264408"/>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a:t>
            </a:r>
          </a:p>
        </p:txBody>
      </p:sp>
      <p:sp>
        <p:nvSpPr>
          <p:cNvPr id="169" name="TextBox 168">
            <a:extLst>
              <a:ext uri="{FF2B5EF4-FFF2-40B4-BE49-F238E27FC236}">
                <a16:creationId xmlns:a16="http://schemas.microsoft.com/office/drawing/2014/main" id="{2F52344B-511C-AD8E-AC75-DCB6D9492580}"/>
              </a:ext>
            </a:extLst>
          </p:cNvPr>
          <p:cNvSpPr txBox="1"/>
          <p:nvPr/>
        </p:nvSpPr>
        <p:spPr>
          <a:xfrm>
            <a:off x="3797360" y="3264408"/>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a:t>
            </a:r>
          </a:p>
        </p:txBody>
      </p:sp>
      <p:sp>
        <p:nvSpPr>
          <p:cNvPr id="170" name="TextBox 169">
            <a:extLst>
              <a:ext uri="{FF2B5EF4-FFF2-40B4-BE49-F238E27FC236}">
                <a16:creationId xmlns:a16="http://schemas.microsoft.com/office/drawing/2014/main" id="{3AD488D4-E354-E108-BBCC-51DF055A8FF5}"/>
              </a:ext>
            </a:extLst>
          </p:cNvPr>
          <p:cNvSpPr txBox="1"/>
          <p:nvPr/>
        </p:nvSpPr>
        <p:spPr>
          <a:xfrm>
            <a:off x="4531817" y="3264408"/>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a:t>
            </a:r>
          </a:p>
        </p:txBody>
      </p:sp>
      <p:sp>
        <p:nvSpPr>
          <p:cNvPr id="171" name="TextBox 170">
            <a:extLst>
              <a:ext uri="{FF2B5EF4-FFF2-40B4-BE49-F238E27FC236}">
                <a16:creationId xmlns:a16="http://schemas.microsoft.com/office/drawing/2014/main" id="{04FC24EE-78AD-0F7D-87AA-27224605BF96}"/>
              </a:ext>
            </a:extLst>
          </p:cNvPr>
          <p:cNvSpPr txBox="1"/>
          <p:nvPr/>
        </p:nvSpPr>
        <p:spPr>
          <a:xfrm>
            <a:off x="859536" y="3593591"/>
            <a:ext cx="734456" cy="184666"/>
          </a:xfrm>
          <a:prstGeom prst="rect">
            <a:avLst/>
          </a:prstGeom>
          <a:noFill/>
        </p:spPr>
        <p:txBody>
          <a:bodyPr wrap="square" lIns="0" tIns="0" rIns="0" bIns="0" anchor="t">
            <a:spAutoFit/>
          </a:bodyPr>
          <a:lstStyle/>
          <a:p>
            <a:pPr algn="ctr">
              <a:lnSpc>
                <a:spcPct val="100000"/>
              </a:lnSpc>
            </a:pPr>
            <a:r>
              <a:rPr lang="es-ES_tradnl" sz="1200" b="1" i="0" noProof="0" dirty="0" err="1">
                <a:solidFill>
                  <a:srgbClr val="3E5553"/>
                </a:solidFill>
                <a:latin typeface="Calibri" panose="020F0502020204030204" pitchFamily="34" charset="0"/>
                <a:cs typeface="Calibri" panose="020F0502020204030204" pitchFamily="34" charset="0"/>
              </a:rPr>
              <a:t>Bn</a:t>
            </a:r>
            <a:endParaRPr lang="es-ES_tradnl" sz="1200" b="1" i="0" noProof="0" dirty="0">
              <a:solidFill>
                <a:srgbClr val="3E5553"/>
              </a:solidFill>
              <a:latin typeface="Calibri" panose="020F0502020204030204" pitchFamily="34" charset="0"/>
              <a:cs typeface="Calibri" panose="020F0502020204030204" pitchFamily="34" charset="0"/>
            </a:endParaRPr>
          </a:p>
        </p:txBody>
      </p:sp>
      <p:sp>
        <p:nvSpPr>
          <p:cNvPr id="172" name="TextBox 171">
            <a:extLst>
              <a:ext uri="{FF2B5EF4-FFF2-40B4-BE49-F238E27FC236}">
                <a16:creationId xmlns:a16="http://schemas.microsoft.com/office/drawing/2014/main" id="{CDBDDF0B-E4A1-1236-3FFF-D1D6A9AB141B}"/>
              </a:ext>
            </a:extLst>
          </p:cNvPr>
          <p:cNvSpPr txBox="1"/>
          <p:nvPr/>
        </p:nvSpPr>
        <p:spPr>
          <a:xfrm>
            <a:off x="1593992" y="3593591"/>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2024-T</a:t>
            </a:r>
          </a:p>
        </p:txBody>
      </p:sp>
      <p:sp>
        <p:nvSpPr>
          <p:cNvPr id="173" name="TextBox 172">
            <a:extLst>
              <a:ext uri="{FF2B5EF4-FFF2-40B4-BE49-F238E27FC236}">
                <a16:creationId xmlns:a16="http://schemas.microsoft.com/office/drawing/2014/main" id="{26EA4388-BB79-0589-7D49-AB91E242B74C}"/>
              </a:ext>
            </a:extLst>
          </p:cNvPr>
          <p:cNvSpPr txBox="1"/>
          <p:nvPr/>
        </p:nvSpPr>
        <p:spPr>
          <a:xfrm>
            <a:off x="2328448" y="3593591"/>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24.8%</a:t>
            </a:r>
          </a:p>
        </p:txBody>
      </p:sp>
      <p:sp>
        <p:nvSpPr>
          <p:cNvPr id="174" name="TextBox 173">
            <a:extLst>
              <a:ext uri="{FF2B5EF4-FFF2-40B4-BE49-F238E27FC236}">
                <a16:creationId xmlns:a16="http://schemas.microsoft.com/office/drawing/2014/main" id="{8B3626A3-EC89-0BB0-ED1E-B18FE7EB4627}"/>
              </a:ext>
            </a:extLst>
          </p:cNvPr>
          <p:cNvSpPr txBox="1"/>
          <p:nvPr/>
        </p:nvSpPr>
        <p:spPr>
          <a:xfrm>
            <a:off x="3062904" y="3593591"/>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19.3%</a:t>
            </a:r>
          </a:p>
        </p:txBody>
      </p:sp>
      <p:sp>
        <p:nvSpPr>
          <p:cNvPr id="175" name="TextBox 174">
            <a:extLst>
              <a:ext uri="{FF2B5EF4-FFF2-40B4-BE49-F238E27FC236}">
                <a16:creationId xmlns:a16="http://schemas.microsoft.com/office/drawing/2014/main" id="{2EEAB11F-A3AA-C6BF-1712-EA97942CF413}"/>
              </a:ext>
            </a:extLst>
          </p:cNvPr>
          <p:cNvSpPr txBox="1"/>
          <p:nvPr/>
        </p:nvSpPr>
        <p:spPr>
          <a:xfrm>
            <a:off x="3797360" y="3593591"/>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5.5%</a:t>
            </a:r>
          </a:p>
        </p:txBody>
      </p:sp>
      <p:sp>
        <p:nvSpPr>
          <p:cNvPr id="176" name="TextBox 175">
            <a:extLst>
              <a:ext uri="{FF2B5EF4-FFF2-40B4-BE49-F238E27FC236}">
                <a16:creationId xmlns:a16="http://schemas.microsoft.com/office/drawing/2014/main" id="{000BD7BD-E5F8-EAD0-A536-5382088513D9}"/>
              </a:ext>
            </a:extLst>
          </p:cNvPr>
          <p:cNvSpPr txBox="1"/>
          <p:nvPr/>
        </p:nvSpPr>
        <p:spPr>
          <a:xfrm>
            <a:off x="4531817" y="3593591"/>
            <a:ext cx="734456" cy="184666"/>
          </a:xfrm>
          <a:prstGeom prst="rect">
            <a:avLst/>
          </a:prstGeom>
          <a:noFill/>
        </p:spPr>
        <p:txBody>
          <a:bodyPr wrap="square" lIns="0" tIns="0" rIns="0" bIns="0" anchor="t">
            <a:spAutoFit/>
          </a:bodyPr>
          <a:lstStyle/>
          <a:p>
            <a:pPr algn="ctr">
              <a:lnSpc>
                <a:spcPct val="100000"/>
              </a:lnSpc>
            </a:pPr>
            <a:r>
              <a:rPr lang="es-ES_tradnl" sz="1200" b="0" i="0" noProof="0" dirty="0">
                <a:solidFill>
                  <a:srgbClr val="3E5553"/>
                </a:solidFill>
                <a:latin typeface="Calibri" panose="020F0502020204030204" pitchFamily="34" charset="0"/>
                <a:cs typeface="Calibri" panose="020F0502020204030204" pitchFamily="34" charset="0"/>
              </a:rPr>
              <a:t>15.2%</a:t>
            </a:r>
          </a:p>
        </p:txBody>
      </p:sp>
      <p:sp>
        <p:nvSpPr>
          <p:cNvPr id="177" name="TextBox 176">
            <a:extLst>
              <a:ext uri="{FF2B5EF4-FFF2-40B4-BE49-F238E27FC236}">
                <a16:creationId xmlns:a16="http://schemas.microsoft.com/office/drawing/2014/main" id="{0E113A86-0E66-82FD-6FE0-7FF852029FA2}"/>
              </a:ext>
            </a:extLst>
          </p:cNvPr>
          <p:cNvSpPr txBox="1"/>
          <p:nvPr/>
        </p:nvSpPr>
        <p:spPr>
          <a:xfrm>
            <a:off x="859536" y="4133087"/>
            <a:ext cx="4406737"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Variables clave del panel</a:t>
            </a:r>
          </a:p>
        </p:txBody>
      </p:sp>
      <p:sp>
        <p:nvSpPr>
          <p:cNvPr id="178" name="Rectangle 177">
            <a:extLst>
              <a:ext uri="{FF2B5EF4-FFF2-40B4-BE49-F238E27FC236}">
                <a16:creationId xmlns:a16="http://schemas.microsoft.com/office/drawing/2014/main" id="{FEAA56EB-47CE-C1FD-E906-4DDB40F0831D}"/>
              </a:ext>
            </a:extLst>
          </p:cNvPr>
          <p:cNvSpPr/>
          <p:nvPr/>
        </p:nvSpPr>
        <p:spPr>
          <a:xfrm>
            <a:off x="859536" y="4462272"/>
            <a:ext cx="786384" cy="31089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445A6E"/>
                </a:solidFill>
                <a:latin typeface="Calibri" panose="020F0502020204030204" pitchFamily="34" charset="0"/>
                <a:cs typeface="Calibri" panose="020F0502020204030204" pitchFamily="34" charset="0"/>
              </a:rPr>
              <a:t>r IBK</a:t>
            </a:r>
          </a:p>
        </p:txBody>
      </p:sp>
      <p:sp>
        <p:nvSpPr>
          <p:cNvPr id="179" name="TextBox 178">
            <a:extLst>
              <a:ext uri="{FF2B5EF4-FFF2-40B4-BE49-F238E27FC236}">
                <a16:creationId xmlns:a16="http://schemas.microsoft.com/office/drawing/2014/main" id="{F0A7380D-53F2-ABF6-63DD-7A169F59D551}"/>
              </a:ext>
            </a:extLst>
          </p:cNvPr>
          <p:cNvSpPr txBox="1"/>
          <p:nvPr/>
        </p:nvSpPr>
        <p:spPr>
          <a:xfrm>
            <a:off x="1755648" y="4507992"/>
            <a:ext cx="3492337" cy="184666"/>
          </a:xfrm>
          <a:prstGeom prst="rect">
            <a:avLst/>
          </a:prstGeom>
          <a:noFill/>
        </p:spPr>
        <p:txBody>
          <a:bodyPr wrap="square" lIns="0" tIns="0" rIns="0" bIns="0" anchor="t">
            <a:spAutoFit/>
          </a:bodyPr>
          <a:lstStyle/>
          <a:p>
            <a:pPr algn="l">
              <a:lnSpc>
                <a:spcPct val="100000"/>
              </a:lnSpc>
            </a:pPr>
            <a:r>
              <a:rPr lang="es-ES_tradnl" sz="1200" b="0" i="0" noProof="0" dirty="0">
                <a:solidFill>
                  <a:srgbClr val="6E7E7D"/>
                </a:solidFill>
                <a:latin typeface="Calibri" panose="020F0502020204030204" pitchFamily="34" charset="0"/>
                <a:cs typeface="Calibri" panose="020F0502020204030204" pitchFamily="34" charset="0"/>
              </a:rPr>
              <a:t>Tasa ofertada por IBK</a:t>
            </a:r>
          </a:p>
        </p:txBody>
      </p:sp>
      <p:sp>
        <p:nvSpPr>
          <p:cNvPr id="180" name="Rectangle 179">
            <a:extLst>
              <a:ext uri="{FF2B5EF4-FFF2-40B4-BE49-F238E27FC236}">
                <a16:creationId xmlns:a16="http://schemas.microsoft.com/office/drawing/2014/main" id="{9A490355-33C3-0F67-0A44-DFC1336F9B24}"/>
              </a:ext>
            </a:extLst>
          </p:cNvPr>
          <p:cNvSpPr/>
          <p:nvPr/>
        </p:nvSpPr>
        <p:spPr>
          <a:xfrm>
            <a:off x="859536" y="4864608"/>
            <a:ext cx="786384" cy="31089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445A6E"/>
                </a:solidFill>
                <a:latin typeface="Calibri" panose="020F0502020204030204" pitchFamily="34" charset="0"/>
                <a:cs typeface="Calibri" panose="020F0502020204030204" pitchFamily="34" charset="0"/>
              </a:rPr>
              <a:t>r MKT</a:t>
            </a:r>
          </a:p>
        </p:txBody>
      </p:sp>
      <p:sp>
        <p:nvSpPr>
          <p:cNvPr id="181" name="TextBox 180">
            <a:extLst>
              <a:ext uri="{FF2B5EF4-FFF2-40B4-BE49-F238E27FC236}">
                <a16:creationId xmlns:a16="http://schemas.microsoft.com/office/drawing/2014/main" id="{5F0E142B-C652-1226-3231-4A88C8873B16}"/>
              </a:ext>
            </a:extLst>
          </p:cNvPr>
          <p:cNvSpPr txBox="1"/>
          <p:nvPr/>
        </p:nvSpPr>
        <p:spPr>
          <a:xfrm>
            <a:off x="1755648" y="4910328"/>
            <a:ext cx="3492337" cy="184666"/>
          </a:xfrm>
          <a:prstGeom prst="rect">
            <a:avLst/>
          </a:prstGeom>
          <a:noFill/>
        </p:spPr>
        <p:txBody>
          <a:bodyPr wrap="square" lIns="0" tIns="0" rIns="0" bIns="0" anchor="t">
            <a:spAutoFit/>
          </a:bodyPr>
          <a:lstStyle/>
          <a:p>
            <a:pPr algn="l">
              <a:lnSpc>
                <a:spcPct val="100000"/>
              </a:lnSpc>
            </a:pPr>
            <a:r>
              <a:rPr lang="es-ES_tradnl" sz="1200" b="0" i="0" noProof="0" dirty="0">
                <a:solidFill>
                  <a:srgbClr val="6E7E7D"/>
                </a:solidFill>
                <a:latin typeface="Calibri" panose="020F0502020204030204" pitchFamily="34" charset="0"/>
                <a:cs typeface="Calibri" panose="020F0502020204030204" pitchFamily="34" charset="0"/>
              </a:rPr>
              <a:t>Tasa de mercado (SBS u otra referencia)</a:t>
            </a:r>
          </a:p>
        </p:txBody>
      </p:sp>
      <p:sp>
        <p:nvSpPr>
          <p:cNvPr id="182" name="Rectangle 181">
            <a:extLst>
              <a:ext uri="{FF2B5EF4-FFF2-40B4-BE49-F238E27FC236}">
                <a16:creationId xmlns:a16="http://schemas.microsoft.com/office/drawing/2014/main" id="{0B07B45C-A388-07F5-9286-4B1C62CC6BD5}"/>
              </a:ext>
            </a:extLst>
          </p:cNvPr>
          <p:cNvSpPr/>
          <p:nvPr/>
        </p:nvSpPr>
        <p:spPr>
          <a:xfrm>
            <a:off x="859536" y="5266944"/>
            <a:ext cx="786384" cy="31089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445A6E"/>
                </a:solidFill>
                <a:latin typeface="Calibri" panose="020F0502020204030204" pitchFamily="34" charset="0"/>
                <a:cs typeface="Calibri" panose="020F0502020204030204" pitchFamily="34" charset="0"/>
              </a:rPr>
              <a:t>Spread</a:t>
            </a:r>
          </a:p>
        </p:txBody>
      </p:sp>
      <p:sp>
        <p:nvSpPr>
          <p:cNvPr id="183" name="TextBox 182">
            <a:extLst>
              <a:ext uri="{FF2B5EF4-FFF2-40B4-BE49-F238E27FC236}">
                <a16:creationId xmlns:a16="http://schemas.microsoft.com/office/drawing/2014/main" id="{FFF9CCD2-C434-AC10-892D-40AEB76491E7}"/>
              </a:ext>
            </a:extLst>
          </p:cNvPr>
          <p:cNvSpPr txBox="1"/>
          <p:nvPr/>
        </p:nvSpPr>
        <p:spPr>
          <a:xfrm>
            <a:off x="1755648" y="5312664"/>
            <a:ext cx="3492337" cy="184666"/>
          </a:xfrm>
          <a:prstGeom prst="rect">
            <a:avLst/>
          </a:prstGeom>
          <a:noFill/>
        </p:spPr>
        <p:txBody>
          <a:bodyPr wrap="square" lIns="0" tIns="0" rIns="0" bIns="0" anchor="t">
            <a:spAutoFit/>
          </a:bodyPr>
          <a:lstStyle/>
          <a:p>
            <a:pPr algn="l">
              <a:lnSpc>
                <a:spcPct val="100000"/>
              </a:lnSpc>
            </a:pPr>
            <a:r>
              <a:rPr lang="es-ES_tradnl" sz="1200" b="0" i="0" noProof="0" dirty="0">
                <a:solidFill>
                  <a:srgbClr val="6E7E7D"/>
                </a:solidFill>
                <a:latin typeface="Calibri" panose="020F0502020204030204" pitchFamily="34" charset="0"/>
                <a:cs typeface="Calibri" panose="020F0502020204030204" pitchFamily="34" charset="0"/>
              </a:rPr>
              <a:t>Diferencial competitivo = r IBK − r MKT</a:t>
            </a:r>
          </a:p>
        </p:txBody>
      </p:sp>
      <p:sp>
        <p:nvSpPr>
          <p:cNvPr id="184" name="Rectangle 183">
            <a:extLst>
              <a:ext uri="{FF2B5EF4-FFF2-40B4-BE49-F238E27FC236}">
                <a16:creationId xmlns:a16="http://schemas.microsoft.com/office/drawing/2014/main" id="{A01C10D4-0503-C7B5-1A64-EE2561CDFD46}"/>
              </a:ext>
            </a:extLst>
          </p:cNvPr>
          <p:cNvSpPr/>
          <p:nvPr/>
        </p:nvSpPr>
        <p:spPr>
          <a:xfrm>
            <a:off x="859536" y="5669280"/>
            <a:ext cx="786384" cy="31089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200" b="1" i="0" noProof="0" dirty="0">
                <a:solidFill>
                  <a:srgbClr val="445A6E"/>
                </a:solidFill>
                <a:latin typeface="Calibri" panose="020F0502020204030204" pitchFamily="34" charset="0"/>
                <a:cs typeface="Calibri" panose="020F0502020204030204" pitchFamily="34" charset="0"/>
              </a:rPr>
              <a:t>E</a:t>
            </a:r>
          </a:p>
        </p:txBody>
      </p:sp>
      <p:sp>
        <p:nvSpPr>
          <p:cNvPr id="185" name="TextBox 184">
            <a:extLst>
              <a:ext uri="{FF2B5EF4-FFF2-40B4-BE49-F238E27FC236}">
                <a16:creationId xmlns:a16="http://schemas.microsoft.com/office/drawing/2014/main" id="{44B1DC94-7C8B-1A00-A567-F99DABD1DF14}"/>
              </a:ext>
            </a:extLst>
          </p:cNvPr>
          <p:cNvSpPr txBox="1"/>
          <p:nvPr/>
        </p:nvSpPr>
        <p:spPr>
          <a:xfrm>
            <a:off x="1755648" y="5715000"/>
            <a:ext cx="3492337" cy="184666"/>
          </a:xfrm>
          <a:prstGeom prst="rect">
            <a:avLst/>
          </a:prstGeom>
          <a:noFill/>
        </p:spPr>
        <p:txBody>
          <a:bodyPr wrap="square" lIns="0" tIns="0" rIns="0" bIns="0" anchor="t">
            <a:spAutoFit/>
          </a:bodyPr>
          <a:lstStyle/>
          <a:p>
            <a:pPr algn="l">
              <a:lnSpc>
                <a:spcPct val="100000"/>
              </a:lnSpc>
            </a:pPr>
            <a:r>
              <a:rPr lang="es-ES_tradnl" sz="1200" b="0" i="0" noProof="0" dirty="0">
                <a:solidFill>
                  <a:srgbClr val="6E7E7D"/>
                </a:solidFill>
                <a:latin typeface="Calibri" panose="020F0502020204030204" pitchFamily="34" charset="0"/>
                <a:cs typeface="Calibri" panose="020F0502020204030204" pitchFamily="34" charset="0"/>
              </a:rPr>
              <a:t>Conversión = monto desembolsado / monto ofertado</a:t>
            </a:r>
          </a:p>
        </p:txBody>
      </p:sp>
      <p:sp>
        <p:nvSpPr>
          <p:cNvPr id="186" name="Rectangle 185">
            <a:extLst>
              <a:ext uri="{FF2B5EF4-FFF2-40B4-BE49-F238E27FC236}">
                <a16:creationId xmlns:a16="http://schemas.microsoft.com/office/drawing/2014/main" id="{74A50719-EB81-4510-6A11-F611718B04E9}"/>
              </a:ext>
            </a:extLst>
          </p:cNvPr>
          <p:cNvSpPr/>
          <p:nvPr/>
        </p:nvSpPr>
        <p:spPr>
          <a:xfrm>
            <a:off x="5723473" y="1645920"/>
            <a:ext cx="4809073" cy="4617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87" name="Rectangle 186">
            <a:extLst>
              <a:ext uri="{FF2B5EF4-FFF2-40B4-BE49-F238E27FC236}">
                <a16:creationId xmlns:a16="http://schemas.microsoft.com/office/drawing/2014/main" id="{6010AA57-BCBC-91C3-9C59-F50468828529}"/>
              </a:ext>
            </a:extLst>
          </p:cNvPr>
          <p:cNvSpPr/>
          <p:nvPr/>
        </p:nvSpPr>
        <p:spPr>
          <a:xfrm>
            <a:off x="5723473" y="1645920"/>
            <a:ext cx="4809073"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B · ELASTICIDAD INTERNA (β₁)</a:t>
            </a:r>
          </a:p>
        </p:txBody>
      </p:sp>
      <p:sp>
        <p:nvSpPr>
          <p:cNvPr id="188" name="TextBox 187">
            <a:extLst>
              <a:ext uri="{FF2B5EF4-FFF2-40B4-BE49-F238E27FC236}">
                <a16:creationId xmlns:a16="http://schemas.microsoft.com/office/drawing/2014/main" id="{3AF7D2F2-A91E-FBE6-8196-E658402C93BB}"/>
              </a:ext>
            </a:extLst>
          </p:cNvPr>
          <p:cNvSpPr txBox="1"/>
          <p:nvPr/>
        </p:nvSpPr>
        <p:spPr>
          <a:xfrm>
            <a:off x="5924641" y="2139696"/>
            <a:ext cx="4406737" cy="215444"/>
          </a:xfrm>
          <a:prstGeom prst="rect">
            <a:avLst/>
          </a:prstGeom>
          <a:noFill/>
        </p:spPr>
        <p:txBody>
          <a:bodyPr wrap="square" lIns="0" tIns="0" rIns="0" bIns="0" anchor="t">
            <a:spAutoFit/>
          </a:bodyPr>
          <a:lstStyle/>
          <a:p>
            <a:pPr algn="l">
              <a:lnSpc>
                <a:spcPct val="100000"/>
              </a:lnSpc>
            </a:pPr>
            <a:r>
              <a:rPr lang="es-ES_tradnl" b="0" i="0" noProof="0" dirty="0">
                <a:solidFill>
                  <a:srgbClr val="6E7E7D"/>
                </a:solidFill>
                <a:latin typeface="Calibri" panose="020F0502020204030204" pitchFamily="34" charset="0"/>
                <a:cs typeface="Calibri" panose="020F0502020204030204" pitchFamily="34" charset="0"/>
              </a:rPr>
              <a:t>Sensibilidad a cambios de la tasa IBK</a:t>
            </a:r>
          </a:p>
        </p:txBody>
      </p:sp>
      <p:sp>
        <p:nvSpPr>
          <p:cNvPr id="189" name="Rectangle 188">
            <a:extLst>
              <a:ext uri="{FF2B5EF4-FFF2-40B4-BE49-F238E27FC236}">
                <a16:creationId xmlns:a16="http://schemas.microsoft.com/office/drawing/2014/main" id="{E0BD8319-D6A8-FB70-9898-2392A4AB9597}"/>
              </a:ext>
            </a:extLst>
          </p:cNvPr>
          <p:cNvSpPr/>
          <p:nvPr/>
        </p:nvSpPr>
        <p:spPr>
          <a:xfrm>
            <a:off x="5924641" y="2450592"/>
            <a:ext cx="4406737"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0C514E"/>
                </a:solidFill>
                <a:latin typeface="Calibri" panose="020F0502020204030204" pitchFamily="34" charset="0"/>
                <a:cs typeface="Calibri" panose="020F0502020204030204" pitchFamily="34" charset="0"/>
              </a:rPr>
              <a:t>β₁  =  % </a:t>
            </a:r>
            <a:r>
              <a:rPr lang="es-ES_tradnl" sz="1800" b="1" i="0" noProof="0" dirty="0" err="1">
                <a:solidFill>
                  <a:srgbClr val="0C514E"/>
                </a:solidFill>
                <a:latin typeface="Calibri" panose="020F0502020204030204" pitchFamily="34" charset="0"/>
                <a:cs typeface="Calibri" panose="020F0502020204030204" pitchFamily="34" charset="0"/>
              </a:rPr>
              <a:t>Δ</a:t>
            </a:r>
            <a:r>
              <a:rPr lang="es-ES_tradnl" sz="1800" b="1" i="0" noProof="0" dirty="0">
                <a:solidFill>
                  <a:srgbClr val="0C514E"/>
                </a:solidFill>
                <a:latin typeface="Calibri" panose="020F0502020204030204" pitchFamily="34" charset="0"/>
                <a:cs typeface="Calibri" panose="020F0502020204030204" pitchFamily="34" charset="0"/>
              </a:rPr>
              <a:t> Conversión  /  % </a:t>
            </a:r>
            <a:r>
              <a:rPr lang="es-ES_tradnl" sz="1800" b="1" i="0" noProof="0" dirty="0" err="1">
                <a:solidFill>
                  <a:srgbClr val="0C514E"/>
                </a:solidFill>
                <a:latin typeface="Calibri" panose="020F0502020204030204" pitchFamily="34" charset="0"/>
                <a:cs typeface="Calibri" panose="020F0502020204030204" pitchFamily="34" charset="0"/>
              </a:rPr>
              <a:t>Δ</a:t>
            </a:r>
            <a:r>
              <a:rPr lang="es-ES_tradnl" sz="1800" b="1" i="0" noProof="0" dirty="0">
                <a:solidFill>
                  <a:srgbClr val="0C514E"/>
                </a:solidFill>
                <a:latin typeface="Calibri" panose="020F0502020204030204" pitchFamily="34" charset="0"/>
                <a:cs typeface="Calibri" panose="020F0502020204030204" pitchFamily="34" charset="0"/>
              </a:rPr>
              <a:t> Tasa IBK</a:t>
            </a:r>
          </a:p>
        </p:txBody>
      </p:sp>
      <p:pic>
        <p:nvPicPr>
          <p:cNvPr id="190" name="Picture 189" descr="elast.png">
            <a:extLst>
              <a:ext uri="{FF2B5EF4-FFF2-40B4-BE49-F238E27FC236}">
                <a16:creationId xmlns:a16="http://schemas.microsoft.com/office/drawing/2014/main" id="{68541842-06A3-09CC-96E3-F32FC5C5E01E}"/>
              </a:ext>
            </a:extLst>
          </p:cNvPr>
          <p:cNvPicPr>
            <a:picLocks noChangeAspect="1"/>
          </p:cNvPicPr>
          <p:nvPr/>
        </p:nvPicPr>
        <p:blipFill>
          <a:blip r:embed="rId2"/>
          <a:stretch>
            <a:fillRect/>
          </a:stretch>
        </p:blipFill>
        <p:spPr>
          <a:xfrm>
            <a:off x="6710690" y="3218688"/>
            <a:ext cx="2752344" cy="1572768"/>
          </a:xfrm>
          <a:prstGeom prst="rect">
            <a:avLst/>
          </a:prstGeom>
        </p:spPr>
      </p:pic>
      <p:sp>
        <p:nvSpPr>
          <p:cNvPr id="191" name="TextBox 190">
            <a:extLst>
              <a:ext uri="{FF2B5EF4-FFF2-40B4-BE49-F238E27FC236}">
                <a16:creationId xmlns:a16="http://schemas.microsoft.com/office/drawing/2014/main" id="{40801BE2-3B4E-A763-C542-D833B87EB77E}"/>
              </a:ext>
            </a:extLst>
          </p:cNvPr>
          <p:cNvSpPr txBox="1"/>
          <p:nvPr/>
        </p:nvSpPr>
        <p:spPr>
          <a:xfrm>
            <a:off x="5924641" y="4956048"/>
            <a:ext cx="4406737"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Interpretación</a:t>
            </a:r>
          </a:p>
        </p:txBody>
      </p:sp>
      <p:sp>
        <p:nvSpPr>
          <p:cNvPr id="192" name="TextBox 191">
            <a:extLst>
              <a:ext uri="{FF2B5EF4-FFF2-40B4-BE49-F238E27FC236}">
                <a16:creationId xmlns:a16="http://schemas.microsoft.com/office/drawing/2014/main" id="{B0399DF3-9BCB-726C-4464-49AB42E65FA5}"/>
              </a:ext>
            </a:extLst>
          </p:cNvPr>
          <p:cNvSpPr txBox="1"/>
          <p:nvPr/>
        </p:nvSpPr>
        <p:spPr>
          <a:xfrm>
            <a:off x="5924641" y="5230368"/>
            <a:ext cx="4406737" cy="772904"/>
          </a:xfrm>
          <a:prstGeom prst="rect">
            <a:avLst/>
          </a:prstGeom>
          <a:noFill/>
        </p:spPr>
        <p:txBody>
          <a:bodyPr wrap="square" lIns="0" tIns="0" rIns="0" bIns="0" anchor="t">
            <a:spAutoFit/>
          </a:bodyPr>
          <a:lstStyle/>
          <a:p>
            <a:pPr marL="128016" indent="-128016" algn="l">
              <a:lnSpc>
                <a:spcPct val="124000"/>
              </a:lnSpc>
              <a:spcAft>
                <a:spcPts val="400"/>
              </a:spcAft>
              <a:buClr>
                <a:srgbClr val="13807B"/>
              </a:buClr>
              <a:buFont typeface="Arial"/>
              <a:buChar char="•"/>
            </a:pPr>
            <a:r>
              <a:rPr lang="es-ES_tradnl" sz="1200" b="0" i="0" noProof="0" dirty="0">
                <a:solidFill>
                  <a:srgbClr val="6E7E7D"/>
                </a:solidFill>
                <a:latin typeface="Calibri" panose="020F0502020204030204" pitchFamily="34" charset="0"/>
                <a:cs typeface="Calibri" panose="020F0502020204030204" pitchFamily="34" charset="0"/>
              </a:rPr>
              <a:t>A mayor tasa, menor conversión</a:t>
            </a:r>
          </a:p>
          <a:p>
            <a:pPr marL="128016" indent="-128016" algn="l">
              <a:lnSpc>
                <a:spcPct val="124000"/>
              </a:lnSpc>
              <a:spcAft>
                <a:spcPts val="400"/>
              </a:spcAft>
              <a:buClr>
                <a:srgbClr val="13807B"/>
              </a:buClr>
              <a:buFont typeface="Arial"/>
              <a:buChar char="•"/>
            </a:pPr>
            <a:r>
              <a:rPr lang="es-ES_tradnl" sz="1200" b="0" i="0" noProof="0" dirty="0">
                <a:solidFill>
                  <a:srgbClr val="6E7E7D"/>
                </a:solidFill>
                <a:latin typeface="Calibri" panose="020F0502020204030204" pitchFamily="34" charset="0"/>
                <a:cs typeface="Calibri" panose="020F0502020204030204" pitchFamily="34" charset="0"/>
              </a:rPr>
              <a:t>|β₁| alto → segmento muy sensible</a:t>
            </a:r>
          </a:p>
          <a:p>
            <a:pPr marL="128016" indent="-128016" algn="l">
              <a:lnSpc>
                <a:spcPct val="124000"/>
              </a:lnSpc>
              <a:spcAft>
                <a:spcPts val="400"/>
              </a:spcAft>
              <a:buClr>
                <a:srgbClr val="13807B"/>
              </a:buClr>
              <a:buFont typeface="Arial"/>
              <a:buChar char="•"/>
            </a:pPr>
            <a:r>
              <a:rPr lang="es-ES_tradnl" sz="1200" b="0" i="0" noProof="0" dirty="0">
                <a:solidFill>
                  <a:srgbClr val="6E7E7D"/>
                </a:solidFill>
                <a:latin typeface="Calibri" panose="020F0502020204030204" pitchFamily="34" charset="0"/>
                <a:cs typeface="Calibri" panose="020F0502020204030204" pitchFamily="34" charset="0"/>
              </a:rPr>
              <a:t>|β₁| bajo → segmento poco sensible</a:t>
            </a:r>
          </a:p>
        </p:txBody>
      </p:sp>
      <p:sp>
        <p:nvSpPr>
          <p:cNvPr id="193" name="Rectangle 192">
            <a:extLst>
              <a:ext uri="{FF2B5EF4-FFF2-40B4-BE49-F238E27FC236}">
                <a16:creationId xmlns:a16="http://schemas.microsoft.com/office/drawing/2014/main" id="{30B77726-CB7A-3259-610F-61118084A26B}"/>
              </a:ext>
            </a:extLst>
          </p:cNvPr>
          <p:cNvSpPr/>
          <p:nvPr/>
        </p:nvSpPr>
        <p:spPr>
          <a:xfrm>
            <a:off x="10788578" y="1645920"/>
            <a:ext cx="4809073" cy="46177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194" name="Rectangle 193">
            <a:extLst>
              <a:ext uri="{FF2B5EF4-FFF2-40B4-BE49-F238E27FC236}">
                <a16:creationId xmlns:a16="http://schemas.microsoft.com/office/drawing/2014/main" id="{443766D7-8239-2A3B-22A7-3CA431692010}"/>
              </a:ext>
            </a:extLst>
          </p:cNvPr>
          <p:cNvSpPr/>
          <p:nvPr/>
        </p:nvSpPr>
        <p:spPr>
          <a:xfrm>
            <a:off x="10788578" y="1645920"/>
            <a:ext cx="4809073" cy="329184"/>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b="1" i="0" noProof="0" dirty="0">
                <a:solidFill>
                  <a:srgbClr val="FFFFFF"/>
                </a:solidFill>
                <a:latin typeface="Calibri" panose="020F0502020204030204" pitchFamily="34" charset="0"/>
                <a:cs typeface="Calibri" panose="020F0502020204030204" pitchFamily="34" charset="0"/>
              </a:rPr>
              <a:t>C · ELASTICIDAD COMPETITIVA (β₂)</a:t>
            </a:r>
          </a:p>
        </p:txBody>
      </p:sp>
      <p:sp>
        <p:nvSpPr>
          <p:cNvPr id="195" name="TextBox 194">
            <a:extLst>
              <a:ext uri="{FF2B5EF4-FFF2-40B4-BE49-F238E27FC236}">
                <a16:creationId xmlns:a16="http://schemas.microsoft.com/office/drawing/2014/main" id="{E7F7E1C7-1D86-6E8D-B9F2-CBE4BEB3FEBA}"/>
              </a:ext>
            </a:extLst>
          </p:cNvPr>
          <p:cNvSpPr txBox="1"/>
          <p:nvPr/>
        </p:nvSpPr>
        <p:spPr>
          <a:xfrm>
            <a:off x="10989746" y="2139696"/>
            <a:ext cx="4406737" cy="215444"/>
          </a:xfrm>
          <a:prstGeom prst="rect">
            <a:avLst/>
          </a:prstGeom>
          <a:noFill/>
        </p:spPr>
        <p:txBody>
          <a:bodyPr wrap="square" lIns="0" tIns="0" rIns="0" bIns="0" anchor="t">
            <a:spAutoFit/>
          </a:bodyPr>
          <a:lstStyle/>
          <a:p>
            <a:pPr algn="l">
              <a:lnSpc>
                <a:spcPct val="100000"/>
              </a:lnSpc>
            </a:pPr>
            <a:r>
              <a:rPr lang="es-ES_tradnl" b="0" i="0" noProof="0" dirty="0">
                <a:solidFill>
                  <a:srgbClr val="6E7E7D"/>
                </a:solidFill>
                <a:latin typeface="Calibri" panose="020F0502020204030204" pitchFamily="34" charset="0"/>
                <a:cs typeface="Calibri" panose="020F0502020204030204" pitchFamily="34" charset="0"/>
              </a:rPr>
              <a:t>Sensibilidad al diferencial contra el mercado</a:t>
            </a:r>
          </a:p>
        </p:txBody>
      </p:sp>
      <p:sp>
        <p:nvSpPr>
          <p:cNvPr id="196" name="Rectangle 195">
            <a:extLst>
              <a:ext uri="{FF2B5EF4-FFF2-40B4-BE49-F238E27FC236}">
                <a16:creationId xmlns:a16="http://schemas.microsoft.com/office/drawing/2014/main" id="{748A57A1-C6AD-9806-BB55-A0C5C9F61FD3}"/>
              </a:ext>
            </a:extLst>
          </p:cNvPr>
          <p:cNvSpPr/>
          <p:nvPr/>
        </p:nvSpPr>
        <p:spPr>
          <a:xfrm>
            <a:off x="10989746" y="2450592"/>
            <a:ext cx="4406737" cy="475488"/>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C87A0B"/>
                </a:solidFill>
                <a:latin typeface="Calibri" panose="020F0502020204030204" pitchFamily="34" charset="0"/>
                <a:cs typeface="Calibri" panose="020F0502020204030204" pitchFamily="34" charset="0"/>
              </a:rPr>
              <a:t>Spread  =  r IBK  −  r MKT</a:t>
            </a:r>
          </a:p>
        </p:txBody>
      </p:sp>
      <p:sp>
        <p:nvSpPr>
          <p:cNvPr id="197" name="Rectangle 196">
            <a:extLst>
              <a:ext uri="{FF2B5EF4-FFF2-40B4-BE49-F238E27FC236}">
                <a16:creationId xmlns:a16="http://schemas.microsoft.com/office/drawing/2014/main" id="{5E87305E-3E3D-5EB0-D8BC-603E7E235B00}"/>
              </a:ext>
            </a:extLst>
          </p:cNvPr>
          <p:cNvSpPr/>
          <p:nvPr/>
        </p:nvSpPr>
        <p:spPr>
          <a:xfrm>
            <a:off x="10989746" y="3035808"/>
            <a:ext cx="4406737" cy="475488"/>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lang="es-ES_tradnl" sz="1800" b="1" i="0" noProof="0" dirty="0">
                <a:solidFill>
                  <a:srgbClr val="C87A0B"/>
                </a:solidFill>
                <a:latin typeface="Calibri" panose="020F0502020204030204" pitchFamily="34" charset="0"/>
                <a:cs typeface="Calibri" panose="020F0502020204030204" pitchFamily="34" charset="0"/>
              </a:rPr>
              <a:t>β₂  =  % </a:t>
            </a:r>
            <a:r>
              <a:rPr lang="es-ES_tradnl" sz="1800" b="1" i="0" noProof="0" dirty="0" err="1">
                <a:solidFill>
                  <a:srgbClr val="C87A0B"/>
                </a:solidFill>
                <a:latin typeface="Calibri" panose="020F0502020204030204" pitchFamily="34" charset="0"/>
                <a:cs typeface="Calibri" panose="020F0502020204030204" pitchFamily="34" charset="0"/>
              </a:rPr>
              <a:t>Δ</a:t>
            </a:r>
            <a:r>
              <a:rPr lang="es-ES_tradnl" sz="1800" b="1" i="0" noProof="0" dirty="0">
                <a:solidFill>
                  <a:srgbClr val="C87A0B"/>
                </a:solidFill>
                <a:latin typeface="Calibri" panose="020F0502020204030204" pitchFamily="34" charset="0"/>
                <a:cs typeface="Calibri" panose="020F0502020204030204" pitchFamily="34" charset="0"/>
              </a:rPr>
              <a:t> Conversión  /  % </a:t>
            </a:r>
            <a:r>
              <a:rPr lang="es-ES_tradnl" sz="1800" b="1" i="0" noProof="0" dirty="0" err="1">
                <a:solidFill>
                  <a:srgbClr val="C87A0B"/>
                </a:solidFill>
                <a:latin typeface="Calibri" panose="020F0502020204030204" pitchFamily="34" charset="0"/>
                <a:cs typeface="Calibri" panose="020F0502020204030204" pitchFamily="34" charset="0"/>
              </a:rPr>
              <a:t>Δ</a:t>
            </a:r>
            <a:r>
              <a:rPr lang="es-ES_tradnl" sz="1800" b="1" i="0" noProof="0" dirty="0">
                <a:solidFill>
                  <a:srgbClr val="C87A0B"/>
                </a:solidFill>
                <a:latin typeface="Calibri" panose="020F0502020204030204" pitchFamily="34" charset="0"/>
                <a:cs typeface="Calibri" panose="020F0502020204030204" pitchFamily="34" charset="0"/>
              </a:rPr>
              <a:t> Spread</a:t>
            </a:r>
          </a:p>
        </p:txBody>
      </p:sp>
      <p:cxnSp>
        <p:nvCxnSpPr>
          <p:cNvPr id="198" name="Connector 62">
            <a:extLst>
              <a:ext uri="{FF2B5EF4-FFF2-40B4-BE49-F238E27FC236}">
                <a16:creationId xmlns:a16="http://schemas.microsoft.com/office/drawing/2014/main" id="{F562A2CA-2417-B024-1306-28111F78FCD6}"/>
              </a:ext>
            </a:extLst>
          </p:cNvPr>
          <p:cNvCxnSpPr/>
          <p:nvPr/>
        </p:nvCxnSpPr>
        <p:spPr>
          <a:xfrm>
            <a:off x="11200058" y="4023360"/>
            <a:ext cx="3986114" cy="0"/>
          </a:xfrm>
          <a:prstGeom prst="line">
            <a:avLst/>
          </a:prstGeom>
          <a:ln w="19050">
            <a:solidFill>
              <a:srgbClr val="D5DFDE"/>
            </a:solidFill>
          </a:ln>
        </p:spPr>
        <p:style>
          <a:lnRef idx="2">
            <a:schemeClr val="accent1"/>
          </a:lnRef>
          <a:fillRef idx="0">
            <a:schemeClr val="accent1"/>
          </a:fillRef>
          <a:effectRef idx="1">
            <a:schemeClr val="accent1"/>
          </a:effectRef>
          <a:fontRef idx="minor">
            <a:schemeClr val="tx1"/>
          </a:fontRef>
        </p:style>
      </p:cxnSp>
      <p:sp>
        <p:nvSpPr>
          <p:cNvPr id="199" name="Oval 198">
            <a:extLst>
              <a:ext uri="{FF2B5EF4-FFF2-40B4-BE49-F238E27FC236}">
                <a16:creationId xmlns:a16="http://schemas.microsoft.com/office/drawing/2014/main" id="{8B1C0AF0-7BB5-5C58-E754-82F282B8F8DC}"/>
              </a:ext>
            </a:extLst>
          </p:cNvPr>
          <p:cNvSpPr/>
          <p:nvPr/>
        </p:nvSpPr>
        <p:spPr>
          <a:xfrm>
            <a:off x="13147395" y="3977640"/>
            <a:ext cx="91440" cy="91440"/>
          </a:xfrm>
          <a:prstGeom prst="ellipse">
            <a:avLst/>
          </a:prstGeom>
          <a:solidFill>
            <a:srgbClr val="6E7E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200" name="TextBox 199">
            <a:extLst>
              <a:ext uri="{FF2B5EF4-FFF2-40B4-BE49-F238E27FC236}">
                <a16:creationId xmlns:a16="http://schemas.microsoft.com/office/drawing/2014/main" id="{81644A61-76CA-564E-5E88-2AD70E84EEC4}"/>
              </a:ext>
            </a:extLst>
          </p:cNvPr>
          <p:cNvSpPr txBox="1"/>
          <p:nvPr/>
        </p:nvSpPr>
        <p:spPr>
          <a:xfrm>
            <a:off x="11062898" y="4114800"/>
            <a:ext cx="1463040" cy="169277"/>
          </a:xfrm>
          <a:prstGeom prst="rect">
            <a:avLst/>
          </a:prstGeom>
          <a:noFill/>
        </p:spPr>
        <p:txBody>
          <a:bodyPr wrap="square" lIns="0" tIns="0" rIns="0" bIns="0" anchor="t">
            <a:spAutoFit/>
          </a:bodyPr>
          <a:lstStyle/>
          <a:p>
            <a:pPr algn="l">
              <a:lnSpc>
                <a:spcPct val="100000"/>
              </a:lnSpc>
            </a:pPr>
            <a:r>
              <a:rPr lang="es-ES_tradnl" sz="1100" b="1" i="0" noProof="0" dirty="0">
                <a:solidFill>
                  <a:srgbClr val="13807B"/>
                </a:solidFill>
                <a:latin typeface="Calibri" panose="020F0502020204030204" pitchFamily="34" charset="0"/>
                <a:cs typeface="Calibri" panose="020F0502020204030204" pitchFamily="34" charset="0"/>
              </a:rPr>
              <a:t>spread &lt; 0</a:t>
            </a:r>
          </a:p>
        </p:txBody>
      </p:sp>
      <p:sp>
        <p:nvSpPr>
          <p:cNvPr id="201" name="TextBox 200">
            <a:extLst>
              <a:ext uri="{FF2B5EF4-FFF2-40B4-BE49-F238E27FC236}">
                <a16:creationId xmlns:a16="http://schemas.microsoft.com/office/drawing/2014/main" id="{670C0ECA-CBB6-2F6A-A8F4-1D79D9FC1B5C}"/>
              </a:ext>
            </a:extLst>
          </p:cNvPr>
          <p:cNvSpPr txBox="1"/>
          <p:nvPr/>
        </p:nvSpPr>
        <p:spPr>
          <a:xfrm>
            <a:off x="12735915" y="4114800"/>
            <a:ext cx="914400" cy="169277"/>
          </a:xfrm>
          <a:prstGeom prst="rect">
            <a:avLst/>
          </a:prstGeom>
          <a:noFill/>
        </p:spPr>
        <p:txBody>
          <a:bodyPr wrap="square" lIns="0" tIns="0" rIns="0" bIns="0" anchor="t">
            <a:spAutoFit/>
          </a:bodyPr>
          <a:lstStyle/>
          <a:p>
            <a:pPr algn="ctr">
              <a:lnSpc>
                <a:spcPct val="100000"/>
              </a:lnSpc>
            </a:pPr>
            <a:r>
              <a:rPr lang="es-ES_tradnl" sz="1100" b="1" i="0" noProof="0" dirty="0">
                <a:solidFill>
                  <a:srgbClr val="6E7E7D"/>
                </a:solidFill>
                <a:latin typeface="Calibri" panose="020F0502020204030204" pitchFamily="34" charset="0"/>
                <a:cs typeface="Calibri" panose="020F0502020204030204" pitchFamily="34" charset="0"/>
              </a:rPr>
              <a:t>paridad</a:t>
            </a:r>
          </a:p>
        </p:txBody>
      </p:sp>
      <p:sp>
        <p:nvSpPr>
          <p:cNvPr id="202" name="TextBox 201">
            <a:extLst>
              <a:ext uri="{FF2B5EF4-FFF2-40B4-BE49-F238E27FC236}">
                <a16:creationId xmlns:a16="http://schemas.microsoft.com/office/drawing/2014/main" id="{DC99CA28-B66B-6551-8454-BC282C426DA4}"/>
              </a:ext>
            </a:extLst>
          </p:cNvPr>
          <p:cNvSpPr txBox="1"/>
          <p:nvPr/>
        </p:nvSpPr>
        <p:spPr>
          <a:xfrm>
            <a:off x="13906012" y="4114800"/>
            <a:ext cx="1463040" cy="169277"/>
          </a:xfrm>
          <a:prstGeom prst="rect">
            <a:avLst/>
          </a:prstGeom>
          <a:noFill/>
        </p:spPr>
        <p:txBody>
          <a:bodyPr wrap="square" lIns="0" tIns="0" rIns="0" bIns="0" anchor="t">
            <a:spAutoFit/>
          </a:bodyPr>
          <a:lstStyle/>
          <a:p>
            <a:pPr algn="r">
              <a:lnSpc>
                <a:spcPct val="100000"/>
              </a:lnSpc>
            </a:pPr>
            <a:r>
              <a:rPr lang="es-ES_tradnl" sz="1100" b="1" i="0" noProof="0" dirty="0">
                <a:solidFill>
                  <a:srgbClr val="C04B4B"/>
                </a:solidFill>
                <a:latin typeface="Calibri" panose="020F0502020204030204" pitchFamily="34" charset="0"/>
                <a:cs typeface="Calibri" panose="020F0502020204030204" pitchFamily="34" charset="0"/>
              </a:rPr>
              <a:t>spread &gt; 0</a:t>
            </a:r>
          </a:p>
        </p:txBody>
      </p:sp>
      <p:sp>
        <p:nvSpPr>
          <p:cNvPr id="203" name="TextBox 202">
            <a:extLst>
              <a:ext uri="{FF2B5EF4-FFF2-40B4-BE49-F238E27FC236}">
                <a16:creationId xmlns:a16="http://schemas.microsoft.com/office/drawing/2014/main" id="{73463F7B-C5F4-5F8D-D016-9FC0FC586826}"/>
              </a:ext>
            </a:extLst>
          </p:cNvPr>
          <p:cNvSpPr txBox="1"/>
          <p:nvPr/>
        </p:nvSpPr>
        <p:spPr>
          <a:xfrm>
            <a:off x="11062898" y="4297680"/>
            <a:ext cx="1737360" cy="169277"/>
          </a:xfrm>
          <a:prstGeom prst="rect">
            <a:avLst/>
          </a:prstGeom>
          <a:noFill/>
        </p:spPr>
        <p:txBody>
          <a:bodyPr wrap="square" lIns="0" tIns="0" rIns="0" bIns="0" anchor="t">
            <a:spAutoFit/>
          </a:bodyPr>
          <a:lstStyle/>
          <a:p>
            <a:pPr algn="l">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IBK más competitiva</a:t>
            </a:r>
          </a:p>
        </p:txBody>
      </p:sp>
      <p:sp>
        <p:nvSpPr>
          <p:cNvPr id="204" name="TextBox 203">
            <a:extLst>
              <a:ext uri="{FF2B5EF4-FFF2-40B4-BE49-F238E27FC236}">
                <a16:creationId xmlns:a16="http://schemas.microsoft.com/office/drawing/2014/main" id="{CA3D43EB-5660-708A-5019-51D9488121BC}"/>
              </a:ext>
            </a:extLst>
          </p:cNvPr>
          <p:cNvSpPr txBox="1"/>
          <p:nvPr/>
        </p:nvSpPr>
        <p:spPr>
          <a:xfrm>
            <a:off x="13814572" y="4297680"/>
            <a:ext cx="1554480" cy="169277"/>
          </a:xfrm>
          <a:prstGeom prst="rect">
            <a:avLst/>
          </a:prstGeom>
          <a:noFill/>
        </p:spPr>
        <p:txBody>
          <a:bodyPr wrap="square" lIns="0" tIns="0" rIns="0" bIns="0" anchor="t">
            <a:spAutoFit/>
          </a:bodyPr>
          <a:lstStyle/>
          <a:p>
            <a:pPr algn="r">
              <a:lnSpc>
                <a:spcPct val="100000"/>
              </a:lnSpc>
            </a:pPr>
            <a:r>
              <a:rPr lang="es-ES_tradnl" sz="1100" b="0" i="0" noProof="0" dirty="0">
                <a:solidFill>
                  <a:srgbClr val="6E7E7D"/>
                </a:solidFill>
                <a:latin typeface="Calibri" panose="020F0502020204030204" pitchFamily="34" charset="0"/>
                <a:cs typeface="Calibri" panose="020F0502020204030204" pitchFamily="34" charset="0"/>
              </a:rPr>
              <a:t>IBK más cara</a:t>
            </a:r>
          </a:p>
        </p:txBody>
      </p:sp>
      <p:sp>
        <p:nvSpPr>
          <p:cNvPr id="205" name="TextBox 204">
            <a:extLst>
              <a:ext uri="{FF2B5EF4-FFF2-40B4-BE49-F238E27FC236}">
                <a16:creationId xmlns:a16="http://schemas.microsoft.com/office/drawing/2014/main" id="{63A0FC8A-4F9F-06C4-9EA1-50DD1F626F94}"/>
              </a:ext>
            </a:extLst>
          </p:cNvPr>
          <p:cNvSpPr txBox="1"/>
          <p:nvPr/>
        </p:nvSpPr>
        <p:spPr>
          <a:xfrm>
            <a:off x="10989746" y="4956048"/>
            <a:ext cx="4406737"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0B2E2C"/>
                </a:solidFill>
                <a:latin typeface="Calibri" panose="020F0502020204030204" pitchFamily="34" charset="0"/>
                <a:cs typeface="Calibri" panose="020F0502020204030204" pitchFamily="34" charset="0"/>
              </a:rPr>
              <a:t>Interpretación</a:t>
            </a:r>
          </a:p>
        </p:txBody>
      </p:sp>
      <p:sp>
        <p:nvSpPr>
          <p:cNvPr id="206" name="TextBox 205">
            <a:extLst>
              <a:ext uri="{FF2B5EF4-FFF2-40B4-BE49-F238E27FC236}">
                <a16:creationId xmlns:a16="http://schemas.microsoft.com/office/drawing/2014/main" id="{5D803DA5-BC6A-ED75-C83E-1699A1C89E53}"/>
              </a:ext>
            </a:extLst>
          </p:cNvPr>
          <p:cNvSpPr txBox="1"/>
          <p:nvPr/>
        </p:nvSpPr>
        <p:spPr>
          <a:xfrm>
            <a:off x="10989746" y="5230368"/>
            <a:ext cx="4406737" cy="772904"/>
          </a:xfrm>
          <a:prstGeom prst="rect">
            <a:avLst/>
          </a:prstGeom>
          <a:noFill/>
        </p:spPr>
        <p:txBody>
          <a:bodyPr wrap="square" lIns="0" tIns="0" rIns="0" bIns="0" anchor="t">
            <a:spAutoFit/>
          </a:bodyPr>
          <a:lstStyle/>
          <a:p>
            <a:pPr marL="128016" indent="-128016" algn="l">
              <a:lnSpc>
                <a:spcPct val="124000"/>
              </a:lnSpc>
              <a:spcAft>
                <a:spcPts val="400"/>
              </a:spcAft>
              <a:buClr>
                <a:srgbClr val="C87A0B"/>
              </a:buClr>
              <a:buFont typeface="Arial"/>
              <a:buChar char="•"/>
            </a:pPr>
            <a:r>
              <a:rPr lang="es-ES_tradnl" sz="1200" b="0" i="0" noProof="0" dirty="0">
                <a:solidFill>
                  <a:srgbClr val="6E7E7D"/>
                </a:solidFill>
                <a:latin typeface="Calibri" panose="020F0502020204030204" pitchFamily="34" charset="0"/>
                <a:cs typeface="Calibri" panose="020F0502020204030204" pitchFamily="34" charset="0"/>
              </a:rPr>
              <a:t>Spread &gt; 0 → IBK más cara que el mercado</a:t>
            </a:r>
          </a:p>
          <a:p>
            <a:pPr marL="128016" indent="-128016" algn="l">
              <a:lnSpc>
                <a:spcPct val="124000"/>
              </a:lnSpc>
              <a:spcAft>
                <a:spcPts val="400"/>
              </a:spcAft>
              <a:buClr>
                <a:srgbClr val="C87A0B"/>
              </a:buClr>
              <a:buFont typeface="Arial"/>
              <a:buChar char="•"/>
            </a:pPr>
            <a:r>
              <a:rPr lang="es-ES_tradnl" sz="1200" b="0" i="0" noProof="0" dirty="0">
                <a:solidFill>
                  <a:srgbClr val="6E7E7D"/>
                </a:solidFill>
                <a:latin typeface="Calibri" panose="020F0502020204030204" pitchFamily="34" charset="0"/>
                <a:cs typeface="Calibri" panose="020F0502020204030204" pitchFamily="34" charset="0"/>
              </a:rPr>
              <a:t>Spread &lt; 0 → IBK más competitiva</a:t>
            </a:r>
          </a:p>
          <a:p>
            <a:pPr marL="128016" indent="-128016" algn="l">
              <a:lnSpc>
                <a:spcPct val="124000"/>
              </a:lnSpc>
              <a:spcAft>
                <a:spcPts val="400"/>
              </a:spcAft>
              <a:buClr>
                <a:srgbClr val="C87A0B"/>
              </a:buClr>
              <a:buFont typeface="Arial"/>
              <a:buChar char="•"/>
            </a:pPr>
            <a:r>
              <a:rPr lang="es-ES_tradnl" sz="1200" b="0" i="0" noProof="0" dirty="0">
                <a:solidFill>
                  <a:srgbClr val="6E7E7D"/>
                </a:solidFill>
                <a:latin typeface="Calibri" panose="020F0502020204030204" pitchFamily="34" charset="0"/>
                <a:cs typeface="Calibri" panose="020F0502020204030204" pitchFamily="34" charset="0"/>
              </a:rPr>
              <a:t>β₂ &lt; 0 → si IBK encarece, la conversión cae</a:t>
            </a:r>
          </a:p>
        </p:txBody>
      </p:sp>
      <p:sp>
        <p:nvSpPr>
          <p:cNvPr id="207" name="Rectangle 206">
            <a:extLst>
              <a:ext uri="{FF2B5EF4-FFF2-40B4-BE49-F238E27FC236}">
                <a16:creationId xmlns:a16="http://schemas.microsoft.com/office/drawing/2014/main" id="{60987C9E-8A50-996D-DDF6-20F223D587C2}"/>
              </a:ext>
            </a:extLst>
          </p:cNvPr>
          <p:cNvSpPr/>
          <p:nvPr/>
        </p:nvSpPr>
        <p:spPr>
          <a:xfrm>
            <a:off x="658368" y="6510528"/>
            <a:ext cx="14939284" cy="14173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sp>
        <p:nvSpPr>
          <p:cNvPr id="208" name="TextBox 207">
            <a:extLst>
              <a:ext uri="{FF2B5EF4-FFF2-40B4-BE49-F238E27FC236}">
                <a16:creationId xmlns:a16="http://schemas.microsoft.com/office/drawing/2014/main" id="{0770D767-6564-FC4F-CCEE-8C6F39D6A400}"/>
              </a:ext>
            </a:extLst>
          </p:cNvPr>
          <p:cNvSpPr txBox="1"/>
          <p:nvPr/>
        </p:nvSpPr>
        <p:spPr>
          <a:xfrm>
            <a:off x="950976" y="6711696"/>
            <a:ext cx="5486400" cy="276999"/>
          </a:xfrm>
          <a:prstGeom prst="rect">
            <a:avLst/>
          </a:prstGeom>
          <a:noFill/>
        </p:spPr>
        <p:txBody>
          <a:bodyPr wrap="square" lIns="0" tIns="0" rIns="0" bIns="0" anchor="t">
            <a:spAutoFit/>
          </a:bodyPr>
          <a:lstStyle/>
          <a:p>
            <a:pPr algn="l">
              <a:lnSpc>
                <a:spcPct val="100000"/>
              </a:lnSpc>
            </a:pPr>
            <a:r>
              <a:rPr lang="es-ES_tradnl" sz="1800" b="1" i="0" noProof="0" dirty="0">
                <a:solidFill>
                  <a:srgbClr val="FFFFFF"/>
                </a:solidFill>
                <a:latin typeface="Calibri" panose="020F0502020204030204" pitchFamily="34" charset="0"/>
                <a:cs typeface="Calibri" panose="020F0502020204030204" pitchFamily="34" charset="0"/>
              </a:rPr>
              <a:t>D · MODELO DE PANEL DINÁMICO</a:t>
            </a:r>
          </a:p>
        </p:txBody>
      </p:sp>
      <mc:AlternateContent xmlns:mc="http://schemas.openxmlformats.org/markup-compatibility/2006" xmlns:a14="http://schemas.microsoft.com/office/drawing/2010/main">
        <mc:Choice Requires="a14">
          <p:sp>
            <p:nvSpPr>
              <p:cNvPr id="209" name="Rectangle 208">
                <a:extLst>
                  <a:ext uri="{FF2B5EF4-FFF2-40B4-BE49-F238E27FC236}">
                    <a16:creationId xmlns:a16="http://schemas.microsoft.com/office/drawing/2014/main" id="{C521973E-6394-702D-F57F-1551266E6D10}"/>
                  </a:ext>
                </a:extLst>
              </p:cNvPr>
              <p:cNvSpPr/>
              <p:nvPr/>
            </p:nvSpPr>
            <p:spPr>
              <a:xfrm>
                <a:off x="950976" y="7040880"/>
                <a:ext cx="5074920" cy="65836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14:m>
                  <m:oMathPara xmlns:m="http://schemas.openxmlformats.org/officeDocument/2006/math">
                    <m:oMath>
                      <m:r>
                        <m:rPr>
                          <m:sty m:val="p"/>
                        </m:rPr>
                        <a:rPr lang="es-ES_tradnl" sz="1600" b="1" i="1" noProof="0" smtClean="0">
                          <a:solidFill>
                            <a:srgbClr val="FFFFFF"/>
                          </a:solidFill>
                          <a:latin typeface="Cambria Math" panose="02040503050406030204" pitchFamily="18" charset="0"/>
                          <a:cs typeface="Calibri" panose="020F0502020204030204" pitchFamily="34" charset="0"/>
                        </a:rPr>
                        <m:t>log</m:t>
                      </m:r>
                      <m:r>
                        <a:rPr lang="es-ES_tradnl" sz="1600" b="1" i="1" noProof="0" smtClean="0">
                          <a:solidFill>
                            <a:srgbClr val="FFFFFF"/>
                          </a:solidFill>
                          <a:latin typeface="Cambria Math" panose="02040503050406030204" pitchFamily="18" charset="0"/>
                          <a:cs typeface="Calibri" panose="020F0502020204030204" pitchFamily="34" charset="0"/>
                        </a:rPr>
                        <m:t>⁡(</m:t>
                      </m:r>
                      <m:sSub>
                        <m:sSubPr>
                          <m:ctrlPr>
                            <a:rPr lang="es-ES_tradnl" sz="1600" b="1" i="1" noProof="0" smtClean="0">
                              <a:solidFill>
                                <a:srgbClr val="FFFFFF"/>
                              </a:solidFill>
                              <a:latin typeface="Cambria Math" panose="02040503050406030204" pitchFamily="18" charset="0"/>
                              <a:cs typeface="Calibri" panose="020F0502020204030204" pitchFamily="34" charset="0"/>
                            </a:rPr>
                          </m:ctrlPr>
                        </m:sSubPr>
                        <m:e>
                          <m:r>
                            <a:rPr lang="es-ES_tradnl" sz="1600" b="1" i="1" noProof="0" smtClean="0">
                              <a:solidFill>
                                <a:srgbClr val="FFFFFF"/>
                              </a:solidFill>
                              <a:latin typeface="Cambria Math" panose="02040503050406030204" pitchFamily="18" charset="0"/>
                              <a:cs typeface="Calibri" panose="020F0502020204030204" pitchFamily="34" charset="0"/>
                            </a:rPr>
                            <m:t>𝑬</m:t>
                          </m:r>
                        </m:e>
                        <m:sub>
                          <m:r>
                            <a:rPr lang="es-ES_tradnl" sz="1600" b="1" i="1" noProof="0" smtClean="0">
                              <a:solidFill>
                                <a:srgbClr val="FFFFFF"/>
                              </a:solidFill>
                              <a:latin typeface="Cambria Math" panose="02040503050406030204" pitchFamily="18" charset="0"/>
                              <a:cs typeface="Calibri" panose="020F0502020204030204" pitchFamily="34" charset="0"/>
                            </a:rPr>
                            <m:t>𝒃</m:t>
                          </m:r>
                          <m:r>
                            <a:rPr lang="es-ES_tradnl" sz="1600" b="1" i="1" noProof="0" smtClean="0">
                              <a:solidFill>
                                <a:srgbClr val="FFFFFF"/>
                              </a:solidFill>
                              <a:latin typeface="Cambria Math" panose="02040503050406030204" pitchFamily="18" charset="0"/>
                              <a:cs typeface="Calibri" panose="020F0502020204030204" pitchFamily="34" charset="0"/>
                            </a:rPr>
                            <m:t>,</m:t>
                          </m:r>
                          <m:r>
                            <a:rPr lang="es-ES_tradnl" sz="1600" b="1" i="1" noProof="0" smtClean="0">
                              <a:solidFill>
                                <a:srgbClr val="FFFFFF"/>
                              </a:solidFill>
                              <a:latin typeface="Cambria Math" panose="02040503050406030204" pitchFamily="18" charset="0"/>
                              <a:cs typeface="Calibri" panose="020F0502020204030204" pitchFamily="34" charset="0"/>
                            </a:rPr>
                            <m:t>𝒕</m:t>
                          </m:r>
                        </m:sub>
                      </m:sSub>
                      <m:r>
                        <a:rPr lang="es-ES_tradnl" sz="1600" b="1" i="1" noProof="0" smtClean="0">
                          <a:solidFill>
                            <a:srgbClr val="FFFFFF"/>
                          </a:solidFill>
                          <a:latin typeface="Cambria Math" panose="02040503050406030204" pitchFamily="18" charset="0"/>
                          <a:cs typeface="Calibri" panose="020F0502020204030204" pitchFamily="34" charset="0"/>
                        </a:rPr>
                        <m:t>) =  </m:t>
                      </m:r>
                      <m:sSub>
                        <m:sSubPr>
                          <m:ctrlPr>
                            <a:rPr lang="es-ES_tradnl" sz="1600" b="1" i="1" noProof="0" smtClean="0">
                              <a:solidFill>
                                <a:srgbClr val="FFFFFF"/>
                              </a:solidFill>
                              <a:latin typeface="Cambria Math" panose="02040503050406030204" pitchFamily="18" charset="0"/>
                              <a:cs typeface="Calibri" panose="020F0502020204030204" pitchFamily="34" charset="0"/>
                            </a:rPr>
                          </m:ctrlPr>
                        </m:sSubPr>
                        <m:e>
                          <m:r>
                            <a:rPr lang="es-ES_tradnl" sz="1600" b="1" i="1" noProof="0" smtClean="0">
                              <a:solidFill>
                                <a:srgbClr val="FFFFFF"/>
                              </a:solidFill>
                              <a:latin typeface="Cambria Math" panose="02040503050406030204" pitchFamily="18" charset="0"/>
                              <a:cs typeface="Calibri" panose="020F0502020204030204" pitchFamily="34" charset="0"/>
                            </a:rPr>
                            <m:t>𝜶</m:t>
                          </m:r>
                        </m:e>
                        <m:sub>
                          <m:r>
                            <a:rPr lang="es-ES_tradnl" sz="1600" b="1" i="1" noProof="0" smtClean="0">
                              <a:solidFill>
                                <a:srgbClr val="FFFFFF"/>
                              </a:solidFill>
                              <a:latin typeface="Cambria Math" panose="02040503050406030204" pitchFamily="18" charset="0"/>
                              <a:cs typeface="Calibri" panose="020F0502020204030204" pitchFamily="34" charset="0"/>
                            </a:rPr>
                            <m:t>𝒃</m:t>
                          </m:r>
                        </m:sub>
                      </m:sSub>
                      <m:r>
                        <a:rPr lang="es-ES_tradnl" sz="1600" b="1" i="1" noProof="0" smtClean="0">
                          <a:solidFill>
                            <a:srgbClr val="FFFFFF"/>
                          </a:solidFill>
                          <a:latin typeface="Cambria Math" panose="02040503050406030204" pitchFamily="18" charset="0"/>
                          <a:cs typeface="Calibri" panose="020F0502020204030204" pitchFamily="34" charset="0"/>
                        </a:rPr>
                        <m:t>  +  </m:t>
                      </m:r>
                      <m:sSub>
                        <m:sSubPr>
                          <m:ctrlPr>
                            <a:rPr lang="es-ES_tradnl" sz="1600" b="1" i="1" noProof="0" smtClean="0">
                              <a:solidFill>
                                <a:srgbClr val="FFFFFF"/>
                              </a:solidFill>
                              <a:latin typeface="Cambria Math" panose="02040503050406030204" pitchFamily="18" charset="0"/>
                              <a:cs typeface="Calibri" panose="020F0502020204030204" pitchFamily="34" charset="0"/>
                            </a:rPr>
                          </m:ctrlPr>
                        </m:sSubPr>
                        <m:e>
                          <m:r>
                            <a:rPr lang="es-ES_tradnl" sz="1600" b="1" i="1" noProof="0" smtClean="0">
                              <a:solidFill>
                                <a:srgbClr val="FFFFFF"/>
                              </a:solidFill>
                              <a:latin typeface="Cambria Math" panose="02040503050406030204" pitchFamily="18" charset="0"/>
                              <a:cs typeface="Calibri" panose="020F0502020204030204" pitchFamily="34" charset="0"/>
                            </a:rPr>
                            <m:t>𝜸</m:t>
                          </m:r>
                        </m:e>
                        <m:sub>
                          <m:r>
                            <a:rPr lang="es-ES_tradnl" sz="1600" b="1" i="1" noProof="0" smtClean="0">
                              <a:solidFill>
                                <a:srgbClr val="FFFFFF"/>
                              </a:solidFill>
                              <a:latin typeface="Cambria Math" panose="02040503050406030204" pitchFamily="18" charset="0"/>
                              <a:cs typeface="Calibri" panose="020F0502020204030204" pitchFamily="34" charset="0"/>
                            </a:rPr>
                            <m:t>𝒕</m:t>
                          </m:r>
                        </m:sub>
                      </m:sSub>
                      <m:r>
                        <a:rPr lang="es-ES_tradnl" sz="1600" b="1" i="1" noProof="0" smtClean="0">
                          <a:solidFill>
                            <a:srgbClr val="FFFFFF"/>
                          </a:solidFill>
                          <a:latin typeface="Cambria Math" panose="02040503050406030204" pitchFamily="18" charset="0"/>
                          <a:cs typeface="Calibri" panose="020F0502020204030204" pitchFamily="34" charset="0"/>
                        </a:rPr>
                        <m:t>  + </m:t>
                      </m:r>
                      <m:sSub>
                        <m:sSubPr>
                          <m:ctrlPr>
                            <a:rPr lang="es-ES_tradnl" sz="1600" b="1" i="1" noProof="0" smtClean="0">
                              <a:solidFill>
                                <a:srgbClr val="FFFFFF"/>
                              </a:solidFill>
                              <a:latin typeface="Cambria Math" panose="02040503050406030204" pitchFamily="18" charset="0"/>
                              <a:cs typeface="Calibri" panose="020F0502020204030204" pitchFamily="34" charset="0"/>
                            </a:rPr>
                          </m:ctrlPr>
                        </m:sSubPr>
                        <m:e>
                          <m:r>
                            <a:rPr lang="es-ES_tradnl" sz="1600" b="1" i="1" noProof="0" smtClean="0">
                              <a:solidFill>
                                <a:srgbClr val="FFFFFF"/>
                              </a:solidFill>
                              <a:latin typeface="Cambria Math" panose="02040503050406030204" pitchFamily="18" charset="0"/>
                              <a:cs typeface="Calibri" panose="020F0502020204030204" pitchFamily="34" charset="0"/>
                            </a:rPr>
                            <m:t>𝜷</m:t>
                          </m:r>
                        </m:e>
                        <m:sub>
                          <m:r>
                            <a:rPr lang="es-ES_tradnl" sz="1600" b="1" i="1" noProof="0" smtClean="0">
                              <a:solidFill>
                                <a:srgbClr val="FFFFFF"/>
                              </a:solidFill>
                              <a:latin typeface="Cambria Math" panose="02040503050406030204" pitchFamily="18" charset="0"/>
                              <a:cs typeface="Calibri" panose="020F0502020204030204" pitchFamily="34" charset="0"/>
                            </a:rPr>
                            <m:t>1</m:t>
                          </m:r>
                        </m:sub>
                      </m:sSub>
                      <m:func>
                        <m:funcPr>
                          <m:ctrlPr>
                            <a:rPr lang="es-ES_tradnl" sz="1600" b="0" i="0" noProof="0" smtClean="0">
                              <a:solidFill>
                                <a:srgbClr val="FFFFFF"/>
                              </a:solidFill>
                              <a:latin typeface="Cambria Math" panose="02040503050406030204" pitchFamily="18" charset="0"/>
                              <a:cs typeface="Calibri" panose="020F0502020204030204" pitchFamily="34" charset="0"/>
                            </a:rPr>
                          </m:ctrlPr>
                        </m:funcPr>
                        <m:fName>
                          <m:r>
                            <m:rPr>
                              <m:sty m:val="p"/>
                            </m:rPr>
                            <a:rPr lang="es-ES_tradnl" sz="1600" b="0" i="0" noProof="0" smtClean="0">
                              <a:solidFill>
                                <a:srgbClr val="FFFFFF"/>
                              </a:solidFill>
                              <a:latin typeface="Cambria Math" panose="02040503050406030204" pitchFamily="18" charset="0"/>
                              <a:cs typeface="Calibri" panose="020F0502020204030204" pitchFamily="34" charset="0"/>
                            </a:rPr>
                            <m:t>log</m:t>
                          </m:r>
                        </m:fName>
                        <m:e>
                          <m:d>
                            <m:dPr>
                              <m:ctrlPr>
                                <a:rPr lang="es-ES_tradnl" sz="1600" b="1" i="1" noProof="0" smtClean="0">
                                  <a:solidFill>
                                    <a:srgbClr val="FFFFFF"/>
                                  </a:solidFill>
                                  <a:latin typeface="Cambria Math" panose="02040503050406030204" pitchFamily="18" charset="0"/>
                                  <a:cs typeface="Calibri" panose="020F0502020204030204" pitchFamily="34" charset="0"/>
                                </a:rPr>
                              </m:ctrlPr>
                            </m:dPr>
                            <m:e>
                              <m:sSubSup>
                                <m:sSubSupPr>
                                  <m:ctrlPr>
                                    <a:rPr lang="es-ES_tradnl" sz="1600" b="1" i="1" noProof="0" smtClean="0">
                                      <a:solidFill>
                                        <a:srgbClr val="FFFFFF"/>
                                      </a:solidFill>
                                      <a:latin typeface="Cambria Math" panose="02040503050406030204" pitchFamily="18" charset="0"/>
                                      <a:cs typeface="Calibri" panose="020F0502020204030204" pitchFamily="34" charset="0"/>
                                    </a:rPr>
                                  </m:ctrlPr>
                                </m:sSubSupPr>
                                <m:e>
                                  <m:r>
                                    <a:rPr lang="es-ES_tradnl" sz="1600" b="1" i="1" noProof="0" smtClean="0">
                                      <a:solidFill>
                                        <a:srgbClr val="FFFFFF"/>
                                      </a:solidFill>
                                      <a:latin typeface="Cambria Math" panose="02040503050406030204" pitchFamily="18" charset="0"/>
                                      <a:cs typeface="Calibri" panose="020F0502020204030204" pitchFamily="34" charset="0"/>
                                    </a:rPr>
                                    <m:t>𝒓</m:t>
                                  </m:r>
                                </m:e>
                                <m:sub>
                                  <m:r>
                                    <a:rPr lang="es-ES_tradnl" sz="1600" b="1" i="1" noProof="0" smtClean="0">
                                      <a:solidFill>
                                        <a:srgbClr val="FFFFFF"/>
                                      </a:solidFill>
                                      <a:latin typeface="Cambria Math" panose="02040503050406030204" pitchFamily="18" charset="0"/>
                                      <a:cs typeface="Calibri" panose="020F0502020204030204" pitchFamily="34" charset="0"/>
                                    </a:rPr>
                                    <m:t>𝒃</m:t>
                                  </m:r>
                                  <m:r>
                                    <a:rPr lang="es-ES_tradnl" sz="1600" b="1" i="1" noProof="0" smtClean="0">
                                      <a:solidFill>
                                        <a:srgbClr val="FFFFFF"/>
                                      </a:solidFill>
                                      <a:latin typeface="Cambria Math" panose="02040503050406030204" pitchFamily="18" charset="0"/>
                                      <a:cs typeface="Calibri" panose="020F0502020204030204" pitchFamily="34" charset="0"/>
                                    </a:rPr>
                                    <m:t>,</m:t>
                                  </m:r>
                                  <m:r>
                                    <a:rPr lang="es-ES_tradnl" sz="1600" b="1" i="1" noProof="0" smtClean="0">
                                      <a:solidFill>
                                        <a:srgbClr val="FFFFFF"/>
                                      </a:solidFill>
                                      <a:latin typeface="Cambria Math" panose="02040503050406030204" pitchFamily="18" charset="0"/>
                                      <a:cs typeface="Calibri" panose="020F0502020204030204" pitchFamily="34" charset="0"/>
                                    </a:rPr>
                                    <m:t>𝒕</m:t>
                                  </m:r>
                                </m:sub>
                                <m:sup>
                                  <m:r>
                                    <a:rPr lang="es-ES_tradnl" sz="1600" b="1" i="1" noProof="0" smtClean="0">
                                      <a:solidFill>
                                        <a:srgbClr val="FFFFFF"/>
                                      </a:solidFill>
                                      <a:latin typeface="Cambria Math" panose="02040503050406030204" pitchFamily="18" charset="0"/>
                                      <a:cs typeface="Calibri" panose="020F0502020204030204" pitchFamily="34" charset="0"/>
                                    </a:rPr>
                                    <m:t>𝑰𝑩𝑲</m:t>
                                  </m:r>
                                </m:sup>
                              </m:sSubSup>
                            </m:e>
                          </m:d>
                        </m:e>
                      </m:func>
                      <m:r>
                        <a:rPr lang="es-ES_tradnl" sz="1600" b="1" i="1" noProof="0" smtClean="0">
                          <a:solidFill>
                            <a:srgbClr val="FFFFFF"/>
                          </a:solidFill>
                          <a:latin typeface="Cambria Math" panose="02040503050406030204" pitchFamily="18" charset="0"/>
                          <a:cs typeface="Calibri" panose="020F0502020204030204" pitchFamily="34" charset="0"/>
                        </a:rPr>
                        <m:t>  +  </m:t>
                      </m:r>
                      <m:sSub>
                        <m:sSubPr>
                          <m:ctrlPr>
                            <a:rPr lang="es-ES_tradnl" sz="1600" b="1" i="1" noProof="0" smtClean="0">
                              <a:solidFill>
                                <a:srgbClr val="FFFFFF"/>
                              </a:solidFill>
                              <a:latin typeface="Cambria Math" panose="02040503050406030204" pitchFamily="18" charset="0"/>
                              <a:cs typeface="Calibri" panose="020F0502020204030204" pitchFamily="34" charset="0"/>
                            </a:rPr>
                          </m:ctrlPr>
                        </m:sSubPr>
                        <m:e>
                          <m:r>
                            <a:rPr lang="es-ES_tradnl" sz="1600" b="1" i="1" noProof="0" smtClean="0">
                              <a:solidFill>
                                <a:srgbClr val="FFFFFF"/>
                              </a:solidFill>
                              <a:latin typeface="Cambria Math" panose="02040503050406030204" pitchFamily="18" charset="0"/>
                              <a:cs typeface="Calibri" panose="020F0502020204030204" pitchFamily="34" charset="0"/>
                            </a:rPr>
                            <m:t>𝜷</m:t>
                          </m:r>
                        </m:e>
                        <m:sub>
                          <m:r>
                            <a:rPr lang="es-ES_tradnl" sz="1600" b="1" i="1" noProof="0" smtClean="0">
                              <a:solidFill>
                                <a:srgbClr val="FFFFFF"/>
                              </a:solidFill>
                              <a:latin typeface="Cambria Math" panose="02040503050406030204" pitchFamily="18" charset="0"/>
                              <a:cs typeface="Calibri" panose="020F0502020204030204" pitchFamily="34" charset="0"/>
                            </a:rPr>
                            <m:t>2</m:t>
                          </m:r>
                        </m:sub>
                      </m:sSub>
                      <m:r>
                        <a:rPr lang="es-ES_tradnl" sz="1600" b="1" i="1" noProof="0" smtClean="0">
                          <a:solidFill>
                            <a:srgbClr val="FFFFFF"/>
                          </a:solidFill>
                          <a:latin typeface="Cambria Math" panose="02040503050406030204" pitchFamily="18" charset="0"/>
                          <a:cs typeface="Calibri" panose="020F0502020204030204" pitchFamily="34" charset="0"/>
                        </a:rPr>
                        <m:t>𝑺𝒑𝒓𝒆𝒂</m:t>
                      </m:r>
                      <m:sSub>
                        <m:sSubPr>
                          <m:ctrlPr>
                            <a:rPr lang="es-ES_tradnl" sz="1600" b="1" i="1" noProof="0" smtClean="0">
                              <a:solidFill>
                                <a:srgbClr val="FFFFFF"/>
                              </a:solidFill>
                              <a:latin typeface="Cambria Math" panose="02040503050406030204" pitchFamily="18" charset="0"/>
                              <a:cs typeface="Calibri" panose="020F0502020204030204" pitchFamily="34" charset="0"/>
                            </a:rPr>
                          </m:ctrlPr>
                        </m:sSubPr>
                        <m:e>
                          <m:r>
                            <a:rPr lang="es-ES_tradnl" sz="1600" b="1" i="1" noProof="0" smtClean="0">
                              <a:solidFill>
                                <a:srgbClr val="FFFFFF"/>
                              </a:solidFill>
                              <a:latin typeface="Cambria Math" panose="02040503050406030204" pitchFamily="18" charset="0"/>
                              <a:cs typeface="Calibri" panose="020F0502020204030204" pitchFamily="34" charset="0"/>
                            </a:rPr>
                            <m:t>𝒅</m:t>
                          </m:r>
                        </m:e>
                        <m:sub>
                          <m:r>
                            <a:rPr lang="es-ES_tradnl" sz="1600" b="1" i="1" noProof="0" smtClean="0">
                              <a:solidFill>
                                <a:srgbClr val="FFFFFF"/>
                              </a:solidFill>
                              <a:latin typeface="Cambria Math" panose="02040503050406030204" pitchFamily="18" charset="0"/>
                              <a:cs typeface="Calibri" panose="020F0502020204030204" pitchFamily="34" charset="0"/>
                            </a:rPr>
                            <m:t>𝒃</m:t>
                          </m:r>
                          <m:r>
                            <a:rPr lang="es-ES_tradnl" sz="1600" b="1" i="1" noProof="0" smtClean="0">
                              <a:solidFill>
                                <a:srgbClr val="FFFFFF"/>
                              </a:solidFill>
                              <a:latin typeface="Cambria Math" panose="02040503050406030204" pitchFamily="18" charset="0"/>
                              <a:cs typeface="Calibri" panose="020F0502020204030204" pitchFamily="34" charset="0"/>
                            </a:rPr>
                            <m:t>,</m:t>
                          </m:r>
                          <m:r>
                            <a:rPr lang="es-ES_tradnl" sz="1600" b="1" i="1" noProof="0" smtClean="0">
                              <a:solidFill>
                                <a:srgbClr val="FFFFFF"/>
                              </a:solidFill>
                              <a:latin typeface="Cambria Math" panose="02040503050406030204" pitchFamily="18" charset="0"/>
                              <a:cs typeface="Calibri" panose="020F0502020204030204" pitchFamily="34" charset="0"/>
                            </a:rPr>
                            <m:t>𝒕</m:t>
                          </m:r>
                        </m:sub>
                      </m:sSub>
                      <m:r>
                        <a:rPr lang="es-ES_tradnl" sz="1600" b="1" i="1" noProof="0" smtClean="0">
                          <a:solidFill>
                            <a:srgbClr val="FFFFFF"/>
                          </a:solidFill>
                          <a:latin typeface="Cambria Math" panose="02040503050406030204" pitchFamily="18" charset="0"/>
                          <a:cs typeface="Calibri" panose="020F0502020204030204" pitchFamily="34" charset="0"/>
                        </a:rPr>
                        <m:t>  +  </m:t>
                      </m:r>
                      <m:sSub>
                        <m:sSubPr>
                          <m:ctrlPr>
                            <a:rPr lang="es-ES_tradnl" sz="1600" b="1" i="1" noProof="0" smtClean="0">
                              <a:solidFill>
                                <a:srgbClr val="FFFFFF"/>
                              </a:solidFill>
                              <a:latin typeface="Cambria Math" panose="02040503050406030204" pitchFamily="18" charset="0"/>
                              <a:cs typeface="Calibri" panose="020F0502020204030204" pitchFamily="34" charset="0"/>
                            </a:rPr>
                          </m:ctrlPr>
                        </m:sSubPr>
                        <m:e>
                          <m:r>
                            <a:rPr lang="es-ES_tradnl" sz="1600" b="1" i="1" noProof="0" smtClean="0">
                              <a:solidFill>
                                <a:srgbClr val="FFFFFF"/>
                              </a:solidFill>
                              <a:latin typeface="Cambria Math" panose="02040503050406030204" pitchFamily="18" charset="0"/>
                              <a:cs typeface="Calibri" panose="020F0502020204030204" pitchFamily="34" charset="0"/>
                            </a:rPr>
                            <m:t>𝜺</m:t>
                          </m:r>
                        </m:e>
                        <m:sub>
                          <m:r>
                            <a:rPr lang="es-ES_tradnl" sz="1600" b="1" i="1" noProof="0" smtClean="0">
                              <a:solidFill>
                                <a:srgbClr val="FFFFFF"/>
                              </a:solidFill>
                              <a:latin typeface="Cambria Math" panose="02040503050406030204" pitchFamily="18" charset="0"/>
                              <a:cs typeface="Calibri" panose="020F0502020204030204" pitchFamily="34" charset="0"/>
                            </a:rPr>
                            <m:t>𝒃</m:t>
                          </m:r>
                          <m:r>
                            <a:rPr lang="es-ES_tradnl" sz="1600" b="1" i="1" noProof="0" smtClean="0">
                              <a:solidFill>
                                <a:srgbClr val="FFFFFF"/>
                              </a:solidFill>
                              <a:latin typeface="Cambria Math" panose="02040503050406030204" pitchFamily="18" charset="0"/>
                              <a:cs typeface="Calibri" panose="020F0502020204030204" pitchFamily="34" charset="0"/>
                            </a:rPr>
                            <m:t>,</m:t>
                          </m:r>
                          <m:r>
                            <a:rPr lang="es-ES_tradnl" sz="1600" b="1" i="1" noProof="0" smtClean="0">
                              <a:solidFill>
                                <a:srgbClr val="FFFFFF"/>
                              </a:solidFill>
                              <a:latin typeface="Cambria Math" panose="02040503050406030204" pitchFamily="18" charset="0"/>
                              <a:cs typeface="Calibri" panose="020F0502020204030204" pitchFamily="34" charset="0"/>
                            </a:rPr>
                            <m:t>𝒕</m:t>
                          </m:r>
                        </m:sub>
                      </m:sSub>
                    </m:oMath>
                  </m:oMathPara>
                </a14:m>
                <a:endParaRPr lang="es-ES_tradnl" noProof="0" dirty="0"/>
              </a:p>
            </p:txBody>
          </p:sp>
        </mc:Choice>
        <mc:Fallback xmlns="">
          <p:sp>
            <p:nvSpPr>
              <p:cNvPr id="209" name="Rectangle 208">
                <a:extLst>
                  <a:ext uri="{FF2B5EF4-FFF2-40B4-BE49-F238E27FC236}">
                    <a16:creationId xmlns:a16="http://schemas.microsoft.com/office/drawing/2014/main" id="{C521973E-6394-702D-F57F-1551266E6D10}"/>
                  </a:ext>
                </a:extLst>
              </p:cNvPr>
              <p:cNvSpPr>
                <a:spLocks noRot="1" noChangeAspect="1" noMove="1" noResize="1" noEditPoints="1" noAdjustHandles="1" noChangeArrowheads="1" noChangeShapeType="1" noTextEdit="1"/>
              </p:cNvSpPr>
              <p:nvPr/>
            </p:nvSpPr>
            <p:spPr>
              <a:xfrm>
                <a:off x="950976" y="7040880"/>
                <a:ext cx="5074920" cy="658368"/>
              </a:xfrm>
              <a:prstGeom prst="rect">
                <a:avLst/>
              </a:prstGeom>
              <a:blipFill>
                <a:blip r:embed="rId3"/>
                <a:stretch>
                  <a:fillRect l="-499" b="-3774"/>
                </a:stretch>
              </a:blipFill>
              <a:ln>
                <a:noFill/>
              </a:ln>
              <a:effectLst/>
            </p:spPr>
            <p:txBody>
              <a:bodyPr/>
              <a:lstStyle/>
              <a:p>
                <a:r>
                  <a:rPr lang="en-EC">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778E99B0-6208-278F-B6DB-E0E3B5CA49D8}"/>
                  </a:ext>
                </a:extLst>
              </p:cNvPr>
              <p:cNvSpPr txBox="1"/>
              <p:nvPr/>
            </p:nvSpPr>
            <p:spPr>
              <a:xfrm>
                <a:off x="6327648" y="6789066"/>
                <a:ext cx="2098045" cy="430887"/>
              </a:xfrm>
              <a:prstGeom prst="rect">
                <a:avLst/>
              </a:prstGeom>
              <a:noFill/>
            </p:spPr>
            <p:txBody>
              <a:bodyPr wrap="square" lIns="0" tIns="0" rIns="0" bIns="0" anchor="t">
                <a:spAutoFit/>
              </a:bodyPr>
              <a:lstStyle/>
              <a:p>
                <a:pPr>
                  <a:lnSpc>
                    <a:spcPct val="100000"/>
                  </a:lnSpc>
                </a:pPr>
                <a14:m>
                  <m:oMathPara xmlns:m="http://schemas.openxmlformats.org/officeDocument/2006/math">
                    <m:oMath>
                      <m:sSub>
                        <m:sSubPr>
                          <m:ctrlPr>
                            <a:rPr lang="es-ES_tradnl" sz="2800" b="1" i="1" noProof="0" smtClean="0">
                              <a:solidFill>
                                <a:srgbClr val="2F9E98"/>
                              </a:solidFill>
                              <a:latin typeface="Cambria Math" panose="02040503050406030204" pitchFamily="18" charset="0"/>
                              <a:cs typeface="Calibri" panose="020F0502020204030204" pitchFamily="34" charset="0"/>
                            </a:rPr>
                          </m:ctrlPr>
                        </m:sSubPr>
                        <m:e>
                          <m:r>
                            <a:rPr lang="es-ES_tradnl" sz="2800" b="1" i="1" noProof="0" smtClean="0">
                              <a:solidFill>
                                <a:srgbClr val="2F9E98"/>
                              </a:solidFill>
                              <a:latin typeface="Cambria Math" panose="02040503050406030204" pitchFamily="18" charset="0"/>
                              <a:cs typeface="Calibri" panose="020F0502020204030204" pitchFamily="34" charset="0"/>
                            </a:rPr>
                            <m:t>𝜶</m:t>
                          </m:r>
                        </m:e>
                        <m:sub>
                          <m:r>
                            <a:rPr lang="es-ES_tradnl" sz="2800" b="1" i="1" noProof="0" smtClean="0">
                              <a:solidFill>
                                <a:srgbClr val="2F9E98"/>
                              </a:solidFill>
                              <a:latin typeface="Cambria Math" panose="02040503050406030204" pitchFamily="18" charset="0"/>
                              <a:cs typeface="Calibri" panose="020F0502020204030204" pitchFamily="34" charset="0"/>
                            </a:rPr>
                            <m:t>𝒃</m:t>
                          </m:r>
                        </m:sub>
                      </m:sSub>
                    </m:oMath>
                  </m:oMathPara>
                </a14:m>
                <a:endParaRPr lang="es-ES_tradnl" noProof="0" dirty="0"/>
              </a:p>
            </p:txBody>
          </p:sp>
        </mc:Choice>
        <mc:Fallback xmlns="">
          <p:sp>
            <p:nvSpPr>
              <p:cNvPr id="210" name="TextBox 209">
                <a:extLst>
                  <a:ext uri="{FF2B5EF4-FFF2-40B4-BE49-F238E27FC236}">
                    <a16:creationId xmlns:a16="http://schemas.microsoft.com/office/drawing/2014/main" id="{778E99B0-6208-278F-B6DB-E0E3B5CA49D8}"/>
                  </a:ext>
                </a:extLst>
              </p:cNvPr>
              <p:cNvSpPr txBox="1">
                <a:spLocks noRot="1" noChangeAspect="1" noMove="1" noResize="1" noEditPoints="1" noAdjustHandles="1" noChangeArrowheads="1" noChangeShapeType="1" noTextEdit="1"/>
              </p:cNvSpPr>
              <p:nvPr/>
            </p:nvSpPr>
            <p:spPr>
              <a:xfrm>
                <a:off x="6327648" y="6789066"/>
                <a:ext cx="2098045" cy="430887"/>
              </a:xfrm>
              <a:prstGeom prst="rect">
                <a:avLst/>
              </a:prstGeom>
              <a:blipFill>
                <a:blip r:embed="rId4"/>
                <a:stretch>
                  <a:fillRect b="-17143"/>
                </a:stretch>
              </a:blipFill>
            </p:spPr>
            <p:txBody>
              <a:bodyPr/>
              <a:lstStyle/>
              <a:p>
                <a:r>
                  <a:rPr lang="en-EC">
                    <a:noFill/>
                  </a:rPr>
                  <a:t> </a:t>
                </a:r>
              </a:p>
            </p:txBody>
          </p:sp>
        </mc:Fallback>
      </mc:AlternateContent>
      <p:sp>
        <p:nvSpPr>
          <p:cNvPr id="211" name="TextBox 210">
            <a:extLst>
              <a:ext uri="{FF2B5EF4-FFF2-40B4-BE49-F238E27FC236}">
                <a16:creationId xmlns:a16="http://schemas.microsoft.com/office/drawing/2014/main" id="{DB3BC738-8B43-598E-5877-67470FFF0DD5}"/>
              </a:ext>
            </a:extLst>
          </p:cNvPr>
          <p:cNvSpPr txBox="1"/>
          <p:nvPr/>
        </p:nvSpPr>
        <p:spPr>
          <a:xfrm>
            <a:off x="6327648" y="7242048"/>
            <a:ext cx="2098045" cy="421910"/>
          </a:xfrm>
          <a:prstGeom prst="rect">
            <a:avLst/>
          </a:prstGeom>
          <a:noFill/>
        </p:spPr>
        <p:txBody>
          <a:bodyPr wrap="square" lIns="0" tIns="0" rIns="0" bIns="0" anchor="t">
            <a:spAutoFit/>
          </a:bodyPr>
          <a:lstStyle/>
          <a:p>
            <a:pPr algn="l">
              <a:lnSpc>
                <a:spcPct val="118000"/>
              </a:lnSpc>
            </a:pPr>
            <a:r>
              <a:rPr lang="es-ES_tradnl" sz="1200" b="0" i="0" noProof="0" dirty="0">
                <a:solidFill>
                  <a:schemeClr val="bg1"/>
                </a:solidFill>
                <a:latin typeface="Calibri" panose="020F0502020204030204" pitchFamily="34" charset="0"/>
                <a:cs typeface="Calibri" panose="020F0502020204030204" pitchFamily="34" charset="0"/>
              </a:rPr>
              <a:t>Efecto fijo </a:t>
            </a:r>
            <a:r>
              <a:rPr lang="es-ES_tradnl" sz="1200" b="0" i="0" noProof="0" dirty="0" err="1">
                <a:solidFill>
                  <a:schemeClr val="bg1"/>
                </a:solidFill>
                <a:latin typeface="Calibri" panose="020F0502020204030204" pitchFamily="34" charset="0"/>
                <a:cs typeface="Calibri" panose="020F0502020204030204" pitchFamily="34" charset="0"/>
              </a:rPr>
              <a:t>bucket</a:t>
            </a:r>
            <a:endParaRPr lang="es-ES_tradnl" sz="1200" b="0" i="0" noProof="0" dirty="0">
              <a:solidFill>
                <a:schemeClr val="bg1"/>
              </a:solidFill>
              <a:latin typeface="Calibri" panose="020F0502020204030204" pitchFamily="34" charset="0"/>
              <a:cs typeface="Calibri" panose="020F0502020204030204" pitchFamily="34" charset="0"/>
            </a:endParaRPr>
          </a:p>
          <a:p>
            <a:pPr algn="l">
              <a:lnSpc>
                <a:spcPct val="118000"/>
              </a:lnSpc>
            </a:pPr>
            <a:r>
              <a:rPr lang="es-ES_tradnl" sz="1200" b="0" i="0" noProof="0" dirty="0">
                <a:solidFill>
                  <a:schemeClr val="bg1"/>
                </a:solidFill>
                <a:latin typeface="Calibri" panose="020F0502020204030204" pitchFamily="34" charset="0"/>
                <a:cs typeface="Calibri" panose="020F0502020204030204" pitchFamily="34" charset="0"/>
              </a:rPr>
              <a:t>(heterogeneidad estructural)</a:t>
            </a:r>
          </a:p>
        </p:txBody>
      </p:sp>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2AA243F4-6489-C9EB-F042-A050407BA111}"/>
                  </a:ext>
                </a:extLst>
              </p:cNvPr>
              <p:cNvSpPr txBox="1"/>
              <p:nvPr/>
            </p:nvSpPr>
            <p:spPr>
              <a:xfrm>
                <a:off x="8571997" y="6789066"/>
                <a:ext cx="1759381" cy="430887"/>
              </a:xfrm>
              <a:prstGeom prst="rect">
                <a:avLst/>
              </a:prstGeom>
              <a:noFill/>
            </p:spPr>
            <p:txBody>
              <a:bodyPr wrap="square" lIns="0" tIns="0" rIns="0" bIns="0" anchor="t">
                <a:spAutoFit/>
              </a:bodyPr>
              <a:lstStyle/>
              <a:p>
                <a:pPr algn="l">
                  <a:lnSpc>
                    <a:spcPct val="100000"/>
                  </a:lnSpc>
                </a:pPr>
                <a14:m>
                  <m:oMathPara xmlns:m="http://schemas.openxmlformats.org/officeDocument/2006/math">
                    <m:oMath>
                      <m:sSub>
                        <m:sSubPr>
                          <m:ctrlPr>
                            <a:rPr lang="es-ES_tradnl" sz="2800" b="1" i="1" noProof="0" smtClean="0">
                              <a:solidFill>
                                <a:srgbClr val="2F9E98"/>
                              </a:solidFill>
                              <a:latin typeface="Cambria Math" panose="02040503050406030204" pitchFamily="18" charset="0"/>
                              <a:cs typeface="Calibri" panose="020F0502020204030204" pitchFamily="34" charset="0"/>
                            </a:rPr>
                          </m:ctrlPr>
                        </m:sSubPr>
                        <m:e>
                          <m:r>
                            <a:rPr lang="es-ES_tradnl" sz="2800" b="1" i="1" noProof="0" smtClean="0">
                              <a:solidFill>
                                <a:srgbClr val="2F9E98"/>
                              </a:solidFill>
                              <a:latin typeface="Cambria Math" panose="02040503050406030204" pitchFamily="18" charset="0"/>
                              <a:cs typeface="Calibri" panose="020F0502020204030204" pitchFamily="34" charset="0"/>
                            </a:rPr>
                            <m:t>𝜸</m:t>
                          </m:r>
                        </m:e>
                        <m:sub>
                          <m:r>
                            <a:rPr lang="es-ES_tradnl" sz="2800" b="1" i="1" noProof="0" smtClean="0">
                              <a:solidFill>
                                <a:srgbClr val="2F9E98"/>
                              </a:solidFill>
                              <a:latin typeface="Cambria Math" panose="02040503050406030204" pitchFamily="18" charset="0"/>
                              <a:cs typeface="Calibri" panose="020F0502020204030204" pitchFamily="34" charset="0"/>
                            </a:rPr>
                            <m:t>𝒕</m:t>
                          </m:r>
                        </m:sub>
                      </m:sSub>
                    </m:oMath>
                  </m:oMathPara>
                </a14:m>
                <a:endParaRPr lang="es-ES_tradnl" sz="2800" b="1" i="0" noProof="0" dirty="0">
                  <a:solidFill>
                    <a:srgbClr val="2F9E98"/>
                  </a:solidFill>
                  <a:latin typeface="Calibri" panose="020F0502020204030204" pitchFamily="34" charset="0"/>
                  <a:cs typeface="Calibri" panose="020F0502020204030204" pitchFamily="34" charset="0"/>
                </a:endParaRPr>
              </a:p>
            </p:txBody>
          </p:sp>
        </mc:Choice>
        <mc:Fallback xmlns="">
          <p:sp>
            <p:nvSpPr>
              <p:cNvPr id="212" name="TextBox 211">
                <a:extLst>
                  <a:ext uri="{FF2B5EF4-FFF2-40B4-BE49-F238E27FC236}">
                    <a16:creationId xmlns:a16="http://schemas.microsoft.com/office/drawing/2014/main" id="{2AA243F4-6489-C9EB-F042-A050407BA111}"/>
                  </a:ext>
                </a:extLst>
              </p:cNvPr>
              <p:cNvSpPr txBox="1">
                <a:spLocks noRot="1" noChangeAspect="1" noMove="1" noResize="1" noEditPoints="1" noAdjustHandles="1" noChangeArrowheads="1" noChangeShapeType="1" noTextEdit="1"/>
              </p:cNvSpPr>
              <p:nvPr/>
            </p:nvSpPr>
            <p:spPr>
              <a:xfrm>
                <a:off x="8571997" y="6789066"/>
                <a:ext cx="1759381" cy="430887"/>
              </a:xfrm>
              <a:prstGeom prst="rect">
                <a:avLst/>
              </a:prstGeom>
              <a:blipFill>
                <a:blip r:embed="rId5"/>
                <a:stretch>
                  <a:fillRect b="-20000"/>
                </a:stretch>
              </a:blipFill>
            </p:spPr>
            <p:txBody>
              <a:bodyPr/>
              <a:lstStyle/>
              <a:p>
                <a:r>
                  <a:rPr lang="en-EC">
                    <a:noFill/>
                  </a:rPr>
                  <a:t> </a:t>
                </a:r>
              </a:p>
            </p:txBody>
          </p:sp>
        </mc:Fallback>
      </mc:AlternateContent>
      <p:sp>
        <p:nvSpPr>
          <p:cNvPr id="213" name="TextBox 212">
            <a:extLst>
              <a:ext uri="{FF2B5EF4-FFF2-40B4-BE49-F238E27FC236}">
                <a16:creationId xmlns:a16="http://schemas.microsoft.com/office/drawing/2014/main" id="{AAAB18A7-7AB5-9D1F-2651-E7247DE7E15E}"/>
              </a:ext>
            </a:extLst>
          </p:cNvPr>
          <p:cNvSpPr txBox="1"/>
          <p:nvPr/>
        </p:nvSpPr>
        <p:spPr>
          <a:xfrm>
            <a:off x="8571997" y="7242048"/>
            <a:ext cx="2098045" cy="421910"/>
          </a:xfrm>
          <a:prstGeom prst="rect">
            <a:avLst/>
          </a:prstGeom>
          <a:noFill/>
        </p:spPr>
        <p:txBody>
          <a:bodyPr wrap="square" lIns="0" tIns="0" rIns="0" bIns="0" anchor="t">
            <a:spAutoFit/>
          </a:bodyPr>
          <a:lstStyle/>
          <a:p>
            <a:pPr algn="l">
              <a:lnSpc>
                <a:spcPct val="118000"/>
              </a:lnSpc>
            </a:pPr>
            <a:r>
              <a:rPr lang="es-ES_tradnl" sz="1200" b="0" i="0" noProof="0" dirty="0">
                <a:solidFill>
                  <a:schemeClr val="bg1"/>
                </a:solidFill>
                <a:latin typeface="Calibri" panose="020F0502020204030204" pitchFamily="34" charset="0"/>
                <a:cs typeface="Calibri" panose="020F0502020204030204" pitchFamily="34" charset="0"/>
              </a:rPr>
              <a:t>Efecto fijo tiempo</a:t>
            </a:r>
          </a:p>
          <a:p>
            <a:pPr algn="l">
              <a:lnSpc>
                <a:spcPct val="118000"/>
              </a:lnSpc>
            </a:pPr>
            <a:r>
              <a:rPr lang="es-ES_tradnl" sz="1200" b="0" i="0" noProof="0" dirty="0">
                <a:solidFill>
                  <a:schemeClr val="bg1"/>
                </a:solidFill>
                <a:latin typeface="Calibri" panose="020F0502020204030204" pitchFamily="34" charset="0"/>
                <a:cs typeface="Calibri" panose="020F0502020204030204" pitchFamily="34" charset="0"/>
              </a:rPr>
              <a:t>(estacionalidad y shocks)</a:t>
            </a:r>
          </a:p>
        </p:txBody>
      </p:sp>
      <p:sp>
        <p:nvSpPr>
          <p:cNvPr id="214" name="TextBox 213">
            <a:extLst>
              <a:ext uri="{FF2B5EF4-FFF2-40B4-BE49-F238E27FC236}">
                <a16:creationId xmlns:a16="http://schemas.microsoft.com/office/drawing/2014/main" id="{1F13B307-6A9B-EAEE-A81D-00FD033EE82A}"/>
              </a:ext>
            </a:extLst>
          </p:cNvPr>
          <p:cNvSpPr txBox="1"/>
          <p:nvPr/>
        </p:nvSpPr>
        <p:spPr>
          <a:xfrm>
            <a:off x="10816346" y="6789066"/>
            <a:ext cx="2098045" cy="430887"/>
          </a:xfrm>
          <a:prstGeom prst="rect">
            <a:avLst/>
          </a:prstGeom>
          <a:noFill/>
        </p:spPr>
        <p:txBody>
          <a:bodyPr wrap="square" lIns="0" tIns="0" rIns="0" bIns="0" anchor="t">
            <a:spAutoFit/>
          </a:bodyPr>
          <a:lstStyle/>
          <a:p>
            <a:pPr algn="ctr">
              <a:lnSpc>
                <a:spcPct val="100000"/>
              </a:lnSpc>
            </a:pPr>
            <a:r>
              <a:rPr lang="es-ES_tradnl" sz="2800" b="1" i="0" noProof="0" dirty="0">
                <a:solidFill>
                  <a:srgbClr val="2F9E98"/>
                </a:solidFill>
                <a:latin typeface="Calibri" panose="020F0502020204030204" pitchFamily="34" charset="0"/>
                <a:cs typeface="Calibri" panose="020F0502020204030204" pitchFamily="34" charset="0"/>
              </a:rPr>
              <a:t>β₁</a:t>
            </a:r>
          </a:p>
        </p:txBody>
      </p:sp>
      <p:sp>
        <p:nvSpPr>
          <p:cNvPr id="215" name="TextBox 214">
            <a:extLst>
              <a:ext uri="{FF2B5EF4-FFF2-40B4-BE49-F238E27FC236}">
                <a16:creationId xmlns:a16="http://schemas.microsoft.com/office/drawing/2014/main" id="{3773CF36-AA14-67FE-0707-295998B57D38}"/>
              </a:ext>
            </a:extLst>
          </p:cNvPr>
          <p:cNvSpPr txBox="1"/>
          <p:nvPr/>
        </p:nvSpPr>
        <p:spPr>
          <a:xfrm>
            <a:off x="10816346" y="7242048"/>
            <a:ext cx="2098045" cy="421910"/>
          </a:xfrm>
          <a:prstGeom prst="rect">
            <a:avLst/>
          </a:prstGeom>
          <a:noFill/>
        </p:spPr>
        <p:txBody>
          <a:bodyPr wrap="square" lIns="0" tIns="0" rIns="0" bIns="0" anchor="t">
            <a:spAutoFit/>
          </a:bodyPr>
          <a:lstStyle/>
          <a:p>
            <a:pPr algn="l">
              <a:lnSpc>
                <a:spcPct val="118000"/>
              </a:lnSpc>
            </a:pPr>
            <a:r>
              <a:rPr lang="es-ES_tradnl" sz="1200" b="0" i="0" noProof="0" dirty="0">
                <a:solidFill>
                  <a:schemeClr val="bg1"/>
                </a:solidFill>
                <a:latin typeface="Calibri" panose="020F0502020204030204" pitchFamily="34" charset="0"/>
                <a:cs typeface="Calibri" panose="020F0502020204030204" pitchFamily="34" charset="0"/>
              </a:rPr>
              <a:t>Elasticidad interna</a:t>
            </a:r>
          </a:p>
          <a:p>
            <a:pPr algn="l">
              <a:lnSpc>
                <a:spcPct val="118000"/>
              </a:lnSpc>
            </a:pPr>
            <a:r>
              <a:rPr lang="es-ES_tradnl" sz="1200" b="0" i="0" noProof="0" dirty="0">
                <a:solidFill>
                  <a:schemeClr val="bg1"/>
                </a:solidFill>
                <a:latin typeface="Calibri" panose="020F0502020204030204" pitchFamily="34" charset="0"/>
                <a:cs typeface="Calibri" panose="020F0502020204030204" pitchFamily="34" charset="0"/>
              </a:rPr>
              <a:t>(tasa IBK)</a:t>
            </a:r>
          </a:p>
        </p:txBody>
      </p:sp>
      <p:sp>
        <p:nvSpPr>
          <p:cNvPr id="216" name="TextBox 215">
            <a:extLst>
              <a:ext uri="{FF2B5EF4-FFF2-40B4-BE49-F238E27FC236}">
                <a16:creationId xmlns:a16="http://schemas.microsoft.com/office/drawing/2014/main" id="{13BF2785-DEF9-76A9-ABDA-125CD8F6C263}"/>
              </a:ext>
            </a:extLst>
          </p:cNvPr>
          <p:cNvSpPr txBox="1"/>
          <p:nvPr/>
        </p:nvSpPr>
        <p:spPr>
          <a:xfrm>
            <a:off x="13060695" y="6789066"/>
            <a:ext cx="2098045" cy="430887"/>
          </a:xfrm>
          <a:prstGeom prst="rect">
            <a:avLst/>
          </a:prstGeom>
          <a:noFill/>
        </p:spPr>
        <p:txBody>
          <a:bodyPr wrap="square" lIns="0" tIns="0" rIns="0" bIns="0" anchor="t">
            <a:spAutoFit/>
          </a:bodyPr>
          <a:lstStyle/>
          <a:p>
            <a:pPr algn="ctr">
              <a:lnSpc>
                <a:spcPct val="100000"/>
              </a:lnSpc>
            </a:pPr>
            <a:r>
              <a:rPr lang="es-ES_tradnl" sz="2800" b="1" i="0" noProof="0" dirty="0">
                <a:solidFill>
                  <a:srgbClr val="2F9E98"/>
                </a:solidFill>
                <a:latin typeface="Calibri" panose="020F0502020204030204" pitchFamily="34" charset="0"/>
                <a:cs typeface="Calibri" panose="020F0502020204030204" pitchFamily="34" charset="0"/>
              </a:rPr>
              <a:t>β₂</a:t>
            </a:r>
          </a:p>
        </p:txBody>
      </p:sp>
      <p:sp>
        <p:nvSpPr>
          <p:cNvPr id="217" name="TextBox 216">
            <a:extLst>
              <a:ext uri="{FF2B5EF4-FFF2-40B4-BE49-F238E27FC236}">
                <a16:creationId xmlns:a16="http://schemas.microsoft.com/office/drawing/2014/main" id="{D4C3C4C1-B00A-0A89-EA5D-3213B2565AF1}"/>
              </a:ext>
            </a:extLst>
          </p:cNvPr>
          <p:cNvSpPr txBox="1"/>
          <p:nvPr/>
        </p:nvSpPr>
        <p:spPr>
          <a:xfrm>
            <a:off x="13060695" y="7242048"/>
            <a:ext cx="2098045" cy="421910"/>
          </a:xfrm>
          <a:prstGeom prst="rect">
            <a:avLst/>
          </a:prstGeom>
          <a:noFill/>
        </p:spPr>
        <p:txBody>
          <a:bodyPr wrap="square" lIns="0" tIns="0" rIns="0" bIns="0" anchor="t">
            <a:spAutoFit/>
          </a:bodyPr>
          <a:lstStyle/>
          <a:p>
            <a:pPr algn="l">
              <a:lnSpc>
                <a:spcPct val="118000"/>
              </a:lnSpc>
            </a:pPr>
            <a:r>
              <a:rPr lang="es-ES_tradnl" sz="1200" b="0" i="0" noProof="0" dirty="0">
                <a:solidFill>
                  <a:schemeClr val="bg1"/>
                </a:solidFill>
                <a:latin typeface="Calibri" panose="020F0502020204030204" pitchFamily="34" charset="0"/>
                <a:cs typeface="Calibri" panose="020F0502020204030204" pitchFamily="34" charset="0"/>
              </a:rPr>
              <a:t>Sensibilidad competitiva</a:t>
            </a:r>
          </a:p>
          <a:p>
            <a:pPr algn="l">
              <a:lnSpc>
                <a:spcPct val="118000"/>
              </a:lnSpc>
            </a:pPr>
            <a:r>
              <a:rPr lang="es-ES_tradnl" sz="1200" b="0" i="0" noProof="0" dirty="0">
                <a:solidFill>
                  <a:schemeClr val="bg1"/>
                </a:solidFill>
                <a:latin typeface="Calibri" panose="020F0502020204030204" pitchFamily="34" charset="0"/>
                <a:cs typeface="Calibri" panose="020F0502020204030204" pitchFamily="34" charset="0"/>
              </a:rPr>
              <a:t>(al spread)</a:t>
            </a:r>
          </a:p>
        </p:txBody>
      </p:sp>
      <p:sp>
        <p:nvSpPr>
          <p:cNvPr id="218" name="Rectangle 217">
            <a:extLst>
              <a:ext uri="{FF2B5EF4-FFF2-40B4-BE49-F238E27FC236}">
                <a16:creationId xmlns:a16="http://schemas.microsoft.com/office/drawing/2014/main" id="{DEDE7338-E301-C810-7D8A-346D610BEBC3}"/>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s-ES_tradnl" sz="2800" noProof="0" dirty="0">
              <a:latin typeface="Calibri" panose="020F0502020204030204" pitchFamily="34" charset="0"/>
              <a:cs typeface="Calibri" panose="020F0502020204030204" pitchFamily="34" charset="0"/>
            </a:endParaRPr>
          </a:p>
        </p:txBody>
      </p:sp>
      <p:cxnSp>
        <p:nvCxnSpPr>
          <p:cNvPr id="219" name="Connector 83">
            <a:extLst>
              <a:ext uri="{FF2B5EF4-FFF2-40B4-BE49-F238E27FC236}">
                <a16:creationId xmlns:a16="http://schemas.microsoft.com/office/drawing/2014/main" id="{384E5B19-E496-44EB-865A-1745EF151E34}"/>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220" name="TextBox 219">
            <a:extLst>
              <a:ext uri="{FF2B5EF4-FFF2-40B4-BE49-F238E27FC236}">
                <a16:creationId xmlns:a16="http://schemas.microsoft.com/office/drawing/2014/main" id="{A7B66E91-F450-319F-33DE-20B2BBF36742}"/>
              </a:ext>
            </a:extLst>
          </p:cNvPr>
          <p:cNvSpPr txBox="1"/>
          <p:nvPr/>
        </p:nvSpPr>
        <p:spPr>
          <a:xfrm>
            <a:off x="896112" y="8235135"/>
            <a:ext cx="14482084" cy="299826"/>
          </a:xfrm>
          <a:prstGeom prst="rect">
            <a:avLst/>
          </a:prstGeom>
          <a:noFill/>
        </p:spPr>
        <p:txBody>
          <a:bodyPr wrap="square" lIns="0" tIns="0" rIns="0" bIns="0" anchor="ctr">
            <a:spAutoFit/>
          </a:bodyPr>
          <a:lstStyle/>
          <a:p>
            <a:pPr algn="l">
              <a:lnSpc>
                <a:spcPct val="115000"/>
              </a:lnSpc>
              <a:spcAft>
                <a:spcPts val="400"/>
              </a:spcAft>
            </a:pPr>
            <a:r>
              <a:rPr lang="es-ES_tradnl" sz="1800" b="1" i="0" noProof="0" dirty="0">
                <a:solidFill>
                  <a:srgbClr val="0C514E"/>
                </a:solidFill>
                <a:latin typeface="Calibri" panose="020F0502020204030204" pitchFamily="34" charset="0"/>
                <a:cs typeface="Calibri" panose="020F0502020204030204" pitchFamily="34" charset="0"/>
              </a:rPr>
              <a:t>Separar β₁ de β₂ evita bajar la tasa cuando el problema no es el precio, y evita defender la tasa cuando sí lo es.</a:t>
            </a:r>
          </a:p>
        </p:txBody>
      </p:sp>
    </p:spTree>
    <p:extLst>
      <p:ext uri="{BB962C8B-B14F-4D97-AF65-F5344CB8AC3E}">
        <p14:creationId xmlns:p14="http://schemas.microsoft.com/office/powerpoint/2010/main" val="39209320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07ABF-2034-6B9D-929A-E73E37D67C7D}"/>
            </a:ext>
          </a:extLst>
        </p:cNvPr>
        <p:cNvGrpSpPr/>
        <p:nvPr/>
      </p:nvGrpSpPr>
      <p:grpSpPr>
        <a:xfrm>
          <a:off x="0" y="0"/>
          <a:ext cx="0" cy="0"/>
          <a:chOff x="0" y="0"/>
          <a:chExt cx="0" cy="0"/>
        </a:xfrm>
      </p:grpSpPr>
      <p:sp>
        <p:nvSpPr>
          <p:cNvPr id="118" name="Google Shape;167;g3ed063acbfe_1_0">
            <a:extLst>
              <a:ext uri="{FF2B5EF4-FFF2-40B4-BE49-F238E27FC236}">
                <a16:creationId xmlns:a16="http://schemas.microsoft.com/office/drawing/2014/main" id="{8592959A-B2A0-7ACF-85F9-F7A9A6549032}"/>
              </a:ext>
            </a:extLst>
          </p:cNvPr>
          <p:cNvSpPr txBox="1"/>
          <p:nvPr/>
        </p:nvSpPr>
        <p:spPr>
          <a:xfrm>
            <a:off x="184661" y="98822"/>
            <a:ext cx="14787179"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Ecosistema de pricing, visión cliente 360°, para la gestión del precio </a:t>
            </a:r>
          </a:p>
        </p:txBody>
      </p:sp>
      <p:sp>
        <p:nvSpPr>
          <p:cNvPr id="2" name="Rectangle 1">
            <a:extLst>
              <a:ext uri="{FF2B5EF4-FFF2-40B4-BE49-F238E27FC236}">
                <a16:creationId xmlns:a16="http://schemas.microsoft.com/office/drawing/2014/main" id="{1285AE1B-3D9B-93CD-3917-BFAE4166FB08}"/>
              </a:ext>
            </a:extLst>
          </p:cNvPr>
          <p:cNvSpPr/>
          <p:nvPr/>
        </p:nvSpPr>
        <p:spPr>
          <a:xfrm>
            <a:off x="0" y="1241823"/>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37" name="Google Shape;401;g3a8a166b9a7_8_346">
            <a:extLst>
              <a:ext uri="{FF2B5EF4-FFF2-40B4-BE49-F238E27FC236}">
                <a16:creationId xmlns:a16="http://schemas.microsoft.com/office/drawing/2014/main" id="{F626EDDD-DF28-C83B-556D-C2DF728393AF}"/>
              </a:ext>
            </a:extLst>
          </p:cNvPr>
          <p:cNvSpPr/>
          <p:nvPr/>
        </p:nvSpPr>
        <p:spPr>
          <a:xfrm>
            <a:off x="12367268" y="2990064"/>
            <a:ext cx="3589859" cy="532260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09" name="Google Shape;402;g3a8a166b9a7_8_346">
            <a:extLst>
              <a:ext uri="{FF2B5EF4-FFF2-40B4-BE49-F238E27FC236}">
                <a16:creationId xmlns:a16="http://schemas.microsoft.com/office/drawing/2014/main" id="{4BAD9919-3DC2-AA1B-3FE7-0D20AB7C0CCC}"/>
              </a:ext>
            </a:extLst>
          </p:cNvPr>
          <p:cNvSpPr/>
          <p:nvPr/>
        </p:nvSpPr>
        <p:spPr>
          <a:xfrm>
            <a:off x="12367268" y="3007819"/>
            <a:ext cx="3589859" cy="666056"/>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0" name="Google Shape;403;g3a8a166b9a7_8_346">
            <a:extLst>
              <a:ext uri="{FF2B5EF4-FFF2-40B4-BE49-F238E27FC236}">
                <a16:creationId xmlns:a16="http://schemas.microsoft.com/office/drawing/2014/main" id="{5CAFA8C1-A2CC-27F1-CCE9-245898453B4D}"/>
              </a:ext>
            </a:extLst>
          </p:cNvPr>
          <p:cNvSpPr/>
          <p:nvPr/>
        </p:nvSpPr>
        <p:spPr>
          <a:xfrm>
            <a:off x="4340814" y="2990065"/>
            <a:ext cx="3902175"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1" name="Google Shape;404;g3a8a166b9a7_8_346">
            <a:extLst>
              <a:ext uri="{FF2B5EF4-FFF2-40B4-BE49-F238E27FC236}">
                <a16:creationId xmlns:a16="http://schemas.microsoft.com/office/drawing/2014/main" id="{8B045E12-4B68-728C-C7AF-66FCFFA4B144}"/>
              </a:ext>
            </a:extLst>
          </p:cNvPr>
          <p:cNvSpPr/>
          <p:nvPr/>
        </p:nvSpPr>
        <p:spPr>
          <a:xfrm>
            <a:off x="4360081" y="3006979"/>
            <a:ext cx="3889928" cy="710995"/>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12" name="Google Shape;405;g3a8a166b9a7_8_346">
            <a:extLst>
              <a:ext uri="{FF2B5EF4-FFF2-40B4-BE49-F238E27FC236}">
                <a16:creationId xmlns:a16="http://schemas.microsoft.com/office/drawing/2014/main" id="{8A7BA2C1-08FC-4906-0A76-D5880B2888B5}"/>
              </a:ext>
            </a:extLst>
          </p:cNvPr>
          <p:cNvSpPr/>
          <p:nvPr/>
        </p:nvSpPr>
        <p:spPr>
          <a:xfrm>
            <a:off x="8407686" y="2980435"/>
            <a:ext cx="3770487" cy="5335160"/>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19" name="Google Shape;406;g3a8a166b9a7_8_346">
            <a:extLst>
              <a:ext uri="{FF2B5EF4-FFF2-40B4-BE49-F238E27FC236}">
                <a16:creationId xmlns:a16="http://schemas.microsoft.com/office/drawing/2014/main" id="{ADE5DEF4-B038-5EBC-5C62-A733338BE706}"/>
              </a:ext>
            </a:extLst>
          </p:cNvPr>
          <p:cNvSpPr/>
          <p:nvPr/>
        </p:nvSpPr>
        <p:spPr>
          <a:xfrm>
            <a:off x="8398088" y="3012625"/>
            <a:ext cx="3770485"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20" name="Google Shape;407;g3a8a166b9a7_8_346">
            <a:extLst>
              <a:ext uri="{FF2B5EF4-FFF2-40B4-BE49-F238E27FC236}">
                <a16:creationId xmlns:a16="http://schemas.microsoft.com/office/drawing/2014/main" id="{C7A042D8-1F18-BC8B-4D60-1EA6A05D4B31}"/>
              </a:ext>
            </a:extLst>
          </p:cNvPr>
          <p:cNvSpPr/>
          <p:nvPr/>
        </p:nvSpPr>
        <p:spPr>
          <a:xfrm>
            <a:off x="416026" y="2980435"/>
            <a:ext cx="3770487" cy="5335165"/>
          </a:xfrm>
          <a:prstGeom prst="rect">
            <a:avLst/>
          </a:prstGeom>
          <a:solidFill>
            <a:srgbClr val="F2F2F2"/>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cs typeface="Poppins" panose="00000500000000000000" pitchFamily="2" charset="0"/>
            </a:endParaRPr>
          </a:p>
        </p:txBody>
      </p:sp>
      <p:sp>
        <p:nvSpPr>
          <p:cNvPr id="121" name="Google Shape;408;g3a8a166b9a7_8_346">
            <a:extLst>
              <a:ext uri="{FF2B5EF4-FFF2-40B4-BE49-F238E27FC236}">
                <a16:creationId xmlns:a16="http://schemas.microsoft.com/office/drawing/2014/main" id="{3E67425F-E290-5788-1FF1-143561C6BEED}"/>
              </a:ext>
            </a:extLst>
          </p:cNvPr>
          <p:cNvSpPr/>
          <p:nvPr/>
        </p:nvSpPr>
        <p:spPr>
          <a:xfrm>
            <a:off x="409280" y="2991960"/>
            <a:ext cx="3783457" cy="710993"/>
          </a:xfrm>
          <a:prstGeom prst="rect">
            <a:avLst/>
          </a:prstGeom>
          <a:solidFill>
            <a:schemeClr val="tx1"/>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4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nvGrpSpPr>
          <p:cNvPr id="122" name="Google Shape;410;g3a8a166b9a7_8_346">
            <a:extLst>
              <a:ext uri="{FF2B5EF4-FFF2-40B4-BE49-F238E27FC236}">
                <a16:creationId xmlns:a16="http://schemas.microsoft.com/office/drawing/2014/main" id="{685F5373-2495-399D-F29D-FF9EEFA7359C}"/>
              </a:ext>
            </a:extLst>
          </p:cNvPr>
          <p:cNvGrpSpPr/>
          <p:nvPr/>
        </p:nvGrpSpPr>
        <p:grpSpPr>
          <a:xfrm>
            <a:off x="7261859" y="974183"/>
            <a:ext cx="1935480" cy="1882989"/>
            <a:chOff x="3638550" y="1249678"/>
            <a:chExt cx="1842770" cy="1747522"/>
          </a:xfrm>
        </p:grpSpPr>
        <p:sp>
          <p:nvSpPr>
            <p:cNvPr id="123" name="Google Shape;411;g3a8a166b9a7_8_346">
              <a:extLst>
                <a:ext uri="{FF2B5EF4-FFF2-40B4-BE49-F238E27FC236}">
                  <a16:creationId xmlns:a16="http://schemas.microsoft.com/office/drawing/2014/main" id="{5D976652-BDF7-AAEF-6A44-9FA700B1983C}"/>
                </a:ext>
              </a:extLst>
            </p:cNvPr>
            <p:cNvSpPr/>
            <p:nvPr/>
          </p:nvSpPr>
          <p:spPr>
            <a:xfrm>
              <a:off x="3638550" y="1249678"/>
              <a:ext cx="1842770" cy="1747522"/>
            </a:xfrm>
            <a:prstGeom prst="flowChartConnector">
              <a:avLst/>
            </a:prstGeom>
            <a:solidFill>
              <a:srgbClr val="DBDBDB"/>
            </a:solidFill>
            <a:ln w="9525" cap="flat" cmpd="sng">
              <a:solidFill>
                <a:srgbClr val="D8D8D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sp>
          <p:nvSpPr>
            <p:cNvPr id="124" name="Google Shape;412;g3a8a166b9a7_8_346">
              <a:extLst>
                <a:ext uri="{FF2B5EF4-FFF2-40B4-BE49-F238E27FC236}">
                  <a16:creationId xmlns:a16="http://schemas.microsoft.com/office/drawing/2014/main" id="{2A20141C-8C18-43F5-DF0E-35B5EC902390}"/>
                </a:ext>
              </a:extLst>
            </p:cNvPr>
            <p:cNvSpPr/>
            <p:nvPr/>
          </p:nvSpPr>
          <p:spPr>
            <a:xfrm>
              <a:off x="3887470" y="1508758"/>
              <a:ext cx="1344930" cy="1229361"/>
            </a:xfrm>
            <a:prstGeom prst="flowChartConnector">
              <a:avLst/>
            </a:prstGeom>
            <a:solidFill>
              <a:srgbClr val="F2F2F2"/>
            </a:solidFill>
            <a:ln w="5715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endParaRPr>
            </a:p>
          </p:txBody>
        </p:sp>
      </p:grpSp>
      <p:sp>
        <p:nvSpPr>
          <p:cNvPr id="125" name="Google Shape;413;g3a8a166b9a7_8_346">
            <a:extLst>
              <a:ext uri="{FF2B5EF4-FFF2-40B4-BE49-F238E27FC236}">
                <a16:creationId xmlns:a16="http://schemas.microsoft.com/office/drawing/2014/main" id="{B2A8015B-D240-04DF-1018-8123C05586D3}"/>
              </a:ext>
            </a:extLst>
          </p:cNvPr>
          <p:cNvSpPr txBox="1"/>
          <p:nvPr/>
        </p:nvSpPr>
        <p:spPr>
          <a:xfrm>
            <a:off x="446847" y="5610447"/>
            <a:ext cx="3640331"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Rentabilidad diferenciada por segmento</a:t>
            </a:r>
          </a:p>
        </p:txBody>
      </p:sp>
      <p:sp>
        <p:nvSpPr>
          <p:cNvPr id="126" name="Google Shape;434;g3a8a166b9a7_8_346">
            <a:extLst>
              <a:ext uri="{FF2B5EF4-FFF2-40B4-BE49-F238E27FC236}">
                <a16:creationId xmlns:a16="http://schemas.microsoft.com/office/drawing/2014/main" id="{F0616DB8-F4B4-9F04-BD6D-AAF1282394AE}"/>
              </a:ext>
            </a:extLst>
          </p:cNvPr>
          <p:cNvSpPr txBox="1"/>
          <p:nvPr/>
        </p:nvSpPr>
        <p:spPr>
          <a:xfrm>
            <a:off x="469905" y="3846893"/>
            <a:ext cx="2638352"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latin typeface="Poppins" panose="00000500000000000000" pitchFamily="2" charset="0"/>
                <a:ea typeface="Calibri"/>
                <a:cs typeface="Poppins" panose="00000500000000000000" pitchFamily="2" charset="0"/>
                <a:sym typeface="Calibri"/>
              </a:rPr>
              <a:t>Matriz de RAROC objetivo</a:t>
            </a:r>
            <a:endParaRPr lang="es-ES_tradnl" sz="1333" kern="1200" noProof="0" dirty="0">
              <a:latin typeface="Poppins" panose="00000500000000000000" pitchFamily="2" charset="0"/>
              <a:ea typeface="Calibri"/>
              <a:cs typeface="Poppins" panose="00000500000000000000" pitchFamily="2" charset="0"/>
              <a:sym typeface="Calibri"/>
            </a:endParaRPr>
          </a:p>
        </p:txBody>
      </p:sp>
      <p:grpSp>
        <p:nvGrpSpPr>
          <p:cNvPr id="127" name="Google Shape;436;g3a8a166b9a7_8_346">
            <a:extLst>
              <a:ext uri="{FF2B5EF4-FFF2-40B4-BE49-F238E27FC236}">
                <a16:creationId xmlns:a16="http://schemas.microsoft.com/office/drawing/2014/main" id="{32E5952F-60CE-9CF4-ED44-C22DA375836A}"/>
              </a:ext>
            </a:extLst>
          </p:cNvPr>
          <p:cNvGrpSpPr/>
          <p:nvPr/>
        </p:nvGrpSpPr>
        <p:grpSpPr>
          <a:xfrm>
            <a:off x="9056426" y="4347409"/>
            <a:ext cx="2788447" cy="882460"/>
            <a:chOff x="3501127" y="4905040"/>
            <a:chExt cx="3415840" cy="1048361"/>
          </a:xfrm>
        </p:grpSpPr>
        <p:sp>
          <p:nvSpPr>
            <p:cNvPr id="128" name="Google Shape;437;g3a8a166b9a7_8_346">
              <a:extLst>
                <a:ext uri="{FF2B5EF4-FFF2-40B4-BE49-F238E27FC236}">
                  <a16:creationId xmlns:a16="http://schemas.microsoft.com/office/drawing/2014/main" id="{6894049D-9031-75CE-2EDF-F21F94C640B5}"/>
                </a:ext>
              </a:extLst>
            </p:cNvPr>
            <p:cNvSpPr txBox="1"/>
            <p:nvPr/>
          </p:nvSpPr>
          <p:spPr>
            <a:xfrm>
              <a:off x="3501127" y="4905040"/>
              <a:ext cx="1682574" cy="498874"/>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 o</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a:p>
              <a:pPr algn="ctr" defTabSz="1219170">
                <a:buSzPts val="13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29" name="Google Shape;438;g3a8a166b9a7_8_346">
              <a:extLst>
                <a:ext uri="{FF2B5EF4-FFF2-40B4-BE49-F238E27FC236}">
                  <a16:creationId xmlns:a16="http://schemas.microsoft.com/office/drawing/2014/main" id="{237D990B-04E7-6AAB-BF47-A19268229AB4}"/>
                </a:ext>
              </a:extLst>
            </p:cNvPr>
            <p:cNvSpPr txBox="1"/>
            <p:nvPr/>
          </p:nvSpPr>
          <p:spPr>
            <a:xfrm>
              <a:off x="3511286" y="5444368"/>
              <a:ext cx="1682574" cy="498873"/>
            </a:xfrm>
            <a:prstGeom prst="rect">
              <a:avLst/>
            </a:prstGeom>
            <a:solidFill>
              <a:srgbClr val="D5DBE5"/>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Bajar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0" name="Google Shape;439;g3a8a166b9a7_8_346">
              <a:extLst>
                <a:ext uri="{FF2B5EF4-FFF2-40B4-BE49-F238E27FC236}">
                  <a16:creationId xmlns:a16="http://schemas.microsoft.com/office/drawing/2014/main" id="{C62391FB-D79A-664E-F59C-A2DBF9D288D6}"/>
                </a:ext>
              </a:extLst>
            </p:cNvPr>
            <p:cNvSpPr txBox="1"/>
            <p:nvPr/>
          </p:nvSpPr>
          <p:spPr>
            <a:xfrm>
              <a:off x="5224234" y="4915198"/>
              <a:ext cx="1682574" cy="498874"/>
            </a:xfrm>
            <a:prstGeom prst="rect">
              <a:avLst/>
            </a:prstGeom>
            <a:solidFill>
              <a:srgbClr val="ACB8CA">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Subir tasa</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31" name="Google Shape;440;g3a8a166b9a7_8_346">
              <a:extLst>
                <a:ext uri="{FF2B5EF4-FFF2-40B4-BE49-F238E27FC236}">
                  <a16:creationId xmlns:a16="http://schemas.microsoft.com/office/drawing/2014/main" id="{C11A26C3-D7C9-BE69-53FE-30BD13011C26}"/>
                </a:ext>
              </a:extLst>
            </p:cNvPr>
            <p:cNvSpPr txBox="1"/>
            <p:nvPr/>
          </p:nvSpPr>
          <p:spPr>
            <a:xfrm>
              <a:off x="5234393" y="5454524"/>
              <a:ext cx="1682574" cy="498877"/>
            </a:xfrm>
            <a:prstGeom prst="rect">
              <a:avLst/>
            </a:prstGeom>
            <a:solidFill>
              <a:srgbClr val="E1EFD8">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b="1" kern="1200" noProof="0" dirty="0">
                  <a:solidFill>
                    <a:prstClr val="black"/>
                  </a:solidFill>
                  <a:latin typeface="Poppins" panose="00000500000000000000" pitchFamily="2" charset="0"/>
                  <a:ea typeface="Calibri"/>
                  <a:cs typeface="Poppins" panose="00000500000000000000" pitchFamily="2" charset="0"/>
                  <a:sym typeface="Calibri"/>
                </a:rPr>
                <a:t>Mantener</a:t>
              </a:r>
              <a:endParaRPr lang="es-ES_tradnl" sz="1333"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cxnSp>
        <p:nvCxnSpPr>
          <p:cNvPr id="132" name="Google Shape;441;g3a8a166b9a7_8_346">
            <a:extLst>
              <a:ext uri="{FF2B5EF4-FFF2-40B4-BE49-F238E27FC236}">
                <a16:creationId xmlns:a16="http://schemas.microsoft.com/office/drawing/2014/main" id="{772EA0C2-A72F-5742-6F0F-76EEF983D2F6}"/>
              </a:ext>
            </a:extLst>
          </p:cNvPr>
          <p:cNvCxnSpPr/>
          <p:nvPr/>
        </p:nvCxnSpPr>
        <p:spPr>
          <a:xfrm>
            <a:off x="8958199" y="4270488"/>
            <a:ext cx="0" cy="1025769"/>
          </a:xfrm>
          <a:prstGeom prst="straightConnector1">
            <a:avLst/>
          </a:prstGeom>
          <a:noFill/>
          <a:ln w="9525" cap="flat" cmpd="sng">
            <a:solidFill>
              <a:srgbClr val="354A49"/>
            </a:solidFill>
            <a:prstDash val="solid"/>
            <a:round/>
            <a:headEnd type="none" w="sm" len="sm"/>
            <a:tailEnd type="triangle" w="med" len="med"/>
          </a:ln>
        </p:spPr>
      </p:cxnSp>
      <p:sp>
        <p:nvSpPr>
          <p:cNvPr id="133" name="Google Shape;442;g3a8a166b9a7_8_346">
            <a:extLst>
              <a:ext uri="{FF2B5EF4-FFF2-40B4-BE49-F238E27FC236}">
                <a16:creationId xmlns:a16="http://schemas.microsoft.com/office/drawing/2014/main" id="{2D252132-8C7E-9122-09F5-325F4925539C}"/>
              </a:ext>
            </a:extLst>
          </p:cNvPr>
          <p:cNvSpPr txBox="1"/>
          <p:nvPr/>
        </p:nvSpPr>
        <p:spPr>
          <a:xfrm>
            <a:off x="8358042" y="5353094"/>
            <a:ext cx="1166732" cy="266605"/>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Elasticidad</a:t>
            </a:r>
            <a:endParaRPr lang="es-ES_tradnl" sz="1600" kern="1200" noProof="0" dirty="0">
              <a:latin typeface="Poppins" panose="00000500000000000000" pitchFamily="2" charset="0"/>
              <a:ea typeface="Calibri"/>
              <a:cs typeface="Poppins" panose="00000500000000000000" pitchFamily="2" charset="0"/>
              <a:sym typeface="Calibri"/>
            </a:endParaRPr>
          </a:p>
        </p:txBody>
      </p:sp>
      <p:cxnSp>
        <p:nvCxnSpPr>
          <p:cNvPr id="134" name="Google Shape;443;g3a8a166b9a7_8_346">
            <a:extLst>
              <a:ext uri="{FF2B5EF4-FFF2-40B4-BE49-F238E27FC236}">
                <a16:creationId xmlns:a16="http://schemas.microsoft.com/office/drawing/2014/main" id="{EB498EBB-DA29-36B8-4AD9-B61326F838E5}"/>
              </a:ext>
            </a:extLst>
          </p:cNvPr>
          <p:cNvCxnSpPr/>
          <p:nvPr/>
        </p:nvCxnSpPr>
        <p:spPr>
          <a:xfrm>
            <a:off x="9021512" y="4274477"/>
            <a:ext cx="3022777" cy="12209"/>
          </a:xfrm>
          <a:prstGeom prst="straightConnector1">
            <a:avLst/>
          </a:prstGeom>
          <a:noFill/>
          <a:ln w="9525" cap="flat" cmpd="sng">
            <a:solidFill>
              <a:srgbClr val="354A49"/>
            </a:solidFill>
            <a:prstDash val="solid"/>
            <a:round/>
            <a:headEnd type="none" w="sm" len="sm"/>
            <a:tailEnd type="triangle" w="med" len="med"/>
          </a:ln>
        </p:spPr>
      </p:cxnSp>
      <p:sp>
        <p:nvSpPr>
          <p:cNvPr id="135" name="Google Shape;444;g3a8a166b9a7_8_346">
            <a:extLst>
              <a:ext uri="{FF2B5EF4-FFF2-40B4-BE49-F238E27FC236}">
                <a16:creationId xmlns:a16="http://schemas.microsoft.com/office/drawing/2014/main" id="{BD9C22F2-CE8A-2373-ED79-CC33C01D7967}"/>
              </a:ext>
            </a:extLst>
          </p:cNvPr>
          <p:cNvSpPr txBox="1"/>
          <p:nvPr/>
        </p:nvSpPr>
        <p:spPr>
          <a:xfrm>
            <a:off x="11299678" y="3885515"/>
            <a:ext cx="1166732" cy="41017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100"/>
              <a:defRPr/>
            </a:pPr>
            <a:r>
              <a:rPr lang="es-ES_tradnl" sz="933" b="1" kern="1200" noProof="0" dirty="0" err="1">
                <a:latin typeface="Poppins" panose="00000500000000000000" pitchFamily="2" charset="0"/>
                <a:ea typeface="Calibri"/>
                <a:cs typeface="Poppins" panose="00000500000000000000" pitchFamily="2" charset="0"/>
                <a:sym typeface="Calibri"/>
              </a:rPr>
              <a:t>Info</a:t>
            </a:r>
            <a:r>
              <a:rPr lang="es-ES_tradnl" sz="933" b="1" kern="1200" noProof="0" dirty="0">
                <a:latin typeface="Poppins" panose="00000500000000000000" pitchFamily="2" charset="0"/>
                <a:ea typeface="Calibri"/>
                <a:cs typeface="Poppins" panose="00000500000000000000" pitchFamily="2" charset="0"/>
                <a:sym typeface="Calibri"/>
              </a:rPr>
              <a:t>. </a:t>
            </a:r>
            <a:endParaRPr lang="es-ES_tradnl" sz="1600" kern="1200" noProof="0" dirty="0">
              <a:latin typeface="Poppins" panose="00000500000000000000" pitchFamily="2" charset="0"/>
              <a:ea typeface="Calibri"/>
              <a:cs typeface="Poppins" panose="00000500000000000000" pitchFamily="2" charset="0"/>
              <a:sym typeface="Calibri"/>
            </a:endParaRPr>
          </a:p>
          <a:p>
            <a:pPr defTabSz="1219170">
              <a:buSzPts val="1100"/>
              <a:defRPr/>
            </a:pPr>
            <a:r>
              <a:rPr lang="es-ES_tradnl" sz="933" b="1" kern="1200" noProof="0" dirty="0">
                <a:latin typeface="Poppins" panose="00000500000000000000" pitchFamily="2" charset="0"/>
                <a:ea typeface="Calibri"/>
                <a:cs typeface="Poppins" panose="00000500000000000000" pitchFamily="2" charset="0"/>
                <a:sym typeface="Calibri"/>
              </a:rPr>
              <a:t>mercado</a:t>
            </a:r>
            <a:endParaRPr lang="es-ES_tradnl" sz="1600" kern="1200" noProof="0" dirty="0">
              <a:latin typeface="Poppins" panose="00000500000000000000" pitchFamily="2" charset="0"/>
              <a:ea typeface="Calibri"/>
              <a:cs typeface="Poppins" panose="00000500000000000000" pitchFamily="2" charset="0"/>
              <a:sym typeface="Calibri"/>
            </a:endParaRPr>
          </a:p>
        </p:txBody>
      </p:sp>
      <p:sp>
        <p:nvSpPr>
          <p:cNvPr id="136" name="Google Shape;445;g3a8a166b9a7_8_346">
            <a:extLst>
              <a:ext uri="{FF2B5EF4-FFF2-40B4-BE49-F238E27FC236}">
                <a16:creationId xmlns:a16="http://schemas.microsoft.com/office/drawing/2014/main" id="{D69C2CB2-A84D-1EB7-F926-EFF68E7EF75F}"/>
              </a:ext>
            </a:extLst>
          </p:cNvPr>
          <p:cNvSpPr txBox="1"/>
          <p:nvPr/>
        </p:nvSpPr>
        <p:spPr>
          <a:xfrm>
            <a:off x="9202040" y="3946832"/>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7" name="Google Shape;446;g3a8a166b9a7_8_346">
            <a:extLst>
              <a:ext uri="{FF2B5EF4-FFF2-40B4-BE49-F238E27FC236}">
                <a16:creationId xmlns:a16="http://schemas.microsoft.com/office/drawing/2014/main" id="{CBA95731-AC13-F9AB-2D60-B31652AE37F3}"/>
              </a:ext>
            </a:extLst>
          </p:cNvPr>
          <p:cNvSpPr txBox="1"/>
          <p:nvPr/>
        </p:nvSpPr>
        <p:spPr>
          <a:xfrm>
            <a:off x="10567486" y="3946832"/>
            <a:ext cx="109489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8" name="Google Shape;447;g3a8a166b9a7_8_346">
            <a:extLst>
              <a:ext uri="{FF2B5EF4-FFF2-40B4-BE49-F238E27FC236}">
                <a16:creationId xmlns:a16="http://schemas.microsoft.com/office/drawing/2014/main" id="{FC4E2C07-B3D8-3DA1-61C3-60493C333454}"/>
              </a:ext>
            </a:extLst>
          </p:cNvPr>
          <p:cNvSpPr txBox="1"/>
          <p:nvPr/>
        </p:nvSpPr>
        <p:spPr>
          <a:xfrm>
            <a:off x="8104760" y="426457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39" name="Google Shape;448;g3a8a166b9a7_8_346">
            <a:extLst>
              <a:ext uri="{FF2B5EF4-FFF2-40B4-BE49-F238E27FC236}">
                <a16:creationId xmlns:a16="http://schemas.microsoft.com/office/drawing/2014/main" id="{FAFD0A5A-23DD-946C-2C12-709A6BF1FE7C}"/>
              </a:ext>
            </a:extLst>
          </p:cNvPr>
          <p:cNvSpPr txBox="1"/>
          <p:nvPr/>
        </p:nvSpPr>
        <p:spPr>
          <a:xfrm>
            <a:off x="8077666" y="4842280"/>
            <a:ext cx="1042265" cy="440417"/>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140" name="Google Shape;449;g3a8a166b9a7_8_346">
            <a:extLst>
              <a:ext uri="{FF2B5EF4-FFF2-40B4-BE49-F238E27FC236}">
                <a16:creationId xmlns:a16="http://schemas.microsoft.com/office/drawing/2014/main" id="{BF95A9F5-3E4E-08F6-895A-3A257FE8CA8A}"/>
              </a:ext>
            </a:extLst>
          </p:cNvPr>
          <p:cNvSpPr txBox="1"/>
          <p:nvPr/>
        </p:nvSpPr>
        <p:spPr>
          <a:xfrm>
            <a:off x="8699188" y="3839253"/>
            <a:ext cx="2823499" cy="3281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1300"/>
              <a:defRPr/>
            </a:pPr>
            <a:r>
              <a:rPr lang="es-ES_tradnl" sz="1333" b="1" kern="1200" noProof="0" dirty="0">
                <a:solidFill>
                  <a:srgbClr val="217378"/>
                </a:solidFill>
                <a:latin typeface="Poppins" panose="00000500000000000000" pitchFamily="2" charset="0"/>
                <a:ea typeface="Calibri"/>
                <a:cs typeface="Poppins" panose="00000500000000000000" pitchFamily="2" charset="0"/>
                <a:sym typeface="Calibri"/>
              </a:rPr>
              <a:t>Tabla de decisión</a:t>
            </a:r>
            <a:endParaRPr lang="es-ES_tradnl" sz="1333" kern="1200" noProof="0" dirty="0">
              <a:latin typeface="Poppins" panose="00000500000000000000" pitchFamily="2" charset="0"/>
              <a:ea typeface="Calibri"/>
              <a:cs typeface="Poppins" panose="00000500000000000000" pitchFamily="2" charset="0"/>
              <a:sym typeface="Calibri"/>
            </a:endParaRPr>
          </a:p>
        </p:txBody>
      </p:sp>
      <p:sp>
        <p:nvSpPr>
          <p:cNvPr id="141" name="Google Shape;450;g3a8a166b9a7_8_346">
            <a:extLst>
              <a:ext uri="{FF2B5EF4-FFF2-40B4-BE49-F238E27FC236}">
                <a16:creationId xmlns:a16="http://schemas.microsoft.com/office/drawing/2014/main" id="{324EA05C-0B6B-3294-ED47-358F4338182D}"/>
              </a:ext>
            </a:extLst>
          </p:cNvPr>
          <p:cNvSpPr txBox="1"/>
          <p:nvPr/>
        </p:nvSpPr>
        <p:spPr>
          <a:xfrm>
            <a:off x="8624285" y="5610447"/>
            <a:ext cx="3427713"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Ajustes por sensibilidad al precio y mercado</a:t>
            </a:r>
          </a:p>
        </p:txBody>
      </p:sp>
      <p:sp>
        <p:nvSpPr>
          <p:cNvPr id="142" name="Google Shape;451;g3a8a166b9a7_8_346">
            <a:extLst>
              <a:ext uri="{FF2B5EF4-FFF2-40B4-BE49-F238E27FC236}">
                <a16:creationId xmlns:a16="http://schemas.microsoft.com/office/drawing/2014/main" id="{372ED6FB-6422-8FF3-0EB8-6F04BAD61F1A}"/>
              </a:ext>
            </a:extLst>
          </p:cNvPr>
          <p:cNvSpPr txBox="1"/>
          <p:nvPr/>
        </p:nvSpPr>
        <p:spPr>
          <a:xfrm>
            <a:off x="12356471" y="6511523"/>
            <a:ext cx="3644792"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RPr lang="es-PE"/>
            </a:defPPr>
            <a:lvl1pPr marL="171450" marR="0" lvl="0" indent="-171450">
              <a:lnSpc>
                <a:spcPct val="100000"/>
              </a:lnSpc>
              <a:spcBef>
                <a:spcPts val="0"/>
              </a:spcBef>
              <a:spcAft>
                <a:spcPts val="0"/>
              </a:spcAft>
              <a:buClr>
                <a:srgbClr val="000000"/>
              </a:buClr>
              <a:buSzPts val="1500"/>
              <a:buFont typeface="Arial"/>
              <a:buChar char="•"/>
              <a:defRPr sz="1000" b="0" i="0" u="none" strike="noStrike" cap="none">
                <a:solidFill>
                  <a:srgbClr val="000000"/>
                </a:solidFill>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marL="228594" indent="-228594" defTabSz="1219170">
              <a:defRPr/>
            </a:pPr>
            <a:r>
              <a:rPr lang="es-ES_tradnl" sz="1467" kern="1200" noProof="0" dirty="0">
                <a:sym typeface="Calibri"/>
              </a:rPr>
              <a:t>Definir rangos de negociación</a:t>
            </a:r>
          </a:p>
          <a:p>
            <a:pPr marL="228594" indent="-228594" defTabSz="1219170">
              <a:defRPr/>
            </a:pPr>
            <a:r>
              <a:rPr lang="es-ES_tradnl" sz="1467" kern="1200" noProof="0" dirty="0">
                <a:sym typeface="Calibri"/>
              </a:rPr>
              <a:t>Lineamientos de excepciones , gestión d promesas y/o re pricing</a:t>
            </a:r>
          </a:p>
          <a:p>
            <a:pPr marL="0" indent="0" defTabSz="1219170">
              <a:buNone/>
              <a:defRPr/>
            </a:pPr>
            <a:endParaRPr lang="es-ES_tradnl" sz="1467" kern="1200" noProof="0" dirty="0">
              <a:sym typeface="Calibri"/>
            </a:endParaRPr>
          </a:p>
          <a:p>
            <a:pPr marL="0" indent="0" defTabSz="1219170">
              <a:buNone/>
              <a:defRPr/>
            </a:pPr>
            <a:r>
              <a:rPr lang="es-ES_tradnl" sz="1467" kern="1200" noProof="0" dirty="0">
                <a:sym typeface="Calibri"/>
              </a:rPr>
              <a:t>CLV para monitoreo de rentabilidad de cosechas y </a:t>
            </a:r>
            <a:r>
              <a:rPr lang="es-ES_tradnl" sz="1467" kern="1200" noProof="0" dirty="0" err="1">
                <a:sym typeface="Calibri"/>
              </a:rPr>
              <a:t>dash</a:t>
            </a:r>
            <a:r>
              <a:rPr lang="es-ES_tradnl" sz="1467" kern="1200" noProof="0" dirty="0">
                <a:sym typeface="Calibri"/>
              </a:rPr>
              <a:t> excepciones</a:t>
            </a:r>
          </a:p>
        </p:txBody>
      </p:sp>
      <p:sp>
        <p:nvSpPr>
          <p:cNvPr id="143" name="Google Shape;452;g3a8a166b9a7_8_346">
            <a:extLst>
              <a:ext uri="{FF2B5EF4-FFF2-40B4-BE49-F238E27FC236}">
                <a16:creationId xmlns:a16="http://schemas.microsoft.com/office/drawing/2014/main" id="{0F6C1D36-B612-1611-CEE6-1E571C2B7F21}"/>
              </a:ext>
            </a:extLst>
          </p:cNvPr>
          <p:cNvSpPr txBox="1"/>
          <p:nvPr/>
        </p:nvSpPr>
        <p:spPr>
          <a:xfrm>
            <a:off x="8591735" y="3138105"/>
            <a:ext cx="3333215"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03 Ajuste por sensibilidad</a:t>
            </a:r>
          </a:p>
        </p:txBody>
      </p:sp>
      <p:sp>
        <p:nvSpPr>
          <p:cNvPr id="144" name="Google Shape;453;g3a8a166b9a7_8_346">
            <a:extLst>
              <a:ext uri="{FF2B5EF4-FFF2-40B4-BE49-F238E27FC236}">
                <a16:creationId xmlns:a16="http://schemas.microsoft.com/office/drawing/2014/main" id="{DA34A577-BE39-B1BB-0A52-21F9DF8BF8CA}"/>
              </a:ext>
            </a:extLst>
          </p:cNvPr>
          <p:cNvSpPr txBox="1"/>
          <p:nvPr/>
        </p:nvSpPr>
        <p:spPr>
          <a:xfrm>
            <a:off x="12593285" y="2987519"/>
            <a:ext cx="3138559" cy="69755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olidFill>
                  <a:srgbClr val="FFFFFF"/>
                </a:solidFill>
                <a:sym typeface="Calibri"/>
              </a:rPr>
              <a:t>04 Monitoreo y gestión de excepciones</a:t>
            </a:r>
          </a:p>
        </p:txBody>
      </p:sp>
      <p:cxnSp>
        <p:nvCxnSpPr>
          <p:cNvPr id="145" name="Google Shape;454;g3a8a166b9a7_8_346">
            <a:extLst>
              <a:ext uri="{FF2B5EF4-FFF2-40B4-BE49-F238E27FC236}">
                <a16:creationId xmlns:a16="http://schemas.microsoft.com/office/drawing/2014/main" id="{CC9D565C-BAD7-2FEC-4B84-50E0257A8B59}"/>
              </a:ext>
            </a:extLst>
          </p:cNvPr>
          <p:cNvCxnSpPr>
            <a:cxnSpLocks/>
            <a:stCxn id="123" idx="2"/>
            <a:endCxn id="120" idx="0"/>
          </p:cNvCxnSpPr>
          <p:nvPr/>
        </p:nvCxnSpPr>
        <p:spPr>
          <a:xfrm rot="10800000" flipV="1">
            <a:off x="2301270" y="1915678"/>
            <a:ext cx="4960589" cy="1064757"/>
          </a:xfrm>
          <a:prstGeom prst="bentConnector2">
            <a:avLst/>
          </a:prstGeom>
          <a:noFill/>
          <a:ln w="9525" cap="flat" cmpd="sng">
            <a:solidFill>
              <a:schemeClr val="tx1"/>
            </a:solidFill>
            <a:prstDash val="solid"/>
            <a:round/>
            <a:headEnd type="none" w="sm" len="sm"/>
            <a:tailEnd type="triangle" w="med" len="med"/>
          </a:ln>
        </p:spPr>
      </p:cxnSp>
      <p:cxnSp>
        <p:nvCxnSpPr>
          <p:cNvPr id="146" name="Google Shape;455;g3a8a166b9a7_8_346">
            <a:extLst>
              <a:ext uri="{FF2B5EF4-FFF2-40B4-BE49-F238E27FC236}">
                <a16:creationId xmlns:a16="http://schemas.microsoft.com/office/drawing/2014/main" id="{9C74B0E5-6DD4-7FE3-6F1C-34272C8CC227}"/>
              </a:ext>
            </a:extLst>
          </p:cNvPr>
          <p:cNvCxnSpPr>
            <a:cxnSpLocks/>
            <a:stCxn id="123" idx="6"/>
            <a:endCxn id="109" idx="0"/>
          </p:cNvCxnSpPr>
          <p:nvPr/>
        </p:nvCxnSpPr>
        <p:spPr>
          <a:xfrm>
            <a:off x="9197339" y="1915678"/>
            <a:ext cx="4964859" cy="1092141"/>
          </a:xfrm>
          <a:prstGeom prst="bentConnector2">
            <a:avLst/>
          </a:prstGeom>
          <a:noFill/>
          <a:ln w="9525" cap="flat" cmpd="sng">
            <a:solidFill>
              <a:schemeClr val="tx1"/>
            </a:solidFill>
            <a:prstDash val="solid"/>
            <a:round/>
            <a:headEnd type="none" w="sm" len="sm"/>
            <a:tailEnd type="triangle" w="med" len="med"/>
          </a:ln>
        </p:spPr>
      </p:cxnSp>
      <p:cxnSp>
        <p:nvCxnSpPr>
          <p:cNvPr id="147" name="Google Shape;456;g3a8a166b9a7_8_346">
            <a:extLst>
              <a:ext uri="{FF2B5EF4-FFF2-40B4-BE49-F238E27FC236}">
                <a16:creationId xmlns:a16="http://schemas.microsoft.com/office/drawing/2014/main" id="{90852AFA-BE71-05CF-D9EE-C57C3FA9DBB4}"/>
              </a:ext>
            </a:extLst>
          </p:cNvPr>
          <p:cNvCxnSpPr>
            <a:stCxn id="123" idx="5"/>
            <a:endCxn id="143" idx="0"/>
          </p:cNvCxnSpPr>
          <p:nvPr/>
        </p:nvCxnSpPr>
        <p:spPr>
          <a:xfrm rot="16200000" flipH="1">
            <a:off x="9307773" y="2187536"/>
            <a:ext cx="556691" cy="1344448"/>
          </a:xfrm>
          <a:prstGeom prst="bentConnector3">
            <a:avLst>
              <a:gd name="adj1" fmla="val 38097"/>
            </a:avLst>
          </a:prstGeom>
          <a:noFill/>
          <a:ln w="9525" cap="flat" cmpd="sng">
            <a:solidFill>
              <a:schemeClr val="tx1"/>
            </a:solidFill>
            <a:prstDash val="solid"/>
            <a:round/>
            <a:headEnd type="none" w="sm" len="sm"/>
            <a:tailEnd type="triangle" w="med" len="med"/>
          </a:ln>
        </p:spPr>
      </p:cxnSp>
      <p:sp>
        <p:nvSpPr>
          <p:cNvPr id="148" name="Google Shape;465;g3a8a166b9a7_8_346">
            <a:extLst>
              <a:ext uri="{FF2B5EF4-FFF2-40B4-BE49-F238E27FC236}">
                <a16:creationId xmlns:a16="http://schemas.microsoft.com/office/drawing/2014/main" id="{6F5ECCF0-888D-9F6F-AACB-B25342A74154}"/>
              </a:ext>
            </a:extLst>
          </p:cNvPr>
          <p:cNvSpPr txBox="1"/>
          <p:nvPr/>
        </p:nvSpPr>
        <p:spPr>
          <a:xfrm>
            <a:off x="512076" y="3138105"/>
            <a:ext cx="3600000" cy="432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2700"/>
              <a:defRPr/>
            </a:pPr>
            <a:r>
              <a:rPr lang="es-ES_tradnl" sz="1600" b="1" kern="1200" noProof="0" dirty="0">
                <a:solidFill>
                  <a:prstClr val="white"/>
                </a:solidFill>
                <a:latin typeface="Poppins" panose="00000500000000000000" pitchFamily="2" charset="0"/>
                <a:ea typeface="Calibri"/>
                <a:cs typeface="Poppins" panose="00000500000000000000" pitchFamily="2" charset="0"/>
                <a:sym typeface="Calibri"/>
              </a:rPr>
              <a:t>01 Segmentación inteligente</a:t>
            </a:r>
          </a:p>
        </p:txBody>
      </p:sp>
      <p:sp>
        <p:nvSpPr>
          <p:cNvPr id="149" name="Google Shape;466;g3a8a166b9a7_8_346">
            <a:extLst>
              <a:ext uri="{FF2B5EF4-FFF2-40B4-BE49-F238E27FC236}">
                <a16:creationId xmlns:a16="http://schemas.microsoft.com/office/drawing/2014/main" id="{4C2FF30F-FFF0-7E0C-B7F8-D5BE827C8CA8}"/>
              </a:ext>
            </a:extLst>
          </p:cNvPr>
          <p:cNvSpPr txBox="1"/>
          <p:nvPr/>
        </p:nvSpPr>
        <p:spPr>
          <a:xfrm>
            <a:off x="4347194" y="5610447"/>
            <a:ext cx="3885407" cy="861704"/>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600" b="1" kern="1200" noProof="0" dirty="0">
                <a:latin typeface="Poppins" panose="00000500000000000000" pitchFamily="2" charset="0"/>
                <a:ea typeface="Calibri"/>
                <a:cs typeface="Poppins" panose="00000500000000000000" pitchFamily="2" charset="0"/>
                <a:sym typeface="Calibri"/>
              </a:rPr>
              <a:t>Tasa alineada a rentabilidad objetivo y componentes dinámicos de riesgo</a:t>
            </a:r>
          </a:p>
        </p:txBody>
      </p:sp>
      <p:sp>
        <p:nvSpPr>
          <p:cNvPr id="150" name="Google Shape;467;g3a8a166b9a7_8_346">
            <a:extLst>
              <a:ext uri="{FF2B5EF4-FFF2-40B4-BE49-F238E27FC236}">
                <a16:creationId xmlns:a16="http://schemas.microsoft.com/office/drawing/2014/main" id="{5D4AC601-EFEC-8958-863E-4ECC00829A7E}"/>
              </a:ext>
            </a:extLst>
          </p:cNvPr>
          <p:cNvSpPr txBox="1"/>
          <p:nvPr/>
        </p:nvSpPr>
        <p:spPr>
          <a:xfrm>
            <a:off x="4581633" y="3138105"/>
            <a:ext cx="3421279" cy="41029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s-PE"/>
            </a:defPPr>
            <a:lvl1pPr marR="0" lvl="0" indent="0" algn="ctr" fontAlgn="auto">
              <a:lnSpc>
                <a:spcPct val="100000"/>
              </a:lnSpc>
              <a:spcBef>
                <a:spcPts val="0"/>
              </a:spcBef>
              <a:spcAft>
                <a:spcPts val="0"/>
              </a:spcAft>
              <a:buClr>
                <a:srgbClr val="000000"/>
              </a:buClr>
              <a:buSzPts val="2700"/>
              <a:buFont typeface="Arial"/>
              <a:buNone/>
              <a:tabLst/>
              <a:defRPr kumimoji="0" sz="1400" b="1" i="0" u="none" strike="noStrike" cap="none" spc="0" normalizeH="0" baseline="0">
                <a:ln>
                  <a:noFill/>
                </a:ln>
                <a:solidFill>
                  <a:prstClr val="white"/>
                </a:solidFill>
                <a:effectLst/>
                <a:uLnTx/>
                <a:uFillTx/>
                <a:latin typeface="Poppins" panose="00000500000000000000" pitchFamily="2" charset="0"/>
                <a:ea typeface="Calibri"/>
                <a:cs typeface="Poppins" panose="00000500000000000000" pitchFamily="2" charset="0"/>
              </a:defRPr>
            </a:lvl1pPr>
            <a:lvl2pPr marR="0" lvl="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defRPr>
            </a:lvl9pPr>
          </a:lstStyle>
          <a:p>
            <a:pPr defTabSz="1219170">
              <a:defRPr/>
            </a:pPr>
            <a:r>
              <a:rPr lang="es-ES_tradnl" sz="1600" kern="1200" noProof="0" dirty="0">
                <a:sym typeface="Calibri"/>
              </a:rPr>
              <a:t>02 Motor de Rentabilidad</a:t>
            </a:r>
          </a:p>
        </p:txBody>
      </p:sp>
      <p:cxnSp>
        <p:nvCxnSpPr>
          <p:cNvPr id="151" name="Google Shape;468;g3a8a166b9a7_8_346">
            <a:extLst>
              <a:ext uri="{FF2B5EF4-FFF2-40B4-BE49-F238E27FC236}">
                <a16:creationId xmlns:a16="http://schemas.microsoft.com/office/drawing/2014/main" id="{AF90281A-B26B-BAA8-D349-ADCF38C8D27A}"/>
              </a:ext>
            </a:extLst>
          </p:cNvPr>
          <p:cNvCxnSpPr>
            <a:cxnSpLocks/>
            <a:stCxn id="123" idx="3"/>
            <a:endCxn id="110" idx="0"/>
          </p:cNvCxnSpPr>
          <p:nvPr/>
        </p:nvCxnSpPr>
        <p:spPr>
          <a:xfrm rot="5400000">
            <a:off x="6714277" y="2159041"/>
            <a:ext cx="408651" cy="1253401"/>
          </a:xfrm>
          <a:prstGeom prst="bentConnector3">
            <a:avLst>
              <a:gd name="adj1" fmla="val 50000"/>
            </a:avLst>
          </a:prstGeom>
          <a:noFill/>
          <a:ln w="9525" cap="flat" cmpd="sng">
            <a:solidFill>
              <a:schemeClr val="tx1"/>
            </a:solidFill>
            <a:prstDash val="solid"/>
            <a:round/>
            <a:headEnd type="none" w="sm" len="sm"/>
            <a:tailEnd type="triangle" w="med" len="med"/>
          </a:ln>
        </p:spPr>
      </p:cxnSp>
      <p:grpSp>
        <p:nvGrpSpPr>
          <p:cNvPr id="152" name="Google Shape;470;g3a8a166b9a7_8_346">
            <a:extLst>
              <a:ext uri="{FF2B5EF4-FFF2-40B4-BE49-F238E27FC236}">
                <a16:creationId xmlns:a16="http://schemas.microsoft.com/office/drawing/2014/main" id="{57D37AF1-B227-8DFF-59D2-F357F8164024}"/>
              </a:ext>
            </a:extLst>
          </p:cNvPr>
          <p:cNvGrpSpPr/>
          <p:nvPr/>
        </p:nvGrpSpPr>
        <p:grpSpPr>
          <a:xfrm>
            <a:off x="4645762" y="3739576"/>
            <a:ext cx="3357500" cy="1937920"/>
            <a:chOff x="4947976" y="3643837"/>
            <a:chExt cx="3357499" cy="1937920"/>
          </a:xfrm>
        </p:grpSpPr>
        <p:grpSp>
          <p:nvGrpSpPr>
            <p:cNvPr id="153" name="Google Shape;471;g3a8a166b9a7_8_346">
              <a:extLst>
                <a:ext uri="{FF2B5EF4-FFF2-40B4-BE49-F238E27FC236}">
                  <a16:creationId xmlns:a16="http://schemas.microsoft.com/office/drawing/2014/main" id="{BEB98055-E2A9-79EC-7035-6E5B470FCEC1}"/>
                </a:ext>
              </a:extLst>
            </p:cNvPr>
            <p:cNvGrpSpPr/>
            <p:nvPr/>
          </p:nvGrpSpPr>
          <p:grpSpPr>
            <a:xfrm>
              <a:off x="4947976" y="3643837"/>
              <a:ext cx="3357499" cy="1937920"/>
              <a:chOff x="4620745" y="3880801"/>
              <a:chExt cx="3357499" cy="1937920"/>
            </a:xfrm>
          </p:grpSpPr>
          <p:grpSp>
            <p:nvGrpSpPr>
              <p:cNvPr id="155" name="Google Shape;472;g3a8a166b9a7_8_346">
                <a:extLst>
                  <a:ext uri="{FF2B5EF4-FFF2-40B4-BE49-F238E27FC236}">
                    <a16:creationId xmlns:a16="http://schemas.microsoft.com/office/drawing/2014/main" id="{CB54EC21-D2B1-B96D-8278-6EE4F1560250}"/>
                  </a:ext>
                </a:extLst>
              </p:cNvPr>
              <p:cNvGrpSpPr/>
              <p:nvPr/>
            </p:nvGrpSpPr>
            <p:grpSpPr>
              <a:xfrm>
                <a:off x="5041054" y="3920310"/>
                <a:ext cx="2668940" cy="1381764"/>
                <a:chOff x="247455" y="816623"/>
                <a:chExt cx="8571119" cy="4759668"/>
              </a:xfrm>
            </p:grpSpPr>
            <p:sp>
              <p:nvSpPr>
                <p:cNvPr id="160" name="Google Shape;473;g3a8a166b9a7_8_346">
                  <a:extLst>
                    <a:ext uri="{FF2B5EF4-FFF2-40B4-BE49-F238E27FC236}">
                      <a16:creationId xmlns:a16="http://schemas.microsoft.com/office/drawing/2014/main" id="{430FDBF0-B370-FB93-1206-D1FD1E8DAD1F}"/>
                    </a:ext>
                  </a:extLst>
                </p:cNvPr>
                <p:cNvSpPr/>
                <p:nvPr/>
              </p:nvSpPr>
              <p:spPr>
                <a:xfrm>
                  <a:off x="5173277" y="816623"/>
                  <a:ext cx="470995" cy="417238"/>
                </a:xfrm>
                <a:prstGeom prst="flowChartConnector">
                  <a:avLst/>
                </a:prstGeom>
                <a:solidFill>
                  <a:srgbClr val="BFBFBF"/>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1" name="Google Shape;474;g3a8a166b9a7_8_346">
                  <a:extLst>
                    <a:ext uri="{FF2B5EF4-FFF2-40B4-BE49-F238E27FC236}">
                      <a16:creationId xmlns:a16="http://schemas.microsoft.com/office/drawing/2014/main" id="{A2E37FB2-7F84-622F-1A06-4CCE61EB71AF}"/>
                    </a:ext>
                  </a:extLst>
                </p:cNvPr>
                <p:cNvSpPr/>
                <p:nvPr/>
              </p:nvSpPr>
              <p:spPr>
                <a:xfrm>
                  <a:off x="6846027" y="2207321"/>
                  <a:ext cx="1056576" cy="1322550"/>
                </a:xfrm>
                <a:prstGeom prst="flowChartAlternateProcess">
                  <a:avLst/>
                </a:prstGeom>
                <a:solidFill>
                  <a:srgbClr val="7B7B7B"/>
                </a:solidFill>
                <a:ln>
                  <a:noFill/>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2" name="Google Shape;475;g3a8a166b9a7_8_346">
                  <a:extLst>
                    <a:ext uri="{FF2B5EF4-FFF2-40B4-BE49-F238E27FC236}">
                      <a16:creationId xmlns:a16="http://schemas.microsoft.com/office/drawing/2014/main" id="{90B6F702-4B60-01AB-A12F-A394FD0D625B}"/>
                    </a:ext>
                  </a:extLst>
                </p:cNvPr>
                <p:cNvSpPr/>
                <p:nvPr/>
              </p:nvSpPr>
              <p:spPr>
                <a:xfrm>
                  <a:off x="6444483" y="3753100"/>
                  <a:ext cx="1468755" cy="536288"/>
                </a:xfrm>
                <a:prstGeom prst="roundRect">
                  <a:avLst>
                    <a:gd name="adj" fmla="val 16667"/>
                  </a:avLst>
                </a:prstGeom>
                <a:solidFill>
                  <a:srgbClr val="217378">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3" name="Google Shape;476;g3a8a166b9a7_8_346">
                  <a:extLst>
                    <a:ext uri="{FF2B5EF4-FFF2-40B4-BE49-F238E27FC236}">
                      <a16:creationId xmlns:a16="http://schemas.microsoft.com/office/drawing/2014/main" id="{F863DB9C-E86F-8470-1EE7-9BB7E847AAF1}"/>
                    </a:ext>
                  </a:extLst>
                </p:cNvPr>
                <p:cNvSpPr/>
                <p:nvPr/>
              </p:nvSpPr>
              <p:spPr>
                <a:xfrm>
                  <a:off x="500733" y="4986740"/>
                  <a:ext cx="1603400" cy="568050"/>
                </a:xfrm>
                <a:prstGeom prst="rect">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4" name="Google Shape;477;g3a8a166b9a7_8_346">
                  <a:extLst>
                    <a:ext uri="{FF2B5EF4-FFF2-40B4-BE49-F238E27FC236}">
                      <a16:creationId xmlns:a16="http://schemas.microsoft.com/office/drawing/2014/main" id="{27880B7E-A35F-E8DE-84AE-C17103F3F4B2}"/>
                    </a:ext>
                  </a:extLst>
                </p:cNvPr>
                <p:cNvSpPr/>
                <p:nvPr/>
              </p:nvSpPr>
              <p:spPr>
                <a:xfrm>
                  <a:off x="1564684" y="1865567"/>
                  <a:ext cx="4777332" cy="3710724"/>
                </a:xfrm>
                <a:prstGeom prst="flowChartAlternateProcess">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5" name="Google Shape;478;g3a8a166b9a7_8_346">
                  <a:extLst>
                    <a:ext uri="{FF2B5EF4-FFF2-40B4-BE49-F238E27FC236}">
                      <a16:creationId xmlns:a16="http://schemas.microsoft.com/office/drawing/2014/main" id="{D2364BC0-3AF9-8FA3-B18B-C765E5EB3304}"/>
                    </a:ext>
                  </a:extLst>
                </p:cNvPr>
                <p:cNvSpPr/>
                <p:nvPr/>
              </p:nvSpPr>
              <p:spPr>
                <a:xfrm rot="-9043956">
                  <a:off x="247455" y="3453645"/>
                  <a:ext cx="1000092" cy="572202"/>
                </a:xfrm>
                <a:prstGeom prst="diagStripe">
                  <a:avLst>
                    <a:gd name="adj" fmla="val 5000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66" name="Google Shape;479;g3a8a166b9a7_8_346">
                  <a:extLst>
                    <a:ext uri="{FF2B5EF4-FFF2-40B4-BE49-F238E27FC236}">
                      <a16:creationId xmlns:a16="http://schemas.microsoft.com/office/drawing/2014/main" id="{F78BF629-D8A2-A2EA-946D-98C6225B4473}"/>
                    </a:ext>
                  </a:extLst>
                </p:cNvPr>
                <p:cNvSpPr/>
                <p:nvPr/>
              </p:nvSpPr>
              <p:spPr>
                <a:xfrm>
                  <a:off x="497840" y="3992818"/>
                  <a:ext cx="760065" cy="988092"/>
                </a:xfrm>
                <a:prstGeom prst="snip2SameRect">
                  <a:avLst>
                    <a:gd name="adj1" fmla="val 16667"/>
                    <a:gd name="adj2" fmla="val 0"/>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7" name="Google Shape;480;g3a8a166b9a7_8_346">
                  <a:extLst>
                    <a:ext uri="{FF2B5EF4-FFF2-40B4-BE49-F238E27FC236}">
                      <a16:creationId xmlns:a16="http://schemas.microsoft.com/office/drawing/2014/main" id="{A24C6AF0-1932-1851-B6AF-DCB71FB4F646}"/>
                    </a:ext>
                  </a:extLst>
                </p:cNvPr>
                <p:cNvSpPr/>
                <p:nvPr/>
              </p:nvSpPr>
              <p:spPr>
                <a:xfrm>
                  <a:off x="6096001" y="3619447"/>
                  <a:ext cx="328590" cy="774450"/>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8" name="Google Shape;481;g3a8a166b9a7_8_346">
                  <a:extLst>
                    <a:ext uri="{FF2B5EF4-FFF2-40B4-BE49-F238E27FC236}">
                      <a16:creationId xmlns:a16="http://schemas.microsoft.com/office/drawing/2014/main" id="{61C48746-5892-B8A4-7FB6-0712291E2ED0}"/>
                    </a:ext>
                  </a:extLst>
                </p:cNvPr>
                <p:cNvSpPr/>
                <p:nvPr/>
              </p:nvSpPr>
              <p:spPr>
                <a:xfrm>
                  <a:off x="1971040" y="1057362"/>
                  <a:ext cx="3487910" cy="816900"/>
                </a:xfrm>
                <a:prstGeom prst="flowChartTerminator">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69" name="Google Shape;482;g3a8a166b9a7_8_346">
                  <a:extLst>
                    <a:ext uri="{FF2B5EF4-FFF2-40B4-BE49-F238E27FC236}">
                      <a16:creationId xmlns:a16="http://schemas.microsoft.com/office/drawing/2014/main" id="{B3B8143E-6C1B-BCCF-6170-B9DBFF816BF5}"/>
                    </a:ext>
                  </a:extLst>
                </p:cNvPr>
                <p:cNvSpPr/>
                <p:nvPr/>
              </p:nvSpPr>
              <p:spPr>
                <a:xfrm>
                  <a:off x="6425043" y="3832091"/>
                  <a:ext cx="1607485" cy="536288"/>
                </a:xfrm>
                <a:prstGeom prst="roundRect">
                  <a:avLst>
                    <a:gd name="adj" fmla="val 16667"/>
                  </a:avLst>
                </a:prstGeom>
                <a:solidFill>
                  <a:srgbClr val="F2F2F2"/>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0" name="Google Shape;483;g3a8a166b9a7_8_346">
                  <a:extLst>
                    <a:ext uri="{FF2B5EF4-FFF2-40B4-BE49-F238E27FC236}">
                      <a16:creationId xmlns:a16="http://schemas.microsoft.com/office/drawing/2014/main" id="{6203BEAB-C3C9-788B-794D-A208C66A617E}"/>
                    </a:ext>
                  </a:extLst>
                </p:cNvPr>
                <p:cNvSpPr/>
                <p:nvPr/>
              </p:nvSpPr>
              <p:spPr>
                <a:xfrm>
                  <a:off x="6424590" y="3842251"/>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1" name="Google Shape;484;g3a8a166b9a7_8_346">
                  <a:extLst>
                    <a:ext uri="{FF2B5EF4-FFF2-40B4-BE49-F238E27FC236}">
                      <a16:creationId xmlns:a16="http://schemas.microsoft.com/office/drawing/2014/main" id="{972535D2-7EFD-299D-5798-91330C6815F7}"/>
                    </a:ext>
                  </a:extLst>
                </p:cNvPr>
                <p:cNvSpPr/>
                <p:nvPr/>
              </p:nvSpPr>
              <p:spPr>
                <a:xfrm>
                  <a:off x="7521856" y="3823916"/>
                  <a:ext cx="470995" cy="526128"/>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2" name="Google Shape;485;g3a8a166b9a7_8_346">
                  <a:extLst>
                    <a:ext uri="{FF2B5EF4-FFF2-40B4-BE49-F238E27FC236}">
                      <a16:creationId xmlns:a16="http://schemas.microsoft.com/office/drawing/2014/main" id="{177A6ECB-F46E-86E3-A03F-524D6BA6D918}"/>
                    </a:ext>
                  </a:extLst>
                </p:cNvPr>
                <p:cNvSpPr/>
                <p:nvPr/>
              </p:nvSpPr>
              <p:spPr>
                <a:xfrm>
                  <a:off x="6928441" y="3937656"/>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3" name="Google Shape;486;g3a8a166b9a7_8_346">
                  <a:extLst>
                    <a:ext uri="{FF2B5EF4-FFF2-40B4-BE49-F238E27FC236}">
                      <a16:creationId xmlns:a16="http://schemas.microsoft.com/office/drawing/2014/main" id="{28DD5119-B2D8-0B92-5C5F-947B44AC47C3}"/>
                    </a:ext>
                  </a:extLst>
                </p:cNvPr>
                <p:cNvSpPr/>
                <p:nvPr/>
              </p:nvSpPr>
              <p:spPr>
                <a:xfrm>
                  <a:off x="7219069" y="3951827"/>
                  <a:ext cx="258084" cy="296136"/>
                </a:xfrm>
                <a:prstGeom prst="flowChartConnector">
                  <a:avLst/>
                </a:prstGeom>
                <a:solidFill>
                  <a:srgbClr val="176A66">
                    <a:alpha val="50196"/>
                  </a:srgbClr>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cxnSp>
              <p:nvCxnSpPr>
                <p:cNvPr id="174" name="Google Shape;487;g3a8a166b9a7_8_346">
                  <a:extLst>
                    <a:ext uri="{FF2B5EF4-FFF2-40B4-BE49-F238E27FC236}">
                      <a16:creationId xmlns:a16="http://schemas.microsoft.com/office/drawing/2014/main" id="{830CD988-9232-D3FE-512D-03391042C554}"/>
                    </a:ext>
                  </a:extLst>
                </p:cNvPr>
                <p:cNvCxnSpPr/>
                <p:nvPr/>
              </p:nvCxnSpPr>
              <p:spPr>
                <a:xfrm>
                  <a:off x="2234261" y="3314997"/>
                  <a:ext cx="3249826" cy="25410"/>
                </a:xfrm>
                <a:prstGeom prst="straightConnector1">
                  <a:avLst/>
                </a:prstGeom>
                <a:noFill/>
                <a:ln w="9525" cap="flat" cmpd="sng">
                  <a:solidFill>
                    <a:srgbClr val="217378"/>
                  </a:solidFill>
                  <a:prstDash val="solid"/>
                  <a:round/>
                  <a:headEnd type="none" w="sm" len="sm"/>
                  <a:tailEnd type="triangle" w="med" len="med"/>
                </a:ln>
              </p:spPr>
            </p:cxnSp>
            <p:cxnSp>
              <p:nvCxnSpPr>
                <p:cNvPr id="175" name="Google Shape;488;g3a8a166b9a7_8_346">
                  <a:extLst>
                    <a:ext uri="{FF2B5EF4-FFF2-40B4-BE49-F238E27FC236}">
                      <a16:creationId xmlns:a16="http://schemas.microsoft.com/office/drawing/2014/main" id="{5024E682-C661-944B-1362-5C691F0DD095}"/>
                    </a:ext>
                  </a:extLst>
                </p:cNvPr>
                <p:cNvCxnSpPr/>
                <p:nvPr/>
              </p:nvCxnSpPr>
              <p:spPr>
                <a:xfrm>
                  <a:off x="2255368" y="3725054"/>
                  <a:ext cx="2876550" cy="0"/>
                </a:xfrm>
                <a:prstGeom prst="straightConnector1">
                  <a:avLst/>
                </a:prstGeom>
                <a:noFill/>
                <a:ln w="9525" cap="flat" cmpd="sng">
                  <a:solidFill>
                    <a:srgbClr val="217378"/>
                  </a:solidFill>
                  <a:prstDash val="solid"/>
                  <a:round/>
                  <a:headEnd type="none" w="sm" len="sm"/>
                  <a:tailEnd type="none" w="sm" len="sm"/>
                </a:ln>
              </p:spPr>
            </p:cxnSp>
            <p:sp>
              <p:nvSpPr>
                <p:cNvPr id="176" name="Google Shape;489;g3a8a166b9a7_8_346">
                  <a:extLst>
                    <a:ext uri="{FF2B5EF4-FFF2-40B4-BE49-F238E27FC236}">
                      <a16:creationId xmlns:a16="http://schemas.microsoft.com/office/drawing/2014/main" id="{AA565BB5-1E01-D4CD-3919-1025153049CA}"/>
                    </a:ext>
                  </a:extLst>
                </p:cNvPr>
                <p:cNvSpPr/>
                <p:nvPr/>
              </p:nvSpPr>
              <p:spPr>
                <a:xfrm>
                  <a:off x="2286000" y="2186764"/>
                  <a:ext cx="223796" cy="111608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7" name="Google Shape;490;g3a8a166b9a7_8_346">
                  <a:extLst>
                    <a:ext uri="{FF2B5EF4-FFF2-40B4-BE49-F238E27FC236}">
                      <a16:creationId xmlns:a16="http://schemas.microsoft.com/office/drawing/2014/main" id="{D7BB43F9-30EF-A5DE-2555-6D55FD5733DC}"/>
                    </a:ext>
                  </a:extLst>
                </p:cNvPr>
                <p:cNvSpPr/>
                <p:nvPr/>
              </p:nvSpPr>
              <p:spPr>
                <a:xfrm>
                  <a:off x="2581275" y="2321724"/>
                  <a:ext cx="195221" cy="981126"/>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8" name="Google Shape;491;g3a8a166b9a7_8_346">
                  <a:extLst>
                    <a:ext uri="{FF2B5EF4-FFF2-40B4-BE49-F238E27FC236}">
                      <a16:creationId xmlns:a16="http://schemas.microsoft.com/office/drawing/2014/main" id="{75F1A1A2-31B3-EF8A-14AD-6B3428A8C7CD}"/>
                    </a:ext>
                  </a:extLst>
                </p:cNvPr>
                <p:cNvSpPr/>
                <p:nvPr/>
              </p:nvSpPr>
              <p:spPr>
                <a:xfrm>
                  <a:off x="2886075" y="2439418"/>
                  <a:ext cx="195221" cy="86343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79" name="Google Shape;492;g3a8a166b9a7_8_346">
                  <a:extLst>
                    <a:ext uri="{FF2B5EF4-FFF2-40B4-BE49-F238E27FC236}">
                      <a16:creationId xmlns:a16="http://schemas.microsoft.com/office/drawing/2014/main" id="{A5572973-9606-8A92-31DA-563F412C3F1E}"/>
                    </a:ext>
                  </a:extLst>
                </p:cNvPr>
                <p:cNvSpPr/>
                <p:nvPr/>
              </p:nvSpPr>
              <p:spPr>
                <a:xfrm>
                  <a:off x="3190875" y="2588426"/>
                  <a:ext cx="195221" cy="714423"/>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0" name="Google Shape;493;g3a8a166b9a7_8_346">
                  <a:extLst>
                    <a:ext uri="{FF2B5EF4-FFF2-40B4-BE49-F238E27FC236}">
                      <a16:creationId xmlns:a16="http://schemas.microsoft.com/office/drawing/2014/main" id="{234421A4-244C-C3F0-7674-AA782C125E7E}"/>
                    </a:ext>
                  </a:extLst>
                </p:cNvPr>
                <p:cNvSpPr/>
                <p:nvPr/>
              </p:nvSpPr>
              <p:spPr>
                <a:xfrm>
                  <a:off x="3486150" y="2730083"/>
                  <a:ext cx="195221" cy="582291"/>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1" name="Google Shape;494;g3a8a166b9a7_8_346">
                  <a:extLst>
                    <a:ext uri="{FF2B5EF4-FFF2-40B4-BE49-F238E27FC236}">
                      <a16:creationId xmlns:a16="http://schemas.microsoft.com/office/drawing/2014/main" id="{939CF20A-FE66-64F2-666D-811E406A0015}"/>
                    </a:ext>
                  </a:extLst>
                </p:cNvPr>
                <p:cNvSpPr/>
                <p:nvPr/>
              </p:nvSpPr>
              <p:spPr>
                <a:xfrm>
                  <a:off x="3790950" y="2868597"/>
                  <a:ext cx="161597" cy="443777"/>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2" name="Google Shape;495;g3a8a166b9a7_8_346">
                  <a:extLst>
                    <a:ext uri="{FF2B5EF4-FFF2-40B4-BE49-F238E27FC236}">
                      <a16:creationId xmlns:a16="http://schemas.microsoft.com/office/drawing/2014/main" id="{FAD7D780-B47E-BBCD-7ED3-D75E6AE82383}"/>
                    </a:ext>
                  </a:extLst>
                </p:cNvPr>
                <p:cNvSpPr/>
                <p:nvPr/>
              </p:nvSpPr>
              <p:spPr>
                <a:xfrm>
                  <a:off x="4124325" y="2988865"/>
                  <a:ext cx="159839" cy="323510"/>
                </a:xfrm>
                <a:prstGeom prst="roundRect">
                  <a:avLst>
                    <a:gd name="adj" fmla="val 16667"/>
                  </a:avLst>
                </a:prstGeom>
                <a:solidFill>
                  <a:srgbClr val="85AEAD"/>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3" name="Google Shape;496;g3a8a166b9a7_8_346">
                  <a:extLst>
                    <a:ext uri="{FF2B5EF4-FFF2-40B4-BE49-F238E27FC236}">
                      <a16:creationId xmlns:a16="http://schemas.microsoft.com/office/drawing/2014/main" id="{955D3403-0265-7A78-1030-824CAF7C90EC}"/>
                    </a:ext>
                  </a:extLst>
                </p:cNvPr>
                <p:cNvSpPr/>
                <p:nvPr/>
              </p:nvSpPr>
              <p:spPr>
                <a:xfrm>
                  <a:off x="2295525" y="3729814"/>
                  <a:ext cx="223796" cy="111608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4" name="Google Shape;497;g3a8a166b9a7_8_346">
                  <a:extLst>
                    <a:ext uri="{FF2B5EF4-FFF2-40B4-BE49-F238E27FC236}">
                      <a16:creationId xmlns:a16="http://schemas.microsoft.com/office/drawing/2014/main" id="{66E780B9-D270-CD7A-BD24-E33FC220F2D6}"/>
                    </a:ext>
                  </a:extLst>
                </p:cNvPr>
                <p:cNvSpPr/>
                <p:nvPr/>
              </p:nvSpPr>
              <p:spPr>
                <a:xfrm>
                  <a:off x="2590800" y="3731424"/>
                  <a:ext cx="195221" cy="981126"/>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5" name="Google Shape;498;g3a8a166b9a7_8_346">
                  <a:extLst>
                    <a:ext uri="{FF2B5EF4-FFF2-40B4-BE49-F238E27FC236}">
                      <a16:creationId xmlns:a16="http://schemas.microsoft.com/office/drawing/2014/main" id="{B0A084B4-9583-F451-B67B-48933BFA19BF}"/>
                    </a:ext>
                  </a:extLst>
                </p:cNvPr>
                <p:cNvSpPr/>
                <p:nvPr/>
              </p:nvSpPr>
              <p:spPr>
                <a:xfrm>
                  <a:off x="2895600" y="3734818"/>
                  <a:ext cx="195221" cy="86343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6" name="Google Shape;499;g3a8a166b9a7_8_346">
                  <a:extLst>
                    <a:ext uri="{FF2B5EF4-FFF2-40B4-BE49-F238E27FC236}">
                      <a16:creationId xmlns:a16="http://schemas.microsoft.com/office/drawing/2014/main" id="{64D038C4-DC5C-AA31-4F3B-E3968900C87D}"/>
                    </a:ext>
                  </a:extLst>
                </p:cNvPr>
                <p:cNvSpPr/>
                <p:nvPr/>
              </p:nvSpPr>
              <p:spPr>
                <a:xfrm>
                  <a:off x="3200400" y="3731426"/>
                  <a:ext cx="195221" cy="714423"/>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7" name="Google Shape;500;g3a8a166b9a7_8_346">
                  <a:extLst>
                    <a:ext uri="{FF2B5EF4-FFF2-40B4-BE49-F238E27FC236}">
                      <a16:creationId xmlns:a16="http://schemas.microsoft.com/office/drawing/2014/main" id="{F52D8999-C27B-A913-9FE5-1EF489CD653B}"/>
                    </a:ext>
                  </a:extLst>
                </p:cNvPr>
                <p:cNvSpPr/>
                <p:nvPr/>
              </p:nvSpPr>
              <p:spPr>
                <a:xfrm>
                  <a:off x="3495675" y="3730208"/>
                  <a:ext cx="195221" cy="582291"/>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8" name="Google Shape;501;g3a8a166b9a7_8_346">
                  <a:extLst>
                    <a:ext uri="{FF2B5EF4-FFF2-40B4-BE49-F238E27FC236}">
                      <a16:creationId xmlns:a16="http://schemas.microsoft.com/office/drawing/2014/main" id="{313AA4C2-DA5B-F404-9E0F-525E5EAB666C}"/>
                    </a:ext>
                  </a:extLst>
                </p:cNvPr>
                <p:cNvSpPr/>
                <p:nvPr/>
              </p:nvSpPr>
              <p:spPr>
                <a:xfrm>
                  <a:off x="3800475" y="3735372"/>
                  <a:ext cx="161597" cy="443777"/>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89" name="Google Shape;502;g3a8a166b9a7_8_346">
                  <a:extLst>
                    <a:ext uri="{FF2B5EF4-FFF2-40B4-BE49-F238E27FC236}">
                      <a16:creationId xmlns:a16="http://schemas.microsoft.com/office/drawing/2014/main" id="{8588068D-5FBD-2D70-7732-6C5686DE9961}"/>
                    </a:ext>
                  </a:extLst>
                </p:cNvPr>
                <p:cNvSpPr/>
                <p:nvPr/>
              </p:nvSpPr>
              <p:spPr>
                <a:xfrm>
                  <a:off x="4133850" y="3731815"/>
                  <a:ext cx="159839" cy="323510"/>
                </a:xfrm>
                <a:prstGeom prst="roundRect">
                  <a:avLst>
                    <a:gd name="adj" fmla="val 16667"/>
                  </a:avLst>
                </a:prstGeom>
                <a:solidFill>
                  <a:srgbClr val="BFBFBF"/>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0" name="Google Shape;503;g3a8a166b9a7_8_346">
                  <a:extLst>
                    <a:ext uri="{FF2B5EF4-FFF2-40B4-BE49-F238E27FC236}">
                      <a16:creationId xmlns:a16="http://schemas.microsoft.com/office/drawing/2014/main" id="{9BC9E52A-D2E7-AED5-3F99-79642BCB9EF9}"/>
                    </a:ext>
                  </a:extLst>
                </p:cNvPr>
                <p:cNvSpPr/>
                <p:nvPr/>
              </p:nvSpPr>
              <p:spPr>
                <a:xfrm>
                  <a:off x="5076408" y="1169053"/>
                  <a:ext cx="690149" cy="700096"/>
                </a:xfrm>
                <a:prstGeom prst="snip2SameRect">
                  <a:avLst>
                    <a:gd name="adj1" fmla="val 16667"/>
                    <a:gd name="adj2" fmla="val 0"/>
                  </a:avLst>
                </a:prstGeom>
                <a:solidFill>
                  <a:srgbClr val="005C2A"/>
                </a:solid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1" name="Google Shape;504;g3a8a166b9a7_8_346">
                  <a:extLst>
                    <a:ext uri="{FF2B5EF4-FFF2-40B4-BE49-F238E27FC236}">
                      <a16:creationId xmlns:a16="http://schemas.microsoft.com/office/drawing/2014/main" id="{1F6DE90A-C5D4-AE8C-39D9-B8228AE57A5D}"/>
                    </a:ext>
                  </a:extLst>
                </p:cNvPr>
                <p:cNvPicPr preferRelativeResize="0"/>
                <p:nvPr/>
              </p:nvPicPr>
              <p:blipFill rotWithShape="1">
                <a:blip r:embed="rId3">
                  <a:alphaModFix/>
                </a:blip>
                <a:srcRect/>
                <a:stretch/>
              </p:blipFill>
              <p:spPr>
                <a:xfrm>
                  <a:off x="5539080" y="2010359"/>
                  <a:ext cx="660717" cy="660718"/>
                </a:xfrm>
                <a:prstGeom prst="rect">
                  <a:avLst/>
                </a:prstGeom>
                <a:noFill/>
                <a:ln>
                  <a:noFill/>
                </a:ln>
              </p:spPr>
            </p:pic>
            <p:sp>
              <p:nvSpPr>
                <p:cNvPr id="192" name="Google Shape;505;g3a8a166b9a7_8_346">
                  <a:extLst>
                    <a:ext uri="{FF2B5EF4-FFF2-40B4-BE49-F238E27FC236}">
                      <a16:creationId xmlns:a16="http://schemas.microsoft.com/office/drawing/2014/main" id="{D2A0F643-D278-C1D5-43AE-B1D791C3EAA4}"/>
                    </a:ext>
                  </a:extLst>
                </p:cNvPr>
                <p:cNvSpPr/>
                <p:nvPr/>
              </p:nvSpPr>
              <p:spPr>
                <a:xfrm>
                  <a:off x="5074890" y="2603392"/>
                  <a:ext cx="1254882" cy="637095"/>
                </a:xfrm>
                <a:prstGeom prst="flowChartAlternateProcess">
                  <a:avLst/>
                </a:prstGeom>
                <a:solidFill>
                  <a:srgbClr val="85AEAD"/>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3" name="Google Shape;506;g3a8a166b9a7_8_346">
                  <a:extLst>
                    <a:ext uri="{FF2B5EF4-FFF2-40B4-BE49-F238E27FC236}">
                      <a16:creationId xmlns:a16="http://schemas.microsoft.com/office/drawing/2014/main" id="{6BF507E6-2184-3C08-024A-258B6722042F}"/>
                    </a:ext>
                  </a:extLst>
                </p:cNvPr>
                <p:cNvSpPr/>
                <p:nvPr/>
              </p:nvSpPr>
              <p:spPr>
                <a:xfrm rot="-1573174">
                  <a:off x="4722195" y="3724733"/>
                  <a:ext cx="1145800" cy="417133"/>
                </a:xfrm>
                <a:prstGeom prst="curvedUpArrow">
                  <a:avLst>
                    <a:gd name="adj1" fmla="val 25000"/>
                    <a:gd name="adj2" fmla="val 50000"/>
                    <a:gd name="adj3" fmla="val 25000"/>
                  </a:avLst>
                </a:prstGeom>
                <a:solidFill>
                  <a:srgbClr val="85AEAD"/>
                </a:solidFill>
                <a:ln w="9525" cap="flat" cmpd="sng">
                  <a:solidFill>
                    <a:srgbClr val="17201F"/>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4" name="Google Shape;507;g3a8a166b9a7_8_346">
                  <a:extLst>
                    <a:ext uri="{FF2B5EF4-FFF2-40B4-BE49-F238E27FC236}">
                      <a16:creationId xmlns:a16="http://schemas.microsoft.com/office/drawing/2014/main" id="{23C53800-63AC-2CB6-15CD-048DF7F37DB2}"/>
                    </a:ext>
                  </a:extLst>
                </p:cNvPr>
                <p:cNvSpPr/>
                <p:nvPr/>
              </p:nvSpPr>
              <p:spPr>
                <a:xfrm rot="5400000">
                  <a:off x="5403442" y="1608910"/>
                  <a:ext cx="64592" cy="680614"/>
                </a:xfrm>
                <a:prstGeom prst="rightBrace">
                  <a:avLst>
                    <a:gd name="adj1" fmla="val 8333"/>
                    <a:gd name="adj2" fmla="val 50000"/>
                  </a:avLst>
                </a:prstGeom>
                <a:noFill/>
                <a:ln w="9525" cap="flat" cmpd="sng">
                  <a:solidFill>
                    <a:srgbClr val="217378"/>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endParaRPr lang="es-ES_tradnl" sz="15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195" name="Google Shape;508;g3a8a166b9a7_8_346">
                  <a:extLst>
                    <a:ext uri="{FF2B5EF4-FFF2-40B4-BE49-F238E27FC236}">
                      <a16:creationId xmlns:a16="http://schemas.microsoft.com/office/drawing/2014/main" id="{EBE9C02F-1906-A888-DB11-787D27F58118}"/>
                    </a:ext>
                  </a:extLst>
                </p:cNvPr>
                <p:cNvSpPr txBox="1"/>
                <p:nvPr/>
              </p:nvSpPr>
              <p:spPr>
                <a:xfrm>
                  <a:off x="6628006" y="2542332"/>
                  <a:ext cx="2190568" cy="847900"/>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solidFill>
                        <a:prstClr val="white"/>
                      </a:solidFill>
                      <a:latin typeface="Poppins" panose="00000500000000000000" pitchFamily="2" charset="0"/>
                      <a:ea typeface="Calibri"/>
                      <a:cs typeface="Poppins" panose="00000500000000000000" pitchFamily="2" charset="0"/>
                      <a:sym typeface="Calibri"/>
                    </a:rPr>
                    <a:t>TEA</a:t>
                  </a:r>
                  <a:endParaRPr lang="es-ES_tradnl" sz="1900" kern="1200" noProof="0" dirty="0">
                    <a:latin typeface="Poppins" panose="00000500000000000000" pitchFamily="2" charset="0"/>
                    <a:ea typeface="Calibri"/>
                    <a:cs typeface="Poppins" panose="00000500000000000000" pitchFamily="2" charset="0"/>
                    <a:sym typeface="Calibri"/>
                  </a:endParaRPr>
                </a:p>
              </p:txBody>
            </p:sp>
          </p:grpSp>
          <p:sp>
            <p:nvSpPr>
              <p:cNvPr id="156" name="Google Shape;509;g3a8a166b9a7_8_346">
                <a:extLst>
                  <a:ext uri="{FF2B5EF4-FFF2-40B4-BE49-F238E27FC236}">
                    <a16:creationId xmlns:a16="http://schemas.microsoft.com/office/drawing/2014/main" id="{91290AAB-ECFD-1535-F2CB-5777FC643A1C}"/>
                  </a:ext>
                </a:extLst>
              </p:cNvPr>
              <p:cNvSpPr/>
              <p:nvPr/>
            </p:nvSpPr>
            <p:spPr>
              <a:xfrm>
                <a:off x="4620745" y="4258483"/>
                <a:ext cx="745072" cy="378796"/>
              </a:xfrm>
              <a:prstGeom prst="rect">
                <a:avLst/>
              </a:prstGeom>
              <a:solidFill>
                <a:srgbClr val="E9F8F3">
                  <a:alpha val="50196"/>
                </a:srgbClr>
              </a:solidFill>
              <a:ln w="9525" cap="flat" cmpd="sng">
                <a:solidFill>
                  <a:srgbClr val="21737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200"/>
                  <a:defRPr/>
                </a:pPr>
                <a:r>
                  <a:rPr lang="es-ES_tradnl" sz="1200" kern="1200" noProof="0" dirty="0">
                    <a:solidFill>
                      <a:prstClr val="black"/>
                    </a:solidFill>
                    <a:latin typeface="Poppins" panose="00000500000000000000" pitchFamily="2" charset="0"/>
                    <a:ea typeface="Calibri"/>
                    <a:cs typeface="Poppins" panose="00000500000000000000" pitchFamily="2" charset="0"/>
                    <a:sym typeface="Calibri"/>
                  </a:rPr>
                  <a:t>INPUT</a:t>
                </a:r>
                <a:endParaRPr lang="es-ES_tradnl" sz="1900" kern="1200" noProof="0" dirty="0">
                  <a:latin typeface="Poppins" panose="00000500000000000000" pitchFamily="2" charset="0"/>
                  <a:ea typeface="Calibri"/>
                  <a:cs typeface="Poppins" panose="00000500000000000000" pitchFamily="2" charset="0"/>
                  <a:sym typeface="Calibri"/>
                </a:endParaRPr>
              </a:p>
            </p:txBody>
          </p:sp>
          <p:cxnSp>
            <p:nvCxnSpPr>
              <p:cNvPr id="157" name="Google Shape;510;g3a8a166b9a7_8_346">
                <a:extLst>
                  <a:ext uri="{FF2B5EF4-FFF2-40B4-BE49-F238E27FC236}">
                    <a16:creationId xmlns:a16="http://schemas.microsoft.com/office/drawing/2014/main" id="{52BC3A4C-98C2-68D4-F76B-DCC53CEBF8DB}"/>
                  </a:ext>
                </a:extLst>
              </p:cNvPr>
              <p:cNvCxnSpPr>
                <a:stCxn id="190" idx="0"/>
              </p:cNvCxnSpPr>
              <p:nvPr/>
            </p:nvCxnSpPr>
            <p:spPr>
              <a:xfrm rot="10800000" flipH="1">
                <a:off x="6759636" y="4008743"/>
                <a:ext cx="329100" cy="115500"/>
              </a:xfrm>
              <a:prstGeom prst="bentConnector3">
                <a:avLst>
                  <a:gd name="adj1" fmla="val -49402"/>
                </a:avLst>
              </a:prstGeom>
              <a:noFill/>
              <a:ln w="9525" cap="flat" cmpd="sng">
                <a:solidFill>
                  <a:srgbClr val="354A49"/>
                </a:solidFill>
                <a:prstDash val="solid"/>
                <a:round/>
                <a:headEnd type="none" w="sm" len="sm"/>
                <a:tailEnd type="triangle" w="med" len="med"/>
              </a:ln>
            </p:spPr>
          </p:cxnSp>
          <p:sp>
            <p:nvSpPr>
              <p:cNvPr id="158" name="Google Shape;511;g3a8a166b9a7_8_346">
                <a:extLst>
                  <a:ext uri="{FF2B5EF4-FFF2-40B4-BE49-F238E27FC236}">
                    <a16:creationId xmlns:a16="http://schemas.microsoft.com/office/drawing/2014/main" id="{3D9F7480-1CC9-3D69-67E8-A2B539C0CB8C}"/>
                  </a:ext>
                </a:extLst>
              </p:cNvPr>
              <p:cNvSpPr txBox="1"/>
              <p:nvPr/>
            </p:nvSpPr>
            <p:spPr>
              <a:xfrm>
                <a:off x="7027882" y="3880801"/>
                <a:ext cx="950362" cy="369261"/>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RAROC</a:t>
                </a:r>
                <a:endParaRPr lang="es-ES_tradnl" sz="1900" kern="1200" noProof="0" dirty="0">
                  <a:latin typeface="Poppins" panose="00000500000000000000" pitchFamily="2" charset="0"/>
                  <a:ea typeface="Calibri"/>
                  <a:cs typeface="Poppins" panose="00000500000000000000" pitchFamily="2" charset="0"/>
                  <a:sym typeface="Calibri"/>
                </a:endParaRPr>
              </a:p>
              <a:p>
                <a:pPr defTabSz="1219170">
                  <a:buSzPts val="800"/>
                  <a:defRPr/>
                </a:pPr>
                <a:r>
                  <a:rPr lang="es-ES_tradnl" sz="800" b="1" kern="1200" noProof="0" dirty="0">
                    <a:latin typeface="Poppins" panose="00000500000000000000" pitchFamily="2" charset="0"/>
                    <a:ea typeface="Calibri"/>
                    <a:cs typeface="Poppins" panose="00000500000000000000" pitchFamily="2" charset="0"/>
                    <a:sym typeface="Calibri"/>
                  </a:rPr>
                  <a:t>Objetivo</a:t>
                </a:r>
                <a:endParaRPr lang="es-ES_tradnl" sz="1900" kern="1200" noProof="0" dirty="0">
                  <a:latin typeface="Poppins" panose="00000500000000000000" pitchFamily="2" charset="0"/>
                  <a:ea typeface="Calibri"/>
                  <a:cs typeface="Poppins" panose="00000500000000000000" pitchFamily="2" charset="0"/>
                  <a:sym typeface="Calibri"/>
                </a:endParaRPr>
              </a:p>
            </p:txBody>
          </p:sp>
          <p:sp>
            <p:nvSpPr>
              <p:cNvPr id="159" name="Google Shape;512;g3a8a166b9a7_8_346">
                <a:extLst>
                  <a:ext uri="{FF2B5EF4-FFF2-40B4-BE49-F238E27FC236}">
                    <a16:creationId xmlns:a16="http://schemas.microsoft.com/office/drawing/2014/main" id="{90855782-7818-3998-1EF6-743AE706EBBC}"/>
                  </a:ext>
                </a:extLst>
              </p:cNvPr>
              <p:cNvSpPr txBox="1"/>
              <p:nvPr/>
            </p:nvSpPr>
            <p:spPr>
              <a:xfrm>
                <a:off x="5776217" y="5403293"/>
                <a:ext cx="836053" cy="415428"/>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900" kern="1200" noProof="0" dirty="0">
                    <a:latin typeface="Poppins" panose="00000500000000000000" pitchFamily="2" charset="0"/>
                    <a:ea typeface="Calibri"/>
                    <a:cs typeface="Poppins" panose="00000500000000000000" pitchFamily="2" charset="0"/>
                    <a:sym typeface="Calibri"/>
                  </a:rPr>
                  <a:t>CLV</a:t>
                </a:r>
              </a:p>
            </p:txBody>
          </p:sp>
        </p:grpSp>
        <p:sp>
          <p:nvSpPr>
            <p:cNvPr id="154" name="Google Shape;513;g3a8a166b9a7_8_346">
              <a:extLst>
                <a:ext uri="{FF2B5EF4-FFF2-40B4-BE49-F238E27FC236}">
                  <a16:creationId xmlns:a16="http://schemas.microsoft.com/office/drawing/2014/main" id="{7CFC971E-704F-86E2-E006-8CDD00E3C248}"/>
                </a:ext>
              </a:extLst>
            </p:cNvPr>
            <p:cNvSpPr/>
            <p:nvPr/>
          </p:nvSpPr>
          <p:spPr>
            <a:xfrm>
              <a:off x="5481891" y="4644295"/>
              <a:ext cx="185441" cy="232859"/>
            </a:xfrm>
            <a:prstGeom prst="downArrow">
              <a:avLst>
                <a:gd name="adj1" fmla="val 50000"/>
                <a:gd name="adj2" fmla="val 50000"/>
              </a:avLst>
            </a:prstGeom>
            <a:solidFill>
              <a:srgbClr val="7B7B7B"/>
            </a:solidFill>
            <a:ln>
              <a:noFill/>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grpSp>
      <p:sp>
        <p:nvSpPr>
          <p:cNvPr id="196" name="Google Shape;514;g3a8a166b9a7_8_346">
            <a:extLst>
              <a:ext uri="{FF2B5EF4-FFF2-40B4-BE49-F238E27FC236}">
                <a16:creationId xmlns:a16="http://schemas.microsoft.com/office/drawing/2014/main" id="{68951D2E-BEE3-5277-20B7-8038835B28A3}"/>
              </a:ext>
            </a:extLst>
          </p:cNvPr>
          <p:cNvSpPr/>
          <p:nvPr/>
        </p:nvSpPr>
        <p:spPr>
          <a:xfrm>
            <a:off x="297179" y="2918579"/>
            <a:ext cx="3916640" cy="5564556"/>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sp>
        <p:nvSpPr>
          <p:cNvPr id="197" name="Google Shape;515;g3a8a166b9a7_8_346">
            <a:extLst>
              <a:ext uri="{FF2B5EF4-FFF2-40B4-BE49-F238E27FC236}">
                <a16:creationId xmlns:a16="http://schemas.microsoft.com/office/drawing/2014/main" id="{EDDD0BAC-0485-91B0-BF59-7D5615C8B0FE}"/>
              </a:ext>
            </a:extLst>
          </p:cNvPr>
          <p:cNvSpPr/>
          <p:nvPr/>
        </p:nvSpPr>
        <p:spPr>
          <a:xfrm>
            <a:off x="8348211" y="2921220"/>
            <a:ext cx="3904371" cy="5560693"/>
          </a:xfrm>
          <a:prstGeom prst="rect">
            <a:avLst/>
          </a:prstGeom>
          <a:noFill/>
          <a:ln w="9525" cap="flat" cmpd="sng">
            <a:solidFill>
              <a:srgbClr val="217378"/>
            </a:solidFill>
            <a:prstDash val="dash"/>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latin typeface="Poppins" panose="00000500000000000000" pitchFamily="2" charset="0"/>
              <a:ea typeface="Calibri"/>
              <a:cs typeface="Poppins" panose="00000500000000000000" pitchFamily="2" charset="0"/>
              <a:sym typeface="Calibri"/>
            </a:endParaRPr>
          </a:p>
        </p:txBody>
      </p:sp>
      <p:pic>
        <p:nvPicPr>
          <p:cNvPr id="198" name="Google Shape;530;g3a8a166b9a7_8_346" descr="acoso">
            <a:extLst>
              <a:ext uri="{FF2B5EF4-FFF2-40B4-BE49-F238E27FC236}">
                <a16:creationId xmlns:a16="http://schemas.microsoft.com/office/drawing/2014/main" id="{43CBF1DA-9301-635A-DDBE-BD3D7F55A57C}"/>
              </a:ext>
            </a:extLst>
          </p:cNvPr>
          <p:cNvPicPr preferRelativeResize="0"/>
          <p:nvPr/>
        </p:nvPicPr>
        <p:blipFill rotWithShape="1">
          <a:blip r:embed="rId4">
            <a:clrChange>
              <a:clrFrom>
                <a:srgbClr val="FEFEFE"/>
              </a:clrFrom>
              <a:clrTo>
                <a:srgbClr val="FEFEFE">
                  <a:alpha val="0"/>
                </a:srgbClr>
              </a:clrTo>
            </a:clrChange>
            <a:alphaModFix/>
          </a:blip>
          <a:srcRect/>
          <a:stretch/>
        </p:blipFill>
        <p:spPr>
          <a:xfrm>
            <a:off x="7807014" y="1445973"/>
            <a:ext cx="871948" cy="871948"/>
          </a:xfrm>
          <a:prstGeom prst="rect">
            <a:avLst/>
          </a:prstGeom>
          <a:noFill/>
          <a:ln>
            <a:noFill/>
          </a:ln>
        </p:spPr>
      </p:pic>
      <p:grpSp>
        <p:nvGrpSpPr>
          <p:cNvPr id="199" name="Grupo 14">
            <a:extLst>
              <a:ext uri="{FF2B5EF4-FFF2-40B4-BE49-F238E27FC236}">
                <a16:creationId xmlns:a16="http://schemas.microsoft.com/office/drawing/2014/main" id="{F87140C4-AB6C-A651-7821-F30E9EB6A34C}"/>
              </a:ext>
            </a:extLst>
          </p:cNvPr>
          <p:cNvGrpSpPr/>
          <p:nvPr/>
        </p:nvGrpSpPr>
        <p:grpSpPr>
          <a:xfrm>
            <a:off x="184662" y="4167833"/>
            <a:ext cx="3899441" cy="1316072"/>
            <a:chOff x="116087" y="3490074"/>
            <a:chExt cx="2924581" cy="987054"/>
          </a:xfrm>
        </p:grpSpPr>
        <p:grpSp>
          <p:nvGrpSpPr>
            <p:cNvPr id="200" name="Google Shape;415;g3a8a166b9a7_8_346">
              <a:extLst>
                <a:ext uri="{FF2B5EF4-FFF2-40B4-BE49-F238E27FC236}">
                  <a16:creationId xmlns:a16="http://schemas.microsoft.com/office/drawing/2014/main" id="{6FA0DB0C-69BA-19D0-15BD-2B89501CEEDB}"/>
                </a:ext>
              </a:extLst>
            </p:cNvPr>
            <p:cNvGrpSpPr/>
            <p:nvPr/>
          </p:nvGrpSpPr>
          <p:grpSpPr>
            <a:xfrm>
              <a:off x="766578" y="3692782"/>
              <a:ext cx="2105631" cy="679081"/>
              <a:chOff x="3518200" y="4306705"/>
              <a:chExt cx="5130680" cy="1597696"/>
            </a:xfrm>
          </p:grpSpPr>
          <p:sp>
            <p:nvSpPr>
              <p:cNvPr id="209" name="Google Shape;416;g3a8a166b9a7_8_346">
                <a:extLst>
                  <a:ext uri="{FF2B5EF4-FFF2-40B4-BE49-F238E27FC236}">
                    <a16:creationId xmlns:a16="http://schemas.microsoft.com/office/drawing/2014/main" id="{9DC0D37C-5347-2C71-E545-B7CAC2348E7F}"/>
                  </a:ext>
                </a:extLst>
              </p:cNvPr>
              <p:cNvSpPr txBox="1"/>
              <p:nvPr/>
            </p:nvSpPr>
            <p:spPr>
              <a:xfrm>
                <a:off x="6976693" y="4329616"/>
                <a:ext cx="1657566" cy="498876"/>
              </a:xfrm>
              <a:prstGeom prst="rect">
                <a:avLst/>
              </a:prstGeom>
              <a:solidFill>
                <a:srgbClr val="548135">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p>
            </p:txBody>
          </p:sp>
          <p:grpSp>
            <p:nvGrpSpPr>
              <p:cNvPr id="210" name="Google Shape;417;g3a8a166b9a7_8_346">
                <a:extLst>
                  <a:ext uri="{FF2B5EF4-FFF2-40B4-BE49-F238E27FC236}">
                    <a16:creationId xmlns:a16="http://schemas.microsoft.com/office/drawing/2014/main" id="{87B302E3-63EB-D724-10B5-CE3C7E775389}"/>
                  </a:ext>
                </a:extLst>
              </p:cNvPr>
              <p:cNvGrpSpPr/>
              <p:nvPr/>
            </p:nvGrpSpPr>
            <p:grpSpPr>
              <a:xfrm>
                <a:off x="3518200" y="4306705"/>
                <a:ext cx="5130680" cy="1597696"/>
                <a:chOff x="3501127" y="4310221"/>
                <a:chExt cx="5130680" cy="1597696"/>
              </a:xfrm>
            </p:grpSpPr>
            <p:sp>
              <p:nvSpPr>
                <p:cNvPr id="211" name="Google Shape;418;g3a8a166b9a7_8_346">
                  <a:extLst>
                    <a:ext uri="{FF2B5EF4-FFF2-40B4-BE49-F238E27FC236}">
                      <a16:creationId xmlns:a16="http://schemas.microsoft.com/office/drawing/2014/main" id="{7E33308A-BE97-69A7-B1A5-AE4FD5903FD2}"/>
                    </a:ext>
                  </a:extLst>
                </p:cNvPr>
                <p:cNvSpPr txBox="1"/>
                <p:nvPr/>
              </p:nvSpPr>
              <p:spPr>
                <a:xfrm>
                  <a:off x="3501127" y="4310221"/>
                  <a:ext cx="1682574" cy="498876"/>
                </a:xfrm>
                <a:prstGeom prst="rect">
                  <a:avLst/>
                </a:prstGeom>
                <a:solidFill>
                  <a:srgbClr val="FF9A0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2" name="Google Shape;419;g3a8a166b9a7_8_346">
                  <a:extLst>
                    <a:ext uri="{FF2B5EF4-FFF2-40B4-BE49-F238E27FC236}">
                      <a16:creationId xmlns:a16="http://schemas.microsoft.com/office/drawing/2014/main" id="{95C4D891-4898-74C4-F055-EBC7614259D6}"/>
                    </a:ext>
                  </a:extLst>
                </p:cNvPr>
                <p:cNvSpPr txBox="1"/>
                <p:nvPr/>
              </p:nvSpPr>
              <p:spPr>
                <a:xfrm>
                  <a:off x="3511288" y="4849604"/>
                  <a:ext cx="1674738" cy="498876"/>
                </a:xfrm>
                <a:prstGeom prst="rect">
                  <a:avLst/>
                </a:prstGeom>
                <a:solidFill>
                  <a:srgbClr val="FFF3E1"/>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3" name="Google Shape;420;g3a8a166b9a7_8_346">
                  <a:extLst>
                    <a:ext uri="{FF2B5EF4-FFF2-40B4-BE49-F238E27FC236}">
                      <a16:creationId xmlns:a16="http://schemas.microsoft.com/office/drawing/2014/main" id="{E26480F5-F774-03A5-197C-B84259FD9A42}"/>
                    </a:ext>
                  </a:extLst>
                </p:cNvPr>
                <p:cNvSpPr txBox="1"/>
                <p:nvPr/>
              </p:nvSpPr>
              <p:spPr>
                <a:xfrm>
                  <a:off x="3518201" y="5385549"/>
                  <a:ext cx="1682574" cy="498876"/>
                </a:xfrm>
                <a:prstGeom prst="rect">
                  <a:avLst/>
                </a:prstGeom>
                <a:solidFill>
                  <a:srgbClr val="E5F1D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4" name="Google Shape;421;g3a8a166b9a7_8_346">
                  <a:extLst>
                    <a:ext uri="{FF2B5EF4-FFF2-40B4-BE49-F238E27FC236}">
                      <a16:creationId xmlns:a16="http://schemas.microsoft.com/office/drawing/2014/main" id="{3C2C8DF3-93B5-40ED-4954-739C30361101}"/>
                    </a:ext>
                  </a:extLst>
                </p:cNvPr>
                <p:cNvSpPr txBox="1"/>
                <p:nvPr/>
              </p:nvSpPr>
              <p:spPr>
                <a:xfrm>
                  <a:off x="5232054" y="4320380"/>
                  <a:ext cx="1674752" cy="498876"/>
                </a:xfrm>
                <a:prstGeom prst="rect">
                  <a:avLst/>
                </a:prstGeom>
                <a:solidFill>
                  <a:srgbClr val="FFD79B">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5" name="Google Shape;422;g3a8a166b9a7_8_346">
                  <a:extLst>
                    <a:ext uri="{FF2B5EF4-FFF2-40B4-BE49-F238E27FC236}">
                      <a16:creationId xmlns:a16="http://schemas.microsoft.com/office/drawing/2014/main" id="{A7E336DB-3708-811B-A4C9-9237B95C4A1F}"/>
                    </a:ext>
                  </a:extLst>
                </p:cNvPr>
                <p:cNvSpPr txBox="1"/>
                <p:nvPr/>
              </p:nvSpPr>
              <p:spPr>
                <a:xfrm>
                  <a:off x="5234393" y="4859764"/>
                  <a:ext cx="1682574" cy="498876"/>
                </a:xfrm>
                <a:prstGeom prst="rect">
                  <a:avLst/>
                </a:prstGeom>
                <a:solidFill>
                  <a:srgbClr val="A8D08C">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6" name="Google Shape;423;g3a8a166b9a7_8_346">
                  <a:extLst>
                    <a:ext uri="{FF2B5EF4-FFF2-40B4-BE49-F238E27FC236}">
                      <a16:creationId xmlns:a16="http://schemas.microsoft.com/office/drawing/2014/main" id="{7F48CB69-36A1-29F0-0A1F-7816FB1A4029}"/>
                    </a:ext>
                  </a:extLst>
                </p:cNvPr>
                <p:cNvSpPr txBox="1"/>
                <p:nvPr/>
              </p:nvSpPr>
              <p:spPr>
                <a:xfrm>
                  <a:off x="5242329" y="5409041"/>
                  <a:ext cx="168257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7" name="Google Shape;424;g3a8a166b9a7_8_346">
                  <a:extLst>
                    <a:ext uri="{FF2B5EF4-FFF2-40B4-BE49-F238E27FC236}">
                      <a16:creationId xmlns:a16="http://schemas.microsoft.com/office/drawing/2014/main" id="{2FFFB5D6-EAA8-C3D6-9210-9381054B2B07}"/>
                    </a:ext>
                  </a:extLst>
                </p:cNvPr>
                <p:cNvSpPr txBox="1"/>
                <p:nvPr/>
              </p:nvSpPr>
              <p:spPr>
                <a:xfrm>
                  <a:off x="6963911" y="4881787"/>
                  <a:ext cx="1653273" cy="498876"/>
                </a:xfrm>
                <a:prstGeom prst="rect">
                  <a:avLst/>
                </a:prstGeom>
                <a:solidFill>
                  <a:srgbClr val="385623">
                    <a:alpha val="30196"/>
                  </a:srgbClr>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sp>
              <p:nvSpPr>
                <p:cNvPr id="218" name="Google Shape;425;g3a8a166b9a7_8_346">
                  <a:extLst>
                    <a:ext uri="{FF2B5EF4-FFF2-40B4-BE49-F238E27FC236}">
                      <a16:creationId xmlns:a16="http://schemas.microsoft.com/office/drawing/2014/main" id="{EF31B44B-F95D-3469-982E-0466D02A4AF6}"/>
                    </a:ext>
                  </a:extLst>
                </p:cNvPr>
                <p:cNvSpPr txBox="1"/>
                <p:nvPr/>
              </p:nvSpPr>
              <p:spPr>
                <a:xfrm>
                  <a:off x="6971143" y="5407191"/>
                  <a:ext cx="1660664" cy="498876"/>
                </a:xfrm>
                <a:prstGeom prst="rect">
                  <a:avLst/>
                </a:prstGeom>
                <a:solidFill>
                  <a:srgbClr val="C3CCBD"/>
                </a:solid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600"/>
                    <a:defRPr/>
                  </a:pPr>
                  <a:r>
                    <a:rPr lang="es-ES_tradnl" sz="1333" kern="1200" noProof="0" dirty="0">
                      <a:solidFill>
                        <a:prstClr val="black"/>
                      </a:solidFill>
                      <a:latin typeface="Poppins" panose="00000500000000000000" pitchFamily="2" charset="0"/>
                      <a:ea typeface="Calibri"/>
                      <a:cs typeface="Poppins" panose="00000500000000000000" pitchFamily="2" charset="0"/>
                      <a:sym typeface="Calibri"/>
                    </a:rPr>
                    <a:t>%</a:t>
                  </a:r>
                  <a:endParaRPr lang="es-ES_tradnl" sz="1600" kern="1200" noProof="0" dirty="0">
                    <a:solidFill>
                      <a:prstClr val="black"/>
                    </a:solidFill>
                    <a:latin typeface="Poppins" panose="00000500000000000000" pitchFamily="2" charset="0"/>
                    <a:ea typeface="Calibri"/>
                    <a:cs typeface="Poppins" panose="00000500000000000000" pitchFamily="2" charset="0"/>
                    <a:sym typeface="Calibri"/>
                  </a:endParaRPr>
                </a:p>
              </p:txBody>
            </p:sp>
          </p:grpSp>
        </p:grpSp>
        <p:sp>
          <p:nvSpPr>
            <p:cNvPr id="201" name="Google Shape;426;g3a8a166b9a7_8_346">
              <a:extLst>
                <a:ext uri="{FF2B5EF4-FFF2-40B4-BE49-F238E27FC236}">
                  <a16:creationId xmlns:a16="http://schemas.microsoft.com/office/drawing/2014/main" id="{C3CD9FB1-B9C9-0993-F1DC-749B57795D4C}"/>
                </a:ext>
              </a:extLst>
            </p:cNvPr>
            <p:cNvSpPr txBox="1"/>
            <p:nvPr/>
          </p:nvSpPr>
          <p:spPr>
            <a:xfrm>
              <a:off x="770767" y="3509978"/>
              <a:ext cx="696197" cy="150240"/>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Bajo </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2" name="Google Shape;427;g3a8a166b9a7_8_346">
              <a:extLst>
                <a:ext uri="{FF2B5EF4-FFF2-40B4-BE49-F238E27FC236}">
                  <a16:creationId xmlns:a16="http://schemas.microsoft.com/office/drawing/2014/main" id="{C766F297-8812-AC95-D233-8DBF0669A89D}"/>
                </a:ext>
              </a:extLst>
            </p:cNvPr>
            <p:cNvSpPr txBox="1"/>
            <p:nvPr/>
          </p:nvSpPr>
          <p:spPr>
            <a:xfrm>
              <a:off x="1472474" y="3490074"/>
              <a:ext cx="687317"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Medio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3" name="Google Shape;428;g3a8a166b9a7_8_346">
              <a:extLst>
                <a:ext uri="{FF2B5EF4-FFF2-40B4-BE49-F238E27FC236}">
                  <a16:creationId xmlns:a16="http://schemas.microsoft.com/office/drawing/2014/main" id="{6B535551-E5A9-AE86-FF59-CBB68FEAD4A7}"/>
                </a:ext>
              </a:extLst>
            </p:cNvPr>
            <p:cNvSpPr txBox="1"/>
            <p:nvPr/>
          </p:nvSpPr>
          <p:spPr>
            <a:xfrm>
              <a:off x="2195549" y="3490074"/>
              <a:ext cx="670658" cy="190049"/>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300"/>
                <a:defRPr/>
              </a:pP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Alto</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cxnSp>
          <p:nvCxnSpPr>
            <p:cNvPr id="204" name="Google Shape;429;g3a8a166b9a7_8_346">
              <a:extLst>
                <a:ext uri="{FF2B5EF4-FFF2-40B4-BE49-F238E27FC236}">
                  <a16:creationId xmlns:a16="http://schemas.microsoft.com/office/drawing/2014/main" id="{467B70AA-DB9E-4503-0D7B-31C0E1E0B12E}"/>
                </a:ext>
              </a:extLst>
            </p:cNvPr>
            <p:cNvCxnSpPr/>
            <p:nvPr/>
          </p:nvCxnSpPr>
          <p:spPr>
            <a:xfrm>
              <a:off x="773585" y="3653023"/>
              <a:ext cx="2267083" cy="9158"/>
            </a:xfrm>
            <a:prstGeom prst="straightConnector1">
              <a:avLst/>
            </a:prstGeom>
            <a:noFill/>
            <a:ln w="9525" cap="flat" cmpd="sng">
              <a:solidFill>
                <a:srgbClr val="354A49"/>
              </a:solidFill>
              <a:prstDash val="solid"/>
              <a:round/>
              <a:headEnd type="none" w="sm" len="sm"/>
              <a:tailEnd type="triangle" w="med" len="med"/>
            </a:ln>
          </p:spPr>
        </p:cxnSp>
        <p:cxnSp>
          <p:nvCxnSpPr>
            <p:cNvPr id="205" name="Google Shape;430;g3a8a166b9a7_8_346">
              <a:extLst>
                <a:ext uri="{FF2B5EF4-FFF2-40B4-BE49-F238E27FC236}">
                  <a16:creationId xmlns:a16="http://schemas.microsoft.com/office/drawing/2014/main" id="{D368FEAE-E3A1-0B8B-84A0-C654C1AE651A}"/>
                </a:ext>
              </a:extLst>
            </p:cNvPr>
            <p:cNvCxnSpPr/>
            <p:nvPr/>
          </p:nvCxnSpPr>
          <p:spPr>
            <a:xfrm>
              <a:off x="726101" y="3707802"/>
              <a:ext cx="0" cy="769326"/>
            </a:xfrm>
            <a:prstGeom prst="straightConnector1">
              <a:avLst/>
            </a:prstGeom>
            <a:noFill/>
            <a:ln w="9525" cap="flat" cmpd="sng">
              <a:solidFill>
                <a:srgbClr val="354A49"/>
              </a:solidFill>
              <a:prstDash val="solid"/>
              <a:round/>
              <a:headEnd type="none" w="sm" len="sm"/>
              <a:tailEnd type="triangle" w="med" len="med"/>
            </a:ln>
          </p:spPr>
        </p:cxnSp>
        <p:sp>
          <p:nvSpPr>
            <p:cNvPr id="206" name="Google Shape;432;g3a8a166b9a7_8_346">
              <a:extLst>
                <a:ext uri="{FF2B5EF4-FFF2-40B4-BE49-F238E27FC236}">
                  <a16:creationId xmlns:a16="http://schemas.microsoft.com/office/drawing/2014/main" id="{1058903D-B4C4-7D8A-9076-6AE649B46D00}"/>
                </a:ext>
              </a:extLst>
            </p:cNvPr>
            <p:cNvSpPr txBox="1"/>
            <p:nvPr/>
          </p:nvSpPr>
          <p:spPr>
            <a:xfrm>
              <a:off x="116087" y="3927296"/>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B</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7" name="Google Shape;432;g3a8a166b9a7_8_346">
              <a:extLst>
                <a:ext uri="{FF2B5EF4-FFF2-40B4-BE49-F238E27FC236}">
                  <a16:creationId xmlns:a16="http://schemas.microsoft.com/office/drawing/2014/main" id="{70B4CF8B-EB20-3EE1-BE69-9E7C3614A50D}"/>
                </a:ext>
              </a:extLst>
            </p:cNvPr>
            <p:cNvSpPr txBox="1"/>
            <p:nvPr/>
          </p:nvSpPr>
          <p:spPr>
            <a:xfrm>
              <a:off x="122408" y="3693398"/>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A</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sp>
          <p:nvSpPr>
            <p:cNvPr id="208" name="Google Shape;432;g3a8a166b9a7_8_346">
              <a:extLst>
                <a:ext uri="{FF2B5EF4-FFF2-40B4-BE49-F238E27FC236}">
                  <a16:creationId xmlns:a16="http://schemas.microsoft.com/office/drawing/2014/main" id="{87B48BE3-4BCF-CC61-E78B-EB97CAB8CC43}"/>
                </a:ext>
              </a:extLst>
            </p:cNvPr>
            <p:cNvSpPr txBox="1"/>
            <p:nvPr/>
          </p:nvSpPr>
          <p:spPr>
            <a:xfrm>
              <a:off x="117621" y="4155780"/>
              <a:ext cx="590884" cy="221168"/>
            </a:xfrm>
            <a:prstGeom prst="rect">
              <a:avLst/>
            </a:prstGeom>
            <a:noFill/>
            <a:ln>
              <a:noFill/>
            </a:ln>
          </p:spPr>
          <p:txBody>
            <a:bodyPr spcFirstLastPara="1" wrap="square" lIns="195775" tIns="59925" rIns="59925" bIns="59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r" defTabSz="1219170">
                <a:buSzPts val="1300"/>
                <a:defRPr/>
              </a:pPr>
              <a:r>
                <a:rPr lang="es-ES_tradnl" sz="1067" b="1" kern="1200" noProof="0" dirty="0" err="1">
                  <a:solidFill>
                    <a:srgbClr val="0C0C0C"/>
                  </a:solidFill>
                  <a:latin typeface="Poppins" panose="00000500000000000000" pitchFamily="2" charset="0"/>
                  <a:ea typeface="Calibri"/>
                  <a:cs typeface="Poppins" panose="00000500000000000000" pitchFamily="2" charset="0"/>
                  <a:sym typeface="Calibri"/>
                </a:rPr>
                <a:t>Seg</a:t>
              </a:r>
              <a:r>
                <a:rPr lang="es-ES_tradnl" sz="1067" b="1" kern="1200" noProof="0" dirty="0">
                  <a:solidFill>
                    <a:srgbClr val="0C0C0C"/>
                  </a:solidFill>
                  <a:latin typeface="Poppins" panose="00000500000000000000" pitchFamily="2" charset="0"/>
                  <a:ea typeface="Calibri"/>
                  <a:cs typeface="Poppins" panose="00000500000000000000" pitchFamily="2" charset="0"/>
                  <a:sym typeface="Calibri"/>
                </a:rPr>
                <a:t>. N</a:t>
              </a:r>
              <a:endParaRPr lang="es-ES_tradnl" sz="1067" kern="1200" noProof="0" dirty="0">
                <a:solidFill>
                  <a:srgbClr val="0C0C0C"/>
                </a:solidFill>
                <a:latin typeface="Poppins" panose="00000500000000000000" pitchFamily="2" charset="0"/>
                <a:ea typeface="Calibri"/>
                <a:cs typeface="Poppins" panose="00000500000000000000" pitchFamily="2" charset="0"/>
                <a:sym typeface="Calibri"/>
              </a:endParaRPr>
            </a:p>
          </p:txBody>
        </p:sp>
      </p:grpSp>
      <p:sp>
        <p:nvSpPr>
          <p:cNvPr id="219" name="Google Shape;451;g3a8a166b9a7_8_346">
            <a:extLst>
              <a:ext uri="{FF2B5EF4-FFF2-40B4-BE49-F238E27FC236}">
                <a16:creationId xmlns:a16="http://schemas.microsoft.com/office/drawing/2014/main" id="{1BE4D8B8-2AEA-D38C-EC80-020916AF3BD4}"/>
              </a:ext>
            </a:extLst>
          </p:cNvPr>
          <p:cNvSpPr txBox="1"/>
          <p:nvPr/>
        </p:nvSpPr>
        <p:spPr>
          <a:xfrm>
            <a:off x="469906" y="6511523"/>
            <a:ext cx="3545753"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Construcción de segmentación</a:t>
            </a: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Ajuste con data real (en curso)</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a:t>
            </a:r>
            <a:r>
              <a:rPr lang="es-ES_tradnl" sz="1467" b="1" kern="1200" noProof="0" dirty="0">
                <a:latin typeface="Poppins" panose="00000500000000000000" pitchFamily="2" charset="0"/>
                <a:ea typeface="Calibri"/>
                <a:cs typeface="Poppins" panose="00000500000000000000" pitchFamily="2" charset="0"/>
                <a:sym typeface="Calibri"/>
              </a:rPr>
              <a:t>Definición del RAROC Objetivo y mínimo </a:t>
            </a:r>
            <a:r>
              <a:rPr lang="es-ES_tradnl" sz="1467" kern="1200" noProof="0" dirty="0">
                <a:latin typeface="Poppins" panose="00000500000000000000" pitchFamily="2" charset="0"/>
                <a:ea typeface="Calibri"/>
                <a:cs typeface="Poppins" panose="00000500000000000000" pitchFamily="2" charset="0"/>
                <a:sym typeface="Calibri"/>
              </a:rPr>
              <a:t>por segmento</a:t>
            </a:r>
          </a:p>
        </p:txBody>
      </p:sp>
      <p:sp>
        <p:nvSpPr>
          <p:cNvPr id="220" name="Google Shape;451;g3a8a166b9a7_8_346">
            <a:extLst>
              <a:ext uri="{FF2B5EF4-FFF2-40B4-BE49-F238E27FC236}">
                <a16:creationId xmlns:a16="http://schemas.microsoft.com/office/drawing/2014/main" id="{6B23F29F-9784-D594-43FB-E23BF0571F15}"/>
              </a:ext>
            </a:extLst>
          </p:cNvPr>
          <p:cNvSpPr txBox="1"/>
          <p:nvPr/>
        </p:nvSpPr>
        <p:spPr>
          <a:xfrm>
            <a:off x="4400880" y="6511523"/>
            <a:ext cx="3782457"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Herramientas: </a:t>
            </a:r>
            <a:r>
              <a:rPr lang="es-ES_tradnl" sz="1467" b="1" kern="1200" noProof="0" dirty="0">
                <a:latin typeface="Poppins" panose="00000500000000000000" pitchFamily="2" charset="0"/>
                <a:ea typeface="Calibri"/>
                <a:cs typeface="Poppins" panose="00000500000000000000" pitchFamily="2" charset="0"/>
                <a:sym typeface="Calibri"/>
              </a:rPr>
              <a:t>curvas </a:t>
            </a:r>
            <a:r>
              <a:rPr lang="es-ES_tradnl" sz="1467" b="1" kern="1200" noProof="0" dirty="0" err="1">
                <a:latin typeface="Poppins" panose="00000500000000000000" pitchFamily="2" charset="0"/>
                <a:ea typeface="Calibri"/>
                <a:cs typeface="Poppins" panose="00000500000000000000" pitchFamily="2" charset="0"/>
                <a:sym typeface="Calibri"/>
              </a:rPr>
              <a:t>lifetime</a:t>
            </a:r>
            <a:r>
              <a:rPr lang="es-ES_tradnl" sz="1467" b="1" kern="1200" noProof="0" dirty="0">
                <a:latin typeface="Poppins" panose="00000500000000000000" pitchFamily="2" charset="0"/>
                <a:ea typeface="Calibri"/>
                <a:cs typeface="Poppins" panose="00000500000000000000" pitchFamily="2" charset="0"/>
                <a:sym typeface="Calibri"/>
              </a:rPr>
              <a:t> de prepagos, cancelaciones, LGD, PD &amp; componente de capital</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panose="00000500000000000000" pitchFamily="2" charset="0"/>
                <a:ea typeface="Calibri"/>
                <a:cs typeface="Poppins" panose="00000500000000000000" pitchFamily="2" charset="0"/>
                <a:sym typeface="Calibri"/>
              </a:rPr>
              <a:t>Next step: Cálculo de </a:t>
            </a:r>
            <a:r>
              <a:rPr lang="es-ES_tradnl" sz="1467" b="1" kern="1200" noProof="0" dirty="0">
                <a:latin typeface="Poppins" panose="00000500000000000000" pitchFamily="2" charset="0"/>
                <a:ea typeface="Calibri"/>
                <a:cs typeface="Poppins" panose="00000500000000000000" pitchFamily="2" charset="0"/>
                <a:sym typeface="Calibri"/>
              </a:rPr>
              <a:t>tasa alineada al RAROC </a:t>
            </a:r>
            <a:r>
              <a:rPr lang="es-ES_tradnl" sz="1467" kern="1200" noProof="0" dirty="0">
                <a:latin typeface="Poppins" panose="00000500000000000000" pitchFamily="2" charset="0"/>
                <a:ea typeface="Calibri"/>
                <a:cs typeface="Poppins" panose="00000500000000000000" pitchFamily="2" charset="0"/>
                <a:sym typeface="Calibri"/>
              </a:rPr>
              <a:t>objetivo</a:t>
            </a:r>
          </a:p>
        </p:txBody>
      </p:sp>
      <p:sp>
        <p:nvSpPr>
          <p:cNvPr id="221" name="Google Shape;451;g3a8a166b9a7_8_346">
            <a:extLst>
              <a:ext uri="{FF2B5EF4-FFF2-40B4-BE49-F238E27FC236}">
                <a16:creationId xmlns:a16="http://schemas.microsoft.com/office/drawing/2014/main" id="{35618DDD-0242-FC77-D2C2-C3F5B44F44B4}"/>
              </a:ext>
            </a:extLst>
          </p:cNvPr>
          <p:cNvSpPr txBox="1"/>
          <p:nvPr/>
        </p:nvSpPr>
        <p:spPr>
          <a:xfrm>
            <a:off x="8349421" y="6511523"/>
            <a:ext cx="4067684" cy="147764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228594" indent="-228594" defTabSz="1219170">
              <a:buSzPts val="1500"/>
              <a:buFont typeface="Arial"/>
              <a:buChar char="•"/>
              <a:defRPr/>
            </a:pPr>
            <a:r>
              <a:rPr lang="es-ES_tradnl" sz="1467" kern="1200" noProof="0" dirty="0">
                <a:latin typeface="Poppins"/>
                <a:ea typeface="Calibri"/>
                <a:cs typeface="Poppins"/>
                <a:sym typeface="Calibri"/>
              </a:rPr>
              <a:t>Modelo econométrico de elasticidad por </a:t>
            </a:r>
            <a:r>
              <a:rPr lang="es-ES_tradnl" sz="1467" kern="1200" noProof="0" dirty="0" err="1">
                <a:latin typeface="Poppins"/>
                <a:ea typeface="Calibri"/>
                <a:cs typeface="Poppins"/>
                <a:sym typeface="Calibri"/>
              </a:rPr>
              <a:t>cluster</a:t>
            </a:r>
            <a:endParaRPr lang="es-ES_tradnl" sz="1467" kern="1200" noProof="0" dirty="0">
              <a:latin typeface="Poppins"/>
              <a:ea typeface="Calibri"/>
              <a:cs typeface="Poppins"/>
              <a:sym typeface="Calibri"/>
            </a:endParaRPr>
          </a:p>
          <a:p>
            <a:pPr marL="228594" indent="-228594" defTabSz="1219170">
              <a:buSzPts val="1500"/>
              <a:buFont typeface="Arial"/>
              <a:buChar char="•"/>
              <a:defRPr/>
            </a:pPr>
            <a:r>
              <a:rPr lang="es-ES_tradnl" sz="1467" kern="1200" noProof="0" dirty="0">
                <a:latin typeface="Poppins" panose="00000500000000000000" pitchFamily="2" charset="0"/>
                <a:ea typeface="Calibri"/>
                <a:cs typeface="Poppins" panose="00000500000000000000" pitchFamily="2" charset="0"/>
                <a:sym typeface="Calibri"/>
              </a:rPr>
              <a:t>Análisis táctico de competencia</a:t>
            </a:r>
          </a:p>
          <a:p>
            <a:pPr defTabSz="1219170">
              <a:buSzPts val="1500"/>
              <a:defRPr/>
            </a:pPr>
            <a:endParaRPr lang="es-ES_tradnl" sz="1467" kern="1200" noProof="0" dirty="0">
              <a:latin typeface="Poppins" panose="00000500000000000000" pitchFamily="2" charset="0"/>
              <a:ea typeface="Calibri"/>
              <a:cs typeface="Poppins" panose="00000500000000000000" pitchFamily="2" charset="0"/>
              <a:sym typeface="Calibri"/>
            </a:endParaRPr>
          </a:p>
          <a:p>
            <a:pPr defTabSz="1219170">
              <a:buSzPts val="1500"/>
              <a:defRPr/>
            </a:pPr>
            <a:r>
              <a:rPr lang="es-ES_tradnl" sz="1467" kern="1200" noProof="0" dirty="0">
                <a:latin typeface="Poppins"/>
                <a:ea typeface="Calibri"/>
                <a:cs typeface="Poppins"/>
                <a:sym typeface="Calibri"/>
              </a:rPr>
              <a:t>Oportunidad: Validar </a:t>
            </a:r>
            <a:r>
              <a:rPr lang="es-ES_tradnl" sz="1467" b="1" kern="1200" noProof="0" dirty="0">
                <a:latin typeface="Poppins"/>
                <a:ea typeface="Calibri"/>
                <a:cs typeface="Poppins"/>
                <a:sym typeface="Calibri"/>
              </a:rPr>
              <a:t>sinergia</a:t>
            </a:r>
            <a:r>
              <a:rPr lang="es-ES_tradnl" sz="1467" kern="1200" noProof="0" dirty="0">
                <a:latin typeface="Poppins"/>
                <a:ea typeface="Calibri"/>
                <a:cs typeface="Poppins"/>
                <a:sym typeface="Calibri"/>
              </a:rPr>
              <a:t> con modelos de </a:t>
            </a:r>
            <a:r>
              <a:rPr lang="es-ES_tradnl" sz="1467" b="1" kern="1200" noProof="0" dirty="0" err="1">
                <a:latin typeface="Poppins"/>
                <a:ea typeface="Calibri"/>
                <a:cs typeface="Poppins"/>
                <a:sym typeface="Calibri"/>
              </a:rPr>
              <a:t>retail</a:t>
            </a:r>
            <a:r>
              <a:rPr lang="es-ES_tradnl" sz="1467" kern="1200" noProof="0" dirty="0">
                <a:latin typeface="Poppins"/>
                <a:ea typeface="Calibri"/>
                <a:cs typeface="Poppins"/>
                <a:sym typeface="Calibri"/>
              </a:rPr>
              <a:t> para BN</a:t>
            </a:r>
            <a:endParaRPr lang="es-ES_tradnl" sz="1400" kern="1200" noProof="0" dirty="0"/>
          </a:p>
        </p:txBody>
      </p:sp>
      <p:sp>
        <p:nvSpPr>
          <p:cNvPr id="222" name="Google Shape;450;g3a8a166b9a7_8_346">
            <a:extLst>
              <a:ext uri="{FF2B5EF4-FFF2-40B4-BE49-F238E27FC236}">
                <a16:creationId xmlns:a16="http://schemas.microsoft.com/office/drawing/2014/main" id="{46E5E1F4-9244-2D40-6138-EEA0086C455F}"/>
              </a:ext>
            </a:extLst>
          </p:cNvPr>
          <p:cNvSpPr txBox="1"/>
          <p:nvPr/>
        </p:nvSpPr>
        <p:spPr>
          <a:xfrm>
            <a:off x="12464230" y="5610447"/>
            <a:ext cx="3282809" cy="615482"/>
          </a:xfrm>
          <a:prstGeom prst="rect">
            <a:avLst/>
          </a:prstGeom>
          <a:noFill/>
          <a:ln>
            <a:noFill/>
          </a:ln>
        </p:spPr>
        <p:txBody>
          <a:bodyPr spcFirstLastPara="1" wrap="square" lIns="121900" tIns="60925" rIns="121900" bIns="609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500"/>
              <a:defRPr/>
            </a:pPr>
            <a:r>
              <a:rPr lang="es-ES_tradnl" sz="1600" b="1" kern="1200" noProof="0" dirty="0">
                <a:latin typeface="Poppins" panose="00000500000000000000" pitchFamily="2" charset="0"/>
                <a:ea typeface="Calibri"/>
                <a:cs typeface="Poppins" panose="00000500000000000000" pitchFamily="2" charset="0"/>
                <a:sym typeface="Calibri"/>
              </a:rPr>
              <a:t>Gestión de excepciones (vista cliente + rentabilidad)</a:t>
            </a:r>
          </a:p>
        </p:txBody>
      </p:sp>
      <p:pic>
        <p:nvPicPr>
          <p:cNvPr id="223" name="Imagen 29" descr="cumplimiento del proyecto ">
            <a:extLst>
              <a:ext uri="{FF2B5EF4-FFF2-40B4-BE49-F238E27FC236}">
                <a16:creationId xmlns:a16="http://schemas.microsoft.com/office/drawing/2014/main" id="{7ECD2481-64D0-AB84-8532-F2B403F5BDC7}"/>
              </a:ext>
            </a:extLst>
          </p:cNvPr>
          <p:cNvPicPr>
            <a:picLocks noChangeAspect="1"/>
          </p:cNvPicPr>
          <p:nvPr/>
        </p:nvPicPr>
        <p:blipFill>
          <a:blip r:embed="rId5"/>
          <a:stretch>
            <a:fillRect/>
          </a:stretch>
        </p:blipFill>
        <p:spPr>
          <a:xfrm>
            <a:off x="13531210" y="3964524"/>
            <a:ext cx="1290601" cy="1290601"/>
          </a:xfrm>
          <a:prstGeom prst="rect">
            <a:avLst/>
          </a:prstGeom>
        </p:spPr>
      </p:pic>
      <p:sp>
        <p:nvSpPr>
          <p:cNvPr id="3" name="Google Shape;514;g3a8a166b9a7_8_346">
            <a:extLst>
              <a:ext uri="{FF2B5EF4-FFF2-40B4-BE49-F238E27FC236}">
                <a16:creationId xmlns:a16="http://schemas.microsoft.com/office/drawing/2014/main" id="{62598638-B55D-9DC5-9393-3C423C9E6855}"/>
              </a:ext>
            </a:extLst>
          </p:cNvPr>
          <p:cNvSpPr/>
          <p:nvPr/>
        </p:nvSpPr>
        <p:spPr>
          <a:xfrm>
            <a:off x="12185888" y="2918579"/>
            <a:ext cx="3916640" cy="5564556"/>
          </a:xfrm>
          <a:prstGeom prst="rect">
            <a:avLst/>
          </a:prstGeom>
          <a:noFill/>
          <a:ln w="38100" cap="flat" cmpd="sng">
            <a:solidFill>
              <a:srgbClr val="000000"/>
            </a:solidFill>
            <a:prstDash val="solid"/>
            <a:round/>
            <a:headEnd type="none" w="sm" len="sm"/>
            <a:tailEnd type="none" w="sm" len="sm"/>
          </a:ln>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endParaRPr lang="es-ES_tradnl" sz="1900" kern="1200" noProof="0" dirty="0">
              <a:solidFill>
                <a:prstClr val="white"/>
              </a:solidFill>
              <a:highlight>
                <a:srgbClr val="006C80"/>
              </a:highlight>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3456142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81B4E-8F5F-3B1D-8095-E4156CFBC51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A5BB73-8DD7-47E4-DFF6-C1E1971CB043}"/>
              </a:ext>
            </a:extLst>
          </p:cNvPr>
          <p:cNvSpPr/>
          <p:nvPr/>
        </p:nvSpPr>
        <p:spPr>
          <a:xfrm>
            <a:off x="0" y="1298618"/>
            <a:ext cx="16256000" cy="80282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5" name="Google Shape;167;g3ed063acbfe_1_0">
            <a:extLst>
              <a:ext uri="{FF2B5EF4-FFF2-40B4-BE49-F238E27FC236}">
                <a16:creationId xmlns:a16="http://schemas.microsoft.com/office/drawing/2014/main" id="{1938613A-7EC6-584C-8462-A287416823E4}"/>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err="1">
                <a:solidFill>
                  <a:srgbClr val="13807B"/>
                </a:solidFill>
                <a:latin typeface="Poppins"/>
                <a:ea typeface="Poppins"/>
                <a:cs typeface="Poppins"/>
                <a:sym typeface="Poppins"/>
              </a:rPr>
              <a:t>Repricing</a:t>
            </a:r>
            <a:r>
              <a:rPr lang="es-ES_tradnl" sz="3200" b="1" kern="1200" noProof="0" dirty="0">
                <a:solidFill>
                  <a:srgbClr val="13807B"/>
                </a:solidFill>
                <a:latin typeface="Poppins"/>
                <a:ea typeface="Poppins"/>
                <a:cs typeface="Poppins"/>
                <a:sym typeface="Poppins"/>
              </a:rPr>
              <a:t>: Gestión de excepciones</a:t>
            </a:r>
          </a:p>
        </p:txBody>
      </p:sp>
      <p:cxnSp>
        <p:nvCxnSpPr>
          <p:cNvPr id="7" name="Connector 3">
            <a:extLst>
              <a:ext uri="{FF2B5EF4-FFF2-40B4-BE49-F238E27FC236}">
                <a16:creationId xmlns:a16="http://schemas.microsoft.com/office/drawing/2014/main" id="{6259F0E8-AF11-CA1D-E38E-A0125EB31E11}"/>
              </a:ext>
            </a:extLst>
          </p:cNvPr>
          <p:cNvCxnSpPr/>
          <p:nvPr/>
        </p:nvCxnSpPr>
        <p:spPr>
          <a:xfrm>
            <a:off x="658349" y="1298618"/>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1345D58-9E81-11CA-CA4A-1C9D63E4FC6A}"/>
              </a:ext>
            </a:extLst>
          </p:cNvPr>
          <p:cNvSpPr/>
          <p:nvPr/>
        </p:nvSpPr>
        <p:spPr>
          <a:xfrm>
            <a:off x="2025667" y="1664293"/>
            <a:ext cx="3556513" cy="568756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1" name="Rectangle 10">
            <a:extLst>
              <a:ext uri="{FF2B5EF4-FFF2-40B4-BE49-F238E27FC236}">
                <a16:creationId xmlns:a16="http://schemas.microsoft.com/office/drawing/2014/main" id="{B92E0E90-27D6-DF0B-9791-DBFD1ED335D3}"/>
              </a:ext>
            </a:extLst>
          </p:cNvPr>
          <p:cNvSpPr/>
          <p:nvPr/>
        </p:nvSpPr>
        <p:spPr>
          <a:xfrm>
            <a:off x="2025667" y="1664293"/>
            <a:ext cx="3556513" cy="457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 name="TextBox 11">
            <a:extLst>
              <a:ext uri="{FF2B5EF4-FFF2-40B4-BE49-F238E27FC236}">
                <a16:creationId xmlns:a16="http://schemas.microsoft.com/office/drawing/2014/main" id="{E3B13437-67CF-273E-C492-1277069744ED}"/>
              </a:ext>
            </a:extLst>
          </p:cNvPr>
          <p:cNvSpPr txBox="1"/>
          <p:nvPr/>
        </p:nvSpPr>
        <p:spPr>
          <a:xfrm>
            <a:off x="2245123" y="1989394"/>
            <a:ext cx="457200" cy="430887"/>
          </a:xfrm>
          <a:prstGeom prst="rect">
            <a:avLst/>
          </a:prstGeom>
          <a:noFill/>
        </p:spPr>
        <p:txBody>
          <a:bodyPr wrap="square" lIns="0" tIns="0" rIns="0" bIns="0" anchor="t">
            <a:spAutoFit/>
          </a:bodyPr>
          <a:lstStyle/>
          <a:p>
            <a:pPr algn="l">
              <a:lnSpc>
                <a:spcPct val="100000"/>
              </a:lnSpc>
            </a:pPr>
            <a:r>
              <a:rPr sz="2800" b="1" i="0">
                <a:solidFill>
                  <a:srgbClr val="13807B"/>
                </a:solidFill>
                <a:latin typeface="Arial"/>
              </a:rPr>
              <a:t>1</a:t>
            </a:r>
          </a:p>
        </p:txBody>
      </p:sp>
      <p:sp>
        <p:nvSpPr>
          <p:cNvPr id="13" name="TextBox 12">
            <a:extLst>
              <a:ext uri="{FF2B5EF4-FFF2-40B4-BE49-F238E27FC236}">
                <a16:creationId xmlns:a16="http://schemas.microsoft.com/office/drawing/2014/main" id="{3A43F3DE-C472-9C30-13F9-88BEB1F1833C}"/>
              </a:ext>
            </a:extLst>
          </p:cNvPr>
          <p:cNvSpPr txBox="1"/>
          <p:nvPr/>
        </p:nvSpPr>
        <p:spPr>
          <a:xfrm>
            <a:off x="2684035" y="1892893"/>
            <a:ext cx="2678689" cy="623889"/>
          </a:xfrm>
          <a:prstGeom prst="rect">
            <a:avLst/>
          </a:prstGeom>
          <a:noFill/>
        </p:spPr>
        <p:txBody>
          <a:bodyPr wrap="square" lIns="0" tIns="0" rIns="0" bIns="0" anchor="t">
            <a:spAutoFit/>
          </a:bodyPr>
          <a:lstStyle/>
          <a:p>
            <a:pPr algn="l">
              <a:lnSpc>
                <a:spcPct val="105000"/>
              </a:lnSpc>
            </a:pPr>
            <a:r>
              <a:rPr sz="2000" b="1" i="0">
                <a:solidFill>
                  <a:srgbClr val="0B2E2C"/>
                </a:solidFill>
                <a:latin typeface="Arial"/>
              </a:rPr>
              <a:t>Barrera de</a:t>
            </a:r>
          </a:p>
          <a:p>
            <a:pPr algn="l">
              <a:lnSpc>
                <a:spcPct val="105000"/>
              </a:lnSpc>
            </a:pPr>
            <a:r>
              <a:rPr sz="2000" b="1" i="0">
                <a:solidFill>
                  <a:srgbClr val="0B2E2C"/>
                </a:solidFill>
                <a:latin typeface="Arial"/>
              </a:rPr>
              <a:t>rentabilidad</a:t>
            </a:r>
          </a:p>
        </p:txBody>
      </p:sp>
      <p:sp>
        <p:nvSpPr>
          <p:cNvPr id="14" name="TextBox 13">
            <a:extLst>
              <a:ext uri="{FF2B5EF4-FFF2-40B4-BE49-F238E27FC236}">
                <a16:creationId xmlns:a16="http://schemas.microsoft.com/office/drawing/2014/main" id="{FAD87A2F-C84D-FBA7-5E76-E1949CEC166A}"/>
              </a:ext>
            </a:extLst>
          </p:cNvPr>
          <p:cNvSpPr txBox="1"/>
          <p:nvPr/>
        </p:nvSpPr>
        <p:spPr>
          <a:xfrm>
            <a:off x="2245123" y="2580697"/>
            <a:ext cx="3117601" cy="184666"/>
          </a:xfrm>
          <a:prstGeom prst="rect">
            <a:avLst/>
          </a:prstGeom>
          <a:noFill/>
        </p:spPr>
        <p:txBody>
          <a:bodyPr wrap="square" lIns="0" tIns="0" rIns="0" bIns="0" anchor="t">
            <a:spAutoFit/>
          </a:bodyPr>
          <a:lstStyle/>
          <a:p>
            <a:pPr algn="l">
              <a:lnSpc>
                <a:spcPct val="100000"/>
              </a:lnSpc>
            </a:pPr>
            <a:r>
              <a:rPr sz="1200" b="0" i="0">
                <a:solidFill>
                  <a:srgbClr val="6E7E7D"/>
                </a:solidFill>
                <a:latin typeface="Arial"/>
              </a:rPr>
              <a:t>Define el límite de negociación.</a:t>
            </a:r>
          </a:p>
        </p:txBody>
      </p:sp>
      <p:sp>
        <p:nvSpPr>
          <p:cNvPr id="15" name="Rectangle 14">
            <a:extLst>
              <a:ext uri="{FF2B5EF4-FFF2-40B4-BE49-F238E27FC236}">
                <a16:creationId xmlns:a16="http://schemas.microsoft.com/office/drawing/2014/main" id="{B47B0109-0012-972F-DF51-D0EE28148AB2}"/>
              </a:ext>
            </a:extLst>
          </p:cNvPr>
          <p:cNvSpPr/>
          <p:nvPr/>
        </p:nvSpPr>
        <p:spPr>
          <a:xfrm>
            <a:off x="4558052" y="2779861"/>
            <a:ext cx="896112"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sz="900" b="1" i="0" dirty="0">
                <a:solidFill>
                  <a:srgbClr val="FFFFFF"/>
                </a:solidFill>
                <a:latin typeface="Arial"/>
              </a:rPr>
              <a:t>ILUSTRATIVO</a:t>
            </a:r>
          </a:p>
        </p:txBody>
      </p:sp>
      <p:sp>
        <p:nvSpPr>
          <p:cNvPr id="16" name="Rectangle 15">
            <a:extLst>
              <a:ext uri="{FF2B5EF4-FFF2-40B4-BE49-F238E27FC236}">
                <a16:creationId xmlns:a16="http://schemas.microsoft.com/office/drawing/2014/main" id="{A97B206B-AFC2-75A0-0A5E-009253BC5D18}"/>
              </a:ext>
            </a:extLst>
          </p:cNvPr>
          <p:cNvSpPr/>
          <p:nvPr/>
        </p:nvSpPr>
        <p:spPr>
          <a:xfrm>
            <a:off x="2245123" y="3054181"/>
            <a:ext cx="3117601" cy="2743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 name="TextBox 16">
            <a:extLst>
              <a:ext uri="{FF2B5EF4-FFF2-40B4-BE49-F238E27FC236}">
                <a16:creationId xmlns:a16="http://schemas.microsoft.com/office/drawing/2014/main" id="{B29BB013-0E0D-5015-ED6C-BF87B2D42C27}"/>
              </a:ext>
            </a:extLst>
          </p:cNvPr>
          <p:cNvSpPr txBox="1"/>
          <p:nvPr/>
        </p:nvSpPr>
        <p:spPr>
          <a:xfrm>
            <a:off x="2245123" y="3109045"/>
            <a:ext cx="810576" cy="169277"/>
          </a:xfrm>
          <a:prstGeom prst="rect">
            <a:avLst/>
          </a:prstGeom>
          <a:noFill/>
        </p:spPr>
        <p:txBody>
          <a:bodyPr wrap="square" lIns="0" tIns="0" rIns="0" bIns="0" anchor="t">
            <a:spAutoFit/>
          </a:bodyPr>
          <a:lstStyle/>
          <a:p>
            <a:pPr algn="ctr">
              <a:lnSpc>
                <a:spcPct val="100000"/>
              </a:lnSpc>
            </a:pPr>
            <a:r>
              <a:rPr sz="1100" b="1" i="0">
                <a:solidFill>
                  <a:srgbClr val="FFFFFF"/>
                </a:solidFill>
                <a:latin typeface="Arial"/>
              </a:rPr>
              <a:t>Seg.</a:t>
            </a:r>
          </a:p>
        </p:txBody>
      </p:sp>
      <p:sp>
        <p:nvSpPr>
          <p:cNvPr id="18" name="TextBox 17">
            <a:extLst>
              <a:ext uri="{FF2B5EF4-FFF2-40B4-BE49-F238E27FC236}">
                <a16:creationId xmlns:a16="http://schemas.microsoft.com/office/drawing/2014/main" id="{8F2FD60C-59E5-E25C-3B42-38E45AA9D0A9}"/>
              </a:ext>
            </a:extLst>
          </p:cNvPr>
          <p:cNvSpPr txBox="1"/>
          <p:nvPr/>
        </p:nvSpPr>
        <p:spPr>
          <a:xfrm>
            <a:off x="3055699" y="3109045"/>
            <a:ext cx="1309392" cy="169277"/>
          </a:xfrm>
          <a:prstGeom prst="rect">
            <a:avLst/>
          </a:prstGeom>
          <a:noFill/>
        </p:spPr>
        <p:txBody>
          <a:bodyPr wrap="square" lIns="0" tIns="0" rIns="0" bIns="0" anchor="t">
            <a:spAutoFit/>
          </a:bodyPr>
          <a:lstStyle/>
          <a:p>
            <a:pPr algn="ctr">
              <a:lnSpc>
                <a:spcPct val="100000"/>
              </a:lnSpc>
            </a:pPr>
            <a:r>
              <a:rPr sz="1100" b="1" i="0">
                <a:solidFill>
                  <a:srgbClr val="FFFFFF"/>
                </a:solidFill>
                <a:latin typeface="Arial"/>
              </a:rPr>
              <a:t>RAROC obj.</a:t>
            </a:r>
          </a:p>
        </p:txBody>
      </p:sp>
      <p:sp>
        <p:nvSpPr>
          <p:cNvPr id="19" name="TextBox 18">
            <a:extLst>
              <a:ext uri="{FF2B5EF4-FFF2-40B4-BE49-F238E27FC236}">
                <a16:creationId xmlns:a16="http://schemas.microsoft.com/office/drawing/2014/main" id="{3D7D756A-8D06-E788-7E48-4BCDE1BE4688}"/>
              </a:ext>
            </a:extLst>
          </p:cNvPr>
          <p:cNvSpPr txBox="1"/>
          <p:nvPr/>
        </p:nvSpPr>
        <p:spPr>
          <a:xfrm>
            <a:off x="4365091" y="3109045"/>
            <a:ext cx="997632" cy="169277"/>
          </a:xfrm>
          <a:prstGeom prst="rect">
            <a:avLst/>
          </a:prstGeom>
          <a:noFill/>
        </p:spPr>
        <p:txBody>
          <a:bodyPr wrap="square" lIns="0" tIns="0" rIns="0" bIns="0" anchor="t">
            <a:spAutoFit/>
          </a:bodyPr>
          <a:lstStyle/>
          <a:p>
            <a:pPr algn="ctr">
              <a:lnSpc>
                <a:spcPct val="100000"/>
              </a:lnSpc>
            </a:pPr>
            <a:r>
              <a:rPr sz="1100" b="1" i="0">
                <a:solidFill>
                  <a:srgbClr val="FFFFFF"/>
                </a:solidFill>
                <a:latin typeface="Arial"/>
              </a:rPr>
              <a:t>Piso</a:t>
            </a:r>
          </a:p>
        </p:txBody>
      </p:sp>
      <p:sp>
        <p:nvSpPr>
          <p:cNvPr id="20" name="Rectangle 19">
            <a:extLst>
              <a:ext uri="{FF2B5EF4-FFF2-40B4-BE49-F238E27FC236}">
                <a16:creationId xmlns:a16="http://schemas.microsoft.com/office/drawing/2014/main" id="{EC10348C-EE9C-7AF5-F9BB-950011C8CB73}"/>
              </a:ext>
            </a:extLst>
          </p:cNvPr>
          <p:cNvSpPr/>
          <p:nvPr/>
        </p:nvSpPr>
        <p:spPr>
          <a:xfrm>
            <a:off x="2245123" y="3365076"/>
            <a:ext cx="3117601" cy="31089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 name="TextBox 20">
            <a:extLst>
              <a:ext uri="{FF2B5EF4-FFF2-40B4-BE49-F238E27FC236}">
                <a16:creationId xmlns:a16="http://schemas.microsoft.com/office/drawing/2014/main" id="{EFB2CBBA-97D2-736E-0CE6-64B4936FE224}"/>
              </a:ext>
            </a:extLst>
          </p:cNvPr>
          <p:cNvSpPr txBox="1"/>
          <p:nvPr/>
        </p:nvSpPr>
        <p:spPr>
          <a:xfrm>
            <a:off x="2245123" y="3429084"/>
            <a:ext cx="810576" cy="184666"/>
          </a:xfrm>
          <a:prstGeom prst="rect">
            <a:avLst/>
          </a:prstGeom>
          <a:noFill/>
        </p:spPr>
        <p:txBody>
          <a:bodyPr wrap="square" lIns="0" tIns="0" rIns="0" bIns="0" anchor="t">
            <a:spAutoFit/>
          </a:bodyPr>
          <a:lstStyle/>
          <a:p>
            <a:pPr algn="ctr">
              <a:lnSpc>
                <a:spcPct val="100000"/>
              </a:lnSpc>
            </a:pPr>
            <a:r>
              <a:rPr sz="1200" b="1" i="0">
                <a:solidFill>
                  <a:srgbClr val="3E5553"/>
                </a:solidFill>
                <a:latin typeface="Arial"/>
              </a:rPr>
              <a:t>A</a:t>
            </a:r>
          </a:p>
        </p:txBody>
      </p:sp>
      <p:sp>
        <p:nvSpPr>
          <p:cNvPr id="22" name="TextBox 21">
            <a:extLst>
              <a:ext uri="{FF2B5EF4-FFF2-40B4-BE49-F238E27FC236}">
                <a16:creationId xmlns:a16="http://schemas.microsoft.com/office/drawing/2014/main" id="{43DC8531-90DA-849B-44C2-209D1959BACC}"/>
              </a:ext>
            </a:extLst>
          </p:cNvPr>
          <p:cNvSpPr txBox="1"/>
          <p:nvPr/>
        </p:nvSpPr>
        <p:spPr>
          <a:xfrm>
            <a:off x="3055699" y="3429084"/>
            <a:ext cx="1309392" cy="184666"/>
          </a:xfrm>
          <a:prstGeom prst="rect">
            <a:avLst/>
          </a:prstGeom>
          <a:noFill/>
        </p:spPr>
        <p:txBody>
          <a:bodyPr wrap="square" lIns="0" tIns="0" rIns="0" bIns="0" anchor="t">
            <a:spAutoFit/>
          </a:bodyPr>
          <a:lstStyle/>
          <a:p>
            <a:pPr algn="ctr">
              <a:lnSpc>
                <a:spcPct val="100000"/>
              </a:lnSpc>
            </a:pPr>
            <a:r>
              <a:rPr sz="1200" b="0" i="0">
                <a:solidFill>
                  <a:srgbClr val="3E5553"/>
                </a:solidFill>
                <a:latin typeface="Arial"/>
              </a:rPr>
              <a:t>12%</a:t>
            </a:r>
          </a:p>
        </p:txBody>
      </p:sp>
      <p:sp>
        <p:nvSpPr>
          <p:cNvPr id="23" name="TextBox 22">
            <a:extLst>
              <a:ext uri="{FF2B5EF4-FFF2-40B4-BE49-F238E27FC236}">
                <a16:creationId xmlns:a16="http://schemas.microsoft.com/office/drawing/2014/main" id="{D97369B7-81CC-3489-ED2A-9A473AB11545}"/>
              </a:ext>
            </a:extLst>
          </p:cNvPr>
          <p:cNvSpPr txBox="1"/>
          <p:nvPr/>
        </p:nvSpPr>
        <p:spPr>
          <a:xfrm>
            <a:off x="4365091" y="3429084"/>
            <a:ext cx="997632"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7%</a:t>
            </a:r>
          </a:p>
        </p:txBody>
      </p:sp>
      <p:sp>
        <p:nvSpPr>
          <p:cNvPr id="24" name="TextBox 23">
            <a:extLst>
              <a:ext uri="{FF2B5EF4-FFF2-40B4-BE49-F238E27FC236}">
                <a16:creationId xmlns:a16="http://schemas.microsoft.com/office/drawing/2014/main" id="{D54175FE-5D24-2DC7-5C80-40BB7527C764}"/>
              </a:ext>
            </a:extLst>
          </p:cNvPr>
          <p:cNvSpPr txBox="1"/>
          <p:nvPr/>
        </p:nvSpPr>
        <p:spPr>
          <a:xfrm>
            <a:off x="2245123" y="3776557"/>
            <a:ext cx="810576" cy="184666"/>
          </a:xfrm>
          <a:prstGeom prst="rect">
            <a:avLst/>
          </a:prstGeom>
          <a:noFill/>
        </p:spPr>
        <p:txBody>
          <a:bodyPr wrap="square" lIns="0" tIns="0" rIns="0" bIns="0" anchor="t">
            <a:spAutoFit/>
          </a:bodyPr>
          <a:lstStyle/>
          <a:p>
            <a:pPr algn="ctr">
              <a:lnSpc>
                <a:spcPct val="100000"/>
              </a:lnSpc>
            </a:pPr>
            <a:r>
              <a:rPr sz="1200" b="1" i="0">
                <a:solidFill>
                  <a:srgbClr val="3E5553"/>
                </a:solidFill>
                <a:latin typeface="Arial"/>
              </a:rPr>
              <a:t>B</a:t>
            </a:r>
          </a:p>
        </p:txBody>
      </p:sp>
      <p:sp>
        <p:nvSpPr>
          <p:cNvPr id="25" name="TextBox 24">
            <a:extLst>
              <a:ext uri="{FF2B5EF4-FFF2-40B4-BE49-F238E27FC236}">
                <a16:creationId xmlns:a16="http://schemas.microsoft.com/office/drawing/2014/main" id="{410BD956-EF08-2ECB-587E-C596C3721010}"/>
              </a:ext>
            </a:extLst>
          </p:cNvPr>
          <p:cNvSpPr txBox="1"/>
          <p:nvPr/>
        </p:nvSpPr>
        <p:spPr>
          <a:xfrm>
            <a:off x="3055699" y="3776557"/>
            <a:ext cx="1309392" cy="184666"/>
          </a:xfrm>
          <a:prstGeom prst="rect">
            <a:avLst/>
          </a:prstGeom>
          <a:noFill/>
        </p:spPr>
        <p:txBody>
          <a:bodyPr wrap="square" lIns="0" tIns="0" rIns="0" bIns="0" anchor="t">
            <a:spAutoFit/>
          </a:bodyPr>
          <a:lstStyle/>
          <a:p>
            <a:pPr algn="ctr">
              <a:lnSpc>
                <a:spcPct val="100000"/>
              </a:lnSpc>
            </a:pPr>
            <a:r>
              <a:rPr sz="1200" b="0" i="0">
                <a:solidFill>
                  <a:srgbClr val="3E5553"/>
                </a:solidFill>
                <a:latin typeface="Arial"/>
              </a:rPr>
              <a:t>16%</a:t>
            </a:r>
          </a:p>
        </p:txBody>
      </p:sp>
      <p:sp>
        <p:nvSpPr>
          <p:cNvPr id="26" name="TextBox 25">
            <a:extLst>
              <a:ext uri="{FF2B5EF4-FFF2-40B4-BE49-F238E27FC236}">
                <a16:creationId xmlns:a16="http://schemas.microsoft.com/office/drawing/2014/main" id="{FE1225F1-8E30-8609-ACDF-BDDBCCF0E8DE}"/>
              </a:ext>
            </a:extLst>
          </p:cNvPr>
          <p:cNvSpPr txBox="1"/>
          <p:nvPr/>
        </p:nvSpPr>
        <p:spPr>
          <a:xfrm>
            <a:off x="4365091" y="3776557"/>
            <a:ext cx="997632"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11%</a:t>
            </a:r>
          </a:p>
        </p:txBody>
      </p:sp>
      <p:sp>
        <p:nvSpPr>
          <p:cNvPr id="27" name="Rectangle 26">
            <a:extLst>
              <a:ext uri="{FF2B5EF4-FFF2-40B4-BE49-F238E27FC236}">
                <a16:creationId xmlns:a16="http://schemas.microsoft.com/office/drawing/2014/main" id="{C9551242-ED2C-2F42-C8BE-8595860F773A}"/>
              </a:ext>
            </a:extLst>
          </p:cNvPr>
          <p:cNvSpPr/>
          <p:nvPr/>
        </p:nvSpPr>
        <p:spPr>
          <a:xfrm>
            <a:off x="2245123" y="4060020"/>
            <a:ext cx="3117601" cy="31089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8" name="TextBox 27">
            <a:extLst>
              <a:ext uri="{FF2B5EF4-FFF2-40B4-BE49-F238E27FC236}">
                <a16:creationId xmlns:a16="http://schemas.microsoft.com/office/drawing/2014/main" id="{1B45AD90-646D-1118-C87B-64A64EFE65FA}"/>
              </a:ext>
            </a:extLst>
          </p:cNvPr>
          <p:cNvSpPr txBox="1"/>
          <p:nvPr/>
        </p:nvSpPr>
        <p:spPr>
          <a:xfrm>
            <a:off x="2245123" y="4124029"/>
            <a:ext cx="810576" cy="184666"/>
          </a:xfrm>
          <a:prstGeom prst="rect">
            <a:avLst/>
          </a:prstGeom>
          <a:noFill/>
        </p:spPr>
        <p:txBody>
          <a:bodyPr wrap="square" lIns="0" tIns="0" rIns="0" bIns="0" anchor="t">
            <a:spAutoFit/>
          </a:bodyPr>
          <a:lstStyle/>
          <a:p>
            <a:pPr algn="ctr">
              <a:lnSpc>
                <a:spcPct val="100000"/>
              </a:lnSpc>
            </a:pPr>
            <a:r>
              <a:rPr sz="1200" b="1" i="0">
                <a:solidFill>
                  <a:srgbClr val="3E5553"/>
                </a:solidFill>
                <a:latin typeface="Arial"/>
              </a:rPr>
              <a:t>N</a:t>
            </a:r>
          </a:p>
        </p:txBody>
      </p:sp>
      <p:sp>
        <p:nvSpPr>
          <p:cNvPr id="29" name="TextBox 28">
            <a:extLst>
              <a:ext uri="{FF2B5EF4-FFF2-40B4-BE49-F238E27FC236}">
                <a16:creationId xmlns:a16="http://schemas.microsoft.com/office/drawing/2014/main" id="{0E041ECE-FDF7-4B5D-A5D6-AEE1E41C5486}"/>
              </a:ext>
            </a:extLst>
          </p:cNvPr>
          <p:cNvSpPr txBox="1"/>
          <p:nvPr/>
        </p:nvSpPr>
        <p:spPr>
          <a:xfrm>
            <a:off x="3055699" y="4124029"/>
            <a:ext cx="1309392" cy="184666"/>
          </a:xfrm>
          <a:prstGeom prst="rect">
            <a:avLst/>
          </a:prstGeom>
          <a:noFill/>
        </p:spPr>
        <p:txBody>
          <a:bodyPr wrap="square" lIns="0" tIns="0" rIns="0" bIns="0" anchor="t">
            <a:spAutoFit/>
          </a:bodyPr>
          <a:lstStyle/>
          <a:p>
            <a:pPr algn="ctr">
              <a:lnSpc>
                <a:spcPct val="100000"/>
              </a:lnSpc>
            </a:pPr>
            <a:r>
              <a:rPr sz="1200" b="0" i="0">
                <a:solidFill>
                  <a:srgbClr val="3E5553"/>
                </a:solidFill>
                <a:latin typeface="Arial"/>
              </a:rPr>
              <a:t>22%</a:t>
            </a:r>
          </a:p>
        </p:txBody>
      </p:sp>
      <p:sp>
        <p:nvSpPr>
          <p:cNvPr id="30" name="TextBox 29">
            <a:extLst>
              <a:ext uri="{FF2B5EF4-FFF2-40B4-BE49-F238E27FC236}">
                <a16:creationId xmlns:a16="http://schemas.microsoft.com/office/drawing/2014/main" id="{A107127F-DBEB-CDE3-9CB6-A0A1DF6965EC}"/>
              </a:ext>
            </a:extLst>
          </p:cNvPr>
          <p:cNvSpPr txBox="1"/>
          <p:nvPr/>
        </p:nvSpPr>
        <p:spPr>
          <a:xfrm>
            <a:off x="4365091" y="4124029"/>
            <a:ext cx="997632"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17%</a:t>
            </a:r>
          </a:p>
        </p:txBody>
      </p:sp>
      <p:sp>
        <p:nvSpPr>
          <p:cNvPr id="31" name="Rectangle 30">
            <a:extLst>
              <a:ext uri="{FF2B5EF4-FFF2-40B4-BE49-F238E27FC236}">
                <a16:creationId xmlns:a16="http://schemas.microsoft.com/office/drawing/2014/main" id="{91787533-379B-A83D-A5CC-CC4742FBBB7A}"/>
              </a:ext>
            </a:extLst>
          </p:cNvPr>
          <p:cNvSpPr/>
          <p:nvPr/>
        </p:nvSpPr>
        <p:spPr>
          <a:xfrm>
            <a:off x="2245123" y="4663525"/>
            <a:ext cx="3117601" cy="109728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cxnSp>
        <p:nvCxnSpPr>
          <p:cNvPr id="32" name="Connector 28">
            <a:extLst>
              <a:ext uri="{FF2B5EF4-FFF2-40B4-BE49-F238E27FC236}">
                <a16:creationId xmlns:a16="http://schemas.microsoft.com/office/drawing/2014/main" id="{86F50A97-A47A-ABA3-9531-85ACC627AD6A}"/>
              </a:ext>
            </a:extLst>
          </p:cNvPr>
          <p:cNvCxnSpPr/>
          <p:nvPr/>
        </p:nvCxnSpPr>
        <p:spPr>
          <a:xfrm>
            <a:off x="2245123" y="4663525"/>
            <a:ext cx="0" cy="1097280"/>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BB1BD8B5-E7A6-5F00-DD7C-ABFFF837CFF3}"/>
              </a:ext>
            </a:extLst>
          </p:cNvPr>
          <p:cNvSpPr txBox="1"/>
          <p:nvPr/>
        </p:nvSpPr>
        <p:spPr>
          <a:xfrm>
            <a:off x="2409714" y="5013650"/>
            <a:ext cx="2788417" cy="397032"/>
          </a:xfrm>
          <a:prstGeom prst="rect">
            <a:avLst/>
          </a:prstGeom>
          <a:noFill/>
        </p:spPr>
        <p:txBody>
          <a:bodyPr wrap="square" lIns="0" tIns="0" rIns="0" bIns="0" anchor="ctr">
            <a:spAutoFit/>
          </a:bodyPr>
          <a:lstStyle/>
          <a:p>
            <a:pPr algn="l">
              <a:lnSpc>
                <a:spcPct val="112000"/>
              </a:lnSpc>
              <a:spcAft>
                <a:spcPts val="200"/>
              </a:spcAft>
            </a:pPr>
            <a:r>
              <a:rPr sz="1200" b="0" i="0">
                <a:solidFill>
                  <a:srgbClr val="3E5553"/>
                </a:solidFill>
                <a:latin typeface="Arial"/>
              </a:rPr>
              <a:t>Por debajo del piso, la operación no se aprueba: es el límite duro del sistema.</a:t>
            </a:r>
          </a:p>
        </p:txBody>
      </p:sp>
      <p:sp>
        <p:nvSpPr>
          <p:cNvPr id="34" name="Rectangle 33">
            <a:extLst>
              <a:ext uri="{FF2B5EF4-FFF2-40B4-BE49-F238E27FC236}">
                <a16:creationId xmlns:a16="http://schemas.microsoft.com/office/drawing/2014/main" id="{783407DF-16B0-AC9A-93B0-7035D34C16A4}"/>
              </a:ext>
            </a:extLst>
          </p:cNvPr>
          <p:cNvSpPr/>
          <p:nvPr/>
        </p:nvSpPr>
        <p:spPr>
          <a:xfrm>
            <a:off x="5819924" y="1664293"/>
            <a:ext cx="3556513" cy="568756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5" name="Rectangle 34">
            <a:extLst>
              <a:ext uri="{FF2B5EF4-FFF2-40B4-BE49-F238E27FC236}">
                <a16:creationId xmlns:a16="http://schemas.microsoft.com/office/drawing/2014/main" id="{1C5A5E8D-3E71-5D3B-A081-6C16E96C2792}"/>
              </a:ext>
            </a:extLst>
          </p:cNvPr>
          <p:cNvSpPr/>
          <p:nvPr/>
        </p:nvSpPr>
        <p:spPr>
          <a:xfrm>
            <a:off x="5819924" y="1664293"/>
            <a:ext cx="3556513" cy="457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6" name="TextBox 35">
            <a:extLst>
              <a:ext uri="{FF2B5EF4-FFF2-40B4-BE49-F238E27FC236}">
                <a16:creationId xmlns:a16="http://schemas.microsoft.com/office/drawing/2014/main" id="{A9E1EAF7-601C-F0A4-A7A2-CB5AAAA10C86}"/>
              </a:ext>
            </a:extLst>
          </p:cNvPr>
          <p:cNvSpPr txBox="1"/>
          <p:nvPr/>
        </p:nvSpPr>
        <p:spPr>
          <a:xfrm>
            <a:off x="6039380" y="1989394"/>
            <a:ext cx="457200" cy="430887"/>
          </a:xfrm>
          <a:prstGeom prst="rect">
            <a:avLst/>
          </a:prstGeom>
          <a:noFill/>
        </p:spPr>
        <p:txBody>
          <a:bodyPr wrap="square" lIns="0" tIns="0" rIns="0" bIns="0" anchor="t">
            <a:spAutoFit/>
          </a:bodyPr>
          <a:lstStyle/>
          <a:p>
            <a:pPr algn="l">
              <a:lnSpc>
                <a:spcPct val="100000"/>
              </a:lnSpc>
            </a:pPr>
            <a:r>
              <a:rPr sz="2800" b="1" i="0">
                <a:solidFill>
                  <a:srgbClr val="445A6E"/>
                </a:solidFill>
                <a:latin typeface="Arial"/>
              </a:rPr>
              <a:t>2</a:t>
            </a:r>
          </a:p>
        </p:txBody>
      </p:sp>
      <p:sp>
        <p:nvSpPr>
          <p:cNvPr id="37" name="TextBox 36">
            <a:extLst>
              <a:ext uri="{FF2B5EF4-FFF2-40B4-BE49-F238E27FC236}">
                <a16:creationId xmlns:a16="http://schemas.microsoft.com/office/drawing/2014/main" id="{8140CD6A-E8BB-B25A-B08D-F8682004C02F}"/>
              </a:ext>
            </a:extLst>
          </p:cNvPr>
          <p:cNvSpPr txBox="1"/>
          <p:nvPr/>
        </p:nvSpPr>
        <p:spPr>
          <a:xfrm>
            <a:off x="6478292" y="1892893"/>
            <a:ext cx="2678689" cy="623889"/>
          </a:xfrm>
          <a:prstGeom prst="rect">
            <a:avLst/>
          </a:prstGeom>
          <a:noFill/>
        </p:spPr>
        <p:txBody>
          <a:bodyPr wrap="square" lIns="0" tIns="0" rIns="0" bIns="0" anchor="t">
            <a:spAutoFit/>
          </a:bodyPr>
          <a:lstStyle/>
          <a:p>
            <a:pPr algn="l">
              <a:lnSpc>
                <a:spcPct val="105000"/>
              </a:lnSpc>
            </a:pPr>
            <a:r>
              <a:rPr sz="2000" b="1" i="0">
                <a:solidFill>
                  <a:srgbClr val="0B2E2C"/>
                </a:solidFill>
                <a:latin typeface="Arial"/>
              </a:rPr>
              <a:t>Atribuciones y</a:t>
            </a:r>
          </a:p>
          <a:p>
            <a:pPr algn="l">
              <a:lnSpc>
                <a:spcPct val="105000"/>
              </a:lnSpc>
            </a:pPr>
            <a:r>
              <a:rPr sz="2000" b="1" i="0">
                <a:solidFill>
                  <a:srgbClr val="0B2E2C"/>
                </a:solidFill>
                <a:latin typeface="Arial"/>
              </a:rPr>
              <a:t>justificación</a:t>
            </a:r>
          </a:p>
        </p:txBody>
      </p:sp>
      <p:sp>
        <p:nvSpPr>
          <p:cNvPr id="38" name="TextBox 37">
            <a:extLst>
              <a:ext uri="{FF2B5EF4-FFF2-40B4-BE49-F238E27FC236}">
                <a16:creationId xmlns:a16="http://schemas.microsoft.com/office/drawing/2014/main" id="{515FC221-5495-B93F-C2E8-E918E349B280}"/>
              </a:ext>
            </a:extLst>
          </p:cNvPr>
          <p:cNvSpPr txBox="1"/>
          <p:nvPr/>
        </p:nvSpPr>
        <p:spPr>
          <a:xfrm>
            <a:off x="6039380" y="2580697"/>
            <a:ext cx="3117601" cy="406650"/>
          </a:xfrm>
          <a:prstGeom prst="rect">
            <a:avLst/>
          </a:prstGeom>
          <a:noFill/>
        </p:spPr>
        <p:txBody>
          <a:bodyPr wrap="square" lIns="0" tIns="0" rIns="0" bIns="0" anchor="t">
            <a:spAutoFit/>
          </a:bodyPr>
          <a:lstStyle/>
          <a:p>
            <a:pPr algn="l">
              <a:lnSpc>
                <a:spcPct val="115000"/>
              </a:lnSpc>
            </a:pPr>
            <a:r>
              <a:rPr sz="1200" b="0" i="0" dirty="0" err="1">
                <a:solidFill>
                  <a:srgbClr val="6E7E7D"/>
                </a:solidFill>
                <a:latin typeface="Arial"/>
              </a:rPr>
              <a:t>Quién</a:t>
            </a:r>
            <a:r>
              <a:rPr sz="1200" b="0" i="0" dirty="0">
                <a:solidFill>
                  <a:srgbClr val="6E7E7D"/>
                </a:solidFill>
                <a:latin typeface="Arial"/>
              </a:rPr>
              <a:t> </a:t>
            </a:r>
            <a:r>
              <a:rPr sz="1200" b="0" i="0" dirty="0" err="1">
                <a:solidFill>
                  <a:srgbClr val="6E7E7D"/>
                </a:solidFill>
                <a:latin typeface="Arial"/>
              </a:rPr>
              <a:t>autoriza</a:t>
            </a:r>
            <a:r>
              <a:rPr sz="1200" b="0" i="0" dirty="0">
                <a:solidFill>
                  <a:srgbClr val="6E7E7D"/>
                </a:solidFill>
                <a:latin typeface="Arial"/>
              </a:rPr>
              <a:t> </a:t>
            </a:r>
            <a:r>
              <a:rPr sz="1200" b="0" i="0" dirty="0" err="1">
                <a:solidFill>
                  <a:srgbClr val="6E7E7D"/>
                </a:solidFill>
                <a:latin typeface="Arial"/>
              </a:rPr>
              <a:t>cada</a:t>
            </a:r>
            <a:r>
              <a:rPr sz="1200" b="0" i="0" dirty="0">
                <a:solidFill>
                  <a:srgbClr val="6E7E7D"/>
                </a:solidFill>
                <a:latin typeface="Arial"/>
              </a:rPr>
              <a:t> </a:t>
            </a:r>
            <a:r>
              <a:rPr sz="1200" b="0" i="0" dirty="0" err="1">
                <a:solidFill>
                  <a:srgbClr val="6E7E7D"/>
                </a:solidFill>
                <a:latin typeface="Arial"/>
              </a:rPr>
              <a:t>descuento</a:t>
            </a:r>
            <a:r>
              <a:rPr sz="1200" b="0" i="0" dirty="0">
                <a:solidFill>
                  <a:srgbClr val="6E7E7D"/>
                </a:solidFill>
                <a:latin typeface="Arial"/>
              </a:rPr>
              <a:t> y con </a:t>
            </a:r>
            <a:r>
              <a:rPr sz="1200" b="0" i="0" dirty="0" err="1">
                <a:solidFill>
                  <a:srgbClr val="6E7E7D"/>
                </a:solidFill>
                <a:latin typeface="Arial"/>
              </a:rPr>
              <a:t>qué</a:t>
            </a:r>
            <a:r>
              <a:rPr sz="1200" b="0" i="0" dirty="0">
                <a:solidFill>
                  <a:srgbClr val="6E7E7D"/>
                </a:solidFill>
                <a:latin typeface="Arial"/>
              </a:rPr>
              <a:t> </a:t>
            </a:r>
            <a:r>
              <a:rPr sz="1200" b="0" i="0" dirty="0" err="1">
                <a:solidFill>
                  <a:srgbClr val="6E7E7D"/>
                </a:solidFill>
                <a:latin typeface="Arial"/>
              </a:rPr>
              <a:t>contraprestación</a:t>
            </a:r>
            <a:r>
              <a:rPr sz="1200" b="0" i="0" dirty="0">
                <a:solidFill>
                  <a:srgbClr val="6E7E7D"/>
                </a:solidFill>
                <a:latin typeface="Arial"/>
              </a:rPr>
              <a:t>.</a:t>
            </a:r>
          </a:p>
        </p:txBody>
      </p:sp>
      <p:sp>
        <p:nvSpPr>
          <p:cNvPr id="39" name="Rectangle 38">
            <a:extLst>
              <a:ext uri="{FF2B5EF4-FFF2-40B4-BE49-F238E27FC236}">
                <a16:creationId xmlns:a16="http://schemas.microsoft.com/office/drawing/2014/main" id="{64A2661A-EE0F-042F-0F73-7E63A5487678}"/>
              </a:ext>
            </a:extLst>
          </p:cNvPr>
          <p:cNvSpPr/>
          <p:nvPr/>
        </p:nvSpPr>
        <p:spPr>
          <a:xfrm>
            <a:off x="8352309" y="2853013"/>
            <a:ext cx="896112" cy="18288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lnSpc>
                <a:spcPct val="100000"/>
              </a:lnSpc>
            </a:pPr>
            <a:r>
              <a:rPr sz="900" b="1" i="0">
                <a:solidFill>
                  <a:srgbClr val="FFFFFF"/>
                </a:solidFill>
                <a:latin typeface="Arial"/>
              </a:rPr>
              <a:t>ILUSTRATIVO</a:t>
            </a:r>
          </a:p>
        </p:txBody>
      </p:sp>
      <p:sp>
        <p:nvSpPr>
          <p:cNvPr id="40" name="Rectangle 39">
            <a:extLst>
              <a:ext uri="{FF2B5EF4-FFF2-40B4-BE49-F238E27FC236}">
                <a16:creationId xmlns:a16="http://schemas.microsoft.com/office/drawing/2014/main" id="{EF9A50E5-F806-9E27-9FE0-6882E3BAC9CA}"/>
              </a:ext>
            </a:extLst>
          </p:cNvPr>
          <p:cNvSpPr/>
          <p:nvPr/>
        </p:nvSpPr>
        <p:spPr>
          <a:xfrm>
            <a:off x="6039380" y="3127333"/>
            <a:ext cx="3117601" cy="603504"/>
          </a:xfrm>
          <a:prstGeom prst="rect">
            <a:avLst/>
          </a:prstGeom>
          <a:solidFill>
            <a:srgbClr val="E7F4E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41" name="Rectangle 40">
            <a:extLst>
              <a:ext uri="{FF2B5EF4-FFF2-40B4-BE49-F238E27FC236}">
                <a16:creationId xmlns:a16="http://schemas.microsoft.com/office/drawing/2014/main" id="{7CC9853F-B548-9DF2-469F-A29DEC4FED2E}"/>
              </a:ext>
            </a:extLst>
          </p:cNvPr>
          <p:cNvSpPr/>
          <p:nvPr/>
        </p:nvSpPr>
        <p:spPr>
          <a:xfrm>
            <a:off x="6039380" y="3127333"/>
            <a:ext cx="45720" cy="603504"/>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42" name="TextBox 41">
            <a:extLst>
              <a:ext uri="{FF2B5EF4-FFF2-40B4-BE49-F238E27FC236}">
                <a16:creationId xmlns:a16="http://schemas.microsoft.com/office/drawing/2014/main" id="{E8128AEE-6556-5B3F-FC2D-14983BDDCBF7}"/>
              </a:ext>
            </a:extLst>
          </p:cNvPr>
          <p:cNvSpPr txBox="1"/>
          <p:nvPr/>
        </p:nvSpPr>
        <p:spPr>
          <a:xfrm>
            <a:off x="6222260" y="3200485"/>
            <a:ext cx="2898145" cy="184666"/>
          </a:xfrm>
          <a:prstGeom prst="rect">
            <a:avLst/>
          </a:prstGeom>
          <a:noFill/>
        </p:spPr>
        <p:txBody>
          <a:bodyPr wrap="square" lIns="0" tIns="0" rIns="0" bIns="0" anchor="t">
            <a:spAutoFit/>
          </a:bodyPr>
          <a:lstStyle/>
          <a:p>
            <a:pPr algn="l">
              <a:lnSpc>
                <a:spcPct val="100000"/>
              </a:lnSpc>
            </a:pPr>
            <a:r>
              <a:rPr sz="1200" b="1" i="0">
                <a:solidFill>
                  <a:srgbClr val="2E7D46"/>
                </a:solidFill>
                <a:latin typeface="Arial"/>
              </a:rPr>
              <a:t>Autonomía comercial</a:t>
            </a:r>
          </a:p>
        </p:txBody>
      </p:sp>
      <p:sp>
        <p:nvSpPr>
          <p:cNvPr id="43" name="TextBox 42">
            <a:extLst>
              <a:ext uri="{FF2B5EF4-FFF2-40B4-BE49-F238E27FC236}">
                <a16:creationId xmlns:a16="http://schemas.microsoft.com/office/drawing/2014/main" id="{61AE24BA-DDF4-6BAA-26C8-6226D4C8DC73}"/>
              </a:ext>
            </a:extLst>
          </p:cNvPr>
          <p:cNvSpPr txBox="1"/>
          <p:nvPr/>
        </p:nvSpPr>
        <p:spPr>
          <a:xfrm>
            <a:off x="6222260" y="3429085"/>
            <a:ext cx="2898145" cy="169277"/>
          </a:xfrm>
          <a:prstGeom prst="rect">
            <a:avLst/>
          </a:prstGeom>
          <a:noFill/>
        </p:spPr>
        <p:txBody>
          <a:bodyPr wrap="square" lIns="0" tIns="0" rIns="0" bIns="0" anchor="t">
            <a:spAutoFit/>
          </a:bodyPr>
          <a:lstStyle/>
          <a:p>
            <a:pPr algn="l">
              <a:lnSpc>
                <a:spcPct val="100000"/>
              </a:lnSpc>
            </a:pPr>
            <a:r>
              <a:rPr sz="1100" b="0" i="0">
                <a:solidFill>
                  <a:srgbClr val="3E5553"/>
                </a:solidFill>
                <a:latin typeface="Arial"/>
              </a:rPr>
              <a:t>Hasta −1.5% de la meta del bucket</a:t>
            </a:r>
          </a:p>
        </p:txBody>
      </p:sp>
      <p:sp>
        <p:nvSpPr>
          <p:cNvPr id="44" name="Rectangle 43">
            <a:extLst>
              <a:ext uri="{FF2B5EF4-FFF2-40B4-BE49-F238E27FC236}">
                <a16:creationId xmlns:a16="http://schemas.microsoft.com/office/drawing/2014/main" id="{C83A51AC-7809-69C5-E83A-836B020A80F1}"/>
              </a:ext>
            </a:extLst>
          </p:cNvPr>
          <p:cNvSpPr/>
          <p:nvPr/>
        </p:nvSpPr>
        <p:spPr>
          <a:xfrm>
            <a:off x="6039380" y="3822276"/>
            <a:ext cx="3117601" cy="603504"/>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45" name="Rectangle 44">
            <a:extLst>
              <a:ext uri="{FF2B5EF4-FFF2-40B4-BE49-F238E27FC236}">
                <a16:creationId xmlns:a16="http://schemas.microsoft.com/office/drawing/2014/main" id="{2428E975-44B4-2176-6B53-E2F1CCCBA47B}"/>
              </a:ext>
            </a:extLst>
          </p:cNvPr>
          <p:cNvSpPr/>
          <p:nvPr/>
        </p:nvSpPr>
        <p:spPr>
          <a:xfrm>
            <a:off x="6039380" y="3822276"/>
            <a:ext cx="45720" cy="603504"/>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46" name="TextBox 45">
            <a:extLst>
              <a:ext uri="{FF2B5EF4-FFF2-40B4-BE49-F238E27FC236}">
                <a16:creationId xmlns:a16="http://schemas.microsoft.com/office/drawing/2014/main" id="{C5B9EC56-49BF-C5A3-63C4-6DAA0BF0643A}"/>
              </a:ext>
            </a:extLst>
          </p:cNvPr>
          <p:cNvSpPr txBox="1"/>
          <p:nvPr/>
        </p:nvSpPr>
        <p:spPr>
          <a:xfrm>
            <a:off x="6222260" y="3895429"/>
            <a:ext cx="2898145" cy="184666"/>
          </a:xfrm>
          <a:prstGeom prst="rect">
            <a:avLst/>
          </a:prstGeom>
          <a:noFill/>
        </p:spPr>
        <p:txBody>
          <a:bodyPr wrap="square" lIns="0" tIns="0" rIns="0" bIns="0" anchor="t">
            <a:spAutoFit/>
          </a:bodyPr>
          <a:lstStyle/>
          <a:p>
            <a:pPr algn="l">
              <a:lnSpc>
                <a:spcPct val="100000"/>
              </a:lnSpc>
            </a:pPr>
            <a:r>
              <a:rPr sz="1200" b="1" i="0">
                <a:solidFill>
                  <a:srgbClr val="C87A0B"/>
                </a:solidFill>
                <a:latin typeface="Arial"/>
              </a:rPr>
              <a:t>Gerencia Regional</a:t>
            </a:r>
          </a:p>
        </p:txBody>
      </p:sp>
      <p:sp>
        <p:nvSpPr>
          <p:cNvPr id="47" name="TextBox 46">
            <a:extLst>
              <a:ext uri="{FF2B5EF4-FFF2-40B4-BE49-F238E27FC236}">
                <a16:creationId xmlns:a16="http://schemas.microsoft.com/office/drawing/2014/main" id="{50B47E76-75BE-A41E-8290-D2798A0CC0BE}"/>
              </a:ext>
            </a:extLst>
          </p:cNvPr>
          <p:cNvSpPr txBox="1"/>
          <p:nvPr/>
        </p:nvSpPr>
        <p:spPr>
          <a:xfrm>
            <a:off x="6222260" y="4124029"/>
            <a:ext cx="2898145" cy="169277"/>
          </a:xfrm>
          <a:prstGeom prst="rect">
            <a:avLst/>
          </a:prstGeom>
          <a:noFill/>
        </p:spPr>
        <p:txBody>
          <a:bodyPr wrap="square" lIns="0" tIns="0" rIns="0" bIns="0" anchor="t">
            <a:spAutoFit/>
          </a:bodyPr>
          <a:lstStyle/>
          <a:p>
            <a:pPr algn="l">
              <a:lnSpc>
                <a:spcPct val="100000"/>
              </a:lnSpc>
            </a:pPr>
            <a:r>
              <a:rPr sz="1100" b="0" i="0">
                <a:solidFill>
                  <a:srgbClr val="3E5553"/>
                </a:solidFill>
                <a:latin typeface="Arial"/>
              </a:rPr>
              <a:t>Entre −1.5% y −4%</a:t>
            </a:r>
          </a:p>
        </p:txBody>
      </p:sp>
      <p:sp>
        <p:nvSpPr>
          <p:cNvPr id="129" name="Rectangle 128">
            <a:extLst>
              <a:ext uri="{FF2B5EF4-FFF2-40B4-BE49-F238E27FC236}">
                <a16:creationId xmlns:a16="http://schemas.microsoft.com/office/drawing/2014/main" id="{C5A28E5E-84A7-79F0-54CF-1F953DA56AC9}"/>
              </a:ext>
            </a:extLst>
          </p:cNvPr>
          <p:cNvSpPr/>
          <p:nvPr/>
        </p:nvSpPr>
        <p:spPr>
          <a:xfrm>
            <a:off x="6039380" y="4517221"/>
            <a:ext cx="3117601" cy="603504"/>
          </a:xfrm>
          <a:prstGeom prst="rect">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0" name="Rectangle 129">
            <a:extLst>
              <a:ext uri="{FF2B5EF4-FFF2-40B4-BE49-F238E27FC236}">
                <a16:creationId xmlns:a16="http://schemas.microsoft.com/office/drawing/2014/main" id="{5E957193-76E0-3BD9-3FE8-F8526B52B7DD}"/>
              </a:ext>
            </a:extLst>
          </p:cNvPr>
          <p:cNvSpPr/>
          <p:nvPr/>
        </p:nvSpPr>
        <p:spPr>
          <a:xfrm>
            <a:off x="6039380" y="4517221"/>
            <a:ext cx="45720" cy="603504"/>
          </a:xfrm>
          <a:prstGeom prst="rect">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1" name="TextBox 130">
            <a:extLst>
              <a:ext uri="{FF2B5EF4-FFF2-40B4-BE49-F238E27FC236}">
                <a16:creationId xmlns:a16="http://schemas.microsoft.com/office/drawing/2014/main" id="{653E14C4-0CEF-91F6-A5EE-55ACD380AB50}"/>
              </a:ext>
            </a:extLst>
          </p:cNvPr>
          <p:cNvSpPr txBox="1"/>
          <p:nvPr/>
        </p:nvSpPr>
        <p:spPr>
          <a:xfrm>
            <a:off x="6222260" y="4590373"/>
            <a:ext cx="2898145" cy="184666"/>
          </a:xfrm>
          <a:prstGeom prst="rect">
            <a:avLst/>
          </a:prstGeom>
          <a:noFill/>
        </p:spPr>
        <p:txBody>
          <a:bodyPr wrap="square" lIns="0" tIns="0" rIns="0" bIns="0" anchor="t">
            <a:spAutoFit/>
          </a:bodyPr>
          <a:lstStyle/>
          <a:p>
            <a:pPr algn="l">
              <a:lnSpc>
                <a:spcPct val="100000"/>
              </a:lnSpc>
            </a:pPr>
            <a:r>
              <a:rPr sz="1200" b="1" i="0">
                <a:solidFill>
                  <a:srgbClr val="C04B4B"/>
                </a:solidFill>
                <a:latin typeface="Arial"/>
              </a:rPr>
              <a:t>Comité de Pricing</a:t>
            </a:r>
          </a:p>
        </p:txBody>
      </p:sp>
      <p:sp>
        <p:nvSpPr>
          <p:cNvPr id="132" name="TextBox 131">
            <a:extLst>
              <a:ext uri="{FF2B5EF4-FFF2-40B4-BE49-F238E27FC236}">
                <a16:creationId xmlns:a16="http://schemas.microsoft.com/office/drawing/2014/main" id="{2F15BB12-D4A7-1881-1F66-33563FC03184}"/>
              </a:ext>
            </a:extLst>
          </p:cNvPr>
          <p:cNvSpPr txBox="1"/>
          <p:nvPr/>
        </p:nvSpPr>
        <p:spPr>
          <a:xfrm>
            <a:off x="6222260" y="4818973"/>
            <a:ext cx="2898145" cy="169277"/>
          </a:xfrm>
          <a:prstGeom prst="rect">
            <a:avLst/>
          </a:prstGeom>
          <a:noFill/>
        </p:spPr>
        <p:txBody>
          <a:bodyPr wrap="square" lIns="0" tIns="0" rIns="0" bIns="0" anchor="t">
            <a:spAutoFit/>
          </a:bodyPr>
          <a:lstStyle/>
          <a:p>
            <a:pPr algn="l">
              <a:lnSpc>
                <a:spcPct val="100000"/>
              </a:lnSpc>
            </a:pPr>
            <a:r>
              <a:rPr sz="1100" b="0" i="0">
                <a:solidFill>
                  <a:srgbClr val="3E5553"/>
                </a:solidFill>
                <a:latin typeface="Arial"/>
              </a:rPr>
              <a:t>Más de −4%</a:t>
            </a:r>
          </a:p>
        </p:txBody>
      </p:sp>
      <p:cxnSp>
        <p:nvCxnSpPr>
          <p:cNvPr id="133" name="Connector 48">
            <a:extLst>
              <a:ext uri="{FF2B5EF4-FFF2-40B4-BE49-F238E27FC236}">
                <a16:creationId xmlns:a16="http://schemas.microsoft.com/office/drawing/2014/main" id="{EF37DD39-7964-39F2-82D3-CEC53AD8E0C8}"/>
              </a:ext>
            </a:extLst>
          </p:cNvPr>
          <p:cNvCxnSpPr/>
          <p:nvPr/>
        </p:nvCxnSpPr>
        <p:spPr>
          <a:xfrm>
            <a:off x="6039380" y="5303604"/>
            <a:ext cx="3117601"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34" name="TextBox 133">
            <a:extLst>
              <a:ext uri="{FF2B5EF4-FFF2-40B4-BE49-F238E27FC236}">
                <a16:creationId xmlns:a16="http://schemas.microsoft.com/office/drawing/2014/main" id="{4BAA7A4E-B70B-2D7F-D18F-8C7DD05AC1BF}"/>
              </a:ext>
            </a:extLst>
          </p:cNvPr>
          <p:cNvSpPr txBox="1"/>
          <p:nvPr/>
        </p:nvSpPr>
        <p:spPr>
          <a:xfrm>
            <a:off x="6039380" y="5395044"/>
            <a:ext cx="3117601" cy="184666"/>
          </a:xfrm>
          <a:prstGeom prst="rect">
            <a:avLst/>
          </a:prstGeom>
          <a:noFill/>
        </p:spPr>
        <p:txBody>
          <a:bodyPr wrap="square" lIns="0" tIns="0" rIns="0" bIns="0" anchor="t">
            <a:spAutoFit/>
          </a:bodyPr>
          <a:lstStyle/>
          <a:p>
            <a:pPr algn="l">
              <a:lnSpc>
                <a:spcPct val="100000"/>
              </a:lnSpc>
            </a:pPr>
            <a:r>
              <a:rPr lang="en-US" sz="1200" b="1" i="0" dirty="0" err="1">
                <a:solidFill>
                  <a:srgbClr val="0B2E2C"/>
                </a:solidFill>
                <a:latin typeface="Arial"/>
              </a:rPr>
              <a:t>Justificación</a:t>
            </a:r>
            <a:r>
              <a:rPr lang="en-US" sz="1200" b="1" i="0" dirty="0">
                <a:solidFill>
                  <a:srgbClr val="0B2E2C"/>
                </a:solidFill>
                <a:latin typeface="Arial"/>
              </a:rPr>
              <a:t> </a:t>
            </a:r>
            <a:r>
              <a:rPr lang="en-US" sz="1200" b="1" i="0" dirty="0" err="1">
                <a:solidFill>
                  <a:srgbClr val="0B2E2C"/>
                </a:solidFill>
                <a:latin typeface="Arial"/>
              </a:rPr>
              <a:t>por</a:t>
            </a:r>
            <a:r>
              <a:rPr lang="en-US" sz="1200" b="1" i="0" dirty="0">
                <a:solidFill>
                  <a:srgbClr val="0B2E2C"/>
                </a:solidFill>
                <a:latin typeface="Arial"/>
              </a:rPr>
              <a:t> </a:t>
            </a:r>
            <a:r>
              <a:rPr lang="en-US" sz="1200" b="1" i="0" dirty="0" err="1">
                <a:solidFill>
                  <a:srgbClr val="0B2E2C"/>
                </a:solidFill>
                <a:latin typeface="Arial"/>
              </a:rPr>
              <a:t>relación</a:t>
            </a:r>
            <a:r>
              <a:rPr sz="1200" b="1" i="0" dirty="0">
                <a:solidFill>
                  <a:srgbClr val="0B2E2C"/>
                </a:solidFill>
                <a:latin typeface="Arial"/>
              </a:rPr>
              <a:t>:</a:t>
            </a:r>
          </a:p>
        </p:txBody>
      </p:sp>
      <p:sp>
        <p:nvSpPr>
          <p:cNvPr id="135" name="Rectangle 134">
            <a:extLst>
              <a:ext uri="{FF2B5EF4-FFF2-40B4-BE49-F238E27FC236}">
                <a16:creationId xmlns:a16="http://schemas.microsoft.com/office/drawing/2014/main" id="{8A945FFA-7014-9AFD-ABFB-170DC4D2B67F}"/>
              </a:ext>
            </a:extLst>
          </p:cNvPr>
          <p:cNvSpPr/>
          <p:nvPr/>
        </p:nvSpPr>
        <p:spPr>
          <a:xfrm>
            <a:off x="6039380" y="5669364"/>
            <a:ext cx="3117601" cy="658368"/>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6" name="Rectangle 135">
            <a:extLst>
              <a:ext uri="{FF2B5EF4-FFF2-40B4-BE49-F238E27FC236}">
                <a16:creationId xmlns:a16="http://schemas.microsoft.com/office/drawing/2014/main" id="{9CFA07A2-D128-3D20-DEBB-E73CF805A696}"/>
              </a:ext>
            </a:extLst>
          </p:cNvPr>
          <p:cNvSpPr/>
          <p:nvPr/>
        </p:nvSpPr>
        <p:spPr>
          <a:xfrm>
            <a:off x="6039380" y="5669364"/>
            <a:ext cx="45720" cy="65836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7" name="TextBox 136">
            <a:extLst>
              <a:ext uri="{FF2B5EF4-FFF2-40B4-BE49-F238E27FC236}">
                <a16:creationId xmlns:a16="http://schemas.microsoft.com/office/drawing/2014/main" id="{D5C21CA7-23C2-549A-22CC-ABFF900C4501}"/>
              </a:ext>
            </a:extLst>
          </p:cNvPr>
          <p:cNvSpPr txBox="1"/>
          <p:nvPr/>
        </p:nvSpPr>
        <p:spPr>
          <a:xfrm>
            <a:off x="6222260" y="5742516"/>
            <a:ext cx="2898145" cy="184666"/>
          </a:xfrm>
          <a:prstGeom prst="rect">
            <a:avLst/>
          </a:prstGeom>
          <a:noFill/>
        </p:spPr>
        <p:txBody>
          <a:bodyPr wrap="square" lIns="0" tIns="0" rIns="0" bIns="0" anchor="t">
            <a:spAutoFit/>
          </a:bodyPr>
          <a:lstStyle/>
          <a:p>
            <a:pPr algn="l">
              <a:lnSpc>
                <a:spcPct val="100000"/>
              </a:lnSpc>
            </a:pPr>
            <a:r>
              <a:rPr sz="1200" b="1" i="0">
                <a:solidFill>
                  <a:srgbClr val="445A6E"/>
                </a:solidFill>
                <a:latin typeface="Arial"/>
              </a:rPr>
              <a:t>Promesas comerciales</a:t>
            </a:r>
          </a:p>
        </p:txBody>
      </p:sp>
      <p:sp>
        <p:nvSpPr>
          <p:cNvPr id="138" name="TextBox 137">
            <a:extLst>
              <a:ext uri="{FF2B5EF4-FFF2-40B4-BE49-F238E27FC236}">
                <a16:creationId xmlns:a16="http://schemas.microsoft.com/office/drawing/2014/main" id="{C6219D90-4FD4-56A9-20BD-BC86232D59BE}"/>
              </a:ext>
            </a:extLst>
          </p:cNvPr>
          <p:cNvSpPr txBox="1"/>
          <p:nvPr/>
        </p:nvSpPr>
        <p:spPr>
          <a:xfrm>
            <a:off x="6222260" y="5924395"/>
            <a:ext cx="2898145" cy="369909"/>
          </a:xfrm>
          <a:prstGeom prst="rect">
            <a:avLst/>
          </a:prstGeom>
          <a:noFill/>
        </p:spPr>
        <p:txBody>
          <a:bodyPr wrap="square" lIns="0" tIns="0" rIns="0" bIns="0" anchor="t">
            <a:spAutoFit/>
          </a:bodyPr>
          <a:lstStyle/>
          <a:p>
            <a:pPr algn="l">
              <a:lnSpc>
                <a:spcPct val="114000"/>
              </a:lnSpc>
            </a:pPr>
            <a:r>
              <a:rPr sz="1100" b="0" i="0" dirty="0">
                <a:solidFill>
                  <a:srgbClr val="6E7E7D"/>
                </a:solidFill>
                <a:latin typeface="Arial"/>
              </a:rPr>
              <a:t>POS, </a:t>
            </a:r>
            <a:r>
              <a:rPr sz="1100" b="0" i="0" dirty="0" err="1">
                <a:solidFill>
                  <a:srgbClr val="6E7E7D"/>
                </a:solidFill>
                <a:latin typeface="Arial"/>
              </a:rPr>
              <a:t>tipo</a:t>
            </a:r>
            <a:r>
              <a:rPr sz="1100" b="0" i="0" dirty="0">
                <a:solidFill>
                  <a:srgbClr val="6E7E7D"/>
                </a:solidFill>
                <a:latin typeface="Arial"/>
              </a:rPr>
              <a:t> de </a:t>
            </a:r>
            <a:r>
              <a:rPr sz="1100" b="0" i="0" dirty="0" err="1">
                <a:solidFill>
                  <a:srgbClr val="6E7E7D"/>
                </a:solidFill>
                <a:latin typeface="Arial"/>
              </a:rPr>
              <a:t>cambio</a:t>
            </a:r>
            <a:r>
              <a:rPr sz="1100" b="0" i="0" dirty="0">
                <a:solidFill>
                  <a:srgbClr val="6E7E7D"/>
                </a:solidFill>
                <a:latin typeface="Arial"/>
              </a:rPr>
              <a:t>, </a:t>
            </a:r>
            <a:r>
              <a:rPr sz="1100" b="0" i="0" dirty="0" err="1">
                <a:solidFill>
                  <a:srgbClr val="6E7E7D"/>
                </a:solidFill>
                <a:latin typeface="Arial"/>
              </a:rPr>
              <a:t>pago</a:t>
            </a:r>
            <a:r>
              <a:rPr sz="1100" b="0" i="0" dirty="0">
                <a:solidFill>
                  <a:srgbClr val="6E7E7D"/>
                </a:solidFill>
                <a:latin typeface="Arial"/>
              </a:rPr>
              <a:t> de </a:t>
            </a:r>
            <a:r>
              <a:rPr sz="1100" b="0" i="0" dirty="0" err="1">
                <a:solidFill>
                  <a:srgbClr val="6E7E7D"/>
                </a:solidFill>
                <a:latin typeface="Arial"/>
              </a:rPr>
              <a:t>planilla</a:t>
            </a:r>
            <a:r>
              <a:rPr sz="1100" b="0" i="0" dirty="0">
                <a:solidFill>
                  <a:srgbClr val="6E7E7D"/>
                </a:solidFill>
                <a:latin typeface="Arial"/>
              </a:rPr>
              <a:t> — </a:t>
            </a:r>
            <a:r>
              <a:rPr sz="1100" b="0" i="0" dirty="0" err="1">
                <a:solidFill>
                  <a:srgbClr val="6E7E7D"/>
                </a:solidFill>
                <a:latin typeface="Arial"/>
              </a:rPr>
              <a:t>vía</a:t>
            </a:r>
            <a:r>
              <a:rPr sz="1100" b="0" i="0" dirty="0">
                <a:solidFill>
                  <a:srgbClr val="6E7E7D"/>
                </a:solidFill>
                <a:latin typeface="Arial"/>
              </a:rPr>
              <a:t> </a:t>
            </a:r>
            <a:r>
              <a:rPr sz="1100" b="0" i="0" dirty="0" err="1">
                <a:solidFill>
                  <a:srgbClr val="6E7E7D"/>
                </a:solidFill>
                <a:latin typeface="Arial"/>
              </a:rPr>
              <a:t>indicador</a:t>
            </a:r>
            <a:r>
              <a:rPr sz="1100" b="0" i="0" dirty="0">
                <a:solidFill>
                  <a:srgbClr val="6E7E7D"/>
                </a:solidFill>
                <a:latin typeface="Arial"/>
              </a:rPr>
              <a:t> MFA.</a:t>
            </a:r>
          </a:p>
        </p:txBody>
      </p:sp>
      <p:sp>
        <p:nvSpPr>
          <p:cNvPr id="139" name="Rectangle 138">
            <a:extLst>
              <a:ext uri="{FF2B5EF4-FFF2-40B4-BE49-F238E27FC236}">
                <a16:creationId xmlns:a16="http://schemas.microsoft.com/office/drawing/2014/main" id="{05287338-BA05-A151-6DB8-179321FE0522}"/>
              </a:ext>
            </a:extLst>
          </p:cNvPr>
          <p:cNvSpPr/>
          <p:nvPr/>
        </p:nvSpPr>
        <p:spPr>
          <a:xfrm>
            <a:off x="6039380" y="6400884"/>
            <a:ext cx="3117601" cy="658368"/>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0" name="Rectangle 139">
            <a:extLst>
              <a:ext uri="{FF2B5EF4-FFF2-40B4-BE49-F238E27FC236}">
                <a16:creationId xmlns:a16="http://schemas.microsoft.com/office/drawing/2014/main" id="{E4785284-0C36-B071-3F4F-C8BBA6DE7A0B}"/>
              </a:ext>
            </a:extLst>
          </p:cNvPr>
          <p:cNvSpPr/>
          <p:nvPr/>
        </p:nvSpPr>
        <p:spPr>
          <a:xfrm>
            <a:off x="6039380" y="6400884"/>
            <a:ext cx="45720" cy="65836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1" name="TextBox 140">
            <a:extLst>
              <a:ext uri="{FF2B5EF4-FFF2-40B4-BE49-F238E27FC236}">
                <a16:creationId xmlns:a16="http://schemas.microsoft.com/office/drawing/2014/main" id="{409BDADF-9166-51A3-3AA1-41367D8032F1}"/>
              </a:ext>
            </a:extLst>
          </p:cNvPr>
          <p:cNvSpPr txBox="1"/>
          <p:nvPr/>
        </p:nvSpPr>
        <p:spPr>
          <a:xfrm>
            <a:off x="6222260" y="6474036"/>
            <a:ext cx="2898145" cy="184666"/>
          </a:xfrm>
          <a:prstGeom prst="rect">
            <a:avLst/>
          </a:prstGeom>
          <a:noFill/>
        </p:spPr>
        <p:txBody>
          <a:bodyPr wrap="square" lIns="0" tIns="0" rIns="0" bIns="0" anchor="t">
            <a:spAutoFit/>
          </a:bodyPr>
          <a:lstStyle/>
          <a:p>
            <a:pPr algn="l">
              <a:lnSpc>
                <a:spcPct val="100000"/>
              </a:lnSpc>
            </a:pPr>
            <a:r>
              <a:rPr sz="1200" b="1" i="0">
                <a:solidFill>
                  <a:srgbClr val="445A6E"/>
                </a:solidFill>
                <a:latin typeface="Arial"/>
              </a:rPr>
              <a:t>Nueva información del cliente</a:t>
            </a:r>
          </a:p>
        </p:txBody>
      </p:sp>
      <p:sp>
        <p:nvSpPr>
          <p:cNvPr id="142" name="TextBox 141">
            <a:extLst>
              <a:ext uri="{FF2B5EF4-FFF2-40B4-BE49-F238E27FC236}">
                <a16:creationId xmlns:a16="http://schemas.microsoft.com/office/drawing/2014/main" id="{2EB1938B-A338-3DE8-C338-221E30714183}"/>
              </a:ext>
            </a:extLst>
          </p:cNvPr>
          <p:cNvSpPr txBox="1"/>
          <p:nvPr/>
        </p:nvSpPr>
        <p:spPr>
          <a:xfrm>
            <a:off x="6222260" y="6693492"/>
            <a:ext cx="2898145" cy="369909"/>
          </a:xfrm>
          <a:prstGeom prst="rect">
            <a:avLst/>
          </a:prstGeom>
          <a:noFill/>
        </p:spPr>
        <p:txBody>
          <a:bodyPr wrap="square" lIns="0" tIns="0" rIns="0" bIns="0" anchor="t">
            <a:spAutoFit/>
          </a:bodyPr>
          <a:lstStyle/>
          <a:p>
            <a:pPr algn="l">
              <a:lnSpc>
                <a:spcPct val="114000"/>
              </a:lnSpc>
            </a:pPr>
            <a:r>
              <a:rPr sz="1100" b="0" i="0">
                <a:solidFill>
                  <a:srgbClr val="6E7E7D"/>
                </a:solidFill>
                <a:latin typeface="Arial"/>
              </a:rPr>
              <a:t>Nuevos documentos de ventas: se recalcula la PD y la tasa.*</a:t>
            </a:r>
          </a:p>
        </p:txBody>
      </p:sp>
      <p:sp>
        <p:nvSpPr>
          <p:cNvPr id="143" name="TextBox 142">
            <a:extLst>
              <a:ext uri="{FF2B5EF4-FFF2-40B4-BE49-F238E27FC236}">
                <a16:creationId xmlns:a16="http://schemas.microsoft.com/office/drawing/2014/main" id="{9CD94061-356C-4023-20D8-34E8A7C5A7C7}"/>
              </a:ext>
            </a:extLst>
          </p:cNvPr>
          <p:cNvSpPr txBox="1"/>
          <p:nvPr/>
        </p:nvSpPr>
        <p:spPr>
          <a:xfrm>
            <a:off x="6039380" y="7150692"/>
            <a:ext cx="3117601" cy="161583"/>
          </a:xfrm>
          <a:prstGeom prst="rect">
            <a:avLst/>
          </a:prstGeom>
          <a:noFill/>
        </p:spPr>
        <p:txBody>
          <a:bodyPr wrap="square" lIns="0" tIns="0" rIns="0" bIns="0" anchor="t">
            <a:spAutoFit/>
          </a:bodyPr>
          <a:lstStyle/>
          <a:p>
            <a:pPr algn="l">
              <a:lnSpc>
                <a:spcPct val="100000"/>
              </a:lnSpc>
            </a:pPr>
            <a:r>
              <a:rPr sz="1050" b="0" i="1">
                <a:solidFill>
                  <a:srgbClr val="9AA8A7"/>
                </a:solidFill>
                <a:latin typeface="Arial"/>
              </a:rPr>
              <a:t>* Sujeto a evaluación</a:t>
            </a:r>
          </a:p>
        </p:txBody>
      </p:sp>
      <p:sp>
        <p:nvSpPr>
          <p:cNvPr id="160" name="Rectangle 159">
            <a:extLst>
              <a:ext uri="{FF2B5EF4-FFF2-40B4-BE49-F238E27FC236}">
                <a16:creationId xmlns:a16="http://schemas.microsoft.com/office/drawing/2014/main" id="{50CF4D06-3A50-E735-5D8E-0CC9C1C29472}"/>
              </a:ext>
            </a:extLst>
          </p:cNvPr>
          <p:cNvSpPr/>
          <p:nvPr/>
        </p:nvSpPr>
        <p:spPr>
          <a:xfrm>
            <a:off x="9562956" y="1664293"/>
            <a:ext cx="3556513" cy="568756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dirty="0"/>
          </a:p>
        </p:txBody>
      </p:sp>
      <p:sp>
        <p:nvSpPr>
          <p:cNvPr id="161" name="Rectangle 160">
            <a:extLst>
              <a:ext uri="{FF2B5EF4-FFF2-40B4-BE49-F238E27FC236}">
                <a16:creationId xmlns:a16="http://schemas.microsoft.com/office/drawing/2014/main" id="{67E6CAD9-DC84-0D9C-E117-376B835B29CC}"/>
              </a:ext>
            </a:extLst>
          </p:cNvPr>
          <p:cNvSpPr/>
          <p:nvPr/>
        </p:nvSpPr>
        <p:spPr>
          <a:xfrm>
            <a:off x="9562956" y="1664293"/>
            <a:ext cx="3556513" cy="45720"/>
          </a:xfrm>
          <a:prstGeom prst="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2" name="TextBox 161">
            <a:extLst>
              <a:ext uri="{FF2B5EF4-FFF2-40B4-BE49-F238E27FC236}">
                <a16:creationId xmlns:a16="http://schemas.microsoft.com/office/drawing/2014/main" id="{A11F5085-B98C-D732-CD12-95E429423CF3}"/>
              </a:ext>
            </a:extLst>
          </p:cNvPr>
          <p:cNvSpPr txBox="1"/>
          <p:nvPr/>
        </p:nvSpPr>
        <p:spPr>
          <a:xfrm>
            <a:off x="9782412" y="1989394"/>
            <a:ext cx="457200" cy="430887"/>
          </a:xfrm>
          <a:prstGeom prst="rect">
            <a:avLst/>
          </a:prstGeom>
          <a:noFill/>
        </p:spPr>
        <p:txBody>
          <a:bodyPr wrap="square" lIns="0" tIns="0" rIns="0" bIns="0" anchor="t">
            <a:spAutoFit/>
          </a:bodyPr>
          <a:lstStyle/>
          <a:p>
            <a:pPr algn="l">
              <a:lnSpc>
                <a:spcPct val="100000"/>
              </a:lnSpc>
            </a:pPr>
            <a:r>
              <a:rPr lang="en-US" sz="2800" b="1" dirty="0">
                <a:solidFill>
                  <a:schemeClr val="bg2"/>
                </a:solidFill>
              </a:rPr>
              <a:t>3</a:t>
            </a:r>
            <a:endParaRPr sz="2800" b="1" i="0" dirty="0">
              <a:solidFill>
                <a:schemeClr val="bg2"/>
              </a:solidFill>
              <a:latin typeface="Arial"/>
            </a:endParaRPr>
          </a:p>
        </p:txBody>
      </p:sp>
      <p:sp>
        <p:nvSpPr>
          <p:cNvPr id="224" name="TextBox 223">
            <a:extLst>
              <a:ext uri="{FF2B5EF4-FFF2-40B4-BE49-F238E27FC236}">
                <a16:creationId xmlns:a16="http://schemas.microsoft.com/office/drawing/2014/main" id="{5A50E11A-3EF8-CAF8-0174-049E2C09B593}"/>
              </a:ext>
            </a:extLst>
          </p:cNvPr>
          <p:cNvSpPr txBox="1"/>
          <p:nvPr/>
        </p:nvSpPr>
        <p:spPr>
          <a:xfrm>
            <a:off x="10221324" y="1892893"/>
            <a:ext cx="2678689" cy="623889"/>
          </a:xfrm>
          <a:prstGeom prst="rect">
            <a:avLst/>
          </a:prstGeom>
          <a:noFill/>
        </p:spPr>
        <p:txBody>
          <a:bodyPr wrap="square" lIns="0" tIns="0" rIns="0" bIns="0" anchor="t">
            <a:spAutoFit/>
          </a:bodyPr>
          <a:lstStyle/>
          <a:p>
            <a:pPr algn="l">
              <a:lnSpc>
                <a:spcPct val="105000"/>
              </a:lnSpc>
            </a:pPr>
            <a:r>
              <a:rPr sz="2000" b="1" i="0">
                <a:solidFill>
                  <a:srgbClr val="0B2E2C"/>
                </a:solidFill>
                <a:latin typeface="Arial"/>
              </a:rPr>
              <a:t>Cumplimiento</a:t>
            </a:r>
          </a:p>
          <a:p>
            <a:pPr algn="l">
              <a:lnSpc>
                <a:spcPct val="105000"/>
              </a:lnSpc>
            </a:pPr>
            <a:r>
              <a:rPr sz="2000" b="1" i="0">
                <a:solidFill>
                  <a:srgbClr val="0B2E2C"/>
                </a:solidFill>
                <a:latin typeface="Arial"/>
              </a:rPr>
              <a:t>de promesas</a:t>
            </a:r>
          </a:p>
        </p:txBody>
      </p:sp>
      <p:sp>
        <p:nvSpPr>
          <p:cNvPr id="225" name="TextBox 224">
            <a:extLst>
              <a:ext uri="{FF2B5EF4-FFF2-40B4-BE49-F238E27FC236}">
                <a16:creationId xmlns:a16="http://schemas.microsoft.com/office/drawing/2014/main" id="{D97471F9-6646-676D-4E46-46777A713205}"/>
              </a:ext>
            </a:extLst>
          </p:cNvPr>
          <p:cNvSpPr txBox="1"/>
          <p:nvPr/>
        </p:nvSpPr>
        <p:spPr>
          <a:xfrm>
            <a:off x="9782412" y="2580697"/>
            <a:ext cx="3117601" cy="406650"/>
          </a:xfrm>
          <a:prstGeom prst="rect">
            <a:avLst/>
          </a:prstGeom>
          <a:noFill/>
        </p:spPr>
        <p:txBody>
          <a:bodyPr wrap="square" lIns="0" tIns="0" rIns="0" bIns="0" anchor="t">
            <a:spAutoFit/>
          </a:bodyPr>
          <a:lstStyle/>
          <a:p>
            <a:pPr algn="l">
              <a:lnSpc>
                <a:spcPct val="115000"/>
              </a:lnSpc>
            </a:pPr>
            <a:r>
              <a:rPr sz="1200" b="0" i="0">
                <a:solidFill>
                  <a:srgbClr val="6E7E7D"/>
                </a:solidFill>
                <a:latin typeface="Arial"/>
              </a:rPr>
              <a:t>Seguimiento a las contraprestaciones que justificaron el descuento.</a:t>
            </a:r>
          </a:p>
        </p:txBody>
      </p:sp>
      <p:sp>
        <p:nvSpPr>
          <p:cNvPr id="226" name="Rectangle 225">
            <a:extLst>
              <a:ext uri="{FF2B5EF4-FFF2-40B4-BE49-F238E27FC236}">
                <a16:creationId xmlns:a16="http://schemas.microsoft.com/office/drawing/2014/main" id="{88CE7EF1-C344-D48F-3DE3-9498FB23293A}"/>
              </a:ext>
            </a:extLst>
          </p:cNvPr>
          <p:cNvSpPr/>
          <p:nvPr/>
        </p:nvSpPr>
        <p:spPr>
          <a:xfrm>
            <a:off x="9782412" y="3054181"/>
            <a:ext cx="3117601" cy="8595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7" name="Rectangle 226">
            <a:extLst>
              <a:ext uri="{FF2B5EF4-FFF2-40B4-BE49-F238E27FC236}">
                <a16:creationId xmlns:a16="http://schemas.microsoft.com/office/drawing/2014/main" id="{D5251A73-ED4B-AF90-6AB2-D0A7B811DB7E}"/>
              </a:ext>
            </a:extLst>
          </p:cNvPr>
          <p:cNvSpPr/>
          <p:nvPr/>
        </p:nvSpPr>
        <p:spPr>
          <a:xfrm>
            <a:off x="9782412" y="3054181"/>
            <a:ext cx="45720" cy="859536"/>
          </a:xfrm>
          <a:prstGeom prst="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8" name="TextBox 227">
            <a:extLst>
              <a:ext uri="{FF2B5EF4-FFF2-40B4-BE49-F238E27FC236}">
                <a16:creationId xmlns:a16="http://schemas.microsoft.com/office/drawing/2014/main" id="{351C3BE1-C652-1F00-6456-8C629E37D88A}"/>
              </a:ext>
            </a:extLst>
          </p:cNvPr>
          <p:cNvSpPr txBox="1"/>
          <p:nvPr/>
        </p:nvSpPr>
        <p:spPr>
          <a:xfrm>
            <a:off x="9965292" y="3145621"/>
            <a:ext cx="2898145" cy="184666"/>
          </a:xfrm>
          <a:prstGeom prst="rect">
            <a:avLst/>
          </a:prstGeom>
          <a:noFill/>
        </p:spPr>
        <p:txBody>
          <a:bodyPr wrap="square" lIns="0" tIns="0" rIns="0" bIns="0" anchor="t">
            <a:spAutoFit/>
          </a:bodyPr>
          <a:lstStyle/>
          <a:p>
            <a:pPr algn="l">
              <a:lnSpc>
                <a:spcPct val="100000"/>
              </a:lnSpc>
            </a:pPr>
            <a:r>
              <a:rPr sz="1200" b="1" i="0">
                <a:solidFill>
                  <a:schemeClr val="bg2"/>
                </a:solidFill>
                <a:latin typeface="Arial"/>
              </a:rPr>
              <a:t>Registro</a:t>
            </a:r>
          </a:p>
        </p:txBody>
      </p:sp>
      <p:sp>
        <p:nvSpPr>
          <p:cNvPr id="229" name="TextBox 228">
            <a:extLst>
              <a:ext uri="{FF2B5EF4-FFF2-40B4-BE49-F238E27FC236}">
                <a16:creationId xmlns:a16="http://schemas.microsoft.com/office/drawing/2014/main" id="{52A905C0-FCE1-B3FE-68DA-B1E24AB275F5}"/>
              </a:ext>
            </a:extLst>
          </p:cNvPr>
          <p:cNvSpPr txBox="1"/>
          <p:nvPr/>
        </p:nvSpPr>
        <p:spPr>
          <a:xfrm>
            <a:off x="9965292" y="3383364"/>
            <a:ext cx="2898145" cy="381708"/>
          </a:xfrm>
          <a:prstGeom prst="rect">
            <a:avLst/>
          </a:prstGeom>
          <a:noFill/>
        </p:spPr>
        <p:txBody>
          <a:bodyPr wrap="square" lIns="0" tIns="0" rIns="0" bIns="0" anchor="t">
            <a:spAutoFit/>
          </a:bodyPr>
          <a:lstStyle/>
          <a:p>
            <a:pPr algn="l">
              <a:lnSpc>
                <a:spcPct val="118000"/>
              </a:lnSpc>
            </a:pPr>
            <a:r>
              <a:rPr sz="1100" b="0" i="0">
                <a:solidFill>
                  <a:srgbClr val="3E5553"/>
                </a:solidFill>
                <a:latin typeface="Arial"/>
              </a:rPr>
              <a:t>Cada promesa queda asociada a la excepción que la originó.</a:t>
            </a:r>
          </a:p>
        </p:txBody>
      </p:sp>
      <p:sp>
        <p:nvSpPr>
          <p:cNvPr id="230" name="Rectangle 229">
            <a:extLst>
              <a:ext uri="{FF2B5EF4-FFF2-40B4-BE49-F238E27FC236}">
                <a16:creationId xmlns:a16="http://schemas.microsoft.com/office/drawing/2014/main" id="{065990B0-85CE-E8A8-876E-A63BFB6A04FC}"/>
              </a:ext>
            </a:extLst>
          </p:cNvPr>
          <p:cNvSpPr/>
          <p:nvPr/>
        </p:nvSpPr>
        <p:spPr>
          <a:xfrm>
            <a:off x="9782412" y="4005157"/>
            <a:ext cx="3117601" cy="8595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1" name="Rectangle 230">
            <a:extLst>
              <a:ext uri="{FF2B5EF4-FFF2-40B4-BE49-F238E27FC236}">
                <a16:creationId xmlns:a16="http://schemas.microsoft.com/office/drawing/2014/main" id="{B11BFFFC-E69D-F341-8F6D-AC1A9A71C31B}"/>
              </a:ext>
            </a:extLst>
          </p:cNvPr>
          <p:cNvSpPr/>
          <p:nvPr/>
        </p:nvSpPr>
        <p:spPr>
          <a:xfrm>
            <a:off x="9782412" y="4005157"/>
            <a:ext cx="45720" cy="859536"/>
          </a:xfrm>
          <a:prstGeom prst="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2" name="TextBox 231">
            <a:extLst>
              <a:ext uri="{FF2B5EF4-FFF2-40B4-BE49-F238E27FC236}">
                <a16:creationId xmlns:a16="http://schemas.microsoft.com/office/drawing/2014/main" id="{ADFC5545-DC67-87FE-59D5-25F89C45BA22}"/>
              </a:ext>
            </a:extLst>
          </p:cNvPr>
          <p:cNvSpPr txBox="1"/>
          <p:nvPr/>
        </p:nvSpPr>
        <p:spPr>
          <a:xfrm>
            <a:off x="9965292" y="4096596"/>
            <a:ext cx="2898145" cy="184666"/>
          </a:xfrm>
          <a:prstGeom prst="rect">
            <a:avLst/>
          </a:prstGeom>
          <a:noFill/>
        </p:spPr>
        <p:txBody>
          <a:bodyPr wrap="square" lIns="0" tIns="0" rIns="0" bIns="0" anchor="t">
            <a:spAutoFit/>
          </a:bodyPr>
          <a:lstStyle/>
          <a:p>
            <a:pPr algn="l">
              <a:lnSpc>
                <a:spcPct val="100000"/>
              </a:lnSpc>
            </a:pPr>
            <a:r>
              <a:rPr sz="1200" b="1" i="0">
                <a:solidFill>
                  <a:schemeClr val="bg2"/>
                </a:solidFill>
                <a:latin typeface="Arial"/>
              </a:rPr>
              <a:t>Seguimiento periódico</a:t>
            </a:r>
          </a:p>
        </p:txBody>
      </p:sp>
      <p:sp>
        <p:nvSpPr>
          <p:cNvPr id="233" name="TextBox 232">
            <a:extLst>
              <a:ext uri="{FF2B5EF4-FFF2-40B4-BE49-F238E27FC236}">
                <a16:creationId xmlns:a16="http://schemas.microsoft.com/office/drawing/2014/main" id="{B5FE715D-CE83-59CF-1CAF-CDD7ED9FDA55}"/>
              </a:ext>
            </a:extLst>
          </p:cNvPr>
          <p:cNvSpPr txBox="1"/>
          <p:nvPr/>
        </p:nvSpPr>
        <p:spPr>
          <a:xfrm>
            <a:off x="9965292" y="4334341"/>
            <a:ext cx="2898145" cy="381708"/>
          </a:xfrm>
          <a:prstGeom prst="rect">
            <a:avLst/>
          </a:prstGeom>
          <a:noFill/>
        </p:spPr>
        <p:txBody>
          <a:bodyPr wrap="square" lIns="0" tIns="0" rIns="0" bIns="0" anchor="t">
            <a:spAutoFit/>
          </a:bodyPr>
          <a:lstStyle/>
          <a:p>
            <a:pPr algn="l">
              <a:lnSpc>
                <a:spcPct val="118000"/>
              </a:lnSpc>
            </a:pPr>
            <a:r>
              <a:rPr sz="1100" b="0" i="0">
                <a:solidFill>
                  <a:srgbClr val="3E5553"/>
                </a:solidFill>
                <a:latin typeface="Arial"/>
              </a:rPr>
              <a:t>El equipo de cumplimiento verifica la evolución vía MFA.</a:t>
            </a:r>
          </a:p>
        </p:txBody>
      </p:sp>
      <p:sp>
        <p:nvSpPr>
          <p:cNvPr id="234" name="Rectangle 233">
            <a:extLst>
              <a:ext uri="{FF2B5EF4-FFF2-40B4-BE49-F238E27FC236}">
                <a16:creationId xmlns:a16="http://schemas.microsoft.com/office/drawing/2014/main" id="{06CDD77A-463C-CF0D-75D2-2FCB74E1456B}"/>
              </a:ext>
            </a:extLst>
          </p:cNvPr>
          <p:cNvSpPr/>
          <p:nvPr/>
        </p:nvSpPr>
        <p:spPr>
          <a:xfrm>
            <a:off x="9782412" y="4956133"/>
            <a:ext cx="3117601" cy="8595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5" name="Rectangle 234">
            <a:extLst>
              <a:ext uri="{FF2B5EF4-FFF2-40B4-BE49-F238E27FC236}">
                <a16:creationId xmlns:a16="http://schemas.microsoft.com/office/drawing/2014/main" id="{D229FB49-A4BD-1664-12C1-98B2FF78E7A3}"/>
              </a:ext>
            </a:extLst>
          </p:cNvPr>
          <p:cNvSpPr/>
          <p:nvPr/>
        </p:nvSpPr>
        <p:spPr>
          <a:xfrm>
            <a:off x="9782412" y="4956133"/>
            <a:ext cx="45720" cy="859536"/>
          </a:xfrm>
          <a:prstGeom prst="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6" name="TextBox 235">
            <a:extLst>
              <a:ext uri="{FF2B5EF4-FFF2-40B4-BE49-F238E27FC236}">
                <a16:creationId xmlns:a16="http://schemas.microsoft.com/office/drawing/2014/main" id="{95CEFB42-2B8E-4C4B-BEDC-91BA69F293B6}"/>
              </a:ext>
            </a:extLst>
          </p:cNvPr>
          <p:cNvSpPr txBox="1"/>
          <p:nvPr/>
        </p:nvSpPr>
        <p:spPr>
          <a:xfrm>
            <a:off x="9965292" y="5047573"/>
            <a:ext cx="2898145" cy="184666"/>
          </a:xfrm>
          <a:prstGeom prst="rect">
            <a:avLst/>
          </a:prstGeom>
          <a:noFill/>
        </p:spPr>
        <p:txBody>
          <a:bodyPr wrap="square" lIns="0" tIns="0" rIns="0" bIns="0" anchor="t">
            <a:spAutoFit/>
          </a:bodyPr>
          <a:lstStyle/>
          <a:p>
            <a:pPr algn="l">
              <a:lnSpc>
                <a:spcPct val="100000"/>
              </a:lnSpc>
            </a:pPr>
            <a:r>
              <a:rPr sz="1200" b="1" i="0">
                <a:solidFill>
                  <a:schemeClr val="bg2"/>
                </a:solidFill>
                <a:latin typeface="Arial"/>
              </a:rPr>
              <a:t>Consecuencia</a:t>
            </a:r>
          </a:p>
        </p:txBody>
      </p:sp>
      <p:sp>
        <p:nvSpPr>
          <p:cNvPr id="237" name="TextBox 236">
            <a:extLst>
              <a:ext uri="{FF2B5EF4-FFF2-40B4-BE49-F238E27FC236}">
                <a16:creationId xmlns:a16="http://schemas.microsoft.com/office/drawing/2014/main" id="{7F0ADBF2-DA2F-0B2C-1684-45337A87A761}"/>
              </a:ext>
            </a:extLst>
          </p:cNvPr>
          <p:cNvSpPr txBox="1"/>
          <p:nvPr/>
        </p:nvSpPr>
        <p:spPr>
          <a:xfrm>
            <a:off x="9965292" y="5285317"/>
            <a:ext cx="2898145" cy="381708"/>
          </a:xfrm>
          <a:prstGeom prst="rect">
            <a:avLst/>
          </a:prstGeom>
          <a:noFill/>
        </p:spPr>
        <p:txBody>
          <a:bodyPr wrap="square" lIns="0" tIns="0" rIns="0" bIns="0" anchor="t">
            <a:spAutoFit/>
          </a:bodyPr>
          <a:lstStyle/>
          <a:p>
            <a:pPr algn="l">
              <a:lnSpc>
                <a:spcPct val="118000"/>
              </a:lnSpc>
            </a:pPr>
            <a:r>
              <a:rPr sz="1100" b="0" i="0">
                <a:solidFill>
                  <a:srgbClr val="3E5553"/>
                </a:solidFill>
                <a:latin typeface="Arial"/>
              </a:rPr>
              <a:t>Si la promesa no se cumple, la operación entra al re pricing.</a:t>
            </a:r>
          </a:p>
        </p:txBody>
      </p:sp>
      <p:sp>
        <p:nvSpPr>
          <p:cNvPr id="238" name="Rectangle 237">
            <a:extLst>
              <a:ext uri="{FF2B5EF4-FFF2-40B4-BE49-F238E27FC236}">
                <a16:creationId xmlns:a16="http://schemas.microsoft.com/office/drawing/2014/main" id="{566FDEE7-E2CC-935D-529B-DA19098D276F}"/>
              </a:ext>
            </a:extLst>
          </p:cNvPr>
          <p:cNvSpPr/>
          <p:nvPr/>
        </p:nvSpPr>
        <p:spPr>
          <a:xfrm>
            <a:off x="9782412" y="5998549"/>
            <a:ext cx="3117601" cy="457200"/>
          </a:xfrm>
          <a:prstGeom prst="rect">
            <a:avLst/>
          </a:prstGeom>
          <a:solidFill>
            <a:srgbClr val="F6F8F8"/>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3E5553"/>
                </a:solidFill>
                <a:latin typeface="Arial"/>
              </a:rPr>
              <a:t>Responsable: equipo de cumplimiento BN</a:t>
            </a:r>
          </a:p>
        </p:txBody>
      </p:sp>
      <p:cxnSp>
        <p:nvCxnSpPr>
          <p:cNvPr id="239" name="Connector 93">
            <a:extLst>
              <a:ext uri="{FF2B5EF4-FFF2-40B4-BE49-F238E27FC236}">
                <a16:creationId xmlns:a16="http://schemas.microsoft.com/office/drawing/2014/main" id="{259FE7AB-327C-B980-6703-B699FDF82361}"/>
              </a:ext>
            </a:extLst>
          </p:cNvPr>
          <p:cNvCxnSpPr>
            <a:cxnSpLocks/>
            <a:stCxn id="240" idx="6"/>
            <a:endCxn id="243" idx="2"/>
          </p:cNvCxnSpPr>
          <p:nvPr/>
        </p:nvCxnSpPr>
        <p:spPr>
          <a:xfrm>
            <a:off x="3858787" y="7553028"/>
            <a:ext cx="7427561" cy="0"/>
          </a:xfrm>
          <a:prstGeom prst="line">
            <a:avLst/>
          </a:prstGeom>
          <a:ln w="15875">
            <a:solidFill>
              <a:srgbClr val="D5DFDE"/>
            </a:solidFill>
          </a:ln>
        </p:spPr>
        <p:style>
          <a:lnRef idx="2">
            <a:schemeClr val="accent1"/>
          </a:lnRef>
          <a:fillRef idx="0">
            <a:schemeClr val="accent1"/>
          </a:fillRef>
          <a:effectRef idx="1">
            <a:schemeClr val="accent1"/>
          </a:effectRef>
          <a:fontRef idx="minor">
            <a:schemeClr val="tx1"/>
          </a:fontRef>
        </p:style>
      </p:cxnSp>
      <p:sp>
        <p:nvSpPr>
          <p:cNvPr id="240" name="Oval 239">
            <a:extLst>
              <a:ext uri="{FF2B5EF4-FFF2-40B4-BE49-F238E27FC236}">
                <a16:creationId xmlns:a16="http://schemas.microsoft.com/office/drawing/2014/main" id="{93A27779-13D2-47F3-D5B3-B841347B43E8}"/>
              </a:ext>
            </a:extLst>
          </p:cNvPr>
          <p:cNvSpPr/>
          <p:nvPr/>
        </p:nvSpPr>
        <p:spPr>
          <a:xfrm>
            <a:off x="3749059" y="7498164"/>
            <a:ext cx="109728" cy="10972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41" name="Oval 240">
            <a:extLst>
              <a:ext uri="{FF2B5EF4-FFF2-40B4-BE49-F238E27FC236}">
                <a16:creationId xmlns:a16="http://schemas.microsoft.com/office/drawing/2014/main" id="{4E7938A5-3FFC-0E90-3C8B-BAB280E26028}"/>
              </a:ext>
            </a:extLst>
          </p:cNvPr>
          <p:cNvSpPr/>
          <p:nvPr/>
        </p:nvSpPr>
        <p:spPr>
          <a:xfrm>
            <a:off x="7543316" y="7498164"/>
            <a:ext cx="109728" cy="10972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43" name="Oval 242">
            <a:extLst>
              <a:ext uri="{FF2B5EF4-FFF2-40B4-BE49-F238E27FC236}">
                <a16:creationId xmlns:a16="http://schemas.microsoft.com/office/drawing/2014/main" id="{326B222B-6B24-14BA-72AB-13E82DD8DD25}"/>
              </a:ext>
            </a:extLst>
          </p:cNvPr>
          <p:cNvSpPr/>
          <p:nvPr/>
        </p:nvSpPr>
        <p:spPr>
          <a:xfrm>
            <a:off x="11286348" y="7498164"/>
            <a:ext cx="109728" cy="109728"/>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Tree>
    <p:extLst>
      <p:ext uri="{BB962C8B-B14F-4D97-AF65-F5344CB8AC3E}">
        <p14:creationId xmlns:p14="http://schemas.microsoft.com/office/powerpoint/2010/main" val="2797572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23A86-3A49-5F59-BA60-533674D97E4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EF365D0-61CD-BDD6-9FEB-B4298C672DE0}"/>
              </a:ext>
            </a:extLst>
          </p:cNvPr>
          <p:cNvSpPr/>
          <p:nvPr/>
        </p:nvSpPr>
        <p:spPr>
          <a:xfrm>
            <a:off x="0" y="1143000"/>
            <a:ext cx="16256000" cy="84043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48" name="Google Shape;167;g3ed063acbfe_1_0">
            <a:extLst>
              <a:ext uri="{FF2B5EF4-FFF2-40B4-BE49-F238E27FC236}">
                <a16:creationId xmlns:a16="http://schemas.microsoft.com/office/drawing/2014/main" id="{F96A02BD-C80F-5E05-C1B9-455F1C48AB5D}"/>
              </a:ext>
            </a:extLst>
          </p:cNvPr>
          <p:cNvSpPr txBox="1"/>
          <p:nvPr/>
        </p:nvSpPr>
        <p:spPr>
          <a:xfrm>
            <a:off x="298027" y="376124"/>
            <a:ext cx="13824856"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Agenda</a:t>
            </a:r>
          </a:p>
        </p:txBody>
      </p:sp>
      <p:sp>
        <p:nvSpPr>
          <p:cNvPr id="49" name="Rectangle 48">
            <a:extLst>
              <a:ext uri="{FF2B5EF4-FFF2-40B4-BE49-F238E27FC236}">
                <a16:creationId xmlns:a16="http://schemas.microsoft.com/office/drawing/2014/main" id="{689B3776-5968-3022-9200-C14EA0F624C6}"/>
              </a:ext>
            </a:extLst>
          </p:cNvPr>
          <p:cNvSpPr/>
          <p:nvPr/>
        </p:nvSpPr>
        <p:spPr>
          <a:xfrm>
            <a:off x="298027" y="1519125"/>
            <a:ext cx="13453832" cy="7069063"/>
          </a:xfrm>
          <a:prstGeom prst="rect">
            <a:avLst/>
          </a:prstGeom>
          <a:solidFill>
            <a:srgbClr val="FFFFFF">
              <a:alpha val="61569"/>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pic>
        <p:nvPicPr>
          <p:cNvPr id="27" name="Google Shape;79;p16" descr="preencoded.png">
            <a:extLst>
              <a:ext uri="{FF2B5EF4-FFF2-40B4-BE49-F238E27FC236}">
                <a16:creationId xmlns:a16="http://schemas.microsoft.com/office/drawing/2014/main" id="{605C03AE-60A4-F365-464C-959EF292E959}"/>
              </a:ext>
            </a:extLst>
          </p:cNvPr>
          <p:cNvPicPr preferRelativeResize="0"/>
          <p:nvPr/>
        </p:nvPicPr>
        <p:blipFill rotWithShape="1">
          <a:blip r:embed="rId3">
            <a:alphaModFix/>
          </a:blip>
          <a:srcRect t="21005"/>
          <a:stretch/>
        </p:blipFill>
        <p:spPr>
          <a:xfrm>
            <a:off x="157280" y="592487"/>
            <a:ext cx="5464231" cy="6474596"/>
          </a:xfrm>
          <a:prstGeom prst="rect">
            <a:avLst/>
          </a:prstGeom>
          <a:noFill/>
          <a:ln>
            <a:noFill/>
          </a:ln>
        </p:spPr>
      </p:pic>
      <p:sp>
        <p:nvSpPr>
          <p:cNvPr id="29" name="Google Shape;80;p16">
            <a:extLst>
              <a:ext uri="{FF2B5EF4-FFF2-40B4-BE49-F238E27FC236}">
                <a16:creationId xmlns:a16="http://schemas.microsoft.com/office/drawing/2014/main" id="{BE83B01F-C383-6A81-0A91-AFAD8FA96F6E}"/>
              </a:ext>
            </a:extLst>
          </p:cNvPr>
          <p:cNvSpPr/>
          <p:nvPr/>
        </p:nvSpPr>
        <p:spPr>
          <a:xfrm>
            <a:off x="1268135" y="5488046"/>
            <a:ext cx="5717867" cy="3074133"/>
          </a:xfrm>
          <a:prstGeom prst="rect">
            <a:avLst/>
          </a:prstGeom>
          <a:solidFill>
            <a:srgbClr val="006666"/>
          </a:solidFill>
          <a:ln>
            <a:noFill/>
          </a:ln>
        </p:spPr>
        <p:txBody>
          <a:bodyPr spcFirstLastPara="1" wrap="square" lIns="101600" tIns="50800" rIns="101600" bIns="50800" anchor="ctr" anchorCtr="0">
            <a:noAutofit/>
          </a:bodyPr>
          <a:lstStyle/>
          <a:p>
            <a:pPr algn="ctr">
              <a:buClr>
                <a:schemeClr val="lt1"/>
              </a:buClr>
              <a:buSzPts val="1200"/>
            </a:pPr>
            <a:endParaRPr sz="1956">
              <a:solidFill>
                <a:schemeClr val="dk1"/>
              </a:solidFill>
              <a:latin typeface="Calibri"/>
              <a:ea typeface="Calibri"/>
              <a:cs typeface="Calibri"/>
              <a:sym typeface="Calibri"/>
            </a:endParaRPr>
          </a:p>
        </p:txBody>
      </p:sp>
      <p:sp>
        <p:nvSpPr>
          <p:cNvPr id="30" name="Google Shape;81;p16">
            <a:extLst>
              <a:ext uri="{FF2B5EF4-FFF2-40B4-BE49-F238E27FC236}">
                <a16:creationId xmlns:a16="http://schemas.microsoft.com/office/drawing/2014/main" id="{42F88DBB-C1D9-8D85-CA64-BF8EDFB1432D}"/>
              </a:ext>
            </a:extLst>
          </p:cNvPr>
          <p:cNvSpPr txBox="1"/>
          <p:nvPr/>
        </p:nvSpPr>
        <p:spPr>
          <a:xfrm>
            <a:off x="1763954" y="6275266"/>
            <a:ext cx="4447467" cy="1499733"/>
          </a:xfrm>
          <a:prstGeom prst="rect">
            <a:avLst/>
          </a:prstGeom>
          <a:noFill/>
          <a:ln>
            <a:noFill/>
          </a:ln>
        </p:spPr>
        <p:txBody>
          <a:bodyPr spcFirstLastPara="1" wrap="square" lIns="0" tIns="0" rIns="0" bIns="0" anchor="t" anchorCtr="0">
            <a:noAutofit/>
          </a:bodyPr>
          <a:lstStyle/>
          <a:p>
            <a:r>
              <a:rPr lang="es-419" sz="4622" b="1">
                <a:solidFill>
                  <a:schemeClr val="lt1"/>
                </a:solidFill>
                <a:latin typeface="Poppins"/>
                <a:ea typeface="Poppins"/>
                <a:cs typeface="Poppins"/>
                <a:sym typeface="Poppins"/>
              </a:rPr>
              <a:t>Agenda</a:t>
            </a:r>
            <a:endParaRPr sz="4622" b="1">
              <a:solidFill>
                <a:schemeClr val="lt1"/>
              </a:solidFill>
              <a:latin typeface="Poppins"/>
              <a:ea typeface="Poppins"/>
              <a:cs typeface="Poppins"/>
              <a:sym typeface="Poppins"/>
            </a:endParaRPr>
          </a:p>
          <a:p>
            <a:endParaRPr sz="4267">
              <a:solidFill>
                <a:schemeClr val="lt1"/>
              </a:solidFill>
              <a:latin typeface="Poppins"/>
              <a:ea typeface="Poppins"/>
              <a:cs typeface="Poppins"/>
              <a:sym typeface="Poppins"/>
            </a:endParaRPr>
          </a:p>
        </p:txBody>
      </p:sp>
      <p:sp>
        <p:nvSpPr>
          <p:cNvPr id="31" name="Google Shape;75;p2">
            <a:extLst>
              <a:ext uri="{FF2B5EF4-FFF2-40B4-BE49-F238E27FC236}">
                <a16:creationId xmlns:a16="http://schemas.microsoft.com/office/drawing/2014/main" id="{1D74C71F-C876-64CA-2FAC-BCAF4259F3DB}"/>
              </a:ext>
            </a:extLst>
          </p:cNvPr>
          <p:cNvSpPr txBox="1"/>
          <p:nvPr/>
        </p:nvSpPr>
        <p:spPr>
          <a:xfrm>
            <a:off x="7298784" y="4181451"/>
            <a:ext cx="8394169"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ea typeface="Poppins"/>
                <a:cs typeface="Poppins"/>
                <a:sym typeface="Poppins"/>
              </a:rPr>
              <a:t>Entregables</a:t>
            </a:r>
            <a:r>
              <a:rPr lang="en-US" sz="2489" dirty="0">
                <a:solidFill>
                  <a:srgbClr val="353840"/>
                </a:solidFill>
                <a:latin typeface="Poppins"/>
                <a:ea typeface="Poppins"/>
                <a:cs typeface="Poppins"/>
                <a:sym typeface="Poppins"/>
              </a:rPr>
              <a:t> &amp; </a:t>
            </a:r>
            <a:r>
              <a:rPr lang="en-US" sz="2489" dirty="0" err="1">
                <a:solidFill>
                  <a:srgbClr val="353840"/>
                </a:solidFill>
                <a:latin typeface="Poppins"/>
                <a:ea typeface="Poppins"/>
                <a:cs typeface="Poppins"/>
                <a:sym typeface="Poppins"/>
              </a:rPr>
              <a:t>transferencia</a:t>
            </a:r>
            <a:r>
              <a:rPr lang="en-US" sz="2489" dirty="0">
                <a:solidFill>
                  <a:srgbClr val="353840"/>
                </a:solidFill>
                <a:latin typeface="Poppins"/>
                <a:ea typeface="Poppins"/>
                <a:cs typeface="Poppins"/>
                <a:sym typeface="Poppins"/>
              </a:rPr>
              <a:t> del </a:t>
            </a:r>
            <a:r>
              <a:rPr lang="en-US" sz="2489" dirty="0" err="1">
                <a:solidFill>
                  <a:srgbClr val="353840"/>
                </a:solidFill>
                <a:latin typeface="Poppins"/>
                <a:ea typeface="Poppins"/>
                <a:cs typeface="Poppins"/>
                <a:sym typeface="Poppins"/>
              </a:rPr>
              <a:t>conocimiento</a:t>
            </a:r>
            <a:endParaRPr sz="2489" dirty="0"/>
          </a:p>
        </p:txBody>
      </p:sp>
      <p:sp>
        <p:nvSpPr>
          <p:cNvPr id="32" name="Google Shape;76;p2">
            <a:extLst>
              <a:ext uri="{FF2B5EF4-FFF2-40B4-BE49-F238E27FC236}">
                <a16:creationId xmlns:a16="http://schemas.microsoft.com/office/drawing/2014/main" id="{300B4C32-75D9-93B5-C986-BFEF3405559B}"/>
              </a:ext>
            </a:extLst>
          </p:cNvPr>
          <p:cNvSpPr/>
          <p:nvPr/>
        </p:nvSpPr>
        <p:spPr>
          <a:xfrm>
            <a:off x="6211907" y="2639994"/>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2</a:t>
            </a:r>
            <a:endParaRPr sz="2489" dirty="0"/>
          </a:p>
        </p:txBody>
      </p:sp>
      <p:sp>
        <p:nvSpPr>
          <p:cNvPr id="33" name="Google Shape;77;p2">
            <a:extLst>
              <a:ext uri="{FF2B5EF4-FFF2-40B4-BE49-F238E27FC236}">
                <a16:creationId xmlns:a16="http://schemas.microsoft.com/office/drawing/2014/main" id="{06BD66E0-379D-079F-FA28-B00D1BD9F52E}"/>
              </a:ext>
            </a:extLst>
          </p:cNvPr>
          <p:cNvSpPr txBox="1"/>
          <p:nvPr/>
        </p:nvSpPr>
        <p:spPr>
          <a:xfrm>
            <a:off x="7298784" y="2552867"/>
            <a:ext cx="770010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cs typeface="Poppins"/>
                <a:sym typeface="Poppins"/>
              </a:rPr>
              <a:t>Revisión</a:t>
            </a:r>
            <a:r>
              <a:rPr lang="en-US" sz="2489" dirty="0">
                <a:solidFill>
                  <a:srgbClr val="353840"/>
                </a:solidFill>
                <a:latin typeface="Poppins"/>
                <a:cs typeface="Poppins"/>
                <a:sym typeface="Poppins"/>
              </a:rPr>
              <a:t> status modelos </a:t>
            </a:r>
            <a:r>
              <a:rPr lang="en-US" sz="2489" dirty="0" err="1">
                <a:solidFill>
                  <a:srgbClr val="353840"/>
                </a:solidFill>
                <a:latin typeface="Poppins"/>
                <a:cs typeface="Poppins"/>
                <a:sym typeface="Poppins"/>
              </a:rPr>
              <a:t>analíticos</a:t>
            </a:r>
            <a:endParaRPr sz="2489" dirty="0"/>
          </a:p>
        </p:txBody>
      </p:sp>
      <p:sp>
        <p:nvSpPr>
          <p:cNvPr id="34" name="Google Shape;78;p2">
            <a:extLst>
              <a:ext uri="{FF2B5EF4-FFF2-40B4-BE49-F238E27FC236}">
                <a16:creationId xmlns:a16="http://schemas.microsoft.com/office/drawing/2014/main" id="{B11A330B-2F33-000A-05A0-E8AC33A5CCD4}"/>
              </a:ext>
            </a:extLst>
          </p:cNvPr>
          <p:cNvSpPr/>
          <p:nvPr/>
        </p:nvSpPr>
        <p:spPr>
          <a:xfrm>
            <a:off x="6211907" y="4304558"/>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4</a:t>
            </a:r>
            <a:endParaRPr sz="2489" dirty="0"/>
          </a:p>
        </p:txBody>
      </p:sp>
      <p:sp>
        <p:nvSpPr>
          <p:cNvPr id="37" name="Google Shape;76;p2">
            <a:extLst>
              <a:ext uri="{FF2B5EF4-FFF2-40B4-BE49-F238E27FC236}">
                <a16:creationId xmlns:a16="http://schemas.microsoft.com/office/drawing/2014/main" id="{121B711B-2B6E-057B-6208-4D3A6F6EF56B}"/>
              </a:ext>
            </a:extLst>
          </p:cNvPr>
          <p:cNvSpPr/>
          <p:nvPr/>
        </p:nvSpPr>
        <p:spPr>
          <a:xfrm>
            <a:off x="6213452" y="1777188"/>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1</a:t>
            </a:r>
            <a:endParaRPr sz="2489" dirty="0"/>
          </a:p>
        </p:txBody>
      </p:sp>
      <p:sp>
        <p:nvSpPr>
          <p:cNvPr id="38" name="Google Shape;77;p2">
            <a:extLst>
              <a:ext uri="{FF2B5EF4-FFF2-40B4-BE49-F238E27FC236}">
                <a16:creationId xmlns:a16="http://schemas.microsoft.com/office/drawing/2014/main" id="{4B2E734B-D0E2-4909-9BF1-9E3A1EFB489A}"/>
              </a:ext>
            </a:extLst>
          </p:cNvPr>
          <p:cNvSpPr txBox="1"/>
          <p:nvPr/>
        </p:nvSpPr>
        <p:spPr>
          <a:xfrm>
            <a:off x="7300329" y="1690061"/>
            <a:ext cx="881529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a:solidFill>
                  <a:srgbClr val="353840"/>
                </a:solidFill>
                <a:latin typeface="Poppins"/>
                <a:cs typeface="Poppins"/>
                <a:sym typeface="Poppins"/>
              </a:rPr>
              <a:t>Overview del Proyecto Smart Pricing 360</a:t>
            </a:r>
            <a:endParaRPr sz="2489" dirty="0"/>
          </a:p>
        </p:txBody>
      </p:sp>
      <p:sp>
        <p:nvSpPr>
          <p:cNvPr id="40" name="Google Shape;76;p2">
            <a:extLst>
              <a:ext uri="{FF2B5EF4-FFF2-40B4-BE49-F238E27FC236}">
                <a16:creationId xmlns:a16="http://schemas.microsoft.com/office/drawing/2014/main" id="{E9962130-688C-018B-7574-0A0F9C3CE07C}"/>
              </a:ext>
            </a:extLst>
          </p:cNvPr>
          <p:cNvSpPr/>
          <p:nvPr/>
        </p:nvSpPr>
        <p:spPr>
          <a:xfrm>
            <a:off x="6211907" y="3471646"/>
            <a:ext cx="903824" cy="753332"/>
          </a:xfrm>
          <a:prstGeom prst="rect">
            <a:avLst/>
          </a:prstGeom>
          <a:solidFill>
            <a:srgbClr val="036566"/>
          </a:solidFill>
          <a:ln>
            <a:noFill/>
          </a:ln>
        </p:spPr>
        <p:txBody>
          <a:bodyPr spcFirstLastPara="1" wrap="square" lIns="162533" tIns="81244" rIns="162533" bIns="81244" anchor="ctr" anchorCtr="0">
            <a:noAutofit/>
          </a:bodyPr>
          <a:lstStyle/>
          <a:p>
            <a:pPr algn="ctr"/>
            <a:r>
              <a:rPr lang="en-US" sz="3200" b="1" dirty="0">
                <a:solidFill>
                  <a:srgbClr val="FFFFFF"/>
                </a:solidFill>
              </a:rPr>
              <a:t>3</a:t>
            </a:r>
            <a:endParaRPr sz="2489" dirty="0"/>
          </a:p>
        </p:txBody>
      </p:sp>
      <p:sp>
        <p:nvSpPr>
          <p:cNvPr id="41" name="Google Shape;77;p2">
            <a:extLst>
              <a:ext uri="{FF2B5EF4-FFF2-40B4-BE49-F238E27FC236}">
                <a16:creationId xmlns:a16="http://schemas.microsoft.com/office/drawing/2014/main" id="{49451589-8361-20BC-C793-3E3601AEFBCE}"/>
              </a:ext>
            </a:extLst>
          </p:cNvPr>
          <p:cNvSpPr txBox="1"/>
          <p:nvPr/>
        </p:nvSpPr>
        <p:spPr>
          <a:xfrm>
            <a:off x="7298784" y="3384519"/>
            <a:ext cx="7700106" cy="927582"/>
          </a:xfrm>
          <a:prstGeom prst="rect">
            <a:avLst/>
          </a:prstGeom>
          <a:solidFill>
            <a:srgbClr val="2C9293">
              <a:alpha val="0"/>
            </a:srgbClr>
          </a:solidFill>
          <a:ln>
            <a:noFill/>
          </a:ln>
        </p:spPr>
        <p:txBody>
          <a:bodyPr spcFirstLastPara="1" wrap="square" lIns="0" tIns="0" rIns="0" bIns="0" anchor="ctr" anchorCtr="0">
            <a:noAutofit/>
          </a:bodyPr>
          <a:lstStyle/>
          <a:p>
            <a:pPr>
              <a:buSzPts val="1900"/>
            </a:pPr>
            <a:r>
              <a:rPr lang="en-US" sz="2489" dirty="0" err="1">
                <a:solidFill>
                  <a:srgbClr val="353840"/>
                </a:solidFill>
                <a:latin typeface="Poppins"/>
                <a:cs typeface="Poppins"/>
                <a:sym typeface="Poppins"/>
              </a:rPr>
              <a:t>Revisión</a:t>
            </a:r>
            <a:r>
              <a:rPr lang="en-US" sz="2489" dirty="0">
                <a:solidFill>
                  <a:srgbClr val="353840"/>
                </a:solidFill>
                <a:latin typeface="Poppins"/>
                <a:cs typeface="Poppins"/>
                <a:sym typeface="Poppins"/>
              </a:rPr>
              <a:t> </a:t>
            </a:r>
            <a:r>
              <a:rPr lang="en-US" sz="2489" dirty="0" err="1">
                <a:solidFill>
                  <a:srgbClr val="353840"/>
                </a:solidFill>
                <a:latin typeface="Poppins"/>
                <a:cs typeface="Poppins"/>
                <a:sym typeface="Poppins"/>
              </a:rPr>
              <a:t>detalle</a:t>
            </a:r>
            <a:r>
              <a:rPr lang="en-US" sz="2489" dirty="0">
                <a:solidFill>
                  <a:srgbClr val="353840"/>
                </a:solidFill>
                <a:latin typeface="Poppins"/>
                <a:cs typeface="Poppins"/>
                <a:sym typeface="Poppins"/>
              </a:rPr>
              <a:t> modelos y curvas </a:t>
            </a:r>
            <a:r>
              <a:rPr lang="en-US" sz="2489" dirty="0" err="1">
                <a:solidFill>
                  <a:srgbClr val="353840"/>
                </a:solidFill>
                <a:latin typeface="Poppins"/>
                <a:cs typeface="Poppins"/>
                <a:sym typeface="Poppins"/>
              </a:rPr>
              <a:t>analíticas</a:t>
            </a:r>
            <a:endParaRPr sz="2489" dirty="0"/>
          </a:p>
        </p:txBody>
      </p:sp>
    </p:spTree>
    <p:extLst>
      <p:ext uri="{BB962C8B-B14F-4D97-AF65-F5344CB8AC3E}">
        <p14:creationId xmlns:p14="http://schemas.microsoft.com/office/powerpoint/2010/main" val="2584298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F63AEF3E-7C90-A9F7-EA5A-7FFCC9F30650}"/>
            </a:ext>
          </a:extLst>
        </p:cNvPr>
        <p:cNvGrpSpPr/>
        <p:nvPr/>
      </p:nvGrpSpPr>
      <p:grpSpPr>
        <a:xfrm>
          <a:off x="0" y="0"/>
          <a:ext cx="0" cy="0"/>
          <a:chOff x="0" y="0"/>
          <a:chExt cx="0" cy="0"/>
        </a:xfrm>
      </p:grpSpPr>
      <p:sp>
        <p:nvSpPr>
          <p:cNvPr id="53" name="Google Shape;53;g3d1edd8623c_1_0">
            <a:extLst>
              <a:ext uri="{FF2B5EF4-FFF2-40B4-BE49-F238E27FC236}">
                <a16:creationId xmlns:a16="http://schemas.microsoft.com/office/drawing/2014/main" id="{B36BF9F2-BE85-FDC2-505D-68210E7EAF13}"/>
              </a:ext>
            </a:extLst>
          </p:cNvPr>
          <p:cNvSpPr txBox="1">
            <a:spLocks noGrp="1"/>
          </p:cNvSpPr>
          <p:nvPr>
            <p:ph type="title"/>
          </p:nvPr>
        </p:nvSpPr>
        <p:spPr>
          <a:xfrm>
            <a:off x="431800" y="2614300"/>
            <a:ext cx="8737500" cy="4073400"/>
          </a:xfrm>
          <a:prstGeom prst="rect">
            <a:avLst/>
          </a:prstGeom>
          <a:noFill/>
          <a:ln>
            <a:noFill/>
          </a:ln>
        </p:spPr>
        <p:txBody>
          <a:bodyPr spcFirstLastPara="1" wrap="square" lIns="91425" tIns="45700" rIns="91425" bIns="45700" anchor="ctr" anchorCtr="0">
            <a:normAutofit/>
          </a:bodyPr>
          <a:lstStyle/>
          <a:p>
            <a:pPr lvl="0"/>
            <a:r>
              <a:rPr lang="es-ES_tradnl" sz="4700" noProof="0" dirty="0"/>
              <a:t>Pricing 360°: </a:t>
            </a:r>
            <a:r>
              <a:rPr lang="es-ES_tradnl" sz="4700" noProof="0" dirty="0" err="1"/>
              <a:t>Checkpoint</a:t>
            </a:r>
            <a:r>
              <a:rPr lang="es-ES_tradnl" sz="4700" noProof="0" dirty="0"/>
              <a:t> Modelos  </a:t>
            </a:r>
          </a:p>
          <a:p>
            <a:pPr marL="0" lvl="0" indent="0" algn="l" rtl="0">
              <a:lnSpc>
                <a:spcPct val="100000"/>
              </a:lnSpc>
              <a:spcBef>
                <a:spcPts val="0"/>
              </a:spcBef>
              <a:spcAft>
                <a:spcPts val="0"/>
              </a:spcAft>
              <a:buSzPts val="4400"/>
              <a:buNone/>
            </a:pPr>
            <a:r>
              <a:rPr lang="es-ES_tradnl" b="0" noProof="0" dirty="0"/>
              <a:t>Entregables &amp; Transferencia de conocimiento</a:t>
            </a:r>
          </a:p>
        </p:txBody>
      </p:sp>
      <p:sp>
        <p:nvSpPr>
          <p:cNvPr id="54" name="Google Shape;54;g3d1edd8623c_1_0">
            <a:extLst>
              <a:ext uri="{FF2B5EF4-FFF2-40B4-BE49-F238E27FC236}">
                <a16:creationId xmlns:a16="http://schemas.microsoft.com/office/drawing/2014/main" id="{CB70C97C-A104-C61C-C38B-30CDEC3833DE}"/>
              </a:ext>
            </a:extLst>
          </p:cNvPr>
          <p:cNvSpPr/>
          <p:nvPr/>
        </p:nvSpPr>
        <p:spPr>
          <a:xfrm>
            <a:off x="10837333" y="0"/>
            <a:ext cx="5418600" cy="9144000"/>
          </a:xfrm>
          <a:prstGeom prst="rect">
            <a:avLst/>
          </a:prstGeom>
          <a:solidFill>
            <a:srgbClr val="186C70"/>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cxnSp>
        <p:nvCxnSpPr>
          <p:cNvPr id="55" name="Google Shape;55;g3d1edd8623c_1_0">
            <a:extLst>
              <a:ext uri="{FF2B5EF4-FFF2-40B4-BE49-F238E27FC236}">
                <a16:creationId xmlns:a16="http://schemas.microsoft.com/office/drawing/2014/main" id="{06ADA35B-9475-02E7-AFA4-6FD01CCE8133}"/>
              </a:ext>
            </a:extLst>
          </p:cNvPr>
          <p:cNvCxnSpPr/>
          <p:nvPr/>
        </p:nvCxnSpPr>
        <p:spPr>
          <a:xfrm>
            <a:off x="0" y="0"/>
            <a:ext cx="1219200" cy="1219200"/>
          </a:xfrm>
          <a:prstGeom prst="straightConnector1">
            <a:avLst/>
          </a:prstGeom>
          <a:noFill/>
          <a:ln w="25400" cap="flat" cmpd="sng">
            <a:solidFill>
              <a:srgbClr val="28ACAA"/>
            </a:solidFill>
            <a:prstDash val="solid"/>
            <a:round/>
            <a:headEnd type="none" w="sm" len="sm"/>
            <a:tailEnd type="none" w="sm" len="sm"/>
          </a:ln>
        </p:spPr>
      </p:cxnSp>
      <p:sp>
        <p:nvSpPr>
          <p:cNvPr id="56" name="Google Shape;56;g3d1edd8623c_1_0">
            <a:extLst>
              <a:ext uri="{FF2B5EF4-FFF2-40B4-BE49-F238E27FC236}">
                <a16:creationId xmlns:a16="http://schemas.microsoft.com/office/drawing/2014/main" id="{88CBE164-0300-868A-671A-6EB02C8BBE41}"/>
              </a:ext>
            </a:extLst>
          </p:cNvPr>
          <p:cNvSpPr/>
          <p:nvPr/>
        </p:nvSpPr>
        <p:spPr>
          <a:xfrm>
            <a:off x="9821333" y="0"/>
            <a:ext cx="1693200" cy="9144000"/>
          </a:xfrm>
          <a:prstGeom prst="parallelogram">
            <a:avLst>
              <a:gd name="adj" fmla="val 25000"/>
            </a:avLst>
          </a:prstGeom>
          <a:solidFill>
            <a:srgbClr val="1D9089"/>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lang="es-ES_tradnl" sz="1900" b="0" i="0" u="none" strike="noStrike" cap="none" noProof="0" dirty="0">
              <a:solidFill>
                <a:schemeClr val="lt1"/>
              </a:solidFill>
              <a:latin typeface="Arial"/>
              <a:ea typeface="Arial"/>
              <a:cs typeface="Arial"/>
              <a:sym typeface="Arial"/>
            </a:endParaRPr>
          </a:p>
        </p:txBody>
      </p:sp>
      <p:pic>
        <p:nvPicPr>
          <p:cNvPr id="57" name="Google Shape;57;g3d1edd8623c_1_0">
            <a:extLst>
              <a:ext uri="{FF2B5EF4-FFF2-40B4-BE49-F238E27FC236}">
                <a16:creationId xmlns:a16="http://schemas.microsoft.com/office/drawing/2014/main" id="{EDE9175C-778C-BDE1-256A-2DD6FA0B6778}"/>
              </a:ext>
            </a:extLst>
          </p:cNvPr>
          <p:cNvPicPr preferRelativeResize="0"/>
          <p:nvPr/>
        </p:nvPicPr>
        <p:blipFill rotWithShape="1">
          <a:blip r:embed="rId3">
            <a:alphaModFix/>
          </a:blip>
          <a:srcRect/>
          <a:stretch/>
        </p:blipFill>
        <p:spPr>
          <a:xfrm>
            <a:off x="15168189" y="223789"/>
            <a:ext cx="792749" cy="375950"/>
          </a:xfrm>
          <a:prstGeom prst="rect">
            <a:avLst/>
          </a:prstGeom>
          <a:noFill/>
          <a:ln>
            <a:noFill/>
          </a:ln>
        </p:spPr>
      </p:pic>
    </p:spTree>
    <p:extLst>
      <p:ext uri="{BB962C8B-B14F-4D97-AF65-F5344CB8AC3E}">
        <p14:creationId xmlns:p14="http://schemas.microsoft.com/office/powerpoint/2010/main" val="35142094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E5365-3EA3-ADFC-D600-0C8870570B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9A3AE0-495F-7981-B3BF-FAA4C3AB2F8E}"/>
              </a:ext>
            </a:extLst>
          </p:cNvPr>
          <p:cNvSpPr/>
          <p:nvPr/>
        </p:nvSpPr>
        <p:spPr>
          <a:xfrm>
            <a:off x="0" y="1101969"/>
            <a:ext cx="16256000" cy="8168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8DB435F7-28D3-FD71-CEA3-DCC8963DC81E}"/>
              </a:ext>
            </a:extLst>
          </p:cNvPr>
          <p:cNvSpPr>
            <a:spLocks noGrp="1"/>
          </p:cNvSpPr>
          <p:nvPr>
            <p:ph type="title"/>
          </p:nvPr>
        </p:nvSpPr>
        <p:spPr>
          <a:xfrm>
            <a:off x="457200" y="304800"/>
            <a:ext cx="13540154" cy="1143000"/>
          </a:xfrm>
        </p:spPr>
        <p:txBody>
          <a:bodyPr>
            <a:normAutofit fontScale="90000"/>
          </a:bodyPr>
          <a:lstStyle/>
          <a:p>
            <a:r>
              <a:rPr lang="es-ES_tradnl" sz="3200" noProof="0" dirty="0"/>
              <a:t>La transferencia no es un evento al final: en cada fase del proyecto IBK toma más control hasta operar de forma autónoma</a:t>
            </a:r>
          </a:p>
        </p:txBody>
      </p:sp>
      <p:sp>
        <p:nvSpPr>
          <p:cNvPr id="2" name="Rectangle 1">
            <a:extLst>
              <a:ext uri="{FF2B5EF4-FFF2-40B4-BE49-F238E27FC236}">
                <a16:creationId xmlns:a16="http://schemas.microsoft.com/office/drawing/2014/main" id="{D7AAA96A-EACA-AAB5-09CF-49A459157C17}"/>
              </a:ext>
            </a:extLst>
          </p:cNvPr>
          <p:cNvSpPr/>
          <p:nvPr/>
        </p:nvSpPr>
        <p:spPr>
          <a:xfrm>
            <a:off x="658368" y="1700784"/>
            <a:ext cx="10149840" cy="50749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a:extLst>
              <a:ext uri="{FF2B5EF4-FFF2-40B4-BE49-F238E27FC236}">
                <a16:creationId xmlns:a16="http://schemas.microsoft.com/office/drawing/2014/main" id="{70C6246E-BB09-29CF-ACBE-459C84F8B021}"/>
              </a:ext>
            </a:extLst>
          </p:cNvPr>
          <p:cNvSpPr txBox="1"/>
          <p:nvPr/>
        </p:nvSpPr>
        <p:spPr>
          <a:xfrm>
            <a:off x="932688" y="1883664"/>
            <a:ext cx="3657600" cy="201168"/>
          </a:xfrm>
          <a:prstGeom prst="rect">
            <a:avLst/>
          </a:prstGeom>
          <a:noFill/>
        </p:spPr>
        <p:txBody>
          <a:bodyPr wrap="square" lIns="0" tIns="0" rIns="0" bIns="0" anchor="t">
            <a:spAutoFit/>
          </a:bodyPr>
          <a:lstStyle/>
          <a:p>
            <a:pPr algn="l">
              <a:lnSpc>
                <a:spcPct val="100000"/>
              </a:lnSpc>
            </a:pPr>
            <a:r>
              <a:rPr sz="950" b="1" i="0">
                <a:solidFill>
                  <a:srgbClr val="6E7E7D"/>
                </a:solidFill>
                <a:latin typeface="Arial"/>
              </a:rPr>
              <a:t>LIDERAZGO POR FASE</a:t>
            </a:r>
          </a:p>
        </p:txBody>
      </p:sp>
      <p:sp>
        <p:nvSpPr>
          <p:cNvPr id="5" name="Rectangle 4">
            <a:extLst>
              <a:ext uri="{FF2B5EF4-FFF2-40B4-BE49-F238E27FC236}">
                <a16:creationId xmlns:a16="http://schemas.microsoft.com/office/drawing/2014/main" id="{72C490E3-B52B-CCE0-CF50-C420F335F0A6}"/>
              </a:ext>
            </a:extLst>
          </p:cNvPr>
          <p:cNvSpPr/>
          <p:nvPr/>
        </p:nvSpPr>
        <p:spPr>
          <a:xfrm>
            <a:off x="7790688" y="2019684"/>
            <a:ext cx="146304" cy="14630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a:extLst>
              <a:ext uri="{FF2B5EF4-FFF2-40B4-BE49-F238E27FC236}">
                <a16:creationId xmlns:a16="http://schemas.microsoft.com/office/drawing/2014/main" id="{C06FC027-8CB6-C836-04A9-DA1E6AC2600C}"/>
              </a:ext>
            </a:extLst>
          </p:cNvPr>
          <p:cNvSpPr txBox="1"/>
          <p:nvPr/>
        </p:nvSpPr>
        <p:spPr>
          <a:xfrm>
            <a:off x="8010144" y="2027434"/>
            <a:ext cx="914400" cy="130805"/>
          </a:xfrm>
          <a:prstGeom prst="rect">
            <a:avLst/>
          </a:prstGeom>
          <a:noFill/>
        </p:spPr>
        <p:txBody>
          <a:bodyPr wrap="square" lIns="0" tIns="0" rIns="0" bIns="0" anchor="ctr">
            <a:spAutoFit/>
          </a:bodyPr>
          <a:lstStyle/>
          <a:p>
            <a:pPr algn="l">
              <a:lnSpc>
                <a:spcPct val="100000"/>
              </a:lnSpc>
            </a:pPr>
            <a:r>
              <a:rPr sz="850" b="1" i="0">
                <a:solidFill>
                  <a:srgbClr val="0C514E"/>
                </a:solidFill>
                <a:latin typeface="Arial"/>
              </a:rPr>
              <a:t>VOi</a:t>
            </a:r>
          </a:p>
        </p:txBody>
      </p:sp>
      <p:sp>
        <p:nvSpPr>
          <p:cNvPr id="8" name="Rectangle 7">
            <a:extLst>
              <a:ext uri="{FF2B5EF4-FFF2-40B4-BE49-F238E27FC236}">
                <a16:creationId xmlns:a16="http://schemas.microsoft.com/office/drawing/2014/main" id="{5ED2439A-C8B2-B587-91C9-2A02C6EB616C}"/>
              </a:ext>
            </a:extLst>
          </p:cNvPr>
          <p:cNvSpPr/>
          <p:nvPr/>
        </p:nvSpPr>
        <p:spPr>
          <a:xfrm>
            <a:off x="8796528" y="2019684"/>
            <a:ext cx="146304" cy="14630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a:extLst>
              <a:ext uri="{FF2B5EF4-FFF2-40B4-BE49-F238E27FC236}">
                <a16:creationId xmlns:a16="http://schemas.microsoft.com/office/drawing/2014/main" id="{E65AA84A-7E59-0D0F-0C7D-7BCF83D77494}"/>
              </a:ext>
            </a:extLst>
          </p:cNvPr>
          <p:cNvSpPr txBox="1"/>
          <p:nvPr/>
        </p:nvSpPr>
        <p:spPr>
          <a:xfrm>
            <a:off x="9015984" y="2027433"/>
            <a:ext cx="1280160" cy="130805"/>
          </a:xfrm>
          <a:prstGeom prst="rect">
            <a:avLst/>
          </a:prstGeom>
          <a:noFill/>
        </p:spPr>
        <p:txBody>
          <a:bodyPr wrap="square" lIns="0" tIns="0" rIns="0" bIns="0" anchor="ctr">
            <a:spAutoFit/>
          </a:bodyPr>
          <a:lstStyle/>
          <a:p>
            <a:pPr algn="l">
              <a:lnSpc>
                <a:spcPct val="100000"/>
              </a:lnSpc>
            </a:pPr>
            <a:r>
              <a:rPr sz="850" b="1" i="0" dirty="0">
                <a:solidFill>
                  <a:srgbClr val="445A6E"/>
                </a:solidFill>
                <a:latin typeface="Arial"/>
              </a:rPr>
              <a:t>Interbank</a:t>
            </a:r>
          </a:p>
        </p:txBody>
      </p:sp>
      <p:cxnSp>
        <p:nvCxnSpPr>
          <p:cNvPr id="12" name="Connector 12">
            <a:extLst>
              <a:ext uri="{FF2B5EF4-FFF2-40B4-BE49-F238E27FC236}">
                <a16:creationId xmlns:a16="http://schemas.microsoft.com/office/drawing/2014/main" id="{CFFCB997-DC06-47C6-97ED-F9D165E44ADB}"/>
              </a:ext>
            </a:extLst>
          </p:cNvPr>
          <p:cNvCxnSpPr/>
          <p:nvPr/>
        </p:nvCxnSpPr>
        <p:spPr>
          <a:xfrm>
            <a:off x="3310128" y="2267712"/>
            <a:ext cx="7132319" cy="0"/>
          </a:xfrm>
          <a:prstGeom prst="line">
            <a:avLst/>
          </a:prstGeom>
          <a:ln w="15875">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6C7A85A-2F35-FE74-5676-3A132454236B}"/>
              </a:ext>
            </a:extLst>
          </p:cNvPr>
          <p:cNvSpPr txBox="1"/>
          <p:nvPr/>
        </p:nvSpPr>
        <p:spPr>
          <a:xfrm>
            <a:off x="3310128" y="2027433"/>
            <a:ext cx="2286000" cy="130805"/>
          </a:xfrm>
          <a:prstGeom prst="rect">
            <a:avLst/>
          </a:prstGeom>
          <a:noFill/>
        </p:spPr>
        <p:txBody>
          <a:bodyPr wrap="square" lIns="0" tIns="0" rIns="0" bIns="0" anchor="ctr">
            <a:spAutoFit/>
          </a:bodyPr>
          <a:lstStyle/>
          <a:p>
            <a:pPr algn="l">
              <a:lnSpc>
                <a:spcPct val="100000"/>
              </a:lnSpc>
            </a:pPr>
            <a:r>
              <a:rPr sz="850" b="1" i="0">
                <a:solidFill>
                  <a:srgbClr val="13807B"/>
                </a:solidFill>
                <a:latin typeface="Arial"/>
              </a:rPr>
              <a:t>VOi lidera</a:t>
            </a:r>
          </a:p>
        </p:txBody>
      </p:sp>
      <p:sp>
        <p:nvSpPr>
          <p:cNvPr id="14" name="TextBox 13">
            <a:extLst>
              <a:ext uri="{FF2B5EF4-FFF2-40B4-BE49-F238E27FC236}">
                <a16:creationId xmlns:a16="http://schemas.microsoft.com/office/drawing/2014/main" id="{5FC8C238-BD72-18D3-DF1F-4C2BD36929A8}"/>
              </a:ext>
            </a:extLst>
          </p:cNvPr>
          <p:cNvSpPr txBox="1"/>
          <p:nvPr/>
        </p:nvSpPr>
        <p:spPr>
          <a:xfrm>
            <a:off x="8156447" y="2027434"/>
            <a:ext cx="2286000" cy="130805"/>
          </a:xfrm>
          <a:prstGeom prst="rect">
            <a:avLst/>
          </a:prstGeom>
          <a:noFill/>
        </p:spPr>
        <p:txBody>
          <a:bodyPr wrap="square" lIns="0" tIns="0" rIns="0" bIns="0" anchor="ctr">
            <a:spAutoFit/>
          </a:bodyPr>
          <a:lstStyle/>
          <a:p>
            <a:pPr algn="r">
              <a:lnSpc>
                <a:spcPct val="100000"/>
              </a:lnSpc>
            </a:pPr>
            <a:r>
              <a:rPr sz="850" b="1" i="0" dirty="0">
                <a:solidFill>
                  <a:srgbClr val="445A6E"/>
                </a:solidFill>
                <a:latin typeface="Arial"/>
              </a:rPr>
              <a:t>IBK </a:t>
            </a:r>
            <a:r>
              <a:rPr sz="850" b="1" i="0" dirty="0" err="1">
                <a:solidFill>
                  <a:srgbClr val="445A6E"/>
                </a:solidFill>
                <a:latin typeface="Arial"/>
              </a:rPr>
              <a:t>lidera</a:t>
            </a:r>
            <a:endParaRPr sz="850" b="1" i="0" dirty="0">
              <a:solidFill>
                <a:srgbClr val="445A6E"/>
              </a:solidFill>
              <a:latin typeface="Arial"/>
            </a:endParaRPr>
          </a:p>
        </p:txBody>
      </p:sp>
      <p:sp>
        <p:nvSpPr>
          <p:cNvPr id="23" name="TextBox 22">
            <a:extLst>
              <a:ext uri="{FF2B5EF4-FFF2-40B4-BE49-F238E27FC236}">
                <a16:creationId xmlns:a16="http://schemas.microsoft.com/office/drawing/2014/main" id="{950D8336-5A42-D9BD-CB49-D772737D6F1A}"/>
              </a:ext>
            </a:extLst>
          </p:cNvPr>
          <p:cNvSpPr txBox="1"/>
          <p:nvPr/>
        </p:nvSpPr>
        <p:spPr>
          <a:xfrm>
            <a:off x="932688" y="2641724"/>
            <a:ext cx="2286000" cy="184666"/>
          </a:xfrm>
          <a:prstGeom prst="rect">
            <a:avLst/>
          </a:prstGeom>
          <a:noFill/>
        </p:spPr>
        <p:txBody>
          <a:bodyPr wrap="square" lIns="0" tIns="0" rIns="0" bIns="0" anchor="ctr">
            <a:spAutoFit/>
          </a:bodyPr>
          <a:lstStyle/>
          <a:p>
            <a:pPr algn="r">
              <a:lnSpc>
                <a:spcPct val="100000"/>
              </a:lnSpc>
            </a:pPr>
            <a:r>
              <a:rPr sz="1200" b="1" i="0" dirty="0">
                <a:solidFill>
                  <a:srgbClr val="0B2E2C"/>
                </a:solidFill>
                <a:latin typeface="Arial"/>
              </a:rPr>
              <a:t>Desarrollo</a:t>
            </a:r>
          </a:p>
        </p:txBody>
      </p:sp>
      <p:sp>
        <p:nvSpPr>
          <p:cNvPr id="24" name="Rectangle 23">
            <a:extLst>
              <a:ext uri="{FF2B5EF4-FFF2-40B4-BE49-F238E27FC236}">
                <a16:creationId xmlns:a16="http://schemas.microsoft.com/office/drawing/2014/main" id="{624C61D4-B548-E3A1-A79A-E7B16BF362A6}"/>
              </a:ext>
            </a:extLst>
          </p:cNvPr>
          <p:cNvSpPr/>
          <p:nvPr/>
        </p:nvSpPr>
        <p:spPr>
          <a:xfrm>
            <a:off x="3310128" y="2542032"/>
            <a:ext cx="7132319" cy="31089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a:extLst>
              <a:ext uri="{FF2B5EF4-FFF2-40B4-BE49-F238E27FC236}">
                <a16:creationId xmlns:a16="http://schemas.microsoft.com/office/drawing/2014/main" id="{CE94F3EC-8468-C54E-6520-397C43AFA068}"/>
              </a:ext>
            </a:extLst>
          </p:cNvPr>
          <p:cNvSpPr/>
          <p:nvPr/>
        </p:nvSpPr>
        <p:spPr>
          <a:xfrm>
            <a:off x="3310128" y="2542032"/>
            <a:ext cx="6276441" cy="31089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a:extLst>
              <a:ext uri="{FF2B5EF4-FFF2-40B4-BE49-F238E27FC236}">
                <a16:creationId xmlns:a16="http://schemas.microsoft.com/office/drawing/2014/main" id="{8C9DBF63-A3EB-72AE-F8AC-A9FCE1A1B67C}"/>
              </a:ext>
            </a:extLst>
          </p:cNvPr>
          <p:cNvSpPr txBox="1"/>
          <p:nvPr/>
        </p:nvSpPr>
        <p:spPr>
          <a:xfrm>
            <a:off x="3401568" y="2587752"/>
            <a:ext cx="1097280" cy="201168"/>
          </a:xfrm>
          <a:prstGeom prst="rect">
            <a:avLst/>
          </a:prstGeom>
          <a:noFill/>
        </p:spPr>
        <p:txBody>
          <a:bodyPr wrap="square" lIns="0" tIns="0" rIns="0" bIns="0" anchor="t">
            <a:spAutoFit/>
          </a:bodyPr>
          <a:lstStyle/>
          <a:p>
            <a:pPr algn="l">
              <a:lnSpc>
                <a:spcPct val="100000"/>
              </a:lnSpc>
            </a:pPr>
            <a:r>
              <a:rPr sz="800" b="1" i="0">
                <a:solidFill>
                  <a:srgbClr val="FFFFFF"/>
                </a:solidFill>
                <a:latin typeface="Arial"/>
              </a:rPr>
              <a:t>88%</a:t>
            </a:r>
          </a:p>
        </p:txBody>
      </p:sp>
      <p:sp>
        <p:nvSpPr>
          <p:cNvPr id="47" name="TextBox 46">
            <a:extLst>
              <a:ext uri="{FF2B5EF4-FFF2-40B4-BE49-F238E27FC236}">
                <a16:creationId xmlns:a16="http://schemas.microsoft.com/office/drawing/2014/main" id="{3759E549-FD7D-44FD-A544-A70219017B13}"/>
              </a:ext>
            </a:extLst>
          </p:cNvPr>
          <p:cNvSpPr txBox="1"/>
          <p:nvPr/>
        </p:nvSpPr>
        <p:spPr>
          <a:xfrm>
            <a:off x="3310128" y="2889504"/>
            <a:ext cx="7132319" cy="161583"/>
          </a:xfrm>
          <a:prstGeom prst="rect">
            <a:avLst/>
          </a:prstGeom>
          <a:noFill/>
        </p:spPr>
        <p:txBody>
          <a:bodyPr wrap="square" lIns="0" tIns="0" rIns="0" bIns="0" anchor="t">
            <a:spAutoFit/>
          </a:bodyPr>
          <a:lstStyle/>
          <a:p>
            <a:pPr algn="l">
              <a:lnSpc>
                <a:spcPct val="100000"/>
              </a:lnSpc>
            </a:pPr>
            <a:r>
              <a:rPr sz="1050" b="0" i="0" dirty="0">
                <a:solidFill>
                  <a:srgbClr val="6E7E7D"/>
                </a:solidFill>
                <a:latin typeface="Arial"/>
              </a:rPr>
              <a:t>Construcción </a:t>
            </a:r>
            <a:r>
              <a:rPr sz="1050" b="0" i="0" dirty="0" err="1">
                <a:solidFill>
                  <a:srgbClr val="6E7E7D"/>
                </a:solidFill>
                <a:latin typeface="Arial"/>
              </a:rPr>
              <a:t>iterativa</a:t>
            </a:r>
            <a:r>
              <a:rPr sz="1050" b="0" i="0" dirty="0">
                <a:solidFill>
                  <a:srgbClr val="6E7E7D"/>
                </a:solidFill>
                <a:latin typeface="Arial"/>
              </a:rPr>
              <a:t> de los modelos</a:t>
            </a:r>
          </a:p>
        </p:txBody>
      </p:sp>
      <p:sp>
        <p:nvSpPr>
          <p:cNvPr id="48" name="TextBox 47">
            <a:extLst>
              <a:ext uri="{FF2B5EF4-FFF2-40B4-BE49-F238E27FC236}">
                <a16:creationId xmlns:a16="http://schemas.microsoft.com/office/drawing/2014/main" id="{55144BB1-8CB6-73CA-2BD6-9AEA5D6C3FB6}"/>
              </a:ext>
            </a:extLst>
          </p:cNvPr>
          <p:cNvSpPr txBox="1"/>
          <p:nvPr/>
        </p:nvSpPr>
        <p:spPr>
          <a:xfrm>
            <a:off x="932688" y="3300092"/>
            <a:ext cx="2286000" cy="184666"/>
          </a:xfrm>
          <a:prstGeom prst="rect">
            <a:avLst/>
          </a:prstGeom>
          <a:noFill/>
        </p:spPr>
        <p:txBody>
          <a:bodyPr wrap="square" lIns="0" tIns="0" rIns="0" bIns="0" anchor="ctr">
            <a:spAutoFit/>
          </a:bodyPr>
          <a:lstStyle/>
          <a:p>
            <a:pPr algn="r">
              <a:lnSpc>
                <a:spcPct val="100000"/>
              </a:lnSpc>
            </a:pPr>
            <a:r>
              <a:rPr sz="1200" b="1" i="0">
                <a:solidFill>
                  <a:srgbClr val="0B2E2C"/>
                </a:solidFill>
                <a:latin typeface="Arial"/>
              </a:rPr>
              <a:t>Checkpoint semanal</a:t>
            </a:r>
          </a:p>
        </p:txBody>
      </p:sp>
      <p:sp>
        <p:nvSpPr>
          <p:cNvPr id="49" name="Rectangle 48">
            <a:extLst>
              <a:ext uri="{FF2B5EF4-FFF2-40B4-BE49-F238E27FC236}">
                <a16:creationId xmlns:a16="http://schemas.microsoft.com/office/drawing/2014/main" id="{2F1F2A85-6944-4D9A-D48F-034B38F5F782}"/>
              </a:ext>
            </a:extLst>
          </p:cNvPr>
          <p:cNvSpPr/>
          <p:nvPr/>
        </p:nvSpPr>
        <p:spPr>
          <a:xfrm>
            <a:off x="3310128" y="3200400"/>
            <a:ext cx="7132319" cy="31089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Rectangle 49">
            <a:extLst>
              <a:ext uri="{FF2B5EF4-FFF2-40B4-BE49-F238E27FC236}">
                <a16:creationId xmlns:a16="http://schemas.microsoft.com/office/drawing/2014/main" id="{7975B4C8-7949-577A-57C0-0A29C139FFE8}"/>
              </a:ext>
            </a:extLst>
          </p:cNvPr>
          <p:cNvSpPr/>
          <p:nvPr/>
        </p:nvSpPr>
        <p:spPr>
          <a:xfrm>
            <a:off x="3310128" y="3200400"/>
            <a:ext cx="4422038" cy="31089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TextBox 50">
            <a:extLst>
              <a:ext uri="{FF2B5EF4-FFF2-40B4-BE49-F238E27FC236}">
                <a16:creationId xmlns:a16="http://schemas.microsoft.com/office/drawing/2014/main" id="{712DECC3-0DF9-2B05-65BF-7775354DDECB}"/>
              </a:ext>
            </a:extLst>
          </p:cNvPr>
          <p:cNvSpPr txBox="1"/>
          <p:nvPr/>
        </p:nvSpPr>
        <p:spPr>
          <a:xfrm>
            <a:off x="3401568" y="3246120"/>
            <a:ext cx="1097280" cy="201168"/>
          </a:xfrm>
          <a:prstGeom prst="rect">
            <a:avLst/>
          </a:prstGeom>
          <a:noFill/>
        </p:spPr>
        <p:txBody>
          <a:bodyPr wrap="square" lIns="0" tIns="0" rIns="0" bIns="0" anchor="t">
            <a:spAutoFit/>
          </a:bodyPr>
          <a:lstStyle/>
          <a:p>
            <a:pPr algn="l">
              <a:lnSpc>
                <a:spcPct val="100000"/>
              </a:lnSpc>
            </a:pPr>
            <a:r>
              <a:rPr sz="800" b="1" i="0">
                <a:solidFill>
                  <a:srgbClr val="FFFFFF"/>
                </a:solidFill>
                <a:latin typeface="Arial"/>
              </a:rPr>
              <a:t>62%</a:t>
            </a:r>
          </a:p>
        </p:txBody>
      </p:sp>
      <p:sp>
        <p:nvSpPr>
          <p:cNvPr id="52" name="TextBox 51">
            <a:extLst>
              <a:ext uri="{FF2B5EF4-FFF2-40B4-BE49-F238E27FC236}">
                <a16:creationId xmlns:a16="http://schemas.microsoft.com/office/drawing/2014/main" id="{B791CC84-EC2D-1E8E-2196-5A59F83FA7B5}"/>
              </a:ext>
            </a:extLst>
          </p:cNvPr>
          <p:cNvSpPr txBox="1"/>
          <p:nvPr/>
        </p:nvSpPr>
        <p:spPr>
          <a:xfrm>
            <a:off x="9253727" y="3246120"/>
            <a:ext cx="1097280" cy="201168"/>
          </a:xfrm>
          <a:prstGeom prst="rect">
            <a:avLst/>
          </a:prstGeom>
          <a:noFill/>
        </p:spPr>
        <p:txBody>
          <a:bodyPr wrap="square" lIns="0" tIns="0" rIns="0" bIns="0" anchor="t">
            <a:spAutoFit/>
          </a:bodyPr>
          <a:lstStyle/>
          <a:p>
            <a:pPr algn="r">
              <a:lnSpc>
                <a:spcPct val="100000"/>
              </a:lnSpc>
            </a:pPr>
            <a:r>
              <a:rPr sz="800" b="1" i="0">
                <a:solidFill>
                  <a:srgbClr val="FFFFFF"/>
                </a:solidFill>
                <a:latin typeface="Arial"/>
              </a:rPr>
              <a:t>38%</a:t>
            </a:r>
          </a:p>
        </p:txBody>
      </p:sp>
      <p:sp>
        <p:nvSpPr>
          <p:cNvPr id="53" name="TextBox 52">
            <a:extLst>
              <a:ext uri="{FF2B5EF4-FFF2-40B4-BE49-F238E27FC236}">
                <a16:creationId xmlns:a16="http://schemas.microsoft.com/office/drawing/2014/main" id="{B5A08D48-8291-1320-F6A9-40B863B00FB7}"/>
              </a:ext>
            </a:extLst>
          </p:cNvPr>
          <p:cNvSpPr txBox="1"/>
          <p:nvPr/>
        </p:nvSpPr>
        <p:spPr>
          <a:xfrm>
            <a:off x="3310128" y="3547872"/>
            <a:ext cx="7132319"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Avances y observaciones de IBK en cada sesión</a:t>
            </a:r>
          </a:p>
        </p:txBody>
      </p:sp>
      <p:sp>
        <p:nvSpPr>
          <p:cNvPr id="54" name="TextBox 53">
            <a:extLst>
              <a:ext uri="{FF2B5EF4-FFF2-40B4-BE49-F238E27FC236}">
                <a16:creationId xmlns:a16="http://schemas.microsoft.com/office/drawing/2014/main" id="{C3741B79-7FA3-B1BB-7B11-4EC27A020535}"/>
              </a:ext>
            </a:extLst>
          </p:cNvPr>
          <p:cNvSpPr txBox="1"/>
          <p:nvPr/>
        </p:nvSpPr>
        <p:spPr>
          <a:xfrm>
            <a:off x="932688" y="3958460"/>
            <a:ext cx="2286000" cy="184666"/>
          </a:xfrm>
          <a:prstGeom prst="rect">
            <a:avLst/>
          </a:prstGeom>
          <a:noFill/>
        </p:spPr>
        <p:txBody>
          <a:bodyPr wrap="square" lIns="0" tIns="0" rIns="0" bIns="0" anchor="ctr">
            <a:spAutoFit/>
          </a:bodyPr>
          <a:lstStyle/>
          <a:p>
            <a:pPr algn="r">
              <a:lnSpc>
                <a:spcPct val="100000"/>
              </a:lnSpc>
            </a:pPr>
            <a:r>
              <a:rPr sz="1200" b="1" i="0">
                <a:solidFill>
                  <a:srgbClr val="0B2E2C"/>
                </a:solidFill>
                <a:latin typeface="Arial"/>
              </a:rPr>
              <a:t>Documentación</a:t>
            </a:r>
          </a:p>
        </p:txBody>
      </p:sp>
      <p:sp>
        <p:nvSpPr>
          <p:cNvPr id="55" name="Rectangle 54">
            <a:extLst>
              <a:ext uri="{FF2B5EF4-FFF2-40B4-BE49-F238E27FC236}">
                <a16:creationId xmlns:a16="http://schemas.microsoft.com/office/drawing/2014/main" id="{F4DAD74C-1168-FF56-0600-10503F125D32}"/>
              </a:ext>
            </a:extLst>
          </p:cNvPr>
          <p:cNvSpPr/>
          <p:nvPr/>
        </p:nvSpPr>
        <p:spPr>
          <a:xfrm>
            <a:off x="3310128" y="3858768"/>
            <a:ext cx="7132319" cy="31089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Rectangle 55">
            <a:extLst>
              <a:ext uri="{FF2B5EF4-FFF2-40B4-BE49-F238E27FC236}">
                <a16:creationId xmlns:a16="http://schemas.microsoft.com/office/drawing/2014/main" id="{440269C0-07E6-B69C-76DF-FC299D0AF2D1}"/>
              </a:ext>
            </a:extLst>
          </p:cNvPr>
          <p:cNvSpPr/>
          <p:nvPr/>
        </p:nvSpPr>
        <p:spPr>
          <a:xfrm>
            <a:off x="3310128" y="3858768"/>
            <a:ext cx="3922776" cy="31089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TextBox 56">
            <a:extLst>
              <a:ext uri="{FF2B5EF4-FFF2-40B4-BE49-F238E27FC236}">
                <a16:creationId xmlns:a16="http://schemas.microsoft.com/office/drawing/2014/main" id="{84E98DC5-424A-F97B-870E-F41736259210}"/>
              </a:ext>
            </a:extLst>
          </p:cNvPr>
          <p:cNvSpPr txBox="1"/>
          <p:nvPr/>
        </p:nvSpPr>
        <p:spPr>
          <a:xfrm>
            <a:off x="3401568" y="3904488"/>
            <a:ext cx="1097280" cy="201168"/>
          </a:xfrm>
          <a:prstGeom prst="rect">
            <a:avLst/>
          </a:prstGeom>
          <a:noFill/>
        </p:spPr>
        <p:txBody>
          <a:bodyPr wrap="square" lIns="0" tIns="0" rIns="0" bIns="0" anchor="t">
            <a:spAutoFit/>
          </a:bodyPr>
          <a:lstStyle/>
          <a:p>
            <a:pPr algn="l">
              <a:lnSpc>
                <a:spcPct val="100000"/>
              </a:lnSpc>
            </a:pPr>
            <a:r>
              <a:rPr sz="800" b="1" i="0">
                <a:solidFill>
                  <a:srgbClr val="FFFFFF"/>
                </a:solidFill>
                <a:latin typeface="Arial"/>
              </a:rPr>
              <a:t>55%</a:t>
            </a:r>
          </a:p>
        </p:txBody>
      </p:sp>
      <p:sp>
        <p:nvSpPr>
          <p:cNvPr id="58" name="TextBox 57">
            <a:extLst>
              <a:ext uri="{FF2B5EF4-FFF2-40B4-BE49-F238E27FC236}">
                <a16:creationId xmlns:a16="http://schemas.microsoft.com/office/drawing/2014/main" id="{CC2D6FC2-EAD2-155D-2D3C-4C364A64AFEB}"/>
              </a:ext>
            </a:extLst>
          </p:cNvPr>
          <p:cNvSpPr txBox="1"/>
          <p:nvPr/>
        </p:nvSpPr>
        <p:spPr>
          <a:xfrm>
            <a:off x="9253727" y="3904488"/>
            <a:ext cx="1097280" cy="201168"/>
          </a:xfrm>
          <a:prstGeom prst="rect">
            <a:avLst/>
          </a:prstGeom>
          <a:noFill/>
        </p:spPr>
        <p:txBody>
          <a:bodyPr wrap="square" lIns="0" tIns="0" rIns="0" bIns="0" anchor="t">
            <a:spAutoFit/>
          </a:bodyPr>
          <a:lstStyle/>
          <a:p>
            <a:pPr algn="r">
              <a:lnSpc>
                <a:spcPct val="100000"/>
              </a:lnSpc>
            </a:pPr>
            <a:r>
              <a:rPr sz="800" b="1" i="0">
                <a:solidFill>
                  <a:srgbClr val="FFFFFF"/>
                </a:solidFill>
                <a:latin typeface="Arial"/>
              </a:rPr>
              <a:t>45%</a:t>
            </a:r>
          </a:p>
        </p:txBody>
      </p:sp>
      <p:sp>
        <p:nvSpPr>
          <p:cNvPr id="59" name="TextBox 58">
            <a:extLst>
              <a:ext uri="{FF2B5EF4-FFF2-40B4-BE49-F238E27FC236}">
                <a16:creationId xmlns:a16="http://schemas.microsoft.com/office/drawing/2014/main" id="{EFAD5DDD-E341-D89D-2293-6C3235C1AEC3}"/>
              </a:ext>
            </a:extLst>
          </p:cNvPr>
          <p:cNvSpPr txBox="1"/>
          <p:nvPr/>
        </p:nvSpPr>
        <p:spPr>
          <a:xfrm>
            <a:off x="3310128" y="4206240"/>
            <a:ext cx="7132319"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Manuales, código, casos de prueba y repositorio</a:t>
            </a:r>
          </a:p>
        </p:txBody>
      </p:sp>
      <p:sp>
        <p:nvSpPr>
          <p:cNvPr id="60" name="TextBox 59">
            <a:extLst>
              <a:ext uri="{FF2B5EF4-FFF2-40B4-BE49-F238E27FC236}">
                <a16:creationId xmlns:a16="http://schemas.microsoft.com/office/drawing/2014/main" id="{78559A74-3856-779E-21AB-6029C8C4247F}"/>
              </a:ext>
            </a:extLst>
          </p:cNvPr>
          <p:cNvSpPr txBox="1"/>
          <p:nvPr/>
        </p:nvSpPr>
        <p:spPr>
          <a:xfrm>
            <a:off x="932688" y="4616828"/>
            <a:ext cx="2286000" cy="184666"/>
          </a:xfrm>
          <a:prstGeom prst="rect">
            <a:avLst/>
          </a:prstGeom>
          <a:noFill/>
        </p:spPr>
        <p:txBody>
          <a:bodyPr wrap="square" lIns="0" tIns="0" rIns="0" bIns="0" anchor="ctr">
            <a:spAutoFit/>
          </a:bodyPr>
          <a:lstStyle/>
          <a:p>
            <a:pPr algn="r">
              <a:lnSpc>
                <a:spcPct val="100000"/>
              </a:lnSpc>
            </a:pPr>
            <a:r>
              <a:rPr sz="1200" b="1" i="0">
                <a:solidFill>
                  <a:srgbClr val="0B2E2C"/>
                </a:solidFill>
                <a:latin typeface="Arial"/>
              </a:rPr>
              <a:t>Validación IBK</a:t>
            </a:r>
          </a:p>
        </p:txBody>
      </p:sp>
      <p:sp>
        <p:nvSpPr>
          <p:cNvPr id="61" name="Rectangle 60">
            <a:extLst>
              <a:ext uri="{FF2B5EF4-FFF2-40B4-BE49-F238E27FC236}">
                <a16:creationId xmlns:a16="http://schemas.microsoft.com/office/drawing/2014/main" id="{B5AE2B13-FAD0-51CF-61E7-12151A3963F3}"/>
              </a:ext>
            </a:extLst>
          </p:cNvPr>
          <p:cNvSpPr/>
          <p:nvPr/>
        </p:nvSpPr>
        <p:spPr>
          <a:xfrm>
            <a:off x="3310128" y="4517136"/>
            <a:ext cx="7132319" cy="31089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Rectangle 61">
            <a:extLst>
              <a:ext uri="{FF2B5EF4-FFF2-40B4-BE49-F238E27FC236}">
                <a16:creationId xmlns:a16="http://schemas.microsoft.com/office/drawing/2014/main" id="{CF88D720-D679-4CDE-117A-E62E6413D9E4}"/>
              </a:ext>
            </a:extLst>
          </p:cNvPr>
          <p:cNvSpPr/>
          <p:nvPr/>
        </p:nvSpPr>
        <p:spPr>
          <a:xfrm>
            <a:off x="3310128" y="4517136"/>
            <a:ext cx="2139695" cy="31089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TextBox 62">
            <a:extLst>
              <a:ext uri="{FF2B5EF4-FFF2-40B4-BE49-F238E27FC236}">
                <a16:creationId xmlns:a16="http://schemas.microsoft.com/office/drawing/2014/main" id="{E50740B2-13DC-3934-25E8-9EF9924582AD}"/>
              </a:ext>
            </a:extLst>
          </p:cNvPr>
          <p:cNvSpPr txBox="1"/>
          <p:nvPr/>
        </p:nvSpPr>
        <p:spPr>
          <a:xfrm>
            <a:off x="3401568" y="4562856"/>
            <a:ext cx="1097280" cy="201168"/>
          </a:xfrm>
          <a:prstGeom prst="rect">
            <a:avLst/>
          </a:prstGeom>
          <a:noFill/>
        </p:spPr>
        <p:txBody>
          <a:bodyPr wrap="square" lIns="0" tIns="0" rIns="0" bIns="0" anchor="t">
            <a:spAutoFit/>
          </a:bodyPr>
          <a:lstStyle/>
          <a:p>
            <a:pPr algn="l">
              <a:lnSpc>
                <a:spcPct val="100000"/>
              </a:lnSpc>
            </a:pPr>
            <a:r>
              <a:rPr sz="800" b="1" i="0">
                <a:solidFill>
                  <a:srgbClr val="FFFFFF"/>
                </a:solidFill>
                <a:latin typeface="Arial"/>
              </a:rPr>
              <a:t>30%</a:t>
            </a:r>
          </a:p>
        </p:txBody>
      </p:sp>
      <p:sp>
        <p:nvSpPr>
          <p:cNvPr id="64" name="TextBox 63">
            <a:extLst>
              <a:ext uri="{FF2B5EF4-FFF2-40B4-BE49-F238E27FC236}">
                <a16:creationId xmlns:a16="http://schemas.microsoft.com/office/drawing/2014/main" id="{BDEA7DE5-C645-E74A-5179-80E9410441B0}"/>
              </a:ext>
            </a:extLst>
          </p:cNvPr>
          <p:cNvSpPr txBox="1"/>
          <p:nvPr/>
        </p:nvSpPr>
        <p:spPr>
          <a:xfrm>
            <a:off x="9253727" y="4562856"/>
            <a:ext cx="1097280" cy="201168"/>
          </a:xfrm>
          <a:prstGeom prst="rect">
            <a:avLst/>
          </a:prstGeom>
          <a:noFill/>
        </p:spPr>
        <p:txBody>
          <a:bodyPr wrap="square" lIns="0" tIns="0" rIns="0" bIns="0" anchor="t">
            <a:spAutoFit/>
          </a:bodyPr>
          <a:lstStyle/>
          <a:p>
            <a:pPr algn="r">
              <a:lnSpc>
                <a:spcPct val="100000"/>
              </a:lnSpc>
            </a:pPr>
            <a:r>
              <a:rPr sz="800" b="1" i="0">
                <a:solidFill>
                  <a:srgbClr val="FFFFFF"/>
                </a:solidFill>
                <a:latin typeface="Arial"/>
              </a:rPr>
              <a:t>70%</a:t>
            </a:r>
          </a:p>
        </p:txBody>
      </p:sp>
      <p:sp>
        <p:nvSpPr>
          <p:cNvPr id="65" name="TextBox 64">
            <a:extLst>
              <a:ext uri="{FF2B5EF4-FFF2-40B4-BE49-F238E27FC236}">
                <a16:creationId xmlns:a16="http://schemas.microsoft.com/office/drawing/2014/main" id="{B8238B2A-7AB7-5046-45B5-BE3D4B14FBC8}"/>
              </a:ext>
            </a:extLst>
          </p:cNvPr>
          <p:cNvSpPr txBox="1"/>
          <p:nvPr/>
        </p:nvSpPr>
        <p:spPr>
          <a:xfrm>
            <a:off x="3310128" y="4864608"/>
            <a:ext cx="7132319"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IBK ejecuta de forma autónoma y contrasta resultados</a:t>
            </a:r>
          </a:p>
        </p:txBody>
      </p:sp>
      <p:sp>
        <p:nvSpPr>
          <p:cNvPr id="66" name="TextBox 65">
            <a:extLst>
              <a:ext uri="{FF2B5EF4-FFF2-40B4-BE49-F238E27FC236}">
                <a16:creationId xmlns:a16="http://schemas.microsoft.com/office/drawing/2014/main" id="{A4632E6A-3D73-22AF-7101-505CBF552543}"/>
              </a:ext>
            </a:extLst>
          </p:cNvPr>
          <p:cNvSpPr txBox="1"/>
          <p:nvPr/>
        </p:nvSpPr>
        <p:spPr>
          <a:xfrm>
            <a:off x="932688" y="5275195"/>
            <a:ext cx="2286000" cy="184666"/>
          </a:xfrm>
          <a:prstGeom prst="rect">
            <a:avLst/>
          </a:prstGeom>
          <a:noFill/>
        </p:spPr>
        <p:txBody>
          <a:bodyPr wrap="square" lIns="0" tIns="0" rIns="0" bIns="0" anchor="ctr">
            <a:spAutoFit/>
          </a:bodyPr>
          <a:lstStyle/>
          <a:p>
            <a:pPr algn="r">
              <a:lnSpc>
                <a:spcPct val="100000"/>
              </a:lnSpc>
            </a:pPr>
            <a:r>
              <a:rPr sz="1200" b="1" i="0" dirty="0">
                <a:solidFill>
                  <a:srgbClr val="0B2E2C"/>
                </a:solidFill>
                <a:latin typeface="Arial"/>
              </a:rPr>
              <a:t>Piloto </a:t>
            </a:r>
            <a:r>
              <a:rPr lang="en-US" sz="1200" b="1" i="0" dirty="0">
                <a:solidFill>
                  <a:srgbClr val="0B2E2C"/>
                </a:solidFill>
                <a:latin typeface="Arial"/>
              </a:rPr>
              <a:t>C</a:t>
            </a:r>
            <a:r>
              <a:rPr sz="1200" b="1" i="0" dirty="0">
                <a:solidFill>
                  <a:srgbClr val="0B2E2C"/>
                </a:solidFill>
                <a:latin typeface="Arial"/>
              </a:rPr>
              <a:t>LV</a:t>
            </a:r>
          </a:p>
        </p:txBody>
      </p:sp>
      <p:sp>
        <p:nvSpPr>
          <p:cNvPr id="67" name="Rectangle 66">
            <a:extLst>
              <a:ext uri="{FF2B5EF4-FFF2-40B4-BE49-F238E27FC236}">
                <a16:creationId xmlns:a16="http://schemas.microsoft.com/office/drawing/2014/main" id="{C73E6622-07E7-EAC6-3242-4A298EB9ADEF}"/>
              </a:ext>
            </a:extLst>
          </p:cNvPr>
          <p:cNvSpPr/>
          <p:nvPr/>
        </p:nvSpPr>
        <p:spPr>
          <a:xfrm>
            <a:off x="3310128" y="5175503"/>
            <a:ext cx="7132319" cy="31089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9" name="Rectangle 68">
            <a:extLst>
              <a:ext uri="{FF2B5EF4-FFF2-40B4-BE49-F238E27FC236}">
                <a16:creationId xmlns:a16="http://schemas.microsoft.com/office/drawing/2014/main" id="{3EE8F882-2C9E-1BBF-9B80-4866D65C1EF7}"/>
              </a:ext>
            </a:extLst>
          </p:cNvPr>
          <p:cNvSpPr/>
          <p:nvPr/>
        </p:nvSpPr>
        <p:spPr>
          <a:xfrm>
            <a:off x="3310128" y="5175503"/>
            <a:ext cx="2710281" cy="31089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0" name="TextBox 69">
            <a:extLst>
              <a:ext uri="{FF2B5EF4-FFF2-40B4-BE49-F238E27FC236}">
                <a16:creationId xmlns:a16="http://schemas.microsoft.com/office/drawing/2014/main" id="{DF3CF28B-6AB8-2019-94DA-41B221FBAABB}"/>
              </a:ext>
            </a:extLst>
          </p:cNvPr>
          <p:cNvSpPr txBox="1"/>
          <p:nvPr/>
        </p:nvSpPr>
        <p:spPr>
          <a:xfrm>
            <a:off x="3401568" y="5221224"/>
            <a:ext cx="1097280" cy="201168"/>
          </a:xfrm>
          <a:prstGeom prst="rect">
            <a:avLst/>
          </a:prstGeom>
          <a:noFill/>
        </p:spPr>
        <p:txBody>
          <a:bodyPr wrap="square" lIns="0" tIns="0" rIns="0" bIns="0" anchor="t">
            <a:spAutoFit/>
          </a:bodyPr>
          <a:lstStyle/>
          <a:p>
            <a:pPr algn="l">
              <a:lnSpc>
                <a:spcPct val="100000"/>
              </a:lnSpc>
            </a:pPr>
            <a:r>
              <a:rPr sz="800" b="1" i="0">
                <a:solidFill>
                  <a:srgbClr val="FFFFFF"/>
                </a:solidFill>
                <a:latin typeface="Arial"/>
              </a:rPr>
              <a:t>38%</a:t>
            </a:r>
          </a:p>
        </p:txBody>
      </p:sp>
      <p:sp>
        <p:nvSpPr>
          <p:cNvPr id="71" name="TextBox 70">
            <a:extLst>
              <a:ext uri="{FF2B5EF4-FFF2-40B4-BE49-F238E27FC236}">
                <a16:creationId xmlns:a16="http://schemas.microsoft.com/office/drawing/2014/main" id="{7C64D001-942B-ED69-6C2B-1FAB56FF27A0}"/>
              </a:ext>
            </a:extLst>
          </p:cNvPr>
          <p:cNvSpPr txBox="1"/>
          <p:nvPr/>
        </p:nvSpPr>
        <p:spPr>
          <a:xfrm>
            <a:off x="9253727" y="5221224"/>
            <a:ext cx="1097280" cy="201168"/>
          </a:xfrm>
          <a:prstGeom prst="rect">
            <a:avLst/>
          </a:prstGeom>
          <a:noFill/>
        </p:spPr>
        <p:txBody>
          <a:bodyPr wrap="square" lIns="0" tIns="0" rIns="0" bIns="0" anchor="t">
            <a:spAutoFit/>
          </a:bodyPr>
          <a:lstStyle/>
          <a:p>
            <a:pPr algn="r">
              <a:lnSpc>
                <a:spcPct val="100000"/>
              </a:lnSpc>
            </a:pPr>
            <a:r>
              <a:rPr sz="800" b="1" i="0">
                <a:solidFill>
                  <a:srgbClr val="FFFFFF"/>
                </a:solidFill>
                <a:latin typeface="Arial"/>
              </a:rPr>
              <a:t>62%</a:t>
            </a:r>
          </a:p>
        </p:txBody>
      </p:sp>
      <p:sp>
        <p:nvSpPr>
          <p:cNvPr id="72" name="TextBox 71">
            <a:extLst>
              <a:ext uri="{FF2B5EF4-FFF2-40B4-BE49-F238E27FC236}">
                <a16:creationId xmlns:a16="http://schemas.microsoft.com/office/drawing/2014/main" id="{F1C70020-6EA5-5A91-227C-A47480B48761}"/>
              </a:ext>
            </a:extLst>
          </p:cNvPr>
          <p:cNvSpPr txBox="1"/>
          <p:nvPr/>
        </p:nvSpPr>
        <p:spPr>
          <a:xfrm>
            <a:off x="3310128" y="5522976"/>
            <a:ext cx="7132319"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Simulación con datos históricos antes del despliegue</a:t>
            </a:r>
          </a:p>
        </p:txBody>
      </p:sp>
      <p:sp>
        <p:nvSpPr>
          <p:cNvPr id="73" name="TextBox 72">
            <a:extLst>
              <a:ext uri="{FF2B5EF4-FFF2-40B4-BE49-F238E27FC236}">
                <a16:creationId xmlns:a16="http://schemas.microsoft.com/office/drawing/2014/main" id="{436246A1-B6B7-0D95-44A1-4FC84F225CB0}"/>
              </a:ext>
            </a:extLst>
          </p:cNvPr>
          <p:cNvSpPr txBox="1"/>
          <p:nvPr/>
        </p:nvSpPr>
        <p:spPr>
          <a:xfrm>
            <a:off x="932688" y="5933563"/>
            <a:ext cx="2286000" cy="184666"/>
          </a:xfrm>
          <a:prstGeom prst="rect">
            <a:avLst/>
          </a:prstGeom>
          <a:noFill/>
        </p:spPr>
        <p:txBody>
          <a:bodyPr wrap="square" lIns="0" tIns="0" rIns="0" bIns="0" anchor="ctr">
            <a:spAutoFit/>
          </a:bodyPr>
          <a:lstStyle/>
          <a:p>
            <a:pPr algn="r">
              <a:lnSpc>
                <a:spcPct val="100000"/>
              </a:lnSpc>
            </a:pPr>
            <a:r>
              <a:rPr sz="1200" b="1" i="0">
                <a:solidFill>
                  <a:srgbClr val="0B2E2C"/>
                </a:solidFill>
                <a:latin typeface="Arial"/>
              </a:rPr>
              <a:t>Operación autónoma</a:t>
            </a:r>
          </a:p>
        </p:txBody>
      </p:sp>
      <p:sp>
        <p:nvSpPr>
          <p:cNvPr id="74" name="Rectangle 73">
            <a:extLst>
              <a:ext uri="{FF2B5EF4-FFF2-40B4-BE49-F238E27FC236}">
                <a16:creationId xmlns:a16="http://schemas.microsoft.com/office/drawing/2014/main" id="{89252C67-1575-C633-5C20-1833F6B5823F}"/>
              </a:ext>
            </a:extLst>
          </p:cNvPr>
          <p:cNvSpPr/>
          <p:nvPr/>
        </p:nvSpPr>
        <p:spPr>
          <a:xfrm>
            <a:off x="3310128" y="5833871"/>
            <a:ext cx="7132319" cy="310896"/>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5" name="Rectangle 74">
            <a:extLst>
              <a:ext uri="{FF2B5EF4-FFF2-40B4-BE49-F238E27FC236}">
                <a16:creationId xmlns:a16="http://schemas.microsoft.com/office/drawing/2014/main" id="{74350146-5ACB-CA09-EC81-38C5E0A53DCD}"/>
              </a:ext>
            </a:extLst>
          </p:cNvPr>
          <p:cNvSpPr/>
          <p:nvPr/>
        </p:nvSpPr>
        <p:spPr>
          <a:xfrm>
            <a:off x="3310128" y="5833871"/>
            <a:ext cx="713231" cy="31089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6" name="TextBox 75">
            <a:extLst>
              <a:ext uri="{FF2B5EF4-FFF2-40B4-BE49-F238E27FC236}">
                <a16:creationId xmlns:a16="http://schemas.microsoft.com/office/drawing/2014/main" id="{A4CAE3DE-6C25-63A3-1E96-5207D5158FAD}"/>
              </a:ext>
            </a:extLst>
          </p:cNvPr>
          <p:cNvSpPr txBox="1"/>
          <p:nvPr/>
        </p:nvSpPr>
        <p:spPr>
          <a:xfrm>
            <a:off x="9253727" y="5879592"/>
            <a:ext cx="1097280" cy="201168"/>
          </a:xfrm>
          <a:prstGeom prst="rect">
            <a:avLst/>
          </a:prstGeom>
          <a:noFill/>
        </p:spPr>
        <p:txBody>
          <a:bodyPr wrap="square" lIns="0" tIns="0" rIns="0" bIns="0" anchor="t">
            <a:spAutoFit/>
          </a:bodyPr>
          <a:lstStyle/>
          <a:p>
            <a:pPr algn="r">
              <a:lnSpc>
                <a:spcPct val="100000"/>
              </a:lnSpc>
            </a:pPr>
            <a:r>
              <a:rPr sz="800" b="1" i="0">
                <a:solidFill>
                  <a:srgbClr val="FFFFFF"/>
                </a:solidFill>
                <a:latin typeface="Arial"/>
              </a:rPr>
              <a:t>90%</a:t>
            </a:r>
          </a:p>
        </p:txBody>
      </p:sp>
      <p:sp>
        <p:nvSpPr>
          <p:cNvPr id="77" name="TextBox 76">
            <a:extLst>
              <a:ext uri="{FF2B5EF4-FFF2-40B4-BE49-F238E27FC236}">
                <a16:creationId xmlns:a16="http://schemas.microsoft.com/office/drawing/2014/main" id="{2A433039-F6F7-7CCB-D138-57749B9AA904}"/>
              </a:ext>
            </a:extLst>
          </p:cNvPr>
          <p:cNvSpPr txBox="1"/>
          <p:nvPr/>
        </p:nvSpPr>
        <p:spPr>
          <a:xfrm>
            <a:off x="3310128" y="6181344"/>
            <a:ext cx="7132319" cy="161583"/>
          </a:xfrm>
          <a:prstGeom prst="rect">
            <a:avLst/>
          </a:prstGeom>
          <a:noFill/>
        </p:spPr>
        <p:txBody>
          <a:bodyPr wrap="square" lIns="0" tIns="0" rIns="0" bIns="0" anchor="t">
            <a:spAutoFit/>
          </a:bodyPr>
          <a:lstStyle/>
          <a:p>
            <a:pPr algn="l">
              <a:lnSpc>
                <a:spcPct val="100000"/>
              </a:lnSpc>
            </a:pPr>
            <a:r>
              <a:rPr sz="1050" b="0" i="0">
                <a:solidFill>
                  <a:srgbClr val="6E7E7D"/>
                </a:solidFill>
                <a:latin typeface="Arial"/>
              </a:rPr>
              <a:t>Capacitación cerrada y operación de IBK</a:t>
            </a:r>
          </a:p>
        </p:txBody>
      </p:sp>
      <p:sp>
        <p:nvSpPr>
          <p:cNvPr id="78" name="Rectangle 77">
            <a:extLst>
              <a:ext uri="{FF2B5EF4-FFF2-40B4-BE49-F238E27FC236}">
                <a16:creationId xmlns:a16="http://schemas.microsoft.com/office/drawing/2014/main" id="{D39B42A3-8587-AC0B-ED7F-0CC64B996609}"/>
              </a:ext>
            </a:extLst>
          </p:cNvPr>
          <p:cNvSpPr/>
          <p:nvPr/>
        </p:nvSpPr>
        <p:spPr>
          <a:xfrm>
            <a:off x="11265408" y="1700784"/>
            <a:ext cx="4332244" cy="292608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9" name="Rectangle 78">
            <a:extLst>
              <a:ext uri="{FF2B5EF4-FFF2-40B4-BE49-F238E27FC236}">
                <a16:creationId xmlns:a16="http://schemas.microsoft.com/office/drawing/2014/main" id="{9D20336A-8BF0-1C47-0948-E3E888780527}"/>
              </a:ext>
            </a:extLst>
          </p:cNvPr>
          <p:cNvSpPr/>
          <p:nvPr/>
        </p:nvSpPr>
        <p:spPr>
          <a:xfrm>
            <a:off x="11265408" y="1700784"/>
            <a:ext cx="4332244" cy="32918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200" b="1" i="0">
                <a:solidFill>
                  <a:srgbClr val="FFFFFF"/>
                </a:solidFill>
                <a:latin typeface="Arial"/>
              </a:rPr>
              <a:t>QUÉ QUEDA EN IBK</a:t>
            </a:r>
          </a:p>
        </p:txBody>
      </p:sp>
      <p:sp>
        <p:nvSpPr>
          <p:cNvPr id="80" name="Oval 79">
            <a:extLst>
              <a:ext uri="{FF2B5EF4-FFF2-40B4-BE49-F238E27FC236}">
                <a16:creationId xmlns:a16="http://schemas.microsoft.com/office/drawing/2014/main" id="{ACEC9761-12D0-A8D4-6B81-1CCD72958392}"/>
              </a:ext>
            </a:extLst>
          </p:cNvPr>
          <p:cNvSpPr/>
          <p:nvPr/>
        </p:nvSpPr>
        <p:spPr>
          <a:xfrm>
            <a:off x="11484864" y="2173602"/>
            <a:ext cx="91440" cy="9144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1" name="TextBox 80">
            <a:extLst>
              <a:ext uri="{FF2B5EF4-FFF2-40B4-BE49-F238E27FC236}">
                <a16:creationId xmlns:a16="http://schemas.microsoft.com/office/drawing/2014/main" id="{A228608D-995D-9875-6D9B-0E9D78B14465}"/>
              </a:ext>
            </a:extLst>
          </p:cNvPr>
          <p:cNvSpPr txBox="1"/>
          <p:nvPr/>
        </p:nvSpPr>
        <p:spPr>
          <a:xfrm>
            <a:off x="11704320" y="2123310"/>
            <a:ext cx="3673876" cy="194284"/>
          </a:xfrm>
          <a:prstGeom prst="rect">
            <a:avLst/>
          </a:prstGeom>
          <a:noFill/>
        </p:spPr>
        <p:txBody>
          <a:bodyPr wrap="square" lIns="0" tIns="0" rIns="0" bIns="0" anchor="t">
            <a:spAutoFit/>
          </a:bodyPr>
          <a:lstStyle/>
          <a:p>
            <a:pPr algn="l">
              <a:lnSpc>
                <a:spcPct val="115000"/>
              </a:lnSpc>
            </a:pPr>
            <a:r>
              <a:rPr sz="1200" b="0" i="0" dirty="0">
                <a:solidFill>
                  <a:srgbClr val="3E5553"/>
                </a:solidFill>
                <a:latin typeface="Arial"/>
              </a:rPr>
              <a:t>Modelos </a:t>
            </a:r>
            <a:r>
              <a:rPr sz="1200" b="0" i="0" dirty="0" err="1">
                <a:solidFill>
                  <a:srgbClr val="3E5553"/>
                </a:solidFill>
                <a:latin typeface="Arial"/>
              </a:rPr>
              <a:t>analíticos</a:t>
            </a:r>
            <a:r>
              <a:rPr sz="1200" b="0" i="0" dirty="0">
                <a:solidFill>
                  <a:srgbClr val="3E5553"/>
                </a:solidFill>
                <a:latin typeface="Arial"/>
              </a:rPr>
              <a:t> </a:t>
            </a:r>
            <a:r>
              <a:rPr sz="1200" b="0" i="0" dirty="0" err="1">
                <a:solidFill>
                  <a:srgbClr val="3E5553"/>
                </a:solidFill>
                <a:latin typeface="Arial"/>
              </a:rPr>
              <a:t>calibrados</a:t>
            </a:r>
            <a:endParaRPr sz="1200" b="0" i="0" dirty="0">
              <a:solidFill>
                <a:srgbClr val="3E5553"/>
              </a:solidFill>
              <a:latin typeface="Arial"/>
            </a:endParaRPr>
          </a:p>
        </p:txBody>
      </p:sp>
      <p:sp>
        <p:nvSpPr>
          <p:cNvPr id="82" name="Oval 81">
            <a:extLst>
              <a:ext uri="{FF2B5EF4-FFF2-40B4-BE49-F238E27FC236}">
                <a16:creationId xmlns:a16="http://schemas.microsoft.com/office/drawing/2014/main" id="{41E1D036-7658-8B9D-12B4-9781DF65305F}"/>
              </a:ext>
            </a:extLst>
          </p:cNvPr>
          <p:cNvSpPr/>
          <p:nvPr/>
        </p:nvSpPr>
        <p:spPr>
          <a:xfrm>
            <a:off x="11484864" y="2546454"/>
            <a:ext cx="91440" cy="9144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3" name="TextBox 82">
            <a:extLst>
              <a:ext uri="{FF2B5EF4-FFF2-40B4-BE49-F238E27FC236}">
                <a16:creationId xmlns:a16="http://schemas.microsoft.com/office/drawing/2014/main" id="{7AADCD68-CE08-3F19-FE90-88DBCAE2FD3C}"/>
              </a:ext>
            </a:extLst>
          </p:cNvPr>
          <p:cNvSpPr txBox="1"/>
          <p:nvPr/>
        </p:nvSpPr>
        <p:spPr>
          <a:xfrm>
            <a:off x="11704320" y="2496162"/>
            <a:ext cx="3673876" cy="194284"/>
          </a:xfrm>
          <a:prstGeom prst="rect">
            <a:avLst/>
          </a:prstGeom>
          <a:noFill/>
        </p:spPr>
        <p:txBody>
          <a:bodyPr wrap="square" lIns="0" tIns="0" rIns="0" bIns="0" anchor="t">
            <a:spAutoFit/>
          </a:bodyPr>
          <a:lstStyle/>
          <a:p>
            <a:pPr algn="l">
              <a:lnSpc>
                <a:spcPct val="115000"/>
              </a:lnSpc>
            </a:pPr>
            <a:r>
              <a:rPr sz="1200" b="0" i="0">
                <a:solidFill>
                  <a:srgbClr val="3E5553"/>
                </a:solidFill>
                <a:latin typeface="Arial"/>
              </a:rPr>
              <a:t>Código fuente documentado</a:t>
            </a:r>
          </a:p>
        </p:txBody>
      </p:sp>
      <p:sp>
        <p:nvSpPr>
          <p:cNvPr id="84" name="Oval 83">
            <a:extLst>
              <a:ext uri="{FF2B5EF4-FFF2-40B4-BE49-F238E27FC236}">
                <a16:creationId xmlns:a16="http://schemas.microsoft.com/office/drawing/2014/main" id="{8AFEC4AB-1705-3545-7A05-4FD1AE29C46E}"/>
              </a:ext>
            </a:extLst>
          </p:cNvPr>
          <p:cNvSpPr/>
          <p:nvPr/>
        </p:nvSpPr>
        <p:spPr>
          <a:xfrm>
            <a:off x="11484864" y="2919306"/>
            <a:ext cx="91440" cy="9144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5" name="TextBox 84">
            <a:extLst>
              <a:ext uri="{FF2B5EF4-FFF2-40B4-BE49-F238E27FC236}">
                <a16:creationId xmlns:a16="http://schemas.microsoft.com/office/drawing/2014/main" id="{9D5E4D32-DE06-8CEB-412F-38124552B793}"/>
              </a:ext>
            </a:extLst>
          </p:cNvPr>
          <p:cNvSpPr txBox="1"/>
          <p:nvPr/>
        </p:nvSpPr>
        <p:spPr>
          <a:xfrm>
            <a:off x="11704320" y="2869014"/>
            <a:ext cx="3673876" cy="194284"/>
          </a:xfrm>
          <a:prstGeom prst="rect">
            <a:avLst/>
          </a:prstGeom>
          <a:noFill/>
        </p:spPr>
        <p:txBody>
          <a:bodyPr wrap="square" lIns="0" tIns="0" rIns="0" bIns="0" anchor="t">
            <a:spAutoFit/>
          </a:bodyPr>
          <a:lstStyle/>
          <a:p>
            <a:pPr algn="l">
              <a:lnSpc>
                <a:spcPct val="115000"/>
              </a:lnSpc>
            </a:pPr>
            <a:r>
              <a:rPr sz="1200" b="0" i="0">
                <a:solidFill>
                  <a:srgbClr val="3E5553"/>
                </a:solidFill>
                <a:latin typeface="Arial"/>
              </a:rPr>
              <a:t>Manual metodológico</a:t>
            </a:r>
          </a:p>
        </p:txBody>
      </p:sp>
      <p:sp>
        <p:nvSpPr>
          <p:cNvPr id="86" name="Oval 85">
            <a:extLst>
              <a:ext uri="{FF2B5EF4-FFF2-40B4-BE49-F238E27FC236}">
                <a16:creationId xmlns:a16="http://schemas.microsoft.com/office/drawing/2014/main" id="{C22B4F95-71F5-FEB7-899B-D2C837016CEA}"/>
              </a:ext>
            </a:extLst>
          </p:cNvPr>
          <p:cNvSpPr/>
          <p:nvPr/>
        </p:nvSpPr>
        <p:spPr>
          <a:xfrm>
            <a:off x="11484864" y="3292158"/>
            <a:ext cx="91440" cy="9144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7" name="TextBox 86">
            <a:extLst>
              <a:ext uri="{FF2B5EF4-FFF2-40B4-BE49-F238E27FC236}">
                <a16:creationId xmlns:a16="http://schemas.microsoft.com/office/drawing/2014/main" id="{B9ED0A91-A57A-23C6-B99F-EF99E845EB08}"/>
              </a:ext>
            </a:extLst>
          </p:cNvPr>
          <p:cNvSpPr txBox="1"/>
          <p:nvPr/>
        </p:nvSpPr>
        <p:spPr>
          <a:xfrm>
            <a:off x="11704320" y="3241866"/>
            <a:ext cx="3673876" cy="194284"/>
          </a:xfrm>
          <a:prstGeom prst="rect">
            <a:avLst/>
          </a:prstGeom>
          <a:noFill/>
        </p:spPr>
        <p:txBody>
          <a:bodyPr wrap="square" lIns="0" tIns="0" rIns="0" bIns="0" anchor="t">
            <a:spAutoFit/>
          </a:bodyPr>
          <a:lstStyle/>
          <a:p>
            <a:pPr algn="l">
              <a:lnSpc>
                <a:spcPct val="115000"/>
              </a:lnSpc>
            </a:pPr>
            <a:r>
              <a:rPr sz="1200" b="0" i="0">
                <a:solidFill>
                  <a:srgbClr val="3E5553"/>
                </a:solidFill>
                <a:latin typeface="Arial"/>
              </a:rPr>
              <a:t>Manual técnico-funcional</a:t>
            </a:r>
          </a:p>
        </p:txBody>
      </p:sp>
      <p:sp>
        <p:nvSpPr>
          <p:cNvPr id="88" name="Oval 87">
            <a:extLst>
              <a:ext uri="{FF2B5EF4-FFF2-40B4-BE49-F238E27FC236}">
                <a16:creationId xmlns:a16="http://schemas.microsoft.com/office/drawing/2014/main" id="{05A4661F-32B0-D523-66A2-A5BB2DB5E647}"/>
              </a:ext>
            </a:extLst>
          </p:cNvPr>
          <p:cNvSpPr/>
          <p:nvPr/>
        </p:nvSpPr>
        <p:spPr>
          <a:xfrm>
            <a:off x="11484864" y="3665010"/>
            <a:ext cx="91440" cy="9144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9" name="TextBox 88">
            <a:extLst>
              <a:ext uri="{FF2B5EF4-FFF2-40B4-BE49-F238E27FC236}">
                <a16:creationId xmlns:a16="http://schemas.microsoft.com/office/drawing/2014/main" id="{4DE928FE-573D-0671-E30C-275A6E6491B7}"/>
              </a:ext>
            </a:extLst>
          </p:cNvPr>
          <p:cNvSpPr txBox="1"/>
          <p:nvPr/>
        </p:nvSpPr>
        <p:spPr>
          <a:xfrm>
            <a:off x="11704320" y="3614718"/>
            <a:ext cx="3673876" cy="194284"/>
          </a:xfrm>
          <a:prstGeom prst="rect">
            <a:avLst/>
          </a:prstGeom>
          <a:noFill/>
        </p:spPr>
        <p:txBody>
          <a:bodyPr wrap="square" lIns="0" tIns="0" rIns="0" bIns="0" anchor="t">
            <a:spAutoFit/>
          </a:bodyPr>
          <a:lstStyle/>
          <a:p>
            <a:pPr algn="l">
              <a:lnSpc>
                <a:spcPct val="115000"/>
              </a:lnSpc>
            </a:pPr>
            <a:r>
              <a:rPr sz="1200" b="0" i="0">
                <a:solidFill>
                  <a:srgbClr val="3E5553"/>
                </a:solidFill>
                <a:latin typeface="Arial"/>
              </a:rPr>
              <a:t>Casos de validación</a:t>
            </a:r>
          </a:p>
        </p:txBody>
      </p:sp>
      <p:sp>
        <p:nvSpPr>
          <p:cNvPr id="90" name="Oval 89">
            <a:extLst>
              <a:ext uri="{FF2B5EF4-FFF2-40B4-BE49-F238E27FC236}">
                <a16:creationId xmlns:a16="http://schemas.microsoft.com/office/drawing/2014/main" id="{4F340147-3F1E-7ACA-F3B7-30A994565956}"/>
              </a:ext>
            </a:extLst>
          </p:cNvPr>
          <p:cNvSpPr/>
          <p:nvPr/>
        </p:nvSpPr>
        <p:spPr>
          <a:xfrm>
            <a:off x="11484864" y="4037862"/>
            <a:ext cx="91440" cy="9144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91" name="TextBox 90">
            <a:extLst>
              <a:ext uri="{FF2B5EF4-FFF2-40B4-BE49-F238E27FC236}">
                <a16:creationId xmlns:a16="http://schemas.microsoft.com/office/drawing/2014/main" id="{9DFA9C84-5434-616A-BBE5-BEA4EDA3B7AC}"/>
              </a:ext>
            </a:extLst>
          </p:cNvPr>
          <p:cNvSpPr txBox="1"/>
          <p:nvPr/>
        </p:nvSpPr>
        <p:spPr>
          <a:xfrm>
            <a:off x="11704320" y="3987570"/>
            <a:ext cx="3673876" cy="194284"/>
          </a:xfrm>
          <a:prstGeom prst="rect">
            <a:avLst/>
          </a:prstGeom>
          <a:noFill/>
        </p:spPr>
        <p:txBody>
          <a:bodyPr wrap="square" lIns="0" tIns="0" rIns="0" bIns="0" anchor="t">
            <a:spAutoFit/>
          </a:bodyPr>
          <a:lstStyle/>
          <a:p>
            <a:pPr algn="l">
              <a:lnSpc>
                <a:spcPct val="115000"/>
              </a:lnSpc>
            </a:pPr>
            <a:r>
              <a:rPr sz="1200" b="0" i="0" dirty="0" err="1">
                <a:solidFill>
                  <a:srgbClr val="3E5553"/>
                </a:solidFill>
                <a:latin typeface="Arial"/>
              </a:rPr>
              <a:t>Repositorio</a:t>
            </a:r>
            <a:r>
              <a:rPr sz="1200" b="0" i="0" dirty="0">
                <a:solidFill>
                  <a:srgbClr val="3E5553"/>
                </a:solidFill>
                <a:latin typeface="Arial"/>
              </a:rPr>
              <a:t> </a:t>
            </a:r>
            <a:r>
              <a:rPr sz="1200" b="0" i="0" dirty="0" err="1">
                <a:solidFill>
                  <a:srgbClr val="3E5553"/>
                </a:solidFill>
                <a:latin typeface="Arial"/>
              </a:rPr>
              <a:t>alojado</a:t>
            </a:r>
            <a:r>
              <a:rPr sz="1200" b="0" i="0" dirty="0">
                <a:solidFill>
                  <a:srgbClr val="3E5553"/>
                </a:solidFill>
                <a:latin typeface="Arial"/>
              </a:rPr>
              <a:t> </a:t>
            </a:r>
            <a:r>
              <a:rPr sz="1200" b="0" i="0" dirty="0" err="1">
                <a:solidFill>
                  <a:srgbClr val="3E5553"/>
                </a:solidFill>
                <a:latin typeface="Arial"/>
              </a:rPr>
              <a:t>en</a:t>
            </a:r>
            <a:r>
              <a:rPr sz="1200" b="0" i="0" dirty="0">
                <a:solidFill>
                  <a:srgbClr val="3E5553"/>
                </a:solidFill>
                <a:latin typeface="Arial"/>
              </a:rPr>
              <a:t> AWS de IBK</a:t>
            </a:r>
          </a:p>
        </p:txBody>
      </p:sp>
      <p:sp>
        <p:nvSpPr>
          <p:cNvPr id="92" name="Rectangle 91">
            <a:extLst>
              <a:ext uri="{FF2B5EF4-FFF2-40B4-BE49-F238E27FC236}">
                <a16:creationId xmlns:a16="http://schemas.microsoft.com/office/drawing/2014/main" id="{851C4AC5-F920-E443-CF27-38136332D717}"/>
              </a:ext>
            </a:extLst>
          </p:cNvPr>
          <p:cNvSpPr/>
          <p:nvPr/>
        </p:nvSpPr>
        <p:spPr>
          <a:xfrm>
            <a:off x="11265408" y="4828032"/>
            <a:ext cx="4332244" cy="1947672"/>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93" name="TextBox 92">
            <a:extLst>
              <a:ext uri="{FF2B5EF4-FFF2-40B4-BE49-F238E27FC236}">
                <a16:creationId xmlns:a16="http://schemas.microsoft.com/office/drawing/2014/main" id="{28703FDE-4652-3474-5AB9-EF0F8C066409}"/>
              </a:ext>
            </a:extLst>
          </p:cNvPr>
          <p:cNvSpPr txBox="1"/>
          <p:nvPr/>
        </p:nvSpPr>
        <p:spPr>
          <a:xfrm>
            <a:off x="11503152" y="5010912"/>
            <a:ext cx="3856756" cy="184666"/>
          </a:xfrm>
          <a:prstGeom prst="rect">
            <a:avLst/>
          </a:prstGeom>
          <a:noFill/>
        </p:spPr>
        <p:txBody>
          <a:bodyPr wrap="square" lIns="0" tIns="0" rIns="0" bIns="0" anchor="t">
            <a:spAutoFit/>
          </a:bodyPr>
          <a:lstStyle/>
          <a:p>
            <a:pPr algn="l">
              <a:lnSpc>
                <a:spcPct val="100000"/>
              </a:lnSpc>
            </a:pPr>
            <a:r>
              <a:rPr sz="1200" b="1" i="0">
                <a:solidFill>
                  <a:srgbClr val="2F9E98"/>
                </a:solidFill>
                <a:latin typeface="Arial"/>
              </a:rPr>
              <a:t>RESULTADO ESPERADO</a:t>
            </a:r>
          </a:p>
        </p:txBody>
      </p:sp>
      <p:sp>
        <p:nvSpPr>
          <p:cNvPr id="94" name="TextBox 93">
            <a:extLst>
              <a:ext uri="{FF2B5EF4-FFF2-40B4-BE49-F238E27FC236}">
                <a16:creationId xmlns:a16="http://schemas.microsoft.com/office/drawing/2014/main" id="{98B7DB73-9230-4870-764A-02D25DBE43BF}"/>
              </a:ext>
            </a:extLst>
          </p:cNvPr>
          <p:cNvSpPr txBox="1"/>
          <p:nvPr/>
        </p:nvSpPr>
        <p:spPr>
          <a:xfrm>
            <a:off x="11503152" y="5303520"/>
            <a:ext cx="3856756" cy="1091133"/>
          </a:xfrm>
          <a:prstGeom prst="rect">
            <a:avLst/>
          </a:prstGeom>
          <a:noFill/>
        </p:spPr>
        <p:txBody>
          <a:bodyPr wrap="square" lIns="0" tIns="0" rIns="0" bIns="0" anchor="t">
            <a:spAutoFit/>
          </a:bodyPr>
          <a:lstStyle/>
          <a:p>
            <a:pPr algn="l">
              <a:lnSpc>
                <a:spcPct val="130000"/>
              </a:lnSpc>
            </a:pPr>
            <a:r>
              <a:rPr b="0" i="0">
                <a:solidFill>
                  <a:srgbClr val="CBE3E2"/>
                </a:solidFill>
                <a:latin typeface="Arial"/>
              </a:rPr>
              <a:t>Interbank contará con la capacidad de ejecutar, validar, monitorear y evolucionar los modelos de Pricing 360° de forma autónoma, reduciendo la dependencia del equipo consultor.</a:t>
            </a:r>
          </a:p>
        </p:txBody>
      </p:sp>
      <p:sp>
        <p:nvSpPr>
          <p:cNvPr id="95" name="Rectangle 94">
            <a:extLst>
              <a:ext uri="{FF2B5EF4-FFF2-40B4-BE49-F238E27FC236}">
                <a16:creationId xmlns:a16="http://schemas.microsoft.com/office/drawing/2014/main" id="{A44652CE-1113-3378-2EDC-9344A22B4CCD}"/>
              </a:ext>
            </a:extLst>
          </p:cNvPr>
          <p:cNvSpPr/>
          <p:nvPr/>
        </p:nvSpPr>
        <p:spPr>
          <a:xfrm>
            <a:off x="658368" y="725944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cxnSp>
        <p:nvCxnSpPr>
          <p:cNvPr id="96" name="Connector 67">
            <a:extLst>
              <a:ext uri="{FF2B5EF4-FFF2-40B4-BE49-F238E27FC236}">
                <a16:creationId xmlns:a16="http://schemas.microsoft.com/office/drawing/2014/main" id="{1C352FC1-19E0-6860-E649-F033A25F53D4}"/>
              </a:ext>
            </a:extLst>
          </p:cNvPr>
          <p:cNvCxnSpPr/>
          <p:nvPr/>
        </p:nvCxnSpPr>
        <p:spPr>
          <a:xfrm>
            <a:off x="658368" y="725944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B10DF0F9-96BB-DE16-51D3-B00A15CADF61}"/>
              </a:ext>
            </a:extLst>
          </p:cNvPr>
          <p:cNvSpPr txBox="1"/>
          <p:nvPr/>
        </p:nvSpPr>
        <p:spPr>
          <a:xfrm>
            <a:off x="896112" y="7413385"/>
            <a:ext cx="14482084" cy="259045"/>
          </a:xfrm>
          <a:prstGeom prst="rect">
            <a:avLst/>
          </a:prstGeom>
          <a:noFill/>
        </p:spPr>
        <p:txBody>
          <a:bodyPr wrap="square" lIns="0" tIns="0" rIns="0" bIns="0" anchor="ctr">
            <a:spAutoFit/>
          </a:bodyPr>
          <a:lstStyle/>
          <a:p>
            <a:pPr algn="l">
              <a:lnSpc>
                <a:spcPct val="115000"/>
              </a:lnSpc>
              <a:spcAft>
                <a:spcPts val="400"/>
              </a:spcAft>
            </a:pPr>
            <a:r>
              <a:rPr sz="1600" b="1" i="0">
                <a:solidFill>
                  <a:srgbClr val="0C514E"/>
                </a:solidFill>
                <a:latin typeface="Arial"/>
              </a:rPr>
              <a:t>El conocimiento no se entrega al final: se construye en el equipo de IBK desde el primer checkpoint semanal.</a:t>
            </a:r>
          </a:p>
        </p:txBody>
      </p:sp>
      <p:sp>
        <p:nvSpPr>
          <p:cNvPr id="9" name="Oval 8">
            <a:extLst>
              <a:ext uri="{FF2B5EF4-FFF2-40B4-BE49-F238E27FC236}">
                <a16:creationId xmlns:a16="http://schemas.microsoft.com/office/drawing/2014/main" id="{891D134A-815F-52C5-F411-364E471C15C2}"/>
              </a:ext>
            </a:extLst>
          </p:cNvPr>
          <p:cNvSpPr/>
          <p:nvPr/>
        </p:nvSpPr>
        <p:spPr>
          <a:xfrm>
            <a:off x="11482884" y="4410715"/>
            <a:ext cx="91440" cy="91440"/>
          </a:xfrm>
          <a:prstGeom prst="ellipse">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0" name="TextBox 9">
            <a:extLst>
              <a:ext uri="{FF2B5EF4-FFF2-40B4-BE49-F238E27FC236}">
                <a16:creationId xmlns:a16="http://schemas.microsoft.com/office/drawing/2014/main" id="{BF8BD5AD-38F8-D955-47D3-77AC50B157DE}"/>
              </a:ext>
            </a:extLst>
          </p:cNvPr>
          <p:cNvSpPr txBox="1"/>
          <p:nvPr/>
        </p:nvSpPr>
        <p:spPr>
          <a:xfrm>
            <a:off x="11702340" y="4360423"/>
            <a:ext cx="3673876" cy="194284"/>
          </a:xfrm>
          <a:prstGeom prst="rect">
            <a:avLst/>
          </a:prstGeom>
          <a:noFill/>
        </p:spPr>
        <p:txBody>
          <a:bodyPr wrap="square" lIns="0" tIns="0" rIns="0" bIns="0" anchor="t">
            <a:spAutoFit/>
          </a:bodyPr>
          <a:lstStyle/>
          <a:p>
            <a:pPr algn="l">
              <a:lnSpc>
                <a:spcPct val="115000"/>
              </a:lnSpc>
            </a:pPr>
            <a:r>
              <a:rPr lang="en-US" sz="1200" b="0" i="0" dirty="0" err="1">
                <a:solidFill>
                  <a:srgbClr val="3E5553"/>
                </a:solidFill>
                <a:latin typeface="Arial"/>
              </a:rPr>
              <a:t>Monitoreo</a:t>
            </a:r>
            <a:r>
              <a:rPr lang="en-US" sz="1200" b="0" i="0" dirty="0">
                <a:solidFill>
                  <a:srgbClr val="3E5553"/>
                </a:solidFill>
                <a:latin typeface="Arial"/>
              </a:rPr>
              <a:t> de </a:t>
            </a:r>
            <a:r>
              <a:rPr lang="en-US" sz="1200" b="0" i="0" dirty="0" err="1">
                <a:solidFill>
                  <a:srgbClr val="3E5553"/>
                </a:solidFill>
                <a:latin typeface="Arial"/>
              </a:rPr>
              <a:t>Modelos</a:t>
            </a:r>
            <a:endParaRPr sz="1200" b="0" i="0" dirty="0">
              <a:solidFill>
                <a:srgbClr val="3E5553"/>
              </a:solidFill>
              <a:latin typeface="Arial"/>
            </a:endParaRPr>
          </a:p>
        </p:txBody>
      </p:sp>
    </p:spTree>
    <p:extLst>
      <p:ext uri="{BB962C8B-B14F-4D97-AF65-F5344CB8AC3E}">
        <p14:creationId xmlns:p14="http://schemas.microsoft.com/office/powerpoint/2010/main" val="722560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5BCBA-EFB8-D05F-0900-568A984E4D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81BE38-0958-FC59-5920-EB4DD142E5A6}"/>
              </a:ext>
            </a:extLst>
          </p:cNvPr>
          <p:cNvSpPr/>
          <p:nvPr/>
        </p:nvSpPr>
        <p:spPr>
          <a:xfrm>
            <a:off x="0" y="1101969"/>
            <a:ext cx="16256000" cy="8168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6DB83BA2-B5CA-5F6B-AE32-B5284B61EA36}"/>
              </a:ext>
            </a:extLst>
          </p:cNvPr>
          <p:cNvSpPr>
            <a:spLocks noGrp="1"/>
          </p:cNvSpPr>
          <p:nvPr>
            <p:ph type="title"/>
          </p:nvPr>
        </p:nvSpPr>
        <p:spPr>
          <a:xfrm>
            <a:off x="457200" y="304800"/>
            <a:ext cx="13540154" cy="1143000"/>
          </a:xfrm>
        </p:spPr>
        <p:txBody>
          <a:bodyPr>
            <a:normAutofit/>
          </a:bodyPr>
          <a:lstStyle/>
          <a:p>
            <a:r>
              <a:rPr lang="es-ES_tradnl" sz="3200" noProof="0" dirty="0"/>
              <a:t>La herramienta de </a:t>
            </a:r>
            <a:r>
              <a:rPr lang="es-ES_tradnl" sz="3200" noProof="0" dirty="0" err="1"/>
              <a:t>pricing</a:t>
            </a:r>
            <a:r>
              <a:rPr lang="es-ES_tradnl" sz="3200" noProof="0" dirty="0"/>
              <a:t> viaja con tres manuales: IBK puede usarla, entenderla por dentro y reconstruir sus insumos sin VOi</a:t>
            </a:r>
          </a:p>
        </p:txBody>
      </p:sp>
      <p:sp>
        <p:nvSpPr>
          <p:cNvPr id="9" name="Rectangle 8">
            <a:extLst>
              <a:ext uri="{FF2B5EF4-FFF2-40B4-BE49-F238E27FC236}">
                <a16:creationId xmlns:a16="http://schemas.microsoft.com/office/drawing/2014/main" id="{15AF975D-C3FD-794A-C631-457E3E33E2D9}"/>
              </a:ext>
            </a:extLst>
          </p:cNvPr>
          <p:cNvSpPr/>
          <p:nvPr/>
        </p:nvSpPr>
        <p:spPr>
          <a:xfrm>
            <a:off x="658368" y="1783080"/>
            <a:ext cx="4206240" cy="589788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10" name="TextBox 9">
            <a:extLst>
              <a:ext uri="{FF2B5EF4-FFF2-40B4-BE49-F238E27FC236}">
                <a16:creationId xmlns:a16="http://schemas.microsoft.com/office/drawing/2014/main" id="{5A4441F7-94D0-FC57-5665-605E6DD9249C}"/>
              </a:ext>
            </a:extLst>
          </p:cNvPr>
          <p:cNvSpPr txBox="1"/>
          <p:nvPr/>
        </p:nvSpPr>
        <p:spPr>
          <a:xfrm>
            <a:off x="950976" y="2167128"/>
            <a:ext cx="3621023" cy="215444"/>
          </a:xfrm>
          <a:prstGeom prst="rect">
            <a:avLst/>
          </a:prstGeom>
          <a:noFill/>
        </p:spPr>
        <p:txBody>
          <a:bodyPr wrap="square" lIns="0" tIns="0" rIns="0" bIns="0" anchor="t">
            <a:spAutoFit/>
          </a:bodyPr>
          <a:lstStyle/>
          <a:p>
            <a:pPr algn="l">
              <a:lnSpc>
                <a:spcPct val="100000"/>
              </a:lnSpc>
            </a:pPr>
            <a:r>
              <a:rPr b="1" i="0">
                <a:solidFill>
                  <a:srgbClr val="2F9E98"/>
                </a:solidFill>
                <a:latin typeface="Arial"/>
              </a:rPr>
              <a:t>EL ENTREGABLE CENTRAL</a:t>
            </a:r>
          </a:p>
        </p:txBody>
      </p:sp>
      <p:sp>
        <p:nvSpPr>
          <p:cNvPr id="15" name="TextBox 14">
            <a:extLst>
              <a:ext uri="{FF2B5EF4-FFF2-40B4-BE49-F238E27FC236}">
                <a16:creationId xmlns:a16="http://schemas.microsoft.com/office/drawing/2014/main" id="{C2DB1DD9-E5BE-90AA-C6E0-F8AE38DA48AC}"/>
              </a:ext>
            </a:extLst>
          </p:cNvPr>
          <p:cNvSpPr txBox="1"/>
          <p:nvPr/>
        </p:nvSpPr>
        <p:spPr>
          <a:xfrm>
            <a:off x="950976" y="2514600"/>
            <a:ext cx="3621023" cy="1247842"/>
          </a:xfrm>
          <a:prstGeom prst="rect">
            <a:avLst/>
          </a:prstGeom>
          <a:noFill/>
        </p:spPr>
        <p:txBody>
          <a:bodyPr wrap="square" lIns="0" tIns="0" rIns="0" bIns="0" anchor="t">
            <a:spAutoFit/>
          </a:bodyPr>
          <a:lstStyle/>
          <a:p>
            <a:pPr algn="l">
              <a:lnSpc>
                <a:spcPct val="105000"/>
              </a:lnSpc>
            </a:pPr>
            <a:r>
              <a:rPr sz="4000" b="1" i="0" dirty="0" err="1">
                <a:solidFill>
                  <a:srgbClr val="FFFFFF"/>
                </a:solidFill>
                <a:latin typeface="Arial"/>
              </a:rPr>
              <a:t>Herramienta</a:t>
            </a:r>
            <a:endParaRPr sz="4000" b="1" i="0" dirty="0">
              <a:solidFill>
                <a:srgbClr val="FFFFFF"/>
              </a:solidFill>
              <a:latin typeface="Arial"/>
            </a:endParaRPr>
          </a:p>
          <a:p>
            <a:pPr algn="l">
              <a:lnSpc>
                <a:spcPct val="105000"/>
              </a:lnSpc>
            </a:pPr>
            <a:r>
              <a:rPr sz="4000" b="1" i="0" dirty="0">
                <a:solidFill>
                  <a:srgbClr val="FFFFFF"/>
                </a:solidFill>
                <a:latin typeface="Arial"/>
              </a:rPr>
              <a:t>de Pricing</a:t>
            </a:r>
          </a:p>
        </p:txBody>
      </p:sp>
      <p:cxnSp>
        <p:nvCxnSpPr>
          <p:cNvPr id="16" name="Connector 9">
            <a:extLst>
              <a:ext uri="{FF2B5EF4-FFF2-40B4-BE49-F238E27FC236}">
                <a16:creationId xmlns:a16="http://schemas.microsoft.com/office/drawing/2014/main" id="{BCA2CC14-47DA-13ED-9EBA-4A8FF963A2BB}"/>
              </a:ext>
            </a:extLst>
          </p:cNvPr>
          <p:cNvCxnSpPr/>
          <p:nvPr/>
        </p:nvCxnSpPr>
        <p:spPr>
          <a:xfrm>
            <a:off x="950976" y="3861648"/>
            <a:ext cx="1280160" cy="0"/>
          </a:xfrm>
          <a:prstGeom prst="line">
            <a:avLst/>
          </a:prstGeom>
          <a:ln w="25400">
            <a:solidFill>
              <a:srgbClr val="2F9E98"/>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C2C1F12-B7B4-2292-7E12-95CA285BCBD9}"/>
              </a:ext>
            </a:extLst>
          </p:cNvPr>
          <p:cNvSpPr txBox="1"/>
          <p:nvPr/>
        </p:nvSpPr>
        <p:spPr>
          <a:xfrm>
            <a:off x="950976" y="4062816"/>
            <a:ext cx="3621023" cy="893065"/>
          </a:xfrm>
          <a:prstGeom prst="rect">
            <a:avLst/>
          </a:prstGeom>
          <a:noFill/>
        </p:spPr>
        <p:txBody>
          <a:bodyPr wrap="square" lIns="0" tIns="0" rIns="0" bIns="0" anchor="t">
            <a:spAutoFit/>
          </a:bodyPr>
          <a:lstStyle/>
          <a:p>
            <a:pPr algn="l">
              <a:lnSpc>
                <a:spcPct val="125000"/>
              </a:lnSpc>
            </a:pPr>
            <a:r>
              <a:rPr sz="1600" b="0" i="0">
                <a:solidFill>
                  <a:srgbClr val="CBE3E2"/>
                </a:solidFill>
                <a:latin typeface="Arial"/>
              </a:rPr>
              <a:t>Motor de cálculo en Excel: tasa alineada a la rentabilidad objetivo con todos los componentes integrados.</a:t>
            </a:r>
          </a:p>
        </p:txBody>
      </p:sp>
      <p:sp>
        <p:nvSpPr>
          <p:cNvPr id="18" name="Oval 17">
            <a:extLst>
              <a:ext uri="{FF2B5EF4-FFF2-40B4-BE49-F238E27FC236}">
                <a16:creationId xmlns:a16="http://schemas.microsoft.com/office/drawing/2014/main" id="{8FBB50BE-A3DD-A7AE-1A1D-8D4E48D574E7}"/>
              </a:ext>
            </a:extLst>
          </p:cNvPr>
          <p:cNvSpPr/>
          <p:nvPr/>
        </p:nvSpPr>
        <p:spPr>
          <a:xfrm>
            <a:off x="950976" y="5068656"/>
            <a:ext cx="91440" cy="91440"/>
          </a:xfrm>
          <a:prstGeom prst="ellipse">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19" name="TextBox 18">
            <a:extLst>
              <a:ext uri="{FF2B5EF4-FFF2-40B4-BE49-F238E27FC236}">
                <a16:creationId xmlns:a16="http://schemas.microsoft.com/office/drawing/2014/main" id="{A77141A7-5660-03C8-1F99-F4D06DFAA0B5}"/>
              </a:ext>
            </a:extLst>
          </p:cNvPr>
          <p:cNvSpPr txBox="1"/>
          <p:nvPr/>
        </p:nvSpPr>
        <p:spPr>
          <a:xfrm>
            <a:off x="1170432" y="5022936"/>
            <a:ext cx="3383279" cy="215444"/>
          </a:xfrm>
          <a:prstGeom prst="rect">
            <a:avLst/>
          </a:prstGeom>
          <a:noFill/>
        </p:spPr>
        <p:txBody>
          <a:bodyPr wrap="square" lIns="0" tIns="0" rIns="0" bIns="0" anchor="t">
            <a:spAutoFit/>
          </a:bodyPr>
          <a:lstStyle/>
          <a:p>
            <a:pPr algn="l">
              <a:lnSpc>
                <a:spcPct val="100000"/>
              </a:lnSpc>
            </a:pPr>
            <a:r>
              <a:rPr b="0" i="0">
                <a:solidFill>
                  <a:srgbClr val="CBE3E2"/>
                </a:solidFill>
                <a:latin typeface="Arial"/>
              </a:rPr>
              <a:t>Parámetros lifetime integrados</a:t>
            </a:r>
          </a:p>
        </p:txBody>
      </p:sp>
      <p:sp>
        <p:nvSpPr>
          <p:cNvPr id="20" name="Oval 19">
            <a:extLst>
              <a:ext uri="{FF2B5EF4-FFF2-40B4-BE49-F238E27FC236}">
                <a16:creationId xmlns:a16="http://schemas.microsoft.com/office/drawing/2014/main" id="{8254BE11-432A-EFD2-2D07-1B0BEFC18C4B}"/>
              </a:ext>
            </a:extLst>
          </p:cNvPr>
          <p:cNvSpPr/>
          <p:nvPr/>
        </p:nvSpPr>
        <p:spPr>
          <a:xfrm>
            <a:off x="950976" y="5470992"/>
            <a:ext cx="91440" cy="91440"/>
          </a:xfrm>
          <a:prstGeom prst="ellipse">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21" name="TextBox 20">
            <a:extLst>
              <a:ext uri="{FF2B5EF4-FFF2-40B4-BE49-F238E27FC236}">
                <a16:creationId xmlns:a16="http://schemas.microsoft.com/office/drawing/2014/main" id="{41CF20D2-885D-A975-92DB-F805CEA71BAA}"/>
              </a:ext>
            </a:extLst>
          </p:cNvPr>
          <p:cNvSpPr txBox="1"/>
          <p:nvPr/>
        </p:nvSpPr>
        <p:spPr>
          <a:xfrm>
            <a:off x="1170432" y="5425272"/>
            <a:ext cx="3383279" cy="215444"/>
          </a:xfrm>
          <a:prstGeom prst="rect">
            <a:avLst/>
          </a:prstGeom>
          <a:noFill/>
        </p:spPr>
        <p:txBody>
          <a:bodyPr wrap="square" lIns="0" tIns="0" rIns="0" bIns="0" anchor="t">
            <a:spAutoFit/>
          </a:bodyPr>
          <a:lstStyle/>
          <a:p>
            <a:pPr algn="l">
              <a:lnSpc>
                <a:spcPct val="100000"/>
              </a:lnSpc>
            </a:pPr>
            <a:r>
              <a:rPr b="0" i="0">
                <a:solidFill>
                  <a:srgbClr val="CBE3E2"/>
                </a:solidFill>
                <a:latin typeface="Arial"/>
              </a:rPr>
              <a:t>Flujo de caja multiperiodo</a:t>
            </a:r>
          </a:p>
        </p:txBody>
      </p:sp>
      <p:sp>
        <p:nvSpPr>
          <p:cNvPr id="22" name="Oval 21">
            <a:extLst>
              <a:ext uri="{FF2B5EF4-FFF2-40B4-BE49-F238E27FC236}">
                <a16:creationId xmlns:a16="http://schemas.microsoft.com/office/drawing/2014/main" id="{43F8F89E-3E5C-C8AF-D71C-3586D0C7080A}"/>
              </a:ext>
            </a:extLst>
          </p:cNvPr>
          <p:cNvSpPr/>
          <p:nvPr/>
        </p:nvSpPr>
        <p:spPr>
          <a:xfrm>
            <a:off x="950976" y="5873328"/>
            <a:ext cx="91440" cy="91440"/>
          </a:xfrm>
          <a:prstGeom prst="ellipse">
            <a:avLst/>
          </a:prstGeom>
          <a:solidFill>
            <a:srgbClr val="2F9E9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27" name="TextBox 26">
            <a:extLst>
              <a:ext uri="{FF2B5EF4-FFF2-40B4-BE49-F238E27FC236}">
                <a16:creationId xmlns:a16="http://schemas.microsoft.com/office/drawing/2014/main" id="{9B8E62FE-ADF9-58B1-A360-23E6BFB69BC8}"/>
              </a:ext>
            </a:extLst>
          </p:cNvPr>
          <p:cNvSpPr txBox="1"/>
          <p:nvPr/>
        </p:nvSpPr>
        <p:spPr>
          <a:xfrm>
            <a:off x="1170432" y="5827608"/>
            <a:ext cx="3383279" cy="215444"/>
          </a:xfrm>
          <a:prstGeom prst="rect">
            <a:avLst/>
          </a:prstGeom>
          <a:noFill/>
        </p:spPr>
        <p:txBody>
          <a:bodyPr wrap="square" lIns="0" tIns="0" rIns="0" bIns="0" anchor="t">
            <a:spAutoFit/>
          </a:bodyPr>
          <a:lstStyle/>
          <a:p>
            <a:pPr algn="l">
              <a:lnSpc>
                <a:spcPct val="100000"/>
              </a:lnSpc>
            </a:pPr>
            <a:r>
              <a:rPr b="0" i="0">
                <a:solidFill>
                  <a:srgbClr val="CBE3E2"/>
                </a:solidFill>
                <a:latin typeface="Arial"/>
              </a:rPr>
              <a:t>Tarifario y escenarios de excepción</a:t>
            </a:r>
          </a:p>
        </p:txBody>
      </p:sp>
      <p:sp>
        <p:nvSpPr>
          <p:cNvPr id="28" name="Rectangle 27">
            <a:extLst>
              <a:ext uri="{FF2B5EF4-FFF2-40B4-BE49-F238E27FC236}">
                <a16:creationId xmlns:a16="http://schemas.microsoft.com/office/drawing/2014/main" id="{204E296D-3260-E566-15B7-80A228A15037}"/>
              </a:ext>
            </a:extLst>
          </p:cNvPr>
          <p:cNvSpPr/>
          <p:nvPr/>
        </p:nvSpPr>
        <p:spPr>
          <a:xfrm>
            <a:off x="950976" y="6812280"/>
            <a:ext cx="3621023" cy="56692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b="1" i="0">
                <a:solidFill>
                  <a:srgbClr val="FFFFFF"/>
                </a:solidFill>
                <a:latin typeface="Arial"/>
              </a:rPr>
              <a:t>Se entrega con su código y lógica abierta</a:t>
            </a:r>
          </a:p>
        </p:txBody>
      </p:sp>
      <p:grpSp>
        <p:nvGrpSpPr>
          <p:cNvPr id="2" name="Group 1">
            <a:extLst>
              <a:ext uri="{FF2B5EF4-FFF2-40B4-BE49-F238E27FC236}">
                <a16:creationId xmlns:a16="http://schemas.microsoft.com/office/drawing/2014/main" id="{BC50AE81-F184-BC32-2285-434BE9C10E6C}"/>
              </a:ext>
            </a:extLst>
          </p:cNvPr>
          <p:cNvGrpSpPr/>
          <p:nvPr/>
        </p:nvGrpSpPr>
        <p:grpSpPr>
          <a:xfrm>
            <a:off x="4919471" y="1783080"/>
            <a:ext cx="10678180" cy="1361561"/>
            <a:chOff x="4919471" y="1783080"/>
            <a:chExt cx="10678180" cy="1361561"/>
          </a:xfrm>
        </p:grpSpPr>
        <p:sp>
          <p:nvSpPr>
            <p:cNvPr id="29" name="Rectangle 28">
              <a:extLst>
                <a:ext uri="{FF2B5EF4-FFF2-40B4-BE49-F238E27FC236}">
                  <a16:creationId xmlns:a16="http://schemas.microsoft.com/office/drawing/2014/main" id="{912DE37B-420F-7C4F-C528-69B18D1CFF97}"/>
                </a:ext>
              </a:extLst>
            </p:cNvPr>
            <p:cNvSpPr/>
            <p:nvPr/>
          </p:nvSpPr>
          <p:spPr>
            <a:xfrm>
              <a:off x="5367527" y="1783080"/>
              <a:ext cx="10230124" cy="1361561"/>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30" name="Rectangle 29">
              <a:extLst>
                <a:ext uri="{FF2B5EF4-FFF2-40B4-BE49-F238E27FC236}">
                  <a16:creationId xmlns:a16="http://schemas.microsoft.com/office/drawing/2014/main" id="{A4BC488A-3400-3B7C-ACD3-C1C135FA4832}"/>
                </a:ext>
              </a:extLst>
            </p:cNvPr>
            <p:cNvSpPr/>
            <p:nvPr/>
          </p:nvSpPr>
          <p:spPr>
            <a:xfrm>
              <a:off x="5367527" y="1783080"/>
              <a:ext cx="45720" cy="127785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cxnSp>
          <p:nvCxnSpPr>
            <p:cNvPr id="31" name="Connector 20">
              <a:extLst>
                <a:ext uri="{FF2B5EF4-FFF2-40B4-BE49-F238E27FC236}">
                  <a16:creationId xmlns:a16="http://schemas.microsoft.com/office/drawing/2014/main" id="{66D71B6D-AB16-ED55-D8EB-968F16E4BED9}"/>
                </a:ext>
              </a:extLst>
            </p:cNvPr>
            <p:cNvCxnSpPr/>
            <p:nvPr/>
          </p:nvCxnSpPr>
          <p:spPr>
            <a:xfrm>
              <a:off x="4919471" y="2317861"/>
              <a:ext cx="411480" cy="0"/>
            </a:xfrm>
            <a:prstGeom prst="line">
              <a:avLst/>
            </a:prstGeom>
            <a:ln w="19050">
              <a:solidFill>
                <a:srgbClr val="1380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D1D17CD9-70BE-D3A9-0D99-450297C9085A}"/>
                </a:ext>
              </a:extLst>
            </p:cNvPr>
            <p:cNvSpPr txBox="1"/>
            <p:nvPr/>
          </p:nvSpPr>
          <p:spPr>
            <a:xfrm>
              <a:off x="5623559" y="1929384"/>
              <a:ext cx="4023360" cy="369332"/>
            </a:xfrm>
            <a:prstGeom prst="rect">
              <a:avLst/>
            </a:prstGeom>
            <a:noFill/>
          </p:spPr>
          <p:txBody>
            <a:bodyPr wrap="square" lIns="0" tIns="0" rIns="0" bIns="0" anchor="t">
              <a:spAutoFit/>
            </a:bodyPr>
            <a:lstStyle/>
            <a:p>
              <a:pPr algn="l">
                <a:lnSpc>
                  <a:spcPct val="100000"/>
                </a:lnSpc>
              </a:pPr>
              <a:r>
                <a:rPr sz="2400" b="1" i="0">
                  <a:solidFill>
                    <a:srgbClr val="0B2E2C"/>
                  </a:solidFill>
                  <a:latin typeface="Arial"/>
                </a:rPr>
                <a:t>Manual de Usuario</a:t>
              </a:r>
            </a:p>
          </p:txBody>
        </p:sp>
        <p:sp>
          <p:nvSpPr>
            <p:cNvPr id="34" name="TextBox 33">
              <a:extLst>
                <a:ext uri="{FF2B5EF4-FFF2-40B4-BE49-F238E27FC236}">
                  <a16:creationId xmlns:a16="http://schemas.microsoft.com/office/drawing/2014/main" id="{D3A18F45-4F50-ECF1-A09A-1EF6CE150374}"/>
                </a:ext>
              </a:extLst>
            </p:cNvPr>
            <p:cNvSpPr txBox="1"/>
            <p:nvPr/>
          </p:nvSpPr>
          <p:spPr>
            <a:xfrm>
              <a:off x="5623559" y="2315436"/>
              <a:ext cx="9718060" cy="238014"/>
            </a:xfrm>
            <a:prstGeom prst="rect">
              <a:avLst/>
            </a:prstGeom>
            <a:noFill/>
          </p:spPr>
          <p:txBody>
            <a:bodyPr wrap="square" lIns="0" tIns="0" rIns="0" bIns="0" anchor="t">
              <a:spAutoFit/>
            </a:bodyPr>
            <a:lstStyle/>
            <a:p>
              <a:pPr algn="l">
                <a:lnSpc>
                  <a:spcPct val="122000"/>
                </a:lnSpc>
              </a:pPr>
              <a:r>
                <a:rPr b="0" i="0" dirty="0">
                  <a:solidFill>
                    <a:srgbClr val="3E5553"/>
                  </a:solidFill>
                  <a:latin typeface="Arial"/>
                </a:rPr>
                <a:t>Guía de inputs, </a:t>
              </a:r>
              <a:r>
                <a:rPr b="0" i="0" dirty="0" err="1">
                  <a:solidFill>
                    <a:srgbClr val="3E5553"/>
                  </a:solidFill>
                  <a:latin typeface="Arial"/>
                </a:rPr>
                <a:t>flujo</a:t>
              </a:r>
              <a:r>
                <a:rPr b="0" i="0" dirty="0">
                  <a:solidFill>
                    <a:srgbClr val="3E5553"/>
                  </a:solidFill>
                  <a:latin typeface="Arial"/>
                </a:rPr>
                <a:t> de </a:t>
              </a:r>
              <a:r>
                <a:rPr b="0" i="0" dirty="0" err="1">
                  <a:solidFill>
                    <a:srgbClr val="3E5553"/>
                  </a:solidFill>
                  <a:latin typeface="Arial"/>
                </a:rPr>
                <a:t>uso</a:t>
              </a:r>
              <a:r>
                <a:rPr b="0" i="0" dirty="0">
                  <a:solidFill>
                    <a:srgbClr val="3E5553"/>
                  </a:solidFill>
                  <a:latin typeface="Arial"/>
                </a:rPr>
                <a:t> paso a paso e </a:t>
              </a:r>
              <a:r>
                <a:rPr b="0" i="0" dirty="0" err="1">
                  <a:solidFill>
                    <a:srgbClr val="3E5553"/>
                  </a:solidFill>
                  <a:latin typeface="Arial"/>
                </a:rPr>
                <a:t>interpretación</a:t>
              </a:r>
              <a:r>
                <a:rPr b="0" i="0" dirty="0">
                  <a:solidFill>
                    <a:srgbClr val="3E5553"/>
                  </a:solidFill>
                  <a:latin typeface="Arial"/>
                </a:rPr>
                <a:t> de </a:t>
              </a:r>
              <a:r>
                <a:rPr b="0" i="0" dirty="0" err="1">
                  <a:solidFill>
                    <a:srgbClr val="3E5553"/>
                  </a:solidFill>
                  <a:latin typeface="Arial"/>
                </a:rPr>
                <a:t>resultados</a:t>
              </a:r>
              <a:r>
                <a:rPr b="0" i="0" dirty="0">
                  <a:solidFill>
                    <a:srgbClr val="3E5553"/>
                  </a:solidFill>
                  <a:latin typeface="Arial"/>
                </a:rPr>
                <a:t>.</a:t>
              </a:r>
            </a:p>
          </p:txBody>
        </p:sp>
        <p:sp>
          <p:nvSpPr>
            <p:cNvPr id="35" name="Rectangle 34">
              <a:extLst>
                <a:ext uri="{FF2B5EF4-FFF2-40B4-BE49-F238E27FC236}">
                  <a16:creationId xmlns:a16="http://schemas.microsoft.com/office/drawing/2014/main" id="{B4DAC738-3DBF-A723-2092-96084CC5E3CD}"/>
                </a:ext>
              </a:extLst>
            </p:cNvPr>
            <p:cNvSpPr/>
            <p:nvPr/>
          </p:nvSpPr>
          <p:spPr>
            <a:xfrm>
              <a:off x="5623559" y="2676893"/>
              <a:ext cx="9718060" cy="384048"/>
            </a:xfrm>
            <a:prstGeom prst="rect">
              <a:avLst/>
            </a:prstGeom>
            <a:solidFill>
              <a:srgbClr val="F6F8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36" name="TextBox 35">
              <a:extLst>
                <a:ext uri="{FF2B5EF4-FFF2-40B4-BE49-F238E27FC236}">
                  <a16:creationId xmlns:a16="http://schemas.microsoft.com/office/drawing/2014/main" id="{0C22D4B8-CB58-E7B1-728C-768FB483F073}"/>
                </a:ext>
              </a:extLst>
            </p:cNvPr>
            <p:cNvSpPr txBox="1"/>
            <p:nvPr/>
          </p:nvSpPr>
          <p:spPr>
            <a:xfrm>
              <a:off x="5769864" y="2740901"/>
              <a:ext cx="9425452" cy="187359"/>
            </a:xfrm>
            <a:prstGeom prst="rect">
              <a:avLst/>
            </a:prstGeom>
            <a:noFill/>
          </p:spPr>
          <p:txBody>
            <a:bodyPr wrap="square" lIns="0" tIns="0" rIns="0" bIns="0" anchor="t">
              <a:spAutoFit/>
            </a:bodyPr>
            <a:lstStyle/>
            <a:p>
              <a:pPr algn="l">
                <a:lnSpc>
                  <a:spcPct val="110000"/>
                </a:lnSpc>
                <a:spcAft>
                  <a:spcPts val="400"/>
                </a:spcAft>
              </a:pPr>
              <a:r>
                <a:rPr sz="1200" b="1" i="0" dirty="0" err="1">
                  <a:solidFill>
                    <a:srgbClr val="13807B"/>
                  </a:solidFill>
                  <a:latin typeface="Arial"/>
                </a:rPr>
                <a:t>Qué</a:t>
              </a:r>
              <a:r>
                <a:rPr sz="1200" b="1" i="0" dirty="0">
                  <a:solidFill>
                    <a:srgbClr val="13807B"/>
                  </a:solidFill>
                  <a:latin typeface="Arial"/>
                </a:rPr>
                <a:t> </a:t>
              </a:r>
              <a:r>
                <a:rPr sz="1200" b="1" i="0" dirty="0" err="1">
                  <a:solidFill>
                    <a:srgbClr val="13807B"/>
                  </a:solidFill>
                  <a:latin typeface="Arial"/>
                </a:rPr>
                <a:t>habilita</a:t>
              </a:r>
              <a:r>
                <a:rPr sz="1200" b="1" i="0" dirty="0">
                  <a:solidFill>
                    <a:srgbClr val="13807B"/>
                  </a:solidFill>
                  <a:latin typeface="Arial"/>
                </a:rPr>
                <a:t>:  </a:t>
              </a:r>
              <a:r>
                <a:rPr sz="1200" b="0" i="0" dirty="0">
                  <a:solidFill>
                    <a:srgbClr val="6E7E7D"/>
                  </a:solidFill>
                  <a:latin typeface="Arial"/>
                </a:rPr>
                <a:t>El </a:t>
              </a:r>
              <a:r>
                <a:rPr sz="1200" b="0" i="0" dirty="0" err="1">
                  <a:solidFill>
                    <a:srgbClr val="6E7E7D"/>
                  </a:solidFill>
                  <a:latin typeface="Arial"/>
                </a:rPr>
                <a:t>comercial</a:t>
              </a:r>
              <a:r>
                <a:rPr sz="1200" b="0" i="0" dirty="0">
                  <a:solidFill>
                    <a:srgbClr val="6E7E7D"/>
                  </a:solidFill>
                  <a:latin typeface="Arial"/>
                </a:rPr>
                <a:t> y el pricing analyst la </a:t>
              </a:r>
              <a:r>
                <a:rPr sz="1200" b="0" i="0" dirty="0" err="1">
                  <a:solidFill>
                    <a:srgbClr val="6E7E7D"/>
                  </a:solidFill>
                  <a:latin typeface="Arial"/>
                </a:rPr>
                <a:t>usan</a:t>
              </a:r>
              <a:r>
                <a:rPr sz="1200" b="0" i="0" dirty="0">
                  <a:solidFill>
                    <a:srgbClr val="6E7E7D"/>
                  </a:solidFill>
                  <a:latin typeface="Arial"/>
                </a:rPr>
                <a:t> sin </a:t>
              </a:r>
              <a:r>
                <a:rPr sz="1200" b="0" i="0" dirty="0" err="1">
                  <a:solidFill>
                    <a:srgbClr val="6E7E7D"/>
                  </a:solidFill>
                  <a:latin typeface="Arial"/>
                </a:rPr>
                <a:t>soporte</a:t>
              </a:r>
              <a:r>
                <a:rPr sz="1200" b="0" i="0" dirty="0">
                  <a:solidFill>
                    <a:srgbClr val="6E7E7D"/>
                  </a:solidFill>
                  <a:latin typeface="Arial"/>
                </a:rPr>
                <a:t>.</a:t>
              </a:r>
            </a:p>
          </p:txBody>
        </p:sp>
      </p:grpSp>
      <p:grpSp>
        <p:nvGrpSpPr>
          <p:cNvPr id="3" name="Group 2">
            <a:extLst>
              <a:ext uri="{FF2B5EF4-FFF2-40B4-BE49-F238E27FC236}">
                <a16:creationId xmlns:a16="http://schemas.microsoft.com/office/drawing/2014/main" id="{37C0111A-E421-C38F-45D2-8F8A30029AE4}"/>
              </a:ext>
            </a:extLst>
          </p:cNvPr>
          <p:cNvGrpSpPr/>
          <p:nvPr/>
        </p:nvGrpSpPr>
        <p:grpSpPr>
          <a:xfrm>
            <a:off x="4919471" y="3311869"/>
            <a:ext cx="10678180" cy="1325709"/>
            <a:chOff x="4919471" y="3311869"/>
            <a:chExt cx="10678180" cy="1325709"/>
          </a:xfrm>
        </p:grpSpPr>
        <p:sp>
          <p:nvSpPr>
            <p:cNvPr id="37" name="Rectangle 36">
              <a:extLst>
                <a:ext uri="{FF2B5EF4-FFF2-40B4-BE49-F238E27FC236}">
                  <a16:creationId xmlns:a16="http://schemas.microsoft.com/office/drawing/2014/main" id="{0A8FD076-85F2-48B0-96B2-0F86DDDA6EE9}"/>
                </a:ext>
              </a:extLst>
            </p:cNvPr>
            <p:cNvSpPr/>
            <p:nvPr/>
          </p:nvSpPr>
          <p:spPr>
            <a:xfrm>
              <a:off x="5367527" y="3311869"/>
              <a:ext cx="10230124" cy="1325709"/>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38" name="Rectangle 37">
              <a:extLst>
                <a:ext uri="{FF2B5EF4-FFF2-40B4-BE49-F238E27FC236}">
                  <a16:creationId xmlns:a16="http://schemas.microsoft.com/office/drawing/2014/main" id="{61128042-B497-67C7-3C69-A3588D17569E}"/>
                </a:ext>
              </a:extLst>
            </p:cNvPr>
            <p:cNvSpPr/>
            <p:nvPr/>
          </p:nvSpPr>
          <p:spPr>
            <a:xfrm>
              <a:off x="5367527" y="3311869"/>
              <a:ext cx="45720" cy="1222642"/>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cxnSp>
          <p:nvCxnSpPr>
            <p:cNvPr id="39" name="Connector 28">
              <a:extLst>
                <a:ext uri="{FF2B5EF4-FFF2-40B4-BE49-F238E27FC236}">
                  <a16:creationId xmlns:a16="http://schemas.microsoft.com/office/drawing/2014/main" id="{D9D83251-63EE-4DCC-D038-E5EF1C3334A7}"/>
                </a:ext>
              </a:extLst>
            </p:cNvPr>
            <p:cNvCxnSpPr/>
            <p:nvPr/>
          </p:nvCxnSpPr>
          <p:spPr>
            <a:xfrm>
              <a:off x="4919471" y="3846649"/>
              <a:ext cx="411480" cy="0"/>
            </a:xfrm>
            <a:prstGeom prst="line">
              <a:avLst/>
            </a:prstGeom>
            <a:ln w="19050">
              <a:solidFill>
                <a:srgbClr val="445A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27F1741F-C083-9546-A533-93AAA3DE770C}"/>
                </a:ext>
              </a:extLst>
            </p:cNvPr>
            <p:cNvSpPr txBox="1"/>
            <p:nvPr/>
          </p:nvSpPr>
          <p:spPr>
            <a:xfrm>
              <a:off x="5623559" y="3458173"/>
              <a:ext cx="4023360" cy="369332"/>
            </a:xfrm>
            <a:prstGeom prst="rect">
              <a:avLst/>
            </a:prstGeom>
            <a:noFill/>
          </p:spPr>
          <p:txBody>
            <a:bodyPr wrap="square" lIns="0" tIns="0" rIns="0" bIns="0" anchor="t">
              <a:spAutoFit/>
            </a:bodyPr>
            <a:lstStyle/>
            <a:p>
              <a:pPr algn="l">
                <a:lnSpc>
                  <a:spcPct val="100000"/>
                </a:lnSpc>
              </a:pPr>
              <a:r>
                <a:rPr sz="2400" b="1" i="0">
                  <a:solidFill>
                    <a:srgbClr val="0B2E2C"/>
                  </a:solidFill>
                  <a:latin typeface="Arial"/>
                </a:rPr>
                <a:t>Manual Técnico</a:t>
              </a:r>
            </a:p>
          </p:txBody>
        </p:sp>
        <p:sp>
          <p:nvSpPr>
            <p:cNvPr id="42" name="TextBox 41">
              <a:extLst>
                <a:ext uri="{FF2B5EF4-FFF2-40B4-BE49-F238E27FC236}">
                  <a16:creationId xmlns:a16="http://schemas.microsoft.com/office/drawing/2014/main" id="{73E06D12-5E2D-3C7D-C327-BC31CAA79599}"/>
                </a:ext>
              </a:extLst>
            </p:cNvPr>
            <p:cNvSpPr txBox="1"/>
            <p:nvPr/>
          </p:nvSpPr>
          <p:spPr>
            <a:xfrm>
              <a:off x="5623559" y="3844225"/>
              <a:ext cx="9718060" cy="238014"/>
            </a:xfrm>
            <a:prstGeom prst="rect">
              <a:avLst/>
            </a:prstGeom>
            <a:noFill/>
          </p:spPr>
          <p:txBody>
            <a:bodyPr wrap="square" lIns="0" tIns="0" rIns="0" bIns="0" anchor="t">
              <a:spAutoFit/>
            </a:bodyPr>
            <a:lstStyle/>
            <a:p>
              <a:pPr algn="l">
                <a:lnSpc>
                  <a:spcPct val="122000"/>
                </a:lnSpc>
              </a:pPr>
              <a:r>
                <a:rPr b="0" i="0" dirty="0" err="1">
                  <a:solidFill>
                    <a:srgbClr val="3E5553"/>
                  </a:solidFill>
                  <a:latin typeface="Arial"/>
                </a:rPr>
                <a:t>Todas</a:t>
              </a:r>
              <a:r>
                <a:rPr b="0" i="0" dirty="0">
                  <a:solidFill>
                    <a:srgbClr val="3E5553"/>
                  </a:solidFill>
                  <a:latin typeface="Arial"/>
                </a:rPr>
                <a:t> las </a:t>
              </a:r>
              <a:r>
                <a:rPr b="0" i="0" dirty="0" err="1">
                  <a:solidFill>
                    <a:srgbClr val="3E5553"/>
                  </a:solidFill>
                  <a:latin typeface="Arial"/>
                </a:rPr>
                <a:t>lógicas</a:t>
              </a:r>
              <a:r>
                <a:rPr b="0" i="0" dirty="0">
                  <a:solidFill>
                    <a:srgbClr val="3E5553"/>
                  </a:solidFill>
                  <a:latin typeface="Arial"/>
                </a:rPr>
                <a:t> </a:t>
              </a:r>
              <a:r>
                <a:rPr b="0" i="0" dirty="0" err="1">
                  <a:solidFill>
                    <a:srgbClr val="3E5553"/>
                  </a:solidFill>
                  <a:latin typeface="Arial"/>
                </a:rPr>
                <a:t>internas</a:t>
              </a:r>
              <a:r>
                <a:rPr b="0" i="0" dirty="0">
                  <a:solidFill>
                    <a:srgbClr val="3E5553"/>
                  </a:solidFill>
                  <a:latin typeface="Arial"/>
                </a:rPr>
                <a:t> de la </a:t>
              </a:r>
              <a:r>
                <a:rPr b="0" i="0" dirty="0" err="1">
                  <a:solidFill>
                    <a:srgbClr val="3E5553"/>
                  </a:solidFill>
                  <a:latin typeface="Arial"/>
                </a:rPr>
                <a:t>calculadora</a:t>
              </a:r>
              <a:r>
                <a:rPr b="0" i="0" dirty="0">
                  <a:solidFill>
                    <a:srgbClr val="3E5553"/>
                  </a:solidFill>
                  <a:latin typeface="Arial"/>
                </a:rPr>
                <a:t>, </a:t>
              </a:r>
              <a:r>
                <a:rPr b="0" i="0" dirty="0" err="1">
                  <a:solidFill>
                    <a:srgbClr val="3E5553"/>
                  </a:solidFill>
                  <a:latin typeface="Arial"/>
                </a:rPr>
                <a:t>fórmulas</a:t>
              </a:r>
              <a:r>
                <a:rPr b="0" i="0" dirty="0">
                  <a:solidFill>
                    <a:srgbClr val="3E5553"/>
                  </a:solidFill>
                  <a:latin typeface="Arial"/>
                </a:rPr>
                <a:t> y </a:t>
              </a:r>
              <a:r>
                <a:rPr b="0" i="0" dirty="0" err="1">
                  <a:solidFill>
                    <a:srgbClr val="3E5553"/>
                  </a:solidFill>
                  <a:latin typeface="Arial"/>
                </a:rPr>
                <a:t>equipos</a:t>
              </a:r>
              <a:r>
                <a:rPr b="0" i="0" dirty="0">
                  <a:solidFill>
                    <a:srgbClr val="3E5553"/>
                  </a:solidFill>
                  <a:latin typeface="Arial"/>
                </a:rPr>
                <a:t> </a:t>
              </a:r>
              <a:r>
                <a:rPr b="0" i="0" dirty="0" err="1">
                  <a:solidFill>
                    <a:srgbClr val="3E5553"/>
                  </a:solidFill>
                  <a:latin typeface="Arial"/>
                </a:rPr>
                <a:t>responsables</a:t>
              </a:r>
              <a:r>
                <a:rPr b="0" i="0" dirty="0">
                  <a:solidFill>
                    <a:srgbClr val="3E5553"/>
                  </a:solidFill>
                  <a:latin typeface="Arial"/>
                </a:rPr>
                <a:t> de </a:t>
              </a:r>
              <a:r>
                <a:rPr b="0" i="0" dirty="0" err="1">
                  <a:solidFill>
                    <a:srgbClr val="3E5553"/>
                  </a:solidFill>
                  <a:latin typeface="Arial"/>
                </a:rPr>
                <a:t>cada</a:t>
              </a:r>
              <a:r>
                <a:rPr b="0" i="0" dirty="0">
                  <a:solidFill>
                    <a:srgbClr val="3E5553"/>
                  </a:solidFill>
                  <a:latin typeface="Arial"/>
                </a:rPr>
                <a:t> </a:t>
              </a:r>
              <a:r>
                <a:rPr b="0" i="0" dirty="0" err="1">
                  <a:solidFill>
                    <a:srgbClr val="3E5553"/>
                  </a:solidFill>
                  <a:latin typeface="Arial"/>
                </a:rPr>
                <a:t>parámetro</a:t>
              </a:r>
              <a:r>
                <a:rPr b="0" i="0" dirty="0">
                  <a:solidFill>
                    <a:srgbClr val="3E5553"/>
                  </a:solidFill>
                  <a:latin typeface="Arial"/>
                </a:rPr>
                <a:t>.</a:t>
              </a:r>
            </a:p>
          </p:txBody>
        </p:sp>
        <p:sp>
          <p:nvSpPr>
            <p:cNvPr id="43" name="Rectangle 42">
              <a:extLst>
                <a:ext uri="{FF2B5EF4-FFF2-40B4-BE49-F238E27FC236}">
                  <a16:creationId xmlns:a16="http://schemas.microsoft.com/office/drawing/2014/main" id="{E793B75E-61E2-14E0-1101-67F137A859CF}"/>
                </a:ext>
              </a:extLst>
            </p:cNvPr>
            <p:cNvSpPr/>
            <p:nvPr/>
          </p:nvSpPr>
          <p:spPr>
            <a:xfrm>
              <a:off x="5623559" y="4150465"/>
              <a:ext cx="9718060" cy="384048"/>
            </a:xfrm>
            <a:prstGeom prst="rect">
              <a:avLst/>
            </a:prstGeom>
            <a:solidFill>
              <a:srgbClr val="F6F8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44" name="TextBox 43">
              <a:extLst>
                <a:ext uri="{FF2B5EF4-FFF2-40B4-BE49-F238E27FC236}">
                  <a16:creationId xmlns:a16="http://schemas.microsoft.com/office/drawing/2014/main" id="{4797B0A8-C96A-6135-9396-B9A9087EB319}"/>
                </a:ext>
              </a:extLst>
            </p:cNvPr>
            <p:cNvSpPr txBox="1"/>
            <p:nvPr/>
          </p:nvSpPr>
          <p:spPr>
            <a:xfrm>
              <a:off x="5769864" y="4214473"/>
              <a:ext cx="9425452" cy="187359"/>
            </a:xfrm>
            <a:prstGeom prst="rect">
              <a:avLst/>
            </a:prstGeom>
            <a:noFill/>
          </p:spPr>
          <p:txBody>
            <a:bodyPr wrap="square" lIns="0" tIns="0" rIns="0" bIns="0" anchor="t">
              <a:spAutoFit/>
            </a:bodyPr>
            <a:lstStyle/>
            <a:p>
              <a:pPr algn="l">
                <a:lnSpc>
                  <a:spcPct val="110000"/>
                </a:lnSpc>
                <a:spcAft>
                  <a:spcPts val="400"/>
                </a:spcAft>
              </a:pPr>
              <a:r>
                <a:rPr sz="1200" b="1" i="0" dirty="0" err="1">
                  <a:solidFill>
                    <a:srgbClr val="445A6E"/>
                  </a:solidFill>
                  <a:latin typeface="Arial"/>
                </a:rPr>
                <a:t>Qué</a:t>
              </a:r>
              <a:r>
                <a:rPr sz="1200" b="1" i="0" dirty="0">
                  <a:solidFill>
                    <a:srgbClr val="445A6E"/>
                  </a:solidFill>
                  <a:latin typeface="Arial"/>
                </a:rPr>
                <a:t> </a:t>
              </a:r>
              <a:r>
                <a:rPr sz="1200" b="1" i="0" dirty="0" err="1">
                  <a:solidFill>
                    <a:srgbClr val="445A6E"/>
                  </a:solidFill>
                  <a:latin typeface="Arial"/>
                </a:rPr>
                <a:t>habilita</a:t>
              </a:r>
              <a:r>
                <a:rPr sz="1200" b="1" i="0" dirty="0">
                  <a:solidFill>
                    <a:srgbClr val="445A6E"/>
                  </a:solidFill>
                  <a:latin typeface="Arial"/>
                </a:rPr>
                <a:t>:  </a:t>
              </a:r>
              <a:r>
                <a:rPr sz="1200" b="0" i="0" dirty="0" err="1">
                  <a:solidFill>
                    <a:srgbClr val="6E7E7D"/>
                  </a:solidFill>
                  <a:latin typeface="Arial"/>
                </a:rPr>
                <a:t>Riesgos</a:t>
              </a:r>
              <a:r>
                <a:rPr sz="1200" b="0" i="0" dirty="0">
                  <a:solidFill>
                    <a:srgbClr val="6E7E7D"/>
                  </a:solidFill>
                  <a:latin typeface="Arial"/>
                </a:rPr>
                <a:t> y Data Science </a:t>
              </a:r>
              <a:r>
                <a:rPr sz="1200" b="0" i="0" dirty="0" err="1">
                  <a:solidFill>
                    <a:srgbClr val="6E7E7D"/>
                  </a:solidFill>
                  <a:latin typeface="Arial"/>
                </a:rPr>
                <a:t>pueden</a:t>
              </a:r>
              <a:r>
                <a:rPr sz="1200" b="0" i="0" dirty="0">
                  <a:solidFill>
                    <a:srgbClr val="6E7E7D"/>
                  </a:solidFill>
                  <a:latin typeface="Arial"/>
                </a:rPr>
                <a:t> </a:t>
              </a:r>
              <a:r>
                <a:rPr sz="1200" b="0" i="0" dirty="0" err="1">
                  <a:solidFill>
                    <a:srgbClr val="6E7E7D"/>
                  </a:solidFill>
                  <a:latin typeface="Arial"/>
                </a:rPr>
                <a:t>auditar</a:t>
              </a:r>
              <a:r>
                <a:rPr sz="1200" b="0" i="0" dirty="0">
                  <a:solidFill>
                    <a:srgbClr val="6E7E7D"/>
                  </a:solidFill>
                  <a:latin typeface="Arial"/>
                </a:rPr>
                <a:t> y </a:t>
              </a:r>
              <a:r>
                <a:rPr sz="1200" b="0" i="0" dirty="0" err="1">
                  <a:solidFill>
                    <a:srgbClr val="6E7E7D"/>
                  </a:solidFill>
                  <a:latin typeface="Arial"/>
                </a:rPr>
                <a:t>modificar</a:t>
              </a:r>
              <a:r>
                <a:rPr sz="1200" b="0" i="0" dirty="0">
                  <a:solidFill>
                    <a:srgbClr val="6E7E7D"/>
                  </a:solidFill>
                  <a:latin typeface="Arial"/>
                </a:rPr>
                <a:t> </a:t>
              </a:r>
              <a:r>
                <a:rPr sz="1200" b="0" i="0" dirty="0" err="1">
                  <a:solidFill>
                    <a:srgbClr val="6E7E7D"/>
                  </a:solidFill>
                  <a:latin typeface="Arial"/>
                </a:rPr>
                <a:t>cada</a:t>
              </a:r>
              <a:r>
                <a:rPr sz="1200" b="0" i="0" dirty="0">
                  <a:solidFill>
                    <a:srgbClr val="6E7E7D"/>
                  </a:solidFill>
                  <a:latin typeface="Arial"/>
                </a:rPr>
                <a:t> </a:t>
              </a:r>
              <a:r>
                <a:rPr sz="1200" b="0" i="0" dirty="0" err="1">
                  <a:solidFill>
                    <a:srgbClr val="6E7E7D"/>
                  </a:solidFill>
                  <a:latin typeface="Arial"/>
                </a:rPr>
                <a:t>fórmula</a:t>
              </a:r>
              <a:r>
                <a:rPr sz="1200" b="0" i="0" dirty="0">
                  <a:solidFill>
                    <a:srgbClr val="6E7E7D"/>
                  </a:solidFill>
                  <a:latin typeface="Arial"/>
                </a:rPr>
                <a:t>.</a:t>
              </a:r>
            </a:p>
          </p:txBody>
        </p:sp>
      </p:grpSp>
      <p:grpSp>
        <p:nvGrpSpPr>
          <p:cNvPr id="5" name="Group 4">
            <a:extLst>
              <a:ext uri="{FF2B5EF4-FFF2-40B4-BE49-F238E27FC236}">
                <a16:creationId xmlns:a16="http://schemas.microsoft.com/office/drawing/2014/main" id="{0DB73D84-23E2-17E0-EE7C-90DB4761883C}"/>
              </a:ext>
            </a:extLst>
          </p:cNvPr>
          <p:cNvGrpSpPr/>
          <p:nvPr/>
        </p:nvGrpSpPr>
        <p:grpSpPr>
          <a:xfrm>
            <a:off x="4919471" y="4797116"/>
            <a:ext cx="10678180" cy="1325705"/>
            <a:chOff x="4919471" y="5885688"/>
            <a:chExt cx="10678180" cy="1325705"/>
          </a:xfrm>
        </p:grpSpPr>
        <p:sp>
          <p:nvSpPr>
            <p:cNvPr id="45" name="Rectangle 44">
              <a:extLst>
                <a:ext uri="{FF2B5EF4-FFF2-40B4-BE49-F238E27FC236}">
                  <a16:creationId xmlns:a16="http://schemas.microsoft.com/office/drawing/2014/main" id="{DFF306CA-ED56-1435-80CB-C9D17E36F0CC}"/>
                </a:ext>
              </a:extLst>
            </p:cNvPr>
            <p:cNvSpPr/>
            <p:nvPr/>
          </p:nvSpPr>
          <p:spPr>
            <a:xfrm>
              <a:off x="5367527" y="5885688"/>
              <a:ext cx="10230124" cy="1325705"/>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46" name="Rectangle 45">
              <a:extLst>
                <a:ext uri="{FF2B5EF4-FFF2-40B4-BE49-F238E27FC236}">
                  <a16:creationId xmlns:a16="http://schemas.microsoft.com/office/drawing/2014/main" id="{EE2D8327-1694-8198-2972-6137AFCF60A9}"/>
                </a:ext>
              </a:extLst>
            </p:cNvPr>
            <p:cNvSpPr/>
            <p:nvPr/>
          </p:nvSpPr>
          <p:spPr>
            <a:xfrm>
              <a:off x="5367527" y="5885688"/>
              <a:ext cx="45720" cy="1217187"/>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cxnSp>
          <p:nvCxnSpPr>
            <p:cNvPr id="68" name="Connector 36">
              <a:extLst>
                <a:ext uri="{FF2B5EF4-FFF2-40B4-BE49-F238E27FC236}">
                  <a16:creationId xmlns:a16="http://schemas.microsoft.com/office/drawing/2014/main" id="{CEC33AAF-99AD-AE64-A27E-79F533CD4E63}"/>
                </a:ext>
              </a:extLst>
            </p:cNvPr>
            <p:cNvCxnSpPr/>
            <p:nvPr/>
          </p:nvCxnSpPr>
          <p:spPr>
            <a:xfrm>
              <a:off x="4919471" y="6420469"/>
              <a:ext cx="411480" cy="0"/>
            </a:xfrm>
            <a:prstGeom prst="line">
              <a:avLst/>
            </a:prstGeom>
            <a:ln w="19050">
              <a:solidFill>
                <a:srgbClr val="C87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TextBox 97">
              <a:extLst>
                <a:ext uri="{FF2B5EF4-FFF2-40B4-BE49-F238E27FC236}">
                  <a16:creationId xmlns:a16="http://schemas.microsoft.com/office/drawing/2014/main" id="{8DDAC14E-CD0E-AF4A-732D-00DEA94CB0F4}"/>
                </a:ext>
              </a:extLst>
            </p:cNvPr>
            <p:cNvSpPr txBox="1"/>
            <p:nvPr/>
          </p:nvSpPr>
          <p:spPr>
            <a:xfrm>
              <a:off x="5623559" y="6031992"/>
              <a:ext cx="4023360" cy="369332"/>
            </a:xfrm>
            <a:prstGeom prst="rect">
              <a:avLst/>
            </a:prstGeom>
            <a:noFill/>
          </p:spPr>
          <p:txBody>
            <a:bodyPr wrap="square" lIns="0" tIns="0" rIns="0" bIns="0" anchor="t">
              <a:spAutoFit/>
            </a:bodyPr>
            <a:lstStyle/>
            <a:p>
              <a:pPr algn="l">
                <a:lnSpc>
                  <a:spcPct val="100000"/>
                </a:lnSpc>
              </a:pPr>
              <a:r>
                <a:rPr sz="2400" b="1" i="0">
                  <a:solidFill>
                    <a:srgbClr val="0B2E2C"/>
                  </a:solidFill>
                  <a:latin typeface="Arial"/>
                </a:rPr>
                <a:t>Manual de Implementación</a:t>
              </a:r>
            </a:p>
          </p:txBody>
        </p:sp>
        <p:sp>
          <p:nvSpPr>
            <p:cNvPr id="100" name="TextBox 99">
              <a:extLst>
                <a:ext uri="{FF2B5EF4-FFF2-40B4-BE49-F238E27FC236}">
                  <a16:creationId xmlns:a16="http://schemas.microsoft.com/office/drawing/2014/main" id="{6D6B1DB3-10E7-328F-95E7-80CD110A19B3}"/>
                </a:ext>
              </a:extLst>
            </p:cNvPr>
            <p:cNvSpPr txBox="1"/>
            <p:nvPr/>
          </p:nvSpPr>
          <p:spPr>
            <a:xfrm>
              <a:off x="5623559" y="6418044"/>
              <a:ext cx="9718060" cy="238014"/>
            </a:xfrm>
            <a:prstGeom prst="rect">
              <a:avLst/>
            </a:prstGeom>
            <a:noFill/>
          </p:spPr>
          <p:txBody>
            <a:bodyPr wrap="square" lIns="0" tIns="0" rIns="0" bIns="0" anchor="t">
              <a:spAutoFit/>
            </a:bodyPr>
            <a:lstStyle/>
            <a:p>
              <a:pPr algn="l">
                <a:lnSpc>
                  <a:spcPct val="122000"/>
                </a:lnSpc>
              </a:pPr>
              <a:r>
                <a:rPr b="0" i="0">
                  <a:solidFill>
                    <a:srgbClr val="3E5553"/>
                  </a:solidFill>
                  <a:latin typeface="Arial"/>
                </a:rPr>
                <a:t>Selección y transformación de las variables necesarias para el pricing.</a:t>
              </a:r>
            </a:p>
          </p:txBody>
        </p:sp>
        <p:sp>
          <p:nvSpPr>
            <p:cNvPr id="101" name="Rectangle 100">
              <a:extLst>
                <a:ext uri="{FF2B5EF4-FFF2-40B4-BE49-F238E27FC236}">
                  <a16:creationId xmlns:a16="http://schemas.microsoft.com/office/drawing/2014/main" id="{9EC6D302-3688-404D-8315-A1A177DFBF9B}"/>
                </a:ext>
              </a:extLst>
            </p:cNvPr>
            <p:cNvSpPr/>
            <p:nvPr/>
          </p:nvSpPr>
          <p:spPr>
            <a:xfrm>
              <a:off x="5623559" y="6718833"/>
              <a:ext cx="9718060" cy="384048"/>
            </a:xfrm>
            <a:prstGeom prst="rect">
              <a:avLst/>
            </a:prstGeom>
            <a:solidFill>
              <a:srgbClr val="F6F8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102" name="TextBox 101">
              <a:extLst>
                <a:ext uri="{FF2B5EF4-FFF2-40B4-BE49-F238E27FC236}">
                  <a16:creationId xmlns:a16="http://schemas.microsoft.com/office/drawing/2014/main" id="{B770640F-C96D-80A4-EDB8-EAD5134EF762}"/>
                </a:ext>
              </a:extLst>
            </p:cNvPr>
            <p:cNvSpPr txBox="1"/>
            <p:nvPr/>
          </p:nvSpPr>
          <p:spPr>
            <a:xfrm>
              <a:off x="5769864" y="6782841"/>
              <a:ext cx="9425452" cy="187359"/>
            </a:xfrm>
            <a:prstGeom prst="rect">
              <a:avLst/>
            </a:prstGeom>
            <a:noFill/>
          </p:spPr>
          <p:txBody>
            <a:bodyPr wrap="square" lIns="0" tIns="0" rIns="0" bIns="0" anchor="t">
              <a:spAutoFit/>
            </a:bodyPr>
            <a:lstStyle/>
            <a:p>
              <a:pPr algn="l">
                <a:lnSpc>
                  <a:spcPct val="110000"/>
                </a:lnSpc>
                <a:spcAft>
                  <a:spcPts val="400"/>
                </a:spcAft>
              </a:pPr>
              <a:r>
                <a:rPr sz="1200" b="1" i="0" dirty="0" err="1">
                  <a:solidFill>
                    <a:srgbClr val="C87A0B"/>
                  </a:solidFill>
                  <a:latin typeface="Arial"/>
                </a:rPr>
                <a:t>Qué</a:t>
              </a:r>
              <a:r>
                <a:rPr sz="1200" b="1" i="0" dirty="0">
                  <a:solidFill>
                    <a:srgbClr val="C87A0B"/>
                  </a:solidFill>
                  <a:latin typeface="Arial"/>
                </a:rPr>
                <a:t> </a:t>
              </a:r>
              <a:r>
                <a:rPr sz="1200" b="1" i="0" dirty="0" err="1">
                  <a:solidFill>
                    <a:srgbClr val="C87A0B"/>
                  </a:solidFill>
                  <a:latin typeface="Arial"/>
                </a:rPr>
                <a:t>habilita</a:t>
              </a:r>
              <a:r>
                <a:rPr sz="1200" b="1" i="0" dirty="0">
                  <a:solidFill>
                    <a:srgbClr val="C87A0B"/>
                  </a:solidFill>
                  <a:latin typeface="Arial"/>
                </a:rPr>
                <a:t>:  </a:t>
              </a:r>
              <a:r>
                <a:rPr sz="1200" b="0" i="0" dirty="0">
                  <a:solidFill>
                    <a:srgbClr val="6E7E7D"/>
                  </a:solidFill>
                  <a:latin typeface="Arial"/>
                </a:rPr>
                <a:t>IBK </a:t>
              </a:r>
              <a:r>
                <a:rPr sz="1200" b="0" i="0" dirty="0" err="1">
                  <a:solidFill>
                    <a:srgbClr val="6E7E7D"/>
                  </a:solidFill>
                  <a:latin typeface="Arial"/>
                </a:rPr>
                <a:t>puede</a:t>
              </a:r>
              <a:r>
                <a:rPr sz="1200" b="0" i="0" dirty="0">
                  <a:solidFill>
                    <a:srgbClr val="6E7E7D"/>
                  </a:solidFill>
                  <a:latin typeface="Arial"/>
                </a:rPr>
                <a:t> </a:t>
              </a:r>
              <a:r>
                <a:rPr sz="1200" b="0" i="0" dirty="0" err="1">
                  <a:solidFill>
                    <a:srgbClr val="6E7E7D"/>
                  </a:solidFill>
                  <a:latin typeface="Arial"/>
                </a:rPr>
                <a:t>regenerar</a:t>
              </a:r>
              <a:r>
                <a:rPr sz="1200" b="0" i="0" dirty="0">
                  <a:solidFill>
                    <a:srgbClr val="6E7E7D"/>
                  </a:solidFill>
                  <a:latin typeface="Arial"/>
                </a:rPr>
                <a:t> </a:t>
              </a:r>
              <a:r>
                <a:rPr sz="1200" b="0" i="0" dirty="0" err="1">
                  <a:solidFill>
                    <a:srgbClr val="6E7E7D"/>
                  </a:solidFill>
                  <a:latin typeface="Arial"/>
                </a:rPr>
                <a:t>los</a:t>
              </a:r>
              <a:r>
                <a:rPr sz="1200" b="0" i="0" dirty="0">
                  <a:solidFill>
                    <a:srgbClr val="6E7E7D"/>
                  </a:solidFill>
                  <a:latin typeface="Arial"/>
                </a:rPr>
                <a:t> </a:t>
              </a:r>
              <a:r>
                <a:rPr sz="1200" b="0" i="0" dirty="0" err="1">
                  <a:solidFill>
                    <a:srgbClr val="6E7E7D"/>
                  </a:solidFill>
                  <a:latin typeface="Arial"/>
                </a:rPr>
                <a:t>insumos</a:t>
              </a:r>
              <a:r>
                <a:rPr sz="1200" b="0" i="0" dirty="0">
                  <a:solidFill>
                    <a:srgbClr val="6E7E7D"/>
                  </a:solidFill>
                  <a:latin typeface="Arial"/>
                </a:rPr>
                <a:t> </a:t>
              </a:r>
              <a:r>
                <a:rPr sz="1200" b="0" i="0" dirty="0" err="1">
                  <a:solidFill>
                    <a:srgbClr val="6E7E7D"/>
                  </a:solidFill>
                  <a:latin typeface="Arial"/>
                </a:rPr>
                <a:t>cuando</a:t>
              </a:r>
              <a:r>
                <a:rPr sz="1200" b="0" i="0" dirty="0">
                  <a:solidFill>
                    <a:srgbClr val="6E7E7D"/>
                  </a:solidFill>
                  <a:latin typeface="Arial"/>
                </a:rPr>
                <a:t> la data </a:t>
              </a:r>
              <a:r>
                <a:rPr sz="1200" b="0" i="0" dirty="0" err="1">
                  <a:solidFill>
                    <a:srgbClr val="6E7E7D"/>
                  </a:solidFill>
                  <a:latin typeface="Arial"/>
                </a:rPr>
                <a:t>cambie</a:t>
              </a:r>
              <a:r>
                <a:rPr sz="1200" b="0" i="0" dirty="0">
                  <a:solidFill>
                    <a:srgbClr val="6E7E7D"/>
                  </a:solidFill>
                  <a:latin typeface="Arial"/>
                </a:rPr>
                <a:t>.</a:t>
              </a:r>
            </a:p>
          </p:txBody>
        </p:sp>
      </p:grpSp>
      <p:sp>
        <p:nvSpPr>
          <p:cNvPr id="103" name="Rectangle 102">
            <a:extLst>
              <a:ext uri="{FF2B5EF4-FFF2-40B4-BE49-F238E27FC236}">
                <a16:creationId xmlns:a16="http://schemas.microsoft.com/office/drawing/2014/main" id="{7836B8F0-1081-B598-0BC9-9A7984E55115}"/>
              </a:ext>
            </a:extLst>
          </p:cNvPr>
          <p:cNvSpPr/>
          <p:nvPr/>
        </p:nvSpPr>
        <p:spPr>
          <a:xfrm>
            <a:off x="658368" y="8101583"/>
            <a:ext cx="14939284" cy="56692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cxnSp>
        <p:nvCxnSpPr>
          <p:cNvPr id="104" name="Connector 43">
            <a:extLst>
              <a:ext uri="{FF2B5EF4-FFF2-40B4-BE49-F238E27FC236}">
                <a16:creationId xmlns:a16="http://schemas.microsoft.com/office/drawing/2014/main" id="{72BD6911-664F-B073-28F1-0FECC4514307}"/>
              </a:ext>
            </a:extLst>
          </p:cNvPr>
          <p:cNvCxnSpPr/>
          <p:nvPr/>
        </p:nvCxnSpPr>
        <p:spPr>
          <a:xfrm>
            <a:off x="658368" y="8101583"/>
            <a:ext cx="0" cy="566928"/>
          </a:xfrm>
          <a:prstGeom prst="line">
            <a:avLst/>
          </a:prstGeom>
          <a:ln w="38100">
            <a:solidFill>
              <a:srgbClr val="13807B"/>
            </a:solidFill>
          </a:ln>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1FFE854F-0F68-C59F-9E84-16DF8D43863B}"/>
              </a:ext>
            </a:extLst>
          </p:cNvPr>
          <p:cNvSpPr txBox="1"/>
          <p:nvPr/>
        </p:nvSpPr>
        <p:spPr>
          <a:xfrm>
            <a:off x="896112" y="8080060"/>
            <a:ext cx="14482084" cy="609975"/>
          </a:xfrm>
          <a:prstGeom prst="rect">
            <a:avLst/>
          </a:prstGeom>
          <a:noFill/>
        </p:spPr>
        <p:txBody>
          <a:bodyPr wrap="square" lIns="0" tIns="0" rIns="0" bIns="0" anchor="ctr">
            <a:spAutoFit/>
          </a:bodyPr>
          <a:lstStyle/>
          <a:p>
            <a:pPr algn="l">
              <a:lnSpc>
                <a:spcPct val="115000"/>
              </a:lnSpc>
              <a:spcAft>
                <a:spcPts val="400"/>
              </a:spcAft>
            </a:pPr>
            <a:r>
              <a:rPr sz="1800" b="1" i="0" dirty="0" err="1">
                <a:solidFill>
                  <a:srgbClr val="0C514E"/>
                </a:solidFill>
                <a:latin typeface="Arial"/>
              </a:rPr>
              <a:t>Herramienta</a:t>
            </a:r>
            <a:r>
              <a:rPr sz="1800" b="1" i="0" dirty="0">
                <a:solidFill>
                  <a:srgbClr val="0C514E"/>
                </a:solidFill>
                <a:latin typeface="Arial"/>
              </a:rPr>
              <a:t> sin </a:t>
            </a:r>
            <a:r>
              <a:rPr sz="1800" b="1" i="0" dirty="0" err="1">
                <a:solidFill>
                  <a:srgbClr val="0C514E"/>
                </a:solidFill>
                <a:latin typeface="Arial"/>
              </a:rPr>
              <a:t>manuales</a:t>
            </a:r>
            <a:r>
              <a:rPr sz="1800" b="1" i="0" dirty="0">
                <a:solidFill>
                  <a:srgbClr val="0C514E"/>
                </a:solidFill>
                <a:latin typeface="Arial"/>
              </a:rPr>
              <a:t> es </a:t>
            </a:r>
            <a:r>
              <a:rPr sz="1800" b="1" i="0" dirty="0" err="1">
                <a:solidFill>
                  <a:srgbClr val="0C514E"/>
                </a:solidFill>
                <a:latin typeface="Arial"/>
              </a:rPr>
              <a:t>dependencia</a:t>
            </a:r>
            <a:r>
              <a:rPr sz="1800" b="1" i="0" dirty="0">
                <a:solidFill>
                  <a:srgbClr val="0C514E"/>
                </a:solidFill>
                <a:latin typeface="Arial"/>
              </a:rPr>
              <a:t>; </a:t>
            </a:r>
            <a:r>
              <a:rPr sz="1800" b="1" i="0" dirty="0" err="1">
                <a:solidFill>
                  <a:srgbClr val="0C514E"/>
                </a:solidFill>
                <a:latin typeface="Arial"/>
              </a:rPr>
              <a:t>herramienta</a:t>
            </a:r>
            <a:r>
              <a:rPr sz="1800" b="1" i="0" dirty="0">
                <a:solidFill>
                  <a:srgbClr val="0C514E"/>
                </a:solidFill>
                <a:latin typeface="Arial"/>
              </a:rPr>
              <a:t> con </a:t>
            </a:r>
            <a:r>
              <a:rPr sz="1800" b="1" i="0" dirty="0" err="1">
                <a:solidFill>
                  <a:srgbClr val="0C514E"/>
                </a:solidFill>
                <a:latin typeface="Arial"/>
              </a:rPr>
              <a:t>manuales</a:t>
            </a:r>
            <a:r>
              <a:rPr sz="1800" b="1" i="0" dirty="0">
                <a:solidFill>
                  <a:srgbClr val="0C514E"/>
                </a:solidFill>
                <a:latin typeface="Arial"/>
              </a:rPr>
              <a:t> de </a:t>
            </a:r>
            <a:r>
              <a:rPr sz="1800" b="1" i="0" dirty="0" err="1">
                <a:solidFill>
                  <a:srgbClr val="0C514E"/>
                </a:solidFill>
                <a:latin typeface="Arial"/>
              </a:rPr>
              <a:t>usuario</a:t>
            </a:r>
            <a:r>
              <a:rPr sz="1800" b="1" i="0" dirty="0">
                <a:solidFill>
                  <a:srgbClr val="0C514E"/>
                </a:solidFill>
                <a:latin typeface="Arial"/>
              </a:rPr>
              <a:t>, </a:t>
            </a:r>
            <a:r>
              <a:rPr sz="1800" b="1" i="0" dirty="0" err="1">
                <a:solidFill>
                  <a:srgbClr val="0C514E"/>
                </a:solidFill>
                <a:latin typeface="Arial"/>
              </a:rPr>
              <a:t>técnico</a:t>
            </a:r>
            <a:r>
              <a:rPr sz="1800" b="1" i="0" dirty="0">
                <a:solidFill>
                  <a:srgbClr val="0C514E"/>
                </a:solidFill>
                <a:latin typeface="Arial"/>
              </a:rPr>
              <a:t> y de </a:t>
            </a:r>
            <a:r>
              <a:rPr sz="1800" b="1" i="0" dirty="0" err="1">
                <a:solidFill>
                  <a:srgbClr val="0C514E"/>
                </a:solidFill>
                <a:latin typeface="Arial"/>
              </a:rPr>
              <a:t>implementación</a:t>
            </a:r>
            <a:r>
              <a:rPr sz="1800" b="1" i="0" dirty="0">
                <a:solidFill>
                  <a:srgbClr val="0C514E"/>
                </a:solidFill>
                <a:latin typeface="Arial"/>
              </a:rPr>
              <a:t> es </a:t>
            </a:r>
            <a:r>
              <a:rPr sz="1800" b="1" i="0" dirty="0" err="1">
                <a:solidFill>
                  <a:srgbClr val="0C514E"/>
                </a:solidFill>
                <a:latin typeface="Arial"/>
              </a:rPr>
              <a:t>capacidad</a:t>
            </a:r>
            <a:r>
              <a:rPr sz="1800" b="1" i="0" dirty="0">
                <a:solidFill>
                  <a:srgbClr val="0C514E"/>
                </a:solidFill>
                <a:latin typeface="Arial"/>
              </a:rPr>
              <a:t> </a:t>
            </a:r>
            <a:r>
              <a:rPr sz="1800" b="1" i="0" dirty="0" err="1">
                <a:solidFill>
                  <a:srgbClr val="0C514E"/>
                </a:solidFill>
                <a:latin typeface="Arial"/>
              </a:rPr>
              <a:t>instalada</a:t>
            </a:r>
            <a:r>
              <a:rPr sz="1800" b="1" i="0" dirty="0">
                <a:solidFill>
                  <a:srgbClr val="0C514E"/>
                </a:solidFill>
                <a:latin typeface="Arial"/>
              </a:rPr>
              <a:t>.</a:t>
            </a:r>
          </a:p>
        </p:txBody>
      </p:sp>
      <p:grpSp>
        <p:nvGrpSpPr>
          <p:cNvPr id="6" name="Group 5">
            <a:extLst>
              <a:ext uri="{FF2B5EF4-FFF2-40B4-BE49-F238E27FC236}">
                <a16:creationId xmlns:a16="http://schemas.microsoft.com/office/drawing/2014/main" id="{884510BC-5C79-176A-F970-FB353030B27E}"/>
              </a:ext>
            </a:extLst>
          </p:cNvPr>
          <p:cNvGrpSpPr/>
          <p:nvPr/>
        </p:nvGrpSpPr>
        <p:grpSpPr>
          <a:xfrm>
            <a:off x="4926731" y="6328371"/>
            <a:ext cx="10678180" cy="1325705"/>
            <a:chOff x="4919471" y="5885688"/>
            <a:chExt cx="10678180" cy="1325705"/>
          </a:xfrm>
        </p:grpSpPr>
        <p:sp>
          <p:nvSpPr>
            <p:cNvPr id="8" name="Rectangle 7">
              <a:extLst>
                <a:ext uri="{FF2B5EF4-FFF2-40B4-BE49-F238E27FC236}">
                  <a16:creationId xmlns:a16="http://schemas.microsoft.com/office/drawing/2014/main" id="{997A3C57-1038-4E5F-D81A-DC6E2C8F0AD6}"/>
                </a:ext>
              </a:extLst>
            </p:cNvPr>
            <p:cNvSpPr/>
            <p:nvPr/>
          </p:nvSpPr>
          <p:spPr>
            <a:xfrm>
              <a:off x="5367527" y="5885688"/>
              <a:ext cx="10230124" cy="1325705"/>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11" name="Rectangle 10">
              <a:extLst>
                <a:ext uri="{FF2B5EF4-FFF2-40B4-BE49-F238E27FC236}">
                  <a16:creationId xmlns:a16="http://schemas.microsoft.com/office/drawing/2014/main" id="{56D49B9F-9D93-CF05-5C8B-8FFF4E97195B}"/>
                </a:ext>
              </a:extLst>
            </p:cNvPr>
            <p:cNvSpPr/>
            <p:nvPr/>
          </p:nvSpPr>
          <p:spPr>
            <a:xfrm>
              <a:off x="5367527" y="5885688"/>
              <a:ext cx="45720" cy="1217187"/>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cxnSp>
          <p:nvCxnSpPr>
            <p:cNvPr id="12" name="Connector 36">
              <a:extLst>
                <a:ext uri="{FF2B5EF4-FFF2-40B4-BE49-F238E27FC236}">
                  <a16:creationId xmlns:a16="http://schemas.microsoft.com/office/drawing/2014/main" id="{785D452B-606B-DC14-F009-2EEAC81FEF66}"/>
                </a:ext>
              </a:extLst>
            </p:cNvPr>
            <p:cNvCxnSpPr/>
            <p:nvPr/>
          </p:nvCxnSpPr>
          <p:spPr>
            <a:xfrm>
              <a:off x="4919471" y="6420469"/>
              <a:ext cx="411480" cy="0"/>
            </a:xfrm>
            <a:prstGeom prst="line">
              <a:avLst/>
            </a:prstGeom>
            <a:ln w="19050">
              <a:solidFill>
                <a:srgbClr val="C87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52EB117-41DB-60E1-D53F-ACC3629772CC}"/>
                </a:ext>
              </a:extLst>
            </p:cNvPr>
            <p:cNvSpPr txBox="1"/>
            <p:nvPr/>
          </p:nvSpPr>
          <p:spPr>
            <a:xfrm>
              <a:off x="5623559" y="6031992"/>
              <a:ext cx="5412374" cy="369332"/>
            </a:xfrm>
            <a:prstGeom prst="rect">
              <a:avLst/>
            </a:prstGeom>
            <a:noFill/>
          </p:spPr>
          <p:txBody>
            <a:bodyPr wrap="square" lIns="0" tIns="0" rIns="0" bIns="0" anchor="t">
              <a:spAutoFit/>
            </a:bodyPr>
            <a:lstStyle/>
            <a:p>
              <a:pPr algn="l">
                <a:lnSpc>
                  <a:spcPct val="100000"/>
                </a:lnSpc>
              </a:pPr>
              <a:r>
                <a:rPr lang="en-US" sz="2400" b="1" i="0" dirty="0" err="1">
                  <a:solidFill>
                    <a:srgbClr val="0B2E2C"/>
                  </a:solidFill>
                  <a:latin typeface="Arial"/>
                </a:rPr>
                <a:t>Monitoreo</a:t>
              </a:r>
              <a:r>
                <a:rPr lang="en-US" sz="2400" b="1" i="0" dirty="0">
                  <a:solidFill>
                    <a:srgbClr val="0B2E2C"/>
                  </a:solidFill>
                  <a:latin typeface="Arial"/>
                </a:rPr>
                <a:t> de </a:t>
              </a:r>
              <a:r>
                <a:rPr lang="en-US" sz="2400" b="1" i="0" dirty="0" err="1">
                  <a:solidFill>
                    <a:srgbClr val="0B2E2C"/>
                  </a:solidFill>
                  <a:latin typeface="Arial"/>
                </a:rPr>
                <a:t>Modelos</a:t>
              </a:r>
              <a:r>
                <a:rPr lang="en-US" sz="2400" b="1" i="0" dirty="0">
                  <a:solidFill>
                    <a:srgbClr val="0B2E2C"/>
                  </a:solidFill>
                  <a:latin typeface="Arial"/>
                </a:rPr>
                <a:t> (inputs PLV)</a:t>
              </a:r>
              <a:endParaRPr sz="2400" b="1" i="0" dirty="0">
                <a:solidFill>
                  <a:srgbClr val="0B2E2C"/>
                </a:solidFill>
                <a:latin typeface="Arial"/>
              </a:endParaRPr>
            </a:p>
          </p:txBody>
        </p:sp>
        <p:sp>
          <p:nvSpPr>
            <p:cNvPr id="14" name="TextBox 13">
              <a:extLst>
                <a:ext uri="{FF2B5EF4-FFF2-40B4-BE49-F238E27FC236}">
                  <a16:creationId xmlns:a16="http://schemas.microsoft.com/office/drawing/2014/main" id="{3486A9C9-8A71-774D-E04B-2A4748414344}"/>
                </a:ext>
              </a:extLst>
            </p:cNvPr>
            <p:cNvSpPr txBox="1"/>
            <p:nvPr/>
          </p:nvSpPr>
          <p:spPr>
            <a:xfrm>
              <a:off x="5623559" y="6418044"/>
              <a:ext cx="9718060" cy="238014"/>
            </a:xfrm>
            <a:prstGeom prst="rect">
              <a:avLst/>
            </a:prstGeom>
            <a:noFill/>
          </p:spPr>
          <p:txBody>
            <a:bodyPr wrap="square" lIns="0" tIns="0" rIns="0" bIns="0" anchor="t">
              <a:spAutoFit/>
            </a:bodyPr>
            <a:lstStyle/>
            <a:p>
              <a:pPr algn="l">
                <a:lnSpc>
                  <a:spcPct val="122000"/>
                </a:lnSpc>
              </a:pPr>
              <a:r>
                <a:rPr lang="en-US" b="0" i="0" dirty="0" err="1">
                  <a:solidFill>
                    <a:srgbClr val="3E5553"/>
                  </a:solidFill>
                  <a:latin typeface="Arial"/>
                </a:rPr>
                <a:t>Seguimiento</a:t>
              </a:r>
              <a:r>
                <a:rPr lang="en-US" b="0" i="0" dirty="0">
                  <a:solidFill>
                    <a:srgbClr val="3E5553"/>
                  </a:solidFill>
                  <a:latin typeface="Arial"/>
                </a:rPr>
                <a:t> al </a:t>
              </a:r>
              <a:r>
                <a:rPr lang="en-US" b="0" i="0" dirty="0" err="1">
                  <a:solidFill>
                    <a:srgbClr val="3E5553"/>
                  </a:solidFill>
                  <a:latin typeface="Arial"/>
                </a:rPr>
                <a:t>rendimiento</a:t>
              </a:r>
              <a:r>
                <a:rPr lang="en-US" b="0" i="0" dirty="0">
                  <a:solidFill>
                    <a:srgbClr val="3E5553"/>
                  </a:solidFill>
                  <a:latin typeface="Arial"/>
                </a:rPr>
                <a:t> y/o </a:t>
              </a:r>
              <a:r>
                <a:rPr lang="en-US" b="0" i="0" dirty="0" err="1">
                  <a:solidFill>
                    <a:srgbClr val="3E5553"/>
                  </a:solidFill>
                  <a:latin typeface="Arial"/>
                </a:rPr>
                <a:t>estabilidad</a:t>
              </a:r>
              <a:r>
                <a:rPr lang="en-US" b="0" i="0" dirty="0">
                  <a:solidFill>
                    <a:srgbClr val="3E5553"/>
                  </a:solidFill>
                  <a:latin typeface="Arial"/>
                </a:rPr>
                <a:t> de </a:t>
              </a:r>
              <a:r>
                <a:rPr lang="en-US" b="0" i="0" dirty="0" err="1">
                  <a:solidFill>
                    <a:srgbClr val="3E5553"/>
                  </a:solidFill>
                  <a:latin typeface="Arial"/>
                </a:rPr>
                <a:t>los</a:t>
              </a:r>
              <a:r>
                <a:rPr lang="en-US" b="0" i="0" dirty="0">
                  <a:solidFill>
                    <a:srgbClr val="3E5553"/>
                  </a:solidFill>
                  <a:latin typeface="Arial"/>
                </a:rPr>
                <a:t> </a:t>
              </a:r>
              <a:r>
                <a:rPr lang="en-US" b="0" i="0" dirty="0" err="1">
                  <a:solidFill>
                    <a:srgbClr val="3E5553"/>
                  </a:solidFill>
                  <a:latin typeface="Arial"/>
                </a:rPr>
                <a:t>modelos</a:t>
              </a:r>
              <a:r>
                <a:rPr lang="en-US" b="0" i="0" dirty="0">
                  <a:solidFill>
                    <a:srgbClr val="3E5553"/>
                  </a:solidFill>
                  <a:latin typeface="Arial"/>
                </a:rPr>
                <a:t> inputs del PLV</a:t>
              </a:r>
              <a:endParaRPr b="0" i="0" dirty="0">
                <a:solidFill>
                  <a:srgbClr val="3E5553"/>
                </a:solidFill>
                <a:latin typeface="Arial"/>
              </a:endParaRPr>
            </a:p>
          </p:txBody>
        </p:sp>
        <p:sp>
          <p:nvSpPr>
            <p:cNvPr id="23" name="Rectangle 22">
              <a:extLst>
                <a:ext uri="{FF2B5EF4-FFF2-40B4-BE49-F238E27FC236}">
                  <a16:creationId xmlns:a16="http://schemas.microsoft.com/office/drawing/2014/main" id="{D3DB5757-D976-D7F3-391A-1EF410275852}"/>
                </a:ext>
              </a:extLst>
            </p:cNvPr>
            <p:cNvSpPr/>
            <p:nvPr/>
          </p:nvSpPr>
          <p:spPr>
            <a:xfrm>
              <a:off x="5623559" y="6718833"/>
              <a:ext cx="9718060" cy="384048"/>
            </a:xfrm>
            <a:prstGeom prst="rect">
              <a:avLst/>
            </a:prstGeom>
            <a:solidFill>
              <a:srgbClr val="F6F8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24" name="TextBox 23">
              <a:extLst>
                <a:ext uri="{FF2B5EF4-FFF2-40B4-BE49-F238E27FC236}">
                  <a16:creationId xmlns:a16="http://schemas.microsoft.com/office/drawing/2014/main" id="{883EF13A-2ACB-A6A1-7770-69F22D9C05B3}"/>
                </a:ext>
              </a:extLst>
            </p:cNvPr>
            <p:cNvSpPr txBox="1"/>
            <p:nvPr/>
          </p:nvSpPr>
          <p:spPr>
            <a:xfrm>
              <a:off x="5769864" y="6782841"/>
              <a:ext cx="9425452" cy="187359"/>
            </a:xfrm>
            <a:prstGeom prst="rect">
              <a:avLst/>
            </a:prstGeom>
            <a:noFill/>
          </p:spPr>
          <p:txBody>
            <a:bodyPr wrap="square" lIns="0" tIns="0" rIns="0" bIns="0" anchor="t">
              <a:spAutoFit/>
            </a:bodyPr>
            <a:lstStyle/>
            <a:p>
              <a:pPr algn="l">
                <a:lnSpc>
                  <a:spcPct val="110000"/>
                </a:lnSpc>
                <a:spcAft>
                  <a:spcPts val="400"/>
                </a:spcAft>
              </a:pPr>
              <a:r>
                <a:rPr sz="1200" b="1" i="0" dirty="0" err="1">
                  <a:solidFill>
                    <a:srgbClr val="C87A0B"/>
                  </a:solidFill>
                  <a:latin typeface="Arial"/>
                </a:rPr>
                <a:t>Qué</a:t>
              </a:r>
              <a:r>
                <a:rPr sz="1200" b="1" i="0" dirty="0">
                  <a:solidFill>
                    <a:srgbClr val="C87A0B"/>
                  </a:solidFill>
                  <a:latin typeface="Arial"/>
                </a:rPr>
                <a:t> </a:t>
              </a:r>
              <a:r>
                <a:rPr sz="1200" b="1" i="0" dirty="0" err="1">
                  <a:solidFill>
                    <a:srgbClr val="C87A0B"/>
                  </a:solidFill>
                  <a:latin typeface="Arial"/>
                </a:rPr>
                <a:t>habilita</a:t>
              </a:r>
              <a:r>
                <a:rPr sz="1200" b="1" i="0" dirty="0">
                  <a:solidFill>
                    <a:srgbClr val="C87A0B"/>
                  </a:solidFill>
                  <a:latin typeface="Arial"/>
                </a:rPr>
                <a:t>:  </a:t>
              </a:r>
              <a:r>
                <a:rPr lang="en-US" sz="1200" b="1" i="0" dirty="0" err="1">
                  <a:solidFill>
                    <a:srgbClr val="6E7E7D"/>
                  </a:solidFill>
                  <a:latin typeface="Arial"/>
                </a:rPr>
                <a:t>Calibración</a:t>
              </a:r>
              <a:r>
                <a:rPr lang="en-US" sz="1200" b="1" i="0" dirty="0">
                  <a:solidFill>
                    <a:srgbClr val="6E7E7D"/>
                  </a:solidFill>
                  <a:latin typeface="Arial"/>
                </a:rPr>
                <a:t> de </a:t>
              </a:r>
              <a:r>
                <a:rPr lang="en-US" sz="1200" b="1" i="0" dirty="0" err="1">
                  <a:solidFill>
                    <a:srgbClr val="6E7E7D"/>
                  </a:solidFill>
                  <a:latin typeface="Arial"/>
                </a:rPr>
                <a:t>modelos</a:t>
              </a:r>
              <a:r>
                <a:rPr lang="en-US" sz="1200" b="1" i="0" dirty="0">
                  <a:solidFill>
                    <a:srgbClr val="6E7E7D"/>
                  </a:solidFill>
                  <a:latin typeface="Arial"/>
                </a:rPr>
                <a:t> inputs para el PLV</a:t>
              </a:r>
              <a:endParaRPr sz="1200" b="0" i="0" dirty="0">
                <a:solidFill>
                  <a:srgbClr val="6E7E7D"/>
                </a:solidFill>
                <a:latin typeface="Arial"/>
              </a:endParaRPr>
            </a:p>
          </p:txBody>
        </p:sp>
      </p:grpSp>
    </p:spTree>
    <p:extLst>
      <p:ext uri="{BB962C8B-B14F-4D97-AF65-F5344CB8AC3E}">
        <p14:creationId xmlns:p14="http://schemas.microsoft.com/office/powerpoint/2010/main" val="31035641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D4CD2-0865-4604-A0C4-47CA69DDB02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C1FC13-E149-B55D-CDF6-53CBE5371619}"/>
              </a:ext>
            </a:extLst>
          </p:cNvPr>
          <p:cNvSpPr/>
          <p:nvPr/>
        </p:nvSpPr>
        <p:spPr>
          <a:xfrm>
            <a:off x="-106878" y="8839200"/>
            <a:ext cx="16256000" cy="8168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7DD89485-76D7-5198-010D-AD516B63896A}"/>
              </a:ext>
            </a:extLst>
          </p:cNvPr>
          <p:cNvSpPr>
            <a:spLocks noGrp="1"/>
          </p:cNvSpPr>
          <p:nvPr>
            <p:ph type="title"/>
          </p:nvPr>
        </p:nvSpPr>
        <p:spPr>
          <a:xfrm>
            <a:off x="457200" y="304800"/>
            <a:ext cx="13540154" cy="1143000"/>
          </a:xfrm>
        </p:spPr>
        <p:txBody>
          <a:bodyPr>
            <a:normAutofit fontScale="90000"/>
          </a:bodyPr>
          <a:lstStyle/>
          <a:p>
            <a:r>
              <a:rPr lang="es-ES_tradnl" sz="3200" noProof="0" dirty="0"/>
              <a:t>Los nueve modelos se entregan bajo un mismo estándar: código, manuales, validación y transferencia — sin excepciones</a:t>
            </a:r>
          </a:p>
        </p:txBody>
      </p:sp>
      <p:sp>
        <p:nvSpPr>
          <p:cNvPr id="2" name="Rectangle 1">
            <a:extLst>
              <a:ext uri="{FF2B5EF4-FFF2-40B4-BE49-F238E27FC236}">
                <a16:creationId xmlns:a16="http://schemas.microsoft.com/office/drawing/2014/main" id="{9A3296E9-A567-1EB1-CC70-E57789BBF8B9}"/>
              </a:ext>
            </a:extLst>
          </p:cNvPr>
          <p:cNvSpPr/>
          <p:nvPr/>
        </p:nvSpPr>
        <p:spPr>
          <a:xfrm>
            <a:off x="658368" y="1645920"/>
            <a:ext cx="14939284" cy="45720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cxnSp>
        <p:nvCxnSpPr>
          <p:cNvPr id="3" name="Connector 7">
            <a:extLst>
              <a:ext uri="{FF2B5EF4-FFF2-40B4-BE49-F238E27FC236}">
                <a16:creationId xmlns:a16="http://schemas.microsoft.com/office/drawing/2014/main" id="{8DD27CC7-4D2C-03A0-B47D-1AE9CC5B2FFE}"/>
              </a:ext>
            </a:extLst>
          </p:cNvPr>
          <p:cNvCxnSpPr/>
          <p:nvPr/>
        </p:nvCxnSpPr>
        <p:spPr>
          <a:xfrm>
            <a:off x="658368" y="1645920"/>
            <a:ext cx="0" cy="457200"/>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9BFAAE8-1F10-EC3F-890D-83865D04F065}"/>
              </a:ext>
            </a:extLst>
          </p:cNvPr>
          <p:cNvSpPr txBox="1"/>
          <p:nvPr/>
        </p:nvSpPr>
        <p:spPr>
          <a:xfrm>
            <a:off x="822959" y="1779431"/>
            <a:ext cx="14610100" cy="190180"/>
          </a:xfrm>
          <a:prstGeom prst="rect">
            <a:avLst/>
          </a:prstGeom>
          <a:noFill/>
        </p:spPr>
        <p:txBody>
          <a:bodyPr wrap="square" lIns="0" tIns="0" rIns="0" bIns="0" anchor="ctr">
            <a:spAutoFit/>
          </a:bodyPr>
          <a:lstStyle/>
          <a:p>
            <a:pPr algn="l">
              <a:lnSpc>
                <a:spcPct val="112000"/>
              </a:lnSpc>
              <a:spcAft>
                <a:spcPts val="200"/>
              </a:spcAft>
            </a:pPr>
            <a:r>
              <a:rPr sz="1200" b="0" i="0">
                <a:solidFill>
                  <a:srgbClr val="3E5553"/>
                </a:solidFill>
                <a:latin typeface="Arial"/>
              </a:rPr>
              <a:t>Cada componente del ecosistema será entregado bajo un estándar común de documentación, implementación y transferencia de conocimiento.</a:t>
            </a:r>
          </a:p>
        </p:txBody>
      </p:sp>
      <p:sp>
        <p:nvSpPr>
          <p:cNvPr id="6" name="Rectangle 5">
            <a:extLst>
              <a:ext uri="{FF2B5EF4-FFF2-40B4-BE49-F238E27FC236}">
                <a16:creationId xmlns:a16="http://schemas.microsoft.com/office/drawing/2014/main" id="{895A1CC9-988E-D02D-558E-11427862E24D}"/>
              </a:ext>
            </a:extLst>
          </p:cNvPr>
          <p:cNvSpPr/>
          <p:nvPr/>
        </p:nvSpPr>
        <p:spPr>
          <a:xfrm>
            <a:off x="3035808" y="2304288"/>
            <a:ext cx="12561844"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 name="Rectangle 7">
            <a:extLst>
              <a:ext uri="{FF2B5EF4-FFF2-40B4-BE49-F238E27FC236}">
                <a16:creationId xmlns:a16="http://schemas.microsoft.com/office/drawing/2014/main" id="{663036BC-292E-650B-517D-02F7F8E7B2AA}"/>
              </a:ext>
            </a:extLst>
          </p:cNvPr>
          <p:cNvSpPr/>
          <p:nvPr/>
        </p:nvSpPr>
        <p:spPr>
          <a:xfrm>
            <a:off x="3035808" y="2304288"/>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100" b="1" i="0" dirty="0">
                <a:solidFill>
                  <a:srgbClr val="FFFFFF"/>
                </a:solidFill>
                <a:latin typeface="Arial"/>
              </a:rPr>
              <a:t>Modelo</a:t>
            </a:r>
          </a:p>
          <a:p>
            <a:pPr algn="ctr">
              <a:lnSpc>
                <a:spcPct val="105000"/>
              </a:lnSpc>
            </a:pPr>
            <a:r>
              <a:rPr sz="1100" b="1" i="0" dirty="0" err="1">
                <a:solidFill>
                  <a:srgbClr val="FFFFFF"/>
                </a:solidFill>
                <a:latin typeface="Arial"/>
              </a:rPr>
              <a:t>analítico</a:t>
            </a:r>
            <a:endParaRPr sz="1100" b="1" i="0" dirty="0">
              <a:solidFill>
                <a:srgbClr val="FFFFFF"/>
              </a:solidFill>
              <a:latin typeface="Arial"/>
            </a:endParaRPr>
          </a:p>
        </p:txBody>
      </p:sp>
      <p:sp>
        <p:nvSpPr>
          <p:cNvPr id="11" name="Rectangle 10">
            <a:extLst>
              <a:ext uri="{FF2B5EF4-FFF2-40B4-BE49-F238E27FC236}">
                <a16:creationId xmlns:a16="http://schemas.microsoft.com/office/drawing/2014/main" id="{EEF14539-6C69-D1A9-3CF6-22E9EBEE72F6}"/>
              </a:ext>
            </a:extLst>
          </p:cNvPr>
          <p:cNvSpPr/>
          <p:nvPr/>
        </p:nvSpPr>
        <p:spPr>
          <a:xfrm>
            <a:off x="4452560" y="2304288"/>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100" b="1" i="0" dirty="0">
                <a:solidFill>
                  <a:srgbClr val="FFFFFF"/>
                </a:solidFill>
                <a:latin typeface="Arial"/>
              </a:rPr>
              <a:t>Código</a:t>
            </a:r>
          </a:p>
          <a:p>
            <a:pPr algn="ctr">
              <a:lnSpc>
                <a:spcPct val="105000"/>
              </a:lnSpc>
            </a:pPr>
            <a:r>
              <a:rPr sz="1100" b="1" i="0" dirty="0" err="1">
                <a:solidFill>
                  <a:srgbClr val="FFFFFF"/>
                </a:solidFill>
                <a:latin typeface="Arial"/>
              </a:rPr>
              <a:t>fuente</a:t>
            </a:r>
            <a:endParaRPr sz="1100" b="1" i="0" dirty="0">
              <a:solidFill>
                <a:srgbClr val="FFFFFF"/>
              </a:solidFill>
              <a:latin typeface="Arial"/>
            </a:endParaRPr>
          </a:p>
        </p:txBody>
      </p:sp>
      <p:sp>
        <p:nvSpPr>
          <p:cNvPr id="12" name="Rectangle 11">
            <a:extLst>
              <a:ext uri="{FF2B5EF4-FFF2-40B4-BE49-F238E27FC236}">
                <a16:creationId xmlns:a16="http://schemas.microsoft.com/office/drawing/2014/main" id="{C20641A7-0A0F-52A2-D743-62AC84814A21}"/>
              </a:ext>
            </a:extLst>
          </p:cNvPr>
          <p:cNvSpPr/>
          <p:nvPr/>
        </p:nvSpPr>
        <p:spPr>
          <a:xfrm>
            <a:off x="5869312" y="2304288"/>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100" b="1" i="0" dirty="0">
                <a:solidFill>
                  <a:srgbClr val="FFFFFF"/>
                </a:solidFill>
                <a:latin typeface="Arial"/>
              </a:rPr>
              <a:t>Manual</a:t>
            </a:r>
          </a:p>
          <a:p>
            <a:pPr algn="ctr">
              <a:lnSpc>
                <a:spcPct val="105000"/>
              </a:lnSpc>
            </a:pPr>
            <a:r>
              <a:rPr sz="1100" b="1" i="0" dirty="0" err="1">
                <a:solidFill>
                  <a:srgbClr val="FFFFFF"/>
                </a:solidFill>
                <a:latin typeface="Arial"/>
              </a:rPr>
              <a:t>metodológico</a:t>
            </a:r>
            <a:endParaRPr sz="1100" b="1" i="0" dirty="0">
              <a:solidFill>
                <a:srgbClr val="FFFFFF"/>
              </a:solidFill>
              <a:latin typeface="Arial"/>
            </a:endParaRPr>
          </a:p>
        </p:txBody>
      </p:sp>
      <p:sp>
        <p:nvSpPr>
          <p:cNvPr id="13" name="Rectangle 12">
            <a:extLst>
              <a:ext uri="{FF2B5EF4-FFF2-40B4-BE49-F238E27FC236}">
                <a16:creationId xmlns:a16="http://schemas.microsoft.com/office/drawing/2014/main" id="{0E650844-8F29-AAC3-B9C1-9F107936206B}"/>
              </a:ext>
            </a:extLst>
          </p:cNvPr>
          <p:cNvSpPr/>
          <p:nvPr/>
        </p:nvSpPr>
        <p:spPr>
          <a:xfrm>
            <a:off x="7286064" y="2304288"/>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100" b="1" i="0" dirty="0">
                <a:solidFill>
                  <a:srgbClr val="FFFFFF"/>
                </a:solidFill>
                <a:latin typeface="Arial"/>
              </a:rPr>
              <a:t>Manual </a:t>
            </a:r>
            <a:r>
              <a:rPr sz="1100" b="1" i="0" dirty="0" err="1">
                <a:solidFill>
                  <a:srgbClr val="FFFFFF"/>
                </a:solidFill>
                <a:latin typeface="Arial"/>
              </a:rPr>
              <a:t>técnico</a:t>
            </a:r>
            <a:endParaRPr sz="1100" b="1" i="0" dirty="0">
              <a:solidFill>
                <a:srgbClr val="FFFFFF"/>
              </a:solidFill>
              <a:latin typeface="Arial"/>
            </a:endParaRPr>
          </a:p>
          <a:p>
            <a:pPr algn="ctr">
              <a:lnSpc>
                <a:spcPct val="105000"/>
              </a:lnSpc>
            </a:pPr>
            <a:r>
              <a:rPr sz="1100" b="1" i="0" dirty="0" err="1">
                <a:solidFill>
                  <a:srgbClr val="FFFFFF"/>
                </a:solidFill>
                <a:latin typeface="Arial"/>
              </a:rPr>
              <a:t>funcional</a:t>
            </a:r>
            <a:endParaRPr sz="1100" b="1" i="0" dirty="0">
              <a:solidFill>
                <a:srgbClr val="FFFFFF"/>
              </a:solidFill>
              <a:latin typeface="Arial"/>
            </a:endParaRPr>
          </a:p>
        </p:txBody>
      </p:sp>
      <p:sp>
        <p:nvSpPr>
          <p:cNvPr id="14" name="Rectangle 13">
            <a:extLst>
              <a:ext uri="{FF2B5EF4-FFF2-40B4-BE49-F238E27FC236}">
                <a16:creationId xmlns:a16="http://schemas.microsoft.com/office/drawing/2014/main" id="{89FA518F-9C68-97E4-9DFB-ABDB866D2F87}"/>
              </a:ext>
            </a:extLst>
          </p:cNvPr>
          <p:cNvSpPr/>
          <p:nvPr/>
        </p:nvSpPr>
        <p:spPr>
          <a:xfrm>
            <a:off x="8702816" y="2304288"/>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100" b="1" i="0" dirty="0">
                <a:solidFill>
                  <a:srgbClr val="FFFFFF"/>
                </a:solidFill>
                <a:latin typeface="Arial"/>
              </a:rPr>
              <a:t>Casos de</a:t>
            </a:r>
          </a:p>
          <a:p>
            <a:pPr algn="ctr">
              <a:lnSpc>
                <a:spcPct val="105000"/>
              </a:lnSpc>
            </a:pPr>
            <a:r>
              <a:rPr sz="1100" b="1" i="0" dirty="0" err="1">
                <a:solidFill>
                  <a:srgbClr val="FFFFFF"/>
                </a:solidFill>
                <a:latin typeface="Arial"/>
              </a:rPr>
              <a:t>validación</a:t>
            </a:r>
            <a:endParaRPr sz="1100" b="1" i="0" dirty="0">
              <a:solidFill>
                <a:srgbClr val="FFFFFF"/>
              </a:solidFill>
              <a:latin typeface="Arial"/>
            </a:endParaRPr>
          </a:p>
        </p:txBody>
      </p:sp>
      <p:sp>
        <p:nvSpPr>
          <p:cNvPr id="23" name="Rectangle 22">
            <a:extLst>
              <a:ext uri="{FF2B5EF4-FFF2-40B4-BE49-F238E27FC236}">
                <a16:creationId xmlns:a16="http://schemas.microsoft.com/office/drawing/2014/main" id="{147FB79A-1C8A-83B9-488B-0F54DD6CF40F}"/>
              </a:ext>
            </a:extLst>
          </p:cNvPr>
          <p:cNvSpPr/>
          <p:nvPr/>
        </p:nvSpPr>
        <p:spPr>
          <a:xfrm>
            <a:off x="10119568" y="2304288"/>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100" b="1" i="0" dirty="0" err="1">
                <a:solidFill>
                  <a:srgbClr val="FFFFFF"/>
                </a:solidFill>
                <a:latin typeface="Arial"/>
              </a:rPr>
              <a:t>Códigos</a:t>
            </a:r>
            <a:r>
              <a:rPr sz="1100" b="1" i="0" dirty="0">
                <a:solidFill>
                  <a:srgbClr val="FFFFFF"/>
                </a:solidFill>
                <a:latin typeface="Arial"/>
              </a:rPr>
              <a:t> </a:t>
            </a:r>
            <a:r>
              <a:rPr sz="1100" b="1" i="0" dirty="0" err="1">
                <a:solidFill>
                  <a:srgbClr val="FFFFFF"/>
                </a:solidFill>
                <a:latin typeface="Arial"/>
              </a:rPr>
              <a:t>en</a:t>
            </a:r>
            <a:endParaRPr sz="1100" b="1" i="0" dirty="0">
              <a:solidFill>
                <a:srgbClr val="FFFFFF"/>
              </a:solidFill>
              <a:latin typeface="Arial"/>
            </a:endParaRPr>
          </a:p>
          <a:p>
            <a:pPr algn="ctr">
              <a:lnSpc>
                <a:spcPct val="105000"/>
              </a:lnSpc>
            </a:pPr>
            <a:r>
              <a:rPr sz="1100" b="1" i="0" dirty="0" err="1">
                <a:solidFill>
                  <a:srgbClr val="FFFFFF"/>
                </a:solidFill>
                <a:latin typeface="Arial"/>
              </a:rPr>
              <a:t>ecosistema</a:t>
            </a:r>
            <a:r>
              <a:rPr sz="1100" b="1" i="0" dirty="0">
                <a:solidFill>
                  <a:srgbClr val="FFFFFF"/>
                </a:solidFill>
                <a:latin typeface="Arial"/>
              </a:rPr>
              <a:t> IBK</a:t>
            </a:r>
          </a:p>
        </p:txBody>
      </p:sp>
      <p:sp>
        <p:nvSpPr>
          <p:cNvPr id="24" name="Rectangle 23">
            <a:extLst>
              <a:ext uri="{FF2B5EF4-FFF2-40B4-BE49-F238E27FC236}">
                <a16:creationId xmlns:a16="http://schemas.microsoft.com/office/drawing/2014/main" id="{1508FF2C-7D72-D1B3-9DB2-8C295B3289DA}"/>
              </a:ext>
            </a:extLst>
          </p:cNvPr>
          <p:cNvSpPr/>
          <p:nvPr/>
        </p:nvSpPr>
        <p:spPr>
          <a:xfrm>
            <a:off x="11536320" y="2304288"/>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100" b="1" i="0" dirty="0" err="1">
                <a:solidFill>
                  <a:srgbClr val="FFFFFF"/>
                </a:solidFill>
                <a:latin typeface="Arial"/>
              </a:rPr>
              <a:t>Transferencia</a:t>
            </a:r>
            <a:r>
              <a:rPr sz="1100" b="1" i="0" dirty="0">
                <a:solidFill>
                  <a:srgbClr val="FFFFFF"/>
                </a:solidFill>
                <a:latin typeface="Arial"/>
              </a:rPr>
              <a:t> de</a:t>
            </a:r>
          </a:p>
          <a:p>
            <a:pPr algn="ctr">
              <a:lnSpc>
                <a:spcPct val="105000"/>
              </a:lnSpc>
            </a:pPr>
            <a:r>
              <a:rPr sz="1100" b="1" i="0" dirty="0" err="1">
                <a:solidFill>
                  <a:srgbClr val="FFFFFF"/>
                </a:solidFill>
                <a:latin typeface="Arial"/>
              </a:rPr>
              <a:t>conocimiento</a:t>
            </a:r>
            <a:endParaRPr sz="1100" b="1" i="0" dirty="0">
              <a:solidFill>
                <a:srgbClr val="FFFFFF"/>
              </a:solidFill>
              <a:latin typeface="Arial"/>
            </a:endParaRPr>
          </a:p>
        </p:txBody>
      </p:sp>
      <p:sp>
        <p:nvSpPr>
          <p:cNvPr id="25" name="Rectangle 24">
            <a:extLst>
              <a:ext uri="{FF2B5EF4-FFF2-40B4-BE49-F238E27FC236}">
                <a16:creationId xmlns:a16="http://schemas.microsoft.com/office/drawing/2014/main" id="{A4797C68-EFF4-3023-E239-E8E2E2F53FC3}"/>
              </a:ext>
            </a:extLst>
          </p:cNvPr>
          <p:cNvSpPr/>
          <p:nvPr/>
        </p:nvSpPr>
        <p:spPr>
          <a:xfrm>
            <a:off x="12953072" y="2304288"/>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lang="en-US" sz="1100" b="1" dirty="0" err="1">
                <a:solidFill>
                  <a:srgbClr val="FFFFFF"/>
                </a:solidFill>
                <a:latin typeface="Arial"/>
              </a:rPr>
              <a:t>M</a:t>
            </a:r>
            <a:r>
              <a:rPr sz="1100" b="1" i="0" dirty="0" err="1">
                <a:solidFill>
                  <a:srgbClr val="FFFFFF"/>
                </a:solidFill>
                <a:latin typeface="Arial"/>
              </a:rPr>
              <a:t>onitoreo</a:t>
            </a:r>
            <a:endParaRPr sz="1100" b="1" i="0" dirty="0">
              <a:solidFill>
                <a:srgbClr val="FFFFFF"/>
              </a:solidFill>
              <a:latin typeface="Arial"/>
            </a:endParaRPr>
          </a:p>
        </p:txBody>
      </p:sp>
      <p:sp>
        <p:nvSpPr>
          <p:cNvPr id="26" name="Rectangle 25">
            <a:extLst>
              <a:ext uri="{FF2B5EF4-FFF2-40B4-BE49-F238E27FC236}">
                <a16:creationId xmlns:a16="http://schemas.microsoft.com/office/drawing/2014/main" id="{C07C9761-B4FA-916B-6688-48F81C5519A6}"/>
              </a:ext>
            </a:extLst>
          </p:cNvPr>
          <p:cNvSpPr/>
          <p:nvPr/>
        </p:nvSpPr>
        <p:spPr>
          <a:xfrm>
            <a:off x="658368" y="2862072"/>
            <a:ext cx="14939284" cy="37947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3" name="TextBox 32">
            <a:extLst>
              <a:ext uri="{FF2B5EF4-FFF2-40B4-BE49-F238E27FC236}">
                <a16:creationId xmlns:a16="http://schemas.microsoft.com/office/drawing/2014/main" id="{731B98F7-F148-CD6D-E074-C37CC492FA65}"/>
              </a:ext>
            </a:extLst>
          </p:cNvPr>
          <p:cNvSpPr txBox="1"/>
          <p:nvPr/>
        </p:nvSpPr>
        <p:spPr>
          <a:xfrm>
            <a:off x="804672" y="2944368"/>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PD Lifetime</a:t>
            </a:r>
          </a:p>
        </p:txBody>
      </p:sp>
      <p:sp>
        <p:nvSpPr>
          <p:cNvPr id="41" name="Oval 40">
            <a:extLst>
              <a:ext uri="{FF2B5EF4-FFF2-40B4-BE49-F238E27FC236}">
                <a16:creationId xmlns:a16="http://schemas.microsoft.com/office/drawing/2014/main" id="{FBAA997A-670A-4B86-AD1B-9A3D974C979C}"/>
              </a:ext>
            </a:extLst>
          </p:cNvPr>
          <p:cNvSpPr/>
          <p:nvPr/>
        </p:nvSpPr>
        <p:spPr>
          <a:xfrm>
            <a:off x="3743199" y="29740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47" name="TextBox 46">
            <a:extLst>
              <a:ext uri="{FF2B5EF4-FFF2-40B4-BE49-F238E27FC236}">
                <a16:creationId xmlns:a16="http://schemas.microsoft.com/office/drawing/2014/main" id="{1A51CAE2-D245-9A50-F6B9-5E2CBB022BE1}"/>
              </a:ext>
            </a:extLst>
          </p:cNvPr>
          <p:cNvSpPr txBox="1"/>
          <p:nvPr/>
        </p:nvSpPr>
        <p:spPr>
          <a:xfrm>
            <a:off x="3743199" y="29466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48" name="Oval 47">
            <a:extLst>
              <a:ext uri="{FF2B5EF4-FFF2-40B4-BE49-F238E27FC236}">
                <a16:creationId xmlns:a16="http://schemas.microsoft.com/office/drawing/2014/main" id="{3F918D59-9690-E2A2-070F-6C1CE123EA89}"/>
              </a:ext>
            </a:extLst>
          </p:cNvPr>
          <p:cNvSpPr/>
          <p:nvPr/>
        </p:nvSpPr>
        <p:spPr>
          <a:xfrm>
            <a:off x="4980922" y="29740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49" name="TextBox 48">
            <a:extLst>
              <a:ext uri="{FF2B5EF4-FFF2-40B4-BE49-F238E27FC236}">
                <a16:creationId xmlns:a16="http://schemas.microsoft.com/office/drawing/2014/main" id="{ACF8A310-75F6-EB92-C9A5-953BBCC19B2A}"/>
              </a:ext>
            </a:extLst>
          </p:cNvPr>
          <p:cNvSpPr txBox="1"/>
          <p:nvPr/>
        </p:nvSpPr>
        <p:spPr>
          <a:xfrm>
            <a:off x="4980922" y="29466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50" name="Oval 49">
            <a:extLst>
              <a:ext uri="{FF2B5EF4-FFF2-40B4-BE49-F238E27FC236}">
                <a16:creationId xmlns:a16="http://schemas.microsoft.com/office/drawing/2014/main" id="{1AE5A270-306D-DCD8-ABC2-7B045D61FB5E}"/>
              </a:ext>
            </a:extLst>
          </p:cNvPr>
          <p:cNvSpPr/>
          <p:nvPr/>
        </p:nvSpPr>
        <p:spPr>
          <a:xfrm>
            <a:off x="6278019" y="29740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1" name="TextBox 50">
            <a:extLst>
              <a:ext uri="{FF2B5EF4-FFF2-40B4-BE49-F238E27FC236}">
                <a16:creationId xmlns:a16="http://schemas.microsoft.com/office/drawing/2014/main" id="{0957EF06-60CC-D1F7-FA86-83EA951A108B}"/>
              </a:ext>
            </a:extLst>
          </p:cNvPr>
          <p:cNvSpPr txBox="1"/>
          <p:nvPr/>
        </p:nvSpPr>
        <p:spPr>
          <a:xfrm>
            <a:off x="6278019" y="29466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52" name="Oval 51">
            <a:extLst>
              <a:ext uri="{FF2B5EF4-FFF2-40B4-BE49-F238E27FC236}">
                <a16:creationId xmlns:a16="http://schemas.microsoft.com/office/drawing/2014/main" id="{7ED3DEC0-6799-8F6D-9CD5-6BB0B2228DE3}"/>
              </a:ext>
            </a:extLst>
          </p:cNvPr>
          <p:cNvSpPr/>
          <p:nvPr/>
        </p:nvSpPr>
        <p:spPr>
          <a:xfrm>
            <a:off x="7776996" y="29740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3" name="TextBox 52">
            <a:extLst>
              <a:ext uri="{FF2B5EF4-FFF2-40B4-BE49-F238E27FC236}">
                <a16:creationId xmlns:a16="http://schemas.microsoft.com/office/drawing/2014/main" id="{689F0834-7C42-1F1B-FA50-281D4C6319AF}"/>
              </a:ext>
            </a:extLst>
          </p:cNvPr>
          <p:cNvSpPr txBox="1"/>
          <p:nvPr/>
        </p:nvSpPr>
        <p:spPr>
          <a:xfrm>
            <a:off x="7776996" y="29466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54" name="Oval 53">
            <a:extLst>
              <a:ext uri="{FF2B5EF4-FFF2-40B4-BE49-F238E27FC236}">
                <a16:creationId xmlns:a16="http://schemas.microsoft.com/office/drawing/2014/main" id="{498DA523-DF52-2CD2-0466-0F1CB0751277}"/>
              </a:ext>
            </a:extLst>
          </p:cNvPr>
          <p:cNvSpPr/>
          <p:nvPr/>
        </p:nvSpPr>
        <p:spPr>
          <a:xfrm>
            <a:off x="9252225" y="29740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5" name="TextBox 54">
            <a:extLst>
              <a:ext uri="{FF2B5EF4-FFF2-40B4-BE49-F238E27FC236}">
                <a16:creationId xmlns:a16="http://schemas.microsoft.com/office/drawing/2014/main" id="{4D95A7C6-09C9-4C2D-2457-AF7A84FADA00}"/>
              </a:ext>
            </a:extLst>
          </p:cNvPr>
          <p:cNvSpPr txBox="1"/>
          <p:nvPr/>
        </p:nvSpPr>
        <p:spPr>
          <a:xfrm>
            <a:off x="9252225" y="29466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56" name="Oval 55">
            <a:extLst>
              <a:ext uri="{FF2B5EF4-FFF2-40B4-BE49-F238E27FC236}">
                <a16:creationId xmlns:a16="http://schemas.microsoft.com/office/drawing/2014/main" id="{7D87991B-9E5C-8B33-9E51-F8A151EFD674}"/>
              </a:ext>
            </a:extLst>
          </p:cNvPr>
          <p:cNvSpPr/>
          <p:nvPr/>
        </p:nvSpPr>
        <p:spPr>
          <a:xfrm>
            <a:off x="10596825" y="29740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 name="TextBox 56">
            <a:extLst>
              <a:ext uri="{FF2B5EF4-FFF2-40B4-BE49-F238E27FC236}">
                <a16:creationId xmlns:a16="http://schemas.microsoft.com/office/drawing/2014/main" id="{331862BB-17C1-53DC-80B9-00BEAD933A13}"/>
              </a:ext>
            </a:extLst>
          </p:cNvPr>
          <p:cNvSpPr txBox="1"/>
          <p:nvPr/>
        </p:nvSpPr>
        <p:spPr>
          <a:xfrm>
            <a:off x="10596825" y="29466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58" name="Oval 57">
            <a:extLst>
              <a:ext uri="{FF2B5EF4-FFF2-40B4-BE49-F238E27FC236}">
                <a16:creationId xmlns:a16="http://schemas.microsoft.com/office/drawing/2014/main" id="{8F52658C-49BD-3747-95F5-E4946BD0203E}"/>
              </a:ext>
            </a:extLst>
          </p:cNvPr>
          <p:cNvSpPr/>
          <p:nvPr/>
        </p:nvSpPr>
        <p:spPr>
          <a:xfrm>
            <a:off x="11977054" y="29740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 name="TextBox 58">
            <a:extLst>
              <a:ext uri="{FF2B5EF4-FFF2-40B4-BE49-F238E27FC236}">
                <a16:creationId xmlns:a16="http://schemas.microsoft.com/office/drawing/2014/main" id="{F5DE819C-06C8-A7E2-9F60-BE94BC7C4668}"/>
              </a:ext>
            </a:extLst>
          </p:cNvPr>
          <p:cNvSpPr txBox="1"/>
          <p:nvPr/>
        </p:nvSpPr>
        <p:spPr>
          <a:xfrm>
            <a:off x="11977054" y="29466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60" name="Oval 59">
            <a:extLst>
              <a:ext uri="{FF2B5EF4-FFF2-40B4-BE49-F238E27FC236}">
                <a16:creationId xmlns:a16="http://schemas.microsoft.com/office/drawing/2014/main" id="{17C362EA-A3EB-B0F7-37E2-79471895DD2F}"/>
              </a:ext>
            </a:extLst>
          </p:cNvPr>
          <p:cNvSpPr/>
          <p:nvPr/>
        </p:nvSpPr>
        <p:spPr>
          <a:xfrm>
            <a:off x="13547285" y="29740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 name="TextBox 60">
            <a:extLst>
              <a:ext uri="{FF2B5EF4-FFF2-40B4-BE49-F238E27FC236}">
                <a16:creationId xmlns:a16="http://schemas.microsoft.com/office/drawing/2014/main" id="{39D1A242-CBC9-C291-9E76-951894A205DF}"/>
              </a:ext>
            </a:extLst>
          </p:cNvPr>
          <p:cNvSpPr txBox="1"/>
          <p:nvPr/>
        </p:nvSpPr>
        <p:spPr>
          <a:xfrm>
            <a:off x="13547285" y="29466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62" name="TextBox 61">
            <a:extLst>
              <a:ext uri="{FF2B5EF4-FFF2-40B4-BE49-F238E27FC236}">
                <a16:creationId xmlns:a16="http://schemas.microsoft.com/office/drawing/2014/main" id="{5AAADF95-5452-85E1-61D6-7B6BD1903E6F}"/>
              </a:ext>
            </a:extLst>
          </p:cNvPr>
          <p:cNvSpPr txBox="1"/>
          <p:nvPr/>
        </p:nvSpPr>
        <p:spPr>
          <a:xfrm>
            <a:off x="804672" y="3323844"/>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LGD Lifetime</a:t>
            </a:r>
          </a:p>
        </p:txBody>
      </p:sp>
      <p:sp>
        <p:nvSpPr>
          <p:cNvPr id="63" name="Oval 62">
            <a:extLst>
              <a:ext uri="{FF2B5EF4-FFF2-40B4-BE49-F238E27FC236}">
                <a16:creationId xmlns:a16="http://schemas.microsoft.com/office/drawing/2014/main" id="{4A5CEC41-C6C2-ADD1-33F1-3897120ADCE9}"/>
              </a:ext>
            </a:extLst>
          </p:cNvPr>
          <p:cNvSpPr/>
          <p:nvPr/>
        </p:nvSpPr>
        <p:spPr>
          <a:xfrm>
            <a:off x="3743199" y="33535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4" name="TextBox 63">
            <a:extLst>
              <a:ext uri="{FF2B5EF4-FFF2-40B4-BE49-F238E27FC236}">
                <a16:creationId xmlns:a16="http://schemas.microsoft.com/office/drawing/2014/main" id="{A301F25D-25A7-F3AE-1D57-68D22C4B5D3B}"/>
              </a:ext>
            </a:extLst>
          </p:cNvPr>
          <p:cNvSpPr txBox="1"/>
          <p:nvPr/>
        </p:nvSpPr>
        <p:spPr>
          <a:xfrm>
            <a:off x="3743199" y="332612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65" name="Oval 64">
            <a:extLst>
              <a:ext uri="{FF2B5EF4-FFF2-40B4-BE49-F238E27FC236}">
                <a16:creationId xmlns:a16="http://schemas.microsoft.com/office/drawing/2014/main" id="{5888D151-3826-513C-45FE-6BA7EFF226C7}"/>
              </a:ext>
            </a:extLst>
          </p:cNvPr>
          <p:cNvSpPr/>
          <p:nvPr/>
        </p:nvSpPr>
        <p:spPr>
          <a:xfrm>
            <a:off x="4980922" y="33535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 name="TextBox 65">
            <a:extLst>
              <a:ext uri="{FF2B5EF4-FFF2-40B4-BE49-F238E27FC236}">
                <a16:creationId xmlns:a16="http://schemas.microsoft.com/office/drawing/2014/main" id="{DB94A46C-2F83-79CA-9FE4-3CE6A2498D02}"/>
              </a:ext>
            </a:extLst>
          </p:cNvPr>
          <p:cNvSpPr txBox="1"/>
          <p:nvPr/>
        </p:nvSpPr>
        <p:spPr>
          <a:xfrm>
            <a:off x="4980922" y="332612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67" name="Oval 66">
            <a:extLst>
              <a:ext uri="{FF2B5EF4-FFF2-40B4-BE49-F238E27FC236}">
                <a16:creationId xmlns:a16="http://schemas.microsoft.com/office/drawing/2014/main" id="{3BECC287-34C4-FD4E-85BC-D0FDF4BD8250}"/>
              </a:ext>
            </a:extLst>
          </p:cNvPr>
          <p:cNvSpPr/>
          <p:nvPr/>
        </p:nvSpPr>
        <p:spPr>
          <a:xfrm>
            <a:off x="6278019" y="33535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 name="TextBox 68">
            <a:extLst>
              <a:ext uri="{FF2B5EF4-FFF2-40B4-BE49-F238E27FC236}">
                <a16:creationId xmlns:a16="http://schemas.microsoft.com/office/drawing/2014/main" id="{6BE1D5A1-ABCD-C303-112B-78613600127C}"/>
              </a:ext>
            </a:extLst>
          </p:cNvPr>
          <p:cNvSpPr txBox="1"/>
          <p:nvPr/>
        </p:nvSpPr>
        <p:spPr>
          <a:xfrm>
            <a:off x="6278019" y="332612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70" name="Oval 69">
            <a:extLst>
              <a:ext uri="{FF2B5EF4-FFF2-40B4-BE49-F238E27FC236}">
                <a16:creationId xmlns:a16="http://schemas.microsoft.com/office/drawing/2014/main" id="{44D5D11B-932B-643A-89F6-1DEFF07E0C92}"/>
              </a:ext>
            </a:extLst>
          </p:cNvPr>
          <p:cNvSpPr/>
          <p:nvPr/>
        </p:nvSpPr>
        <p:spPr>
          <a:xfrm>
            <a:off x="7776996" y="33535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 name="TextBox 70">
            <a:extLst>
              <a:ext uri="{FF2B5EF4-FFF2-40B4-BE49-F238E27FC236}">
                <a16:creationId xmlns:a16="http://schemas.microsoft.com/office/drawing/2014/main" id="{B0117189-3549-EE49-C945-E9C3CA6BAAC8}"/>
              </a:ext>
            </a:extLst>
          </p:cNvPr>
          <p:cNvSpPr txBox="1"/>
          <p:nvPr/>
        </p:nvSpPr>
        <p:spPr>
          <a:xfrm>
            <a:off x="7776996" y="332612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72" name="Oval 71">
            <a:extLst>
              <a:ext uri="{FF2B5EF4-FFF2-40B4-BE49-F238E27FC236}">
                <a16:creationId xmlns:a16="http://schemas.microsoft.com/office/drawing/2014/main" id="{65C3E1EE-E9DB-1375-9FA6-5CB1D7D5790B}"/>
              </a:ext>
            </a:extLst>
          </p:cNvPr>
          <p:cNvSpPr/>
          <p:nvPr/>
        </p:nvSpPr>
        <p:spPr>
          <a:xfrm>
            <a:off x="9252225" y="33535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3" name="TextBox 72">
            <a:extLst>
              <a:ext uri="{FF2B5EF4-FFF2-40B4-BE49-F238E27FC236}">
                <a16:creationId xmlns:a16="http://schemas.microsoft.com/office/drawing/2014/main" id="{00FEE838-EEBA-6154-9480-27FF168245C4}"/>
              </a:ext>
            </a:extLst>
          </p:cNvPr>
          <p:cNvSpPr txBox="1"/>
          <p:nvPr/>
        </p:nvSpPr>
        <p:spPr>
          <a:xfrm>
            <a:off x="9252225" y="332612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74" name="Oval 73">
            <a:extLst>
              <a:ext uri="{FF2B5EF4-FFF2-40B4-BE49-F238E27FC236}">
                <a16:creationId xmlns:a16="http://schemas.microsoft.com/office/drawing/2014/main" id="{568B5644-B2C2-B847-A3C7-31FBD14E8708}"/>
              </a:ext>
            </a:extLst>
          </p:cNvPr>
          <p:cNvSpPr/>
          <p:nvPr/>
        </p:nvSpPr>
        <p:spPr>
          <a:xfrm>
            <a:off x="10596825" y="33535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5" name="TextBox 74">
            <a:extLst>
              <a:ext uri="{FF2B5EF4-FFF2-40B4-BE49-F238E27FC236}">
                <a16:creationId xmlns:a16="http://schemas.microsoft.com/office/drawing/2014/main" id="{CDC348DA-A05E-635E-A248-0F430BC4D3C9}"/>
              </a:ext>
            </a:extLst>
          </p:cNvPr>
          <p:cNvSpPr txBox="1"/>
          <p:nvPr/>
        </p:nvSpPr>
        <p:spPr>
          <a:xfrm>
            <a:off x="10596825" y="332612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76" name="Oval 75">
            <a:extLst>
              <a:ext uri="{FF2B5EF4-FFF2-40B4-BE49-F238E27FC236}">
                <a16:creationId xmlns:a16="http://schemas.microsoft.com/office/drawing/2014/main" id="{77BEC738-C81B-0532-5311-9CF4E426FA55}"/>
              </a:ext>
            </a:extLst>
          </p:cNvPr>
          <p:cNvSpPr/>
          <p:nvPr/>
        </p:nvSpPr>
        <p:spPr>
          <a:xfrm>
            <a:off x="11977054" y="33535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7" name="TextBox 76">
            <a:extLst>
              <a:ext uri="{FF2B5EF4-FFF2-40B4-BE49-F238E27FC236}">
                <a16:creationId xmlns:a16="http://schemas.microsoft.com/office/drawing/2014/main" id="{9F2F421E-4536-30A3-F261-6D1EA845EDCD}"/>
              </a:ext>
            </a:extLst>
          </p:cNvPr>
          <p:cNvSpPr txBox="1"/>
          <p:nvPr/>
        </p:nvSpPr>
        <p:spPr>
          <a:xfrm>
            <a:off x="11977054" y="332612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78" name="Oval 77">
            <a:extLst>
              <a:ext uri="{FF2B5EF4-FFF2-40B4-BE49-F238E27FC236}">
                <a16:creationId xmlns:a16="http://schemas.microsoft.com/office/drawing/2014/main" id="{075958F9-2EA1-559D-A595-B62359CBE28D}"/>
              </a:ext>
            </a:extLst>
          </p:cNvPr>
          <p:cNvSpPr/>
          <p:nvPr/>
        </p:nvSpPr>
        <p:spPr>
          <a:xfrm>
            <a:off x="13547285" y="33535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9" name="TextBox 78">
            <a:extLst>
              <a:ext uri="{FF2B5EF4-FFF2-40B4-BE49-F238E27FC236}">
                <a16:creationId xmlns:a16="http://schemas.microsoft.com/office/drawing/2014/main" id="{39CAB9FF-8A7B-4CB2-F28D-9D9CF272B117}"/>
              </a:ext>
            </a:extLst>
          </p:cNvPr>
          <p:cNvSpPr txBox="1"/>
          <p:nvPr/>
        </p:nvSpPr>
        <p:spPr>
          <a:xfrm>
            <a:off x="13547285" y="3326129"/>
            <a:ext cx="155448" cy="184666"/>
          </a:xfrm>
          <a:prstGeom prst="rect">
            <a:avLst/>
          </a:prstGeom>
          <a:noFill/>
        </p:spPr>
        <p:txBody>
          <a:bodyPr wrap="square" lIns="0" tIns="0" rIns="0" bIns="0" anchor="t">
            <a:spAutoFit/>
          </a:bodyPr>
          <a:lstStyle/>
          <a:p>
            <a:pPr algn="ctr">
              <a:lnSpc>
                <a:spcPct val="100000"/>
              </a:lnSpc>
            </a:pPr>
            <a:r>
              <a:rPr sz="1200" b="1" i="0" dirty="0">
                <a:solidFill>
                  <a:srgbClr val="0C514E"/>
                </a:solidFill>
                <a:latin typeface="Arial"/>
              </a:rPr>
              <a:t>✓</a:t>
            </a:r>
          </a:p>
        </p:txBody>
      </p:sp>
      <p:sp>
        <p:nvSpPr>
          <p:cNvPr id="80" name="Rectangle 79">
            <a:extLst>
              <a:ext uri="{FF2B5EF4-FFF2-40B4-BE49-F238E27FC236}">
                <a16:creationId xmlns:a16="http://schemas.microsoft.com/office/drawing/2014/main" id="{4798788C-CF9E-72D0-AB18-16A236DE7212}"/>
              </a:ext>
            </a:extLst>
          </p:cNvPr>
          <p:cNvSpPr/>
          <p:nvPr/>
        </p:nvSpPr>
        <p:spPr>
          <a:xfrm>
            <a:off x="658368" y="3621024"/>
            <a:ext cx="14939284" cy="37947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1" name="TextBox 80">
            <a:extLst>
              <a:ext uri="{FF2B5EF4-FFF2-40B4-BE49-F238E27FC236}">
                <a16:creationId xmlns:a16="http://schemas.microsoft.com/office/drawing/2014/main" id="{BD12D4EA-D357-A42F-3078-AD81616A300E}"/>
              </a:ext>
            </a:extLst>
          </p:cNvPr>
          <p:cNvSpPr txBox="1"/>
          <p:nvPr/>
        </p:nvSpPr>
        <p:spPr>
          <a:xfrm>
            <a:off x="804672" y="3703320"/>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Prepagos</a:t>
            </a:r>
          </a:p>
        </p:txBody>
      </p:sp>
      <p:sp>
        <p:nvSpPr>
          <p:cNvPr id="82" name="Oval 81">
            <a:extLst>
              <a:ext uri="{FF2B5EF4-FFF2-40B4-BE49-F238E27FC236}">
                <a16:creationId xmlns:a16="http://schemas.microsoft.com/office/drawing/2014/main" id="{A01CCEF7-6C31-EC19-B84E-70A22CA6604C}"/>
              </a:ext>
            </a:extLst>
          </p:cNvPr>
          <p:cNvSpPr/>
          <p:nvPr/>
        </p:nvSpPr>
        <p:spPr>
          <a:xfrm>
            <a:off x="3743199" y="373303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3" name="TextBox 82">
            <a:extLst>
              <a:ext uri="{FF2B5EF4-FFF2-40B4-BE49-F238E27FC236}">
                <a16:creationId xmlns:a16="http://schemas.microsoft.com/office/drawing/2014/main" id="{7EA85DF5-00FB-79DD-332E-7C51BE7840C0}"/>
              </a:ext>
            </a:extLst>
          </p:cNvPr>
          <p:cNvSpPr txBox="1"/>
          <p:nvPr/>
        </p:nvSpPr>
        <p:spPr>
          <a:xfrm>
            <a:off x="3743199" y="370560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84" name="Oval 83">
            <a:extLst>
              <a:ext uri="{FF2B5EF4-FFF2-40B4-BE49-F238E27FC236}">
                <a16:creationId xmlns:a16="http://schemas.microsoft.com/office/drawing/2014/main" id="{C5E65047-5741-3A45-D9F5-5122E000B860}"/>
              </a:ext>
            </a:extLst>
          </p:cNvPr>
          <p:cNvSpPr/>
          <p:nvPr/>
        </p:nvSpPr>
        <p:spPr>
          <a:xfrm>
            <a:off x="4980922" y="373303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5" name="TextBox 84">
            <a:extLst>
              <a:ext uri="{FF2B5EF4-FFF2-40B4-BE49-F238E27FC236}">
                <a16:creationId xmlns:a16="http://schemas.microsoft.com/office/drawing/2014/main" id="{750CEE03-EC53-AB26-7B91-2FAD6B012A6C}"/>
              </a:ext>
            </a:extLst>
          </p:cNvPr>
          <p:cNvSpPr txBox="1"/>
          <p:nvPr/>
        </p:nvSpPr>
        <p:spPr>
          <a:xfrm>
            <a:off x="4980922" y="370560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86" name="Oval 85">
            <a:extLst>
              <a:ext uri="{FF2B5EF4-FFF2-40B4-BE49-F238E27FC236}">
                <a16:creationId xmlns:a16="http://schemas.microsoft.com/office/drawing/2014/main" id="{38069E84-94AF-4DC3-11E1-1A542C1809CE}"/>
              </a:ext>
            </a:extLst>
          </p:cNvPr>
          <p:cNvSpPr/>
          <p:nvPr/>
        </p:nvSpPr>
        <p:spPr>
          <a:xfrm>
            <a:off x="6278019" y="373303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7" name="TextBox 86">
            <a:extLst>
              <a:ext uri="{FF2B5EF4-FFF2-40B4-BE49-F238E27FC236}">
                <a16:creationId xmlns:a16="http://schemas.microsoft.com/office/drawing/2014/main" id="{7118C142-7C39-0B0B-7EBF-137BDBF89294}"/>
              </a:ext>
            </a:extLst>
          </p:cNvPr>
          <p:cNvSpPr txBox="1"/>
          <p:nvPr/>
        </p:nvSpPr>
        <p:spPr>
          <a:xfrm>
            <a:off x="6278019" y="370560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88" name="Oval 87">
            <a:extLst>
              <a:ext uri="{FF2B5EF4-FFF2-40B4-BE49-F238E27FC236}">
                <a16:creationId xmlns:a16="http://schemas.microsoft.com/office/drawing/2014/main" id="{0BD1CB70-E218-88C9-94B1-5896A25EC627}"/>
              </a:ext>
            </a:extLst>
          </p:cNvPr>
          <p:cNvSpPr/>
          <p:nvPr/>
        </p:nvSpPr>
        <p:spPr>
          <a:xfrm>
            <a:off x="7776996" y="373303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9" name="TextBox 88">
            <a:extLst>
              <a:ext uri="{FF2B5EF4-FFF2-40B4-BE49-F238E27FC236}">
                <a16:creationId xmlns:a16="http://schemas.microsoft.com/office/drawing/2014/main" id="{F156EEAD-669E-4AB3-87BB-0DD2B8591A1B}"/>
              </a:ext>
            </a:extLst>
          </p:cNvPr>
          <p:cNvSpPr txBox="1"/>
          <p:nvPr/>
        </p:nvSpPr>
        <p:spPr>
          <a:xfrm>
            <a:off x="7776996" y="370560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90" name="Oval 89">
            <a:extLst>
              <a:ext uri="{FF2B5EF4-FFF2-40B4-BE49-F238E27FC236}">
                <a16:creationId xmlns:a16="http://schemas.microsoft.com/office/drawing/2014/main" id="{03B354FE-A8CF-CA19-6477-4D076AEFC5CD}"/>
              </a:ext>
            </a:extLst>
          </p:cNvPr>
          <p:cNvSpPr/>
          <p:nvPr/>
        </p:nvSpPr>
        <p:spPr>
          <a:xfrm>
            <a:off x="9252225" y="373303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91" name="TextBox 90">
            <a:extLst>
              <a:ext uri="{FF2B5EF4-FFF2-40B4-BE49-F238E27FC236}">
                <a16:creationId xmlns:a16="http://schemas.microsoft.com/office/drawing/2014/main" id="{27B58D8A-046C-4833-B936-A27D48D72033}"/>
              </a:ext>
            </a:extLst>
          </p:cNvPr>
          <p:cNvSpPr txBox="1"/>
          <p:nvPr/>
        </p:nvSpPr>
        <p:spPr>
          <a:xfrm>
            <a:off x="9252225" y="370560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92" name="Oval 91">
            <a:extLst>
              <a:ext uri="{FF2B5EF4-FFF2-40B4-BE49-F238E27FC236}">
                <a16:creationId xmlns:a16="http://schemas.microsoft.com/office/drawing/2014/main" id="{47873AC2-1223-8C67-4E54-2C1DB54B943E}"/>
              </a:ext>
            </a:extLst>
          </p:cNvPr>
          <p:cNvSpPr/>
          <p:nvPr/>
        </p:nvSpPr>
        <p:spPr>
          <a:xfrm>
            <a:off x="10596825" y="373303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93" name="TextBox 92">
            <a:extLst>
              <a:ext uri="{FF2B5EF4-FFF2-40B4-BE49-F238E27FC236}">
                <a16:creationId xmlns:a16="http://schemas.microsoft.com/office/drawing/2014/main" id="{418076D8-E1EC-BDA0-210E-197ABC092196}"/>
              </a:ext>
            </a:extLst>
          </p:cNvPr>
          <p:cNvSpPr txBox="1"/>
          <p:nvPr/>
        </p:nvSpPr>
        <p:spPr>
          <a:xfrm>
            <a:off x="10596825" y="370560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94" name="Oval 93">
            <a:extLst>
              <a:ext uri="{FF2B5EF4-FFF2-40B4-BE49-F238E27FC236}">
                <a16:creationId xmlns:a16="http://schemas.microsoft.com/office/drawing/2014/main" id="{9AD81DA4-134A-A095-EA6D-08F5766C8F9F}"/>
              </a:ext>
            </a:extLst>
          </p:cNvPr>
          <p:cNvSpPr/>
          <p:nvPr/>
        </p:nvSpPr>
        <p:spPr>
          <a:xfrm>
            <a:off x="11977054" y="373303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95" name="TextBox 94">
            <a:extLst>
              <a:ext uri="{FF2B5EF4-FFF2-40B4-BE49-F238E27FC236}">
                <a16:creationId xmlns:a16="http://schemas.microsoft.com/office/drawing/2014/main" id="{381524B1-36CA-1433-A345-DF4D0B6F01AA}"/>
              </a:ext>
            </a:extLst>
          </p:cNvPr>
          <p:cNvSpPr txBox="1"/>
          <p:nvPr/>
        </p:nvSpPr>
        <p:spPr>
          <a:xfrm>
            <a:off x="11977054" y="370560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96" name="Oval 95">
            <a:extLst>
              <a:ext uri="{FF2B5EF4-FFF2-40B4-BE49-F238E27FC236}">
                <a16:creationId xmlns:a16="http://schemas.microsoft.com/office/drawing/2014/main" id="{4584F02B-217A-2E43-63A2-CE92D65A94A9}"/>
              </a:ext>
            </a:extLst>
          </p:cNvPr>
          <p:cNvSpPr/>
          <p:nvPr/>
        </p:nvSpPr>
        <p:spPr>
          <a:xfrm>
            <a:off x="13547285" y="373303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97" name="TextBox 96">
            <a:extLst>
              <a:ext uri="{FF2B5EF4-FFF2-40B4-BE49-F238E27FC236}">
                <a16:creationId xmlns:a16="http://schemas.microsoft.com/office/drawing/2014/main" id="{7C179E7B-9B1E-C589-09D4-3E166C06B1B5}"/>
              </a:ext>
            </a:extLst>
          </p:cNvPr>
          <p:cNvSpPr txBox="1"/>
          <p:nvPr/>
        </p:nvSpPr>
        <p:spPr>
          <a:xfrm>
            <a:off x="13547285" y="370560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99" name="TextBox 98">
            <a:extLst>
              <a:ext uri="{FF2B5EF4-FFF2-40B4-BE49-F238E27FC236}">
                <a16:creationId xmlns:a16="http://schemas.microsoft.com/office/drawing/2014/main" id="{1B83A0E9-5878-9DEE-BC13-0BF269425E01}"/>
              </a:ext>
            </a:extLst>
          </p:cNvPr>
          <p:cNvSpPr txBox="1"/>
          <p:nvPr/>
        </p:nvSpPr>
        <p:spPr>
          <a:xfrm>
            <a:off x="804672" y="4082796"/>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Precancelaciones</a:t>
            </a:r>
          </a:p>
        </p:txBody>
      </p:sp>
      <p:sp>
        <p:nvSpPr>
          <p:cNvPr id="106" name="Oval 105">
            <a:extLst>
              <a:ext uri="{FF2B5EF4-FFF2-40B4-BE49-F238E27FC236}">
                <a16:creationId xmlns:a16="http://schemas.microsoft.com/office/drawing/2014/main" id="{7F0AA24B-2013-09D8-CEBE-B7EC2BC9F334}"/>
              </a:ext>
            </a:extLst>
          </p:cNvPr>
          <p:cNvSpPr/>
          <p:nvPr/>
        </p:nvSpPr>
        <p:spPr>
          <a:xfrm>
            <a:off x="3743199" y="411251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07" name="TextBox 106">
            <a:extLst>
              <a:ext uri="{FF2B5EF4-FFF2-40B4-BE49-F238E27FC236}">
                <a16:creationId xmlns:a16="http://schemas.microsoft.com/office/drawing/2014/main" id="{B13F40BE-21B4-49F5-8FF7-986C6F41A7A7}"/>
              </a:ext>
            </a:extLst>
          </p:cNvPr>
          <p:cNvSpPr txBox="1"/>
          <p:nvPr/>
        </p:nvSpPr>
        <p:spPr>
          <a:xfrm>
            <a:off x="3743199" y="408508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08" name="Oval 107">
            <a:extLst>
              <a:ext uri="{FF2B5EF4-FFF2-40B4-BE49-F238E27FC236}">
                <a16:creationId xmlns:a16="http://schemas.microsoft.com/office/drawing/2014/main" id="{F3F19955-3238-099E-EFA3-2F42CBED522B}"/>
              </a:ext>
            </a:extLst>
          </p:cNvPr>
          <p:cNvSpPr/>
          <p:nvPr/>
        </p:nvSpPr>
        <p:spPr>
          <a:xfrm>
            <a:off x="4980922" y="411251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09" name="TextBox 108">
            <a:extLst>
              <a:ext uri="{FF2B5EF4-FFF2-40B4-BE49-F238E27FC236}">
                <a16:creationId xmlns:a16="http://schemas.microsoft.com/office/drawing/2014/main" id="{40306F5B-796B-F6AE-E01C-C8A96FDD8DAC}"/>
              </a:ext>
            </a:extLst>
          </p:cNvPr>
          <p:cNvSpPr txBox="1"/>
          <p:nvPr/>
        </p:nvSpPr>
        <p:spPr>
          <a:xfrm>
            <a:off x="4980922" y="408508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10" name="Oval 109">
            <a:extLst>
              <a:ext uri="{FF2B5EF4-FFF2-40B4-BE49-F238E27FC236}">
                <a16:creationId xmlns:a16="http://schemas.microsoft.com/office/drawing/2014/main" id="{A34E59D7-FA52-9A12-E565-18087C9DB24F}"/>
              </a:ext>
            </a:extLst>
          </p:cNvPr>
          <p:cNvSpPr/>
          <p:nvPr/>
        </p:nvSpPr>
        <p:spPr>
          <a:xfrm>
            <a:off x="6278019" y="411251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11" name="TextBox 110">
            <a:extLst>
              <a:ext uri="{FF2B5EF4-FFF2-40B4-BE49-F238E27FC236}">
                <a16:creationId xmlns:a16="http://schemas.microsoft.com/office/drawing/2014/main" id="{9BA41B74-F408-31AD-8CEE-382E1126702D}"/>
              </a:ext>
            </a:extLst>
          </p:cNvPr>
          <p:cNvSpPr txBox="1"/>
          <p:nvPr/>
        </p:nvSpPr>
        <p:spPr>
          <a:xfrm>
            <a:off x="6278019" y="408508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12" name="Oval 111">
            <a:extLst>
              <a:ext uri="{FF2B5EF4-FFF2-40B4-BE49-F238E27FC236}">
                <a16:creationId xmlns:a16="http://schemas.microsoft.com/office/drawing/2014/main" id="{88A83C59-54F5-F345-0BA3-617605C7B1AF}"/>
              </a:ext>
            </a:extLst>
          </p:cNvPr>
          <p:cNvSpPr/>
          <p:nvPr/>
        </p:nvSpPr>
        <p:spPr>
          <a:xfrm>
            <a:off x="7776996" y="411251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13" name="TextBox 112">
            <a:extLst>
              <a:ext uri="{FF2B5EF4-FFF2-40B4-BE49-F238E27FC236}">
                <a16:creationId xmlns:a16="http://schemas.microsoft.com/office/drawing/2014/main" id="{77045AF2-B489-D040-2AD1-1E7F1BCFBC53}"/>
              </a:ext>
            </a:extLst>
          </p:cNvPr>
          <p:cNvSpPr txBox="1"/>
          <p:nvPr/>
        </p:nvSpPr>
        <p:spPr>
          <a:xfrm>
            <a:off x="7776996" y="408508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14" name="Oval 113">
            <a:extLst>
              <a:ext uri="{FF2B5EF4-FFF2-40B4-BE49-F238E27FC236}">
                <a16:creationId xmlns:a16="http://schemas.microsoft.com/office/drawing/2014/main" id="{1E908679-9FA5-DDE6-B71D-D2736B476C2F}"/>
              </a:ext>
            </a:extLst>
          </p:cNvPr>
          <p:cNvSpPr/>
          <p:nvPr/>
        </p:nvSpPr>
        <p:spPr>
          <a:xfrm>
            <a:off x="9252225" y="411251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15" name="TextBox 114">
            <a:extLst>
              <a:ext uri="{FF2B5EF4-FFF2-40B4-BE49-F238E27FC236}">
                <a16:creationId xmlns:a16="http://schemas.microsoft.com/office/drawing/2014/main" id="{024BC61B-C066-84B3-F272-9C84A234EF27}"/>
              </a:ext>
            </a:extLst>
          </p:cNvPr>
          <p:cNvSpPr txBox="1"/>
          <p:nvPr/>
        </p:nvSpPr>
        <p:spPr>
          <a:xfrm>
            <a:off x="9252225" y="408508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16" name="Oval 115">
            <a:extLst>
              <a:ext uri="{FF2B5EF4-FFF2-40B4-BE49-F238E27FC236}">
                <a16:creationId xmlns:a16="http://schemas.microsoft.com/office/drawing/2014/main" id="{2ED8DCF7-7D6A-E41A-D464-70421C218D5B}"/>
              </a:ext>
            </a:extLst>
          </p:cNvPr>
          <p:cNvSpPr/>
          <p:nvPr/>
        </p:nvSpPr>
        <p:spPr>
          <a:xfrm>
            <a:off x="10596825" y="411251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17" name="TextBox 116">
            <a:extLst>
              <a:ext uri="{FF2B5EF4-FFF2-40B4-BE49-F238E27FC236}">
                <a16:creationId xmlns:a16="http://schemas.microsoft.com/office/drawing/2014/main" id="{9C7C1412-7CB9-BA4B-143C-33B441CEA251}"/>
              </a:ext>
            </a:extLst>
          </p:cNvPr>
          <p:cNvSpPr txBox="1"/>
          <p:nvPr/>
        </p:nvSpPr>
        <p:spPr>
          <a:xfrm>
            <a:off x="10596825" y="408508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18" name="Oval 117">
            <a:extLst>
              <a:ext uri="{FF2B5EF4-FFF2-40B4-BE49-F238E27FC236}">
                <a16:creationId xmlns:a16="http://schemas.microsoft.com/office/drawing/2014/main" id="{11823917-3C80-16AD-B1A5-670614ED1E4E}"/>
              </a:ext>
            </a:extLst>
          </p:cNvPr>
          <p:cNvSpPr/>
          <p:nvPr/>
        </p:nvSpPr>
        <p:spPr>
          <a:xfrm>
            <a:off x="11977054" y="411251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19" name="TextBox 118">
            <a:extLst>
              <a:ext uri="{FF2B5EF4-FFF2-40B4-BE49-F238E27FC236}">
                <a16:creationId xmlns:a16="http://schemas.microsoft.com/office/drawing/2014/main" id="{002AC2D3-A65D-9340-F93E-FE3D76F9BFEF}"/>
              </a:ext>
            </a:extLst>
          </p:cNvPr>
          <p:cNvSpPr txBox="1"/>
          <p:nvPr/>
        </p:nvSpPr>
        <p:spPr>
          <a:xfrm>
            <a:off x="11977054" y="408508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20" name="Oval 119">
            <a:extLst>
              <a:ext uri="{FF2B5EF4-FFF2-40B4-BE49-F238E27FC236}">
                <a16:creationId xmlns:a16="http://schemas.microsoft.com/office/drawing/2014/main" id="{EBA9DB87-D582-B00C-5B9A-B8744ED086D8}"/>
              </a:ext>
            </a:extLst>
          </p:cNvPr>
          <p:cNvSpPr/>
          <p:nvPr/>
        </p:nvSpPr>
        <p:spPr>
          <a:xfrm>
            <a:off x="13547285" y="411251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1" name="TextBox 120">
            <a:extLst>
              <a:ext uri="{FF2B5EF4-FFF2-40B4-BE49-F238E27FC236}">
                <a16:creationId xmlns:a16="http://schemas.microsoft.com/office/drawing/2014/main" id="{818EFB33-F789-C28E-4E27-58751BD36964}"/>
              </a:ext>
            </a:extLst>
          </p:cNvPr>
          <p:cNvSpPr txBox="1"/>
          <p:nvPr/>
        </p:nvSpPr>
        <p:spPr>
          <a:xfrm>
            <a:off x="13547285" y="408508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22" name="Rectangle 121">
            <a:extLst>
              <a:ext uri="{FF2B5EF4-FFF2-40B4-BE49-F238E27FC236}">
                <a16:creationId xmlns:a16="http://schemas.microsoft.com/office/drawing/2014/main" id="{F6074F4E-35D4-D31E-9BBD-B34875442CEB}"/>
              </a:ext>
            </a:extLst>
          </p:cNvPr>
          <p:cNvSpPr/>
          <p:nvPr/>
        </p:nvSpPr>
        <p:spPr>
          <a:xfrm>
            <a:off x="658368" y="4379976"/>
            <a:ext cx="14939284" cy="37947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3" name="TextBox 122">
            <a:extLst>
              <a:ext uri="{FF2B5EF4-FFF2-40B4-BE49-F238E27FC236}">
                <a16:creationId xmlns:a16="http://schemas.microsoft.com/office/drawing/2014/main" id="{53F42B7F-74F3-65B9-CA55-647F0A3614CC}"/>
              </a:ext>
            </a:extLst>
          </p:cNvPr>
          <p:cNvSpPr txBox="1"/>
          <p:nvPr/>
        </p:nvSpPr>
        <p:spPr>
          <a:xfrm>
            <a:off x="804672" y="4462272"/>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PD Repricing</a:t>
            </a:r>
          </a:p>
        </p:txBody>
      </p:sp>
      <p:sp>
        <p:nvSpPr>
          <p:cNvPr id="124" name="Oval 123">
            <a:extLst>
              <a:ext uri="{FF2B5EF4-FFF2-40B4-BE49-F238E27FC236}">
                <a16:creationId xmlns:a16="http://schemas.microsoft.com/office/drawing/2014/main" id="{077E5636-E97C-65D0-57E8-5C4CF80BE1CB}"/>
              </a:ext>
            </a:extLst>
          </p:cNvPr>
          <p:cNvSpPr/>
          <p:nvPr/>
        </p:nvSpPr>
        <p:spPr>
          <a:xfrm>
            <a:off x="3743199" y="449199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5" name="TextBox 124">
            <a:extLst>
              <a:ext uri="{FF2B5EF4-FFF2-40B4-BE49-F238E27FC236}">
                <a16:creationId xmlns:a16="http://schemas.microsoft.com/office/drawing/2014/main" id="{5BD88D98-A584-8A68-6681-DE6EB37B5E6E}"/>
              </a:ext>
            </a:extLst>
          </p:cNvPr>
          <p:cNvSpPr txBox="1"/>
          <p:nvPr/>
        </p:nvSpPr>
        <p:spPr>
          <a:xfrm>
            <a:off x="3743199" y="446455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26" name="Oval 125">
            <a:extLst>
              <a:ext uri="{FF2B5EF4-FFF2-40B4-BE49-F238E27FC236}">
                <a16:creationId xmlns:a16="http://schemas.microsoft.com/office/drawing/2014/main" id="{9E9773D0-CF40-634E-EBDF-5F812F396223}"/>
              </a:ext>
            </a:extLst>
          </p:cNvPr>
          <p:cNvSpPr/>
          <p:nvPr/>
        </p:nvSpPr>
        <p:spPr>
          <a:xfrm>
            <a:off x="4980922" y="449199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7" name="TextBox 126">
            <a:extLst>
              <a:ext uri="{FF2B5EF4-FFF2-40B4-BE49-F238E27FC236}">
                <a16:creationId xmlns:a16="http://schemas.microsoft.com/office/drawing/2014/main" id="{3043A4B2-AC81-AE6E-A1FB-ECCB235CE152}"/>
              </a:ext>
            </a:extLst>
          </p:cNvPr>
          <p:cNvSpPr txBox="1"/>
          <p:nvPr/>
        </p:nvSpPr>
        <p:spPr>
          <a:xfrm>
            <a:off x="4980922" y="446455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28" name="Oval 127">
            <a:extLst>
              <a:ext uri="{FF2B5EF4-FFF2-40B4-BE49-F238E27FC236}">
                <a16:creationId xmlns:a16="http://schemas.microsoft.com/office/drawing/2014/main" id="{3A96507C-BA0A-08B3-F837-14A0CEB33614}"/>
              </a:ext>
            </a:extLst>
          </p:cNvPr>
          <p:cNvSpPr/>
          <p:nvPr/>
        </p:nvSpPr>
        <p:spPr>
          <a:xfrm>
            <a:off x="6278019" y="449199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29" name="TextBox 128">
            <a:extLst>
              <a:ext uri="{FF2B5EF4-FFF2-40B4-BE49-F238E27FC236}">
                <a16:creationId xmlns:a16="http://schemas.microsoft.com/office/drawing/2014/main" id="{A7F34B63-96E9-789E-3846-F2C2A76A911D}"/>
              </a:ext>
            </a:extLst>
          </p:cNvPr>
          <p:cNvSpPr txBox="1"/>
          <p:nvPr/>
        </p:nvSpPr>
        <p:spPr>
          <a:xfrm>
            <a:off x="6278019" y="446455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30" name="Oval 129">
            <a:extLst>
              <a:ext uri="{FF2B5EF4-FFF2-40B4-BE49-F238E27FC236}">
                <a16:creationId xmlns:a16="http://schemas.microsoft.com/office/drawing/2014/main" id="{B3879AF0-E0AA-F50B-761F-95F0BE9856D2}"/>
              </a:ext>
            </a:extLst>
          </p:cNvPr>
          <p:cNvSpPr/>
          <p:nvPr/>
        </p:nvSpPr>
        <p:spPr>
          <a:xfrm>
            <a:off x="7776996" y="449199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1" name="TextBox 130">
            <a:extLst>
              <a:ext uri="{FF2B5EF4-FFF2-40B4-BE49-F238E27FC236}">
                <a16:creationId xmlns:a16="http://schemas.microsoft.com/office/drawing/2014/main" id="{BCB16B9E-27B9-31F9-5A29-3DA01240F1F7}"/>
              </a:ext>
            </a:extLst>
          </p:cNvPr>
          <p:cNvSpPr txBox="1"/>
          <p:nvPr/>
        </p:nvSpPr>
        <p:spPr>
          <a:xfrm>
            <a:off x="7776996" y="446455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32" name="Oval 131">
            <a:extLst>
              <a:ext uri="{FF2B5EF4-FFF2-40B4-BE49-F238E27FC236}">
                <a16:creationId xmlns:a16="http://schemas.microsoft.com/office/drawing/2014/main" id="{F8F71875-EB18-6912-C6DD-F8C7FCBE036A}"/>
              </a:ext>
            </a:extLst>
          </p:cNvPr>
          <p:cNvSpPr/>
          <p:nvPr/>
        </p:nvSpPr>
        <p:spPr>
          <a:xfrm>
            <a:off x="9252225" y="449199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3" name="TextBox 132">
            <a:extLst>
              <a:ext uri="{FF2B5EF4-FFF2-40B4-BE49-F238E27FC236}">
                <a16:creationId xmlns:a16="http://schemas.microsoft.com/office/drawing/2014/main" id="{9854839A-6003-E67A-A005-8D804D3B62C3}"/>
              </a:ext>
            </a:extLst>
          </p:cNvPr>
          <p:cNvSpPr txBox="1"/>
          <p:nvPr/>
        </p:nvSpPr>
        <p:spPr>
          <a:xfrm>
            <a:off x="9252225" y="446455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34" name="Oval 133">
            <a:extLst>
              <a:ext uri="{FF2B5EF4-FFF2-40B4-BE49-F238E27FC236}">
                <a16:creationId xmlns:a16="http://schemas.microsoft.com/office/drawing/2014/main" id="{BB6DC475-9572-2FAE-E696-11328F06F34C}"/>
              </a:ext>
            </a:extLst>
          </p:cNvPr>
          <p:cNvSpPr/>
          <p:nvPr/>
        </p:nvSpPr>
        <p:spPr>
          <a:xfrm>
            <a:off x="10596825" y="449199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5" name="TextBox 134">
            <a:extLst>
              <a:ext uri="{FF2B5EF4-FFF2-40B4-BE49-F238E27FC236}">
                <a16:creationId xmlns:a16="http://schemas.microsoft.com/office/drawing/2014/main" id="{60B30EF0-83F5-E33F-51BD-AFAA5795CF4A}"/>
              </a:ext>
            </a:extLst>
          </p:cNvPr>
          <p:cNvSpPr txBox="1"/>
          <p:nvPr/>
        </p:nvSpPr>
        <p:spPr>
          <a:xfrm>
            <a:off x="10596825" y="446455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36" name="Oval 135">
            <a:extLst>
              <a:ext uri="{FF2B5EF4-FFF2-40B4-BE49-F238E27FC236}">
                <a16:creationId xmlns:a16="http://schemas.microsoft.com/office/drawing/2014/main" id="{E7ED252D-3F86-BB9C-3664-7071DA1515F3}"/>
              </a:ext>
            </a:extLst>
          </p:cNvPr>
          <p:cNvSpPr/>
          <p:nvPr/>
        </p:nvSpPr>
        <p:spPr>
          <a:xfrm>
            <a:off x="11977054" y="449199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7" name="TextBox 136">
            <a:extLst>
              <a:ext uri="{FF2B5EF4-FFF2-40B4-BE49-F238E27FC236}">
                <a16:creationId xmlns:a16="http://schemas.microsoft.com/office/drawing/2014/main" id="{B9BA52F0-B27A-A8E5-4391-71A0A6C9AB7B}"/>
              </a:ext>
            </a:extLst>
          </p:cNvPr>
          <p:cNvSpPr txBox="1"/>
          <p:nvPr/>
        </p:nvSpPr>
        <p:spPr>
          <a:xfrm>
            <a:off x="11977054" y="446455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38" name="Oval 137">
            <a:extLst>
              <a:ext uri="{FF2B5EF4-FFF2-40B4-BE49-F238E27FC236}">
                <a16:creationId xmlns:a16="http://schemas.microsoft.com/office/drawing/2014/main" id="{82508221-767B-B2E5-2453-3DC28B4FC497}"/>
              </a:ext>
            </a:extLst>
          </p:cNvPr>
          <p:cNvSpPr/>
          <p:nvPr/>
        </p:nvSpPr>
        <p:spPr>
          <a:xfrm>
            <a:off x="13547285" y="449199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39" name="TextBox 138">
            <a:extLst>
              <a:ext uri="{FF2B5EF4-FFF2-40B4-BE49-F238E27FC236}">
                <a16:creationId xmlns:a16="http://schemas.microsoft.com/office/drawing/2014/main" id="{D4A491AD-00A4-202D-C61A-C75ABFFE7A67}"/>
              </a:ext>
            </a:extLst>
          </p:cNvPr>
          <p:cNvSpPr txBox="1"/>
          <p:nvPr/>
        </p:nvSpPr>
        <p:spPr>
          <a:xfrm>
            <a:off x="13547285" y="446455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40" name="TextBox 139">
            <a:extLst>
              <a:ext uri="{FF2B5EF4-FFF2-40B4-BE49-F238E27FC236}">
                <a16:creationId xmlns:a16="http://schemas.microsoft.com/office/drawing/2014/main" id="{990B4663-A6A5-B9B5-EB1B-5B24A6B748F1}"/>
              </a:ext>
            </a:extLst>
          </p:cNvPr>
          <p:cNvSpPr txBox="1"/>
          <p:nvPr/>
        </p:nvSpPr>
        <p:spPr>
          <a:xfrm>
            <a:off x="804672" y="4841748"/>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PD TTC</a:t>
            </a:r>
          </a:p>
        </p:txBody>
      </p:sp>
      <p:sp>
        <p:nvSpPr>
          <p:cNvPr id="141" name="Oval 140">
            <a:extLst>
              <a:ext uri="{FF2B5EF4-FFF2-40B4-BE49-F238E27FC236}">
                <a16:creationId xmlns:a16="http://schemas.microsoft.com/office/drawing/2014/main" id="{F7B8CF1A-257E-6885-0E14-53A0E9CA68B7}"/>
              </a:ext>
            </a:extLst>
          </p:cNvPr>
          <p:cNvSpPr/>
          <p:nvPr/>
        </p:nvSpPr>
        <p:spPr>
          <a:xfrm>
            <a:off x="3743199" y="487146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2" name="TextBox 141">
            <a:extLst>
              <a:ext uri="{FF2B5EF4-FFF2-40B4-BE49-F238E27FC236}">
                <a16:creationId xmlns:a16="http://schemas.microsoft.com/office/drawing/2014/main" id="{453718DA-5657-52A2-E6CE-FB4A3A3147EA}"/>
              </a:ext>
            </a:extLst>
          </p:cNvPr>
          <p:cNvSpPr txBox="1"/>
          <p:nvPr/>
        </p:nvSpPr>
        <p:spPr>
          <a:xfrm>
            <a:off x="3743199" y="484403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43" name="Oval 142">
            <a:extLst>
              <a:ext uri="{FF2B5EF4-FFF2-40B4-BE49-F238E27FC236}">
                <a16:creationId xmlns:a16="http://schemas.microsoft.com/office/drawing/2014/main" id="{F90E6D51-9A0D-1CBA-D4D9-34CAD9AFE55D}"/>
              </a:ext>
            </a:extLst>
          </p:cNvPr>
          <p:cNvSpPr/>
          <p:nvPr/>
        </p:nvSpPr>
        <p:spPr>
          <a:xfrm>
            <a:off x="4980922" y="487146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4" name="TextBox 143">
            <a:extLst>
              <a:ext uri="{FF2B5EF4-FFF2-40B4-BE49-F238E27FC236}">
                <a16:creationId xmlns:a16="http://schemas.microsoft.com/office/drawing/2014/main" id="{0B54C832-B02B-F1AA-FF1B-5B32A7349AC0}"/>
              </a:ext>
            </a:extLst>
          </p:cNvPr>
          <p:cNvSpPr txBox="1"/>
          <p:nvPr/>
        </p:nvSpPr>
        <p:spPr>
          <a:xfrm>
            <a:off x="4980922" y="484403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45" name="Oval 144">
            <a:extLst>
              <a:ext uri="{FF2B5EF4-FFF2-40B4-BE49-F238E27FC236}">
                <a16:creationId xmlns:a16="http://schemas.microsoft.com/office/drawing/2014/main" id="{1313AABB-8C1E-6C4F-98FA-537B9370A643}"/>
              </a:ext>
            </a:extLst>
          </p:cNvPr>
          <p:cNvSpPr/>
          <p:nvPr/>
        </p:nvSpPr>
        <p:spPr>
          <a:xfrm>
            <a:off x="6278019" y="487146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6" name="TextBox 145">
            <a:extLst>
              <a:ext uri="{FF2B5EF4-FFF2-40B4-BE49-F238E27FC236}">
                <a16:creationId xmlns:a16="http://schemas.microsoft.com/office/drawing/2014/main" id="{CF04503A-D5C1-3EAC-BF96-C6DA97CD8032}"/>
              </a:ext>
            </a:extLst>
          </p:cNvPr>
          <p:cNvSpPr txBox="1"/>
          <p:nvPr/>
        </p:nvSpPr>
        <p:spPr>
          <a:xfrm>
            <a:off x="6278019" y="484403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47" name="Oval 146">
            <a:extLst>
              <a:ext uri="{FF2B5EF4-FFF2-40B4-BE49-F238E27FC236}">
                <a16:creationId xmlns:a16="http://schemas.microsoft.com/office/drawing/2014/main" id="{10A4E6CF-C7E8-2CBA-9C9A-8120BA2D579F}"/>
              </a:ext>
            </a:extLst>
          </p:cNvPr>
          <p:cNvSpPr/>
          <p:nvPr/>
        </p:nvSpPr>
        <p:spPr>
          <a:xfrm>
            <a:off x="7776996" y="487146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48" name="TextBox 147">
            <a:extLst>
              <a:ext uri="{FF2B5EF4-FFF2-40B4-BE49-F238E27FC236}">
                <a16:creationId xmlns:a16="http://schemas.microsoft.com/office/drawing/2014/main" id="{BA00DB49-5768-0BC8-E61F-BF675AD1C7A8}"/>
              </a:ext>
            </a:extLst>
          </p:cNvPr>
          <p:cNvSpPr txBox="1"/>
          <p:nvPr/>
        </p:nvSpPr>
        <p:spPr>
          <a:xfrm>
            <a:off x="7776996" y="484403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49" name="Oval 148">
            <a:extLst>
              <a:ext uri="{FF2B5EF4-FFF2-40B4-BE49-F238E27FC236}">
                <a16:creationId xmlns:a16="http://schemas.microsoft.com/office/drawing/2014/main" id="{495FE17D-9BAE-FA04-B348-E824D96AFD6A}"/>
              </a:ext>
            </a:extLst>
          </p:cNvPr>
          <p:cNvSpPr/>
          <p:nvPr/>
        </p:nvSpPr>
        <p:spPr>
          <a:xfrm>
            <a:off x="9252225" y="487146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0" name="TextBox 149">
            <a:extLst>
              <a:ext uri="{FF2B5EF4-FFF2-40B4-BE49-F238E27FC236}">
                <a16:creationId xmlns:a16="http://schemas.microsoft.com/office/drawing/2014/main" id="{09ABAD93-358F-4AD4-4086-3BF3EF20872B}"/>
              </a:ext>
            </a:extLst>
          </p:cNvPr>
          <p:cNvSpPr txBox="1"/>
          <p:nvPr/>
        </p:nvSpPr>
        <p:spPr>
          <a:xfrm>
            <a:off x="9252225" y="484403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51" name="Oval 150">
            <a:extLst>
              <a:ext uri="{FF2B5EF4-FFF2-40B4-BE49-F238E27FC236}">
                <a16:creationId xmlns:a16="http://schemas.microsoft.com/office/drawing/2014/main" id="{179250F0-A69D-ADE0-E26C-B8BF5FE3BA7F}"/>
              </a:ext>
            </a:extLst>
          </p:cNvPr>
          <p:cNvSpPr/>
          <p:nvPr/>
        </p:nvSpPr>
        <p:spPr>
          <a:xfrm>
            <a:off x="10596825" y="487146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2" name="TextBox 151">
            <a:extLst>
              <a:ext uri="{FF2B5EF4-FFF2-40B4-BE49-F238E27FC236}">
                <a16:creationId xmlns:a16="http://schemas.microsoft.com/office/drawing/2014/main" id="{BD9B7DAE-FAD5-63D5-1D8D-8949845513F8}"/>
              </a:ext>
            </a:extLst>
          </p:cNvPr>
          <p:cNvSpPr txBox="1"/>
          <p:nvPr/>
        </p:nvSpPr>
        <p:spPr>
          <a:xfrm>
            <a:off x="10596825" y="484403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53" name="Oval 152">
            <a:extLst>
              <a:ext uri="{FF2B5EF4-FFF2-40B4-BE49-F238E27FC236}">
                <a16:creationId xmlns:a16="http://schemas.microsoft.com/office/drawing/2014/main" id="{C01E5C8E-2094-E683-4250-C86DEA9BEC1F}"/>
              </a:ext>
            </a:extLst>
          </p:cNvPr>
          <p:cNvSpPr/>
          <p:nvPr/>
        </p:nvSpPr>
        <p:spPr>
          <a:xfrm>
            <a:off x="11977054" y="487146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4" name="TextBox 153">
            <a:extLst>
              <a:ext uri="{FF2B5EF4-FFF2-40B4-BE49-F238E27FC236}">
                <a16:creationId xmlns:a16="http://schemas.microsoft.com/office/drawing/2014/main" id="{B6E2A412-70D8-EF16-0BFE-619BC8EC8225}"/>
              </a:ext>
            </a:extLst>
          </p:cNvPr>
          <p:cNvSpPr txBox="1"/>
          <p:nvPr/>
        </p:nvSpPr>
        <p:spPr>
          <a:xfrm>
            <a:off x="11977054" y="484403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55" name="Oval 154">
            <a:extLst>
              <a:ext uri="{FF2B5EF4-FFF2-40B4-BE49-F238E27FC236}">
                <a16:creationId xmlns:a16="http://schemas.microsoft.com/office/drawing/2014/main" id="{0634A89F-B1FA-F0F6-9C4D-804D009EC01C}"/>
              </a:ext>
            </a:extLst>
          </p:cNvPr>
          <p:cNvSpPr/>
          <p:nvPr/>
        </p:nvSpPr>
        <p:spPr>
          <a:xfrm>
            <a:off x="13547285" y="487146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6" name="TextBox 155">
            <a:extLst>
              <a:ext uri="{FF2B5EF4-FFF2-40B4-BE49-F238E27FC236}">
                <a16:creationId xmlns:a16="http://schemas.microsoft.com/office/drawing/2014/main" id="{7ACD7059-D86D-DD78-0295-3E6CF117654C}"/>
              </a:ext>
            </a:extLst>
          </p:cNvPr>
          <p:cNvSpPr txBox="1"/>
          <p:nvPr/>
        </p:nvSpPr>
        <p:spPr>
          <a:xfrm>
            <a:off x="13547285" y="484403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57" name="Rectangle 156">
            <a:extLst>
              <a:ext uri="{FF2B5EF4-FFF2-40B4-BE49-F238E27FC236}">
                <a16:creationId xmlns:a16="http://schemas.microsoft.com/office/drawing/2014/main" id="{286D9B3A-242D-90C5-BF4E-F15860A3E457}"/>
              </a:ext>
            </a:extLst>
          </p:cNvPr>
          <p:cNvSpPr/>
          <p:nvPr/>
        </p:nvSpPr>
        <p:spPr>
          <a:xfrm>
            <a:off x="658368" y="5138928"/>
            <a:ext cx="14939284" cy="37947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8" name="TextBox 157">
            <a:extLst>
              <a:ext uri="{FF2B5EF4-FFF2-40B4-BE49-F238E27FC236}">
                <a16:creationId xmlns:a16="http://schemas.microsoft.com/office/drawing/2014/main" id="{EC7DCA4B-76F8-1B71-62C5-1F2F2381B4C4}"/>
              </a:ext>
            </a:extLst>
          </p:cNvPr>
          <p:cNvSpPr txBox="1"/>
          <p:nvPr/>
        </p:nvSpPr>
        <p:spPr>
          <a:xfrm>
            <a:off x="804672" y="5221224"/>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Segmentación</a:t>
            </a:r>
          </a:p>
        </p:txBody>
      </p:sp>
      <p:sp>
        <p:nvSpPr>
          <p:cNvPr id="159" name="Oval 158">
            <a:extLst>
              <a:ext uri="{FF2B5EF4-FFF2-40B4-BE49-F238E27FC236}">
                <a16:creationId xmlns:a16="http://schemas.microsoft.com/office/drawing/2014/main" id="{D492BDD8-5B24-B247-5E24-B6C72BCFA1B1}"/>
              </a:ext>
            </a:extLst>
          </p:cNvPr>
          <p:cNvSpPr/>
          <p:nvPr/>
        </p:nvSpPr>
        <p:spPr>
          <a:xfrm>
            <a:off x="3743199" y="525094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0" name="TextBox 159">
            <a:extLst>
              <a:ext uri="{FF2B5EF4-FFF2-40B4-BE49-F238E27FC236}">
                <a16:creationId xmlns:a16="http://schemas.microsoft.com/office/drawing/2014/main" id="{37292798-96ED-3520-C34C-959DC4ACFED9}"/>
              </a:ext>
            </a:extLst>
          </p:cNvPr>
          <p:cNvSpPr txBox="1"/>
          <p:nvPr/>
        </p:nvSpPr>
        <p:spPr>
          <a:xfrm>
            <a:off x="3743199" y="522350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61" name="Oval 160">
            <a:extLst>
              <a:ext uri="{FF2B5EF4-FFF2-40B4-BE49-F238E27FC236}">
                <a16:creationId xmlns:a16="http://schemas.microsoft.com/office/drawing/2014/main" id="{E69C587E-71F0-731B-19F9-734EF9FCA3E8}"/>
              </a:ext>
            </a:extLst>
          </p:cNvPr>
          <p:cNvSpPr/>
          <p:nvPr/>
        </p:nvSpPr>
        <p:spPr>
          <a:xfrm>
            <a:off x="4980922" y="525094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2" name="TextBox 161">
            <a:extLst>
              <a:ext uri="{FF2B5EF4-FFF2-40B4-BE49-F238E27FC236}">
                <a16:creationId xmlns:a16="http://schemas.microsoft.com/office/drawing/2014/main" id="{310B654A-8EB1-3689-318E-21A60761EBCA}"/>
              </a:ext>
            </a:extLst>
          </p:cNvPr>
          <p:cNvSpPr txBox="1"/>
          <p:nvPr/>
        </p:nvSpPr>
        <p:spPr>
          <a:xfrm>
            <a:off x="4980922" y="522350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63" name="Oval 162">
            <a:extLst>
              <a:ext uri="{FF2B5EF4-FFF2-40B4-BE49-F238E27FC236}">
                <a16:creationId xmlns:a16="http://schemas.microsoft.com/office/drawing/2014/main" id="{8E31F82D-9025-3025-7F32-73C6CB6401A0}"/>
              </a:ext>
            </a:extLst>
          </p:cNvPr>
          <p:cNvSpPr/>
          <p:nvPr/>
        </p:nvSpPr>
        <p:spPr>
          <a:xfrm>
            <a:off x="6278019" y="525094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4" name="TextBox 163">
            <a:extLst>
              <a:ext uri="{FF2B5EF4-FFF2-40B4-BE49-F238E27FC236}">
                <a16:creationId xmlns:a16="http://schemas.microsoft.com/office/drawing/2014/main" id="{B567613B-3285-57C4-81BB-F4F11737A70E}"/>
              </a:ext>
            </a:extLst>
          </p:cNvPr>
          <p:cNvSpPr txBox="1"/>
          <p:nvPr/>
        </p:nvSpPr>
        <p:spPr>
          <a:xfrm>
            <a:off x="6278019" y="522350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65" name="Oval 164">
            <a:extLst>
              <a:ext uri="{FF2B5EF4-FFF2-40B4-BE49-F238E27FC236}">
                <a16:creationId xmlns:a16="http://schemas.microsoft.com/office/drawing/2014/main" id="{E3D0551C-D5DC-AE76-1C0B-16B158EC84F8}"/>
              </a:ext>
            </a:extLst>
          </p:cNvPr>
          <p:cNvSpPr/>
          <p:nvPr/>
        </p:nvSpPr>
        <p:spPr>
          <a:xfrm>
            <a:off x="7776996" y="525094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6" name="TextBox 165">
            <a:extLst>
              <a:ext uri="{FF2B5EF4-FFF2-40B4-BE49-F238E27FC236}">
                <a16:creationId xmlns:a16="http://schemas.microsoft.com/office/drawing/2014/main" id="{98398804-A142-5AFB-C954-BE8FA01B7F20}"/>
              </a:ext>
            </a:extLst>
          </p:cNvPr>
          <p:cNvSpPr txBox="1"/>
          <p:nvPr/>
        </p:nvSpPr>
        <p:spPr>
          <a:xfrm>
            <a:off x="7776996" y="522350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67" name="Oval 166">
            <a:extLst>
              <a:ext uri="{FF2B5EF4-FFF2-40B4-BE49-F238E27FC236}">
                <a16:creationId xmlns:a16="http://schemas.microsoft.com/office/drawing/2014/main" id="{F6C1F75C-C991-4689-08FC-1600347A8659}"/>
              </a:ext>
            </a:extLst>
          </p:cNvPr>
          <p:cNvSpPr/>
          <p:nvPr/>
        </p:nvSpPr>
        <p:spPr>
          <a:xfrm>
            <a:off x="9252225" y="525094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68" name="TextBox 167">
            <a:extLst>
              <a:ext uri="{FF2B5EF4-FFF2-40B4-BE49-F238E27FC236}">
                <a16:creationId xmlns:a16="http://schemas.microsoft.com/office/drawing/2014/main" id="{7CA461E5-D8DC-38A2-48CA-BBE554DDDF62}"/>
              </a:ext>
            </a:extLst>
          </p:cNvPr>
          <p:cNvSpPr txBox="1"/>
          <p:nvPr/>
        </p:nvSpPr>
        <p:spPr>
          <a:xfrm>
            <a:off x="9252225" y="522350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69" name="Oval 168">
            <a:extLst>
              <a:ext uri="{FF2B5EF4-FFF2-40B4-BE49-F238E27FC236}">
                <a16:creationId xmlns:a16="http://schemas.microsoft.com/office/drawing/2014/main" id="{9A492E1D-0823-F45A-3EAE-A00DFDD0DE78}"/>
              </a:ext>
            </a:extLst>
          </p:cNvPr>
          <p:cNvSpPr/>
          <p:nvPr/>
        </p:nvSpPr>
        <p:spPr>
          <a:xfrm>
            <a:off x="10596825" y="525094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0" name="TextBox 169">
            <a:extLst>
              <a:ext uri="{FF2B5EF4-FFF2-40B4-BE49-F238E27FC236}">
                <a16:creationId xmlns:a16="http://schemas.microsoft.com/office/drawing/2014/main" id="{53DD7894-23AD-6FFA-3D33-6F068E50DBCB}"/>
              </a:ext>
            </a:extLst>
          </p:cNvPr>
          <p:cNvSpPr txBox="1"/>
          <p:nvPr/>
        </p:nvSpPr>
        <p:spPr>
          <a:xfrm>
            <a:off x="10596825" y="522350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71" name="Oval 170">
            <a:extLst>
              <a:ext uri="{FF2B5EF4-FFF2-40B4-BE49-F238E27FC236}">
                <a16:creationId xmlns:a16="http://schemas.microsoft.com/office/drawing/2014/main" id="{B6001874-F80B-FF66-8619-1947C548137D}"/>
              </a:ext>
            </a:extLst>
          </p:cNvPr>
          <p:cNvSpPr/>
          <p:nvPr/>
        </p:nvSpPr>
        <p:spPr>
          <a:xfrm>
            <a:off x="11977054" y="525094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2" name="TextBox 171">
            <a:extLst>
              <a:ext uri="{FF2B5EF4-FFF2-40B4-BE49-F238E27FC236}">
                <a16:creationId xmlns:a16="http://schemas.microsoft.com/office/drawing/2014/main" id="{21929ED7-C893-256A-9A44-1A80D8B90F82}"/>
              </a:ext>
            </a:extLst>
          </p:cNvPr>
          <p:cNvSpPr txBox="1"/>
          <p:nvPr/>
        </p:nvSpPr>
        <p:spPr>
          <a:xfrm>
            <a:off x="11977054" y="522350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73" name="Oval 172">
            <a:extLst>
              <a:ext uri="{FF2B5EF4-FFF2-40B4-BE49-F238E27FC236}">
                <a16:creationId xmlns:a16="http://schemas.microsoft.com/office/drawing/2014/main" id="{198F4A9C-1875-E9B8-C8E8-1788E65CFD1A}"/>
              </a:ext>
            </a:extLst>
          </p:cNvPr>
          <p:cNvSpPr/>
          <p:nvPr/>
        </p:nvSpPr>
        <p:spPr>
          <a:xfrm>
            <a:off x="13547285" y="525094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4" name="TextBox 173">
            <a:extLst>
              <a:ext uri="{FF2B5EF4-FFF2-40B4-BE49-F238E27FC236}">
                <a16:creationId xmlns:a16="http://schemas.microsoft.com/office/drawing/2014/main" id="{4AAB06BB-F619-7997-03FE-91F5BE4302A0}"/>
              </a:ext>
            </a:extLst>
          </p:cNvPr>
          <p:cNvSpPr txBox="1"/>
          <p:nvPr/>
        </p:nvSpPr>
        <p:spPr>
          <a:xfrm>
            <a:off x="13547285" y="522350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75" name="TextBox 174">
            <a:extLst>
              <a:ext uri="{FF2B5EF4-FFF2-40B4-BE49-F238E27FC236}">
                <a16:creationId xmlns:a16="http://schemas.microsoft.com/office/drawing/2014/main" id="{7E5EE42C-F25F-B994-3BB4-9ABE80D7B8DD}"/>
              </a:ext>
            </a:extLst>
          </p:cNvPr>
          <p:cNvSpPr txBox="1"/>
          <p:nvPr/>
        </p:nvSpPr>
        <p:spPr>
          <a:xfrm>
            <a:off x="804672" y="5600700"/>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Sensibilidad</a:t>
            </a:r>
          </a:p>
        </p:txBody>
      </p:sp>
      <p:sp>
        <p:nvSpPr>
          <p:cNvPr id="176" name="Oval 175">
            <a:extLst>
              <a:ext uri="{FF2B5EF4-FFF2-40B4-BE49-F238E27FC236}">
                <a16:creationId xmlns:a16="http://schemas.microsoft.com/office/drawing/2014/main" id="{37062648-C8A3-2E91-D4D1-2EA97F1F8108}"/>
              </a:ext>
            </a:extLst>
          </p:cNvPr>
          <p:cNvSpPr/>
          <p:nvPr/>
        </p:nvSpPr>
        <p:spPr>
          <a:xfrm>
            <a:off x="3743199" y="563041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7" name="TextBox 176">
            <a:extLst>
              <a:ext uri="{FF2B5EF4-FFF2-40B4-BE49-F238E27FC236}">
                <a16:creationId xmlns:a16="http://schemas.microsoft.com/office/drawing/2014/main" id="{9FB238F6-FEDE-F0C5-23E0-0F632CCBDC30}"/>
              </a:ext>
            </a:extLst>
          </p:cNvPr>
          <p:cNvSpPr txBox="1"/>
          <p:nvPr/>
        </p:nvSpPr>
        <p:spPr>
          <a:xfrm>
            <a:off x="3743199" y="560298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78" name="Oval 177">
            <a:extLst>
              <a:ext uri="{FF2B5EF4-FFF2-40B4-BE49-F238E27FC236}">
                <a16:creationId xmlns:a16="http://schemas.microsoft.com/office/drawing/2014/main" id="{D351C66D-C18B-0BB4-FA30-8B6C0B9FEE24}"/>
              </a:ext>
            </a:extLst>
          </p:cNvPr>
          <p:cNvSpPr/>
          <p:nvPr/>
        </p:nvSpPr>
        <p:spPr>
          <a:xfrm>
            <a:off x="4980922" y="563041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9" name="TextBox 178">
            <a:extLst>
              <a:ext uri="{FF2B5EF4-FFF2-40B4-BE49-F238E27FC236}">
                <a16:creationId xmlns:a16="http://schemas.microsoft.com/office/drawing/2014/main" id="{9D32B392-B31E-AEAF-6BA2-8E2FFB7CC649}"/>
              </a:ext>
            </a:extLst>
          </p:cNvPr>
          <p:cNvSpPr txBox="1"/>
          <p:nvPr/>
        </p:nvSpPr>
        <p:spPr>
          <a:xfrm>
            <a:off x="4980922" y="560298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80" name="Oval 179">
            <a:extLst>
              <a:ext uri="{FF2B5EF4-FFF2-40B4-BE49-F238E27FC236}">
                <a16:creationId xmlns:a16="http://schemas.microsoft.com/office/drawing/2014/main" id="{B58A2479-46F4-FBF9-F404-EEB35B24C276}"/>
              </a:ext>
            </a:extLst>
          </p:cNvPr>
          <p:cNvSpPr/>
          <p:nvPr/>
        </p:nvSpPr>
        <p:spPr>
          <a:xfrm>
            <a:off x="6278019" y="563041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1" name="TextBox 180">
            <a:extLst>
              <a:ext uri="{FF2B5EF4-FFF2-40B4-BE49-F238E27FC236}">
                <a16:creationId xmlns:a16="http://schemas.microsoft.com/office/drawing/2014/main" id="{2D449235-5959-C76C-380C-7A0BFB50BAE3}"/>
              </a:ext>
            </a:extLst>
          </p:cNvPr>
          <p:cNvSpPr txBox="1"/>
          <p:nvPr/>
        </p:nvSpPr>
        <p:spPr>
          <a:xfrm>
            <a:off x="6278019" y="560298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82" name="Oval 181">
            <a:extLst>
              <a:ext uri="{FF2B5EF4-FFF2-40B4-BE49-F238E27FC236}">
                <a16:creationId xmlns:a16="http://schemas.microsoft.com/office/drawing/2014/main" id="{613F6464-66D9-67DE-19FF-D9683939C86B}"/>
              </a:ext>
            </a:extLst>
          </p:cNvPr>
          <p:cNvSpPr/>
          <p:nvPr/>
        </p:nvSpPr>
        <p:spPr>
          <a:xfrm>
            <a:off x="7776996" y="563041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3" name="TextBox 182">
            <a:extLst>
              <a:ext uri="{FF2B5EF4-FFF2-40B4-BE49-F238E27FC236}">
                <a16:creationId xmlns:a16="http://schemas.microsoft.com/office/drawing/2014/main" id="{1CFF84A8-8D46-3BA5-8951-ED4F93020288}"/>
              </a:ext>
            </a:extLst>
          </p:cNvPr>
          <p:cNvSpPr txBox="1"/>
          <p:nvPr/>
        </p:nvSpPr>
        <p:spPr>
          <a:xfrm>
            <a:off x="7776996" y="560298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84" name="Oval 183">
            <a:extLst>
              <a:ext uri="{FF2B5EF4-FFF2-40B4-BE49-F238E27FC236}">
                <a16:creationId xmlns:a16="http://schemas.microsoft.com/office/drawing/2014/main" id="{D7905296-7B19-9043-7806-30E55EBAB54D}"/>
              </a:ext>
            </a:extLst>
          </p:cNvPr>
          <p:cNvSpPr/>
          <p:nvPr/>
        </p:nvSpPr>
        <p:spPr>
          <a:xfrm>
            <a:off x="9252225" y="563041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5" name="TextBox 184">
            <a:extLst>
              <a:ext uri="{FF2B5EF4-FFF2-40B4-BE49-F238E27FC236}">
                <a16:creationId xmlns:a16="http://schemas.microsoft.com/office/drawing/2014/main" id="{32E46AFC-FAAC-30BC-F182-1AFFBB7F21B2}"/>
              </a:ext>
            </a:extLst>
          </p:cNvPr>
          <p:cNvSpPr txBox="1"/>
          <p:nvPr/>
        </p:nvSpPr>
        <p:spPr>
          <a:xfrm>
            <a:off x="9252225" y="560298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86" name="Oval 185">
            <a:extLst>
              <a:ext uri="{FF2B5EF4-FFF2-40B4-BE49-F238E27FC236}">
                <a16:creationId xmlns:a16="http://schemas.microsoft.com/office/drawing/2014/main" id="{E46E3AFC-4AA2-3421-1F06-AACFA26E43BD}"/>
              </a:ext>
            </a:extLst>
          </p:cNvPr>
          <p:cNvSpPr/>
          <p:nvPr/>
        </p:nvSpPr>
        <p:spPr>
          <a:xfrm>
            <a:off x="10596825" y="563041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7" name="TextBox 186">
            <a:extLst>
              <a:ext uri="{FF2B5EF4-FFF2-40B4-BE49-F238E27FC236}">
                <a16:creationId xmlns:a16="http://schemas.microsoft.com/office/drawing/2014/main" id="{DB4A58A4-B909-3D27-09FF-5137D4284D42}"/>
              </a:ext>
            </a:extLst>
          </p:cNvPr>
          <p:cNvSpPr txBox="1"/>
          <p:nvPr/>
        </p:nvSpPr>
        <p:spPr>
          <a:xfrm>
            <a:off x="10596825" y="560298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88" name="Oval 187">
            <a:extLst>
              <a:ext uri="{FF2B5EF4-FFF2-40B4-BE49-F238E27FC236}">
                <a16:creationId xmlns:a16="http://schemas.microsoft.com/office/drawing/2014/main" id="{69D0BBCE-1509-2AA2-D9D4-B1596891988E}"/>
              </a:ext>
            </a:extLst>
          </p:cNvPr>
          <p:cNvSpPr/>
          <p:nvPr/>
        </p:nvSpPr>
        <p:spPr>
          <a:xfrm>
            <a:off x="11977054" y="563041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89" name="TextBox 188">
            <a:extLst>
              <a:ext uri="{FF2B5EF4-FFF2-40B4-BE49-F238E27FC236}">
                <a16:creationId xmlns:a16="http://schemas.microsoft.com/office/drawing/2014/main" id="{2BACD385-378A-2CFE-2217-3B0D4A5B1DBC}"/>
              </a:ext>
            </a:extLst>
          </p:cNvPr>
          <p:cNvSpPr txBox="1"/>
          <p:nvPr/>
        </p:nvSpPr>
        <p:spPr>
          <a:xfrm>
            <a:off x="11977054" y="560298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90" name="Oval 189">
            <a:extLst>
              <a:ext uri="{FF2B5EF4-FFF2-40B4-BE49-F238E27FC236}">
                <a16:creationId xmlns:a16="http://schemas.microsoft.com/office/drawing/2014/main" id="{911E6790-A209-550C-35C9-CC4D93F6E8E1}"/>
              </a:ext>
            </a:extLst>
          </p:cNvPr>
          <p:cNvSpPr/>
          <p:nvPr/>
        </p:nvSpPr>
        <p:spPr>
          <a:xfrm>
            <a:off x="13547285" y="563041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1" name="TextBox 190">
            <a:extLst>
              <a:ext uri="{FF2B5EF4-FFF2-40B4-BE49-F238E27FC236}">
                <a16:creationId xmlns:a16="http://schemas.microsoft.com/office/drawing/2014/main" id="{B9D12841-657B-F6E4-5D01-F5BA0C0EA544}"/>
              </a:ext>
            </a:extLst>
          </p:cNvPr>
          <p:cNvSpPr txBox="1"/>
          <p:nvPr/>
        </p:nvSpPr>
        <p:spPr>
          <a:xfrm>
            <a:off x="13547285" y="560298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92" name="Rectangle 191">
            <a:extLst>
              <a:ext uri="{FF2B5EF4-FFF2-40B4-BE49-F238E27FC236}">
                <a16:creationId xmlns:a16="http://schemas.microsoft.com/office/drawing/2014/main" id="{E1045D89-4464-92F3-A739-927D9652633E}"/>
              </a:ext>
            </a:extLst>
          </p:cNvPr>
          <p:cNvSpPr/>
          <p:nvPr/>
        </p:nvSpPr>
        <p:spPr>
          <a:xfrm>
            <a:off x="658368" y="5897880"/>
            <a:ext cx="14939284" cy="379476"/>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3" name="TextBox 192">
            <a:extLst>
              <a:ext uri="{FF2B5EF4-FFF2-40B4-BE49-F238E27FC236}">
                <a16:creationId xmlns:a16="http://schemas.microsoft.com/office/drawing/2014/main" id="{93D2C90C-2A60-579F-351F-FA6B70C62F23}"/>
              </a:ext>
            </a:extLst>
          </p:cNvPr>
          <p:cNvSpPr txBox="1"/>
          <p:nvPr/>
        </p:nvSpPr>
        <p:spPr>
          <a:xfrm>
            <a:off x="804672" y="5980176"/>
            <a:ext cx="2103120" cy="184666"/>
          </a:xfrm>
          <a:prstGeom prst="rect">
            <a:avLst/>
          </a:prstGeom>
          <a:noFill/>
        </p:spPr>
        <p:txBody>
          <a:bodyPr wrap="square" lIns="0" tIns="0" rIns="0" bIns="0" anchor="t">
            <a:spAutoFit/>
          </a:bodyPr>
          <a:lstStyle/>
          <a:p>
            <a:pPr algn="l">
              <a:lnSpc>
                <a:spcPct val="100000"/>
              </a:lnSpc>
            </a:pPr>
            <a:r>
              <a:rPr sz="1200" b="1" i="0">
                <a:solidFill>
                  <a:srgbClr val="0B2E2C"/>
                </a:solidFill>
                <a:latin typeface="Arial"/>
              </a:rPr>
              <a:t>PLV</a:t>
            </a:r>
          </a:p>
        </p:txBody>
      </p:sp>
      <p:sp>
        <p:nvSpPr>
          <p:cNvPr id="194" name="Oval 193">
            <a:extLst>
              <a:ext uri="{FF2B5EF4-FFF2-40B4-BE49-F238E27FC236}">
                <a16:creationId xmlns:a16="http://schemas.microsoft.com/office/drawing/2014/main" id="{C0AAAF3D-8721-D1D8-BE00-4633A428B34C}"/>
              </a:ext>
            </a:extLst>
          </p:cNvPr>
          <p:cNvSpPr/>
          <p:nvPr/>
        </p:nvSpPr>
        <p:spPr>
          <a:xfrm>
            <a:off x="3743199" y="600989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5" name="TextBox 194">
            <a:extLst>
              <a:ext uri="{FF2B5EF4-FFF2-40B4-BE49-F238E27FC236}">
                <a16:creationId xmlns:a16="http://schemas.microsoft.com/office/drawing/2014/main" id="{E411A658-FDEC-C154-ECF0-769275607AE4}"/>
              </a:ext>
            </a:extLst>
          </p:cNvPr>
          <p:cNvSpPr txBox="1"/>
          <p:nvPr/>
        </p:nvSpPr>
        <p:spPr>
          <a:xfrm>
            <a:off x="3743199" y="598246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96" name="Oval 195">
            <a:extLst>
              <a:ext uri="{FF2B5EF4-FFF2-40B4-BE49-F238E27FC236}">
                <a16:creationId xmlns:a16="http://schemas.microsoft.com/office/drawing/2014/main" id="{04A522F7-9D0D-BD81-CEB1-A1B6DC95009E}"/>
              </a:ext>
            </a:extLst>
          </p:cNvPr>
          <p:cNvSpPr/>
          <p:nvPr/>
        </p:nvSpPr>
        <p:spPr>
          <a:xfrm>
            <a:off x="4980922" y="600989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7" name="TextBox 196">
            <a:extLst>
              <a:ext uri="{FF2B5EF4-FFF2-40B4-BE49-F238E27FC236}">
                <a16:creationId xmlns:a16="http://schemas.microsoft.com/office/drawing/2014/main" id="{BD8DD9C8-CB51-9F08-D981-5F8FD9AE18B2}"/>
              </a:ext>
            </a:extLst>
          </p:cNvPr>
          <p:cNvSpPr txBox="1"/>
          <p:nvPr/>
        </p:nvSpPr>
        <p:spPr>
          <a:xfrm>
            <a:off x="4980922" y="598246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98" name="Oval 197">
            <a:extLst>
              <a:ext uri="{FF2B5EF4-FFF2-40B4-BE49-F238E27FC236}">
                <a16:creationId xmlns:a16="http://schemas.microsoft.com/office/drawing/2014/main" id="{CB98BA77-B686-DCE0-97D0-37657BA81847}"/>
              </a:ext>
            </a:extLst>
          </p:cNvPr>
          <p:cNvSpPr/>
          <p:nvPr/>
        </p:nvSpPr>
        <p:spPr>
          <a:xfrm>
            <a:off x="6278019" y="600989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9" name="TextBox 198">
            <a:extLst>
              <a:ext uri="{FF2B5EF4-FFF2-40B4-BE49-F238E27FC236}">
                <a16:creationId xmlns:a16="http://schemas.microsoft.com/office/drawing/2014/main" id="{5BBDB06B-65B2-5584-27E4-6D679D851465}"/>
              </a:ext>
            </a:extLst>
          </p:cNvPr>
          <p:cNvSpPr txBox="1"/>
          <p:nvPr/>
        </p:nvSpPr>
        <p:spPr>
          <a:xfrm>
            <a:off x="6278019" y="598246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00" name="Oval 199">
            <a:extLst>
              <a:ext uri="{FF2B5EF4-FFF2-40B4-BE49-F238E27FC236}">
                <a16:creationId xmlns:a16="http://schemas.microsoft.com/office/drawing/2014/main" id="{8C0173B0-10F6-14EB-27EC-BB436C24F6EB}"/>
              </a:ext>
            </a:extLst>
          </p:cNvPr>
          <p:cNvSpPr/>
          <p:nvPr/>
        </p:nvSpPr>
        <p:spPr>
          <a:xfrm>
            <a:off x="7776996" y="600989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01" name="TextBox 200">
            <a:extLst>
              <a:ext uri="{FF2B5EF4-FFF2-40B4-BE49-F238E27FC236}">
                <a16:creationId xmlns:a16="http://schemas.microsoft.com/office/drawing/2014/main" id="{5A11D5B7-3909-D685-155A-D1EBA7F909B7}"/>
              </a:ext>
            </a:extLst>
          </p:cNvPr>
          <p:cNvSpPr txBox="1"/>
          <p:nvPr/>
        </p:nvSpPr>
        <p:spPr>
          <a:xfrm>
            <a:off x="7776996" y="598246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02" name="Oval 201">
            <a:extLst>
              <a:ext uri="{FF2B5EF4-FFF2-40B4-BE49-F238E27FC236}">
                <a16:creationId xmlns:a16="http://schemas.microsoft.com/office/drawing/2014/main" id="{0D7DD77B-348A-BAB9-2FA7-FD6E975D49B9}"/>
              </a:ext>
            </a:extLst>
          </p:cNvPr>
          <p:cNvSpPr/>
          <p:nvPr/>
        </p:nvSpPr>
        <p:spPr>
          <a:xfrm>
            <a:off x="9252225" y="600989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03" name="TextBox 202">
            <a:extLst>
              <a:ext uri="{FF2B5EF4-FFF2-40B4-BE49-F238E27FC236}">
                <a16:creationId xmlns:a16="http://schemas.microsoft.com/office/drawing/2014/main" id="{56957C5B-7097-4901-A9A4-E3915C1BFE76}"/>
              </a:ext>
            </a:extLst>
          </p:cNvPr>
          <p:cNvSpPr txBox="1"/>
          <p:nvPr/>
        </p:nvSpPr>
        <p:spPr>
          <a:xfrm>
            <a:off x="9252225" y="598246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04" name="Oval 203">
            <a:extLst>
              <a:ext uri="{FF2B5EF4-FFF2-40B4-BE49-F238E27FC236}">
                <a16:creationId xmlns:a16="http://schemas.microsoft.com/office/drawing/2014/main" id="{B078EAE0-8AFE-B5F5-363E-07709BC36AAB}"/>
              </a:ext>
            </a:extLst>
          </p:cNvPr>
          <p:cNvSpPr/>
          <p:nvPr/>
        </p:nvSpPr>
        <p:spPr>
          <a:xfrm>
            <a:off x="10596825" y="600989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05" name="TextBox 204">
            <a:extLst>
              <a:ext uri="{FF2B5EF4-FFF2-40B4-BE49-F238E27FC236}">
                <a16:creationId xmlns:a16="http://schemas.microsoft.com/office/drawing/2014/main" id="{FC77F0A0-EDB8-9321-96D6-C9C3E42BE188}"/>
              </a:ext>
            </a:extLst>
          </p:cNvPr>
          <p:cNvSpPr txBox="1"/>
          <p:nvPr/>
        </p:nvSpPr>
        <p:spPr>
          <a:xfrm>
            <a:off x="10596825" y="598246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06" name="Oval 205">
            <a:extLst>
              <a:ext uri="{FF2B5EF4-FFF2-40B4-BE49-F238E27FC236}">
                <a16:creationId xmlns:a16="http://schemas.microsoft.com/office/drawing/2014/main" id="{5EE340FF-24E8-9D53-CA31-3B308D4A7E72}"/>
              </a:ext>
            </a:extLst>
          </p:cNvPr>
          <p:cNvSpPr/>
          <p:nvPr/>
        </p:nvSpPr>
        <p:spPr>
          <a:xfrm>
            <a:off x="11977054" y="600989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07" name="TextBox 206">
            <a:extLst>
              <a:ext uri="{FF2B5EF4-FFF2-40B4-BE49-F238E27FC236}">
                <a16:creationId xmlns:a16="http://schemas.microsoft.com/office/drawing/2014/main" id="{F383E15A-5862-23F9-F64A-3AC3459584D7}"/>
              </a:ext>
            </a:extLst>
          </p:cNvPr>
          <p:cNvSpPr txBox="1"/>
          <p:nvPr/>
        </p:nvSpPr>
        <p:spPr>
          <a:xfrm>
            <a:off x="11977054" y="598246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08" name="Oval 207">
            <a:extLst>
              <a:ext uri="{FF2B5EF4-FFF2-40B4-BE49-F238E27FC236}">
                <a16:creationId xmlns:a16="http://schemas.microsoft.com/office/drawing/2014/main" id="{FB8831DE-4198-F24F-2342-9EECE44A938D}"/>
              </a:ext>
            </a:extLst>
          </p:cNvPr>
          <p:cNvSpPr/>
          <p:nvPr/>
        </p:nvSpPr>
        <p:spPr>
          <a:xfrm>
            <a:off x="13547285" y="600989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09" name="TextBox 208">
            <a:extLst>
              <a:ext uri="{FF2B5EF4-FFF2-40B4-BE49-F238E27FC236}">
                <a16:creationId xmlns:a16="http://schemas.microsoft.com/office/drawing/2014/main" id="{1387413D-3841-4395-9239-4E7EFA66A2C3}"/>
              </a:ext>
            </a:extLst>
          </p:cNvPr>
          <p:cNvSpPr txBox="1"/>
          <p:nvPr/>
        </p:nvSpPr>
        <p:spPr>
          <a:xfrm>
            <a:off x="13547285" y="598246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10" name="TextBox 209">
            <a:extLst>
              <a:ext uri="{FF2B5EF4-FFF2-40B4-BE49-F238E27FC236}">
                <a16:creationId xmlns:a16="http://schemas.microsoft.com/office/drawing/2014/main" id="{126FD8AF-85D4-C829-49E4-E16CFDAE8ED3}"/>
              </a:ext>
            </a:extLst>
          </p:cNvPr>
          <p:cNvSpPr txBox="1"/>
          <p:nvPr/>
        </p:nvSpPr>
        <p:spPr>
          <a:xfrm>
            <a:off x="658368" y="6551676"/>
            <a:ext cx="14939284" cy="276999"/>
          </a:xfrm>
          <a:prstGeom prst="rect">
            <a:avLst/>
          </a:prstGeom>
          <a:noFill/>
        </p:spPr>
        <p:txBody>
          <a:bodyPr wrap="square" lIns="0" tIns="0" rIns="0" bIns="0" anchor="t">
            <a:spAutoFit/>
          </a:bodyPr>
          <a:lstStyle/>
          <a:p>
            <a:pPr algn="l">
              <a:lnSpc>
                <a:spcPct val="100000"/>
              </a:lnSpc>
            </a:pPr>
            <a:r>
              <a:rPr sz="1800" b="1" i="0">
                <a:solidFill>
                  <a:srgbClr val="0B2E2C"/>
                </a:solidFill>
                <a:latin typeface="Arial"/>
              </a:rPr>
              <a:t>Qué contiene cada entregable</a:t>
            </a:r>
          </a:p>
        </p:txBody>
      </p:sp>
      <p:cxnSp>
        <p:nvCxnSpPr>
          <p:cNvPr id="211" name="Connector 177">
            <a:extLst>
              <a:ext uri="{FF2B5EF4-FFF2-40B4-BE49-F238E27FC236}">
                <a16:creationId xmlns:a16="http://schemas.microsoft.com/office/drawing/2014/main" id="{9944D9D7-E2B0-F6B1-BAAA-6D68E6F46A2E}"/>
              </a:ext>
            </a:extLst>
          </p:cNvPr>
          <p:cNvCxnSpPr/>
          <p:nvPr/>
        </p:nvCxnSpPr>
        <p:spPr>
          <a:xfrm>
            <a:off x="658368" y="6844284"/>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212" name="Rectangle 211">
            <a:extLst>
              <a:ext uri="{FF2B5EF4-FFF2-40B4-BE49-F238E27FC236}">
                <a16:creationId xmlns:a16="http://schemas.microsoft.com/office/drawing/2014/main" id="{79BC5155-17CC-92D1-0A7B-3121E1F8E3F6}"/>
              </a:ext>
            </a:extLst>
          </p:cNvPr>
          <p:cNvSpPr/>
          <p:nvPr/>
        </p:nvSpPr>
        <p:spPr>
          <a:xfrm>
            <a:off x="658368" y="6954012"/>
            <a:ext cx="2856183" cy="1188720"/>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3" name="Rectangle 212">
            <a:extLst>
              <a:ext uri="{FF2B5EF4-FFF2-40B4-BE49-F238E27FC236}">
                <a16:creationId xmlns:a16="http://schemas.microsoft.com/office/drawing/2014/main" id="{AC396BF2-2DCC-06BF-DBC0-A58664E9E993}"/>
              </a:ext>
            </a:extLst>
          </p:cNvPr>
          <p:cNvSpPr/>
          <p:nvPr/>
        </p:nvSpPr>
        <p:spPr>
          <a:xfrm>
            <a:off x="658368" y="6954012"/>
            <a:ext cx="41148" cy="11887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4" name="TextBox 213">
            <a:extLst>
              <a:ext uri="{FF2B5EF4-FFF2-40B4-BE49-F238E27FC236}">
                <a16:creationId xmlns:a16="http://schemas.microsoft.com/office/drawing/2014/main" id="{22255309-E1DD-EAE2-430C-C6FD7DD84981}"/>
              </a:ext>
            </a:extLst>
          </p:cNvPr>
          <p:cNvSpPr txBox="1"/>
          <p:nvPr/>
        </p:nvSpPr>
        <p:spPr>
          <a:xfrm>
            <a:off x="841247" y="7063740"/>
            <a:ext cx="2526999" cy="184666"/>
          </a:xfrm>
          <a:prstGeom prst="rect">
            <a:avLst/>
          </a:prstGeom>
          <a:noFill/>
        </p:spPr>
        <p:txBody>
          <a:bodyPr wrap="square" lIns="0" tIns="0" rIns="0" bIns="0" anchor="t">
            <a:spAutoFit/>
          </a:bodyPr>
          <a:lstStyle/>
          <a:p>
            <a:pPr algn="l">
              <a:lnSpc>
                <a:spcPct val="100000"/>
              </a:lnSpc>
            </a:pPr>
            <a:r>
              <a:rPr sz="1200" b="1" i="0">
                <a:solidFill>
                  <a:srgbClr val="13807B"/>
                </a:solidFill>
                <a:latin typeface="Arial"/>
              </a:rPr>
              <a:t>Modelos analíticos</a:t>
            </a:r>
          </a:p>
        </p:txBody>
      </p:sp>
      <p:sp>
        <p:nvSpPr>
          <p:cNvPr id="215" name="TextBox 214">
            <a:extLst>
              <a:ext uri="{FF2B5EF4-FFF2-40B4-BE49-F238E27FC236}">
                <a16:creationId xmlns:a16="http://schemas.microsoft.com/office/drawing/2014/main" id="{485135DC-418C-334A-317E-DFE0CBCC9D4F}"/>
              </a:ext>
            </a:extLst>
          </p:cNvPr>
          <p:cNvSpPr txBox="1"/>
          <p:nvPr/>
        </p:nvSpPr>
        <p:spPr>
          <a:xfrm>
            <a:off x="841247" y="7319772"/>
            <a:ext cx="2526999" cy="381708"/>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Desarrollados y calibrados para cada componente del ecosistema.</a:t>
            </a:r>
          </a:p>
        </p:txBody>
      </p:sp>
      <p:sp>
        <p:nvSpPr>
          <p:cNvPr id="216" name="Rectangle 215">
            <a:extLst>
              <a:ext uri="{FF2B5EF4-FFF2-40B4-BE49-F238E27FC236}">
                <a16:creationId xmlns:a16="http://schemas.microsoft.com/office/drawing/2014/main" id="{667C0F89-F76A-0CFA-0A95-9E23C5079965}"/>
              </a:ext>
            </a:extLst>
          </p:cNvPr>
          <p:cNvSpPr/>
          <p:nvPr/>
        </p:nvSpPr>
        <p:spPr>
          <a:xfrm>
            <a:off x="3679143" y="6954012"/>
            <a:ext cx="2856183" cy="1188720"/>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7" name="Rectangle 216">
            <a:extLst>
              <a:ext uri="{FF2B5EF4-FFF2-40B4-BE49-F238E27FC236}">
                <a16:creationId xmlns:a16="http://schemas.microsoft.com/office/drawing/2014/main" id="{0605E2DA-1D31-B230-E95C-7BD75F113B0D}"/>
              </a:ext>
            </a:extLst>
          </p:cNvPr>
          <p:cNvSpPr/>
          <p:nvPr/>
        </p:nvSpPr>
        <p:spPr>
          <a:xfrm>
            <a:off x="3679143" y="6954012"/>
            <a:ext cx="41148" cy="11887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8" name="TextBox 217">
            <a:extLst>
              <a:ext uri="{FF2B5EF4-FFF2-40B4-BE49-F238E27FC236}">
                <a16:creationId xmlns:a16="http://schemas.microsoft.com/office/drawing/2014/main" id="{372DEA87-CC8B-75B8-5C09-C2FCE86D9076}"/>
              </a:ext>
            </a:extLst>
          </p:cNvPr>
          <p:cNvSpPr txBox="1"/>
          <p:nvPr/>
        </p:nvSpPr>
        <p:spPr>
          <a:xfrm>
            <a:off x="3862023" y="7063740"/>
            <a:ext cx="2526999" cy="184666"/>
          </a:xfrm>
          <a:prstGeom prst="rect">
            <a:avLst/>
          </a:prstGeom>
          <a:noFill/>
        </p:spPr>
        <p:txBody>
          <a:bodyPr wrap="square" lIns="0" tIns="0" rIns="0" bIns="0" anchor="t">
            <a:spAutoFit/>
          </a:bodyPr>
          <a:lstStyle/>
          <a:p>
            <a:pPr algn="l">
              <a:lnSpc>
                <a:spcPct val="100000"/>
              </a:lnSpc>
            </a:pPr>
            <a:r>
              <a:rPr sz="1200" b="1" i="0">
                <a:solidFill>
                  <a:srgbClr val="445A6E"/>
                </a:solidFill>
                <a:latin typeface="Arial"/>
              </a:rPr>
              <a:t>Código fuente</a:t>
            </a:r>
          </a:p>
        </p:txBody>
      </p:sp>
      <p:sp>
        <p:nvSpPr>
          <p:cNvPr id="219" name="TextBox 218">
            <a:extLst>
              <a:ext uri="{FF2B5EF4-FFF2-40B4-BE49-F238E27FC236}">
                <a16:creationId xmlns:a16="http://schemas.microsoft.com/office/drawing/2014/main" id="{C8034C51-9B3E-B174-68BA-80EAEBD40617}"/>
              </a:ext>
            </a:extLst>
          </p:cNvPr>
          <p:cNvSpPr txBox="1"/>
          <p:nvPr/>
        </p:nvSpPr>
        <p:spPr>
          <a:xfrm>
            <a:off x="3862023" y="7319772"/>
            <a:ext cx="2526999" cy="581441"/>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Scripts documentados de entrenamiento, validación e implementación, en el AWS de IBK.</a:t>
            </a:r>
          </a:p>
        </p:txBody>
      </p:sp>
      <p:sp>
        <p:nvSpPr>
          <p:cNvPr id="220" name="Rectangle 219">
            <a:extLst>
              <a:ext uri="{FF2B5EF4-FFF2-40B4-BE49-F238E27FC236}">
                <a16:creationId xmlns:a16="http://schemas.microsoft.com/office/drawing/2014/main" id="{E5410CFF-FFCB-12BE-B4C2-4F56C61CAA1E}"/>
              </a:ext>
            </a:extLst>
          </p:cNvPr>
          <p:cNvSpPr/>
          <p:nvPr/>
        </p:nvSpPr>
        <p:spPr>
          <a:xfrm>
            <a:off x="6699918" y="6954012"/>
            <a:ext cx="2856183" cy="1188720"/>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1" name="Rectangle 220">
            <a:extLst>
              <a:ext uri="{FF2B5EF4-FFF2-40B4-BE49-F238E27FC236}">
                <a16:creationId xmlns:a16="http://schemas.microsoft.com/office/drawing/2014/main" id="{17AF4C75-54FB-F6F9-8106-7AE93550502B}"/>
              </a:ext>
            </a:extLst>
          </p:cNvPr>
          <p:cNvSpPr/>
          <p:nvPr/>
        </p:nvSpPr>
        <p:spPr>
          <a:xfrm>
            <a:off x="6699918" y="6954012"/>
            <a:ext cx="41148" cy="11887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2" name="TextBox 221">
            <a:extLst>
              <a:ext uri="{FF2B5EF4-FFF2-40B4-BE49-F238E27FC236}">
                <a16:creationId xmlns:a16="http://schemas.microsoft.com/office/drawing/2014/main" id="{3EFCF677-8B8B-AB57-3C06-5D44C80B1E7A}"/>
              </a:ext>
            </a:extLst>
          </p:cNvPr>
          <p:cNvSpPr txBox="1"/>
          <p:nvPr/>
        </p:nvSpPr>
        <p:spPr>
          <a:xfrm>
            <a:off x="6882798" y="7063740"/>
            <a:ext cx="2526999" cy="184666"/>
          </a:xfrm>
          <a:prstGeom prst="rect">
            <a:avLst/>
          </a:prstGeom>
          <a:noFill/>
        </p:spPr>
        <p:txBody>
          <a:bodyPr wrap="square" lIns="0" tIns="0" rIns="0" bIns="0" anchor="t">
            <a:spAutoFit/>
          </a:bodyPr>
          <a:lstStyle/>
          <a:p>
            <a:pPr algn="l">
              <a:lnSpc>
                <a:spcPct val="100000"/>
              </a:lnSpc>
            </a:pPr>
            <a:r>
              <a:rPr sz="1200" b="1" i="0">
                <a:solidFill>
                  <a:srgbClr val="C87A0B"/>
                </a:solidFill>
                <a:latin typeface="Arial"/>
              </a:rPr>
              <a:t>Manuales</a:t>
            </a:r>
          </a:p>
        </p:txBody>
      </p:sp>
      <p:sp>
        <p:nvSpPr>
          <p:cNvPr id="223" name="TextBox 222">
            <a:extLst>
              <a:ext uri="{FF2B5EF4-FFF2-40B4-BE49-F238E27FC236}">
                <a16:creationId xmlns:a16="http://schemas.microsoft.com/office/drawing/2014/main" id="{16A4DFCF-2849-B140-42AF-B9771D041833}"/>
              </a:ext>
            </a:extLst>
          </p:cNvPr>
          <p:cNvSpPr txBox="1"/>
          <p:nvPr/>
        </p:nvSpPr>
        <p:spPr>
          <a:xfrm>
            <a:off x="6882798" y="7319772"/>
            <a:ext cx="2526999" cy="581441"/>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Metodológico (supuestos, variables, validaciones) y técnico-funcional (arquitectura, inputs, outputs).</a:t>
            </a:r>
          </a:p>
        </p:txBody>
      </p:sp>
      <p:sp>
        <p:nvSpPr>
          <p:cNvPr id="224" name="Rectangle 223">
            <a:extLst>
              <a:ext uri="{FF2B5EF4-FFF2-40B4-BE49-F238E27FC236}">
                <a16:creationId xmlns:a16="http://schemas.microsoft.com/office/drawing/2014/main" id="{20955CCC-17BB-900B-9267-74BEF18DAB46}"/>
              </a:ext>
            </a:extLst>
          </p:cNvPr>
          <p:cNvSpPr/>
          <p:nvPr/>
        </p:nvSpPr>
        <p:spPr>
          <a:xfrm>
            <a:off x="9720693" y="6954012"/>
            <a:ext cx="2856183" cy="1188720"/>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5" name="Rectangle 224">
            <a:extLst>
              <a:ext uri="{FF2B5EF4-FFF2-40B4-BE49-F238E27FC236}">
                <a16:creationId xmlns:a16="http://schemas.microsoft.com/office/drawing/2014/main" id="{672EA781-E061-4EE4-A6CB-DCE0EE1D7808}"/>
              </a:ext>
            </a:extLst>
          </p:cNvPr>
          <p:cNvSpPr/>
          <p:nvPr/>
        </p:nvSpPr>
        <p:spPr>
          <a:xfrm>
            <a:off x="9720693" y="6954012"/>
            <a:ext cx="41148" cy="1188720"/>
          </a:xfrm>
          <a:prstGeom prst="rect">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6" name="TextBox 225">
            <a:extLst>
              <a:ext uri="{FF2B5EF4-FFF2-40B4-BE49-F238E27FC236}">
                <a16:creationId xmlns:a16="http://schemas.microsoft.com/office/drawing/2014/main" id="{8BB16B08-5FA1-C044-CB04-B1D6C4C69333}"/>
              </a:ext>
            </a:extLst>
          </p:cNvPr>
          <p:cNvSpPr txBox="1"/>
          <p:nvPr/>
        </p:nvSpPr>
        <p:spPr>
          <a:xfrm>
            <a:off x="9903573" y="7063740"/>
            <a:ext cx="2526999" cy="184666"/>
          </a:xfrm>
          <a:prstGeom prst="rect">
            <a:avLst/>
          </a:prstGeom>
          <a:noFill/>
        </p:spPr>
        <p:txBody>
          <a:bodyPr wrap="square" lIns="0" tIns="0" rIns="0" bIns="0" anchor="t">
            <a:spAutoFit/>
          </a:bodyPr>
          <a:lstStyle/>
          <a:p>
            <a:pPr algn="l">
              <a:lnSpc>
                <a:spcPct val="100000"/>
              </a:lnSpc>
            </a:pPr>
            <a:r>
              <a:rPr sz="1200" b="1" i="0">
                <a:solidFill>
                  <a:srgbClr val="C04B4B"/>
                </a:solidFill>
                <a:latin typeface="Arial"/>
              </a:rPr>
              <a:t>Casos de validación</a:t>
            </a:r>
          </a:p>
        </p:txBody>
      </p:sp>
      <p:sp>
        <p:nvSpPr>
          <p:cNvPr id="227" name="TextBox 226">
            <a:extLst>
              <a:ext uri="{FF2B5EF4-FFF2-40B4-BE49-F238E27FC236}">
                <a16:creationId xmlns:a16="http://schemas.microsoft.com/office/drawing/2014/main" id="{007F7BD1-97BB-0D38-C2D9-5F1DE10281DF}"/>
              </a:ext>
            </a:extLst>
          </p:cNvPr>
          <p:cNvSpPr txBox="1"/>
          <p:nvPr/>
        </p:nvSpPr>
        <p:spPr>
          <a:xfrm>
            <a:off x="9903573" y="7319772"/>
            <a:ext cx="2526999" cy="581441"/>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Pruebas reproducibles para contrastar cualquier corrida futura contra el resultado esperado.</a:t>
            </a:r>
          </a:p>
        </p:txBody>
      </p:sp>
      <p:sp>
        <p:nvSpPr>
          <p:cNvPr id="228" name="Rectangle 227">
            <a:extLst>
              <a:ext uri="{FF2B5EF4-FFF2-40B4-BE49-F238E27FC236}">
                <a16:creationId xmlns:a16="http://schemas.microsoft.com/office/drawing/2014/main" id="{5021626B-849E-30A0-39AB-371E1533CDEB}"/>
              </a:ext>
            </a:extLst>
          </p:cNvPr>
          <p:cNvSpPr/>
          <p:nvPr/>
        </p:nvSpPr>
        <p:spPr>
          <a:xfrm>
            <a:off x="12741469" y="6954012"/>
            <a:ext cx="2856183" cy="1188720"/>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29" name="Rectangle 228">
            <a:extLst>
              <a:ext uri="{FF2B5EF4-FFF2-40B4-BE49-F238E27FC236}">
                <a16:creationId xmlns:a16="http://schemas.microsoft.com/office/drawing/2014/main" id="{1F56EFAF-287B-ABF2-FAB5-502B75EF128B}"/>
              </a:ext>
            </a:extLst>
          </p:cNvPr>
          <p:cNvSpPr/>
          <p:nvPr/>
        </p:nvSpPr>
        <p:spPr>
          <a:xfrm>
            <a:off x="12741469" y="6954012"/>
            <a:ext cx="41148" cy="11887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0" name="TextBox 229">
            <a:extLst>
              <a:ext uri="{FF2B5EF4-FFF2-40B4-BE49-F238E27FC236}">
                <a16:creationId xmlns:a16="http://schemas.microsoft.com/office/drawing/2014/main" id="{6105A0AE-66F9-E05B-F4BC-3C28B2A6355A}"/>
              </a:ext>
            </a:extLst>
          </p:cNvPr>
          <p:cNvSpPr txBox="1"/>
          <p:nvPr/>
        </p:nvSpPr>
        <p:spPr>
          <a:xfrm>
            <a:off x="12924349" y="7063740"/>
            <a:ext cx="2526999" cy="184666"/>
          </a:xfrm>
          <a:prstGeom prst="rect">
            <a:avLst/>
          </a:prstGeom>
          <a:noFill/>
        </p:spPr>
        <p:txBody>
          <a:bodyPr wrap="square" lIns="0" tIns="0" rIns="0" bIns="0" anchor="t">
            <a:spAutoFit/>
          </a:bodyPr>
          <a:lstStyle/>
          <a:p>
            <a:pPr algn="l">
              <a:lnSpc>
                <a:spcPct val="100000"/>
              </a:lnSpc>
            </a:pPr>
            <a:r>
              <a:rPr sz="1200" b="1" i="0">
                <a:solidFill>
                  <a:srgbClr val="0C514E"/>
                </a:solidFill>
                <a:latin typeface="Arial"/>
              </a:rPr>
              <a:t>Transferencia</a:t>
            </a:r>
          </a:p>
        </p:txBody>
      </p:sp>
      <p:sp>
        <p:nvSpPr>
          <p:cNvPr id="231" name="TextBox 230">
            <a:extLst>
              <a:ext uri="{FF2B5EF4-FFF2-40B4-BE49-F238E27FC236}">
                <a16:creationId xmlns:a16="http://schemas.microsoft.com/office/drawing/2014/main" id="{E74D1E53-E3CC-7389-9FC0-E232EAC77F46}"/>
              </a:ext>
            </a:extLst>
          </p:cNvPr>
          <p:cNvSpPr txBox="1"/>
          <p:nvPr/>
        </p:nvSpPr>
        <p:spPr>
          <a:xfrm>
            <a:off x="12924349" y="7319772"/>
            <a:ext cx="2526999" cy="581441"/>
          </a:xfrm>
          <a:prstGeom prst="rect">
            <a:avLst/>
          </a:prstGeom>
          <a:noFill/>
        </p:spPr>
        <p:txBody>
          <a:bodyPr wrap="square" lIns="0" tIns="0" rIns="0" bIns="0" anchor="t">
            <a:spAutoFit/>
          </a:bodyPr>
          <a:lstStyle/>
          <a:p>
            <a:pPr algn="l">
              <a:lnSpc>
                <a:spcPct val="118000"/>
              </a:lnSpc>
            </a:pPr>
            <a:r>
              <a:rPr sz="1100" b="0" i="0">
                <a:solidFill>
                  <a:srgbClr val="6E7E7D"/>
                </a:solidFill>
                <a:latin typeface="Arial"/>
              </a:rPr>
              <a:t>Sesiones semanales de checkpoint VOi–IBK y documentación final por modelo.</a:t>
            </a:r>
          </a:p>
        </p:txBody>
      </p:sp>
      <p:sp>
        <p:nvSpPr>
          <p:cNvPr id="9" name="Rectangle 8">
            <a:extLst>
              <a:ext uri="{FF2B5EF4-FFF2-40B4-BE49-F238E27FC236}">
                <a16:creationId xmlns:a16="http://schemas.microsoft.com/office/drawing/2014/main" id="{DD64ABB4-180F-1DDB-2F86-89CBF56D872C}"/>
              </a:ext>
            </a:extLst>
          </p:cNvPr>
          <p:cNvSpPr/>
          <p:nvPr/>
        </p:nvSpPr>
        <p:spPr>
          <a:xfrm>
            <a:off x="14369824" y="2302307"/>
            <a:ext cx="1220496" cy="51206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5000"/>
              </a:lnSpc>
            </a:pPr>
            <a:r>
              <a:rPr sz="1100" b="1" i="0" dirty="0" err="1">
                <a:solidFill>
                  <a:srgbClr val="FFFFFF"/>
                </a:solidFill>
                <a:latin typeface="Arial"/>
              </a:rPr>
              <a:t>Frecuencia</a:t>
            </a:r>
            <a:r>
              <a:rPr sz="1100" b="1" i="0" dirty="0">
                <a:solidFill>
                  <a:srgbClr val="FFFFFF"/>
                </a:solidFill>
                <a:latin typeface="Arial"/>
              </a:rPr>
              <a:t> de</a:t>
            </a:r>
          </a:p>
          <a:p>
            <a:pPr algn="ctr">
              <a:lnSpc>
                <a:spcPct val="105000"/>
              </a:lnSpc>
            </a:pPr>
            <a:r>
              <a:rPr sz="1100" b="1" i="0" dirty="0" err="1">
                <a:solidFill>
                  <a:srgbClr val="FFFFFF"/>
                </a:solidFill>
                <a:latin typeface="Arial"/>
              </a:rPr>
              <a:t>monitoreo</a:t>
            </a:r>
            <a:endParaRPr sz="1100" b="1" i="0" dirty="0">
              <a:solidFill>
                <a:srgbClr val="FFFFFF"/>
              </a:solidFill>
              <a:latin typeface="Arial"/>
            </a:endParaRPr>
          </a:p>
        </p:txBody>
      </p:sp>
      <p:sp>
        <p:nvSpPr>
          <p:cNvPr id="10" name="Oval 9">
            <a:extLst>
              <a:ext uri="{FF2B5EF4-FFF2-40B4-BE49-F238E27FC236}">
                <a16:creationId xmlns:a16="http://schemas.microsoft.com/office/drawing/2014/main" id="{92FDB579-320A-66B0-C29A-2643428B5606}"/>
              </a:ext>
            </a:extLst>
          </p:cNvPr>
          <p:cNvSpPr/>
          <p:nvPr/>
        </p:nvSpPr>
        <p:spPr>
          <a:xfrm>
            <a:off x="14934719" y="297210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5" name="TextBox 14">
            <a:extLst>
              <a:ext uri="{FF2B5EF4-FFF2-40B4-BE49-F238E27FC236}">
                <a16:creationId xmlns:a16="http://schemas.microsoft.com/office/drawing/2014/main" id="{0627071E-877D-5828-64F3-B98A1A37E842}"/>
              </a:ext>
            </a:extLst>
          </p:cNvPr>
          <p:cNvSpPr txBox="1"/>
          <p:nvPr/>
        </p:nvSpPr>
        <p:spPr>
          <a:xfrm>
            <a:off x="14934719" y="294467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16" name="Oval 15">
            <a:extLst>
              <a:ext uri="{FF2B5EF4-FFF2-40B4-BE49-F238E27FC236}">
                <a16:creationId xmlns:a16="http://schemas.microsoft.com/office/drawing/2014/main" id="{CC1AD9DF-A874-AF20-145A-F45BC7C6C0C1}"/>
              </a:ext>
            </a:extLst>
          </p:cNvPr>
          <p:cNvSpPr/>
          <p:nvPr/>
        </p:nvSpPr>
        <p:spPr>
          <a:xfrm>
            <a:off x="14934719" y="335158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7" name="TextBox 16">
            <a:extLst>
              <a:ext uri="{FF2B5EF4-FFF2-40B4-BE49-F238E27FC236}">
                <a16:creationId xmlns:a16="http://schemas.microsoft.com/office/drawing/2014/main" id="{14B523E7-E2C7-720D-E5DE-A2828D9C999A}"/>
              </a:ext>
            </a:extLst>
          </p:cNvPr>
          <p:cNvSpPr txBox="1"/>
          <p:nvPr/>
        </p:nvSpPr>
        <p:spPr>
          <a:xfrm>
            <a:off x="14934719" y="3324149"/>
            <a:ext cx="155448" cy="184666"/>
          </a:xfrm>
          <a:prstGeom prst="rect">
            <a:avLst/>
          </a:prstGeom>
          <a:noFill/>
        </p:spPr>
        <p:txBody>
          <a:bodyPr wrap="square" lIns="0" tIns="0" rIns="0" bIns="0" anchor="t">
            <a:spAutoFit/>
          </a:bodyPr>
          <a:lstStyle/>
          <a:p>
            <a:pPr algn="ctr">
              <a:lnSpc>
                <a:spcPct val="100000"/>
              </a:lnSpc>
            </a:pPr>
            <a:r>
              <a:rPr sz="1200" b="1" i="0" dirty="0">
                <a:solidFill>
                  <a:srgbClr val="0C514E"/>
                </a:solidFill>
                <a:latin typeface="Arial"/>
              </a:rPr>
              <a:t>✓</a:t>
            </a:r>
          </a:p>
        </p:txBody>
      </p:sp>
      <p:sp>
        <p:nvSpPr>
          <p:cNvPr id="18" name="Oval 17">
            <a:extLst>
              <a:ext uri="{FF2B5EF4-FFF2-40B4-BE49-F238E27FC236}">
                <a16:creationId xmlns:a16="http://schemas.microsoft.com/office/drawing/2014/main" id="{B926C236-CBC9-1888-2121-EFAD5D1D61DB}"/>
              </a:ext>
            </a:extLst>
          </p:cNvPr>
          <p:cNvSpPr/>
          <p:nvPr/>
        </p:nvSpPr>
        <p:spPr>
          <a:xfrm>
            <a:off x="14934719" y="3731057"/>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9" name="TextBox 18">
            <a:extLst>
              <a:ext uri="{FF2B5EF4-FFF2-40B4-BE49-F238E27FC236}">
                <a16:creationId xmlns:a16="http://schemas.microsoft.com/office/drawing/2014/main" id="{6775DA89-849E-7C3B-7E5F-0E082899A85F}"/>
              </a:ext>
            </a:extLst>
          </p:cNvPr>
          <p:cNvSpPr txBox="1"/>
          <p:nvPr/>
        </p:nvSpPr>
        <p:spPr>
          <a:xfrm>
            <a:off x="14934719" y="3703625"/>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0" name="Oval 19">
            <a:extLst>
              <a:ext uri="{FF2B5EF4-FFF2-40B4-BE49-F238E27FC236}">
                <a16:creationId xmlns:a16="http://schemas.microsoft.com/office/drawing/2014/main" id="{4B43E1A4-A64B-007A-FD0A-3EC5AD897AF1}"/>
              </a:ext>
            </a:extLst>
          </p:cNvPr>
          <p:cNvSpPr/>
          <p:nvPr/>
        </p:nvSpPr>
        <p:spPr>
          <a:xfrm>
            <a:off x="14934719" y="4110533"/>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1" name="TextBox 20">
            <a:extLst>
              <a:ext uri="{FF2B5EF4-FFF2-40B4-BE49-F238E27FC236}">
                <a16:creationId xmlns:a16="http://schemas.microsoft.com/office/drawing/2014/main" id="{44A89292-F4BA-8A10-6309-1E85826DC505}"/>
              </a:ext>
            </a:extLst>
          </p:cNvPr>
          <p:cNvSpPr txBox="1"/>
          <p:nvPr/>
        </p:nvSpPr>
        <p:spPr>
          <a:xfrm>
            <a:off x="14934719" y="4083101"/>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2" name="Oval 21">
            <a:extLst>
              <a:ext uri="{FF2B5EF4-FFF2-40B4-BE49-F238E27FC236}">
                <a16:creationId xmlns:a16="http://schemas.microsoft.com/office/drawing/2014/main" id="{F696E2ED-1C6A-BAE7-A6A5-97AED044F8E4}"/>
              </a:ext>
            </a:extLst>
          </p:cNvPr>
          <p:cNvSpPr/>
          <p:nvPr/>
        </p:nvSpPr>
        <p:spPr>
          <a:xfrm>
            <a:off x="14934719" y="4490010"/>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7" name="TextBox 26">
            <a:extLst>
              <a:ext uri="{FF2B5EF4-FFF2-40B4-BE49-F238E27FC236}">
                <a16:creationId xmlns:a16="http://schemas.microsoft.com/office/drawing/2014/main" id="{DAD98735-B182-5B75-0543-1D107CE89108}"/>
              </a:ext>
            </a:extLst>
          </p:cNvPr>
          <p:cNvSpPr txBox="1"/>
          <p:nvPr/>
        </p:nvSpPr>
        <p:spPr>
          <a:xfrm>
            <a:off x="14934719" y="4462577"/>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28" name="Oval 27">
            <a:extLst>
              <a:ext uri="{FF2B5EF4-FFF2-40B4-BE49-F238E27FC236}">
                <a16:creationId xmlns:a16="http://schemas.microsoft.com/office/drawing/2014/main" id="{2F62FC49-D6F4-FA09-8D0F-84311DB5A7B5}"/>
              </a:ext>
            </a:extLst>
          </p:cNvPr>
          <p:cNvSpPr/>
          <p:nvPr/>
        </p:nvSpPr>
        <p:spPr>
          <a:xfrm>
            <a:off x="14934719" y="4869486"/>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9" name="TextBox 28">
            <a:extLst>
              <a:ext uri="{FF2B5EF4-FFF2-40B4-BE49-F238E27FC236}">
                <a16:creationId xmlns:a16="http://schemas.microsoft.com/office/drawing/2014/main" id="{B0C92392-5E6A-8A8D-865E-BA15304DCB0C}"/>
              </a:ext>
            </a:extLst>
          </p:cNvPr>
          <p:cNvSpPr txBox="1"/>
          <p:nvPr/>
        </p:nvSpPr>
        <p:spPr>
          <a:xfrm>
            <a:off x="14934719" y="4842053"/>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30" name="Oval 29">
            <a:extLst>
              <a:ext uri="{FF2B5EF4-FFF2-40B4-BE49-F238E27FC236}">
                <a16:creationId xmlns:a16="http://schemas.microsoft.com/office/drawing/2014/main" id="{AAE1517D-3E33-0513-7FF4-BEA90AB56A25}"/>
              </a:ext>
            </a:extLst>
          </p:cNvPr>
          <p:cNvSpPr/>
          <p:nvPr/>
        </p:nvSpPr>
        <p:spPr>
          <a:xfrm>
            <a:off x="14934719" y="5248962"/>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1" name="TextBox 30">
            <a:extLst>
              <a:ext uri="{FF2B5EF4-FFF2-40B4-BE49-F238E27FC236}">
                <a16:creationId xmlns:a16="http://schemas.microsoft.com/office/drawing/2014/main" id="{5FE52086-8A8D-EB75-C5E8-8A7A1F0E3A64}"/>
              </a:ext>
            </a:extLst>
          </p:cNvPr>
          <p:cNvSpPr txBox="1"/>
          <p:nvPr/>
        </p:nvSpPr>
        <p:spPr>
          <a:xfrm>
            <a:off x="14934719" y="5221529"/>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32" name="Oval 31">
            <a:extLst>
              <a:ext uri="{FF2B5EF4-FFF2-40B4-BE49-F238E27FC236}">
                <a16:creationId xmlns:a16="http://schemas.microsoft.com/office/drawing/2014/main" id="{D08FD9FC-E6ED-39F7-8B11-7B51B471A218}"/>
              </a:ext>
            </a:extLst>
          </p:cNvPr>
          <p:cNvSpPr/>
          <p:nvPr/>
        </p:nvSpPr>
        <p:spPr>
          <a:xfrm>
            <a:off x="14934719" y="5628438"/>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4" name="TextBox 33">
            <a:extLst>
              <a:ext uri="{FF2B5EF4-FFF2-40B4-BE49-F238E27FC236}">
                <a16:creationId xmlns:a16="http://schemas.microsoft.com/office/drawing/2014/main" id="{097E22C2-8F4C-7460-520F-292DC336B3CF}"/>
              </a:ext>
            </a:extLst>
          </p:cNvPr>
          <p:cNvSpPr txBox="1"/>
          <p:nvPr/>
        </p:nvSpPr>
        <p:spPr>
          <a:xfrm>
            <a:off x="14934719" y="5601006"/>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
        <p:nvSpPr>
          <p:cNvPr id="35" name="Oval 34">
            <a:extLst>
              <a:ext uri="{FF2B5EF4-FFF2-40B4-BE49-F238E27FC236}">
                <a16:creationId xmlns:a16="http://schemas.microsoft.com/office/drawing/2014/main" id="{5E8DD0F1-E1FA-5959-AD10-FD755A976DE5}"/>
              </a:ext>
            </a:extLst>
          </p:cNvPr>
          <p:cNvSpPr/>
          <p:nvPr/>
        </p:nvSpPr>
        <p:spPr>
          <a:xfrm>
            <a:off x="14934719" y="6007914"/>
            <a:ext cx="155448" cy="155448"/>
          </a:xfrm>
          <a:prstGeom prst="ellipse">
            <a:avLst/>
          </a:prstGeom>
          <a:solidFill>
            <a:srgbClr val="C6E9E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6" name="TextBox 35">
            <a:extLst>
              <a:ext uri="{FF2B5EF4-FFF2-40B4-BE49-F238E27FC236}">
                <a16:creationId xmlns:a16="http://schemas.microsoft.com/office/drawing/2014/main" id="{27C4F7A3-9291-492A-17E6-DB8141BF7DA1}"/>
              </a:ext>
            </a:extLst>
          </p:cNvPr>
          <p:cNvSpPr txBox="1"/>
          <p:nvPr/>
        </p:nvSpPr>
        <p:spPr>
          <a:xfrm>
            <a:off x="14934719" y="5980482"/>
            <a:ext cx="155448" cy="184666"/>
          </a:xfrm>
          <a:prstGeom prst="rect">
            <a:avLst/>
          </a:prstGeom>
          <a:noFill/>
        </p:spPr>
        <p:txBody>
          <a:bodyPr wrap="square" lIns="0" tIns="0" rIns="0" bIns="0" anchor="t">
            <a:spAutoFit/>
          </a:bodyPr>
          <a:lstStyle/>
          <a:p>
            <a:pPr algn="ctr">
              <a:lnSpc>
                <a:spcPct val="100000"/>
              </a:lnSpc>
            </a:pPr>
            <a:r>
              <a:rPr sz="1200" b="1" i="0">
                <a:solidFill>
                  <a:srgbClr val="0C514E"/>
                </a:solidFill>
                <a:latin typeface="Arial"/>
              </a:rPr>
              <a:t>✓</a:t>
            </a:r>
          </a:p>
        </p:txBody>
      </p:sp>
    </p:spTree>
    <p:extLst>
      <p:ext uri="{BB962C8B-B14F-4D97-AF65-F5344CB8AC3E}">
        <p14:creationId xmlns:p14="http://schemas.microsoft.com/office/powerpoint/2010/main" val="16388904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A597A-B958-D30C-1694-3ED864DB232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329F814-6A84-C224-0D8E-F641C6A3A065}"/>
              </a:ext>
            </a:extLst>
          </p:cNvPr>
          <p:cNvSpPr/>
          <p:nvPr/>
        </p:nvSpPr>
        <p:spPr>
          <a:xfrm>
            <a:off x="0" y="1143000"/>
            <a:ext cx="16256000" cy="84043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7" name="Google Shape;305;p43">
            <a:extLst>
              <a:ext uri="{FF2B5EF4-FFF2-40B4-BE49-F238E27FC236}">
                <a16:creationId xmlns:a16="http://schemas.microsoft.com/office/drawing/2014/main" id="{A9035B91-6A97-D951-2D2B-A79F255E51FE}"/>
              </a:ext>
            </a:extLst>
          </p:cNvPr>
          <p:cNvSpPr/>
          <p:nvPr/>
        </p:nvSpPr>
        <p:spPr>
          <a:xfrm>
            <a:off x="4563728" y="5772986"/>
            <a:ext cx="8628389" cy="2516409"/>
          </a:xfrm>
          <a:custGeom>
            <a:avLst/>
            <a:gdLst/>
            <a:ahLst/>
            <a:cxnLst/>
            <a:rect l="l" t="t" r="r" b="b"/>
            <a:pathLst>
              <a:path w="1828800" h="457200" extrusionOk="0">
                <a:moveTo>
                  <a:pt x="0" y="0"/>
                </a:moveTo>
                <a:lnTo>
                  <a:pt x="1828800" y="0"/>
                </a:lnTo>
                <a:lnTo>
                  <a:pt x="1684668" y="452277"/>
                </a:lnTo>
                <a:lnTo>
                  <a:pt x="0" y="457200"/>
                </a:lnTo>
                <a:lnTo>
                  <a:pt x="0" y="0"/>
                </a:lnTo>
                <a:close/>
              </a:path>
            </a:pathLst>
          </a:custGeom>
          <a:solidFill>
            <a:srgbClr val="E0ECF7"/>
          </a:solidFill>
          <a:ln w="1905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defTabSz="1219215">
              <a:buClrTx/>
              <a:buSzPts val="1800"/>
              <a:defRPr/>
            </a:pPr>
            <a:endParaRPr lang="es-ES_tradnl" sz="2400" noProof="0" dirty="0">
              <a:latin typeface="Calibri"/>
              <a:ea typeface="Calibri"/>
              <a:cs typeface="Calibri"/>
              <a:sym typeface="Calibri"/>
            </a:endParaRPr>
          </a:p>
        </p:txBody>
      </p:sp>
      <p:sp>
        <p:nvSpPr>
          <p:cNvPr id="10" name="Google Shape;309;p43">
            <a:extLst>
              <a:ext uri="{FF2B5EF4-FFF2-40B4-BE49-F238E27FC236}">
                <a16:creationId xmlns:a16="http://schemas.microsoft.com/office/drawing/2014/main" id="{F10FDABF-4E3F-C2C3-930A-969B294EEF53}"/>
              </a:ext>
            </a:extLst>
          </p:cNvPr>
          <p:cNvSpPr/>
          <p:nvPr/>
        </p:nvSpPr>
        <p:spPr>
          <a:xfrm>
            <a:off x="1854393" y="1870188"/>
            <a:ext cx="2629600" cy="6419202"/>
          </a:xfrm>
          <a:prstGeom prst="rect">
            <a:avLst/>
          </a:prstGeom>
          <a:solidFill>
            <a:schemeClr val="bg1">
              <a:lumMod val="50000"/>
            </a:schemeClr>
          </a:solidFill>
          <a:ln>
            <a:noFill/>
          </a:ln>
        </p:spPr>
        <p:txBody>
          <a:bodyPr spcFirstLastPara="1" wrap="square" lIns="60933" tIns="36567" rIns="60933" bIns="36567" anchor="t" anchorCtr="0">
            <a:noAutofit/>
          </a:bodyPr>
          <a:lstStyle/>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endParaRPr lang="es-ES_tradnl" sz="1867" b="1" noProof="0" dirty="0">
              <a:solidFill>
                <a:srgbClr val="FFFFFF"/>
              </a:solidFill>
              <a:latin typeface="Poppins"/>
              <a:ea typeface="Poppins"/>
              <a:cs typeface="Poppins"/>
              <a:sym typeface="Poppins"/>
            </a:endParaRPr>
          </a:p>
          <a:p>
            <a:pPr algn="ctr" defTabSz="1219215">
              <a:buClrTx/>
              <a:defRPr/>
            </a:pPr>
            <a:r>
              <a:rPr lang="es-ES_tradnl" sz="1867" b="1" noProof="0" dirty="0">
                <a:solidFill>
                  <a:srgbClr val="FFFFFF"/>
                </a:solidFill>
                <a:latin typeface="Poppins"/>
                <a:ea typeface="Poppins"/>
                <a:cs typeface="Poppins"/>
                <a:sym typeface="Poppins"/>
              </a:rPr>
              <a:t>1  ·  ESTRATEGIA DE PRICING</a:t>
            </a:r>
            <a:endParaRPr lang="es-ES_tradnl" sz="1867" noProof="0" dirty="0">
              <a:solidFill>
                <a:sysClr val="windowText" lastClr="000000"/>
              </a:solidFill>
            </a:endParaRPr>
          </a:p>
          <a:p>
            <a:pPr defTabSz="1219215">
              <a:buClrTx/>
              <a:defRPr/>
            </a:pPr>
            <a:r>
              <a:rPr lang="es-ES_tradnl" sz="800" noProof="0" dirty="0">
                <a:solidFill>
                  <a:srgbClr val="FFFFFF"/>
                </a:solidFill>
                <a:latin typeface="Poppins"/>
                <a:ea typeface="Poppins"/>
                <a:cs typeface="Poppins"/>
                <a:sym typeface="Poppins"/>
              </a:rPr>
              <a:t> </a:t>
            </a:r>
            <a:endParaRPr lang="es-ES_tradnl" sz="1867" noProof="0" dirty="0">
              <a:solidFill>
                <a:sysClr val="windowText" lastClr="000000"/>
              </a:solidFill>
            </a:endParaRPr>
          </a:p>
          <a:p>
            <a:pPr defTabSz="1219215">
              <a:buClrTx/>
              <a:defRPr/>
            </a:pPr>
            <a:endParaRPr lang="es-ES_tradnl" sz="1733" noProof="0" dirty="0">
              <a:solidFill>
                <a:srgbClr val="FFFFFF"/>
              </a:solidFill>
              <a:latin typeface="Poppins"/>
              <a:ea typeface="Poppins"/>
              <a:cs typeface="Poppins"/>
              <a:sym typeface="Poppins"/>
            </a:endParaRPr>
          </a:p>
          <a:p>
            <a:pPr defTabSz="1219215">
              <a:buClrTx/>
              <a:defRPr/>
            </a:pPr>
            <a:endParaRPr lang="es-ES_tradnl" sz="1733" noProof="0" dirty="0">
              <a:solidFill>
                <a:srgbClr val="FFFFFF"/>
              </a:solidFill>
              <a:latin typeface="Poppins"/>
              <a:ea typeface="Poppins"/>
              <a:cs typeface="Poppins"/>
              <a:sym typeface="Poppins"/>
            </a:endParaRPr>
          </a:p>
          <a:p>
            <a:pPr algn="ctr" defTabSz="1219215">
              <a:buClrTx/>
              <a:defRPr/>
            </a:pPr>
            <a:r>
              <a:rPr lang="es-ES_tradnl" sz="1733" noProof="0" dirty="0">
                <a:solidFill>
                  <a:srgbClr val="FFFFFF"/>
                </a:solidFill>
                <a:latin typeface="Poppins"/>
                <a:ea typeface="Poppins"/>
                <a:cs typeface="Poppins"/>
                <a:sym typeface="Poppins"/>
              </a:rPr>
              <a:t>Apetito de rentabilidad</a:t>
            </a:r>
          </a:p>
          <a:p>
            <a:pPr algn="ctr" defTabSz="1219215">
              <a:buClrTx/>
              <a:defRPr/>
            </a:pPr>
            <a:r>
              <a:rPr lang="es-ES_tradnl" sz="1733" noProof="0" dirty="0">
                <a:solidFill>
                  <a:srgbClr val="FFFFFF"/>
                </a:solidFill>
                <a:latin typeface="Poppins"/>
                <a:ea typeface="Poppins"/>
                <a:cs typeface="Poppins"/>
                <a:sym typeface="Poppins"/>
              </a:rPr>
              <a:t>RAROC Objetivo</a:t>
            </a:r>
          </a:p>
          <a:p>
            <a:pPr algn="ctr" defTabSz="1219215">
              <a:buClrTx/>
              <a:defRPr/>
            </a:pPr>
            <a:endParaRPr lang="es-ES_tradnl" sz="1733" noProof="0" dirty="0">
              <a:solidFill>
                <a:srgbClr val="FFFFFF"/>
              </a:solidFill>
              <a:latin typeface="Poppins"/>
              <a:ea typeface="Poppins"/>
              <a:cs typeface="Poppins"/>
              <a:sym typeface="Poppins"/>
            </a:endParaRPr>
          </a:p>
          <a:p>
            <a:pPr algn="ctr" defTabSz="1219215">
              <a:buClrTx/>
              <a:defRPr/>
            </a:pPr>
            <a:r>
              <a:rPr lang="es-ES_tradnl" sz="1733" noProof="0" dirty="0">
                <a:solidFill>
                  <a:srgbClr val="FFFFFF"/>
                </a:solidFill>
                <a:latin typeface="Poppins"/>
                <a:ea typeface="Poppins"/>
                <a:cs typeface="Poppins"/>
                <a:sym typeface="Poppins"/>
              </a:rPr>
              <a:t> Estrategia </a:t>
            </a:r>
          </a:p>
          <a:p>
            <a:pPr algn="ctr" defTabSz="1219215">
              <a:buClrTx/>
              <a:defRPr/>
            </a:pPr>
            <a:r>
              <a:rPr lang="es-ES_tradnl" sz="1733" noProof="0" dirty="0">
                <a:solidFill>
                  <a:srgbClr val="FFFFFF"/>
                </a:solidFill>
                <a:latin typeface="Poppins"/>
                <a:ea typeface="Poppins"/>
                <a:cs typeface="Poppins"/>
                <a:sym typeface="Poppins"/>
              </a:rPr>
              <a:t>Cliente 360</a:t>
            </a:r>
            <a:endParaRPr lang="es-ES_tradnl" sz="1867" noProof="0" dirty="0">
              <a:solidFill>
                <a:sysClr val="windowText" lastClr="000000"/>
              </a:solidFill>
            </a:endParaRPr>
          </a:p>
        </p:txBody>
      </p:sp>
      <p:sp>
        <p:nvSpPr>
          <p:cNvPr id="13" name="Google Shape;313;p43">
            <a:extLst>
              <a:ext uri="{FF2B5EF4-FFF2-40B4-BE49-F238E27FC236}">
                <a16:creationId xmlns:a16="http://schemas.microsoft.com/office/drawing/2014/main" id="{FF31FAEC-0AA6-08C9-585D-55BAEC725A81}"/>
              </a:ext>
            </a:extLst>
          </p:cNvPr>
          <p:cNvSpPr/>
          <p:nvPr/>
        </p:nvSpPr>
        <p:spPr>
          <a:xfrm>
            <a:off x="5123449" y="6502336"/>
            <a:ext cx="2712087" cy="7620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Comités y lineamiento de excepciones</a:t>
            </a:r>
            <a:endParaRPr lang="es-ES_tradnl" sz="1956" noProof="0" dirty="0"/>
          </a:p>
        </p:txBody>
      </p:sp>
      <p:sp>
        <p:nvSpPr>
          <p:cNvPr id="14" name="Google Shape;314;p43">
            <a:extLst>
              <a:ext uri="{FF2B5EF4-FFF2-40B4-BE49-F238E27FC236}">
                <a16:creationId xmlns:a16="http://schemas.microsoft.com/office/drawing/2014/main" id="{51C23736-538E-3B63-139B-6055ECEC43E4}"/>
              </a:ext>
            </a:extLst>
          </p:cNvPr>
          <p:cNvSpPr/>
          <p:nvPr/>
        </p:nvSpPr>
        <p:spPr>
          <a:xfrm>
            <a:off x="8703239" y="6400002"/>
            <a:ext cx="2912400" cy="7620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Mock de Monitoreo tasas y rentabilidad</a:t>
            </a:r>
            <a:endParaRPr lang="es-ES_tradnl" sz="1956" noProof="0" dirty="0"/>
          </a:p>
        </p:txBody>
      </p:sp>
      <p:sp>
        <p:nvSpPr>
          <p:cNvPr id="15" name="Google Shape;315;p43">
            <a:extLst>
              <a:ext uri="{FF2B5EF4-FFF2-40B4-BE49-F238E27FC236}">
                <a16:creationId xmlns:a16="http://schemas.microsoft.com/office/drawing/2014/main" id="{D8A9D214-6A49-CC60-37B1-5595069B2CC4}"/>
              </a:ext>
            </a:extLst>
          </p:cNvPr>
          <p:cNvSpPr/>
          <p:nvPr/>
        </p:nvSpPr>
        <p:spPr>
          <a:xfrm>
            <a:off x="8703239" y="7024501"/>
            <a:ext cx="3648468" cy="437200"/>
          </a:xfrm>
          <a:prstGeom prst="roundRect">
            <a:avLst>
              <a:gd name="adj" fmla="val 16667"/>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cs typeface="Poppins"/>
                <a:sym typeface="Poppins"/>
              </a:rPr>
              <a:t>Estructura de </a:t>
            </a:r>
            <a:r>
              <a:rPr lang="es-ES_tradnl" sz="1778" noProof="0" dirty="0" err="1">
                <a:latin typeface="Poppins"/>
                <a:cs typeface="Poppins"/>
                <a:sym typeface="Poppins"/>
              </a:rPr>
              <a:t>KPIs</a:t>
            </a:r>
            <a:r>
              <a:rPr lang="es-ES_tradnl" sz="1778" noProof="0" dirty="0">
                <a:latin typeface="Poppins"/>
                <a:cs typeface="Poppins"/>
                <a:sym typeface="Poppins"/>
              </a:rPr>
              <a:t> y métricas</a:t>
            </a:r>
            <a:endParaRPr lang="es-ES_tradnl" sz="1956" noProof="0" dirty="0"/>
          </a:p>
        </p:txBody>
      </p:sp>
      <p:sp>
        <p:nvSpPr>
          <p:cNvPr id="21" name="Google Shape;312;p43">
            <a:extLst>
              <a:ext uri="{FF2B5EF4-FFF2-40B4-BE49-F238E27FC236}">
                <a16:creationId xmlns:a16="http://schemas.microsoft.com/office/drawing/2014/main" id="{BC9F506A-A1C7-C5B5-C08E-435CE0821552}"/>
              </a:ext>
            </a:extLst>
          </p:cNvPr>
          <p:cNvSpPr/>
          <p:nvPr/>
        </p:nvSpPr>
        <p:spPr>
          <a:xfrm>
            <a:off x="5116227" y="6000800"/>
            <a:ext cx="7318338" cy="437200"/>
          </a:xfrm>
          <a:prstGeom prst="roundRect">
            <a:avLst>
              <a:gd name="adj" fmla="val 16667"/>
            </a:avLst>
          </a:prstGeom>
          <a:noFill/>
          <a:ln>
            <a:noFill/>
          </a:ln>
        </p:spPr>
        <p:txBody>
          <a:bodyPr spcFirstLastPara="1" wrap="square" lIns="60933" tIns="36567" rIns="60933" bIns="36567" anchor="t" anchorCtr="0">
            <a:noAutofit/>
          </a:bodyPr>
          <a:lstStyle/>
          <a:p>
            <a:pPr defTabSz="1219215"/>
            <a:r>
              <a:rPr lang="es-ES_tradnl" sz="1867" b="1" noProof="0" dirty="0">
                <a:latin typeface="Poppins"/>
                <a:ea typeface="Poppins"/>
                <a:cs typeface="Poppins"/>
                <a:sym typeface="Poppins"/>
              </a:rPr>
              <a:t>3  ·  GOBIERNO Y MONITOREO</a:t>
            </a:r>
            <a:endParaRPr lang="es-ES_tradnl" sz="1867" noProof="0" dirty="0"/>
          </a:p>
        </p:txBody>
      </p:sp>
      <p:cxnSp>
        <p:nvCxnSpPr>
          <p:cNvPr id="23" name="Google Shape;323;p43">
            <a:extLst>
              <a:ext uri="{FF2B5EF4-FFF2-40B4-BE49-F238E27FC236}">
                <a16:creationId xmlns:a16="http://schemas.microsoft.com/office/drawing/2014/main" id="{A9199499-4FEF-8647-52E5-CA53594E3D07}"/>
              </a:ext>
            </a:extLst>
          </p:cNvPr>
          <p:cNvCxnSpPr>
            <a:cxnSpLocks/>
          </p:cNvCxnSpPr>
          <p:nvPr/>
        </p:nvCxnSpPr>
        <p:spPr>
          <a:xfrm>
            <a:off x="8438786" y="6584293"/>
            <a:ext cx="0" cy="1163625"/>
          </a:xfrm>
          <a:prstGeom prst="straightConnector1">
            <a:avLst/>
          </a:prstGeom>
          <a:noFill/>
          <a:ln w="9525" cap="flat" cmpd="sng">
            <a:solidFill>
              <a:schemeClr val="tx1"/>
            </a:solidFill>
            <a:prstDash val="dash"/>
            <a:round/>
            <a:headEnd type="none" w="sm" len="sm"/>
            <a:tailEnd type="none" w="sm" len="sm"/>
          </a:ln>
        </p:spPr>
      </p:cxnSp>
      <p:pic>
        <p:nvPicPr>
          <p:cNvPr id="28" name="Imagen 27" descr="estrategia ">
            <a:extLst>
              <a:ext uri="{FF2B5EF4-FFF2-40B4-BE49-F238E27FC236}">
                <a16:creationId xmlns:a16="http://schemas.microsoft.com/office/drawing/2014/main" id="{FA69A1DF-8241-6C63-EF00-C33053998AB0}"/>
              </a:ext>
            </a:extLst>
          </p:cNvPr>
          <p:cNvPicPr>
            <a:picLocks noChangeAspect="1"/>
          </p:cNvPicPr>
          <p:nvPr/>
        </p:nvPicPr>
        <p:blipFill>
          <a:blip r:embed="rId3">
            <a:biLevel thresh="25000"/>
          </a:blip>
          <a:stretch>
            <a:fillRect/>
          </a:stretch>
        </p:blipFill>
        <p:spPr>
          <a:xfrm>
            <a:off x="2776797" y="3021762"/>
            <a:ext cx="728235" cy="728235"/>
          </a:xfrm>
          <a:prstGeom prst="rect">
            <a:avLst/>
          </a:prstGeom>
        </p:spPr>
      </p:pic>
      <p:pic>
        <p:nvPicPr>
          <p:cNvPr id="39" name="Imagen 30" descr="tablero ">
            <a:extLst>
              <a:ext uri="{FF2B5EF4-FFF2-40B4-BE49-F238E27FC236}">
                <a16:creationId xmlns:a16="http://schemas.microsoft.com/office/drawing/2014/main" id="{9D43A369-8141-00B2-0D8D-0D9110EFC95E}"/>
              </a:ext>
            </a:extLst>
          </p:cNvPr>
          <p:cNvPicPr>
            <a:picLocks noChangeAspect="1"/>
          </p:cNvPicPr>
          <p:nvPr/>
        </p:nvPicPr>
        <p:blipFill>
          <a:blip r:embed="rId4"/>
          <a:stretch>
            <a:fillRect/>
          </a:stretch>
        </p:blipFill>
        <p:spPr>
          <a:xfrm>
            <a:off x="4699643" y="6064262"/>
            <a:ext cx="407271" cy="407271"/>
          </a:xfrm>
          <a:prstGeom prst="rect">
            <a:avLst/>
          </a:prstGeom>
        </p:spPr>
      </p:pic>
      <p:sp>
        <p:nvSpPr>
          <p:cNvPr id="43" name="Google Shape;317;p43">
            <a:extLst>
              <a:ext uri="{FF2B5EF4-FFF2-40B4-BE49-F238E27FC236}">
                <a16:creationId xmlns:a16="http://schemas.microsoft.com/office/drawing/2014/main" id="{B5640315-CDA0-326A-49F7-0ED4186DE31F}"/>
              </a:ext>
            </a:extLst>
          </p:cNvPr>
          <p:cNvSpPr/>
          <p:nvPr/>
        </p:nvSpPr>
        <p:spPr>
          <a:xfrm>
            <a:off x="4603115" y="7816780"/>
            <a:ext cx="8006418" cy="437200"/>
          </a:xfrm>
          <a:custGeom>
            <a:avLst/>
            <a:gdLst/>
            <a:ahLst/>
            <a:cxnLst/>
            <a:rect l="l" t="t" r="r" b="b"/>
            <a:pathLst>
              <a:path w="8377941" h="536061" extrusionOk="0">
                <a:moveTo>
                  <a:pt x="0" y="0"/>
                </a:moveTo>
                <a:lnTo>
                  <a:pt x="8377941" y="0"/>
                </a:lnTo>
                <a:lnTo>
                  <a:pt x="8286501" y="536061"/>
                </a:lnTo>
                <a:lnTo>
                  <a:pt x="0" y="528441"/>
                </a:lnTo>
                <a:lnTo>
                  <a:pt x="0" y="0"/>
                </a:lnTo>
                <a:close/>
              </a:path>
            </a:pathLst>
          </a:custGeom>
          <a:solidFill>
            <a:srgbClr val="F2F2F2"/>
          </a:solidFill>
          <a:ln w="19050" cap="flat" cmpd="sng">
            <a:solidFill>
              <a:schemeClr val="bg1"/>
            </a:solidFill>
            <a:prstDash val="solid"/>
            <a:round/>
            <a:headEnd type="none" w="sm" len="sm"/>
            <a:tailEnd type="none" w="sm" len="sm"/>
          </a:ln>
        </p:spPr>
        <p:txBody>
          <a:bodyPr spcFirstLastPara="1" wrap="square" lIns="0" tIns="0" rIns="0" bIns="29234" anchor="t" anchorCtr="0">
            <a:noAutofit/>
          </a:bodyPr>
          <a:lstStyle/>
          <a:p>
            <a:pPr defTabSz="1219215">
              <a:buSzPts val="1920"/>
            </a:pPr>
            <a:endParaRPr lang="es-ES_tradnl" sz="2560" b="1" noProof="0" dirty="0">
              <a:latin typeface="Calibri"/>
              <a:ea typeface="Calibri"/>
              <a:cs typeface="Calibri"/>
              <a:sym typeface="Calibri"/>
            </a:endParaRPr>
          </a:p>
        </p:txBody>
      </p:sp>
      <p:sp>
        <p:nvSpPr>
          <p:cNvPr id="44" name="Google Shape;544;p12">
            <a:extLst>
              <a:ext uri="{FF2B5EF4-FFF2-40B4-BE49-F238E27FC236}">
                <a16:creationId xmlns:a16="http://schemas.microsoft.com/office/drawing/2014/main" id="{F6DAE160-49DE-C496-07D3-84C45ABA3832}"/>
              </a:ext>
            </a:extLst>
          </p:cNvPr>
          <p:cNvSpPr/>
          <p:nvPr/>
        </p:nvSpPr>
        <p:spPr>
          <a:xfrm>
            <a:off x="4603115" y="7778532"/>
            <a:ext cx="7910226" cy="407271"/>
          </a:xfrm>
          <a:prstGeom prst="roundRect">
            <a:avLst>
              <a:gd name="adj" fmla="val 16667"/>
            </a:avLst>
          </a:prstGeom>
          <a:solidFill>
            <a:srgbClr val="F2F2F2"/>
          </a:solidFill>
          <a:ln w="12700" cap="flat" cmpd="sng">
            <a:noFill/>
            <a:prstDash val="solid"/>
            <a:miter lim="80"/>
            <a:headEnd type="none" w="sm" len="sm"/>
            <a:tailEnd type="none" w="sm" len="sm"/>
          </a:ln>
        </p:spPr>
        <p:txBody>
          <a:bodyPr spcFirstLastPara="1" wrap="square" lIns="121900" tIns="60933" rIns="121900" bIns="60933" anchor="ctr" anchorCtr="0">
            <a:noAutofit/>
          </a:bodyPr>
          <a:lstStyle/>
          <a:p>
            <a:pPr algn="ctr" defTabSz="1219215">
              <a:buClr>
                <a:srgbClr val="005F1E"/>
              </a:buClr>
              <a:buSzPts val="1000"/>
            </a:pPr>
            <a:r>
              <a:rPr lang="es-ES_tradnl" sz="1333" noProof="0" dirty="0">
                <a:latin typeface="Poppins"/>
                <a:ea typeface="Poppins"/>
                <a:cs typeface="Poppins"/>
                <a:sym typeface="Poppins"/>
              </a:rPr>
              <a:t>Data </a:t>
            </a:r>
            <a:r>
              <a:rPr lang="es-ES_tradnl" sz="1333" noProof="0" dirty="0" err="1">
                <a:latin typeface="Poppins"/>
                <a:ea typeface="Poppins"/>
                <a:cs typeface="Poppins"/>
                <a:sym typeface="Poppins"/>
              </a:rPr>
              <a:t>product</a:t>
            </a:r>
            <a:r>
              <a:rPr lang="es-ES_tradnl" sz="1333" noProof="0" dirty="0">
                <a:latin typeface="Poppins"/>
                <a:ea typeface="Poppins"/>
                <a:cs typeface="Poppins"/>
                <a:sym typeface="Poppins"/>
              </a:rPr>
              <a:t> de pricing</a:t>
            </a:r>
            <a:endParaRPr lang="es-ES_tradnl" sz="1867" noProof="0" dirty="0"/>
          </a:p>
        </p:txBody>
      </p:sp>
      <p:sp>
        <p:nvSpPr>
          <p:cNvPr id="46" name="Action Button: Forward or Next 121">
            <a:hlinkClick r:id="rId5" action="ppaction://hlinksldjump" highlightClick="1"/>
            <a:extLst>
              <a:ext uri="{FF2B5EF4-FFF2-40B4-BE49-F238E27FC236}">
                <a16:creationId xmlns:a16="http://schemas.microsoft.com/office/drawing/2014/main" id="{09CADF10-DAAB-8946-FEE6-2AC729E24D35}"/>
              </a:ext>
            </a:extLst>
          </p:cNvPr>
          <p:cNvSpPr/>
          <p:nvPr/>
        </p:nvSpPr>
        <p:spPr>
          <a:xfrm>
            <a:off x="8561068" y="6062176"/>
            <a:ext cx="230249" cy="206772"/>
          </a:xfrm>
          <a:prstGeom prst="actionButtonForwardNex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2489" noProof="0" dirty="0">
              <a:solidFill>
                <a:srgbClr val="000000"/>
              </a:solidFill>
            </a:endParaRPr>
          </a:p>
        </p:txBody>
      </p:sp>
      <p:sp>
        <p:nvSpPr>
          <p:cNvPr id="48" name="Google Shape;167;g3ed063acbfe_1_0">
            <a:extLst>
              <a:ext uri="{FF2B5EF4-FFF2-40B4-BE49-F238E27FC236}">
                <a16:creationId xmlns:a16="http://schemas.microsoft.com/office/drawing/2014/main" id="{4B4C6DB2-DB1C-33C0-0DEB-875B4DADE8BE}"/>
              </a:ext>
            </a:extLst>
          </p:cNvPr>
          <p:cNvSpPr txBox="1"/>
          <p:nvPr/>
        </p:nvSpPr>
        <p:spPr>
          <a:xfrm>
            <a:off x="298027" y="376124"/>
            <a:ext cx="13824856"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Ecosistema de pricing, visión cliente 360°, para la gestión del precio </a:t>
            </a:r>
          </a:p>
        </p:txBody>
      </p:sp>
      <p:sp>
        <p:nvSpPr>
          <p:cNvPr id="50" name="Google Shape;306;p43">
            <a:extLst>
              <a:ext uri="{FF2B5EF4-FFF2-40B4-BE49-F238E27FC236}">
                <a16:creationId xmlns:a16="http://schemas.microsoft.com/office/drawing/2014/main" id="{17C72FDF-5365-9DEE-A65E-A739ECEBE49F}"/>
              </a:ext>
            </a:extLst>
          </p:cNvPr>
          <p:cNvSpPr/>
          <p:nvPr/>
        </p:nvSpPr>
        <p:spPr>
          <a:xfrm rot="10800000" flipH="1">
            <a:off x="4563728" y="2473116"/>
            <a:ext cx="8628389" cy="3261621"/>
          </a:xfrm>
          <a:custGeom>
            <a:avLst/>
            <a:gdLst/>
            <a:ahLst/>
            <a:cxnLst/>
            <a:rect l="l" t="t" r="r" b="b"/>
            <a:pathLst>
              <a:path w="1828800" h="457200" extrusionOk="0">
                <a:moveTo>
                  <a:pt x="0" y="0"/>
                </a:moveTo>
                <a:lnTo>
                  <a:pt x="1828800" y="0"/>
                </a:lnTo>
                <a:lnTo>
                  <a:pt x="1684668" y="452277"/>
                </a:lnTo>
                <a:lnTo>
                  <a:pt x="0" y="457200"/>
                </a:lnTo>
                <a:lnTo>
                  <a:pt x="0" y="0"/>
                </a:lnTo>
                <a:close/>
              </a:path>
            </a:pathLst>
          </a:custGeom>
          <a:solidFill>
            <a:schemeClr val="accent2"/>
          </a:solidFill>
          <a:ln w="19050" cap="flat" cmpd="sng">
            <a:solidFill>
              <a:srgbClr val="FFFFFF"/>
            </a:solidFill>
            <a:prstDash val="solid"/>
            <a:round/>
            <a:headEnd type="none" w="sm" len="sm"/>
            <a:tailEnd type="none" w="sm" len="sm"/>
          </a:ln>
        </p:spPr>
        <p:txBody>
          <a:bodyPr spcFirstLastPara="1" wrap="square" lIns="121900" tIns="60933" rIns="121900" bIns="60933" anchor="ctr" anchorCtr="0">
            <a:noAutofit/>
          </a:bodyPr>
          <a:lstStyle/>
          <a:p>
            <a:pPr algn="ctr" defTabSz="1219215">
              <a:buClrTx/>
              <a:buSzPts val="1800"/>
              <a:defRPr/>
            </a:pPr>
            <a:endParaRPr lang="es-ES_tradnl" sz="2400" noProof="0" dirty="0">
              <a:latin typeface="Calibri"/>
              <a:ea typeface="Calibri"/>
              <a:cs typeface="Calibri"/>
              <a:sym typeface="Calibri"/>
            </a:endParaRPr>
          </a:p>
        </p:txBody>
      </p:sp>
      <p:sp>
        <p:nvSpPr>
          <p:cNvPr id="51" name="Google Shape;307;p43">
            <a:extLst>
              <a:ext uri="{FF2B5EF4-FFF2-40B4-BE49-F238E27FC236}">
                <a16:creationId xmlns:a16="http://schemas.microsoft.com/office/drawing/2014/main" id="{0EFB1258-58ED-D5C3-D237-99DE43F51E05}"/>
              </a:ext>
            </a:extLst>
          </p:cNvPr>
          <p:cNvSpPr/>
          <p:nvPr/>
        </p:nvSpPr>
        <p:spPr>
          <a:xfrm>
            <a:off x="5116227" y="2597557"/>
            <a:ext cx="6784400" cy="538800"/>
          </a:xfrm>
          <a:prstGeom prst="roundRect">
            <a:avLst>
              <a:gd name="adj" fmla="val 16667"/>
            </a:avLst>
          </a:prstGeom>
          <a:noFill/>
          <a:ln>
            <a:noFill/>
          </a:ln>
        </p:spPr>
        <p:txBody>
          <a:bodyPr spcFirstLastPara="1" wrap="square" lIns="60933" tIns="36567" rIns="60933" bIns="36567" anchor="ctr" anchorCtr="0">
            <a:noAutofit/>
          </a:bodyPr>
          <a:lstStyle/>
          <a:p>
            <a:pPr defTabSz="1219215">
              <a:buClrTx/>
              <a:defRPr/>
            </a:pPr>
            <a:r>
              <a:rPr lang="es-ES_tradnl" sz="1867" b="1" noProof="0" dirty="0">
                <a:latin typeface="Poppins"/>
                <a:ea typeface="Poppins"/>
                <a:cs typeface="Poppins"/>
                <a:sym typeface="Poppins"/>
              </a:rPr>
              <a:t>2  ·  RECOMENDACIÓN Y REALIZACIÓN DE PRECIOS</a:t>
            </a:r>
            <a:endParaRPr lang="es-ES_tradnl" sz="1867" noProof="0" dirty="0"/>
          </a:p>
        </p:txBody>
      </p:sp>
      <p:sp>
        <p:nvSpPr>
          <p:cNvPr id="52" name="Google Shape;310;p43">
            <a:extLst>
              <a:ext uri="{FF2B5EF4-FFF2-40B4-BE49-F238E27FC236}">
                <a16:creationId xmlns:a16="http://schemas.microsoft.com/office/drawing/2014/main" id="{D76B9594-DFB7-19A7-E00E-B6D609EC285C}"/>
              </a:ext>
            </a:extLst>
          </p:cNvPr>
          <p:cNvSpPr/>
          <p:nvPr/>
        </p:nvSpPr>
        <p:spPr>
          <a:xfrm>
            <a:off x="5235540" y="3154565"/>
            <a:ext cx="4176000" cy="4892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Recomendación de precios</a:t>
            </a:r>
            <a:endParaRPr lang="es-ES_tradnl" sz="1778" noProof="0" dirty="0"/>
          </a:p>
        </p:txBody>
      </p:sp>
      <p:sp>
        <p:nvSpPr>
          <p:cNvPr id="55" name="Google Shape;311;p43">
            <a:extLst>
              <a:ext uri="{FF2B5EF4-FFF2-40B4-BE49-F238E27FC236}">
                <a16:creationId xmlns:a16="http://schemas.microsoft.com/office/drawing/2014/main" id="{8CCFB83C-13F0-62F8-99FD-E120859A70E7}"/>
              </a:ext>
            </a:extLst>
          </p:cNvPr>
          <p:cNvSpPr/>
          <p:nvPr/>
        </p:nvSpPr>
        <p:spPr>
          <a:xfrm>
            <a:off x="10382901" y="3260798"/>
            <a:ext cx="2284638" cy="489200"/>
          </a:xfrm>
          <a:prstGeom prst="rect">
            <a:avLst/>
          </a:prstGeom>
          <a:noFill/>
          <a:ln>
            <a:noFill/>
          </a:ln>
        </p:spPr>
        <p:txBody>
          <a:bodyPr spcFirstLastPara="1" wrap="square" lIns="60933" tIns="36567" rIns="60933" bIns="36567" anchor="ctr" anchorCtr="0">
            <a:noAutofit/>
          </a:bodyPr>
          <a:lstStyle/>
          <a:p>
            <a:pPr defTabSz="1219215">
              <a:buClrTx/>
              <a:defRPr/>
            </a:pPr>
            <a:r>
              <a:rPr lang="es-ES_tradnl" sz="1778" noProof="0" dirty="0">
                <a:latin typeface="Poppins"/>
                <a:ea typeface="Poppins"/>
                <a:cs typeface="Poppins"/>
                <a:sym typeface="Poppins"/>
              </a:rPr>
              <a:t>Realización de precios</a:t>
            </a:r>
            <a:endParaRPr lang="es-ES_tradnl" sz="1778" noProof="0" dirty="0"/>
          </a:p>
        </p:txBody>
      </p:sp>
      <p:cxnSp>
        <p:nvCxnSpPr>
          <p:cNvPr id="57" name="Google Shape;323;p43">
            <a:extLst>
              <a:ext uri="{FF2B5EF4-FFF2-40B4-BE49-F238E27FC236}">
                <a16:creationId xmlns:a16="http://schemas.microsoft.com/office/drawing/2014/main" id="{F3EA2B0F-DB80-415C-7821-A4A9060A741E}"/>
              </a:ext>
            </a:extLst>
          </p:cNvPr>
          <p:cNvCxnSpPr>
            <a:cxnSpLocks/>
          </p:cNvCxnSpPr>
          <p:nvPr/>
        </p:nvCxnSpPr>
        <p:spPr>
          <a:xfrm>
            <a:off x="9718009" y="3215723"/>
            <a:ext cx="0" cy="2211262"/>
          </a:xfrm>
          <a:prstGeom prst="straightConnector1">
            <a:avLst/>
          </a:prstGeom>
          <a:noFill/>
          <a:ln w="9525" cap="flat" cmpd="sng">
            <a:solidFill>
              <a:schemeClr val="tx1"/>
            </a:solidFill>
            <a:prstDash val="dash"/>
            <a:round/>
            <a:headEnd type="none" w="sm" len="sm"/>
            <a:tailEnd type="none" w="sm" len="sm"/>
          </a:ln>
        </p:spPr>
      </p:cxnSp>
      <p:sp>
        <p:nvSpPr>
          <p:cNvPr id="58" name="Google Shape;329;p43">
            <a:extLst>
              <a:ext uri="{FF2B5EF4-FFF2-40B4-BE49-F238E27FC236}">
                <a16:creationId xmlns:a16="http://schemas.microsoft.com/office/drawing/2014/main" id="{DBFC0360-2534-9E49-AF3B-1ED7D06F769C}"/>
              </a:ext>
            </a:extLst>
          </p:cNvPr>
          <p:cNvSpPr/>
          <p:nvPr/>
        </p:nvSpPr>
        <p:spPr>
          <a:xfrm>
            <a:off x="4361937" y="4156347"/>
            <a:ext cx="2632220" cy="1440343"/>
          </a:xfrm>
          <a:prstGeom prst="roundRect">
            <a:avLst>
              <a:gd name="adj" fmla="val 16667"/>
            </a:avLst>
          </a:prstGeom>
          <a:noFill/>
          <a:ln>
            <a:noFill/>
          </a:ln>
        </p:spPr>
        <p:txBody>
          <a:bodyPr spcFirstLastPara="1" wrap="square" lIns="121900" tIns="60933" rIns="121900" bIns="60933" anchor="ctr" anchorCtr="0">
            <a:noAutofit/>
          </a:bodyPr>
          <a:lstStyle/>
          <a:p>
            <a:pPr marL="609608" indent="-389472" defTabSz="1219215">
              <a:buClr>
                <a:schemeClr val="tx1"/>
              </a:buClr>
              <a:buSzPts val="1000"/>
              <a:buFont typeface="Poppins"/>
              <a:buChar char="●"/>
            </a:pPr>
            <a:r>
              <a:rPr lang="es-ES_tradnl" sz="1333" noProof="0" dirty="0">
                <a:latin typeface="Poppins"/>
                <a:ea typeface="Poppins"/>
                <a:cs typeface="Poppins"/>
                <a:sym typeface="Poppins"/>
              </a:rPr>
              <a:t>Herramienta CLV 0.5 y 1.0 </a:t>
            </a:r>
            <a:r>
              <a:rPr lang="es-ES_tradnl" sz="1067" noProof="0" dirty="0">
                <a:latin typeface="Poppins"/>
                <a:ea typeface="Poppins"/>
                <a:cs typeface="Poppins"/>
                <a:sym typeface="Poppins"/>
              </a:rPr>
              <a:t>(curvas </a:t>
            </a:r>
            <a:r>
              <a:rPr lang="es-ES_tradnl" sz="1067" noProof="0" dirty="0" err="1">
                <a:latin typeface="Poppins"/>
                <a:ea typeface="Poppins"/>
                <a:cs typeface="Poppins"/>
                <a:sym typeface="Poppins"/>
              </a:rPr>
              <a:t>lifetime</a:t>
            </a:r>
            <a:r>
              <a:rPr lang="es-ES_tradnl" sz="1067" noProof="0" dirty="0">
                <a:latin typeface="Poppins"/>
                <a:ea typeface="Poppins"/>
                <a:cs typeface="Poppins"/>
                <a:sym typeface="Poppins"/>
              </a:rPr>
              <a:t> de prepagos, cancelaciones, LGD, PD &amp; componente de capital)</a:t>
            </a:r>
          </a:p>
        </p:txBody>
      </p:sp>
      <p:sp>
        <p:nvSpPr>
          <p:cNvPr id="60" name="Google Shape;330;p43">
            <a:extLst>
              <a:ext uri="{FF2B5EF4-FFF2-40B4-BE49-F238E27FC236}">
                <a16:creationId xmlns:a16="http://schemas.microsoft.com/office/drawing/2014/main" id="{AF724728-928F-19E4-7ABC-4D18CF64194F}"/>
              </a:ext>
            </a:extLst>
          </p:cNvPr>
          <p:cNvSpPr/>
          <p:nvPr/>
        </p:nvSpPr>
        <p:spPr>
          <a:xfrm>
            <a:off x="9563210" y="4138138"/>
            <a:ext cx="2871362" cy="1422800"/>
          </a:xfrm>
          <a:prstGeom prst="roundRect">
            <a:avLst>
              <a:gd name="adj" fmla="val 16667"/>
            </a:avLst>
          </a:prstGeom>
          <a:noFill/>
          <a:ln>
            <a:noFill/>
          </a:ln>
        </p:spPr>
        <p:txBody>
          <a:bodyPr spcFirstLastPara="1" wrap="square" lIns="121900" tIns="60933" rIns="121900" bIns="60933" anchor="t" anchorCtr="0">
            <a:noAutofit/>
          </a:bodyPr>
          <a:lstStyle/>
          <a:p>
            <a:pPr marL="609608" lvl="1" indent="-389472" defTabSz="1219215">
              <a:buClr>
                <a:schemeClr val="tx1"/>
              </a:buClr>
              <a:buSzPts val="1000"/>
              <a:buFont typeface="Poppins"/>
              <a:buChar char="●"/>
            </a:pPr>
            <a:r>
              <a:rPr lang="es-ES_tradnl" sz="1333" noProof="0" dirty="0">
                <a:latin typeface="Poppins"/>
                <a:ea typeface="Poppins"/>
                <a:cs typeface="Poppins"/>
                <a:sym typeface="Poppins"/>
              </a:rPr>
              <a:t>Gestión de excepciones (workshops e iniciativas tácticas)</a:t>
            </a:r>
          </a:p>
        </p:txBody>
      </p:sp>
      <p:sp>
        <p:nvSpPr>
          <p:cNvPr id="61" name="Rounded Rectangle 60">
            <a:extLst>
              <a:ext uri="{FF2B5EF4-FFF2-40B4-BE49-F238E27FC236}">
                <a16:creationId xmlns:a16="http://schemas.microsoft.com/office/drawing/2014/main" id="{41128F85-EBF6-A74A-5E37-5C59C5679C73}"/>
              </a:ext>
            </a:extLst>
          </p:cNvPr>
          <p:cNvSpPr/>
          <p:nvPr/>
        </p:nvSpPr>
        <p:spPr>
          <a:xfrm>
            <a:off x="4646555" y="3810465"/>
            <a:ext cx="2225829" cy="217465"/>
          </a:xfrm>
          <a:prstGeom prst="roundRect">
            <a:avLst>
              <a:gd name="adj" fmla="val 11012"/>
            </a:avLst>
          </a:prstGeom>
          <a:solidFill>
            <a:srgbClr val="06B050"/>
          </a:solidFill>
          <a:ln w="25400" cap="flat" cmpd="sng" algn="ctr">
            <a:noFill/>
            <a:prstDash val="solid"/>
          </a:ln>
          <a:effectLst/>
        </p:spPr>
        <p:txBody>
          <a:bodyPr rtlCol="0" anchor="ctr"/>
          <a:lstStyle/>
          <a:p>
            <a:pPr algn="ctr" defTabSz="1219215">
              <a:buClrTx/>
              <a:defRPr/>
            </a:pPr>
            <a:r>
              <a:rPr lang="es-ES_tradnl" sz="1244" noProof="0" dirty="0" err="1">
                <a:solidFill>
                  <a:schemeClr val="bg1"/>
                </a:solidFill>
                <a:ea typeface="+mn-ea"/>
                <a:cs typeface="+mn-cs"/>
              </a:rPr>
              <a:t>Profitability</a:t>
            </a:r>
            <a:r>
              <a:rPr lang="es-ES_tradnl" sz="1244" noProof="0" dirty="0">
                <a:solidFill>
                  <a:schemeClr val="bg1"/>
                </a:solidFill>
                <a:ea typeface="+mn-ea"/>
                <a:cs typeface="+mn-cs"/>
              </a:rPr>
              <a:t> Based Pricing</a:t>
            </a:r>
          </a:p>
        </p:txBody>
      </p:sp>
      <p:sp>
        <p:nvSpPr>
          <p:cNvPr id="64" name="Google Shape;329;p43">
            <a:extLst>
              <a:ext uri="{FF2B5EF4-FFF2-40B4-BE49-F238E27FC236}">
                <a16:creationId xmlns:a16="http://schemas.microsoft.com/office/drawing/2014/main" id="{020D6567-9F8A-8FE9-53FC-75CF91BDE8E0}"/>
              </a:ext>
            </a:extLst>
          </p:cNvPr>
          <p:cNvSpPr/>
          <p:nvPr/>
        </p:nvSpPr>
        <p:spPr>
          <a:xfrm>
            <a:off x="6586596" y="4156346"/>
            <a:ext cx="3296615" cy="1158983"/>
          </a:xfrm>
          <a:prstGeom prst="roundRect">
            <a:avLst>
              <a:gd name="adj" fmla="val 16667"/>
            </a:avLst>
          </a:prstGeom>
          <a:noFill/>
          <a:ln>
            <a:noFill/>
          </a:ln>
        </p:spPr>
        <p:txBody>
          <a:bodyPr spcFirstLastPara="1" wrap="square" lIns="121900" tIns="60933" rIns="121900" bIns="60933" anchor="t" anchorCtr="0">
            <a:noAutofit/>
          </a:bodyPr>
          <a:lstStyle/>
          <a:p>
            <a:pPr marL="609608" indent="-389472" defTabSz="1219215">
              <a:buClr>
                <a:schemeClr val="tx1"/>
              </a:buClr>
              <a:buSzPts val="1000"/>
              <a:buFont typeface="Poppins"/>
              <a:buChar char="●"/>
            </a:pPr>
            <a:r>
              <a:rPr lang="es-ES_tradnl" sz="1333" noProof="0" dirty="0" err="1">
                <a:latin typeface="Poppins"/>
                <a:ea typeface="Poppins"/>
                <a:cs typeface="Poppins"/>
                <a:sym typeface="Poppins"/>
              </a:rPr>
              <a:t>Clusterización</a:t>
            </a:r>
            <a:r>
              <a:rPr lang="es-ES_tradnl" sz="1333" noProof="0" dirty="0">
                <a:latin typeface="Poppins"/>
                <a:ea typeface="Poppins"/>
                <a:cs typeface="Poppins"/>
                <a:sym typeface="Poppins"/>
              </a:rPr>
              <a:t> data-</a:t>
            </a:r>
            <a:r>
              <a:rPr lang="es-ES_tradnl" sz="1333" noProof="0" dirty="0" err="1">
                <a:latin typeface="Poppins"/>
                <a:ea typeface="Poppins"/>
                <a:cs typeface="Poppins"/>
                <a:sym typeface="Poppins"/>
              </a:rPr>
              <a:t>driven</a:t>
            </a:r>
            <a:endParaRPr lang="es-ES_tradnl" sz="1333" noProof="0" dirty="0">
              <a:latin typeface="Poppins"/>
              <a:ea typeface="Poppins"/>
              <a:cs typeface="Poppins"/>
              <a:sym typeface="Poppins"/>
            </a:endParaRP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Módulo de tasa de la competencia</a:t>
            </a: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Sensibilidad al precio</a:t>
            </a:r>
          </a:p>
          <a:p>
            <a:pPr marL="609608" indent="-389472" defTabSz="1219215">
              <a:buClr>
                <a:schemeClr val="tx1"/>
              </a:buClr>
              <a:buSzPts val="1000"/>
              <a:buFont typeface="Poppins"/>
              <a:buChar char="●"/>
            </a:pPr>
            <a:r>
              <a:rPr lang="es-ES_tradnl" sz="1333" noProof="0" dirty="0">
                <a:latin typeface="Poppins"/>
                <a:ea typeface="Poppins"/>
                <a:cs typeface="Poppins"/>
                <a:sym typeface="Poppins"/>
              </a:rPr>
              <a:t>MFA del cliente</a:t>
            </a:r>
          </a:p>
        </p:txBody>
      </p:sp>
      <p:sp>
        <p:nvSpPr>
          <p:cNvPr id="65" name="Rounded Rectangle 64">
            <a:extLst>
              <a:ext uri="{FF2B5EF4-FFF2-40B4-BE49-F238E27FC236}">
                <a16:creationId xmlns:a16="http://schemas.microsoft.com/office/drawing/2014/main" id="{A77CCA08-E52E-1903-931A-61FF6514F58B}"/>
              </a:ext>
            </a:extLst>
          </p:cNvPr>
          <p:cNvSpPr/>
          <p:nvPr/>
        </p:nvSpPr>
        <p:spPr>
          <a:xfrm>
            <a:off x="6924523" y="3810465"/>
            <a:ext cx="2632220" cy="217465"/>
          </a:xfrm>
          <a:prstGeom prst="roundRect">
            <a:avLst>
              <a:gd name="adj" fmla="val 11012"/>
            </a:avLst>
          </a:prstGeom>
          <a:solidFill>
            <a:srgbClr val="06B050"/>
          </a:solidFill>
          <a:ln w="25400" cap="flat" cmpd="sng" algn="ctr">
            <a:noFill/>
            <a:prstDash val="solid"/>
          </a:ln>
          <a:effectLst/>
        </p:spPr>
        <p:txBody>
          <a:bodyPr rtlCol="0" anchor="ctr"/>
          <a:lstStyle/>
          <a:p>
            <a:pPr algn="ctr" defTabSz="1219215">
              <a:buClrTx/>
              <a:defRPr/>
            </a:pPr>
            <a:r>
              <a:rPr lang="es-ES_tradnl" sz="1244" noProof="0" dirty="0">
                <a:solidFill>
                  <a:schemeClr val="bg1"/>
                </a:solidFill>
                <a:ea typeface="+mn-ea"/>
                <a:cs typeface="+mn-cs"/>
              </a:rPr>
              <a:t>Módulo comercial</a:t>
            </a:r>
          </a:p>
        </p:txBody>
      </p:sp>
      <p:sp>
        <p:nvSpPr>
          <p:cNvPr id="66" name="Google Shape;317;p43">
            <a:extLst>
              <a:ext uri="{FF2B5EF4-FFF2-40B4-BE49-F238E27FC236}">
                <a16:creationId xmlns:a16="http://schemas.microsoft.com/office/drawing/2014/main" id="{792BA653-F2A9-7F59-083F-E2BC2FA7C6DE}"/>
              </a:ext>
            </a:extLst>
          </p:cNvPr>
          <p:cNvSpPr/>
          <p:nvPr/>
        </p:nvSpPr>
        <p:spPr>
          <a:xfrm flipV="1">
            <a:off x="4563729" y="1870188"/>
            <a:ext cx="7870837" cy="548028"/>
          </a:xfrm>
          <a:custGeom>
            <a:avLst/>
            <a:gdLst/>
            <a:ahLst/>
            <a:cxnLst/>
            <a:rect l="l" t="t" r="r" b="b"/>
            <a:pathLst>
              <a:path w="8377941" h="536061" extrusionOk="0">
                <a:moveTo>
                  <a:pt x="0" y="0"/>
                </a:moveTo>
                <a:lnTo>
                  <a:pt x="8377941" y="0"/>
                </a:lnTo>
                <a:lnTo>
                  <a:pt x="8286501" y="536061"/>
                </a:lnTo>
                <a:lnTo>
                  <a:pt x="0" y="528441"/>
                </a:lnTo>
                <a:lnTo>
                  <a:pt x="0" y="0"/>
                </a:lnTo>
                <a:close/>
              </a:path>
            </a:pathLst>
          </a:custGeom>
          <a:solidFill>
            <a:srgbClr val="3C9B96"/>
          </a:solidFill>
          <a:ln w="19050" cap="flat" cmpd="sng">
            <a:solidFill>
              <a:srgbClr val="06B050"/>
            </a:solidFill>
            <a:prstDash val="solid"/>
            <a:round/>
            <a:headEnd type="none" w="sm" len="sm"/>
            <a:tailEnd type="none" w="sm" len="sm"/>
          </a:ln>
        </p:spPr>
        <p:txBody>
          <a:bodyPr spcFirstLastPara="1" wrap="square" lIns="0" tIns="0" rIns="0" bIns="29234" anchor="t" anchorCtr="0">
            <a:noAutofit/>
          </a:bodyPr>
          <a:lstStyle/>
          <a:p>
            <a:pPr defTabSz="1219215">
              <a:buSzPts val="1920"/>
            </a:pPr>
            <a:endParaRPr lang="es-ES_tradnl" sz="2560" b="1" noProof="0" dirty="0">
              <a:solidFill>
                <a:srgbClr val="FFC000"/>
              </a:solidFill>
              <a:latin typeface="Calibri"/>
              <a:ea typeface="Calibri"/>
              <a:cs typeface="Calibri"/>
              <a:sym typeface="Calibri"/>
            </a:endParaRPr>
          </a:p>
        </p:txBody>
      </p:sp>
      <p:sp>
        <p:nvSpPr>
          <p:cNvPr id="67" name="Rounded Rectangle 66">
            <a:extLst>
              <a:ext uri="{FF2B5EF4-FFF2-40B4-BE49-F238E27FC236}">
                <a16:creationId xmlns:a16="http://schemas.microsoft.com/office/drawing/2014/main" id="{B49EDD84-549E-3657-29EE-20B99FB1E579}"/>
              </a:ext>
            </a:extLst>
          </p:cNvPr>
          <p:cNvSpPr/>
          <p:nvPr/>
        </p:nvSpPr>
        <p:spPr>
          <a:xfrm>
            <a:off x="5871015" y="2037613"/>
            <a:ext cx="4415557" cy="268896"/>
          </a:xfrm>
          <a:prstGeom prst="roundRect">
            <a:avLst>
              <a:gd name="adj" fmla="val 11012"/>
            </a:avLst>
          </a:prstGeom>
          <a:solidFill>
            <a:srgbClr val="3C9B96"/>
          </a:solidFill>
          <a:ln w="25400" cap="flat" cmpd="sng" algn="ctr">
            <a:noFill/>
            <a:prstDash val="solid"/>
          </a:ln>
          <a:effectLst/>
        </p:spPr>
        <p:txBody>
          <a:bodyPr lIns="162560" tIns="81280" rIns="162560" bIns="81280" rtlCol="0" anchor="ctr"/>
          <a:lstStyle/>
          <a:p>
            <a:pPr algn="ctr" defTabSz="1219215">
              <a:buClrTx/>
              <a:defRPr/>
            </a:pPr>
            <a:r>
              <a:rPr lang="es-ES_tradnl" sz="1867" b="1" noProof="0" dirty="0">
                <a:solidFill>
                  <a:srgbClr val="FFFFFF"/>
                </a:solidFill>
                <a:ea typeface="+mn-ea"/>
                <a:cs typeface="+mn-cs"/>
              </a:rPr>
              <a:t>Herramienta </a:t>
            </a:r>
            <a:r>
              <a:rPr lang="es-ES_tradnl" sz="1867" b="1" noProof="0" dirty="0" err="1">
                <a:solidFill>
                  <a:srgbClr val="FFFFFF"/>
                </a:solidFill>
                <a:ea typeface="+mn-ea"/>
                <a:cs typeface="+mn-cs"/>
              </a:rPr>
              <a:t>PricingSmart</a:t>
            </a:r>
            <a:r>
              <a:rPr lang="es-ES_tradnl" sz="1867" b="1" noProof="0" dirty="0">
                <a:solidFill>
                  <a:srgbClr val="FFFFFF"/>
                </a:solidFill>
                <a:ea typeface="+mn-ea"/>
                <a:cs typeface="+mn-cs"/>
              </a:rPr>
              <a:t> 360 Light</a:t>
            </a:r>
          </a:p>
        </p:txBody>
      </p:sp>
      <p:pic>
        <p:nvPicPr>
          <p:cNvPr id="68" name="Imagen 28" descr="mejor precio ">
            <a:extLst>
              <a:ext uri="{FF2B5EF4-FFF2-40B4-BE49-F238E27FC236}">
                <a16:creationId xmlns:a16="http://schemas.microsoft.com/office/drawing/2014/main" id="{210E345C-71AD-2579-12D8-02EE7AA05A5B}"/>
              </a:ext>
            </a:extLst>
          </p:cNvPr>
          <p:cNvPicPr>
            <a:picLocks noChangeAspect="1"/>
          </p:cNvPicPr>
          <p:nvPr/>
        </p:nvPicPr>
        <p:blipFill>
          <a:blip r:embed="rId6"/>
          <a:stretch>
            <a:fillRect/>
          </a:stretch>
        </p:blipFill>
        <p:spPr>
          <a:xfrm>
            <a:off x="4664729" y="3223337"/>
            <a:ext cx="416012" cy="416012"/>
          </a:xfrm>
          <a:prstGeom prst="rect">
            <a:avLst/>
          </a:prstGeom>
        </p:spPr>
      </p:pic>
      <p:pic>
        <p:nvPicPr>
          <p:cNvPr id="70" name="Imagen 29" descr="cumplimiento del proyecto ">
            <a:extLst>
              <a:ext uri="{FF2B5EF4-FFF2-40B4-BE49-F238E27FC236}">
                <a16:creationId xmlns:a16="http://schemas.microsoft.com/office/drawing/2014/main" id="{5458733F-AC60-095A-8D72-47C6560D2371}"/>
              </a:ext>
            </a:extLst>
          </p:cNvPr>
          <p:cNvPicPr>
            <a:picLocks noChangeAspect="1"/>
          </p:cNvPicPr>
          <p:nvPr/>
        </p:nvPicPr>
        <p:blipFill>
          <a:blip r:embed="rId7"/>
          <a:stretch>
            <a:fillRect/>
          </a:stretch>
        </p:blipFill>
        <p:spPr>
          <a:xfrm>
            <a:off x="9872812" y="3281370"/>
            <a:ext cx="430356" cy="430356"/>
          </a:xfrm>
          <a:prstGeom prst="rect">
            <a:avLst/>
          </a:prstGeom>
        </p:spPr>
      </p:pic>
      <p:pic>
        <p:nvPicPr>
          <p:cNvPr id="71" name="Imagen 28" descr="mejor precio ">
            <a:extLst>
              <a:ext uri="{FF2B5EF4-FFF2-40B4-BE49-F238E27FC236}">
                <a16:creationId xmlns:a16="http://schemas.microsoft.com/office/drawing/2014/main" id="{B85D6B8C-8486-DD1A-A694-1CEAB52057A0}"/>
              </a:ext>
            </a:extLst>
          </p:cNvPr>
          <p:cNvPicPr>
            <a:picLocks noChangeAspect="1"/>
          </p:cNvPicPr>
          <p:nvPr/>
        </p:nvPicPr>
        <p:blipFill>
          <a:blip r:embed="rId6"/>
          <a:stretch>
            <a:fillRect/>
          </a:stretch>
        </p:blipFill>
        <p:spPr>
          <a:xfrm>
            <a:off x="4661057" y="2759265"/>
            <a:ext cx="195796" cy="195796"/>
          </a:xfrm>
          <a:prstGeom prst="rect">
            <a:avLst/>
          </a:prstGeom>
        </p:spPr>
      </p:pic>
      <p:pic>
        <p:nvPicPr>
          <p:cNvPr id="72" name="Imagen 29" descr="cumplimiento del proyecto ">
            <a:extLst>
              <a:ext uri="{FF2B5EF4-FFF2-40B4-BE49-F238E27FC236}">
                <a16:creationId xmlns:a16="http://schemas.microsoft.com/office/drawing/2014/main" id="{37B08C29-25C7-3643-97F8-0BEBF257E06B}"/>
              </a:ext>
            </a:extLst>
          </p:cNvPr>
          <p:cNvPicPr>
            <a:picLocks noChangeAspect="1"/>
          </p:cNvPicPr>
          <p:nvPr/>
        </p:nvPicPr>
        <p:blipFill>
          <a:blip r:embed="rId7"/>
          <a:stretch>
            <a:fillRect/>
          </a:stretch>
        </p:blipFill>
        <p:spPr>
          <a:xfrm>
            <a:off x="4904368" y="2752514"/>
            <a:ext cx="202546" cy="202546"/>
          </a:xfrm>
          <a:prstGeom prst="rect">
            <a:avLst/>
          </a:prstGeom>
        </p:spPr>
      </p:pic>
      <p:sp>
        <p:nvSpPr>
          <p:cNvPr id="76" name="Google Shape;316;p43">
            <a:extLst>
              <a:ext uri="{FF2B5EF4-FFF2-40B4-BE49-F238E27FC236}">
                <a16:creationId xmlns:a16="http://schemas.microsoft.com/office/drawing/2014/main" id="{75A62287-863D-246C-416B-DE6C6C56E5CA}"/>
              </a:ext>
            </a:extLst>
          </p:cNvPr>
          <p:cNvSpPr/>
          <p:nvPr/>
        </p:nvSpPr>
        <p:spPr>
          <a:xfrm>
            <a:off x="12894516" y="4728116"/>
            <a:ext cx="2201333" cy="406400"/>
          </a:xfrm>
          <a:prstGeom prst="rect">
            <a:avLst/>
          </a:prstGeom>
          <a:noFill/>
          <a:ln>
            <a:noFill/>
          </a:ln>
        </p:spPr>
        <p:txBody>
          <a:bodyPr spcFirstLastPara="1" wrap="square" lIns="60933" tIns="36567" rIns="60933" bIns="36567" anchor="t" anchorCtr="0">
            <a:noAutofit/>
          </a:bodyPr>
          <a:lstStyle/>
          <a:p>
            <a:pPr algn="ctr" defTabSz="1219215"/>
            <a:r>
              <a:rPr lang="es-ES_tradnl" sz="2400" b="1" noProof="0" dirty="0">
                <a:solidFill>
                  <a:schemeClr val="tx1"/>
                </a:solidFill>
                <a:latin typeface="Poppins"/>
                <a:ea typeface="Poppins"/>
                <a:cs typeface="Poppins"/>
                <a:sym typeface="Poppins"/>
              </a:rPr>
              <a:t>VALOR</a:t>
            </a:r>
            <a:endParaRPr lang="es-ES_tradnl" sz="1867" noProof="0" dirty="0">
              <a:solidFill>
                <a:schemeClr val="tx1"/>
              </a:solidFill>
            </a:endParaRPr>
          </a:p>
        </p:txBody>
      </p:sp>
      <p:pic>
        <p:nvPicPr>
          <p:cNvPr id="77" name="Picture 76">
            <a:extLst>
              <a:ext uri="{FF2B5EF4-FFF2-40B4-BE49-F238E27FC236}">
                <a16:creationId xmlns:a16="http://schemas.microsoft.com/office/drawing/2014/main" id="{CC5694D4-C322-EB8B-A7ED-6D6699D07548}"/>
              </a:ext>
            </a:extLst>
          </p:cNvPr>
          <p:cNvPicPr>
            <a:picLocks noChangeAspect="1"/>
          </p:cNvPicPr>
          <p:nvPr/>
        </p:nvPicPr>
        <p:blipFill>
          <a:blip r:embed="rId8">
            <a:clrChange>
              <a:clrFrom>
                <a:srgbClr val="F7F7F7"/>
              </a:clrFrom>
              <a:clrTo>
                <a:srgbClr val="F7F7F7">
                  <a:alpha val="0"/>
                </a:srgbClr>
              </a:clrTo>
            </a:clrChange>
          </a:blip>
          <a:stretch>
            <a:fillRect/>
          </a:stretch>
        </p:blipFill>
        <p:spPr>
          <a:xfrm>
            <a:off x="13424397" y="5147411"/>
            <a:ext cx="1125998" cy="1057186"/>
          </a:xfrm>
          <a:prstGeom prst="rect">
            <a:avLst/>
          </a:prstGeom>
        </p:spPr>
      </p:pic>
      <p:sp>
        <p:nvSpPr>
          <p:cNvPr id="2" name="Rectangle 1">
            <a:extLst>
              <a:ext uri="{FF2B5EF4-FFF2-40B4-BE49-F238E27FC236}">
                <a16:creationId xmlns:a16="http://schemas.microsoft.com/office/drawing/2014/main" id="{F554FC14-023A-465B-36FE-5212807EE465}"/>
              </a:ext>
            </a:extLst>
          </p:cNvPr>
          <p:cNvSpPr/>
          <p:nvPr/>
        </p:nvSpPr>
        <p:spPr>
          <a:xfrm>
            <a:off x="4483993" y="1746939"/>
            <a:ext cx="8708124" cy="3981257"/>
          </a:xfrm>
          <a:prstGeom prst="rect">
            <a:avLst/>
          </a:prstGeom>
          <a:solidFill>
            <a:srgbClr val="FFFFFF">
              <a:alpha val="61569"/>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51304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25BCA-BC88-67F9-EEF1-A3D6A4B9393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895A003-E38D-39DE-6533-CD5C3670A46F}"/>
              </a:ext>
            </a:extLst>
          </p:cNvPr>
          <p:cNvSpPr/>
          <p:nvPr/>
        </p:nvSpPr>
        <p:spPr>
          <a:xfrm>
            <a:off x="85344" y="1143000"/>
            <a:ext cx="16256000" cy="84043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200" noProof="0" dirty="0">
              <a:latin typeface="Calibri" panose="020F0502020204030204" pitchFamily="34" charset="0"/>
              <a:cs typeface="Calibri" panose="020F0502020204030204" pitchFamily="34" charset="0"/>
            </a:endParaRPr>
          </a:p>
        </p:txBody>
      </p:sp>
      <p:sp>
        <p:nvSpPr>
          <p:cNvPr id="48" name="Google Shape;167;g3ed063acbfe_1_0">
            <a:extLst>
              <a:ext uri="{FF2B5EF4-FFF2-40B4-BE49-F238E27FC236}">
                <a16:creationId xmlns:a16="http://schemas.microsoft.com/office/drawing/2014/main" id="{EE329FBD-30AE-04D3-FDFA-54626CF04A1D}"/>
              </a:ext>
            </a:extLst>
          </p:cNvPr>
          <p:cNvSpPr txBox="1"/>
          <p:nvPr/>
        </p:nvSpPr>
        <p:spPr>
          <a:xfrm>
            <a:off x="298027" y="-1"/>
            <a:ext cx="13824856"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dirty="0">
                <a:solidFill>
                  <a:srgbClr val="13807B"/>
                </a:solidFill>
                <a:latin typeface="Poppins"/>
                <a:ea typeface="Poppins"/>
                <a:cs typeface="Poppins"/>
                <a:sym typeface="Poppins"/>
              </a:rPr>
              <a:t>Estado consolidado de las </a:t>
            </a:r>
            <a:r>
              <a:rPr lang="es-ES_tradnl" sz="3200" b="1" kern="1200" noProof="0" dirty="0" err="1">
                <a:solidFill>
                  <a:srgbClr val="13807B"/>
                </a:solidFill>
                <a:latin typeface="Poppins"/>
                <a:ea typeface="Poppins"/>
                <a:cs typeface="Poppins"/>
                <a:sym typeface="Poppins"/>
              </a:rPr>
              <a:t>tracks</a:t>
            </a:r>
            <a:r>
              <a:rPr lang="es-ES_tradnl" sz="3200" b="1" kern="1200" noProof="0" dirty="0">
                <a:solidFill>
                  <a:srgbClr val="13807B"/>
                </a:solidFill>
                <a:latin typeface="Poppins"/>
                <a:ea typeface="Poppins"/>
                <a:cs typeface="Poppins"/>
                <a:sym typeface="Poppins"/>
              </a:rPr>
              <a:t> de Pricing Agosto 26</a:t>
            </a:r>
          </a:p>
        </p:txBody>
      </p:sp>
      <p:sp>
        <p:nvSpPr>
          <p:cNvPr id="130" name="Shape 9">
            <a:extLst>
              <a:ext uri="{FF2B5EF4-FFF2-40B4-BE49-F238E27FC236}">
                <a16:creationId xmlns:a16="http://schemas.microsoft.com/office/drawing/2014/main" id="{FAC1D190-9A57-94EB-2489-62CCBA4E88B5}"/>
              </a:ext>
            </a:extLst>
          </p:cNvPr>
          <p:cNvSpPr/>
          <p:nvPr/>
        </p:nvSpPr>
        <p:spPr>
          <a:xfrm>
            <a:off x="658368" y="1430812"/>
            <a:ext cx="9777984" cy="7688622"/>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131" name="Shape 10">
            <a:extLst>
              <a:ext uri="{FF2B5EF4-FFF2-40B4-BE49-F238E27FC236}">
                <a16:creationId xmlns:a16="http://schemas.microsoft.com/office/drawing/2014/main" id="{B1929781-B34F-003C-BCD4-6693D7DA24FB}"/>
              </a:ext>
            </a:extLst>
          </p:cNvPr>
          <p:cNvSpPr/>
          <p:nvPr/>
        </p:nvSpPr>
        <p:spPr>
          <a:xfrm>
            <a:off x="658368" y="1430812"/>
            <a:ext cx="9777984" cy="329184"/>
          </a:xfrm>
          <a:prstGeom prst="rect">
            <a:avLst/>
          </a:prstGeom>
          <a:solidFill>
            <a:srgbClr val="445A6E"/>
          </a:solidFill>
          <a:ln/>
        </p:spPr>
        <p:txBody>
          <a:bodyPr/>
          <a:lstStyle/>
          <a:p>
            <a:endParaRPr lang="es-ES_tradnl" sz="2400" noProof="0" dirty="0"/>
          </a:p>
        </p:txBody>
      </p:sp>
      <p:sp>
        <p:nvSpPr>
          <p:cNvPr id="132" name="Text 11">
            <a:extLst>
              <a:ext uri="{FF2B5EF4-FFF2-40B4-BE49-F238E27FC236}">
                <a16:creationId xmlns:a16="http://schemas.microsoft.com/office/drawing/2014/main" id="{572F9EE2-EDE9-4002-3880-57CE3126EE18}"/>
              </a:ext>
            </a:extLst>
          </p:cNvPr>
          <p:cNvSpPr/>
          <p:nvPr/>
        </p:nvSpPr>
        <p:spPr>
          <a:xfrm>
            <a:off x="658368" y="1430812"/>
            <a:ext cx="9777984" cy="329184"/>
          </a:xfrm>
          <a:prstGeom prst="rect">
            <a:avLst/>
          </a:prstGeom>
          <a:noFill/>
          <a:ln/>
        </p:spPr>
        <p:txBody>
          <a:bodyPr wrap="square" lIns="0" tIns="0" rIns="0" bIns="0" rtlCol="0" anchor="ctr"/>
          <a:lstStyle/>
          <a:p>
            <a:pPr algn="ctr"/>
            <a:r>
              <a:rPr lang="es-ES_tradnl" sz="1800" b="1" noProof="0" dirty="0">
                <a:solidFill>
                  <a:srgbClr val="FFFFFF"/>
                </a:solidFill>
                <a:latin typeface="Calibri" pitchFamily="34" charset="0"/>
                <a:ea typeface="Calibri" pitchFamily="34" charset="-122"/>
                <a:cs typeface="Calibri" pitchFamily="34" charset="-120"/>
              </a:rPr>
              <a:t>INICIATIVAS TÁCTICAS </a:t>
            </a:r>
            <a:endParaRPr lang="es-ES_tradnl" sz="1800" noProof="0" dirty="0"/>
          </a:p>
        </p:txBody>
      </p:sp>
      <p:sp>
        <p:nvSpPr>
          <p:cNvPr id="133" name="Shape 12">
            <a:extLst>
              <a:ext uri="{FF2B5EF4-FFF2-40B4-BE49-F238E27FC236}">
                <a16:creationId xmlns:a16="http://schemas.microsoft.com/office/drawing/2014/main" id="{B8CD91EC-564C-BD54-9159-4ABB026234C2}"/>
              </a:ext>
            </a:extLst>
          </p:cNvPr>
          <p:cNvSpPr/>
          <p:nvPr/>
        </p:nvSpPr>
        <p:spPr>
          <a:xfrm>
            <a:off x="829056" y="1906300"/>
            <a:ext cx="9436608" cy="1975104"/>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134" name="Shape 13">
            <a:extLst>
              <a:ext uri="{FF2B5EF4-FFF2-40B4-BE49-F238E27FC236}">
                <a16:creationId xmlns:a16="http://schemas.microsoft.com/office/drawing/2014/main" id="{799D6F9D-470C-AE3A-3253-168EF113E995}"/>
              </a:ext>
            </a:extLst>
          </p:cNvPr>
          <p:cNvSpPr/>
          <p:nvPr/>
        </p:nvSpPr>
        <p:spPr>
          <a:xfrm>
            <a:off x="950976" y="2028220"/>
            <a:ext cx="316992" cy="316992"/>
          </a:xfrm>
          <a:prstGeom prst="ellipse">
            <a:avLst/>
          </a:prstGeom>
          <a:solidFill>
            <a:srgbClr val="13807B"/>
          </a:solidFill>
          <a:ln/>
        </p:spPr>
        <p:txBody>
          <a:bodyPr/>
          <a:lstStyle/>
          <a:p>
            <a:endParaRPr lang="es-ES_tradnl" sz="2400" noProof="0" dirty="0"/>
          </a:p>
        </p:txBody>
      </p:sp>
      <p:sp>
        <p:nvSpPr>
          <p:cNvPr id="135" name="Text 14">
            <a:extLst>
              <a:ext uri="{FF2B5EF4-FFF2-40B4-BE49-F238E27FC236}">
                <a16:creationId xmlns:a16="http://schemas.microsoft.com/office/drawing/2014/main" id="{175ECC12-813D-C7FB-4A58-FC33D906784D}"/>
              </a:ext>
            </a:extLst>
          </p:cNvPr>
          <p:cNvSpPr/>
          <p:nvPr/>
        </p:nvSpPr>
        <p:spPr>
          <a:xfrm>
            <a:off x="950976" y="2028220"/>
            <a:ext cx="316992" cy="316992"/>
          </a:xfrm>
          <a:prstGeom prst="rect">
            <a:avLst/>
          </a:prstGeom>
          <a:noFill/>
          <a:ln/>
        </p:spPr>
        <p:txBody>
          <a:bodyPr wrap="square" lIns="0" tIns="0" rIns="0" bIns="0" rtlCol="0" anchor="ctr"/>
          <a:lstStyle/>
          <a:p>
            <a:pPr algn="ctr"/>
            <a:r>
              <a:rPr lang="es-ES_tradnl" sz="1600" b="1" noProof="0" dirty="0">
                <a:solidFill>
                  <a:srgbClr val="FFFFFF"/>
                </a:solidFill>
                <a:latin typeface="Calibri" pitchFamily="34" charset="0"/>
                <a:ea typeface="Calibri" pitchFamily="34" charset="-122"/>
                <a:cs typeface="Calibri" pitchFamily="34" charset="-120"/>
              </a:rPr>
              <a:t>1</a:t>
            </a:r>
            <a:endParaRPr lang="es-ES_tradnl" sz="1600" noProof="0" dirty="0"/>
          </a:p>
        </p:txBody>
      </p:sp>
      <p:sp>
        <p:nvSpPr>
          <p:cNvPr id="136" name="Text 15">
            <a:extLst>
              <a:ext uri="{FF2B5EF4-FFF2-40B4-BE49-F238E27FC236}">
                <a16:creationId xmlns:a16="http://schemas.microsoft.com/office/drawing/2014/main" id="{1EE766F0-F30F-A517-42F7-E48B336EC33D}"/>
              </a:ext>
            </a:extLst>
          </p:cNvPr>
          <p:cNvSpPr/>
          <p:nvPr/>
        </p:nvSpPr>
        <p:spPr>
          <a:xfrm>
            <a:off x="1365504" y="1991644"/>
            <a:ext cx="1804416" cy="414528"/>
          </a:xfrm>
          <a:prstGeom prst="rect">
            <a:avLst/>
          </a:prstGeom>
          <a:noFill/>
          <a:ln/>
        </p:spPr>
        <p:txBody>
          <a:bodyPr wrap="square" lIns="0" tIns="0" rIns="0" bIns="0" rtlCol="0" anchor="ctr"/>
          <a:lstStyle/>
          <a:p>
            <a:pPr>
              <a:lnSpc>
                <a:spcPct val="95000"/>
              </a:lnSpc>
            </a:pPr>
            <a:r>
              <a:rPr lang="es-ES_tradnl" sz="1600" b="1" noProof="0" dirty="0">
                <a:solidFill>
                  <a:srgbClr val="0B2E2C"/>
                </a:solidFill>
                <a:latin typeface="Calibri" pitchFamily="34" charset="0"/>
                <a:ea typeface="Calibri" pitchFamily="34" charset="-122"/>
                <a:cs typeface="Calibri" pitchFamily="34" charset="-120"/>
              </a:rPr>
              <a:t>Excepciones</a:t>
            </a:r>
            <a:endParaRPr lang="es-ES_tradnl" sz="1600" noProof="0" dirty="0"/>
          </a:p>
        </p:txBody>
      </p:sp>
      <p:sp>
        <p:nvSpPr>
          <p:cNvPr id="137" name="Shape 16">
            <a:extLst>
              <a:ext uri="{FF2B5EF4-FFF2-40B4-BE49-F238E27FC236}">
                <a16:creationId xmlns:a16="http://schemas.microsoft.com/office/drawing/2014/main" id="{6589A9A0-3885-7E58-1AB1-26097216606E}"/>
              </a:ext>
            </a:extLst>
          </p:cNvPr>
          <p:cNvSpPr/>
          <p:nvPr/>
        </p:nvSpPr>
        <p:spPr>
          <a:xfrm>
            <a:off x="975360" y="2521201"/>
            <a:ext cx="2097024" cy="256032"/>
          </a:xfrm>
          <a:prstGeom prst="roundRect">
            <a:avLst>
              <a:gd name="adj" fmla="val 50000"/>
            </a:avLst>
          </a:prstGeom>
          <a:solidFill>
            <a:srgbClr val="ECF6F5"/>
          </a:solidFill>
          <a:ln/>
        </p:spPr>
        <p:txBody>
          <a:bodyPr/>
          <a:lstStyle/>
          <a:p>
            <a:endParaRPr lang="es-ES_tradnl" sz="2400" noProof="0" dirty="0"/>
          </a:p>
        </p:txBody>
      </p:sp>
      <p:sp>
        <p:nvSpPr>
          <p:cNvPr id="138" name="Shape 17">
            <a:extLst>
              <a:ext uri="{FF2B5EF4-FFF2-40B4-BE49-F238E27FC236}">
                <a16:creationId xmlns:a16="http://schemas.microsoft.com/office/drawing/2014/main" id="{7000124B-F9E4-6309-D757-221F7C366C7F}"/>
              </a:ext>
            </a:extLst>
          </p:cNvPr>
          <p:cNvSpPr/>
          <p:nvPr/>
        </p:nvSpPr>
        <p:spPr>
          <a:xfrm>
            <a:off x="1060704" y="2594353"/>
            <a:ext cx="109728" cy="109728"/>
          </a:xfrm>
          <a:prstGeom prst="ellipse">
            <a:avLst/>
          </a:prstGeom>
          <a:solidFill>
            <a:srgbClr val="13807B"/>
          </a:solidFill>
          <a:ln/>
        </p:spPr>
        <p:txBody>
          <a:bodyPr/>
          <a:lstStyle/>
          <a:p>
            <a:endParaRPr lang="es-ES_tradnl" sz="2400" noProof="0" dirty="0"/>
          </a:p>
        </p:txBody>
      </p:sp>
      <p:sp>
        <p:nvSpPr>
          <p:cNvPr id="139" name="Text 18">
            <a:extLst>
              <a:ext uri="{FF2B5EF4-FFF2-40B4-BE49-F238E27FC236}">
                <a16:creationId xmlns:a16="http://schemas.microsoft.com/office/drawing/2014/main" id="{A93FBC21-8FEA-6FAE-C063-89A9F29A66D7}"/>
              </a:ext>
            </a:extLst>
          </p:cNvPr>
          <p:cNvSpPr/>
          <p:nvPr/>
        </p:nvSpPr>
        <p:spPr>
          <a:xfrm>
            <a:off x="1207008" y="2521201"/>
            <a:ext cx="1828800" cy="256032"/>
          </a:xfrm>
          <a:prstGeom prst="rect">
            <a:avLst/>
          </a:prstGeom>
          <a:noFill/>
          <a:ln/>
        </p:spPr>
        <p:txBody>
          <a:bodyPr wrap="square" lIns="0" tIns="0" rIns="0" bIns="0" rtlCol="0" anchor="ctr"/>
          <a:lstStyle/>
          <a:p>
            <a:r>
              <a:rPr lang="es-ES_tradnl" sz="1100" b="1" noProof="0" dirty="0">
                <a:solidFill>
                  <a:srgbClr val="13807B"/>
                </a:solidFill>
                <a:latin typeface="Calibri" pitchFamily="34" charset="0"/>
                <a:ea typeface="Calibri" pitchFamily="34" charset="-122"/>
                <a:cs typeface="Calibri" pitchFamily="34" charset="-120"/>
              </a:rPr>
              <a:t>Propuesta consolidada</a:t>
            </a:r>
            <a:endParaRPr lang="es-ES_tradnl" sz="1100" noProof="0" dirty="0"/>
          </a:p>
        </p:txBody>
      </p:sp>
      <p:sp>
        <p:nvSpPr>
          <p:cNvPr id="140" name="Text 19">
            <a:extLst>
              <a:ext uri="{FF2B5EF4-FFF2-40B4-BE49-F238E27FC236}">
                <a16:creationId xmlns:a16="http://schemas.microsoft.com/office/drawing/2014/main" id="{53E9224C-D15E-89FC-9072-1F82FBB68D9D}"/>
              </a:ext>
            </a:extLst>
          </p:cNvPr>
          <p:cNvSpPr/>
          <p:nvPr/>
        </p:nvSpPr>
        <p:spPr>
          <a:xfrm>
            <a:off x="3340608" y="2003836"/>
            <a:ext cx="4169664" cy="207264"/>
          </a:xfrm>
          <a:prstGeom prst="rect">
            <a:avLst/>
          </a:prstGeom>
          <a:noFill/>
          <a:ln/>
        </p:spPr>
        <p:txBody>
          <a:bodyPr wrap="square" lIns="0" tIns="0" rIns="0" bIns="0" rtlCol="0" anchor="ctr"/>
          <a:lstStyle/>
          <a:p>
            <a:r>
              <a:rPr lang="es-ES_tradnl" b="1" noProof="0" dirty="0">
                <a:solidFill>
                  <a:srgbClr val="0B2E2C"/>
                </a:solidFill>
                <a:latin typeface="Calibri" pitchFamily="34" charset="0"/>
                <a:ea typeface="Calibri" pitchFamily="34" charset="-122"/>
                <a:cs typeface="Calibri" pitchFamily="34" charset="-120"/>
              </a:rPr>
              <a:t>¿En qué estamos?</a:t>
            </a:r>
            <a:endParaRPr lang="es-ES_tradnl" noProof="0" dirty="0"/>
          </a:p>
        </p:txBody>
      </p:sp>
      <p:sp>
        <p:nvSpPr>
          <p:cNvPr id="141" name="Shape 20">
            <a:extLst>
              <a:ext uri="{FF2B5EF4-FFF2-40B4-BE49-F238E27FC236}">
                <a16:creationId xmlns:a16="http://schemas.microsoft.com/office/drawing/2014/main" id="{E0D156B8-0E09-571C-5F97-A03438A89CAB}"/>
              </a:ext>
            </a:extLst>
          </p:cNvPr>
          <p:cNvSpPr/>
          <p:nvPr/>
        </p:nvSpPr>
        <p:spPr>
          <a:xfrm>
            <a:off x="7656576" y="2016028"/>
            <a:ext cx="2462784" cy="1816608"/>
          </a:xfrm>
          <a:prstGeom prst="rect">
            <a:avLst/>
          </a:prstGeom>
          <a:solidFill>
            <a:srgbClr val="ECF6F5"/>
          </a:solidFill>
          <a:ln/>
        </p:spPr>
        <p:txBody>
          <a:bodyPr/>
          <a:lstStyle/>
          <a:p>
            <a:endParaRPr lang="es-ES_tradnl" sz="2400" noProof="0" dirty="0"/>
          </a:p>
        </p:txBody>
      </p:sp>
      <p:sp>
        <p:nvSpPr>
          <p:cNvPr id="142" name="Text 21">
            <a:extLst>
              <a:ext uri="{FF2B5EF4-FFF2-40B4-BE49-F238E27FC236}">
                <a16:creationId xmlns:a16="http://schemas.microsoft.com/office/drawing/2014/main" id="{4A3199F5-3CD3-A2FB-F2D8-B2EB45EBC9F4}"/>
              </a:ext>
            </a:extLst>
          </p:cNvPr>
          <p:cNvSpPr/>
          <p:nvPr/>
        </p:nvSpPr>
        <p:spPr>
          <a:xfrm>
            <a:off x="7766304" y="2076988"/>
            <a:ext cx="2243328" cy="195072"/>
          </a:xfrm>
          <a:prstGeom prst="rect">
            <a:avLst/>
          </a:prstGeom>
          <a:noFill/>
          <a:ln/>
        </p:spPr>
        <p:txBody>
          <a:bodyPr wrap="square" lIns="0" tIns="0" rIns="0" bIns="0" rtlCol="0" anchor="ctr"/>
          <a:lstStyle/>
          <a:p>
            <a:r>
              <a:rPr lang="es-ES_tradnl" sz="1200" b="1" noProof="0" dirty="0">
                <a:solidFill>
                  <a:srgbClr val="0C514E"/>
                </a:solidFill>
                <a:latin typeface="Calibri" pitchFamily="34" charset="0"/>
                <a:ea typeface="Calibri" pitchFamily="34" charset="-122"/>
                <a:cs typeface="Calibri" pitchFamily="34" charset="-120"/>
              </a:rPr>
              <a:t>Siguiente hito</a:t>
            </a:r>
            <a:endParaRPr lang="es-ES_tradnl" sz="1200" noProof="0" dirty="0"/>
          </a:p>
        </p:txBody>
      </p:sp>
      <p:sp>
        <p:nvSpPr>
          <p:cNvPr id="143" name="Text 22">
            <a:extLst>
              <a:ext uri="{FF2B5EF4-FFF2-40B4-BE49-F238E27FC236}">
                <a16:creationId xmlns:a16="http://schemas.microsoft.com/office/drawing/2014/main" id="{B3640DBB-50D1-A1CA-876D-200C2BE3806B}"/>
              </a:ext>
            </a:extLst>
          </p:cNvPr>
          <p:cNvSpPr/>
          <p:nvPr/>
        </p:nvSpPr>
        <p:spPr>
          <a:xfrm>
            <a:off x="7766304" y="2284252"/>
            <a:ext cx="2243328" cy="1414272"/>
          </a:xfrm>
          <a:prstGeom prst="rect">
            <a:avLst/>
          </a:prstGeom>
          <a:noFill/>
          <a:ln/>
        </p:spPr>
        <p:txBody>
          <a:bodyPr wrap="square" lIns="0" tIns="0" rIns="0" bIns="0" rtlCol="0" anchor="t"/>
          <a:lstStyle/>
          <a:p>
            <a:pPr>
              <a:lnSpc>
                <a:spcPct val="105000"/>
              </a:lnSpc>
            </a:pPr>
            <a:r>
              <a:rPr lang="es-ES_tradnl" sz="1100" noProof="0" dirty="0">
                <a:solidFill>
                  <a:srgbClr val="3E5553"/>
                </a:solidFill>
                <a:latin typeface="Calibri" pitchFamily="34" charset="0"/>
                <a:ea typeface="Calibri" pitchFamily="34" charset="-122"/>
                <a:cs typeface="Calibri" pitchFamily="34" charset="-120"/>
              </a:rPr>
              <a:t>Validación final con Negocio y Comercial para implementar pilotos.</a:t>
            </a:r>
            <a:endParaRPr lang="es-ES_tradnl" sz="1100" noProof="0" dirty="0"/>
          </a:p>
        </p:txBody>
      </p:sp>
      <p:sp>
        <p:nvSpPr>
          <p:cNvPr id="144" name="Text 23">
            <a:extLst>
              <a:ext uri="{FF2B5EF4-FFF2-40B4-BE49-F238E27FC236}">
                <a16:creationId xmlns:a16="http://schemas.microsoft.com/office/drawing/2014/main" id="{EB4EC813-8C75-1D41-35E6-8E0D3C2B771B}"/>
              </a:ext>
            </a:extLst>
          </p:cNvPr>
          <p:cNvSpPr/>
          <p:nvPr/>
        </p:nvSpPr>
        <p:spPr>
          <a:xfrm>
            <a:off x="3340608" y="2211100"/>
            <a:ext cx="4169664" cy="365760"/>
          </a:xfrm>
          <a:prstGeom prst="rect">
            <a:avLst/>
          </a:prstGeom>
          <a:noFill/>
          <a:ln/>
        </p:spPr>
        <p:txBody>
          <a:bodyPr wrap="square" lIns="0" tIns="0" rIns="0" bIns="0" rtlCol="0" anchor="t"/>
          <a:lstStyle/>
          <a:p>
            <a:pPr>
              <a:lnSpc>
                <a:spcPct val="105000"/>
              </a:lnSpc>
            </a:pPr>
            <a:r>
              <a:rPr lang="es-ES_tradnl" sz="1200" noProof="0" dirty="0">
                <a:solidFill>
                  <a:srgbClr val="6E7E7D"/>
                </a:solidFill>
                <a:latin typeface="Calibri" pitchFamily="34" charset="0"/>
                <a:ea typeface="Calibri" pitchFamily="34" charset="-122"/>
                <a:cs typeface="Calibri" pitchFamily="34" charset="-120"/>
              </a:rPr>
              <a:t>La iniciativa evolucionó desde una única política de excepciones hacia dos mecanismos complementarios:</a:t>
            </a:r>
            <a:endParaRPr lang="es-ES_tradnl" sz="1200" noProof="0" dirty="0"/>
          </a:p>
        </p:txBody>
      </p:sp>
      <p:sp>
        <p:nvSpPr>
          <p:cNvPr id="145" name="Shape 24">
            <a:extLst>
              <a:ext uri="{FF2B5EF4-FFF2-40B4-BE49-F238E27FC236}">
                <a16:creationId xmlns:a16="http://schemas.microsoft.com/office/drawing/2014/main" id="{C8082960-2846-69C0-C6F1-7347FB8BAF30}"/>
              </a:ext>
            </a:extLst>
          </p:cNvPr>
          <p:cNvSpPr/>
          <p:nvPr/>
        </p:nvSpPr>
        <p:spPr>
          <a:xfrm>
            <a:off x="3340608" y="2637820"/>
            <a:ext cx="4169664" cy="536448"/>
          </a:xfrm>
          <a:prstGeom prst="rect">
            <a:avLst/>
          </a:prstGeom>
          <a:solidFill>
            <a:srgbClr val="ECF0F4"/>
          </a:solidFill>
          <a:ln/>
        </p:spPr>
        <p:txBody>
          <a:bodyPr/>
          <a:lstStyle/>
          <a:p>
            <a:endParaRPr lang="es-ES_tradnl" sz="2400" noProof="0" dirty="0"/>
          </a:p>
        </p:txBody>
      </p:sp>
      <p:sp>
        <p:nvSpPr>
          <p:cNvPr id="146" name="Text 25">
            <a:extLst>
              <a:ext uri="{FF2B5EF4-FFF2-40B4-BE49-F238E27FC236}">
                <a16:creationId xmlns:a16="http://schemas.microsoft.com/office/drawing/2014/main" id="{3FA1E204-79F7-F62B-4976-719C310BD7BF}"/>
              </a:ext>
            </a:extLst>
          </p:cNvPr>
          <p:cNvSpPr/>
          <p:nvPr/>
        </p:nvSpPr>
        <p:spPr>
          <a:xfrm>
            <a:off x="3450336" y="2686588"/>
            <a:ext cx="3950208" cy="438912"/>
          </a:xfrm>
          <a:prstGeom prst="rect">
            <a:avLst/>
          </a:prstGeom>
          <a:noFill/>
          <a:ln/>
        </p:spPr>
        <p:txBody>
          <a:bodyPr wrap="square" lIns="0" tIns="0" rIns="0" bIns="0" rtlCol="0" anchor="t"/>
          <a:lstStyle/>
          <a:p>
            <a:pPr>
              <a:lnSpc>
                <a:spcPct val="105000"/>
              </a:lnSpc>
            </a:pPr>
            <a:r>
              <a:rPr lang="es-ES_tradnl" sz="1100" b="1" noProof="0" dirty="0">
                <a:solidFill>
                  <a:srgbClr val="445A6E"/>
                </a:solidFill>
                <a:latin typeface="Calibri" pitchFamily="34" charset="0"/>
                <a:ea typeface="Calibri" pitchFamily="34" charset="-122"/>
                <a:cs typeface="Calibri" pitchFamily="34" charset="-120"/>
              </a:rPr>
              <a:t>Salida 1 · Corto plazo: Política simplificada</a:t>
            </a:r>
            <a:endParaRPr lang="es-ES_tradnl" sz="1100" noProof="0" dirty="0"/>
          </a:p>
          <a:p>
            <a:pPr>
              <a:lnSpc>
                <a:spcPct val="105000"/>
              </a:lnSpc>
            </a:pPr>
            <a:r>
              <a:rPr lang="es-ES_tradnl" sz="1100" noProof="0" dirty="0">
                <a:solidFill>
                  <a:srgbClr val="6E7E7D"/>
                </a:solidFill>
                <a:latin typeface="Calibri" pitchFamily="34" charset="0"/>
                <a:ea typeface="Calibri" pitchFamily="34" charset="-122"/>
                <a:cs typeface="Calibri" pitchFamily="34" charset="-120"/>
              </a:rPr>
              <a:t>Para clientes de Riesgo Medio y Riesgo Medio Alto.</a:t>
            </a:r>
            <a:endParaRPr lang="es-ES_tradnl" sz="1100" noProof="0" dirty="0"/>
          </a:p>
        </p:txBody>
      </p:sp>
      <p:sp>
        <p:nvSpPr>
          <p:cNvPr id="147" name="Shape 26">
            <a:extLst>
              <a:ext uri="{FF2B5EF4-FFF2-40B4-BE49-F238E27FC236}">
                <a16:creationId xmlns:a16="http://schemas.microsoft.com/office/drawing/2014/main" id="{110637C9-8A27-A5C6-0172-C82618B61430}"/>
              </a:ext>
            </a:extLst>
          </p:cNvPr>
          <p:cNvSpPr/>
          <p:nvPr/>
        </p:nvSpPr>
        <p:spPr>
          <a:xfrm>
            <a:off x="3340608" y="3247420"/>
            <a:ext cx="4169664" cy="585216"/>
          </a:xfrm>
          <a:prstGeom prst="rect">
            <a:avLst/>
          </a:prstGeom>
          <a:solidFill>
            <a:srgbClr val="ECF0F4"/>
          </a:solidFill>
          <a:ln/>
        </p:spPr>
        <p:txBody>
          <a:bodyPr/>
          <a:lstStyle/>
          <a:p>
            <a:endParaRPr lang="es-ES_tradnl" sz="2400" noProof="0" dirty="0"/>
          </a:p>
        </p:txBody>
      </p:sp>
      <p:sp>
        <p:nvSpPr>
          <p:cNvPr id="148" name="Text 27">
            <a:extLst>
              <a:ext uri="{FF2B5EF4-FFF2-40B4-BE49-F238E27FC236}">
                <a16:creationId xmlns:a16="http://schemas.microsoft.com/office/drawing/2014/main" id="{EE28F3B9-94B2-B4E7-38CE-D7371EF74FC2}"/>
              </a:ext>
            </a:extLst>
          </p:cNvPr>
          <p:cNvSpPr/>
          <p:nvPr/>
        </p:nvSpPr>
        <p:spPr>
          <a:xfrm>
            <a:off x="3450336" y="3296188"/>
            <a:ext cx="3950208" cy="487680"/>
          </a:xfrm>
          <a:prstGeom prst="rect">
            <a:avLst/>
          </a:prstGeom>
          <a:noFill/>
          <a:ln/>
        </p:spPr>
        <p:txBody>
          <a:bodyPr wrap="square" lIns="0" tIns="0" rIns="0" bIns="0" rtlCol="0" anchor="t"/>
          <a:lstStyle/>
          <a:p>
            <a:pPr>
              <a:lnSpc>
                <a:spcPct val="105000"/>
              </a:lnSpc>
            </a:pPr>
            <a:r>
              <a:rPr lang="es-ES_tradnl" sz="1100" b="1" noProof="0" dirty="0">
                <a:solidFill>
                  <a:srgbClr val="445A6E"/>
                </a:solidFill>
                <a:latin typeface="Calibri" pitchFamily="34" charset="0"/>
                <a:ea typeface="Calibri" pitchFamily="34" charset="-122"/>
                <a:cs typeface="Calibri" pitchFamily="34" charset="-120"/>
              </a:rPr>
              <a:t>Salida 2 · Herramienta para el ejecutivo comercial</a:t>
            </a:r>
            <a:endParaRPr lang="es-ES_tradnl" sz="1100" noProof="0" dirty="0"/>
          </a:p>
          <a:p>
            <a:pPr>
              <a:lnSpc>
                <a:spcPct val="105000"/>
              </a:lnSpc>
            </a:pPr>
            <a:r>
              <a:rPr lang="es-ES_tradnl" sz="1100" noProof="0" dirty="0">
                <a:solidFill>
                  <a:srgbClr val="6E7E7D"/>
                </a:solidFill>
                <a:latin typeface="Calibri" pitchFamily="34" charset="0"/>
                <a:ea typeface="Calibri" pitchFamily="34" charset="-122"/>
                <a:cs typeface="Calibri" pitchFamily="34" charset="-120"/>
              </a:rPr>
              <a:t>Recomienda la apertura de tasa mínima según otras variables</a:t>
            </a:r>
            <a:endParaRPr lang="es-ES_tradnl" sz="1100" noProof="0" dirty="0"/>
          </a:p>
        </p:txBody>
      </p:sp>
      <p:sp>
        <p:nvSpPr>
          <p:cNvPr id="149" name="Shape 28">
            <a:extLst>
              <a:ext uri="{FF2B5EF4-FFF2-40B4-BE49-F238E27FC236}">
                <a16:creationId xmlns:a16="http://schemas.microsoft.com/office/drawing/2014/main" id="{DEB90598-3DD9-96C3-0B35-3D8E93FF1D4C}"/>
              </a:ext>
            </a:extLst>
          </p:cNvPr>
          <p:cNvSpPr/>
          <p:nvPr/>
        </p:nvSpPr>
        <p:spPr>
          <a:xfrm>
            <a:off x="829056" y="3978940"/>
            <a:ext cx="9436608" cy="1097280"/>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150" name="Shape 29">
            <a:extLst>
              <a:ext uri="{FF2B5EF4-FFF2-40B4-BE49-F238E27FC236}">
                <a16:creationId xmlns:a16="http://schemas.microsoft.com/office/drawing/2014/main" id="{7735186C-94AC-DAEC-1AEE-2B098B0F7BD3}"/>
              </a:ext>
            </a:extLst>
          </p:cNvPr>
          <p:cNvSpPr/>
          <p:nvPr/>
        </p:nvSpPr>
        <p:spPr>
          <a:xfrm>
            <a:off x="950976" y="4100860"/>
            <a:ext cx="316992" cy="316992"/>
          </a:xfrm>
          <a:prstGeom prst="ellipse">
            <a:avLst/>
          </a:prstGeom>
          <a:solidFill>
            <a:srgbClr val="13807B"/>
          </a:solidFill>
          <a:ln/>
        </p:spPr>
        <p:txBody>
          <a:bodyPr/>
          <a:lstStyle/>
          <a:p>
            <a:endParaRPr lang="es-ES_tradnl" sz="2400" noProof="0" dirty="0"/>
          </a:p>
        </p:txBody>
      </p:sp>
      <p:sp>
        <p:nvSpPr>
          <p:cNvPr id="151" name="Text 30">
            <a:extLst>
              <a:ext uri="{FF2B5EF4-FFF2-40B4-BE49-F238E27FC236}">
                <a16:creationId xmlns:a16="http://schemas.microsoft.com/office/drawing/2014/main" id="{CCE09E90-9011-6D8F-9CFC-046AB6A8C9C3}"/>
              </a:ext>
            </a:extLst>
          </p:cNvPr>
          <p:cNvSpPr/>
          <p:nvPr/>
        </p:nvSpPr>
        <p:spPr>
          <a:xfrm>
            <a:off x="950976" y="4100860"/>
            <a:ext cx="316992" cy="316992"/>
          </a:xfrm>
          <a:prstGeom prst="rect">
            <a:avLst/>
          </a:prstGeom>
          <a:noFill/>
          <a:ln/>
        </p:spPr>
        <p:txBody>
          <a:bodyPr wrap="square" lIns="0" tIns="0" rIns="0" bIns="0" rtlCol="0" anchor="ctr"/>
          <a:lstStyle/>
          <a:p>
            <a:pPr algn="ctr"/>
            <a:r>
              <a:rPr lang="es-ES_tradnl" sz="1600" b="1" noProof="0" dirty="0">
                <a:solidFill>
                  <a:srgbClr val="FFFFFF"/>
                </a:solidFill>
                <a:latin typeface="Calibri" pitchFamily="34" charset="0"/>
                <a:ea typeface="Calibri" pitchFamily="34" charset="-122"/>
                <a:cs typeface="Calibri" pitchFamily="34" charset="-120"/>
              </a:rPr>
              <a:t>2</a:t>
            </a:r>
            <a:endParaRPr lang="es-ES_tradnl" sz="1600" noProof="0" dirty="0"/>
          </a:p>
        </p:txBody>
      </p:sp>
      <p:sp>
        <p:nvSpPr>
          <p:cNvPr id="152" name="Text 31">
            <a:extLst>
              <a:ext uri="{FF2B5EF4-FFF2-40B4-BE49-F238E27FC236}">
                <a16:creationId xmlns:a16="http://schemas.microsoft.com/office/drawing/2014/main" id="{D1F5DA38-2981-A4B0-9385-95F99BF667BA}"/>
              </a:ext>
            </a:extLst>
          </p:cNvPr>
          <p:cNvSpPr/>
          <p:nvPr/>
        </p:nvSpPr>
        <p:spPr>
          <a:xfrm>
            <a:off x="1365504" y="4064284"/>
            <a:ext cx="1804416" cy="414528"/>
          </a:xfrm>
          <a:prstGeom prst="rect">
            <a:avLst/>
          </a:prstGeom>
          <a:noFill/>
          <a:ln/>
        </p:spPr>
        <p:txBody>
          <a:bodyPr wrap="square" lIns="0" tIns="0" rIns="0" bIns="0" rtlCol="0" anchor="t"/>
          <a:lstStyle/>
          <a:p>
            <a:pPr>
              <a:lnSpc>
                <a:spcPct val="95000"/>
              </a:lnSpc>
            </a:pPr>
            <a:r>
              <a:rPr lang="es-ES_tradnl" sz="1600" b="1" noProof="0" dirty="0">
                <a:solidFill>
                  <a:srgbClr val="0B2E2C"/>
                </a:solidFill>
                <a:latin typeface="Calibri" pitchFamily="34" charset="0"/>
                <a:ea typeface="Calibri" pitchFamily="34" charset="-122"/>
                <a:cs typeface="Calibri" pitchFamily="34" charset="-120"/>
              </a:rPr>
              <a:t>Apertura pauta</a:t>
            </a:r>
          </a:p>
          <a:p>
            <a:pPr>
              <a:lnSpc>
                <a:spcPct val="95000"/>
              </a:lnSpc>
            </a:pPr>
            <a:r>
              <a:rPr lang="es-ES_tradnl" sz="1600" b="1" noProof="0" dirty="0">
                <a:solidFill>
                  <a:srgbClr val="0B2E2C"/>
                </a:solidFill>
                <a:latin typeface="Calibri" pitchFamily="34" charset="0"/>
                <a:ea typeface="Calibri" pitchFamily="34" charset="-122"/>
                <a:cs typeface="Calibri" pitchFamily="34" charset="-120"/>
              </a:rPr>
              <a:t>Canal Web</a:t>
            </a:r>
            <a:endParaRPr lang="es-ES_tradnl" sz="1600" noProof="0" dirty="0"/>
          </a:p>
        </p:txBody>
      </p:sp>
      <p:sp>
        <p:nvSpPr>
          <p:cNvPr id="153" name="Shape 32">
            <a:extLst>
              <a:ext uri="{FF2B5EF4-FFF2-40B4-BE49-F238E27FC236}">
                <a16:creationId xmlns:a16="http://schemas.microsoft.com/office/drawing/2014/main" id="{EC2881D7-1418-DE18-F59E-E6EE3D060DEC}"/>
              </a:ext>
            </a:extLst>
          </p:cNvPr>
          <p:cNvSpPr/>
          <p:nvPr/>
        </p:nvSpPr>
        <p:spPr>
          <a:xfrm>
            <a:off x="975360" y="4686076"/>
            <a:ext cx="2097024" cy="256032"/>
          </a:xfrm>
          <a:prstGeom prst="roundRect">
            <a:avLst>
              <a:gd name="adj" fmla="val 50000"/>
            </a:avLst>
          </a:prstGeom>
          <a:solidFill>
            <a:srgbClr val="ECF0F4"/>
          </a:solidFill>
          <a:ln/>
        </p:spPr>
        <p:txBody>
          <a:bodyPr/>
          <a:lstStyle/>
          <a:p>
            <a:endParaRPr lang="es-ES_tradnl" sz="2400" noProof="0" dirty="0"/>
          </a:p>
        </p:txBody>
      </p:sp>
      <p:sp>
        <p:nvSpPr>
          <p:cNvPr id="154" name="Shape 33">
            <a:extLst>
              <a:ext uri="{FF2B5EF4-FFF2-40B4-BE49-F238E27FC236}">
                <a16:creationId xmlns:a16="http://schemas.microsoft.com/office/drawing/2014/main" id="{E2907B5D-D742-5615-F140-38F0C8C94DA3}"/>
              </a:ext>
            </a:extLst>
          </p:cNvPr>
          <p:cNvSpPr/>
          <p:nvPr/>
        </p:nvSpPr>
        <p:spPr>
          <a:xfrm>
            <a:off x="1060704" y="4759228"/>
            <a:ext cx="109728" cy="109728"/>
          </a:xfrm>
          <a:prstGeom prst="ellipse">
            <a:avLst/>
          </a:prstGeom>
          <a:solidFill>
            <a:srgbClr val="FFFFFF"/>
          </a:solidFill>
          <a:ln w="9525">
            <a:solidFill>
              <a:srgbClr val="6E7E7D"/>
            </a:solidFill>
            <a:prstDash val="solid"/>
          </a:ln>
        </p:spPr>
        <p:txBody>
          <a:bodyPr/>
          <a:lstStyle/>
          <a:p>
            <a:endParaRPr lang="es-ES_tradnl" sz="2400" noProof="0" dirty="0"/>
          </a:p>
        </p:txBody>
      </p:sp>
      <p:sp>
        <p:nvSpPr>
          <p:cNvPr id="155" name="Text 34">
            <a:extLst>
              <a:ext uri="{FF2B5EF4-FFF2-40B4-BE49-F238E27FC236}">
                <a16:creationId xmlns:a16="http://schemas.microsoft.com/office/drawing/2014/main" id="{3D795E18-3174-D865-8BA7-C3C5115B328E}"/>
              </a:ext>
            </a:extLst>
          </p:cNvPr>
          <p:cNvSpPr/>
          <p:nvPr/>
        </p:nvSpPr>
        <p:spPr>
          <a:xfrm>
            <a:off x="1207008" y="4686076"/>
            <a:ext cx="1828800" cy="256032"/>
          </a:xfrm>
          <a:prstGeom prst="rect">
            <a:avLst/>
          </a:prstGeom>
          <a:noFill/>
          <a:ln/>
        </p:spPr>
        <p:txBody>
          <a:bodyPr wrap="square" lIns="0" tIns="0" rIns="0" bIns="0" rtlCol="0" anchor="ctr"/>
          <a:lstStyle/>
          <a:p>
            <a:r>
              <a:rPr lang="es-ES_tradnl" sz="1100" b="1" noProof="0" dirty="0">
                <a:solidFill>
                  <a:srgbClr val="6E7E7D"/>
                </a:solidFill>
                <a:latin typeface="Calibri" pitchFamily="34" charset="0"/>
                <a:ea typeface="Calibri" pitchFamily="34" charset="-122"/>
                <a:cs typeface="Calibri" pitchFamily="34" charset="-120"/>
              </a:rPr>
              <a:t>Iniciativa </a:t>
            </a:r>
            <a:r>
              <a:rPr lang="es-ES_tradnl" sz="1100" b="1" noProof="0" dirty="0" err="1">
                <a:solidFill>
                  <a:srgbClr val="6E7E7D"/>
                </a:solidFill>
                <a:latin typeface="Calibri" pitchFamily="34" charset="0"/>
                <a:ea typeface="Calibri" pitchFamily="34" charset="-122"/>
                <a:cs typeface="Calibri" pitchFamily="34" charset="-120"/>
              </a:rPr>
              <a:t>despriorizada</a:t>
            </a:r>
            <a:endParaRPr lang="es-ES_tradnl" sz="1100" noProof="0" dirty="0"/>
          </a:p>
        </p:txBody>
      </p:sp>
      <p:sp>
        <p:nvSpPr>
          <p:cNvPr id="156" name="Text 35">
            <a:extLst>
              <a:ext uri="{FF2B5EF4-FFF2-40B4-BE49-F238E27FC236}">
                <a16:creationId xmlns:a16="http://schemas.microsoft.com/office/drawing/2014/main" id="{84256F08-D1EE-B078-BC87-B450D9C524B0}"/>
              </a:ext>
            </a:extLst>
          </p:cNvPr>
          <p:cNvSpPr/>
          <p:nvPr/>
        </p:nvSpPr>
        <p:spPr>
          <a:xfrm>
            <a:off x="3340608" y="4076476"/>
            <a:ext cx="4169664" cy="207264"/>
          </a:xfrm>
          <a:prstGeom prst="rect">
            <a:avLst/>
          </a:prstGeom>
          <a:noFill/>
          <a:ln/>
        </p:spPr>
        <p:txBody>
          <a:bodyPr wrap="square" lIns="0" tIns="0" rIns="0" bIns="0" rtlCol="0" anchor="ctr"/>
          <a:lstStyle/>
          <a:p>
            <a:r>
              <a:rPr lang="es-ES_tradnl" b="1" noProof="0" dirty="0">
                <a:solidFill>
                  <a:srgbClr val="0B2E2C"/>
                </a:solidFill>
                <a:latin typeface="Calibri" pitchFamily="34" charset="0"/>
                <a:ea typeface="Calibri" pitchFamily="34" charset="-122"/>
                <a:cs typeface="Calibri" pitchFamily="34" charset="-120"/>
              </a:rPr>
              <a:t>¿En qué estamos?</a:t>
            </a:r>
            <a:endParaRPr lang="es-ES_tradnl" noProof="0" dirty="0"/>
          </a:p>
        </p:txBody>
      </p:sp>
      <p:sp>
        <p:nvSpPr>
          <p:cNvPr id="157" name="Text 36">
            <a:extLst>
              <a:ext uri="{FF2B5EF4-FFF2-40B4-BE49-F238E27FC236}">
                <a16:creationId xmlns:a16="http://schemas.microsoft.com/office/drawing/2014/main" id="{BFE6AEB6-0FDE-785D-3EAD-FBB4C96DBFDA}"/>
              </a:ext>
            </a:extLst>
          </p:cNvPr>
          <p:cNvSpPr/>
          <p:nvPr/>
        </p:nvSpPr>
        <p:spPr>
          <a:xfrm>
            <a:off x="3340608" y="4295932"/>
            <a:ext cx="4169664" cy="682752"/>
          </a:xfrm>
          <a:prstGeom prst="rect">
            <a:avLst/>
          </a:prstGeom>
          <a:noFill/>
          <a:ln/>
        </p:spPr>
        <p:txBody>
          <a:bodyPr wrap="square" lIns="0" tIns="0" rIns="0" bIns="0" rtlCol="0" anchor="t"/>
          <a:lstStyle/>
          <a:p>
            <a:pPr>
              <a:lnSpc>
                <a:spcPct val="105000"/>
              </a:lnSpc>
            </a:pPr>
            <a:r>
              <a:rPr lang="es-ES_tradnl" sz="1200" noProof="0" dirty="0">
                <a:solidFill>
                  <a:srgbClr val="6E7E7D"/>
                </a:solidFill>
                <a:latin typeface="Calibri" pitchFamily="34" charset="0"/>
                <a:ea typeface="Calibri" pitchFamily="34" charset="-122"/>
                <a:cs typeface="Calibri" pitchFamily="34" charset="-120"/>
              </a:rPr>
              <a:t>Oportunidad de incorporar el canal Web, que desembolsa ~S/ 20 MM mensuales con márgenes cercanos al 6%.</a:t>
            </a:r>
            <a:endParaRPr lang="es-ES_tradnl" sz="1200" noProof="0" dirty="0"/>
          </a:p>
        </p:txBody>
      </p:sp>
      <p:sp>
        <p:nvSpPr>
          <p:cNvPr id="158" name="Shape 37">
            <a:extLst>
              <a:ext uri="{FF2B5EF4-FFF2-40B4-BE49-F238E27FC236}">
                <a16:creationId xmlns:a16="http://schemas.microsoft.com/office/drawing/2014/main" id="{50EF3C57-0053-CF5E-5C85-4ABE137FC32E}"/>
              </a:ext>
            </a:extLst>
          </p:cNvPr>
          <p:cNvSpPr/>
          <p:nvPr/>
        </p:nvSpPr>
        <p:spPr>
          <a:xfrm>
            <a:off x="7656576" y="4088668"/>
            <a:ext cx="2462784" cy="877824"/>
          </a:xfrm>
          <a:prstGeom prst="rect">
            <a:avLst/>
          </a:prstGeom>
          <a:solidFill>
            <a:srgbClr val="ECF6F5"/>
          </a:solidFill>
          <a:ln/>
        </p:spPr>
        <p:txBody>
          <a:bodyPr/>
          <a:lstStyle/>
          <a:p>
            <a:endParaRPr lang="es-ES_tradnl" sz="2400" noProof="0" dirty="0"/>
          </a:p>
        </p:txBody>
      </p:sp>
      <p:sp>
        <p:nvSpPr>
          <p:cNvPr id="159" name="Text 38">
            <a:extLst>
              <a:ext uri="{FF2B5EF4-FFF2-40B4-BE49-F238E27FC236}">
                <a16:creationId xmlns:a16="http://schemas.microsoft.com/office/drawing/2014/main" id="{588AC847-F907-552B-90E1-F88413FF7C55}"/>
              </a:ext>
            </a:extLst>
          </p:cNvPr>
          <p:cNvSpPr/>
          <p:nvPr/>
        </p:nvSpPr>
        <p:spPr>
          <a:xfrm>
            <a:off x="7766304" y="4096729"/>
            <a:ext cx="2243328" cy="195072"/>
          </a:xfrm>
          <a:prstGeom prst="rect">
            <a:avLst/>
          </a:prstGeom>
          <a:noFill/>
          <a:ln/>
        </p:spPr>
        <p:txBody>
          <a:bodyPr wrap="square" lIns="0" tIns="0" rIns="0" bIns="0" rtlCol="0" anchor="ctr"/>
          <a:lstStyle/>
          <a:p>
            <a:r>
              <a:rPr lang="es-ES_tradnl" sz="1200" b="1" noProof="0" dirty="0">
                <a:solidFill>
                  <a:srgbClr val="0C514E"/>
                </a:solidFill>
                <a:latin typeface="Calibri" pitchFamily="34" charset="0"/>
                <a:ea typeface="Calibri" pitchFamily="34" charset="-122"/>
                <a:cs typeface="Calibri" pitchFamily="34" charset="-120"/>
              </a:rPr>
              <a:t>Siguiente hito</a:t>
            </a:r>
            <a:endParaRPr lang="es-ES_tradnl" sz="1200" noProof="0" dirty="0"/>
          </a:p>
        </p:txBody>
      </p:sp>
      <p:sp>
        <p:nvSpPr>
          <p:cNvPr id="160" name="Text 39">
            <a:extLst>
              <a:ext uri="{FF2B5EF4-FFF2-40B4-BE49-F238E27FC236}">
                <a16:creationId xmlns:a16="http://schemas.microsoft.com/office/drawing/2014/main" id="{15AACA00-4018-1584-0727-546B3F2F3081}"/>
              </a:ext>
            </a:extLst>
          </p:cNvPr>
          <p:cNvSpPr/>
          <p:nvPr/>
        </p:nvSpPr>
        <p:spPr>
          <a:xfrm>
            <a:off x="7766304" y="4303993"/>
            <a:ext cx="2243328" cy="536448"/>
          </a:xfrm>
          <a:prstGeom prst="rect">
            <a:avLst/>
          </a:prstGeom>
          <a:noFill/>
          <a:ln/>
        </p:spPr>
        <p:txBody>
          <a:bodyPr wrap="square" lIns="0" tIns="0" rIns="0" bIns="0" rtlCol="0" anchor="t"/>
          <a:lstStyle/>
          <a:p>
            <a:pPr>
              <a:lnSpc>
                <a:spcPct val="105000"/>
              </a:lnSpc>
            </a:pPr>
            <a:r>
              <a:rPr lang="es-ES_tradnl" sz="1000" noProof="0" dirty="0">
                <a:solidFill>
                  <a:srgbClr val="3E5553"/>
                </a:solidFill>
                <a:latin typeface="Calibri" pitchFamily="34" charset="0"/>
                <a:ea typeface="Calibri" pitchFamily="34" charset="-122"/>
                <a:cs typeface="Calibri" pitchFamily="34" charset="-120"/>
              </a:rPr>
              <a:t>Se retoma en noviembre, con cosechas suficientes para validar el comportamiento del portafolio. Se evaluarán nuevas oportunidades en riesgos bajos </a:t>
            </a:r>
            <a:endParaRPr lang="es-ES_tradnl" sz="1000" noProof="0" dirty="0"/>
          </a:p>
        </p:txBody>
      </p:sp>
      <p:sp>
        <p:nvSpPr>
          <p:cNvPr id="161" name="Shape 40">
            <a:extLst>
              <a:ext uri="{FF2B5EF4-FFF2-40B4-BE49-F238E27FC236}">
                <a16:creationId xmlns:a16="http://schemas.microsoft.com/office/drawing/2014/main" id="{085CCC1B-102D-8ECA-8D4B-B0F8CF63820E}"/>
              </a:ext>
            </a:extLst>
          </p:cNvPr>
          <p:cNvSpPr/>
          <p:nvPr/>
        </p:nvSpPr>
        <p:spPr>
          <a:xfrm>
            <a:off x="829056" y="5173756"/>
            <a:ext cx="9436608" cy="1097280"/>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162" name="Shape 41">
            <a:extLst>
              <a:ext uri="{FF2B5EF4-FFF2-40B4-BE49-F238E27FC236}">
                <a16:creationId xmlns:a16="http://schemas.microsoft.com/office/drawing/2014/main" id="{D871C125-C869-F377-70EB-467A7AEF5B4E}"/>
              </a:ext>
            </a:extLst>
          </p:cNvPr>
          <p:cNvSpPr/>
          <p:nvPr/>
        </p:nvSpPr>
        <p:spPr>
          <a:xfrm>
            <a:off x="950976" y="5295676"/>
            <a:ext cx="316992" cy="316992"/>
          </a:xfrm>
          <a:prstGeom prst="ellipse">
            <a:avLst/>
          </a:prstGeom>
          <a:solidFill>
            <a:srgbClr val="13807B"/>
          </a:solidFill>
          <a:ln/>
        </p:spPr>
        <p:txBody>
          <a:bodyPr/>
          <a:lstStyle/>
          <a:p>
            <a:endParaRPr lang="es-ES_tradnl" sz="2400" noProof="0" dirty="0"/>
          </a:p>
        </p:txBody>
      </p:sp>
      <p:sp>
        <p:nvSpPr>
          <p:cNvPr id="163" name="Text 42">
            <a:extLst>
              <a:ext uri="{FF2B5EF4-FFF2-40B4-BE49-F238E27FC236}">
                <a16:creationId xmlns:a16="http://schemas.microsoft.com/office/drawing/2014/main" id="{1467573F-DBB0-38A9-C15C-209979CFCBFA}"/>
              </a:ext>
            </a:extLst>
          </p:cNvPr>
          <p:cNvSpPr/>
          <p:nvPr/>
        </p:nvSpPr>
        <p:spPr>
          <a:xfrm>
            <a:off x="950976" y="5295676"/>
            <a:ext cx="316992" cy="316992"/>
          </a:xfrm>
          <a:prstGeom prst="rect">
            <a:avLst/>
          </a:prstGeom>
          <a:noFill/>
          <a:ln/>
        </p:spPr>
        <p:txBody>
          <a:bodyPr wrap="square" lIns="0" tIns="0" rIns="0" bIns="0" rtlCol="0" anchor="ctr"/>
          <a:lstStyle/>
          <a:p>
            <a:pPr algn="ctr"/>
            <a:r>
              <a:rPr lang="es-ES_tradnl" sz="1600" b="1" noProof="0" dirty="0">
                <a:solidFill>
                  <a:srgbClr val="FFFFFF"/>
                </a:solidFill>
                <a:latin typeface="Calibri" pitchFamily="34" charset="0"/>
                <a:ea typeface="Calibri" pitchFamily="34" charset="-122"/>
                <a:cs typeface="Calibri" pitchFamily="34" charset="-120"/>
              </a:rPr>
              <a:t>3</a:t>
            </a:r>
            <a:endParaRPr lang="es-ES_tradnl" sz="1600" noProof="0" dirty="0"/>
          </a:p>
        </p:txBody>
      </p:sp>
      <p:sp>
        <p:nvSpPr>
          <p:cNvPr id="164" name="Text 43">
            <a:extLst>
              <a:ext uri="{FF2B5EF4-FFF2-40B4-BE49-F238E27FC236}">
                <a16:creationId xmlns:a16="http://schemas.microsoft.com/office/drawing/2014/main" id="{3FC151F8-5833-17A3-8D6F-ED9DD90B8B5D}"/>
              </a:ext>
            </a:extLst>
          </p:cNvPr>
          <p:cNvSpPr/>
          <p:nvPr/>
        </p:nvSpPr>
        <p:spPr>
          <a:xfrm>
            <a:off x="1365504" y="5259100"/>
            <a:ext cx="1804416" cy="414528"/>
          </a:xfrm>
          <a:prstGeom prst="rect">
            <a:avLst/>
          </a:prstGeom>
          <a:noFill/>
          <a:ln/>
        </p:spPr>
        <p:txBody>
          <a:bodyPr wrap="square" lIns="0" tIns="0" rIns="0" bIns="0" rtlCol="0" anchor="t"/>
          <a:lstStyle/>
          <a:p>
            <a:pPr>
              <a:lnSpc>
                <a:spcPct val="95000"/>
              </a:lnSpc>
            </a:pPr>
            <a:r>
              <a:rPr lang="es-ES_tradnl" sz="1600" b="1" noProof="0" dirty="0">
                <a:solidFill>
                  <a:srgbClr val="0B2E2C"/>
                </a:solidFill>
                <a:latin typeface="Calibri" pitchFamily="34" charset="0"/>
                <a:ea typeface="Calibri" pitchFamily="34" charset="-122"/>
                <a:cs typeface="Calibri" pitchFamily="34" charset="-120"/>
              </a:rPr>
              <a:t>CLV 0.5</a:t>
            </a:r>
            <a:endParaRPr lang="es-ES_tradnl" sz="1600" noProof="0" dirty="0"/>
          </a:p>
        </p:txBody>
      </p:sp>
      <p:sp>
        <p:nvSpPr>
          <p:cNvPr id="165" name="Shape 44">
            <a:extLst>
              <a:ext uri="{FF2B5EF4-FFF2-40B4-BE49-F238E27FC236}">
                <a16:creationId xmlns:a16="http://schemas.microsoft.com/office/drawing/2014/main" id="{F86B9BE7-9E2F-4CCD-ADDC-65577149A437}"/>
              </a:ext>
            </a:extLst>
          </p:cNvPr>
          <p:cNvSpPr/>
          <p:nvPr/>
        </p:nvSpPr>
        <p:spPr>
          <a:xfrm>
            <a:off x="975360" y="5880892"/>
            <a:ext cx="2097024" cy="256032"/>
          </a:xfrm>
          <a:prstGeom prst="roundRect">
            <a:avLst>
              <a:gd name="adj" fmla="val 50000"/>
            </a:avLst>
          </a:prstGeom>
          <a:solidFill>
            <a:srgbClr val="FCF3E3"/>
          </a:solidFill>
          <a:ln/>
        </p:spPr>
        <p:txBody>
          <a:bodyPr/>
          <a:lstStyle/>
          <a:p>
            <a:endParaRPr lang="es-ES_tradnl" sz="2400" noProof="0" dirty="0"/>
          </a:p>
        </p:txBody>
      </p:sp>
      <p:sp>
        <p:nvSpPr>
          <p:cNvPr id="166" name="Shape 45">
            <a:extLst>
              <a:ext uri="{FF2B5EF4-FFF2-40B4-BE49-F238E27FC236}">
                <a16:creationId xmlns:a16="http://schemas.microsoft.com/office/drawing/2014/main" id="{64F2FB6D-1252-4952-BDD0-87EEAFA3D381}"/>
              </a:ext>
            </a:extLst>
          </p:cNvPr>
          <p:cNvSpPr/>
          <p:nvPr/>
        </p:nvSpPr>
        <p:spPr>
          <a:xfrm>
            <a:off x="1060704" y="5954044"/>
            <a:ext cx="109728" cy="109728"/>
          </a:xfrm>
          <a:prstGeom prst="ellipse">
            <a:avLst/>
          </a:prstGeom>
          <a:solidFill>
            <a:srgbClr val="C87A0B"/>
          </a:solidFill>
          <a:ln/>
        </p:spPr>
        <p:txBody>
          <a:bodyPr/>
          <a:lstStyle/>
          <a:p>
            <a:endParaRPr lang="es-ES_tradnl" sz="2400" noProof="0" dirty="0"/>
          </a:p>
        </p:txBody>
      </p:sp>
      <p:sp>
        <p:nvSpPr>
          <p:cNvPr id="167" name="Text 46">
            <a:extLst>
              <a:ext uri="{FF2B5EF4-FFF2-40B4-BE49-F238E27FC236}">
                <a16:creationId xmlns:a16="http://schemas.microsoft.com/office/drawing/2014/main" id="{EED77B94-D4BA-116A-5621-90D3A000DAA2}"/>
              </a:ext>
            </a:extLst>
          </p:cNvPr>
          <p:cNvSpPr/>
          <p:nvPr/>
        </p:nvSpPr>
        <p:spPr>
          <a:xfrm>
            <a:off x="1207008" y="5880892"/>
            <a:ext cx="1828800" cy="256032"/>
          </a:xfrm>
          <a:prstGeom prst="rect">
            <a:avLst/>
          </a:prstGeom>
          <a:noFill/>
          <a:ln/>
        </p:spPr>
        <p:txBody>
          <a:bodyPr wrap="square" lIns="0" tIns="0" rIns="0" bIns="0" rtlCol="0" anchor="ctr"/>
          <a:lstStyle/>
          <a:p>
            <a:r>
              <a:rPr lang="es-ES_tradnl" sz="1100" b="1" noProof="0" dirty="0">
                <a:solidFill>
                  <a:srgbClr val="C87A0B"/>
                </a:solidFill>
                <a:latin typeface="Calibri" pitchFamily="34" charset="0"/>
                <a:ea typeface="Calibri" pitchFamily="34" charset="-122"/>
                <a:cs typeface="Calibri" pitchFamily="34" charset="-120"/>
              </a:rPr>
              <a:t>Validación de inputs</a:t>
            </a:r>
            <a:endParaRPr lang="es-ES_tradnl" sz="1100" noProof="0" dirty="0"/>
          </a:p>
        </p:txBody>
      </p:sp>
      <p:sp>
        <p:nvSpPr>
          <p:cNvPr id="168" name="Text 47">
            <a:extLst>
              <a:ext uri="{FF2B5EF4-FFF2-40B4-BE49-F238E27FC236}">
                <a16:creationId xmlns:a16="http://schemas.microsoft.com/office/drawing/2014/main" id="{DC8D643C-D925-61D7-8E1A-5EBDD9B4E20E}"/>
              </a:ext>
            </a:extLst>
          </p:cNvPr>
          <p:cNvSpPr/>
          <p:nvPr/>
        </p:nvSpPr>
        <p:spPr>
          <a:xfrm>
            <a:off x="3340608" y="5248621"/>
            <a:ext cx="4169664" cy="207264"/>
          </a:xfrm>
          <a:prstGeom prst="rect">
            <a:avLst/>
          </a:prstGeom>
          <a:noFill/>
          <a:ln/>
        </p:spPr>
        <p:txBody>
          <a:bodyPr wrap="square" lIns="0" tIns="0" rIns="0" bIns="0" rtlCol="0" anchor="ctr"/>
          <a:lstStyle/>
          <a:p>
            <a:r>
              <a:rPr lang="es-ES_tradnl" b="1" noProof="0" dirty="0">
                <a:solidFill>
                  <a:srgbClr val="0B2E2C"/>
                </a:solidFill>
                <a:latin typeface="Calibri" pitchFamily="34" charset="0"/>
                <a:ea typeface="Calibri" pitchFamily="34" charset="-122"/>
                <a:cs typeface="Calibri" pitchFamily="34" charset="-120"/>
              </a:rPr>
              <a:t>¿En qué estamos?</a:t>
            </a:r>
            <a:endParaRPr lang="es-ES_tradnl" noProof="0" dirty="0"/>
          </a:p>
        </p:txBody>
      </p:sp>
      <p:sp>
        <p:nvSpPr>
          <p:cNvPr id="169" name="Text 48">
            <a:extLst>
              <a:ext uri="{FF2B5EF4-FFF2-40B4-BE49-F238E27FC236}">
                <a16:creationId xmlns:a16="http://schemas.microsoft.com/office/drawing/2014/main" id="{2AF09F47-2CC1-6B5C-5806-E9283C888911}"/>
              </a:ext>
            </a:extLst>
          </p:cNvPr>
          <p:cNvSpPr/>
          <p:nvPr/>
        </p:nvSpPr>
        <p:spPr>
          <a:xfrm>
            <a:off x="3340608" y="5468077"/>
            <a:ext cx="4169664" cy="682752"/>
          </a:xfrm>
          <a:prstGeom prst="rect">
            <a:avLst/>
          </a:prstGeom>
          <a:noFill/>
          <a:ln/>
        </p:spPr>
        <p:txBody>
          <a:bodyPr wrap="square" lIns="0" tIns="0" rIns="0" bIns="0" rtlCol="0" anchor="t"/>
          <a:lstStyle/>
          <a:p>
            <a:pPr>
              <a:lnSpc>
                <a:spcPct val="105000"/>
              </a:lnSpc>
            </a:pPr>
            <a:r>
              <a:rPr lang="es-ES_tradnl" sz="1200" noProof="0" dirty="0">
                <a:solidFill>
                  <a:srgbClr val="6E7E7D"/>
                </a:solidFill>
                <a:latin typeface="Calibri" pitchFamily="34" charset="0"/>
                <a:ea typeface="Calibri" pitchFamily="34" charset="-122"/>
                <a:cs typeface="Calibri" pitchFamily="34" charset="-120"/>
              </a:rPr>
              <a:t>La versión intermedia del CLV que se utilizará para empezar a diseñar de pilotos, mientras continúa el desarrollo de la versión completa. Nos encontramos validando los inputs y supuestos con el equipo de Riesgos y Finanzas</a:t>
            </a:r>
            <a:endParaRPr lang="es-ES_tradnl" sz="1200" noProof="0" dirty="0"/>
          </a:p>
        </p:txBody>
      </p:sp>
      <p:sp>
        <p:nvSpPr>
          <p:cNvPr id="170" name="Shape 49">
            <a:extLst>
              <a:ext uri="{FF2B5EF4-FFF2-40B4-BE49-F238E27FC236}">
                <a16:creationId xmlns:a16="http://schemas.microsoft.com/office/drawing/2014/main" id="{5ACD7ADE-D149-4C61-73CD-55C15F99D4C4}"/>
              </a:ext>
            </a:extLst>
          </p:cNvPr>
          <p:cNvSpPr/>
          <p:nvPr/>
        </p:nvSpPr>
        <p:spPr>
          <a:xfrm>
            <a:off x="7656576" y="5283484"/>
            <a:ext cx="2462784" cy="877824"/>
          </a:xfrm>
          <a:prstGeom prst="rect">
            <a:avLst/>
          </a:prstGeom>
          <a:solidFill>
            <a:srgbClr val="ECF6F5"/>
          </a:solidFill>
          <a:ln/>
        </p:spPr>
        <p:txBody>
          <a:bodyPr/>
          <a:lstStyle/>
          <a:p>
            <a:endParaRPr lang="es-ES_tradnl" sz="2400" noProof="0" dirty="0"/>
          </a:p>
        </p:txBody>
      </p:sp>
      <p:sp>
        <p:nvSpPr>
          <p:cNvPr id="171" name="Text 50">
            <a:extLst>
              <a:ext uri="{FF2B5EF4-FFF2-40B4-BE49-F238E27FC236}">
                <a16:creationId xmlns:a16="http://schemas.microsoft.com/office/drawing/2014/main" id="{92ED98A2-72F8-F964-55B3-2E84EED771D1}"/>
              </a:ext>
            </a:extLst>
          </p:cNvPr>
          <p:cNvSpPr/>
          <p:nvPr/>
        </p:nvSpPr>
        <p:spPr>
          <a:xfrm>
            <a:off x="7766304" y="5344444"/>
            <a:ext cx="2243328" cy="195072"/>
          </a:xfrm>
          <a:prstGeom prst="rect">
            <a:avLst/>
          </a:prstGeom>
          <a:noFill/>
          <a:ln/>
        </p:spPr>
        <p:txBody>
          <a:bodyPr wrap="square" lIns="0" tIns="0" rIns="0" bIns="0" rtlCol="0" anchor="ctr"/>
          <a:lstStyle/>
          <a:p>
            <a:r>
              <a:rPr lang="es-ES_tradnl" sz="1200" b="1" noProof="0" dirty="0">
                <a:solidFill>
                  <a:srgbClr val="0C514E"/>
                </a:solidFill>
                <a:latin typeface="Calibri" pitchFamily="34" charset="0"/>
                <a:ea typeface="Calibri" pitchFamily="34" charset="-122"/>
                <a:cs typeface="Calibri" pitchFamily="34" charset="-120"/>
              </a:rPr>
              <a:t>Siguiente hito</a:t>
            </a:r>
            <a:endParaRPr lang="es-ES_tradnl" sz="1200" noProof="0" dirty="0"/>
          </a:p>
        </p:txBody>
      </p:sp>
      <p:sp>
        <p:nvSpPr>
          <p:cNvPr id="172" name="Text 51">
            <a:extLst>
              <a:ext uri="{FF2B5EF4-FFF2-40B4-BE49-F238E27FC236}">
                <a16:creationId xmlns:a16="http://schemas.microsoft.com/office/drawing/2014/main" id="{0FEC5272-D8B0-4398-0C61-42F4BF7CD97F}"/>
              </a:ext>
            </a:extLst>
          </p:cNvPr>
          <p:cNvSpPr/>
          <p:nvPr/>
        </p:nvSpPr>
        <p:spPr>
          <a:xfrm>
            <a:off x="7766304" y="5551708"/>
            <a:ext cx="2243328" cy="536448"/>
          </a:xfrm>
          <a:prstGeom prst="rect">
            <a:avLst/>
          </a:prstGeom>
          <a:noFill/>
          <a:ln/>
        </p:spPr>
        <p:txBody>
          <a:bodyPr wrap="square" lIns="0" tIns="0" rIns="0" bIns="0" rtlCol="0" anchor="t"/>
          <a:lstStyle/>
          <a:p>
            <a:pPr>
              <a:lnSpc>
                <a:spcPct val="105000"/>
              </a:lnSpc>
            </a:pPr>
            <a:r>
              <a:rPr lang="es-ES_tradnl" sz="1100" noProof="0" dirty="0">
                <a:solidFill>
                  <a:srgbClr val="3E5553"/>
                </a:solidFill>
                <a:latin typeface="Calibri" pitchFamily="34" charset="0"/>
                <a:ea typeface="Calibri" pitchFamily="34" charset="-122"/>
                <a:cs typeface="Calibri" pitchFamily="34" charset="-120"/>
              </a:rPr>
              <a:t>Análisis de campañas con el CLV 0.5 para Identificar grupos a pilotear</a:t>
            </a:r>
            <a:endParaRPr lang="es-ES_tradnl" sz="1100" noProof="0" dirty="0"/>
          </a:p>
        </p:txBody>
      </p:sp>
      <p:sp>
        <p:nvSpPr>
          <p:cNvPr id="173" name="Shape 52">
            <a:extLst>
              <a:ext uri="{FF2B5EF4-FFF2-40B4-BE49-F238E27FC236}">
                <a16:creationId xmlns:a16="http://schemas.microsoft.com/office/drawing/2014/main" id="{11D82E4B-D45D-5738-1BA0-570C0E20CE23}"/>
              </a:ext>
            </a:extLst>
          </p:cNvPr>
          <p:cNvSpPr/>
          <p:nvPr/>
        </p:nvSpPr>
        <p:spPr>
          <a:xfrm>
            <a:off x="829056" y="6368572"/>
            <a:ext cx="9436608" cy="1430874"/>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174" name="Shape 53">
            <a:extLst>
              <a:ext uri="{FF2B5EF4-FFF2-40B4-BE49-F238E27FC236}">
                <a16:creationId xmlns:a16="http://schemas.microsoft.com/office/drawing/2014/main" id="{5ABC88AA-FB11-2C0D-3D26-5B8B1F460C11}"/>
              </a:ext>
            </a:extLst>
          </p:cNvPr>
          <p:cNvSpPr/>
          <p:nvPr/>
        </p:nvSpPr>
        <p:spPr>
          <a:xfrm>
            <a:off x="950976" y="6490492"/>
            <a:ext cx="316992" cy="316992"/>
          </a:xfrm>
          <a:prstGeom prst="ellipse">
            <a:avLst/>
          </a:prstGeom>
          <a:solidFill>
            <a:srgbClr val="13807B"/>
          </a:solidFill>
          <a:ln/>
        </p:spPr>
        <p:txBody>
          <a:bodyPr/>
          <a:lstStyle/>
          <a:p>
            <a:endParaRPr lang="es-ES_tradnl" sz="2400" noProof="0" dirty="0"/>
          </a:p>
        </p:txBody>
      </p:sp>
      <p:sp>
        <p:nvSpPr>
          <p:cNvPr id="175" name="Text 54">
            <a:extLst>
              <a:ext uri="{FF2B5EF4-FFF2-40B4-BE49-F238E27FC236}">
                <a16:creationId xmlns:a16="http://schemas.microsoft.com/office/drawing/2014/main" id="{9303A626-8A31-1E70-F738-02FAC6715EF6}"/>
              </a:ext>
            </a:extLst>
          </p:cNvPr>
          <p:cNvSpPr/>
          <p:nvPr/>
        </p:nvSpPr>
        <p:spPr>
          <a:xfrm>
            <a:off x="950976" y="6490492"/>
            <a:ext cx="316992" cy="316992"/>
          </a:xfrm>
          <a:prstGeom prst="rect">
            <a:avLst/>
          </a:prstGeom>
          <a:noFill/>
          <a:ln/>
        </p:spPr>
        <p:txBody>
          <a:bodyPr wrap="square" lIns="0" tIns="0" rIns="0" bIns="0" rtlCol="0" anchor="ctr"/>
          <a:lstStyle/>
          <a:p>
            <a:pPr algn="ctr"/>
            <a:r>
              <a:rPr lang="es-ES_tradnl" sz="1600" b="1" noProof="0" dirty="0">
                <a:solidFill>
                  <a:srgbClr val="FFFFFF"/>
                </a:solidFill>
                <a:latin typeface="Calibri" pitchFamily="34" charset="0"/>
                <a:ea typeface="Calibri" pitchFamily="34" charset="-122"/>
                <a:cs typeface="Calibri" pitchFamily="34" charset="-120"/>
              </a:rPr>
              <a:t>4</a:t>
            </a:r>
            <a:endParaRPr lang="es-ES_tradnl" sz="1600" noProof="0" dirty="0"/>
          </a:p>
        </p:txBody>
      </p:sp>
      <p:sp>
        <p:nvSpPr>
          <p:cNvPr id="176" name="Text 55">
            <a:extLst>
              <a:ext uri="{FF2B5EF4-FFF2-40B4-BE49-F238E27FC236}">
                <a16:creationId xmlns:a16="http://schemas.microsoft.com/office/drawing/2014/main" id="{1B4271B8-D391-21B0-2E59-D83225718117}"/>
              </a:ext>
            </a:extLst>
          </p:cNvPr>
          <p:cNvSpPr/>
          <p:nvPr/>
        </p:nvSpPr>
        <p:spPr>
          <a:xfrm>
            <a:off x="1365504" y="6448474"/>
            <a:ext cx="1804416" cy="414528"/>
          </a:xfrm>
          <a:prstGeom prst="rect">
            <a:avLst/>
          </a:prstGeom>
          <a:noFill/>
          <a:ln/>
        </p:spPr>
        <p:txBody>
          <a:bodyPr wrap="square" lIns="0" tIns="0" rIns="0" bIns="0" rtlCol="0" anchor="ctr"/>
          <a:lstStyle/>
          <a:p>
            <a:pPr>
              <a:lnSpc>
                <a:spcPct val="95000"/>
              </a:lnSpc>
            </a:pPr>
            <a:r>
              <a:rPr lang="es-ES_tradnl" sz="1600" b="1" noProof="0" dirty="0">
                <a:solidFill>
                  <a:srgbClr val="0B2E2C"/>
                </a:solidFill>
                <a:latin typeface="Calibri" pitchFamily="34" charset="0"/>
                <a:ea typeface="Calibri" pitchFamily="34" charset="-122"/>
                <a:cs typeface="Calibri" pitchFamily="34" charset="-120"/>
              </a:rPr>
              <a:t>Gastos</a:t>
            </a:r>
          </a:p>
          <a:p>
            <a:pPr>
              <a:lnSpc>
                <a:spcPct val="95000"/>
              </a:lnSpc>
            </a:pPr>
            <a:r>
              <a:rPr lang="es-ES_tradnl" sz="1600" b="1" noProof="0" dirty="0">
                <a:solidFill>
                  <a:srgbClr val="0B2E2C"/>
                </a:solidFill>
                <a:latin typeface="Calibri" pitchFamily="34" charset="0"/>
                <a:ea typeface="Calibri" pitchFamily="34" charset="-122"/>
                <a:cs typeface="Calibri" pitchFamily="34" charset="-120"/>
              </a:rPr>
              <a:t>Operativos</a:t>
            </a:r>
            <a:endParaRPr lang="es-ES_tradnl" sz="1600" noProof="0" dirty="0"/>
          </a:p>
        </p:txBody>
      </p:sp>
      <p:sp>
        <p:nvSpPr>
          <p:cNvPr id="177" name="Shape 56">
            <a:extLst>
              <a:ext uri="{FF2B5EF4-FFF2-40B4-BE49-F238E27FC236}">
                <a16:creationId xmlns:a16="http://schemas.microsoft.com/office/drawing/2014/main" id="{5137F980-FBF2-FB00-555E-45143990A4CC}"/>
              </a:ext>
            </a:extLst>
          </p:cNvPr>
          <p:cNvSpPr/>
          <p:nvPr/>
        </p:nvSpPr>
        <p:spPr>
          <a:xfrm>
            <a:off x="975360" y="7396520"/>
            <a:ext cx="2097024" cy="256032"/>
          </a:xfrm>
          <a:prstGeom prst="roundRect">
            <a:avLst>
              <a:gd name="adj" fmla="val 50000"/>
            </a:avLst>
          </a:prstGeom>
          <a:solidFill>
            <a:srgbClr val="FCF3E3"/>
          </a:solidFill>
          <a:ln/>
        </p:spPr>
        <p:txBody>
          <a:bodyPr/>
          <a:lstStyle/>
          <a:p>
            <a:endParaRPr lang="es-ES_tradnl" sz="2400" noProof="0" dirty="0"/>
          </a:p>
        </p:txBody>
      </p:sp>
      <p:sp>
        <p:nvSpPr>
          <p:cNvPr id="178" name="Shape 57">
            <a:extLst>
              <a:ext uri="{FF2B5EF4-FFF2-40B4-BE49-F238E27FC236}">
                <a16:creationId xmlns:a16="http://schemas.microsoft.com/office/drawing/2014/main" id="{FA6FC23B-F80B-82F9-9CBA-C9E513C0F366}"/>
              </a:ext>
            </a:extLst>
          </p:cNvPr>
          <p:cNvSpPr/>
          <p:nvPr/>
        </p:nvSpPr>
        <p:spPr>
          <a:xfrm>
            <a:off x="1060704" y="7469672"/>
            <a:ext cx="109728" cy="109728"/>
          </a:xfrm>
          <a:prstGeom prst="ellipse">
            <a:avLst/>
          </a:prstGeom>
          <a:solidFill>
            <a:srgbClr val="C87A0B"/>
          </a:solidFill>
          <a:ln/>
        </p:spPr>
        <p:txBody>
          <a:bodyPr/>
          <a:lstStyle/>
          <a:p>
            <a:endParaRPr lang="es-ES_tradnl" sz="2400" noProof="0" dirty="0"/>
          </a:p>
        </p:txBody>
      </p:sp>
      <p:sp>
        <p:nvSpPr>
          <p:cNvPr id="179" name="Text 58">
            <a:extLst>
              <a:ext uri="{FF2B5EF4-FFF2-40B4-BE49-F238E27FC236}">
                <a16:creationId xmlns:a16="http://schemas.microsoft.com/office/drawing/2014/main" id="{4814C92E-817B-2DF9-DB07-B8A5496BC96D}"/>
              </a:ext>
            </a:extLst>
          </p:cNvPr>
          <p:cNvSpPr/>
          <p:nvPr/>
        </p:nvSpPr>
        <p:spPr>
          <a:xfrm>
            <a:off x="1207008" y="7396520"/>
            <a:ext cx="1828800" cy="256032"/>
          </a:xfrm>
          <a:prstGeom prst="rect">
            <a:avLst/>
          </a:prstGeom>
          <a:noFill/>
          <a:ln/>
        </p:spPr>
        <p:txBody>
          <a:bodyPr wrap="square" lIns="0" tIns="0" rIns="0" bIns="0" rtlCol="0" anchor="ctr"/>
          <a:lstStyle/>
          <a:p>
            <a:r>
              <a:rPr lang="es-ES_tradnl" sz="1100" b="1" noProof="0" dirty="0">
                <a:solidFill>
                  <a:srgbClr val="C87A0B"/>
                </a:solidFill>
                <a:latin typeface="Calibri" pitchFamily="34" charset="0"/>
                <a:ea typeface="Calibri" pitchFamily="34" charset="-122"/>
                <a:cs typeface="Calibri" pitchFamily="34" charset="-120"/>
              </a:rPr>
              <a:t>Pendiente de aprobación final</a:t>
            </a:r>
            <a:endParaRPr lang="es-ES_tradnl" sz="1100" noProof="0" dirty="0"/>
          </a:p>
        </p:txBody>
      </p:sp>
      <p:sp>
        <p:nvSpPr>
          <p:cNvPr id="180" name="Text 59">
            <a:extLst>
              <a:ext uri="{FF2B5EF4-FFF2-40B4-BE49-F238E27FC236}">
                <a16:creationId xmlns:a16="http://schemas.microsoft.com/office/drawing/2014/main" id="{F4E3CBC9-CE98-BDB6-654A-D4E4481FF0BC}"/>
              </a:ext>
            </a:extLst>
          </p:cNvPr>
          <p:cNvSpPr/>
          <p:nvPr/>
        </p:nvSpPr>
        <p:spPr>
          <a:xfrm>
            <a:off x="3340608" y="6466108"/>
            <a:ext cx="4169664" cy="207264"/>
          </a:xfrm>
          <a:prstGeom prst="rect">
            <a:avLst/>
          </a:prstGeom>
          <a:noFill/>
          <a:ln/>
        </p:spPr>
        <p:txBody>
          <a:bodyPr wrap="square" lIns="0" tIns="0" rIns="0" bIns="0" rtlCol="0" anchor="ctr"/>
          <a:lstStyle/>
          <a:p>
            <a:r>
              <a:rPr lang="es-ES_tradnl" b="1" noProof="0" dirty="0">
                <a:solidFill>
                  <a:srgbClr val="0B2E2C"/>
                </a:solidFill>
                <a:latin typeface="Calibri" pitchFamily="34" charset="0"/>
                <a:ea typeface="Calibri" pitchFamily="34" charset="-122"/>
                <a:cs typeface="Calibri" pitchFamily="34" charset="-120"/>
              </a:rPr>
              <a:t>¿En qué estamos?</a:t>
            </a:r>
            <a:endParaRPr lang="es-ES_tradnl" noProof="0" dirty="0"/>
          </a:p>
        </p:txBody>
      </p:sp>
      <p:sp>
        <p:nvSpPr>
          <p:cNvPr id="181" name="Text 60">
            <a:extLst>
              <a:ext uri="{FF2B5EF4-FFF2-40B4-BE49-F238E27FC236}">
                <a16:creationId xmlns:a16="http://schemas.microsoft.com/office/drawing/2014/main" id="{1E38C54B-0A8D-57E0-8E08-19691AD55403}"/>
              </a:ext>
            </a:extLst>
          </p:cNvPr>
          <p:cNvSpPr/>
          <p:nvPr/>
        </p:nvSpPr>
        <p:spPr>
          <a:xfrm>
            <a:off x="3340608" y="6685564"/>
            <a:ext cx="4169664" cy="682752"/>
          </a:xfrm>
          <a:prstGeom prst="rect">
            <a:avLst/>
          </a:prstGeom>
          <a:noFill/>
          <a:ln/>
        </p:spPr>
        <p:txBody>
          <a:bodyPr wrap="square" lIns="0" tIns="0" rIns="0" bIns="0" rtlCol="0" anchor="t"/>
          <a:lstStyle/>
          <a:p>
            <a:pPr>
              <a:lnSpc>
                <a:spcPct val="105000"/>
              </a:lnSpc>
            </a:pPr>
            <a:r>
              <a:rPr lang="es-ES_tradnl" sz="1200" noProof="0" dirty="0">
                <a:solidFill>
                  <a:srgbClr val="6E7E7D"/>
                </a:solidFill>
                <a:latin typeface="Calibri" pitchFamily="34" charset="0"/>
                <a:ea typeface="Calibri" pitchFamily="34" charset="-122"/>
                <a:cs typeface="Calibri" pitchFamily="34" charset="-120"/>
              </a:rPr>
              <a:t>La metodología de costos granulares ya fue desarrollada y validada con los equipos IBK.</a:t>
            </a:r>
            <a:endParaRPr lang="es-ES_tradnl" sz="1200" noProof="0" dirty="0"/>
          </a:p>
        </p:txBody>
      </p:sp>
      <p:sp>
        <p:nvSpPr>
          <p:cNvPr id="182" name="Shape 61">
            <a:extLst>
              <a:ext uri="{FF2B5EF4-FFF2-40B4-BE49-F238E27FC236}">
                <a16:creationId xmlns:a16="http://schemas.microsoft.com/office/drawing/2014/main" id="{D23C8E1C-676B-A48B-C067-6BB9A5CA58A9}"/>
              </a:ext>
            </a:extLst>
          </p:cNvPr>
          <p:cNvSpPr/>
          <p:nvPr/>
        </p:nvSpPr>
        <p:spPr>
          <a:xfrm>
            <a:off x="7656576" y="6478300"/>
            <a:ext cx="2462784" cy="877824"/>
          </a:xfrm>
          <a:prstGeom prst="rect">
            <a:avLst/>
          </a:prstGeom>
          <a:solidFill>
            <a:srgbClr val="ECF6F5"/>
          </a:solidFill>
          <a:ln/>
        </p:spPr>
        <p:txBody>
          <a:bodyPr/>
          <a:lstStyle/>
          <a:p>
            <a:endParaRPr lang="es-ES_tradnl" sz="2400" noProof="0" dirty="0"/>
          </a:p>
        </p:txBody>
      </p:sp>
      <p:sp>
        <p:nvSpPr>
          <p:cNvPr id="183" name="Text 62">
            <a:extLst>
              <a:ext uri="{FF2B5EF4-FFF2-40B4-BE49-F238E27FC236}">
                <a16:creationId xmlns:a16="http://schemas.microsoft.com/office/drawing/2014/main" id="{DE70C662-4014-2C05-9187-3BC37691AFCB}"/>
              </a:ext>
            </a:extLst>
          </p:cNvPr>
          <p:cNvSpPr/>
          <p:nvPr/>
        </p:nvSpPr>
        <p:spPr>
          <a:xfrm>
            <a:off x="7766304" y="6539260"/>
            <a:ext cx="2243328" cy="195072"/>
          </a:xfrm>
          <a:prstGeom prst="rect">
            <a:avLst/>
          </a:prstGeom>
          <a:noFill/>
          <a:ln/>
        </p:spPr>
        <p:txBody>
          <a:bodyPr wrap="square" lIns="0" tIns="0" rIns="0" bIns="0" rtlCol="0" anchor="ctr"/>
          <a:lstStyle/>
          <a:p>
            <a:r>
              <a:rPr lang="es-ES_tradnl" sz="1200" b="1" noProof="0" dirty="0">
                <a:solidFill>
                  <a:srgbClr val="0C514E"/>
                </a:solidFill>
                <a:latin typeface="Calibri" pitchFamily="34" charset="0"/>
                <a:ea typeface="Calibri" pitchFamily="34" charset="-122"/>
                <a:cs typeface="Calibri" pitchFamily="34" charset="-120"/>
              </a:rPr>
              <a:t>Siguiente hito</a:t>
            </a:r>
            <a:endParaRPr lang="es-ES_tradnl" sz="1200" noProof="0" dirty="0"/>
          </a:p>
        </p:txBody>
      </p:sp>
      <p:sp>
        <p:nvSpPr>
          <p:cNvPr id="184" name="Text 63">
            <a:extLst>
              <a:ext uri="{FF2B5EF4-FFF2-40B4-BE49-F238E27FC236}">
                <a16:creationId xmlns:a16="http://schemas.microsoft.com/office/drawing/2014/main" id="{2CAD78B1-EB47-2648-52AC-A83BF6CF1B9C}"/>
              </a:ext>
            </a:extLst>
          </p:cNvPr>
          <p:cNvSpPr/>
          <p:nvPr/>
        </p:nvSpPr>
        <p:spPr>
          <a:xfrm>
            <a:off x="7766304" y="6746524"/>
            <a:ext cx="2243328" cy="536448"/>
          </a:xfrm>
          <a:prstGeom prst="rect">
            <a:avLst/>
          </a:prstGeom>
          <a:noFill/>
          <a:ln/>
        </p:spPr>
        <p:txBody>
          <a:bodyPr wrap="square" lIns="0" tIns="0" rIns="0" bIns="0" rtlCol="0" anchor="t"/>
          <a:lstStyle/>
          <a:p>
            <a:pPr>
              <a:lnSpc>
                <a:spcPct val="105000"/>
              </a:lnSpc>
            </a:pPr>
            <a:r>
              <a:rPr lang="es-ES_tradnl" sz="1100" noProof="0" dirty="0">
                <a:solidFill>
                  <a:srgbClr val="3E5553"/>
                </a:solidFill>
                <a:latin typeface="Calibri" pitchFamily="34" charset="0"/>
                <a:ea typeface="Calibri" pitchFamily="34" charset="-122"/>
                <a:cs typeface="Calibri" pitchFamily="34" charset="-120"/>
              </a:rPr>
              <a:t>Visto bueno de Finanzas para incorporar el GO y habilitar su uso en la construcción de tasas.</a:t>
            </a:r>
            <a:endParaRPr lang="es-ES_tradnl" sz="1100" noProof="0" dirty="0"/>
          </a:p>
        </p:txBody>
      </p:sp>
      <p:sp>
        <p:nvSpPr>
          <p:cNvPr id="185" name="Shape 64">
            <a:extLst>
              <a:ext uri="{FF2B5EF4-FFF2-40B4-BE49-F238E27FC236}">
                <a16:creationId xmlns:a16="http://schemas.microsoft.com/office/drawing/2014/main" id="{64462ED7-AE83-BEEF-250C-A755F3575D8B}"/>
              </a:ext>
            </a:extLst>
          </p:cNvPr>
          <p:cNvSpPr/>
          <p:nvPr/>
        </p:nvSpPr>
        <p:spPr>
          <a:xfrm>
            <a:off x="829056" y="7880888"/>
            <a:ext cx="9436608" cy="1097280"/>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186" name="Shape 65">
            <a:extLst>
              <a:ext uri="{FF2B5EF4-FFF2-40B4-BE49-F238E27FC236}">
                <a16:creationId xmlns:a16="http://schemas.microsoft.com/office/drawing/2014/main" id="{E8DF2333-29D4-7FA1-667E-5F8C414519A7}"/>
              </a:ext>
            </a:extLst>
          </p:cNvPr>
          <p:cNvSpPr/>
          <p:nvPr/>
        </p:nvSpPr>
        <p:spPr>
          <a:xfrm>
            <a:off x="950976" y="8002808"/>
            <a:ext cx="316992" cy="316992"/>
          </a:xfrm>
          <a:prstGeom prst="ellipse">
            <a:avLst/>
          </a:prstGeom>
          <a:solidFill>
            <a:srgbClr val="13807B"/>
          </a:solidFill>
          <a:ln/>
        </p:spPr>
        <p:txBody>
          <a:bodyPr/>
          <a:lstStyle/>
          <a:p>
            <a:endParaRPr lang="es-ES_tradnl" sz="2400" noProof="0" dirty="0"/>
          </a:p>
        </p:txBody>
      </p:sp>
      <p:sp>
        <p:nvSpPr>
          <p:cNvPr id="187" name="Text 66">
            <a:extLst>
              <a:ext uri="{FF2B5EF4-FFF2-40B4-BE49-F238E27FC236}">
                <a16:creationId xmlns:a16="http://schemas.microsoft.com/office/drawing/2014/main" id="{DABE6DCB-CFEF-2AD3-09FA-FA69A61C2725}"/>
              </a:ext>
            </a:extLst>
          </p:cNvPr>
          <p:cNvSpPr/>
          <p:nvPr/>
        </p:nvSpPr>
        <p:spPr>
          <a:xfrm>
            <a:off x="950976" y="8002808"/>
            <a:ext cx="316992" cy="316992"/>
          </a:xfrm>
          <a:prstGeom prst="rect">
            <a:avLst/>
          </a:prstGeom>
          <a:noFill/>
          <a:ln/>
        </p:spPr>
        <p:txBody>
          <a:bodyPr wrap="square" lIns="0" tIns="0" rIns="0" bIns="0" rtlCol="0" anchor="ctr"/>
          <a:lstStyle/>
          <a:p>
            <a:pPr algn="ctr"/>
            <a:r>
              <a:rPr lang="es-ES_tradnl" sz="1600" b="1" noProof="0" dirty="0">
                <a:solidFill>
                  <a:srgbClr val="FFFFFF"/>
                </a:solidFill>
                <a:latin typeface="Calibri" pitchFamily="34" charset="0"/>
                <a:ea typeface="Calibri" pitchFamily="34" charset="-122"/>
                <a:cs typeface="Calibri" pitchFamily="34" charset="-120"/>
              </a:rPr>
              <a:t>5</a:t>
            </a:r>
            <a:endParaRPr lang="es-ES_tradnl" sz="1600" noProof="0" dirty="0"/>
          </a:p>
        </p:txBody>
      </p:sp>
      <p:sp>
        <p:nvSpPr>
          <p:cNvPr id="188" name="Text 67">
            <a:extLst>
              <a:ext uri="{FF2B5EF4-FFF2-40B4-BE49-F238E27FC236}">
                <a16:creationId xmlns:a16="http://schemas.microsoft.com/office/drawing/2014/main" id="{0DA42F54-1D86-7B7E-B53D-78E938FD201E}"/>
              </a:ext>
            </a:extLst>
          </p:cNvPr>
          <p:cNvSpPr/>
          <p:nvPr/>
        </p:nvSpPr>
        <p:spPr>
          <a:xfrm>
            <a:off x="1365504" y="7966232"/>
            <a:ext cx="1804416" cy="414528"/>
          </a:xfrm>
          <a:prstGeom prst="rect">
            <a:avLst/>
          </a:prstGeom>
          <a:noFill/>
          <a:ln/>
        </p:spPr>
        <p:txBody>
          <a:bodyPr wrap="square" lIns="0" tIns="0" rIns="0" bIns="0" rtlCol="0" anchor="t"/>
          <a:lstStyle/>
          <a:p>
            <a:pPr>
              <a:lnSpc>
                <a:spcPct val="95000"/>
              </a:lnSpc>
            </a:pPr>
            <a:r>
              <a:rPr lang="es-ES_tradnl" sz="1600" b="1" noProof="0" dirty="0">
                <a:solidFill>
                  <a:srgbClr val="0B2E2C"/>
                </a:solidFill>
                <a:latin typeface="Calibri" pitchFamily="34" charset="0"/>
                <a:ea typeface="Calibri" pitchFamily="34" charset="-122"/>
                <a:cs typeface="Calibri" pitchFamily="34" charset="-120"/>
              </a:rPr>
              <a:t>Pass </a:t>
            </a:r>
            <a:r>
              <a:rPr lang="es-ES_tradnl" sz="1600" b="1" noProof="0" dirty="0" err="1">
                <a:solidFill>
                  <a:srgbClr val="0B2E2C"/>
                </a:solidFill>
                <a:latin typeface="Calibri" pitchFamily="34" charset="0"/>
                <a:ea typeface="Calibri" pitchFamily="34" charset="-122"/>
                <a:cs typeface="Calibri" pitchFamily="34" charset="-120"/>
              </a:rPr>
              <a:t>Through</a:t>
            </a:r>
            <a:r>
              <a:rPr lang="es-ES_tradnl" sz="1600" b="1" noProof="0" dirty="0">
                <a:solidFill>
                  <a:srgbClr val="0B2E2C"/>
                </a:solidFill>
                <a:latin typeface="Calibri" pitchFamily="34" charset="0"/>
                <a:ea typeface="Calibri" pitchFamily="34" charset="-122"/>
                <a:cs typeface="Calibri" pitchFamily="34" charset="-120"/>
              </a:rPr>
              <a:t> FTP</a:t>
            </a:r>
            <a:endParaRPr lang="es-ES_tradnl" sz="1600" noProof="0" dirty="0"/>
          </a:p>
        </p:txBody>
      </p:sp>
      <p:sp>
        <p:nvSpPr>
          <p:cNvPr id="189" name="Shape 68">
            <a:extLst>
              <a:ext uri="{FF2B5EF4-FFF2-40B4-BE49-F238E27FC236}">
                <a16:creationId xmlns:a16="http://schemas.microsoft.com/office/drawing/2014/main" id="{6594AD66-59E7-7D9F-8362-8A87327AB6CC}"/>
              </a:ext>
            </a:extLst>
          </p:cNvPr>
          <p:cNvSpPr/>
          <p:nvPr/>
        </p:nvSpPr>
        <p:spPr>
          <a:xfrm>
            <a:off x="975360" y="8588024"/>
            <a:ext cx="2097024" cy="256032"/>
          </a:xfrm>
          <a:prstGeom prst="roundRect">
            <a:avLst>
              <a:gd name="adj" fmla="val 50000"/>
            </a:avLst>
          </a:prstGeom>
          <a:solidFill>
            <a:srgbClr val="FCF3E3"/>
          </a:solidFill>
          <a:ln/>
        </p:spPr>
        <p:txBody>
          <a:bodyPr/>
          <a:lstStyle/>
          <a:p>
            <a:endParaRPr lang="es-ES_tradnl" sz="2400" noProof="0" dirty="0"/>
          </a:p>
        </p:txBody>
      </p:sp>
      <p:sp>
        <p:nvSpPr>
          <p:cNvPr id="190" name="Shape 69">
            <a:extLst>
              <a:ext uri="{FF2B5EF4-FFF2-40B4-BE49-F238E27FC236}">
                <a16:creationId xmlns:a16="http://schemas.microsoft.com/office/drawing/2014/main" id="{49A956C5-B954-AC52-A1C1-1F7074882565}"/>
              </a:ext>
            </a:extLst>
          </p:cNvPr>
          <p:cNvSpPr/>
          <p:nvPr/>
        </p:nvSpPr>
        <p:spPr>
          <a:xfrm>
            <a:off x="1060704" y="8661176"/>
            <a:ext cx="109728" cy="109728"/>
          </a:xfrm>
          <a:prstGeom prst="ellipse">
            <a:avLst/>
          </a:prstGeom>
          <a:solidFill>
            <a:srgbClr val="C87A0B"/>
          </a:solidFill>
          <a:ln/>
        </p:spPr>
        <p:txBody>
          <a:bodyPr/>
          <a:lstStyle/>
          <a:p>
            <a:endParaRPr lang="es-ES_tradnl" sz="2400" noProof="0" dirty="0"/>
          </a:p>
        </p:txBody>
      </p:sp>
      <p:sp>
        <p:nvSpPr>
          <p:cNvPr id="191" name="Text 70">
            <a:extLst>
              <a:ext uri="{FF2B5EF4-FFF2-40B4-BE49-F238E27FC236}">
                <a16:creationId xmlns:a16="http://schemas.microsoft.com/office/drawing/2014/main" id="{7772E248-FBB7-D72F-9257-F8AE53661E7F}"/>
              </a:ext>
            </a:extLst>
          </p:cNvPr>
          <p:cNvSpPr/>
          <p:nvPr/>
        </p:nvSpPr>
        <p:spPr>
          <a:xfrm>
            <a:off x="1207008" y="8588024"/>
            <a:ext cx="1828800" cy="256032"/>
          </a:xfrm>
          <a:prstGeom prst="rect">
            <a:avLst/>
          </a:prstGeom>
          <a:noFill/>
          <a:ln/>
        </p:spPr>
        <p:txBody>
          <a:bodyPr wrap="square" lIns="0" tIns="0" rIns="0" bIns="0" rtlCol="0" anchor="ctr"/>
          <a:lstStyle/>
          <a:p>
            <a:r>
              <a:rPr lang="es-ES_tradnl" sz="1100" b="1" noProof="0" dirty="0">
                <a:solidFill>
                  <a:srgbClr val="C87A0B"/>
                </a:solidFill>
                <a:latin typeface="Calibri" pitchFamily="34" charset="0"/>
                <a:ea typeface="Calibri" pitchFamily="34" charset="-122"/>
                <a:cs typeface="Calibri" pitchFamily="34" charset="-120"/>
              </a:rPr>
              <a:t>Revisión de información</a:t>
            </a:r>
            <a:endParaRPr lang="es-ES_tradnl" sz="1100" noProof="0" dirty="0"/>
          </a:p>
        </p:txBody>
      </p:sp>
      <p:sp>
        <p:nvSpPr>
          <p:cNvPr id="192" name="Text 71">
            <a:extLst>
              <a:ext uri="{FF2B5EF4-FFF2-40B4-BE49-F238E27FC236}">
                <a16:creationId xmlns:a16="http://schemas.microsoft.com/office/drawing/2014/main" id="{332BA431-5801-DAAA-33C7-749E66523685}"/>
              </a:ext>
            </a:extLst>
          </p:cNvPr>
          <p:cNvSpPr/>
          <p:nvPr/>
        </p:nvSpPr>
        <p:spPr>
          <a:xfrm>
            <a:off x="3340608" y="7978424"/>
            <a:ext cx="4169664" cy="207264"/>
          </a:xfrm>
          <a:prstGeom prst="rect">
            <a:avLst/>
          </a:prstGeom>
          <a:noFill/>
          <a:ln/>
        </p:spPr>
        <p:txBody>
          <a:bodyPr wrap="square" lIns="0" tIns="0" rIns="0" bIns="0" rtlCol="0" anchor="ctr"/>
          <a:lstStyle/>
          <a:p>
            <a:r>
              <a:rPr lang="es-ES_tradnl" b="1" noProof="0" dirty="0">
                <a:solidFill>
                  <a:srgbClr val="0B2E2C"/>
                </a:solidFill>
                <a:latin typeface="Calibri" pitchFamily="34" charset="0"/>
                <a:ea typeface="Calibri" pitchFamily="34" charset="-122"/>
                <a:cs typeface="Calibri" pitchFamily="34" charset="-120"/>
              </a:rPr>
              <a:t>¿En qué estamos?</a:t>
            </a:r>
            <a:endParaRPr lang="es-ES_tradnl" noProof="0" dirty="0"/>
          </a:p>
        </p:txBody>
      </p:sp>
      <p:sp>
        <p:nvSpPr>
          <p:cNvPr id="193" name="Text 72">
            <a:extLst>
              <a:ext uri="{FF2B5EF4-FFF2-40B4-BE49-F238E27FC236}">
                <a16:creationId xmlns:a16="http://schemas.microsoft.com/office/drawing/2014/main" id="{B93CAA10-C99B-C7EE-61C2-A08DC9134D12}"/>
              </a:ext>
            </a:extLst>
          </p:cNvPr>
          <p:cNvSpPr/>
          <p:nvPr/>
        </p:nvSpPr>
        <p:spPr>
          <a:xfrm>
            <a:off x="3340608" y="8197880"/>
            <a:ext cx="4169664" cy="682752"/>
          </a:xfrm>
          <a:prstGeom prst="rect">
            <a:avLst/>
          </a:prstGeom>
          <a:noFill/>
          <a:ln/>
        </p:spPr>
        <p:txBody>
          <a:bodyPr wrap="square" lIns="0" tIns="0" rIns="0" bIns="0" rtlCol="0" anchor="t"/>
          <a:lstStyle/>
          <a:p>
            <a:pPr>
              <a:lnSpc>
                <a:spcPct val="105000"/>
              </a:lnSpc>
            </a:pPr>
            <a:r>
              <a:rPr lang="es-ES_tradnl" sz="1200" noProof="0" dirty="0">
                <a:solidFill>
                  <a:srgbClr val="6E7E7D"/>
                </a:solidFill>
                <a:latin typeface="Calibri" pitchFamily="34" charset="0"/>
                <a:cs typeface="Calibri" pitchFamily="34" charset="-120"/>
              </a:rPr>
              <a:t>Primer ejercicio para flagear a los grupos de clientes por potencialmente sensibles y poco sensibles al precio a partir de variables cliente y operación.</a:t>
            </a:r>
            <a:endParaRPr lang="es-ES_tradnl" sz="1200" noProof="0" dirty="0"/>
          </a:p>
        </p:txBody>
      </p:sp>
      <p:sp>
        <p:nvSpPr>
          <p:cNvPr id="194" name="Shape 73">
            <a:extLst>
              <a:ext uri="{FF2B5EF4-FFF2-40B4-BE49-F238E27FC236}">
                <a16:creationId xmlns:a16="http://schemas.microsoft.com/office/drawing/2014/main" id="{29880A54-A1AC-7541-EE56-63F5D6FD62B2}"/>
              </a:ext>
            </a:extLst>
          </p:cNvPr>
          <p:cNvSpPr/>
          <p:nvPr/>
        </p:nvSpPr>
        <p:spPr>
          <a:xfrm>
            <a:off x="7656576" y="7990616"/>
            <a:ext cx="2462784" cy="877824"/>
          </a:xfrm>
          <a:prstGeom prst="rect">
            <a:avLst/>
          </a:prstGeom>
          <a:solidFill>
            <a:srgbClr val="ECF6F5"/>
          </a:solidFill>
          <a:ln/>
        </p:spPr>
        <p:txBody>
          <a:bodyPr/>
          <a:lstStyle/>
          <a:p>
            <a:endParaRPr lang="es-ES_tradnl" sz="2400" noProof="0" dirty="0"/>
          </a:p>
        </p:txBody>
      </p:sp>
      <p:sp>
        <p:nvSpPr>
          <p:cNvPr id="195" name="Text 74">
            <a:extLst>
              <a:ext uri="{FF2B5EF4-FFF2-40B4-BE49-F238E27FC236}">
                <a16:creationId xmlns:a16="http://schemas.microsoft.com/office/drawing/2014/main" id="{6F445566-8483-31A5-C3AA-571A3C8503F9}"/>
              </a:ext>
            </a:extLst>
          </p:cNvPr>
          <p:cNvSpPr/>
          <p:nvPr/>
        </p:nvSpPr>
        <p:spPr>
          <a:xfrm>
            <a:off x="7766304" y="8051576"/>
            <a:ext cx="2243328" cy="195072"/>
          </a:xfrm>
          <a:prstGeom prst="rect">
            <a:avLst/>
          </a:prstGeom>
          <a:noFill/>
          <a:ln/>
        </p:spPr>
        <p:txBody>
          <a:bodyPr wrap="square" lIns="0" tIns="0" rIns="0" bIns="0" rtlCol="0" anchor="ctr"/>
          <a:lstStyle/>
          <a:p>
            <a:r>
              <a:rPr lang="es-ES_tradnl" sz="1200" b="1" noProof="0" dirty="0">
                <a:solidFill>
                  <a:srgbClr val="0C514E"/>
                </a:solidFill>
                <a:latin typeface="Calibri" pitchFamily="34" charset="0"/>
                <a:ea typeface="Calibri" pitchFamily="34" charset="-122"/>
                <a:cs typeface="Calibri" pitchFamily="34" charset="-120"/>
              </a:rPr>
              <a:t>Siguiente hito</a:t>
            </a:r>
            <a:endParaRPr lang="es-ES_tradnl" sz="1200" noProof="0" dirty="0"/>
          </a:p>
        </p:txBody>
      </p:sp>
      <p:sp>
        <p:nvSpPr>
          <p:cNvPr id="196" name="Text 75">
            <a:extLst>
              <a:ext uri="{FF2B5EF4-FFF2-40B4-BE49-F238E27FC236}">
                <a16:creationId xmlns:a16="http://schemas.microsoft.com/office/drawing/2014/main" id="{A2516CC5-CD11-B292-8CB1-EB1B1F484481}"/>
              </a:ext>
            </a:extLst>
          </p:cNvPr>
          <p:cNvSpPr/>
          <p:nvPr/>
        </p:nvSpPr>
        <p:spPr>
          <a:xfrm>
            <a:off x="7766304" y="8258840"/>
            <a:ext cx="2243328" cy="536448"/>
          </a:xfrm>
          <a:prstGeom prst="rect">
            <a:avLst/>
          </a:prstGeom>
          <a:noFill/>
          <a:ln/>
        </p:spPr>
        <p:txBody>
          <a:bodyPr wrap="square" lIns="0" tIns="0" rIns="0" bIns="0" rtlCol="0" anchor="t"/>
          <a:lstStyle/>
          <a:p>
            <a:pPr>
              <a:lnSpc>
                <a:spcPct val="105000"/>
              </a:lnSpc>
            </a:pPr>
            <a:r>
              <a:rPr lang="es-ES_tradnl" sz="1100" noProof="0" dirty="0">
                <a:solidFill>
                  <a:srgbClr val="3E5553"/>
                </a:solidFill>
                <a:latin typeface="Calibri" pitchFamily="34" charset="0"/>
                <a:ea typeface="Calibri" pitchFamily="34" charset="-122"/>
                <a:cs typeface="Calibri" pitchFamily="34" charset="-120"/>
              </a:rPr>
              <a:t>Actualizar los análisis con la base corregida de campañas y cerrar la propuesta a pilotear.</a:t>
            </a:r>
            <a:endParaRPr lang="es-ES_tradnl" sz="1100" noProof="0" dirty="0"/>
          </a:p>
        </p:txBody>
      </p:sp>
      <p:sp>
        <p:nvSpPr>
          <p:cNvPr id="197" name="Shape 76">
            <a:extLst>
              <a:ext uri="{FF2B5EF4-FFF2-40B4-BE49-F238E27FC236}">
                <a16:creationId xmlns:a16="http://schemas.microsoft.com/office/drawing/2014/main" id="{FC28A53E-A8B6-648F-2EB1-4C13E4EBF61B}"/>
              </a:ext>
            </a:extLst>
          </p:cNvPr>
          <p:cNvSpPr/>
          <p:nvPr/>
        </p:nvSpPr>
        <p:spPr>
          <a:xfrm>
            <a:off x="10692384" y="1430812"/>
            <a:ext cx="4901184" cy="7688622"/>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198" name="Shape 77">
            <a:extLst>
              <a:ext uri="{FF2B5EF4-FFF2-40B4-BE49-F238E27FC236}">
                <a16:creationId xmlns:a16="http://schemas.microsoft.com/office/drawing/2014/main" id="{F473D90A-E620-4A46-5A80-D9DEBF5E3BF7}"/>
              </a:ext>
            </a:extLst>
          </p:cNvPr>
          <p:cNvSpPr/>
          <p:nvPr/>
        </p:nvSpPr>
        <p:spPr>
          <a:xfrm>
            <a:off x="10692384" y="1430812"/>
            <a:ext cx="4901184" cy="329184"/>
          </a:xfrm>
          <a:prstGeom prst="rect">
            <a:avLst/>
          </a:prstGeom>
          <a:solidFill>
            <a:srgbClr val="13807B"/>
          </a:solidFill>
          <a:ln/>
        </p:spPr>
        <p:txBody>
          <a:bodyPr/>
          <a:lstStyle/>
          <a:p>
            <a:endParaRPr lang="es-ES_tradnl" sz="2400" noProof="0" dirty="0"/>
          </a:p>
        </p:txBody>
      </p:sp>
      <p:sp>
        <p:nvSpPr>
          <p:cNvPr id="199" name="Text 78">
            <a:extLst>
              <a:ext uri="{FF2B5EF4-FFF2-40B4-BE49-F238E27FC236}">
                <a16:creationId xmlns:a16="http://schemas.microsoft.com/office/drawing/2014/main" id="{B75947A0-B1F1-55AE-ED9D-CD4D5000C928}"/>
              </a:ext>
            </a:extLst>
          </p:cNvPr>
          <p:cNvSpPr/>
          <p:nvPr/>
        </p:nvSpPr>
        <p:spPr>
          <a:xfrm>
            <a:off x="10692384" y="1430812"/>
            <a:ext cx="4901184" cy="329184"/>
          </a:xfrm>
          <a:prstGeom prst="rect">
            <a:avLst/>
          </a:prstGeom>
          <a:noFill/>
          <a:ln/>
        </p:spPr>
        <p:txBody>
          <a:bodyPr wrap="square" lIns="0" tIns="0" rIns="0" bIns="0" rtlCol="0" anchor="ctr"/>
          <a:lstStyle/>
          <a:p>
            <a:pPr algn="ctr"/>
            <a:r>
              <a:rPr lang="es-ES_tradnl" sz="1800" b="1" noProof="0" dirty="0">
                <a:solidFill>
                  <a:srgbClr val="FFFFFF"/>
                </a:solidFill>
                <a:latin typeface="Calibri" pitchFamily="34" charset="0"/>
                <a:ea typeface="Calibri" pitchFamily="34" charset="-122"/>
                <a:cs typeface="Calibri" pitchFamily="34" charset="-120"/>
              </a:rPr>
              <a:t>GOBIERNO Y MONITOREO</a:t>
            </a:r>
            <a:endParaRPr lang="es-ES_tradnl" sz="1800" noProof="0" dirty="0"/>
          </a:p>
        </p:txBody>
      </p:sp>
      <p:sp>
        <p:nvSpPr>
          <p:cNvPr id="200" name="Shape 79">
            <a:extLst>
              <a:ext uri="{FF2B5EF4-FFF2-40B4-BE49-F238E27FC236}">
                <a16:creationId xmlns:a16="http://schemas.microsoft.com/office/drawing/2014/main" id="{1EEB2392-B729-91BB-F103-54EDE892D57F}"/>
              </a:ext>
            </a:extLst>
          </p:cNvPr>
          <p:cNvSpPr/>
          <p:nvPr/>
        </p:nvSpPr>
        <p:spPr>
          <a:xfrm>
            <a:off x="10863072" y="1906300"/>
            <a:ext cx="4559808" cy="1267968"/>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201" name="Text 80">
            <a:extLst>
              <a:ext uri="{FF2B5EF4-FFF2-40B4-BE49-F238E27FC236}">
                <a16:creationId xmlns:a16="http://schemas.microsoft.com/office/drawing/2014/main" id="{75006FA5-594A-85CA-7013-718E39ADE93A}"/>
              </a:ext>
            </a:extLst>
          </p:cNvPr>
          <p:cNvSpPr/>
          <p:nvPr/>
        </p:nvSpPr>
        <p:spPr>
          <a:xfrm>
            <a:off x="11009376" y="2003836"/>
            <a:ext cx="4267200" cy="243840"/>
          </a:xfrm>
          <a:prstGeom prst="rect">
            <a:avLst/>
          </a:prstGeom>
          <a:noFill/>
          <a:ln/>
        </p:spPr>
        <p:txBody>
          <a:bodyPr wrap="square" lIns="0" tIns="0" rIns="0" bIns="0" rtlCol="0" anchor="ctr"/>
          <a:lstStyle/>
          <a:p>
            <a:r>
              <a:rPr lang="es-ES_tradnl" sz="1600" b="1" noProof="0" dirty="0">
                <a:solidFill>
                  <a:srgbClr val="0B2E2C"/>
                </a:solidFill>
                <a:latin typeface="Calibri" pitchFamily="34" charset="0"/>
                <a:ea typeface="Calibri" pitchFamily="34" charset="-122"/>
                <a:cs typeface="Calibri" pitchFamily="34" charset="-120"/>
              </a:rPr>
              <a:t>Comité de Pricing 2.0</a:t>
            </a:r>
            <a:endParaRPr lang="es-ES_tradnl" sz="1600" noProof="0" dirty="0"/>
          </a:p>
        </p:txBody>
      </p:sp>
      <p:sp>
        <p:nvSpPr>
          <p:cNvPr id="202" name="Shape 81">
            <a:extLst>
              <a:ext uri="{FF2B5EF4-FFF2-40B4-BE49-F238E27FC236}">
                <a16:creationId xmlns:a16="http://schemas.microsoft.com/office/drawing/2014/main" id="{1143A07E-0EC1-612E-1E95-0281702CC5A8}"/>
              </a:ext>
            </a:extLst>
          </p:cNvPr>
          <p:cNvSpPr/>
          <p:nvPr/>
        </p:nvSpPr>
        <p:spPr>
          <a:xfrm>
            <a:off x="11009376" y="2284252"/>
            <a:ext cx="2255520" cy="256032"/>
          </a:xfrm>
          <a:prstGeom prst="roundRect">
            <a:avLst>
              <a:gd name="adj" fmla="val 50000"/>
            </a:avLst>
          </a:prstGeom>
          <a:solidFill>
            <a:srgbClr val="ECF6F5"/>
          </a:solidFill>
          <a:ln/>
        </p:spPr>
        <p:txBody>
          <a:bodyPr/>
          <a:lstStyle/>
          <a:p>
            <a:endParaRPr lang="es-ES_tradnl" sz="2400" noProof="0" dirty="0"/>
          </a:p>
        </p:txBody>
      </p:sp>
      <p:sp>
        <p:nvSpPr>
          <p:cNvPr id="203" name="Shape 82">
            <a:extLst>
              <a:ext uri="{FF2B5EF4-FFF2-40B4-BE49-F238E27FC236}">
                <a16:creationId xmlns:a16="http://schemas.microsoft.com/office/drawing/2014/main" id="{B4204C15-491E-CDC0-EF97-50ADCB3D8B5A}"/>
              </a:ext>
            </a:extLst>
          </p:cNvPr>
          <p:cNvSpPr/>
          <p:nvPr/>
        </p:nvSpPr>
        <p:spPr>
          <a:xfrm>
            <a:off x="11094720" y="2357404"/>
            <a:ext cx="109728" cy="109728"/>
          </a:xfrm>
          <a:prstGeom prst="ellipse">
            <a:avLst/>
          </a:prstGeom>
          <a:solidFill>
            <a:srgbClr val="13807B"/>
          </a:solidFill>
          <a:ln/>
        </p:spPr>
        <p:txBody>
          <a:bodyPr/>
          <a:lstStyle/>
          <a:p>
            <a:endParaRPr lang="es-ES_tradnl" sz="2400" noProof="0" dirty="0"/>
          </a:p>
        </p:txBody>
      </p:sp>
      <p:sp>
        <p:nvSpPr>
          <p:cNvPr id="204" name="Text 83">
            <a:extLst>
              <a:ext uri="{FF2B5EF4-FFF2-40B4-BE49-F238E27FC236}">
                <a16:creationId xmlns:a16="http://schemas.microsoft.com/office/drawing/2014/main" id="{315895E4-F36D-9621-68E1-E8C80D832F9E}"/>
              </a:ext>
            </a:extLst>
          </p:cNvPr>
          <p:cNvSpPr/>
          <p:nvPr/>
        </p:nvSpPr>
        <p:spPr>
          <a:xfrm>
            <a:off x="11241024" y="2284252"/>
            <a:ext cx="1987296" cy="256032"/>
          </a:xfrm>
          <a:prstGeom prst="rect">
            <a:avLst/>
          </a:prstGeom>
          <a:noFill/>
          <a:ln/>
        </p:spPr>
        <p:txBody>
          <a:bodyPr wrap="square" lIns="0" tIns="0" rIns="0" bIns="0" rtlCol="0" anchor="ctr"/>
          <a:lstStyle/>
          <a:p>
            <a:r>
              <a:rPr lang="es-ES_tradnl" sz="1100" b="1" noProof="0" dirty="0">
                <a:solidFill>
                  <a:srgbClr val="13807B"/>
                </a:solidFill>
                <a:latin typeface="Calibri" pitchFamily="34" charset="0"/>
                <a:ea typeface="Calibri" pitchFamily="34" charset="-122"/>
                <a:cs typeface="Calibri" pitchFamily="34" charset="-120"/>
              </a:rPr>
              <a:t>Completado</a:t>
            </a:r>
            <a:endParaRPr lang="es-ES_tradnl" sz="1100" noProof="0" dirty="0"/>
          </a:p>
        </p:txBody>
      </p:sp>
      <p:sp>
        <p:nvSpPr>
          <p:cNvPr id="205" name="Text 84">
            <a:extLst>
              <a:ext uri="{FF2B5EF4-FFF2-40B4-BE49-F238E27FC236}">
                <a16:creationId xmlns:a16="http://schemas.microsoft.com/office/drawing/2014/main" id="{D1D41C7E-D343-A953-D4E9-8ECB4C3B48B2}"/>
              </a:ext>
            </a:extLst>
          </p:cNvPr>
          <p:cNvSpPr/>
          <p:nvPr/>
        </p:nvSpPr>
        <p:spPr>
          <a:xfrm>
            <a:off x="11009376" y="2613436"/>
            <a:ext cx="4267200" cy="755904"/>
          </a:xfrm>
          <a:prstGeom prst="rect">
            <a:avLst/>
          </a:prstGeom>
          <a:noFill/>
          <a:ln/>
        </p:spPr>
        <p:txBody>
          <a:bodyPr wrap="square" lIns="0" tIns="0" rIns="0" bIns="0" rtlCol="0" anchor="t"/>
          <a:lstStyle/>
          <a:p>
            <a:pPr>
              <a:lnSpc>
                <a:spcPct val="105000"/>
              </a:lnSpc>
            </a:pPr>
            <a:r>
              <a:rPr lang="es-ES_tradnl" sz="1200" noProof="0" dirty="0">
                <a:solidFill>
                  <a:srgbClr val="6E7E7D"/>
                </a:solidFill>
                <a:latin typeface="Calibri" pitchFamily="34" charset="0"/>
                <a:ea typeface="Calibri" pitchFamily="34" charset="-122"/>
                <a:cs typeface="Calibri" pitchFamily="34" charset="-120"/>
              </a:rPr>
              <a:t>El nuevo Comité de Pricing 2.0 ya fue presentado y socializado con los equipos involucrados.</a:t>
            </a:r>
            <a:endParaRPr lang="es-ES_tradnl" sz="1200" noProof="0" dirty="0"/>
          </a:p>
        </p:txBody>
      </p:sp>
      <p:sp>
        <p:nvSpPr>
          <p:cNvPr id="212" name="Shape 91">
            <a:extLst>
              <a:ext uri="{FF2B5EF4-FFF2-40B4-BE49-F238E27FC236}">
                <a16:creationId xmlns:a16="http://schemas.microsoft.com/office/drawing/2014/main" id="{AAF12A2A-EFAE-42A3-A929-81B8C11F0B24}"/>
              </a:ext>
            </a:extLst>
          </p:cNvPr>
          <p:cNvSpPr/>
          <p:nvPr/>
        </p:nvSpPr>
        <p:spPr>
          <a:xfrm>
            <a:off x="10863072" y="3248996"/>
            <a:ext cx="4559808" cy="1485179"/>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213" name="Text 92">
            <a:extLst>
              <a:ext uri="{FF2B5EF4-FFF2-40B4-BE49-F238E27FC236}">
                <a16:creationId xmlns:a16="http://schemas.microsoft.com/office/drawing/2014/main" id="{5129C0A1-0B5C-7E9B-D9E3-5B0F6DDA444D}"/>
              </a:ext>
            </a:extLst>
          </p:cNvPr>
          <p:cNvSpPr/>
          <p:nvPr/>
        </p:nvSpPr>
        <p:spPr>
          <a:xfrm>
            <a:off x="11009376" y="3346533"/>
            <a:ext cx="4267200" cy="243840"/>
          </a:xfrm>
          <a:prstGeom prst="rect">
            <a:avLst/>
          </a:prstGeom>
          <a:noFill/>
          <a:ln/>
        </p:spPr>
        <p:txBody>
          <a:bodyPr wrap="square" lIns="0" tIns="0" rIns="0" bIns="0" rtlCol="0" anchor="ctr"/>
          <a:lstStyle/>
          <a:p>
            <a:r>
              <a:rPr lang="es-ES_tradnl" sz="1600" b="1" noProof="0" dirty="0" err="1">
                <a:solidFill>
                  <a:srgbClr val="0B2E2C"/>
                </a:solidFill>
                <a:latin typeface="Calibri" pitchFamily="34" charset="0"/>
                <a:ea typeface="Calibri" pitchFamily="34" charset="-122"/>
                <a:cs typeface="Calibri" pitchFamily="34" charset="-120"/>
              </a:rPr>
              <a:t>Mocks</a:t>
            </a:r>
            <a:r>
              <a:rPr lang="es-ES_tradnl" sz="1600" b="1" noProof="0" dirty="0">
                <a:solidFill>
                  <a:srgbClr val="0B2E2C"/>
                </a:solidFill>
                <a:latin typeface="Calibri" pitchFamily="34" charset="0"/>
                <a:ea typeface="Calibri" pitchFamily="34" charset="-122"/>
                <a:cs typeface="Calibri" pitchFamily="34" charset="-120"/>
              </a:rPr>
              <a:t> </a:t>
            </a:r>
            <a:r>
              <a:rPr lang="es-ES_tradnl" sz="1600" b="1" noProof="0" dirty="0" err="1">
                <a:solidFill>
                  <a:srgbClr val="0B2E2C"/>
                </a:solidFill>
                <a:latin typeface="Calibri" pitchFamily="34" charset="0"/>
                <a:ea typeface="Calibri" pitchFamily="34" charset="-122"/>
                <a:cs typeface="Calibri" pitchFamily="34" charset="-120"/>
              </a:rPr>
              <a:t>Dashboards</a:t>
            </a:r>
            <a:r>
              <a:rPr lang="es-ES_tradnl" sz="1600" b="1" noProof="0" dirty="0">
                <a:solidFill>
                  <a:srgbClr val="0B2E2C"/>
                </a:solidFill>
                <a:latin typeface="Calibri" pitchFamily="34" charset="0"/>
                <a:ea typeface="Calibri" pitchFamily="34" charset="-122"/>
                <a:cs typeface="Calibri" pitchFamily="34" charset="-120"/>
              </a:rPr>
              <a:t> de Pricing</a:t>
            </a:r>
            <a:endParaRPr lang="es-ES_tradnl" sz="1600" noProof="0" dirty="0"/>
          </a:p>
        </p:txBody>
      </p:sp>
      <p:sp>
        <p:nvSpPr>
          <p:cNvPr id="214" name="Shape 93">
            <a:extLst>
              <a:ext uri="{FF2B5EF4-FFF2-40B4-BE49-F238E27FC236}">
                <a16:creationId xmlns:a16="http://schemas.microsoft.com/office/drawing/2014/main" id="{36DF8220-6742-68CC-DEB0-CCCC25AD76DC}"/>
              </a:ext>
            </a:extLst>
          </p:cNvPr>
          <p:cNvSpPr/>
          <p:nvPr/>
        </p:nvSpPr>
        <p:spPr>
          <a:xfrm>
            <a:off x="11009376" y="3626949"/>
            <a:ext cx="2255520" cy="256032"/>
          </a:xfrm>
          <a:prstGeom prst="roundRect">
            <a:avLst>
              <a:gd name="adj" fmla="val 50000"/>
            </a:avLst>
          </a:prstGeom>
          <a:solidFill>
            <a:srgbClr val="FCF3E3"/>
          </a:solidFill>
          <a:ln/>
        </p:spPr>
        <p:txBody>
          <a:bodyPr/>
          <a:lstStyle/>
          <a:p>
            <a:endParaRPr lang="es-ES_tradnl" sz="2400" noProof="0" dirty="0"/>
          </a:p>
        </p:txBody>
      </p:sp>
      <p:sp>
        <p:nvSpPr>
          <p:cNvPr id="215" name="Shape 94">
            <a:extLst>
              <a:ext uri="{FF2B5EF4-FFF2-40B4-BE49-F238E27FC236}">
                <a16:creationId xmlns:a16="http://schemas.microsoft.com/office/drawing/2014/main" id="{37F9B640-F1B5-60F8-6D0A-211A3E77F2CC}"/>
              </a:ext>
            </a:extLst>
          </p:cNvPr>
          <p:cNvSpPr/>
          <p:nvPr/>
        </p:nvSpPr>
        <p:spPr>
          <a:xfrm>
            <a:off x="11094720" y="3700101"/>
            <a:ext cx="109728" cy="109728"/>
          </a:xfrm>
          <a:prstGeom prst="ellipse">
            <a:avLst/>
          </a:prstGeom>
          <a:solidFill>
            <a:srgbClr val="C87A0B"/>
          </a:solidFill>
          <a:ln/>
        </p:spPr>
        <p:txBody>
          <a:bodyPr/>
          <a:lstStyle/>
          <a:p>
            <a:endParaRPr lang="es-ES_tradnl" sz="2400" noProof="0" dirty="0"/>
          </a:p>
        </p:txBody>
      </p:sp>
      <p:sp>
        <p:nvSpPr>
          <p:cNvPr id="216" name="Text 95">
            <a:extLst>
              <a:ext uri="{FF2B5EF4-FFF2-40B4-BE49-F238E27FC236}">
                <a16:creationId xmlns:a16="http://schemas.microsoft.com/office/drawing/2014/main" id="{4DAAF51A-1141-2DDF-AF2E-9EE54E31D976}"/>
              </a:ext>
            </a:extLst>
          </p:cNvPr>
          <p:cNvSpPr/>
          <p:nvPr/>
        </p:nvSpPr>
        <p:spPr>
          <a:xfrm>
            <a:off x="11241024" y="3626949"/>
            <a:ext cx="1987296" cy="256032"/>
          </a:xfrm>
          <a:prstGeom prst="rect">
            <a:avLst/>
          </a:prstGeom>
          <a:noFill/>
          <a:ln/>
        </p:spPr>
        <p:txBody>
          <a:bodyPr wrap="square" lIns="0" tIns="0" rIns="0" bIns="0" rtlCol="0" anchor="ctr"/>
          <a:lstStyle/>
          <a:p>
            <a:r>
              <a:rPr lang="es-ES_tradnl" sz="1100" b="1" noProof="0" dirty="0">
                <a:solidFill>
                  <a:srgbClr val="C87A0B"/>
                </a:solidFill>
                <a:latin typeface="Calibri" pitchFamily="34" charset="0"/>
                <a:ea typeface="Calibri" pitchFamily="34" charset="-122"/>
                <a:cs typeface="Calibri" pitchFamily="34" charset="-120"/>
              </a:rPr>
              <a:t>Mockup en presentación</a:t>
            </a:r>
            <a:endParaRPr lang="es-ES_tradnl" sz="1100" noProof="0" dirty="0"/>
          </a:p>
        </p:txBody>
      </p:sp>
      <p:sp>
        <p:nvSpPr>
          <p:cNvPr id="217" name="Text 96">
            <a:extLst>
              <a:ext uri="{FF2B5EF4-FFF2-40B4-BE49-F238E27FC236}">
                <a16:creationId xmlns:a16="http://schemas.microsoft.com/office/drawing/2014/main" id="{36FF6540-FEF8-60AD-1D99-E55DB3B4A7A3}"/>
              </a:ext>
            </a:extLst>
          </p:cNvPr>
          <p:cNvSpPr/>
          <p:nvPr/>
        </p:nvSpPr>
        <p:spPr>
          <a:xfrm>
            <a:off x="11009376" y="3956133"/>
            <a:ext cx="4267200" cy="755904"/>
          </a:xfrm>
          <a:prstGeom prst="rect">
            <a:avLst/>
          </a:prstGeom>
          <a:noFill/>
          <a:ln/>
        </p:spPr>
        <p:txBody>
          <a:bodyPr wrap="square" lIns="0" tIns="0" rIns="0" bIns="0" rtlCol="0" anchor="t"/>
          <a:lstStyle/>
          <a:p>
            <a:pPr>
              <a:lnSpc>
                <a:spcPct val="105000"/>
              </a:lnSpc>
            </a:pPr>
            <a:r>
              <a:rPr lang="es-ES_tradnl" sz="1200" noProof="0" dirty="0">
                <a:solidFill>
                  <a:srgbClr val="6E7E7D"/>
                </a:solidFill>
                <a:latin typeface="Calibri" pitchFamily="34" charset="0"/>
                <a:ea typeface="Calibri" pitchFamily="34" charset="-122"/>
                <a:cs typeface="Calibri" pitchFamily="34" charset="-120"/>
              </a:rPr>
              <a:t>El primer mockup integrado de Pricing </a:t>
            </a:r>
            <a:r>
              <a:rPr lang="es-ES_tradnl" sz="1200" noProof="0" dirty="0" err="1">
                <a:solidFill>
                  <a:srgbClr val="6E7E7D"/>
                </a:solidFill>
                <a:latin typeface="Calibri" pitchFamily="34" charset="0"/>
                <a:ea typeface="Calibri" pitchFamily="34" charset="-122"/>
                <a:cs typeface="Calibri" pitchFamily="34" charset="-120"/>
              </a:rPr>
              <a:t>Insights</a:t>
            </a:r>
            <a:r>
              <a:rPr lang="es-ES_tradnl" sz="1200" noProof="0" dirty="0">
                <a:solidFill>
                  <a:srgbClr val="6E7E7D"/>
                </a:solidFill>
                <a:latin typeface="Calibri" pitchFamily="34" charset="0"/>
                <a:ea typeface="Calibri" pitchFamily="34" charset="-122"/>
                <a:cs typeface="Calibri" pitchFamily="34" charset="-120"/>
              </a:rPr>
              <a:t> será presentado esta semana para recibir </a:t>
            </a:r>
            <a:r>
              <a:rPr lang="es-ES_tradnl" sz="1200" noProof="0" dirty="0" err="1">
                <a:solidFill>
                  <a:srgbClr val="6E7E7D"/>
                </a:solidFill>
                <a:latin typeface="Calibri" pitchFamily="34" charset="0"/>
                <a:ea typeface="Calibri" pitchFamily="34" charset="-122"/>
                <a:cs typeface="Calibri" pitchFamily="34" charset="-120"/>
              </a:rPr>
              <a:t>feedback</a:t>
            </a:r>
            <a:r>
              <a:rPr lang="es-ES_tradnl" sz="1200" noProof="0" dirty="0">
                <a:solidFill>
                  <a:srgbClr val="6E7E7D"/>
                </a:solidFill>
                <a:latin typeface="Calibri" pitchFamily="34" charset="0"/>
                <a:ea typeface="Calibri" pitchFamily="34" charset="-122"/>
                <a:cs typeface="Calibri" pitchFamily="34" charset="-120"/>
              </a:rPr>
              <a:t> del negocio.</a:t>
            </a:r>
            <a:endParaRPr lang="es-ES_tradnl" sz="1200" noProof="0" dirty="0"/>
          </a:p>
        </p:txBody>
      </p:sp>
      <p:sp>
        <p:nvSpPr>
          <p:cNvPr id="224" name="Text 1">
            <a:extLst>
              <a:ext uri="{FF2B5EF4-FFF2-40B4-BE49-F238E27FC236}">
                <a16:creationId xmlns:a16="http://schemas.microsoft.com/office/drawing/2014/main" id="{48E502E6-25C0-DA6C-3844-2CDDD2AA5A13}"/>
              </a:ext>
            </a:extLst>
          </p:cNvPr>
          <p:cNvSpPr/>
          <p:nvPr/>
        </p:nvSpPr>
        <p:spPr>
          <a:xfrm>
            <a:off x="487680" y="850731"/>
            <a:ext cx="11338560" cy="365760"/>
          </a:xfrm>
          <a:prstGeom prst="rect">
            <a:avLst/>
          </a:prstGeom>
          <a:noFill/>
          <a:ln/>
        </p:spPr>
        <p:txBody>
          <a:bodyPr wrap="square" lIns="0" tIns="0" rIns="0" bIns="0" rtlCol="0" anchor="ctr"/>
          <a:lstStyle/>
          <a:p>
            <a:r>
              <a:rPr lang="es-ES_tradnl" sz="1667" noProof="0" dirty="0">
                <a:solidFill>
                  <a:srgbClr val="6E7E7D"/>
                </a:solidFill>
                <a:latin typeface="Calibri" pitchFamily="34" charset="0"/>
                <a:ea typeface="Calibri" pitchFamily="34" charset="-122"/>
                <a:cs typeface="Calibri" pitchFamily="34" charset="-120"/>
              </a:rPr>
              <a:t>Situación de las iniciativas estratégicas al cierre de agosto</a:t>
            </a:r>
            <a:endParaRPr lang="es-ES_tradnl" sz="1667" noProof="0" dirty="0"/>
          </a:p>
        </p:txBody>
      </p:sp>
      <p:sp>
        <p:nvSpPr>
          <p:cNvPr id="225" name="Shape 2">
            <a:extLst>
              <a:ext uri="{FF2B5EF4-FFF2-40B4-BE49-F238E27FC236}">
                <a16:creationId xmlns:a16="http://schemas.microsoft.com/office/drawing/2014/main" id="{951BD644-2FCB-D967-83B2-DCCB63AE5DCE}"/>
              </a:ext>
            </a:extLst>
          </p:cNvPr>
          <p:cNvSpPr/>
          <p:nvPr/>
        </p:nvSpPr>
        <p:spPr>
          <a:xfrm>
            <a:off x="658368" y="1327180"/>
            <a:ext cx="14935200" cy="0"/>
          </a:xfrm>
          <a:prstGeom prst="line">
            <a:avLst/>
          </a:prstGeom>
          <a:noFill/>
          <a:ln w="12700">
            <a:solidFill>
              <a:srgbClr val="D5DFDE"/>
            </a:solidFill>
            <a:prstDash val="solid"/>
          </a:ln>
        </p:spPr>
        <p:txBody>
          <a:bodyPr/>
          <a:lstStyle/>
          <a:p>
            <a:endParaRPr lang="es-ES_tradnl" sz="2400" noProof="0" dirty="0"/>
          </a:p>
        </p:txBody>
      </p:sp>
      <p:sp>
        <p:nvSpPr>
          <p:cNvPr id="226" name="Shape 3">
            <a:extLst>
              <a:ext uri="{FF2B5EF4-FFF2-40B4-BE49-F238E27FC236}">
                <a16:creationId xmlns:a16="http://schemas.microsoft.com/office/drawing/2014/main" id="{F8938A4F-220C-9B14-536B-54CB83254C79}"/>
              </a:ext>
            </a:extLst>
          </p:cNvPr>
          <p:cNvSpPr/>
          <p:nvPr/>
        </p:nvSpPr>
        <p:spPr>
          <a:xfrm>
            <a:off x="12411456" y="405723"/>
            <a:ext cx="134112" cy="134112"/>
          </a:xfrm>
          <a:prstGeom prst="ellipse">
            <a:avLst/>
          </a:prstGeom>
          <a:solidFill>
            <a:srgbClr val="13807B"/>
          </a:solidFill>
          <a:ln/>
        </p:spPr>
        <p:txBody>
          <a:bodyPr/>
          <a:lstStyle/>
          <a:p>
            <a:endParaRPr lang="es-ES_tradnl" sz="1867" noProof="0" dirty="0"/>
          </a:p>
        </p:txBody>
      </p:sp>
      <p:sp>
        <p:nvSpPr>
          <p:cNvPr id="227" name="Text 4">
            <a:extLst>
              <a:ext uri="{FF2B5EF4-FFF2-40B4-BE49-F238E27FC236}">
                <a16:creationId xmlns:a16="http://schemas.microsoft.com/office/drawing/2014/main" id="{C3489330-A256-94B6-5FC9-75FFBC9F0954}"/>
              </a:ext>
            </a:extLst>
          </p:cNvPr>
          <p:cNvSpPr/>
          <p:nvPr/>
        </p:nvSpPr>
        <p:spPr>
          <a:xfrm>
            <a:off x="12630912" y="363051"/>
            <a:ext cx="3048000" cy="219456"/>
          </a:xfrm>
          <a:prstGeom prst="rect">
            <a:avLst/>
          </a:prstGeom>
          <a:noFill/>
          <a:ln/>
        </p:spPr>
        <p:txBody>
          <a:bodyPr wrap="square" lIns="0" tIns="0" rIns="0" bIns="0" rtlCol="0" anchor="ctr"/>
          <a:lstStyle/>
          <a:p>
            <a:r>
              <a:rPr lang="es-ES_tradnl" sz="1067" noProof="0" dirty="0">
                <a:solidFill>
                  <a:srgbClr val="6E7E7D"/>
                </a:solidFill>
                <a:latin typeface="Calibri" pitchFamily="34" charset="0"/>
                <a:ea typeface="Calibri" pitchFamily="34" charset="-122"/>
                <a:cs typeface="Calibri" pitchFamily="34" charset="-120"/>
              </a:rPr>
              <a:t>Implementado / Definido</a:t>
            </a:r>
            <a:endParaRPr lang="es-ES_tradnl" sz="1067" noProof="0" dirty="0"/>
          </a:p>
        </p:txBody>
      </p:sp>
      <p:sp>
        <p:nvSpPr>
          <p:cNvPr id="228" name="Shape 5">
            <a:extLst>
              <a:ext uri="{FF2B5EF4-FFF2-40B4-BE49-F238E27FC236}">
                <a16:creationId xmlns:a16="http://schemas.microsoft.com/office/drawing/2014/main" id="{1D66F6EF-C85B-C2DB-3766-EDAC8D2C7DCB}"/>
              </a:ext>
            </a:extLst>
          </p:cNvPr>
          <p:cNvSpPr/>
          <p:nvPr/>
        </p:nvSpPr>
        <p:spPr>
          <a:xfrm>
            <a:off x="12411456" y="673947"/>
            <a:ext cx="134112" cy="134112"/>
          </a:xfrm>
          <a:prstGeom prst="ellipse">
            <a:avLst/>
          </a:prstGeom>
          <a:solidFill>
            <a:srgbClr val="C87A0B"/>
          </a:solidFill>
          <a:ln/>
        </p:spPr>
        <p:txBody>
          <a:bodyPr/>
          <a:lstStyle/>
          <a:p>
            <a:endParaRPr lang="es-ES_tradnl" sz="1867" noProof="0" dirty="0"/>
          </a:p>
        </p:txBody>
      </p:sp>
      <p:sp>
        <p:nvSpPr>
          <p:cNvPr id="229" name="Text 6">
            <a:extLst>
              <a:ext uri="{FF2B5EF4-FFF2-40B4-BE49-F238E27FC236}">
                <a16:creationId xmlns:a16="http://schemas.microsoft.com/office/drawing/2014/main" id="{5DEF1594-833B-0F66-0304-D5BD695EF89F}"/>
              </a:ext>
            </a:extLst>
          </p:cNvPr>
          <p:cNvSpPr/>
          <p:nvPr/>
        </p:nvSpPr>
        <p:spPr>
          <a:xfrm>
            <a:off x="12630912" y="631275"/>
            <a:ext cx="3048000" cy="219456"/>
          </a:xfrm>
          <a:prstGeom prst="rect">
            <a:avLst/>
          </a:prstGeom>
          <a:noFill/>
          <a:ln/>
        </p:spPr>
        <p:txBody>
          <a:bodyPr wrap="square" lIns="0" tIns="0" rIns="0" bIns="0" rtlCol="0" anchor="ctr"/>
          <a:lstStyle/>
          <a:p>
            <a:r>
              <a:rPr lang="es-ES_tradnl" sz="1067" noProof="0" dirty="0">
                <a:solidFill>
                  <a:srgbClr val="6E7E7D"/>
                </a:solidFill>
                <a:latin typeface="Calibri" pitchFamily="34" charset="0"/>
                <a:ea typeface="Calibri" pitchFamily="34" charset="-122"/>
                <a:cs typeface="Calibri" pitchFamily="34" charset="-120"/>
              </a:rPr>
              <a:t>En validación o implementación</a:t>
            </a:r>
            <a:endParaRPr lang="es-ES_tradnl" sz="1067" noProof="0" dirty="0"/>
          </a:p>
        </p:txBody>
      </p:sp>
      <p:sp>
        <p:nvSpPr>
          <p:cNvPr id="230" name="Shape 7">
            <a:extLst>
              <a:ext uri="{FF2B5EF4-FFF2-40B4-BE49-F238E27FC236}">
                <a16:creationId xmlns:a16="http://schemas.microsoft.com/office/drawing/2014/main" id="{458B7B13-B245-7E03-CCA2-EBA2AB0EEBAA}"/>
              </a:ext>
            </a:extLst>
          </p:cNvPr>
          <p:cNvSpPr/>
          <p:nvPr/>
        </p:nvSpPr>
        <p:spPr>
          <a:xfrm>
            <a:off x="12411456" y="942171"/>
            <a:ext cx="134112" cy="134112"/>
          </a:xfrm>
          <a:prstGeom prst="ellipse">
            <a:avLst/>
          </a:prstGeom>
          <a:solidFill>
            <a:srgbClr val="FFFFFF"/>
          </a:solidFill>
          <a:ln w="9525">
            <a:solidFill>
              <a:srgbClr val="6E7E7D"/>
            </a:solidFill>
            <a:prstDash val="solid"/>
          </a:ln>
        </p:spPr>
        <p:txBody>
          <a:bodyPr/>
          <a:lstStyle/>
          <a:p>
            <a:endParaRPr lang="es-ES_tradnl" sz="1867" noProof="0" dirty="0"/>
          </a:p>
        </p:txBody>
      </p:sp>
      <p:sp>
        <p:nvSpPr>
          <p:cNvPr id="231" name="Text 8">
            <a:extLst>
              <a:ext uri="{FF2B5EF4-FFF2-40B4-BE49-F238E27FC236}">
                <a16:creationId xmlns:a16="http://schemas.microsoft.com/office/drawing/2014/main" id="{2DA41C2C-C9B4-8A56-3829-1998DEC37993}"/>
              </a:ext>
            </a:extLst>
          </p:cNvPr>
          <p:cNvSpPr/>
          <p:nvPr/>
        </p:nvSpPr>
        <p:spPr>
          <a:xfrm>
            <a:off x="12630912" y="899499"/>
            <a:ext cx="3048000" cy="219456"/>
          </a:xfrm>
          <a:prstGeom prst="rect">
            <a:avLst/>
          </a:prstGeom>
          <a:noFill/>
          <a:ln/>
        </p:spPr>
        <p:txBody>
          <a:bodyPr wrap="square" lIns="0" tIns="0" rIns="0" bIns="0" rtlCol="0" anchor="ctr"/>
          <a:lstStyle/>
          <a:p>
            <a:r>
              <a:rPr lang="es-ES_tradnl" sz="1067" noProof="0" dirty="0">
                <a:solidFill>
                  <a:srgbClr val="6E7E7D"/>
                </a:solidFill>
                <a:latin typeface="Calibri" pitchFamily="34" charset="0"/>
                <a:ea typeface="Calibri" pitchFamily="34" charset="-122"/>
                <a:cs typeface="Calibri" pitchFamily="34" charset="-120"/>
              </a:rPr>
              <a:t>Backlog / Fase siguiente</a:t>
            </a:r>
            <a:endParaRPr lang="es-ES_tradnl" sz="1067" noProof="0" dirty="0"/>
          </a:p>
        </p:txBody>
      </p:sp>
      <p:sp>
        <p:nvSpPr>
          <p:cNvPr id="232" name="Text 25">
            <a:extLst>
              <a:ext uri="{FF2B5EF4-FFF2-40B4-BE49-F238E27FC236}">
                <a16:creationId xmlns:a16="http://schemas.microsoft.com/office/drawing/2014/main" id="{DB5C4545-26B6-EBD6-C7DD-1225A0869F6E}"/>
              </a:ext>
            </a:extLst>
          </p:cNvPr>
          <p:cNvSpPr/>
          <p:nvPr/>
        </p:nvSpPr>
        <p:spPr>
          <a:xfrm>
            <a:off x="1415519" y="2883354"/>
            <a:ext cx="1704559" cy="438912"/>
          </a:xfrm>
          <a:prstGeom prst="rect">
            <a:avLst/>
          </a:prstGeom>
          <a:noFill/>
          <a:ln/>
        </p:spPr>
        <p:txBody>
          <a:bodyPr wrap="square" lIns="0" tIns="0" rIns="0" bIns="0" rtlCol="0" anchor="t"/>
          <a:lstStyle/>
          <a:p>
            <a:pPr>
              <a:lnSpc>
                <a:spcPct val="105000"/>
              </a:lnSpc>
            </a:pPr>
            <a:r>
              <a:rPr lang="es-ES_tradnl" sz="900" b="1" noProof="0" dirty="0">
                <a:solidFill>
                  <a:srgbClr val="445A6E"/>
                </a:solidFill>
                <a:latin typeface="Calibri" pitchFamily="34" charset="0"/>
                <a:ea typeface="Calibri" pitchFamily="34" charset="-122"/>
                <a:cs typeface="Calibri" pitchFamily="34" charset="-120"/>
              </a:rPr>
              <a:t>Fecha de implementación</a:t>
            </a:r>
            <a:endParaRPr lang="es-ES_tradnl" sz="900" noProof="0" dirty="0"/>
          </a:p>
          <a:p>
            <a:pPr>
              <a:lnSpc>
                <a:spcPct val="105000"/>
              </a:lnSpc>
            </a:pPr>
            <a:r>
              <a:rPr lang="es-ES_tradnl" sz="900" noProof="0" dirty="0">
                <a:solidFill>
                  <a:srgbClr val="6E7E7D"/>
                </a:solidFill>
                <a:latin typeface="Calibri" pitchFamily="34" charset="0"/>
                <a:ea typeface="Calibri" pitchFamily="34" charset="-122"/>
                <a:cs typeface="Calibri" pitchFamily="34" charset="-120"/>
              </a:rPr>
              <a:t>Dependencia de claridad de ruta de implementación</a:t>
            </a:r>
            <a:endParaRPr lang="es-ES_tradnl" sz="900" noProof="0" dirty="0"/>
          </a:p>
        </p:txBody>
      </p:sp>
      <p:sp>
        <p:nvSpPr>
          <p:cNvPr id="234" name="Text 25">
            <a:extLst>
              <a:ext uri="{FF2B5EF4-FFF2-40B4-BE49-F238E27FC236}">
                <a16:creationId xmlns:a16="http://schemas.microsoft.com/office/drawing/2014/main" id="{16BCC900-B8EC-BB5B-7EB4-78200F1E675F}"/>
              </a:ext>
            </a:extLst>
          </p:cNvPr>
          <p:cNvSpPr/>
          <p:nvPr/>
        </p:nvSpPr>
        <p:spPr>
          <a:xfrm>
            <a:off x="1415519" y="5530750"/>
            <a:ext cx="1595797" cy="301374"/>
          </a:xfrm>
          <a:prstGeom prst="rect">
            <a:avLst/>
          </a:prstGeom>
          <a:noFill/>
          <a:ln/>
        </p:spPr>
        <p:txBody>
          <a:bodyPr wrap="square" lIns="0" tIns="0" rIns="0" bIns="0" rtlCol="0" anchor="t"/>
          <a:lstStyle/>
          <a:p>
            <a:pPr>
              <a:lnSpc>
                <a:spcPct val="105000"/>
              </a:lnSpc>
            </a:pPr>
            <a:r>
              <a:rPr lang="es-ES_tradnl" sz="900" b="1" noProof="0" dirty="0">
                <a:solidFill>
                  <a:srgbClr val="445A6E"/>
                </a:solidFill>
                <a:latin typeface="Calibri" pitchFamily="34" charset="0"/>
                <a:ea typeface="Calibri" pitchFamily="34" charset="-122"/>
                <a:cs typeface="Calibri" pitchFamily="34" charset="-120"/>
              </a:rPr>
              <a:t>Fecha de implementación</a:t>
            </a:r>
            <a:endParaRPr lang="es-ES_tradnl" sz="900" noProof="0" dirty="0"/>
          </a:p>
          <a:p>
            <a:pPr>
              <a:lnSpc>
                <a:spcPct val="105000"/>
              </a:lnSpc>
            </a:pPr>
            <a:r>
              <a:rPr lang="es-ES_tradnl" sz="900" noProof="0" dirty="0">
                <a:solidFill>
                  <a:srgbClr val="6E7E7D"/>
                </a:solidFill>
                <a:latin typeface="Calibri" pitchFamily="34" charset="0"/>
                <a:ea typeface="Calibri" pitchFamily="34" charset="-122"/>
                <a:cs typeface="Calibri" pitchFamily="34" charset="-120"/>
              </a:rPr>
              <a:t>1 de Septiembre</a:t>
            </a:r>
            <a:endParaRPr lang="es-ES_tradnl" sz="900" noProof="0" dirty="0"/>
          </a:p>
        </p:txBody>
      </p:sp>
      <p:sp>
        <p:nvSpPr>
          <p:cNvPr id="236" name="Text 25">
            <a:extLst>
              <a:ext uri="{FF2B5EF4-FFF2-40B4-BE49-F238E27FC236}">
                <a16:creationId xmlns:a16="http://schemas.microsoft.com/office/drawing/2014/main" id="{42DC34EB-F688-1240-510C-9C5B81336A29}"/>
              </a:ext>
            </a:extLst>
          </p:cNvPr>
          <p:cNvSpPr/>
          <p:nvPr/>
        </p:nvSpPr>
        <p:spPr>
          <a:xfrm>
            <a:off x="1415519" y="6966036"/>
            <a:ext cx="1595797" cy="301374"/>
          </a:xfrm>
          <a:prstGeom prst="rect">
            <a:avLst/>
          </a:prstGeom>
          <a:noFill/>
          <a:ln/>
        </p:spPr>
        <p:txBody>
          <a:bodyPr wrap="square" lIns="0" tIns="0" rIns="0" bIns="0" rtlCol="0" anchor="t"/>
          <a:lstStyle/>
          <a:p>
            <a:pPr>
              <a:lnSpc>
                <a:spcPct val="105000"/>
              </a:lnSpc>
            </a:pPr>
            <a:r>
              <a:rPr lang="es-ES_tradnl" sz="900" b="1" noProof="0" dirty="0">
                <a:solidFill>
                  <a:srgbClr val="445A6E"/>
                </a:solidFill>
                <a:latin typeface="Calibri" pitchFamily="34" charset="0"/>
                <a:ea typeface="Calibri" pitchFamily="34" charset="-122"/>
                <a:cs typeface="Calibri" pitchFamily="34" charset="-120"/>
              </a:rPr>
              <a:t>Fecha de implementación</a:t>
            </a:r>
            <a:endParaRPr lang="es-ES_tradnl" sz="900" noProof="0" dirty="0"/>
          </a:p>
          <a:p>
            <a:pPr>
              <a:lnSpc>
                <a:spcPct val="105000"/>
              </a:lnSpc>
            </a:pPr>
            <a:r>
              <a:rPr lang="es-ES_tradnl" sz="900" noProof="0" dirty="0">
                <a:solidFill>
                  <a:srgbClr val="6E7E7D"/>
                </a:solidFill>
                <a:latin typeface="Calibri" pitchFamily="34" charset="0"/>
                <a:ea typeface="Calibri" pitchFamily="34" charset="-122"/>
                <a:cs typeface="Calibri" pitchFamily="34" charset="-120"/>
              </a:rPr>
              <a:t>1 de Septiembre</a:t>
            </a:r>
            <a:endParaRPr lang="es-ES_tradnl" sz="900" noProof="0" dirty="0"/>
          </a:p>
        </p:txBody>
      </p:sp>
      <p:sp>
        <p:nvSpPr>
          <p:cNvPr id="237" name="Text 25">
            <a:extLst>
              <a:ext uri="{FF2B5EF4-FFF2-40B4-BE49-F238E27FC236}">
                <a16:creationId xmlns:a16="http://schemas.microsoft.com/office/drawing/2014/main" id="{EDDD40EA-B73B-A351-B408-95E0B6C5766B}"/>
              </a:ext>
            </a:extLst>
          </p:cNvPr>
          <p:cNvSpPr/>
          <p:nvPr/>
        </p:nvSpPr>
        <p:spPr>
          <a:xfrm>
            <a:off x="1415519" y="8250641"/>
            <a:ext cx="1595797" cy="301374"/>
          </a:xfrm>
          <a:prstGeom prst="rect">
            <a:avLst/>
          </a:prstGeom>
          <a:noFill/>
          <a:ln/>
        </p:spPr>
        <p:txBody>
          <a:bodyPr wrap="square" lIns="0" tIns="0" rIns="0" bIns="0" rtlCol="0" anchor="t"/>
          <a:lstStyle/>
          <a:p>
            <a:pPr>
              <a:lnSpc>
                <a:spcPct val="105000"/>
              </a:lnSpc>
            </a:pPr>
            <a:r>
              <a:rPr lang="es-ES_tradnl" sz="900" b="1" noProof="0" dirty="0">
                <a:solidFill>
                  <a:srgbClr val="445A6E"/>
                </a:solidFill>
                <a:latin typeface="Calibri" pitchFamily="34" charset="0"/>
                <a:ea typeface="Calibri" pitchFamily="34" charset="-122"/>
                <a:cs typeface="Calibri" pitchFamily="34" charset="-120"/>
              </a:rPr>
              <a:t>Fecha de implementación</a:t>
            </a:r>
            <a:endParaRPr lang="es-ES_tradnl" sz="900" noProof="0" dirty="0"/>
          </a:p>
          <a:p>
            <a:pPr lvl="1">
              <a:lnSpc>
                <a:spcPct val="105000"/>
              </a:lnSpc>
            </a:pPr>
            <a:r>
              <a:rPr lang="es-ES_tradnl" sz="900" noProof="0" dirty="0">
                <a:solidFill>
                  <a:srgbClr val="6E7E7D"/>
                </a:solidFill>
                <a:latin typeface="Calibri" pitchFamily="34" charset="0"/>
                <a:ea typeface="Calibri" pitchFamily="34" charset="-122"/>
                <a:cs typeface="Calibri" pitchFamily="34" charset="-120"/>
              </a:rPr>
              <a:t>Dependencia de base corregida</a:t>
            </a:r>
            <a:endParaRPr lang="es-ES_tradnl" sz="900" noProof="0" dirty="0"/>
          </a:p>
        </p:txBody>
      </p:sp>
      <p:sp>
        <p:nvSpPr>
          <p:cNvPr id="238" name="Text 25">
            <a:extLst>
              <a:ext uri="{FF2B5EF4-FFF2-40B4-BE49-F238E27FC236}">
                <a16:creationId xmlns:a16="http://schemas.microsoft.com/office/drawing/2014/main" id="{97693B18-4798-8D2A-FFAF-6D2C83EBAC67}"/>
              </a:ext>
            </a:extLst>
          </p:cNvPr>
          <p:cNvSpPr/>
          <p:nvPr/>
        </p:nvSpPr>
        <p:spPr>
          <a:xfrm>
            <a:off x="11009376" y="4389746"/>
            <a:ext cx="3028163" cy="301374"/>
          </a:xfrm>
          <a:prstGeom prst="rect">
            <a:avLst/>
          </a:prstGeom>
          <a:noFill/>
          <a:ln/>
        </p:spPr>
        <p:txBody>
          <a:bodyPr wrap="square" lIns="0" tIns="0" rIns="0" bIns="0" rtlCol="0" anchor="t"/>
          <a:lstStyle/>
          <a:p>
            <a:pPr>
              <a:lnSpc>
                <a:spcPct val="105000"/>
              </a:lnSpc>
            </a:pPr>
            <a:r>
              <a:rPr lang="es-ES_tradnl" sz="900" b="1" noProof="0" dirty="0">
                <a:solidFill>
                  <a:srgbClr val="445A6E"/>
                </a:solidFill>
                <a:latin typeface="Calibri" pitchFamily="34" charset="0"/>
                <a:ea typeface="Calibri" pitchFamily="34" charset="-122"/>
                <a:cs typeface="Calibri" pitchFamily="34" charset="-120"/>
              </a:rPr>
              <a:t>Fecha propuesta de presentación</a:t>
            </a:r>
            <a:endParaRPr lang="es-ES_tradnl" sz="900" noProof="0" dirty="0"/>
          </a:p>
          <a:p>
            <a:pPr>
              <a:lnSpc>
                <a:spcPct val="105000"/>
              </a:lnSpc>
            </a:pPr>
            <a:r>
              <a:rPr lang="es-ES_tradnl" sz="900" noProof="0" dirty="0">
                <a:solidFill>
                  <a:srgbClr val="6E7E7D"/>
                </a:solidFill>
                <a:latin typeface="Calibri" pitchFamily="34" charset="0"/>
                <a:ea typeface="Calibri" pitchFamily="34" charset="-122"/>
                <a:cs typeface="Calibri" pitchFamily="34" charset="-120"/>
              </a:rPr>
              <a:t>Weekly 7 de Agosto</a:t>
            </a:r>
            <a:endParaRPr lang="es-ES_tradnl" sz="900" noProof="0" dirty="0"/>
          </a:p>
        </p:txBody>
      </p:sp>
      <p:sp>
        <p:nvSpPr>
          <p:cNvPr id="239" name="Shape 77">
            <a:extLst>
              <a:ext uri="{FF2B5EF4-FFF2-40B4-BE49-F238E27FC236}">
                <a16:creationId xmlns:a16="http://schemas.microsoft.com/office/drawing/2014/main" id="{05ECB6AC-D708-0296-04B2-592CB19B8D59}"/>
              </a:ext>
            </a:extLst>
          </p:cNvPr>
          <p:cNvSpPr/>
          <p:nvPr/>
        </p:nvSpPr>
        <p:spPr>
          <a:xfrm>
            <a:off x="10692384" y="4829205"/>
            <a:ext cx="4901184" cy="329184"/>
          </a:xfrm>
          <a:prstGeom prst="rect">
            <a:avLst/>
          </a:prstGeom>
          <a:solidFill>
            <a:srgbClr val="13807B"/>
          </a:solidFill>
          <a:ln/>
        </p:spPr>
        <p:txBody>
          <a:bodyPr anchor="ctr"/>
          <a:lstStyle/>
          <a:p>
            <a:pPr algn="ctr"/>
            <a:r>
              <a:rPr lang="es-ES_tradnl" sz="1800" b="1" noProof="0" dirty="0">
                <a:solidFill>
                  <a:srgbClr val="FFFFFF"/>
                </a:solidFill>
                <a:latin typeface="Calibri" pitchFamily="34" charset="0"/>
                <a:ea typeface="Calibri" pitchFamily="34" charset="-122"/>
                <a:cs typeface="Calibri" pitchFamily="34" charset="-120"/>
              </a:rPr>
              <a:t>HERRAMIENTA PRICING 360</a:t>
            </a:r>
            <a:endParaRPr lang="es-ES_tradnl" sz="1800" noProof="0" dirty="0"/>
          </a:p>
        </p:txBody>
      </p:sp>
      <p:sp>
        <p:nvSpPr>
          <p:cNvPr id="240" name="Shape 79">
            <a:extLst>
              <a:ext uri="{FF2B5EF4-FFF2-40B4-BE49-F238E27FC236}">
                <a16:creationId xmlns:a16="http://schemas.microsoft.com/office/drawing/2014/main" id="{84CFCB5D-4A0B-3C6B-5D23-9F17724D2B72}"/>
              </a:ext>
            </a:extLst>
          </p:cNvPr>
          <p:cNvSpPr/>
          <p:nvPr/>
        </p:nvSpPr>
        <p:spPr>
          <a:xfrm>
            <a:off x="10863072" y="5213931"/>
            <a:ext cx="4559808" cy="1514115"/>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241" name="Text 80">
            <a:extLst>
              <a:ext uri="{FF2B5EF4-FFF2-40B4-BE49-F238E27FC236}">
                <a16:creationId xmlns:a16="http://schemas.microsoft.com/office/drawing/2014/main" id="{FB2838BD-2C57-8A45-6430-B9A4F8D3CEC6}"/>
              </a:ext>
            </a:extLst>
          </p:cNvPr>
          <p:cNvSpPr/>
          <p:nvPr/>
        </p:nvSpPr>
        <p:spPr>
          <a:xfrm>
            <a:off x="11009376" y="5311468"/>
            <a:ext cx="4267200" cy="243840"/>
          </a:xfrm>
          <a:prstGeom prst="rect">
            <a:avLst/>
          </a:prstGeom>
          <a:noFill/>
          <a:ln/>
        </p:spPr>
        <p:txBody>
          <a:bodyPr wrap="square" lIns="0" tIns="0" rIns="0" bIns="0" rtlCol="0" anchor="ctr"/>
          <a:lstStyle/>
          <a:p>
            <a:r>
              <a:rPr lang="es-ES_tradnl" sz="1600" b="1" noProof="0" dirty="0">
                <a:solidFill>
                  <a:srgbClr val="0B2E2C"/>
                </a:solidFill>
                <a:latin typeface="Calibri" pitchFamily="34" charset="0"/>
                <a:cs typeface="Calibri" pitchFamily="34" charset="-120"/>
              </a:rPr>
              <a:t>Modelo de la competencia</a:t>
            </a:r>
            <a:endParaRPr lang="es-ES_tradnl" sz="1600" noProof="0" dirty="0"/>
          </a:p>
        </p:txBody>
      </p:sp>
      <p:sp>
        <p:nvSpPr>
          <p:cNvPr id="245" name="Text 84">
            <a:extLst>
              <a:ext uri="{FF2B5EF4-FFF2-40B4-BE49-F238E27FC236}">
                <a16:creationId xmlns:a16="http://schemas.microsoft.com/office/drawing/2014/main" id="{48746B99-75FD-6DA2-DEC0-DE0F488BB138}"/>
              </a:ext>
            </a:extLst>
          </p:cNvPr>
          <p:cNvSpPr/>
          <p:nvPr/>
        </p:nvSpPr>
        <p:spPr>
          <a:xfrm>
            <a:off x="11009376" y="5921068"/>
            <a:ext cx="4267200" cy="440034"/>
          </a:xfrm>
          <a:prstGeom prst="rect">
            <a:avLst/>
          </a:prstGeom>
          <a:noFill/>
          <a:ln/>
        </p:spPr>
        <p:txBody>
          <a:bodyPr wrap="square" lIns="0" tIns="0" rIns="0" bIns="0" rtlCol="0" anchor="t"/>
          <a:lstStyle/>
          <a:p>
            <a:pPr>
              <a:lnSpc>
                <a:spcPct val="105000"/>
              </a:lnSpc>
            </a:pPr>
            <a:r>
              <a:rPr lang="es-ES_tradnl" sz="1200" noProof="0" dirty="0">
                <a:solidFill>
                  <a:srgbClr val="6E7E7D"/>
                </a:solidFill>
                <a:latin typeface="Calibri" pitchFamily="34" charset="0"/>
                <a:ea typeface="Calibri" pitchFamily="34" charset="-122"/>
                <a:cs typeface="Calibri" pitchFamily="34" charset="-120"/>
              </a:rPr>
              <a:t>Modelo de riesgos presentado y en validación de output para insumir en la gestión</a:t>
            </a:r>
            <a:endParaRPr lang="es-ES_tradnl" sz="1200" noProof="0" dirty="0"/>
          </a:p>
        </p:txBody>
      </p:sp>
      <p:sp>
        <p:nvSpPr>
          <p:cNvPr id="246" name="Shape 91">
            <a:extLst>
              <a:ext uri="{FF2B5EF4-FFF2-40B4-BE49-F238E27FC236}">
                <a16:creationId xmlns:a16="http://schemas.microsoft.com/office/drawing/2014/main" id="{C9A72546-7AA0-4921-7057-802A2E6ADE4F}"/>
              </a:ext>
            </a:extLst>
          </p:cNvPr>
          <p:cNvSpPr/>
          <p:nvPr/>
        </p:nvSpPr>
        <p:spPr>
          <a:xfrm>
            <a:off x="10863072" y="6810281"/>
            <a:ext cx="4559808" cy="1118868"/>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247" name="Text 92">
            <a:extLst>
              <a:ext uri="{FF2B5EF4-FFF2-40B4-BE49-F238E27FC236}">
                <a16:creationId xmlns:a16="http://schemas.microsoft.com/office/drawing/2014/main" id="{D3CAB9AB-47EC-2F45-93DE-5AE897F8BCAD}"/>
              </a:ext>
            </a:extLst>
          </p:cNvPr>
          <p:cNvSpPr/>
          <p:nvPr/>
        </p:nvSpPr>
        <p:spPr>
          <a:xfrm>
            <a:off x="11009376" y="6907817"/>
            <a:ext cx="4267200" cy="243840"/>
          </a:xfrm>
          <a:prstGeom prst="rect">
            <a:avLst/>
          </a:prstGeom>
          <a:noFill/>
          <a:ln/>
        </p:spPr>
        <p:txBody>
          <a:bodyPr wrap="square" lIns="0" tIns="0" rIns="0" bIns="0" rtlCol="0" anchor="ctr"/>
          <a:lstStyle/>
          <a:p>
            <a:r>
              <a:rPr lang="es-ES_tradnl" sz="1600" b="1" noProof="0" dirty="0">
                <a:solidFill>
                  <a:srgbClr val="0B2E2C"/>
                </a:solidFill>
                <a:latin typeface="Calibri" pitchFamily="34" charset="0"/>
                <a:ea typeface="Calibri" pitchFamily="34" charset="-122"/>
                <a:cs typeface="Calibri" pitchFamily="34" charset="-120"/>
              </a:rPr>
              <a:t>Curvas de PD, Prepagos y Cancelaciones</a:t>
            </a:r>
            <a:endParaRPr lang="es-ES_tradnl" sz="1600" noProof="0" dirty="0"/>
          </a:p>
        </p:txBody>
      </p:sp>
      <p:sp>
        <p:nvSpPr>
          <p:cNvPr id="248" name="Shape 93">
            <a:extLst>
              <a:ext uri="{FF2B5EF4-FFF2-40B4-BE49-F238E27FC236}">
                <a16:creationId xmlns:a16="http://schemas.microsoft.com/office/drawing/2014/main" id="{89B00372-394C-D977-11F5-096F0F98A94C}"/>
              </a:ext>
            </a:extLst>
          </p:cNvPr>
          <p:cNvSpPr/>
          <p:nvPr/>
        </p:nvSpPr>
        <p:spPr>
          <a:xfrm>
            <a:off x="11009376" y="7188233"/>
            <a:ext cx="2663694" cy="256032"/>
          </a:xfrm>
          <a:prstGeom prst="roundRect">
            <a:avLst>
              <a:gd name="adj" fmla="val 50000"/>
            </a:avLst>
          </a:prstGeom>
          <a:solidFill>
            <a:srgbClr val="FCF3E3"/>
          </a:solidFill>
          <a:ln/>
        </p:spPr>
        <p:txBody>
          <a:bodyPr/>
          <a:lstStyle/>
          <a:p>
            <a:endParaRPr lang="es-ES_tradnl" sz="2400" noProof="0" dirty="0"/>
          </a:p>
        </p:txBody>
      </p:sp>
      <p:sp>
        <p:nvSpPr>
          <p:cNvPr id="249" name="Shape 94">
            <a:extLst>
              <a:ext uri="{FF2B5EF4-FFF2-40B4-BE49-F238E27FC236}">
                <a16:creationId xmlns:a16="http://schemas.microsoft.com/office/drawing/2014/main" id="{15270F72-F8AB-5F17-9A80-29C0785C4D70}"/>
              </a:ext>
            </a:extLst>
          </p:cNvPr>
          <p:cNvSpPr/>
          <p:nvPr/>
        </p:nvSpPr>
        <p:spPr>
          <a:xfrm>
            <a:off x="11094720" y="7261385"/>
            <a:ext cx="109728" cy="109728"/>
          </a:xfrm>
          <a:prstGeom prst="ellipse">
            <a:avLst/>
          </a:prstGeom>
          <a:solidFill>
            <a:srgbClr val="C87A0B"/>
          </a:solidFill>
          <a:ln/>
        </p:spPr>
        <p:txBody>
          <a:bodyPr/>
          <a:lstStyle/>
          <a:p>
            <a:endParaRPr lang="es-ES_tradnl" sz="2400" noProof="0" dirty="0"/>
          </a:p>
        </p:txBody>
      </p:sp>
      <p:sp>
        <p:nvSpPr>
          <p:cNvPr id="250" name="Text 95">
            <a:extLst>
              <a:ext uri="{FF2B5EF4-FFF2-40B4-BE49-F238E27FC236}">
                <a16:creationId xmlns:a16="http://schemas.microsoft.com/office/drawing/2014/main" id="{FE286E68-479B-4D4D-FF36-8A45F85ACE9E}"/>
              </a:ext>
            </a:extLst>
          </p:cNvPr>
          <p:cNvSpPr/>
          <p:nvPr/>
        </p:nvSpPr>
        <p:spPr>
          <a:xfrm>
            <a:off x="11241024" y="7188233"/>
            <a:ext cx="2187348" cy="256032"/>
          </a:xfrm>
          <a:prstGeom prst="rect">
            <a:avLst/>
          </a:prstGeom>
          <a:noFill/>
          <a:ln/>
        </p:spPr>
        <p:txBody>
          <a:bodyPr wrap="square" lIns="0" tIns="0" rIns="0" bIns="0" rtlCol="0" anchor="ctr"/>
          <a:lstStyle/>
          <a:p>
            <a:r>
              <a:rPr lang="es-ES_tradnl" sz="1100" b="1" noProof="0" dirty="0">
                <a:solidFill>
                  <a:srgbClr val="C87A0B"/>
                </a:solidFill>
                <a:latin typeface="Calibri" pitchFamily="34" charset="0"/>
                <a:ea typeface="Calibri" pitchFamily="34" charset="-122"/>
                <a:cs typeface="Calibri" pitchFamily="34" charset="-120"/>
              </a:rPr>
              <a:t>Próximo hito, post entrega de data</a:t>
            </a:r>
            <a:endParaRPr lang="es-ES_tradnl" sz="1100" noProof="0" dirty="0"/>
          </a:p>
        </p:txBody>
      </p:sp>
      <p:sp>
        <p:nvSpPr>
          <p:cNvPr id="252" name="Text 25">
            <a:extLst>
              <a:ext uri="{FF2B5EF4-FFF2-40B4-BE49-F238E27FC236}">
                <a16:creationId xmlns:a16="http://schemas.microsoft.com/office/drawing/2014/main" id="{36062011-C08B-CE25-461F-160B6EBAB48F}"/>
              </a:ext>
            </a:extLst>
          </p:cNvPr>
          <p:cNvSpPr/>
          <p:nvPr/>
        </p:nvSpPr>
        <p:spPr>
          <a:xfrm>
            <a:off x="11009376" y="7519342"/>
            <a:ext cx="3028163" cy="301374"/>
          </a:xfrm>
          <a:prstGeom prst="rect">
            <a:avLst/>
          </a:prstGeom>
          <a:noFill/>
          <a:ln/>
        </p:spPr>
        <p:txBody>
          <a:bodyPr wrap="square" lIns="0" tIns="0" rIns="0" bIns="0" rtlCol="0" anchor="t"/>
          <a:lstStyle/>
          <a:p>
            <a:pPr>
              <a:lnSpc>
                <a:spcPct val="105000"/>
              </a:lnSpc>
            </a:pPr>
            <a:r>
              <a:rPr lang="es-ES_tradnl" sz="900" b="1" noProof="0" dirty="0">
                <a:solidFill>
                  <a:srgbClr val="445A6E"/>
                </a:solidFill>
                <a:latin typeface="Calibri" pitchFamily="34" charset="0"/>
                <a:ea typeface="Calibri" pitchFamily="34" charset="-122"/>
                <a:cs typeface="Calibri" pitchFamily="34" charset="-120"/>
              </a:rPr>
              <a:t>Fecha de propuesta de modelo</a:t>
            </a:r>
            <a:endParaRPr lang="es-ES_tradnl" sz="900" noProof="0" dirty="0"/>
          </a:p>
          <a:p>
            <a:pPr>
              <a:lnSpc>
                <a:spcPct val="105000"/>
              </a:lnSpc>
            </a:pPr>
            <a:r>
              <a:rPr lang="es-ES_tradnl" sz="900" noProof="0" dirty="0">
                <a:solidFill>
                  <a:srgbClr val="6E7E7D"/>
                </a:solidFill>
                <a:latin typeface="Calibri" pitchFamily="34" charset="0"/>
                <a:ea typeface="Calibri" pitchFamily="34" charset="-122"/>
                <a:cs typeface="Calibri" pitchFamily="34" charset="-120"/>
              </a:rPr>
              <a:t>Dependencia de data</a:t>
            </a:r>
            <a:endParaRPr lang="es-ES_tradnl" sz="900" noProof="0" dirty="0"/>
          </a:p>
        </p:txBody>
      </p:sp>
      <p:sp>
        <p:nvSpPr>
          <p:cNvPr id="253" name="Shape 93">
            <a:extLst>
              <a:ext uri="{FF2B5EF4-FFF2-40B4-BE49-F238E27FC236}">
                <a16:creationId xmlns:a16="http://schemas.microsoft.com/office/drawing/2014/main" id="{3EACAB98-DC8B-94FA-3AE1-55F7714EDFFD}"/>
              </a:ext>
            </a:extLst>
          </p:cNvPr>
          <p:cNvSpPr/>
          <p:nvPr/>
        </p:nvSpPr>
        <p:spPr>
          <a:xfrm>
            <a:off x="11009376" y="5580814"/>
            <a:ext cx="2255520" cy="256032"/>
          </a:xfrm>
          <a:prstGeom prst="roundRect">
            <a:avLst>
              <a:gd name="adj" fmla="val 50000"/>
            </a:avLst>
          </a:prstGeom>
          <a:solidFill>
            <a:srgbClr val="FCF3E3"/>
          </a:solidFill>
          <a:ln/>
        </p:spPr>
        <p:txBody>
          <a:bodyPr/>
          <a:lstStyle/>
          <a:p>
            <a:endParaRPr lang="es-ES_tradnl" sz="2400" noProof="0" dirty="0"/>
          </a:p>
        </p:txBody>
      </p:sp>
      <p:sp>
        <p:nvSpPr>
          <p:cNvPr id="254" name="Shape 94">
            <a:extLst>
              <a:ext uri="{FF2B5EF4-FFF2-40B4-BE49-F238E27FC236}">
                <a16:creationId xmlns:a16="http://schemas.microsoft.com/office/drawing/2014/main" id="{487174A7-DF60-B9CC-5DC7-F0B926C23EAF}"/>
              </a:ext>
            </a:extLst>
          </p:cNvPr>
          <p:cNvSpPr/>
          <p:nvPr/>
        </p:nvSpPr>
        <p:spPr>
          <a:xfrm>
            <a:off x="11094720" y="5653966"/>
            <a:ext cx="109728" cy="109728"/>
          </a:xfrm>
          <a:prstGeom prst="ellipse">
            <a:avLst/>
          </a:prstGeom>
          <a:solidFill>
            <a:srgbClr val="C87A0B"/>
          </a:solidFill>
          <a:ln/>
        </p:spPr>
        <p:txBody>
          <a:bodyPr/>
          <a:lstStyle/>
          <a:p>
            <a:endParaRPr lang="es-ES_tradnl" sz="2400" noProof="0" dirty="0"/>
          </a:p>
        </p:txBody>
      </p:sp>
      <p:sp>
        <p:nvSpPr>
          <p:cNvPr id="255" name="Text 95">
            <a:extLst>
              <a:ext uri="{FF2B5EF4-FFF2-40B4-BE49-F238E27FC236}">
                <a16:creationId xmlns:a16="http://schemas.microsoft.com/office/drawing/2014/main" id="{2BAE594F-6D1D-69E6-6778-09DCFDD31C18}"/>
              </a:ext>
            </a:extLst>
          </p:cNvPr>
          <p:cNvSpPr/>
          <p:nvPr/>
        </p:nvSpPr>
        <p:spPr>
          <a:xfrm>
            <a:off x="11241024" y="5580814"/>
            <a:ext cx="1987296" cy="256032"/>
          </a:xfrm>
          <a:prstGeom prst="rect">
            <a:avLst/>
          </a:prstGeom>
          <a:noFill/>
          <a:ln/>
        </p:spPr>
        <p:txBody>
          <a:bodyPr wrap="square" lIns="0" tIns="0" rIns="0" bIns="0" rtlCol="0" anchor="ctr"/>
          <a:lstStyle/>
          <a:p>
            <a:r>
              <a:rPr lang="es-ES_tradnl" sz="1100" b="1" noProof="0" dirty="0">
                <a:solidFill>
                  <a:srgbClr val="C87A0B"/>
                </a:solidFill>
                <a:latin typeface="Calibri" pitchFamily="34" charset="0"/>
                <a:ea typeface="Calibri" pitchFamily="34" charset="-122"/>
                <a:cs typeface="Calibri" pitchFamily="34" charset="-120"/>
              </a:rPr>
              <a:t>En validación</a:t>
            </a:r>
            <a:endParaRPr lang="es-ES_tradnl" sz="1100" noProof="0" dirty="0"/>
          </a:p>
        </p:txBody>
      </p:sp>
      <p:sp>
        <p:nvSpPr>
          <p:cNvPr id="256" name="Text 25">
            <a:extLst>
              <a:ext uri="{FF2B5EF4-FFF2-40B4-BE49-F238E27FC236}">
                <a16:creationId xmlns:a16="http://schemas.microsoft.com/office/drawing/2014/main" id="{26B029F6-C384-36C3-8A26-F90F2C955A1E}"/>
              </a:ext>
            </a:extLst>
          </p:cNvPr>
          <p:cNvSpPr/>
          <p:nvPr/>
        </p:nvSpPr>
        <p:spPr>
          <a:xfrm>
            <a:off x="11009376" y="6348910"/>
            <a:ext cx="3028163" cy="301374"/>
          </a:xfrm>
          <a:prstGeom prst="rect">
            <a:avLst/>
          </a:prstGeom>
          <a:noFill/>
          <a:ln/>
        </p:spPr>
        <p:txBody>
          <a:bodyPr wrap="square" lIns="0" tIns="0" rIns="0" bIns="0" rtlCol="0" anchor="t"/>
          <a:lstStyle/>
          <a:p>
            <a:pPr>
              <a:lnSpc>
                <a:spcPct val="105000"/>
              </a:lnSpc>
            </a:pPr>
            <a:r>
              <a:rPr lang="es-ES_tradnl" sz="900" b="1" noProof="0" dirty="0">
                <a:solidFill>
                  <a:srgbClr val="445A6E"/>
                </a:solidFill>
                <a:latin typeface="Calibri" pitchFamily="34" charset="0"/>
                <a:ea typeface="Calibri" pitchFamily="34" charset="-122"/>
                <a:cs typeface="Calibri" pitchFamily="34" charset="-120"/>
              </a:rPr>
              <a:t>Fecha de propuesta de validación</a:t>
            </a:r>
          </a:p>
          <a:p>
            <a:pPr>
              <a:lnSpc>
                <a:spcPct val="105000"/>
              </a:lnSpc>
            </a:pPr>
            <a:r>
              <a:rPr lang="es-ES_tradnl" sz="900" noProof="0" dirty="0">
                <a:solidFill>
                  <a:srgbClr val="6E7E7D"/>
                </a:solidFill>
                <a:latin typeface="Calibri" pitchFamily="34" charset="0"/>
                <a:ea typeface="Calibri" pitchFamily="34" charset="-122"/>
                <a:cs typeface="Calibri" pitchFamily="34" charset="-120"/>
              </a:rPr>
              <a:t>Hoy 5 de Agosto</a:t>
            </a:r>
            <a:endParaRPr lang="es-ES_tradnl" sz="900" noProof="0" dirty="0"/>
          </a:p>
        </p:txBody>
      </p:sp>
      <p:sp>
        <p:nvSpPr>
          <p:cNvPr id="257" name="Shape 91">
            <a:extLst>
              <a:ext uri="{FF2B5EF4-FFF2-40B4-BE49-F238E27FC236}">
                <a16:creationId xmlns:a16="http://schemas.microsoft.com/office/drawing/2014/main" id="{D4B20A05-9DE0-7499-03FE-6868613FCB9D}"/>
              </a:ext>
            </a:extLst>
          </p:cNvPr>
          <p:cNvSpPr/>
          <p:nvPr/>
        </p:nvSpPr>
        <p:spPr>
          <a:xfrm>
            <a:off x="10863072" y="7966232"/>
            <a:ext cx="4559808" cy="1118868"/>
          </a:xfrm>
          <a:prstGeom prst="rect">
            <a:avLst/>
          </a:prstGeom>
          <a:solidFill>
            <a:srgbClr val="FFFFFF"/>
          </a:solidFill>
          <a:ln w="9525">
            <a:solidFill>
              <a:srgbClr val="D5DFDE"/>
            </a:solidFill>
            <a:prstDash val="solid"/>
          </a:ln>
        </p:spPr>
        <p:txBody>
          <a:bodyPr/>
          <a:lstStyle/>
          <a:p>
            <a:endParaRPr lang="es-ES_tradnl" sz="2400" noProof="0" dirty="0"/>
          </a:p>
        </p:txBody>
      </p:sp>
      <p:sp>
        <p:nvSpPr>
          <p:cNvPr id="258" name="Text 92">
            <a:extLst>
              <a:ext uri="{FF2B5EF4-FFF2-40B4-BE49-F238E27FC236}">
                <a16:creationId xmlns:a16="http://schemas.microsoft.com/office/drawing/2014/main" id="{B6D03C34-7E02-962C-DD86-78FF75319254}"/>
              </a:ext>
            </a:extLst>
          </p:cNvPr>
          <p:cNvSpPr/>
          <p:nvPr/>
        </p:nvSpPr>
        <p:spPr>
          <a:xfrm>
            <a:off x="11009376" y="8063768"/>
            <a:ext cx="4267200" cy="243840"/>
          </a:xfrm>
          <a:prstGeom prst="rect">
            <a:avLst/>
          </a:prstGeom>
          <a:noFill/>
          <a:ln/>
        </p:spPr>
        <p:txBody>
          <a:bodyPr wrap="square" lIns="0" tIns="0" rIns="0" bIns="0" rtlCol="0" anchor="ctr"/>
          <a:lstStyle/>
          <a:p>
            <a:r>
              <a:rPr lang="es-ES_tradnl" sz="1600" b="1" noProof="0" dirty="0">
                <a:solidFill>
                  <a:srgbClr val="0B2E2C"/>
                </a:solidFill>
                <a:latin typeface="Calibri" pitchFamily="34" charset="0"/>
                <a:ea typeface="Calibri" pitchFamily="34" charset="-122"/>
                <a:cs typeface="Calibri" pitchFamily="34" charset="-120"/>
              </a:rPr>
              <a:t>Segmentación vista cliente 360</a:t>
            </a:r>
            <a:endParaRPr lang="es-ES_tradnl" sz="1600" noProof="0" dirty="0"/>
          </a:p>
        </p:txBody>
      </p:sp>
      <p:sp>
        <p:nvSpPr>
          <p:cNvPr id="259" name="Shape 93">
            <a:extLst>
              <a:ext uri="{FF2B5EF4-FFF2-40B4-BE49-F238E27FC236}">
                <a16:creationId xmlns:a16="http://schemas.microsoft.com/office/drawing/2014/main" id="{2CB32585-D1C6-0D5A-7B5C-95ACA8358AC1}"/>
              </a:ext>
            </a:extLst>
          </p:cNvPr>
          <p:cNvSpPr/>
          <p:nvPr/>
        </p:nvSpPr>
        <p:spPr>
          <a:xfrm>
            <a:off x="11009376" y="8344184"/>
            <a:ext cx="2663694" cy="256032"/>
          </a:xfrm>
          <a:prstGeom prst="roundRect">
            <a:avLst>
              <a:gd name="adj" fmla="val 50000"/>
            </a:avLst>
          </a:prstGeom>
          <a:solidFill>
            <a:srgbClr val="FCF3E3"/>
          </a:solidFill>
          <a:ln/>
        </p:spPr>
        <p:txBody>
          <a:bodyPr/>
          <a:lstStyle/>
          <a:p>
            <a:endParaRPr lang="es-ES_tradnl" sz="2400" noProof="0" dirty="0"/>
          </a:p>
        </p:txBody>
      </p:sp>
      <p:sp>
        <p:nvSpPr>
          <p:cNvPr id="260" name="Shape 94">
            <a:extLst>
              <a:ext uri="{FF2B5EF4-FFF2-40B4-BE49-F238E27FC236}">
                <a16:creationId xmlns:a16="http://schemas.microsoft.com/office/drawing/2014/main" id="{0BAF4953-ED25-6B35-7C72-178963772F85}"/>
              </a:ext>
            </a:extLst>
          </p:cNvPr>
          <p:cNvSpPr/>
          <p:nvPr/>
        </p:nvSpPr>
        <p:spPr>
          <a:xfrm>
            <a:off x="11094720" y="8417336"/>
            <a:ext cx="109728" cy="109728"/>
          </a:xfrm>
          <a:prstGeom prst="ellipse">
            <a:avLst/>
          </a:prstGeom>
          <a:solidFill>
            <a:srgbClr val="C87A0B"/>
          </a:solidFill>
          <a:ln/>
        </p:spPr>
        <p:txBody>
          <a:bodyPr/>
          <a:lstStyle/>
          <a:p>
            <a:endParaRPr lang="es-ES_tradnl" sz="2400" noProof="0" dirty="0"/>
          </a:p>
        </p:txBody>
      </p:sp>
      <p:sp>
        <p:nvSpPr>
          <p:cNvPr id="261" name="Text 95">
            <a:extLst>
              <a:ext uri="{FF2B5EF4-FFF2-40B4-BE49-F238E27FC236}">
                <a16:creationId xmlns:a16="http://schemas.microsoft.com/office/drawing/2014/main" id="{1E7920E8-8F64-4CBF-A878-3A72D54C2E97}"/>
              </a:ext>
            </a:extLst>
          </p:cNvPr>
          <p:cNvSpPr/>
          <p:nvPr/>
        </p:nvSpPr>
        <p:spPr>
          <a:xfrm>
            <a:off x="11241024" y="8344184"/>
            <a:ext cx="2187348" cy="256032"/>
          </a:xfrm>
          <a:prstGeom prst="rect">
            <a:avLst/>
          </a:prstGeom>
          <a:noFill/>
          <a:ln/>
        </p:spPr>
        <p:txBody>
          <a:bodyPr wrap="square" lIns="0" tIns="0" rIns="0" bIns="0" rtlCol="0" anchor="ctr"/>
          <a:lstStyle/>
          <a:p>
            <a:r>
              <a:rPr lang="es-ES_tradnl" sz="1100" b="1" noProof="0" dirty="0">
                <a:solidFill>
                  <a:srgbClr val="C87A0B"/>
                </a:solidFill>
                <a:latin typeface="Calibri" pitchFamily="34" charset="0"/>
                <a:ea typeface="Calibri" pitchFamily="34" charset="-122"/>
                <a:cs typeface="Calibri" pitchFamily="34" charset="-120"/>
              </a:rPr>
              <a:t>Próximo hito, post entrega de data</a:t>
            </a:r>
            <a:endParaRPr lang="es-ES_tradnl" sz="1100" noProof="0" dirty="0"/>
          </a:p>
        </p:txBody>
      </p:sp>
      <p:sp>
        <p:nvSpPr>
          <p:cNvPr id="262" name="Text 25">
            <a:extLst>
              <a:ext uri="{FF2B5EF4-FFF2-40B4-BE49-F238E27FC236}">
                <a16:creationId xmlns:a16="http://schemas.microsoft.com/office/drawing/2014/main" id="{F7EAE679-360E-AFDC-2059-9CB592F27566}"/>
              </a:ext>
            </a:extLst>
          </p:cNvPr>
          <p:cNvSpPr/>
          <p:nvPr/>
        </p:nvSpPr>
        <p:spPr>
          <a:xfrm>
            <a:off x="11009376" y="8675293"/>
            <a:ext cx="3028163" cy="301374"/>
          </a:xfrm>
          <a:prstGeom prst="rect">
            <a:avLst/>
          </a:prstGeom>
          <a:noFill/>
          <a:ln/>
        </p:spPr>
        <p:txBody>
          <a:bodyPr wrap="square" lIns="0" tIns="0" rIns="0" bIns="0" rtlCol="0" anchor="t"/>
          <a:lstStyle/>
          <a:p>
            <a:pPr>
              <a:lnSpc>
                <a:spcPct val="105000"/>
              </a:lnSpc>
            </a:pPr>
            <a:r>
              <a:rPr lang="es-ES_tradnl" sz="900" b="1" noProof="0" dirty="0">
                <a:solidFill>
                  <a:srgbClr val="445A6E"/>
                </a:solidFill>
                <a:latin typeface="Calibri" pitchFamily="34" charset="0"/>
                <a:ea typeface="Calibri" pitchFamily="34" charset="-122"/>
                <a:cs typeface="Calibri" pitchFamily="34" charset="-120"/>
              </a:rPr>
              <a:t>Fecha de propuesta de modelo</a:t>
            </a:r>
            <a:endParaRPr lang="es-ES_tradnl" sz="900" noProof="0" dirty="0"/>
          </a:p>
          <a:p>
            <a:pPr>
              <a:lnSpc>
                <a:spcPct val="105000"/>
              </a:lnSpc>
            </a:pPr>
            <a:r>
              <a:rPr lang="es-ES_tradnl" sz="900" noProof="0" dirty="0">
                <a:solidFill>
                  <a:srgbClr val="6E7E7D"/>
                </a:solidFill>
                <a:latin typeface="Calibri" pitchFamily="34" charset="0"/>
                <a:ea typeface="Calibri" pitchFamily="34" charset="-122"/>
                <a:cs typeface="Calibri" pitchFamily="34" charset="-120"/>
              </a:rPr>
              <a:t>Dependencia de data</a:t>
            </a:r>
            <a:endParaRPr lang="es-ES_tradnl" sz="900" noProof="0" dirty="0"/>
          </a:p>
        </p:txBody>
      </p:sp>
    </p:spTree>
    <p:extLst>
      <p:ext uri="{BB962C8B-B14F-4D97-AF65-F5344CB8AC3E}">
        <p14:creationId xmlns:p14="http://schemas.microsoft.com/office/powerpoint/2010/main" val="31475925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FBE82D23-BBA3-9422-14C5-1A19D0B4B64E}"/>
            </a:ext>
          </a:extLst>
        </p:cNvPr>
        <p:cNvGrpSpPr/>
        <p:nvPr/>
      </p:nvGrpSpPr>
      <p:grpSpPr>
        <a:xfrm>
          <a:off x="0" y="0"/>
          <a:ext cx="0" cy="0"/>
          <a:chOff x="0" y="0"/>
          <a:chExt cx="0" cy="0"/>
        </a:xfrm>
      </p:grpSpPr>
      <p:sp>
        <p:nvSpPr>
          <p:cNvPr id="48" name="Google Shape;48;p1">
            <a:extLst>
              <a:ext uri="{FF2B5EF4-FFF2-40B4-BE49-F238E27FC236}">
                <a16:creationId xmlns:a16="http://schemas.microsoft.com/office/drawing/2014/main" id="{5C1BECC6-722F-A329-D751-2CBDBD2BFE5D}"/>
              </a:ext>
            </a:extLst>
          </p:cNvPr>
          <p:cNvSpPr txBox="1"/>
          <p:nvPr/>
        </p:nvSpPr>
        <p:spPr>
          <a:xfrm>
            <a:off x="7819723" y="3801600"/>
            <a:ext cx="7674277" cy="15408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000000"/>
              </a:buClr>
              <a:buSzPts val="4800"/>
              <a:buFont typeface="Arial"/>
              <a:buNone/>
            </a:pPr>
            <a:r>
              <a:rPr lang="es-ES_tradnl" sz="4800" b="1" i="0" u="none" strike="noStrike" cap="none" noProof="0" dirty="0">
                <a:solidFill>
                  <a:schemeClr val="lt1"/>
                </a:solidFill>
                <a:latin typeface="Poppins"/>
                <a:ea typeface="Poppins"/>
                <a:cs typeface="Poppins"/>
                <a:sym typeface="Poppins"/>
              </a:rPr>
              <a:t>Proyecto IBK </a:t>
            </a:r>
            <a:r>
              <a:rPr lang="es-ES_tradnl" sz="4800" b="1" i="0" u="none" strike="noStrike" cap="none" noProof="0" dirty="0" err="1">
                <a:solidFill>
                  <a:schemeClr val="lt1"/>
                </a:solidFill>
                <a:latin typeface="Poppins"/>
                <a:ea typeface="Poppins"/>
                <a:cs typeface="Poppins"/>
                <a:sym typeface="Poppins"/>
              </a:rPr>
              <a:t>BdN</a:t>
            </a:r>
            <a:endParaRPr lang="es-ES_tradnl" sz="4800" b="1" i="0" u="none" strike="noStrike" cap="none" noProof="0" dirty="0">
              <a:solidFill>
                <a:schemeClr val="lt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4200"/>
              <a:buFont typeface="Arial"/>
              <a:buNone/>
            </a:pPr>
            <a:r>
              <a:rPr lang="es-ES_tradnl" sz="4200" b="1" noProof="0" dirty="0" err="1">
                <a:solidFill>
                  <a:schemeClr val="lt1"/>
                </a:solidFill>
                <a:latin typeface="Poppins"/>
                <a:ea typeface="Poppins"/>
                <a:cs typeface="Poppins"/>
                <a:sym typeface="Poppins"/>
              </a:rPr>
              <a:t>Checkpoint</a:t>
            </a:r>
            <a:r>
              <a:rPr lang="es-ES_tradnl" sz="4200" b="1" noProof="0" dirty="0">
                <a:solidFill>
                  <a:schemeClr val="lt1"/>
                </a:solidFill>
                <a:latin typeface="Poppins"/>
                <a:ea typeface="Poppins"/>
                <a:cs typeface="Poppins"/>
                <a:sym typeface="Poppins"/>
              </a:rPr>
              <a:t> Modelos Pricing</a:t>
            </a:r>
            <a:endParaRPr lang="es-ES_tradnl" sz="4800" b="1" i="0" u="none" strike="noStrike" cap="none" noProof="0" dirty="0">
              <a:solidFill>
                <a:schemeClr val="lt1"/>
              </a:solidFill>
              <a:latin typeface="Poppins"/>
              <a:ea typeface="Poppins"/>
              <a:cs typeface="Poppins"/>
              <a:sym typeface="Poppins"/>
            </a:endParaRPr>
          </a:p>
        </p:txBody>
      </p:sp>
      <p:sp>
        <p:nvSpPr>
          <p:cNvPr id="49" name="Google Shape;49;p1">
            <a:extLst>
              <a:ext uri="{FF2B5EF4-FFF2-40B4-BE49-F238E27FC236}">
                <a16:creationId xmlns:a16="http://schemas.microsoft.com/office/drawing/2014/main" id="{CEE599EB-3908-5410-1F8C-8BCA11C67C6B}"/>
              </a:ext>
            </a:extLst>
          </p:cNvPr>
          <p:cNvSpPr/>
          <p:nvPr/>
        </p:nvSpPr>
        <p:spPr>
          <a:xfrm>
            <a:off x="0" y="0"/>
            <a:ext cx="101600" cy="9144000"/>
          </a:xfrm>
          <a:prstGeom prst="rect">
            <a:avLst/>
          </a:prstGeom>
          <a:solidFill>
            <a:srgbClr val="C6E9E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lang="es-ES_tradnl" sz="1400" b="0" i="0" u="none" strike="noStrike" cap="none" noProof="0" dirty="0">
              <a:solidFill>
                <a:srgbClr val="000000"/>
              </a:solidFill>
              <a:latin typeface="Arial"/>
              <a:ea typeface="Arial"/>
              <a:cs typeface="Arial"/>
              <a:sym typeface="Arial"/>
            </a:endParaRPr>
          </a:p>
        </p:txBody>
      </p:sp>
      <p:sp>
        <p:nvSpPr>
          <p:cNvPr id="50" name="Google Shape;50;p1">
            <a:extLst>
              <a:ext uri="{FF2B5EF4-FFF2-40B4-BE49-F238E27FC236}">
                <a16:creationId xmlns:a16="http://schemas.microsoft.com/office/drawing/2014/main" id="{D10F3943-8AE9-A245-0263-CFEE9D7B759A}"/>
              </a:ext>
            </a:extLst>
          </p:cNvPr>
          <p:cNvSpPr/>
          <p:nvPr/>
        </p:nvSpPr>
        <p:spPr>
          <a:xfrm>
            <a:off x="11684000" y="508000"/>
            <a:ext cx="3810000" cy="381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es-ES_tradnl" sz="1000" b="0" i="0" u="none" strike="noStrike" cap="none" noProof="0" dirty="0">
                <a:solidFill>
                  <a:srgbClr val="C6E9E7"/>
                </a:solidFill>
                <a:latin typeface="Poppins"/>
                <a:ea typeface="Poppins"/>
                <a:cs typeface="Poppins"/>
                <a:sym typeface="Poppins"/>
              </a:rPr>
              <a:t>CONFIDENCIAL</a:t>
            </a:r>
            <a:endParaRPr lang="es-ES_tradnl" sz="1400" b="0" i="0" u="none" strike="noStrike" cap="none" noProof="0" dirty="0">
              <a:solidFill>
                <a:srgbClr val="000000"/>
              </a:solidFill>
              <a:latin typeface="Arial"/>
              <a:ea typeface="Arial"/>
              <a:cs typeface="Arial"/>
              <a:sym typeface="Arial"/>
            </a:endParaRPr>
          </a:p>
        </p:txBody>
      </p:sp>
      <p:sp>
        <p:nvSpPr>
          <p:cNvPr id="51" name="Google Shape;51;p1">
            <a:extLst>
              <a:ext uri="{FF2B5EF4-FFF2-40B4-BE49-F238E27FC236}">
                <a16:creationId xmlns:a16="http://schemas.microsoft.com/office/drawing/2014/main" id="{0156C123-BAAC-53FB-3003-B8204F2BD54C}"/>
              </a:ext>
            </a:extLst>
          </p:cNvPr>
          <p:cNvSpPr/>
          <p:nvPr/>
        </p:nvSpPr>
        <p:spPr>
          <a:xfrm>
            <a:off x="1270000" y="8382000"/>
            <a:ext cx="762000" cy="50800"/>
          </a:xfrm>
          <a:prstGeom prst="rect">
            <a:avLst/>
          </a:prstGeom>
          <a:solidFill>
            <a:srgbClr val="C6E9E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lang="es-ES_tradnl" sz="14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541274943"/>
      </p:ext>
    </p:extLst>
  </p:cSld>
  <p:clrMapOvr>
    <a:masterClrMapping/>
  </p:clrMapOvr>
</p:sld>
</file>

<file path=ppt/theme/theme1.xml><?xml version="1.0" encoding="utf-8"?>
<a:theme xmlns:a="http://schemas.openxmlformats.org/drawingml/2006/main" name="Office Theme">
  <a:themeElements>
    <a:clrScheme name="VoI">
      <a:dk1>
        <a:srgbClr val="13807B"/>
      </a:dk1>
      <a:lt1>
        <a:srgbClr val="FFFFFF"/>
      </a:lt1>
      <a:dk2>
        <a:srgbClr val="6B7180"/>
      </a:dk2>
      <a:lt2>
        <a:srgbClr val="EEECE1"/>
      </a:lt2>
      <a:accent1>
        <a:srgbClr val="C6E9E7"/>
      </a:accent1>
      <a:accent2>
        <a:srgbClr val="E1F2EE"/>
      </a:accent2>
      <a:accent3>
        <a:srgbClr val="FF6B6B"/>
      </a:accent3>
      <a:accent4>
        <a:srgbClr val="8B5CF6"/>
      </a:accent4>
      <a:accent5>
        <a:srgbClr val="FBBF24"/>
      </a:accent5>
      <a:accent6>
        <a:srgbClr val="10B981"/>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1200" dirty="0" smtClean="0">
            <a:latin typeface="Calibri" panose="020F0502020204030204" pitchFamily="34" charset="0"/>
            <a:cs typeface="Calibri" panose="020F050202020403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200" dirty="0" smtClean="0">
            <a:latin typeface="Calibri" panose="020F0502020204030204" pitchFamily="34" charset="0"/>
            <a:cs typeface="Calibri" panose="020F0502020204030204" pitchFamily="34" charset="0"/>
          </a:defRPr>
        </a:defPPr>
      </a:lstStyle>
    </a:txDef>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2013 - 2022 Theme</Template>
  <TotalTime>16425</TotalTime>
  <Words>9848</Words>
  <Application>Microsoft Office PowerPoint</Application>
  <PresentationFormat>Personalizado</PresentationFormat>
  <Paragraphs>2070</Paragraphs>
  <Slides>53</Slides>
  <Notes>35</Notes>
  <HiddenSlides>3</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53</vt:i4>
      </vt:variant>
    </vt:vector>
  </HeadingPairs>
  <TitlesOfParts>
    <vt:vector size="60" baseType="lpstr">
      <vt:lpstr>Arial</vt:lpstr>
      <vt:lpstr>Aptos</vt:lpstr>
      <vt:lpstr>Cambria Math</vt:lpstr>
      <vt:lpstr>Open Sans</vt:lpstr>
      <vt:lpstr>Poppins</vt:lpstr>
      <vt:lpstr>Calibri</vt:lpstr>
      <vt:lpstr>Office Theme</vt:lpstr>
      <vt:lpstr>Presentación de PowerPoint</vt:lpstr>
      <vt:lpstr>Presentación de PowerPoint</vt:lpstr>
      <vt:lpstr>Presentación de PowerPoint</vt:lpstr>
      <vt:lpstr>Presentación de PowerPoint</vt:lpstr>
      <vt:lpstr>Presentación de PowerPoint</vt:lpstr>
      <vt:lpstr>Anatomía de la Tasa</vt:lpstr>
      <vt:lpstr>Presentación de PowerPoint</vt:lpstr>
      <vt:lpstr>Presentación de PowerPoint</vt:lpstr>
      <vt:lpstr>Presentación de PowerPoint</vt:lpstr>
      <vt:lpstr>Cada modelo queda con un plan de monitoreo que IBK ejecuta con sus propios equipos</vt:lpstr>
      <vt:lpstr>Presentación de PowerPoint</vt:lpstr>
      <vt:lpstr>Presentación de PowerPoint</vt:lpstr>
      <vt:lpstr>Presentación de PowerPoint</vt:lpstr>
      <vt:lpstr>Presentación de PowerPoint</vt:lpstr>
      <vt:lpstr>Presentación de PowerPoint</vt:lpstr>
      <vt:lpstr>Pricing 360°: Checkpoint Modelos   PD Lifetime</vt:lpstr>
      <vt:lpstr>Presentación de PowerPoint</vt:lpstr>
      <vt:lpstr>Presentación de PowerPoint</vt:lpstr>
      <vt:lpstr>Presentación de PowerPoint</vt:lpstr>
      <vt:lpstr>Pricing 360°: Checkpoint Modelos   LGD Lifetime</vt:lpstr>
      <vt:lpstr>Presentación de PowerPoint</vt:lpstr>
      <vt:lpstr>Pricing 360°: Checkpoint Modelos   Prepagos Lifetime</vt:lpstr>
      <vt:lpstr>Presentación de PowerPoint</vt:lpstr>
      <vt:lpstr>Presentación de PowerPoint</vt:lpstr>
      <vt:lpstr>Presentación de PowerPoint</vt:lpstr>
      <vt:lpstr>Pricing 360°: Checkpoint Modelos   Precancelaciones Lifetime</vt:lpstr>
      <vt:lpstr>Presentación de PowerPoint</vt:lpstr>
      <vt:lpstr>Presentación de PowerPoint</vt:lpstr>
      <vt:lpstr>Pricing 360°: Checkpoint Modelos   Costo de Fondeo</vt:lpstr>
      <vt:lpstr>Presentación de PowerPoint</vt:lpstr>
      <vt:lpstr>Presentación de PowerPoint</vt:lpstr>
      <vt:lpstr>Pricing 360°: Checkpoint Modelos   Gastos Operativos</vt:lpstr>
      <vt:lpstr>Presentación de PowerPoint</vt:lpstr>
      <vt:lpstr>Pricing 360°: Checkpoint Modelos   Beneficio de Capital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Pricing 360°: Checkpoint Modelos   Entregables &amp; Transferencia de conocimiento</vt:lpstr>
      <vt:lpstr>La transferencia no es un evento al final: en cada fase del proyecto IBK toma más control hasta operar de forma autónoma</vt:lpstr>
      <vt:lpstr>La herramienta de pricing viaja con tres manuales: IBK puede usarla, entenderla por dentro y reconstruir sus insumos sin VOi</vt:lpstr>
      <vt:lpstr>Los nueve modelos se entregan bajo un mismo estándar: código, manuales, validación y transferencia — sin excepciones</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Jaimerault</dc:creator>
  <cp:keywords/>
  <dc:description/>
  <cp:lastModifiedBy>Rene Sangacha</cp:lastModifiedBy>
  <cp:revision>65</cp:revision>
  <dcterms:created xsi:type="dcterms:W3CDTF">2006-08-16T00:00:00Z</dcterms:created>
  <dcterms:modified xsi:type="dcterms:W3CDTF">2026-10-08T21:13:17Z</dcterms:modified>
  <cp:category/>
</cp:coreProperties>
</file>